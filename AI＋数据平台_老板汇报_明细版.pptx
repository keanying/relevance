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7"/>
    <p:sldId id="275" r:id="rId6"/>
    <p:sldId id="276" r:id="rId5"/>
    <p:sldId id="277" r:id="rId4"/>
    <p:sldId id="278" r:id="rId3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619" userDrawn="1">
          <p15:clr>
            <a:srgbClr val="A4A3A4"/>
          </p15:clr>
        </p15:guide>
        <p15:guide id="4" pos="70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DED4"/>
    <a:srgbClr val="4EB6A0"/>
    <a:srgbClr val="CCC9D5"/>
    <a:srgbClr val="59A132"/>
    <a:srgbClr val="2CAB93"/>
    <a:srgbClr val="21816F"/>
    <a:srgbClr val="1F9BCC"/>
    <a:srgbClr val="9EA0C3"/>
    <a:srgbClr val="F2D2BF"/>
    <a:srgbClr val="E6BF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296" autoAdjust="0"/>
    <p:restoredTop sz="94660"/>
  </p:normalViewPr>
  <p:slideViewPr>
    <p:cSldViewPr snapToGrid="0" showGuides="1">
      <p:cViewPr varScale="1">
        <p:scale>
          <a:sx n="46" d="100"/>
          <a:sy n="46" d="100"/>
        </p:scale>
        <p:origin x="42" y="792"/>
      </p:cViewPr>
      <p:guideLst>
        <p:guide orient="horz" pos="2160"/>
        <p:guide pos="3840"/>
        <p:guide pos="619"/>
        <p:guide pos="706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105" d="100"/>
          <a:sy n="105" d="100"/>
        </p:scale>
        <p:origin x="2142" y="12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23.xml"/><Relationship Id="rId4" Type="http://schemas.openxmlformats.org/officeDocument/2006/relationships/slide" Target="slides/slide22.xml"/><Relationship Id="rId5" Type="http://schemas.openxmlformats.org/officeDocument/2006/relationships/slide" Target="slides/slide21.xml"/><Relationship Id="rId6" Type="http://schemas.openxmlformats.org/officeDocument/2006/relationships/slide" Target="slides/slide20.xml"/><Relationship Id="rId7" Type="http://schemas.openxmlformats.org/officeDocument/2006/relationships/slide" Target="slides/slide19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ableStyles" Target="tableStyles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D22D82-5AC2-4639-BCCB-33DE6BAB06D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86D70-FD59-465F-BBA9-429F91A1AB6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DF7C33-68E8-47E0-ADF8-2CE8705721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17FD74-78BE-4F66-971B-354B57AE6F2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今天向您汇报三件事：第一，数据平台要怎么建，让公司的数据理得清、算得准、管得住；第二，智能体，也就是能帮我们干活的 AI 助手，要怎么做、怎么卖、什么时候自己建平台；第三，这两件事打通以后，数据怎么在公司里转起来，越用越准。整体按能落地的思路讲，每一部分都会讲到具体做什么、怎么做、做成什么样。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今天分四部分来讲：先讲全局蓝图，数据平台和 AI 平台在整个业务里是什么位置、和周边系统什么关系、服务谁，以及公司八条业务线怎么用数据、怎么把数据回流；再讲数据平台建什么、怎么治理、怎么让人人能用；然后讲 AI 平台：一个智能体平台怎么把流量分给各个智能体，数字大脑这个重点方向，以及怎么建；最后讲推进计划。先用一页把整体说清楚。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用一页把整体说清楚。定位上：景区和公司所有业务系统的数据，先汇到一个数据底座，治理好以后统一输出，不重复建平台。数据平台：把数据理清、算准、管住，不懂技术的人也能中文一搜找到数、张口一问拿到答案，文档、图片、视频这类资料也能变成可用的数据。数据治理：规矩写进日常流程，每张表都有主人，同一个数在报表、接口、AI 里都一样，每个客户的数据严格隔离。AI 平台：建一个智能体平台，各个入口统一接进来，听懂要做什么，再把流量分给最合适的智能体；数字大脑是其中面向景区管理者的重点方向。推进上：业务系统升级、数据平台、智能体三条线同时推进，先跑通一条主线和一个场景，再铺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第一部分：全局蓝图，一个底座，撑起所有业务和 AI。主要讲：为什么现在做、全局定位、周边系统、三类服务、数据怎么转、八条业务线。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为什么现在要做这件事？三个外部信号。第一是标准：国家标准《旅游景区智慧化运营管理要求》GB/T 30225-2026 已经发布，2026 年 11 月 1 日起实施，这是 2013 年以来第一次大修，把“数据管理”和基础设施、智慧化管理、服务、营销、体验并列为六大板块，景区的数据要管起来、用起来，已经是标准要求。第二是市场：各地都在建文旅智能体平台，比如深圳在建全市的文旅智能体平台，上海的文旅服务平台也在加 AI 能力，智能体正在成为游客和景区获取服务的新入口。第三是技术：业内主流的智能体平台，都是一个统一入口，先识别用户意图，再把请求分发给最合适的智能体，同时管好身份、权限、计量和兜底转人工；智能体也从单个应用变成同一套能力嵌到多个入口。对我们来说，意味着两件事：数据底座要先理好，智能体要有自己的平台来统一分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这张图是全局。最下面是数据从哪来：票务 SaaS 3.0、九大业态、智慧终端、畅游、会员营销、财务，还有公司内部的 ERP、CRM、飞书，以及外部采集的数据和文档、图片、视频。往上是数据平台，就是一个底座：所有数据先汇进来，统一治理，建好资产目录，再从数据开放平台统一输出。再往上是 AI 平台，核心是一个智能体平台，统一接入、把流量分给各个智能体：数字大脑、畅游 AI、票务和调度、内部助手，都从数据平台取数。最上面是服务谁：行业、客户景区、游客、公司内部。右边是三条原则：底层只有一套，不重复建；飞书、CRM、ERP 只是端，数据先汇进来再统一输出；每个客户的数据严格隔离。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这张图讲数据平台和公司周边系统的关系。左边是“产生数据”的地方：景区业务系统，包括票务 SaaS 3.0、九大业态、智慧终端和闸机、畅游、会员营销、景区财务；公司内部系统，包括 ERP、CRM、飞书、人事；还有外部数据和多种资料，比如社媒采集、行业公开数据，以及文档、图片、视频、音频。这些数据全部先汇进中间的数据平台。数据平台做四件事：汇聚接入、统一治理、资产目录、统一出口。右边是“用数据的端”：AI 平台、景区端、游客端、公司内部。关键的一点：飞书、CRM、ERP 既产生数据，也用数据，但它们之间不再点对点各自对接，而是数据先汇进来、再统一输出。这样数据只有一份，口径只有一个，出了问题也查得清。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平台服务三类对象。第一类是行业：我们平台沉淀了十几年的交易、客流数据，用匿名汇总的方式做行业洞察、节假日和年度报告、行业规范，以及高质量数据集，这是我们在行业里的影响力。第二类是客户，也就是景区和文旅集团：用他们自己的数据，给他们提供景数通、智能问数、智能洞察、调度智能体和经营报告，每个客户的数据严格隔离。第三类是公司自己：票付通自己其实也相当于一个文旅集团，财务、人员、销售、CRM、ERP、飞书这些经营数据，也进同一个底座，给您和各业务线做经营分析、内部提效。三类用的是同一个底座、同一套方法：我们自己先用好，再把这套能力复制给客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这张图把前面两部分串起来，从下往上看。最下面是产数：智慧票务、九大业态、景区运营、财务、智慧终端、畅游 AI、会员营销、数字大脑这些业务系统，每天产生交易、核销、客流、设备、会员、财务数据，第一步进入数据平台。第二层是治数，也就是第一部分的数据平台：统一接入，离线加实时；统一加工；算成认证的指标、标签和景区知识；再通过开放接口和小Q 提供出去，治理贯穿全程。第三层是办事，也就是第二部分的智能体：游客端的客服、导览、伴游、旅拍、规划、购票，景区端的问数、洞察、运营、对账、预警、调度；报表和接口也直接用数。最上面是用数：游客用小程序、公众号、自助终端，景区用景数通、票付通 APP、景区 SaaS，内部是管理层和业务线。最关键是右边：用的过程中产生的问答记录、游客评价、转人工、预警和工单结果、使用行为，回流到数据平台；整理好的指标、标签、洞察再反哺业务系统，调定价、做营销、优化调度。这样数据越用越多、越用越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司的每条业务线都要做到两件事：用得上数据，也回得来数据。平台把整理好的数据给到业务，叫赋能；业务用完的结果、发现的问题、新的需求再回到平台，叫反哺。只有赋能没有反哺，就是一次性交付；有了反哺，数据和模型越用越准。上面这条线就是闭环：业务产生数据，平台接入和治理，输出有用的数据，业务拿去决策和行动，结果再回流。下面这张表是八条业务线：票务、订单交易、小程序、供应商、营销、渠道分销、外部数据、智能体服务，每条线平台给什么、业务回什么、价值是什么。后面每条线一页展开讲。先把票务和订单这两条做成样板，再复制到其他业务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票务这条线，范围是商品、库存、价格、预约、核销。票务是所有数据的源头，先把它做成样板：数字可信，节假日实时掌控。现在有什么：票种、价格、库存、预约、核销记录；闸机、边云网关等设备的数据；核销、入园的数字有时对不上。平台怎么建：分清“核销次数、核销票数、入园人次、游客人数”；订单、核销做到分钟级看到；业务系统、设备、结算三方每天自动核对。平台给业务的，也就是赋能：售票、核销实时看板；节假日作战屏；库存和容量预警；票种卖得好不好、价格异常提醒；节假日客流预测。业务回给平台的，也就是反哺：核销异常、设备补传 → 变成检查规则；景区怎么处理预警 → 调整预警线；预测和实际的差距 → 预测越来越准。最终的价值：入园、核销数字可信；节假日实时掌握各景区情况；减少超售、拥堵和结算争议。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订单交易这条线，范围是下单、支付、退改、结算。订单数据最完整，补齐支付、退改、结算的细节，管理层和财务看同一套数。现在有什么：订单主流程已打通，数据最完整；支付、退款、改签、结算的细节还要补。平台怎么建：补齐支付、退款、改签、结算明细；统一“支付金额、净收入、成交额”的算法，财务一起确认；和财务数据自动核对。平台给业务的，也就是赋能：经营驾驶舱：成交额、退票率、客单价；异常退款、异常下单提醒；对账差异自动找出来。业务回给平台的，也就是反哺：对账差错怎么处理的 → 变成检查规则；异常交易的人工确认结果 → 识别更准；业务对算法的意见 → 指标更新。最终的价值：管理层看到同一套经营数字；对账更快；资金和交易风险早发现。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小程序这条线，范围是游客访问、购票、会员、AI 对话。记下游客在小程序里的每一步，在游客授权的前提下，把服务做得更贴心。现在有什么：游客的访问、浏览、搜索、下单记录；会员、领券；AI 客服、AI 伴游的对话。平台怎么建：统一“埋点”规矩：游客做了什么都按同一标准记下来；游客授权后，同一个人的会员和购票记录归到一起；做游客偏好标签。平台给业务的，也就是赋能：游客在哪一步流失；按偏好推荐门票和内容；两个方案对比试验；会员运营的人群。业务回给平台的，也就是反哺：推荐位的点击、购买结果 → 调整推荐；试验结论 → 沉淀成运营方法；游客评价 → 体验指标。最终的价值：购票转化和复购提升；运营决策有依据；体验问题能快速发现。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供应商这条线，范围是景区与资源方。给景区看自己的经营数据，也让我们知道哪家景区需要关心。现在有什么：供应商档案、合同、商品、供货价；结算、服务质量、系统使用情况。平台怎么建：同一个供应商在各系统只有一个编号；供应商标签：类型、规模、活跃度、经营健康度；按客户隔离，谁的数据只给谁看。平台给业务的，也就是赋能：给景区的经营报告和自助分析；给客户成功的健康度、续约预警；匿名的同类景区对比。业务回给平台的，也就是反哺：景区自己加的指标，有共性的变成标准指标；续约、流失结果 → 预警更准；景区反馈的数据问题 → 进入质量检查。最终的价值：续约率提升，服务价值能用数据证明；拓展新客户更有说服力。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营销这条线，范围是活动、优惠券、投放、推广。把一场活动从“看到”到“核销”串起来，钱花在哪、效果如何，一目了然。现在有什么：活动、优惠券、投放花费、推广员；活动带来的成交；数据分散在营销系统、小程序和各投放后台。平台怎么建：打通“活动 → 看到 → 领券 → 下单 → 核销”全过程；活动统一编号，接入投放成本；统一算法：这一单算哪场活动带来的。平台给业务的，也就是赋能：活动自动复盘；活动投入产出比；按标签圈人群；各投放渠道效果对比。业务回给平台的，也就是反哺：哪类活动对哪类人有效 → 沉淀策略库；人群反应 → 更新标签；投放成本和效果 → 优化预算。最终的价值：活动复盘从按周变成按天；预算分配有依据；活动价值看得见。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渠道分销这条线，范围是OTA、分销商、多级供销。渠道订单和平台订单一一对上，渠道价格和接口都有人看着。现在有什么：OTA、分销商、多级分销关系；渠道订单、渠道价格、佣金；接口调用记录。平台怎么建：渠道订单和平台订单一一对上；渠道统一编号；多级分销不重复计算；监测接口是否正常。平台给业务的，也就是赋能：渠道统一视图和投入产出；渠道价格异常提醒；接口健康、对接问题提醒。业务回给平台的，也就是反哺：渠道调整后的效果；接口异常处理记录 → 改进接入规范；对接经验 → 标准模板。最终的价值：渠道资源配置更合理；价格管理更规范；新渠道接入更快。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外部数据这条线，范围是天气、节假日、区域热力、舆情、公共数据。外部数据按需引入，每一类都说清用在哪、效果如何、花了多少。现在有什么：天气、节假日与调休；区域热力、舆情点评；授权的公共数据核验结果。平台怎么建：外部数据登记：来源、授权、期限、更新频率、成本；和景区、日期、区域关联起来；公共数据只用核验结果，原始数据不落地。平台给业务的，也就是赋能：客流预测的参考因素；天气、节假日对销量的影响；口碑和舆情监测；行业研究素材。业务回给平台的，也就是反哺：每类外部数据帮了多少 → 决定继续买还是停；用内部交易数据检验外部数据靠不靠谱。最终的价值：预测和分析更准；外部数据的投入花得明白。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智能体服务这条线，范围是数字大脑、AI 客服、AI 伴游、内部 AI 助手。智能体统一从数据平台取数；每一次提问、纠错、差评都回来，让 AI 越用越准。现在有什么：数字大脑、畅游 AI（客服、伴游）等智能体；大量用户提问、回答、反馈数据。平台怎么建：统一从数据平台取指标、标签和知识；统一记录对话；建测试题库和反馈机制；按用户和景区隔离权限。平台给业务的，也就是赋能：可信的指标、标签和知识；保证 AI 的答案口径一致、查得到来源。业务回给平台的，也就是反哺：答不上的问题 → 补指标、补说法；纠错和差评 → 更新题库和知识库；高频问题 → 给产品和客服；对话里的诉求（如退票原因）→ 业务洞察。最终的价值：AI 答案越用越准；业务需求自动发现；客服和运营成本下降。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第二部分：数据平台，数据理清、算准、管住，人人能用。主要讲：建什么、怎么治理、六个统一、人人能用。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六个问题都是平时真实遇到的，我按“平时什么样、为什么会这样”讲。一，数据散：想看售票加二消加结算的综合情况，要从三个以上系统导数、手工拼表，因为没有统一接入，景区、商品、渠道的编号各系统不一样。二，一个数多个答案：同一天同一个景区，看板、对账、接口三个地方核销量不一样，因为公司层面没有统一定义。三，没规矩：表名随意、字段没说明、没人负责，因为规范只在文档里，上线没人卡。四，重复干活：订单宽表离线和湖仓各做一份，结果不一样，因为没有统一的公共层。五，数字不准：入园、核销和现场对不上，节假日更明显，原因是补传、重复上报、撤销冲正、时间口径混用，又缺少逐层核对。六，看得慢：高峰期订单核销第二天才能看到，预警靠人盯，因为只有每天跑一次的离线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是整个数据平台的样子，从下往上看。最下面是数据从哪来：票务、订单、小程序、供应商、营销、渠道、设备和外部数据。往上是统一底座，就是数据仓库和加工车间，数据加工和每天的主流程已经有了，要补实时计算和统一存储。再往上是“算好的数”，也就是统一的指标和标签，小Q 用来看。再往上是数据服务，对外给数据的窗口，数据开放平台已经有。再往上是 AI 能力，让 AI 能安全地用这些数据。最上面是谁在用：内部经营、景区运营、合作伙伴、行业报告、数据产品。右边的数据治理贯穿每一层。整体思路就两句话：统一标准，治理写进研发流程。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平台具体建什么？六个模块，用大白话说：第一，汇聚接入，就是把业务系统、终端、外部数据，还有文档、图片、视频，都接进来。第二，统一底座，就是一个地方存，每天算加实时算，订单、核销要做到分钟级看到。第三，数据治理，就是给数据定规矩：规范、编号、口径、质量、权限，写进日常流程。第四，资产目录，像图书馆的检索台，中文一搜，就知道有什么数据、在哪、什么意思、找谁。第五，统一出口，就是数据开放平台，所有数据从这一个窗口出去，谁拿了什么都可追溯。第六，AI 治理工具，就是让 AI 先自动分类、标注，人再审核修正，省人力。已有的投入全部保留，在上面补齐。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用大白话讲讲什么是数据治理。打个比方，数据就像城市里的人口：要有统一的规矩，就是数据标准；每个景区、每个商品要有唯一的身份证号，就是主数据；每个数要知道从哪来、到哪去，像家谱一样，就是血缘；每天要做体检，不合格的拦下来，就是质量；同一个指标全公司一个算法，就是统一口径；谁能看什么要分清楚，就是权限；没人用的数据定期清理，就是资产运营；所有数据只从一个窗口出去，就是统一出口。不治理会怎样？同一个“核销量”，报表、接口、AI 三个地方三个数，大家开会先吵数字对不对。治理好了，数字一致，问题能追到人，数据才敢拿去办事。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治理具体怎么做？按这八步走，前面的是后面的基础。第一步数据标准，就是定规矩，表名、字段、码值全公司一个说法，并且有自动检查。第二步主数据，就是统一编号，景区、商品、渠道、供应商、游客全公司一个编号。第三步数据血缘，就是理清每个数从哪来、到哪去。第四步数据质量，每天自动体检，不合格的数拦在报表外面。第五步统一标签，也就是统一指标口径，一个指标一个算法，集团出标准。第六步权限安全，数据分级，谁的数据只服务谁。第七步资产运营，定期盘点，打健康分，没人用的下线。第八步数据分发，对内对外只走一个出口。其中第一、第五、第六步，分别在后面的统一规范、统一标签、统一权限里讲，不在这里重复。这八步都不是单独搞运动，而是写进日常开发流程，有专人负责、有考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件事，统一编号，专业叫主数据。以前同一个景区在票务、分销、财务系统里各有各的编号，拼数据时对不上。现在六类对象全公司统一编号：景区一个编码，集团、分园区、子景点分级挂靠；商品，票种、套票、二消商品统一编码，挂到景区；渠道，OTA、自营、分销、团队统一分类；供应商，同一个主体只建一个编码，多个账号挂在下面；游客，用手机号、证件号、会员号按规则归并成一个人，叫 OneID；区域直接用国家标准的行政区划码。做法是建一张对照表，把各系统的老编号映射到统一编号，之后所有报表、指标、标签只认统一编号。新建景区、商品、供应商时先查再建，变更要审批，并保留历史，旧报表还能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第三件事，建家谱，专业叫数据血缘。就是把每个数从哪来、经过了哪些加工、最后去了哪里，全部记下来，从业务系统一直打通到小Q 报表、开放接口和 AI 智能体。家谱有三个用处：第一，查错，报表数字不对，沿着家谱往上查，很快找到哪一层出了问题；第二，改之前先评估，要改一张表或改一个口径，先查下游有哪些报表和接口会受影响，提前通知负责人；第三，清理，没有下游、没人访问的表和任务，进入下线清单。家谱里记三类信息：技术信息，比如表结构、存储量，系统自动采集；业务信息，比如含义、口径、负责人、安全等级，开发填、专员审；运行信息，比如几点产出、跑了多久、多少人在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举个最常见的例子：核销量。为什么以前各处对不上？第一个原因是四个数经常混着用：核销次数、有效核销票数、入园人次、去重游客数，其实是四个不同的数，比如一个人一张年卡一天进出三次，核销次数是三，入园人次是三，去重游客数是一。第二步，从闸机、手持机，到业务系统，到仓库明细、汇总，再到报表和接口，每一层都按景区加日期对一次数。第三步，对不上就自动报警，查原因、修复、重算。常见的原因有四个：设备离线后补传、重复上报、撤销冲正、按下单时间还是核销时间统计混用了。核销做通了，就是一个样板，同样的方法复制到销售额、入园人数等其他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七步和第八步放在一起讲。资产运营，就是定期盘点：每月按负责人、按业务给数据资产打健康分，看规范、质量、安全、使用、成本五个方面，公示排名。九十天没人访问、没有下游、重复的、临时的表，先通知负责人，先停用观察三十天，没人反馈再删除，有人反馈就恢复。这样存储和计算成本能降下来。数据分发，就是统一出口：以后对内对外的数据都从数据开放平台 一个窗口出去，同时提供认证指标和标签，统一鉴权、按景区隔离、按调用计量，不再点对点导数、私接数据库。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治理里很重要的一条：数据要有主人。怎么做？第一步，出一份全公司的数据表清单。第二步，每张表标清楚：归哪条业务线、谁负责、敏感等级。第三步，各业务线的数据接口人来认领、确认口径。第四步，以后数据出了问题，按清单马上就能找到人。右边是按数据域划分的样子：交易订单来自票务 SaaS，归票务线，管订单口径和退改规则；核销入园来自闸机终端，归运营服务；渠道分销归渠道线；业态消费来自九大业态系统，归业态运营；结算财务来自财务和 ERP，归财务；会员营销归营销；公司经营数据来自 CRM、飞书、人事，归各职能部门。从数据模型设计开始，就对应到具体的开发和负责人。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八步怎么保证真正落实？靠三样东西。第一，写进流程：事前定规范，需求先确认口径、设计做模型评审；事中设卡点，发布时脚本自动检查、运行时质量检查不合格就拦住；事后做治理，健康分、整改、复盘。第二，有人负责：数据治理小组拍板口径争议和规范；数据负责人制定方案、跨部门协调、对健康分负责；每个业务线有一名业务数据专员确认口径和验收；治理专员维护标准和规则；架构师和开发负责落地。第三，有考核：两周一次口径评审，每月公示健康分，每季度复盘；试点主线定几个硬目标，比如新表规范符合率百分之百、核心报表按时产出不低于百分之九十九、老板看板全用认证指标、核销量各出口零差异。先把现在的基线测出来，再定目标；看实际使用和业务结果，不看上了多少看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建成以后，最终落在六个统一上。统一规范：以前规范只写在文档里，以后不合规的表发不出去。统一底座：以前订单核销第二天才能看到，以后分钟级。统一标签：以前报表、接口、AI 各说各的，以后三处数字一致，开会不用先对数。统一权限：以前各系统各管各的，以后一套规则管住所有出口。标签复用：以前各部门各做一套，以后一个游客一个身份，一处加工到处用。即席自助：以前要找数据团队要数，以后业务自己查、自己看。推进上，先在订单、核销、结算这条线试点，老的报表先并行对比，没问题再切换，随时可以退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个统一，统一标签，这里的标签也就是指标，对应治理的第五步。三件事。第一，口径说清楚：每个指标拆成算什么、加什么条件、什么时间、按什么看四件事，比如“近七天线上渠道成人票支付金额，按景区”，就不会有两种算法。新指标要认证：数据团队起草、业务负责人确认、治理小组拍板、发布并记录版本。第二，两级体系：集团出一套企业标准指标，全公司一个口径；不够用时，景区在自己的空间里自定义，相互隔离，不能和标准同名、不能覆盖标准；好用的评审后沉淀为企业标准。第三，同一个出口：所有指标从同一个出口提供给小Q 报表、数据开放平台 和 AI 问数，所以三处数字一致，开会不用先对数。只有认证过的指标和标签才能进老板看板、接口和 AI。衡量看认证指标覆盖率，核销量各出口零差异。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个统一，统一权限，对应治理的第六步。先分级：高敏是手机号、证件号、人脸、政务核验结果，加密、打码，明文不进大模型；敏感是单景区经营数据、价格、结算，按景区和供应商隔离；内部是日志、设备状态，内部按角色授权；公开是已发布的报告。再看谁能看什么：集团管理层看汇总，看不到个人明细；数据团队敏感数据按项目授权，高敏审批后打码使用；景区只看本景区；供应商只看本供应商；外部伙伴只拿匿名汇总；AI 智能体不单独开权限，继承提问人的权限。底线是谁的数据只服务谁，对外只给匿名汇总。权限从申请、审批、授权、使用到回收是一个闭环，到期自动收回，每季度复核。数据仓库、数据地图、开放接口、小Q、标签平台、AI 都用这同一套规则。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第五个，标签复用。第一件事是认清“谁是谁”：同一个游客，可能在订单里是一个手机号，在会员里是一个会员号，在年卡和人脸识别里又是另外的记录，我们按规则把这些归并成同一个游客，叫 OneID。第二件事是标签只在一个地方加工：统一生产，基于公共模型加工；统一管理，有口径、有负责人、有生命周期；统一服务，营销、分析、AI 和景区都从这里取，不再各部门各做一套。标签覆盖游客和会员、供应商、景区、渠道、商品，类型有基础属性、统计类、规则类、模型预测类。边界也要讲清楚：景区只能用本景区的标签，不做敏感个人信息的标签，对外不提供个人层面的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板特别强调，数据平台不能只有技术人员会用，运营、业务、标注的同事也要用得上、看得懂。我们按三个常见场景来设计。第一，想知道公司有什么数据：在资产目录里用中文搜一下，就能看到有哪些数据、在哪、什么意思、该找谁。第二，想看一个数：直接用大白话问，智能问数帮你查出来；现在小Q 的问数体验不够好，我们会在上面加一层智能体，先听懂问题，再去取数。第三，想做个分析：在即席自助里选指标、点一点就能出结果，会写查询的同事也可以直接查。效果是业务少等数，数据团队少做重复取数，把精力放在建模型、做产品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以后进来的不只是表格数据，还有文档、图片、视频、音频。做法是：原始资料先统一放进来；AI 先识别、自动分类、打标注；人再审核，标得不对的改过来；审核通过的变成标准数据、进知识库，也可以组成高质量数据集；最后用在智能问数、智能体和行业报告上。举个例子：有的客户没有系统，现场用本子记录，拍张照片传上来，AI 识别以后自动转成标准表格。高质量数据集也是同一个思路：数据按主题统一管理，做数据集时按场景去取，先从我们已经有基础的场景做起。资产目录里能看到每类数据有多少、整理到什么程度。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第三部分：AI 平台，一个智能体平台，把流量分给各个智能体。主要讲：全局、怎么分发、已有基础、能做什么、数字大脑、怎么建。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平台的全局是这样的。最上面是入口：游客用畅游小程序、公众号、自助终端，景区用景数通、票付通 APP、大屏，公司内部用飞书。所有入口进来的请求，都先到中间的智能体平台。智能体平台是我们自己的核心，做六件事：统一入口；认人，知道是谁、哪个景区、有什么权限；听懂，判断他要做什么；分发，把这次请求交给最合适的智能体，答不了的转人工兜底；按景区计量；评估效果。下面是各个智能体，按方向分：数字大脑面向景区管理者，做问数、洞察、调度，是近期的重点方向；畅游 AI 面向游客，做客服、导览、伴游、旅拍、手语；智慧票务面向票务和财务；调度中枢面向安全调度；内部助手面向公司自己。最下面两样：底层的大模型和搭建平台可以替换，扣子、火山方舟、腾讯、阿里、小Q 都能接，客户指定哪个都能交付；所有智能体用的数据都来自数据平台，口径一致。这样新加一个智能体，只要在平台上登记，流量就能分过去，不用每个入口重新对接。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智能体平台怎么分发流量？看这张图。第一步，从哪来：游客从小程序、公众号来，景区从景数通、APP 来，公司内部从飞书来，还有大屏和自助终端。第二步，智能体平台做四件事：认人，知道是谁、属于哪个景区、能看什么；听懂，判断这句话要做什么，一句话里可能有几件事；分发，按意图交给最合适的智能体，一句话有几件事就分给几个智能体接力；兜底，答不了或者用户要求，就转人工。第三步，对应的智能体去办：数字大脑、畅游 AI、智慧票务、内部助手。所有智能体的数据都来自数据平台。下面举个例子：游客在小程序里问“明天人多吗？帮我买两张票”，平台认出这是哪个景区的游客，听懂是两件事：查客流和买票；客服智能体用数据平台的客流预测回答，购票智能体接着下单；整个过程记下来，回流到数据平台，下次答得更准。这样新增一个智能体，只要在平台上登记，流量就能分过去，入口不用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先解释一下智能体：就是能听懂问题、还能帮你办事的 AI 助手，比如游客问几点开园，它能回答，还能直接帮他买票。我们现在已有的智能体来自三个地方。第一类是在字节的扣子平台上，用工作流配置出来的：智能助手、智能客服、智能导览、AI 旅拍、AI 伴游，主要给游客用，已经是标准化产品，可以配置化输出。第二类是和合作企业一起做的手语服务，给听障游客用。第三类是小Q 自带的 AI 能力，智能问数和智能数据解读，给景区和内部管理者用。右边是一个游客对话的示意。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先看游客这一端，按游客的一次出游来看。游前：游客要咨询、规划行程、买票预约、候补，对应智能客服、智能助手这两个已有的，可以扩展 AI 旅游规划、AI 智能购票、预约与候补提醒。游中：入园核验、导览讲解、陪伴互动、无障碍服务、乐园项目、演出、游船、餐饮购物、停车，对应已有的智能导览、AI 伴游、手语，可以扩展乐园排队与项目推荐、演出选座推荐、餐饮二消推荐、停车引导、自助机语音购票。游后：拍照留念、游记分享、点评反馈、年卡复游、积分权益，对应已有的 AI 旅拍，可以扩展游记与行程总结、点评分享助手、年卡服务助手。这些都要做，只是先后顺序不同。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这页按客户，也就是景区和文旅集团的业务线来看。经营管理：管理层看收入、客流、同比环比，AI 可以直接问数、自动出日报周报。票务运营：定价库存、分销渠道、团队、检票核销，产生订单、核销、渠道、价格数据，用来调价调库存、做渠道结算，AI 可以做票务运营助手、解释检票异常。业态运营：乐园、演出、游船、酒店、温泉、餐饮零售、租赁、停车这些业态，产生各业态的订单和消费，用来看业态收入和二次消费，AI 做业态经营助手。运营服务：年卡、分时预约、候补、免证、一卡通，用来调控预约、提升年卡续费，AI 做智能客服和导览。财务：对账、发票、报表，AI 做对账助手、发票助手。营销会员：会员、人群、全民营销、活动，用来圈人群、做活动复盘，AI 做会员画像、写营销文案。安全调度：客流秩序、车船调度、防火生态、气象设施，用来预警和派单，AI 做调度智能体、消息预警、工单处置。设备终端：闸机、自助机、窗口、边云网关，用来巡检和故障定位，AI 做设备运维诊断。每条线的数据都汇进同一个底座，各线既能看自己的数，也能和别的线的数对得上。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数字大脑是智能体平台上的一个重点方向，面向景区管理者。管理者在景数通、票付通 APP、飞书或者大屏上，用大白话提问或者下指令，请求同样先进智能体平台，平台认人、听懂，再分给数字大脑下面的三类智能体：智能问数负责查数，比如今天卖了多少票；智能洞察负责找原因、给建议，比如为什么比上周少了；调度智能体负责派任务，比如工单派发、人员安全、信息通知。数据都来自数据平台。下面是近期要完整跑通的一个场景：客流接近上限，洞察自动预警，调度智能体生成工单，派给现场人员，处置结果回写，最后复盘优化。这个场景跑通后，可以对外展示，再复制到其他景区和业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从产品全景来看，智能体分布在四条产品线：畅游 AI 面向游客，有智能助手、智能客服、智能导览、AI 伴游、AI 旅拍、手语，还要做 AI 旅游规划、AI 智能购票；AI 数字大脑面向景区管理者，有智能问数、智能洞察，还要做消息通知预警、工单调度处置；智慧票务面向票务和财务，要做票务 AI 运营助手、AI 对账助手；景区 AI 调度中枢面向安全调度，要做旅游安全、秩序治理、车辆调度、游船调度、森林防火、生态监测、气象服务、设施监测。这些最终都放到自己的平台上，统一搭建、统一运营、统一计量到景区、统一评估效果。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平台怎么建，思路是先求快、再求稳。先借力：现在产品和市场还在验证期，用扣子、火山方舟这些成熟平台快速交付，客户指定用阿里或腾讯的平台，我们也照样做，目的是先证明能卖、能赚钱。边做边练：在交付的同时，把模板、知识、业务接口、交互数据留在自己手里，自己的智能体平台慢慢建起来，统一入口、统一分发。逐步切换：等第三方平台变贵、或者功能限制了我们，就把业务一点点切到自己的平台上，先小范围试，没问题再扩大，随时能退回。为什么最终要换成自己的？规模越大，第三方平台的成本越高、功能也受限，模板、知识和数据要留在自己手里。近期的重点是数字大脑：先把智能问数的体验做好，在小Q 上加一层智能体，再把调度智能体做起来，找一个场景完整跑通，能拿出去给客户展示。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怎么复制得快？关键是标准化。上线流程六步：签约、选已经验证过的模板、配本景区的知识、绑定入口、测试验收、上线运营。右边是五个环节怎么标准化：产品按业态出模板，景区之间的差异全部做成配置；知识采集用统一的采集表，景区填、实施审；系统接入，已用我们票务的景区接口是现成的；实施有手册和培训，实施人员和渠道伙伴都能独立交付；验收有统一测试清单，跑完就上线。同时每做一个景区，都在沉淀场景模板、知识结构、业务接口、交付经验、需求清单和交互数据，为将来自建平台做准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第四部分：推进计划，三线并进，先跑通再铺开。主要讲：整体路径、团队与分工、先做什么、人员清单。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整体怎么推进？现在是三条线同时往前跑：传统业务系统在做 3.0 升级，数据平台在建，智能体在搭。这三条线互相依赖：智能体没有数据不行，数据平台也离不开业务系统产生的数据。所以我们按“先做、接着做、持续做”排了一个建设清单。系统 3.0：升级时就把埋点和数据口径一起定好，新系统的数据直接按规范接进来。数据平台：先做订单、核销、结算这条主线的治理和实时，把资产目录建起来；接着做统一指标和标签、数据开放平台统一出口、文档图片视频接入；持续做高质量数据集和行业洞察。智能体：先把数字大脑的问数体验和调度智能体做好，跑通一个场景；接着按业态复制、沉淀模板和知识；持续把智能体平台建起来，统一分发流量、逐步切换。最后一行是打通：先让智能体统一从数据平台取数，再让交互数据回流，最后反哺业务。具体时间和投入，需要和资源一起确认后再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团队怎么配？数据这件事不能只靠技术，要有几类角色。数据产品：定需求、定口径、设计数据产品，这块能力要加强。数据开发：建底座、建模型、做实时。数据治理和标注运营：维护规范和资产目录，审核 AI 的标注结果，这类同事不需要很懂技术。AI 应用：搭智能体、建智能体平台，统一分发流量。再加上各业务线的数据接口人：票务、业态、财务、营销等每条线出一个人，负责确认口径、认领自己线上的数据表，不占大家太多时间。外部合作可以补充，比如平台厂商和标注外包。机制上很简单：出一份全公司的数据表清单，写清楚每张表归哪条业务线、谁负责，让各线自己标注，以后出了问题能马上找到人；口径有争议由治理小组拍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先做三件事。第一，订单到核销到结算这条主线：把治理做好，并且做到分钟级实时，这是所有数据的基础。第二，智能体平台先搭起统一入口，在上面跑通一个完整场景，比如数字大脑的客流预警到工单处置，平台分发、多个智能体接力，可以对外展示。第三，资产目录上线，让大家能用中文搜到数据，不懂技术的同事也能自己找数、问数。做通以后，按业务线、按业态逐步推广，形成数据越用越准的循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最后是人员清单。数据这边大约 7 到 9 人：数据负责人兼架构师 1 人，负责总体架构、技术选型和治理方案；离线数据开发 3 人，做数据底座、公共模型和指标标签加工；实时数据开发 1 到 2 人，让订单、核销分钟级看到，同时做数据开放平台的接口；数据产品经理 1 人，定需求、定口径；BI 与分析 1 到 2 人，做小Q 报表、自助分析和经营分析。智能体这边大约 7 到 9 人：AI 负责人兼架构师 1 人，负责智能体平台架构和选型；智能体平台开发 2 到 3 人，做统一入口、意图识别、分发、计量和评估；智能体应用开发 2 到 3 人，按场景搭智能体，接业务接口和数据平台；AI 产品经理 1 人；前端与交互 1 人。合计专职大约 14 到 18 人，先盘点现有团队，再定需要新招多少。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汇报完毕，谢谢大家，欢迎交流。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51pptmoban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 descr="D:\51PPT模板网\51pptmoban.com\图片.jpg"/>
          <p:cNvSpPr/>
          <p:nvPr userDrawn="1"/>
        </p:nvSpPr>
        <p:spPr>
          <a:xfrm>
            <a:off x="423596" y="310586"/>
            <a:ext cx="11360684" cy="6248520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7" name="十字形 6" descr="D:\51PPT模板网\51pptmoban.com\图片.jpg"/>
          <p:cNvSpPr/>
          <p:nvPr userDrawn="1"/>
        </p:nvSpPr>
        <p:spPr>
          <a:xfrm>
            <a:off x="11082528" y="5943600"/>
            <a:ext cx="530352" cy="530352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9" name="十字形 8"/>
          <p:cNvSpPr/>
          <p:nvPr userDrawn="1"/>
        </p:nvSpPr>
        <p:spPr>
          <a:xfrm>
            <a:off x="11725488" y="6473128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十字形 10" descr="D:\51PPT模板网\51pptmoban.com\图片.jpg"/>
          <p:cNvSpPr/>
          <p:nvPr userDrawn="1"/>
        </p:nvSpPr>
        <p:spPr>
          <a:xfrm>
            <a:off x="11592982" y="5262342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3" name="十字形 12" descr="D:\51PPT模板网\51pptmoban.com\图片.jpg"/>
          <p:cNvSpPr/>
          <p:nvPr userDrawn="1"/>
        </p:nvSpPr>
        <p:spPr>
          <a:xfrm>
            <a:off x="174032" y="983864"/>
            <a:ext cx="448328" cy="448328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5" name="十字形 14"/>
          <p:cNvSpPr/>
          <p:nvPr userDrawn="1"/>
        </p:nvSpPr>
        <p:spPr>
          <a:xfrm>
            <a:off x="1129787" y="214733"/>
            <a:ext cx="242505" cy="242505"/>
          </a:xfrm>
          <a:prstGeom prst="plus">
            <a:avLst>
              <a:gd name="adj" fmla="val 33591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838200" y="5267144"/>
            <a:ext cx="6099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B0DED4"/>
                </a:solidFill>
              </a:rPr>
              <a:t>51PPT模板网，幻灯片演示模板及素材免费下载！</a:t>
            </a:r>
            <a:endParaRPr lang="zh-CN" altLang="en-US" dirty="0">
              <a:solidFill>
                <a:srgbClr val="B0DED4"/>
              </a:solidFill>
            </a:endParaRPr>
          </a:p>
          <a:p>
            <a:r>
              <a:rPr lang="zh-CN" altLang="en-US" dirty="0">
                <a:solidFill>
                  <a:srgbClr val="B0DED4"/>
                </a:solidFill>
              </a:rPr>
              <a:t>51PPT模板网 唯一访问网址：www.51pptmoban.com。</a:t>
            </a:r>
            <a:endParaRPr lang="zh-CN" altLang="en-US" dirty="0">
              <a:solidFill>
                <a:srgbClr val="B0DED4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/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5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/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/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/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/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/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/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/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/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/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/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/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/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/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/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/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/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/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/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/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/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/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/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/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/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/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/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/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image" Target="../media/image2.jpeg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16.png"/><Relationship Id="rId6" Type="http://schemas.openxmlformats.org/officeDocument/2006/relationships/image" Target="../media/image2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31.png"/><Relationship Id="rId6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11.png"/><Relationship Id="rId6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32.png"/><Relationship Id="rId6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6.png"/><Relationship Id="rId6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33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3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Relationship Id="rId4" Type="http://schemas.openxmlformats.org/officeDocument/2006/relationships/image" Target="../media/image28.png"/><Relationship Id="rId5" Type="http://schemas.openxmlformats.org/officeDocument/2006/relationships/image" Target="../media/image7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21.png"/><Relationship Id="rId10" Type="http://schemas.openxmlformats.org/officeDocument/2006/relationships/image" Target="../media/image5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3.png"/><Relationship Id="rId4" Type="http://schemas.openxmlformats.org/officeDocument/2006/relationships/image" Target="../media/image59.png"/><Relationship Id="rId5" Type="http://schemas.openxmlformats.org/officeDocument/2006/relationships/image" Target="../media/image4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4.png"/><Relationship Id="rId4" Type="http://schemas.openxmlformats.org/officeDocument/2006/relationships/image" Target="../media/image2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0.png"/><Relationship Id="rId4" Type="http://schemas.openxmlformats.org/officeDocument/2006/relationships/image" Target="../media/image13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png"/><Relationship Id="rId4" Type="http://schemas.openxmlformats.org/officeDocument/2006/relationships/image" Target="../media/image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56.png"/><Relationship Id="rId8" Type="http://schemas.openxmlformats.org/officeDocument/2006/relationships/image" Target="../media/image6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2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19.png"/><Relationship Id="rId7" Type="http://schemas.openxmlformats.org/officeDocument/2006/relationships/image" Target="../media/image66.png"/><Relationship Id="rId8" Type="http://schemas.openxmlformats.org/officeDocument/2006/relationships/image" Target="../media/image6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3.png"/><Relationship Id="rId4" Type="http://schemas.openxmlformats.org/officeDocument/2006/relationships/image" Target="../media/image9.png"/><Relationship Id="rId5" Type="http://schemas.openxmlformats.org/officeDocument/2006/relationships/image" Target="../media/image71.png"/><Relationship Id="rId6" Type="http://schemas.openxmlformats.org/officeDocument/2006/relationships/image" Target="../media/image6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3.png"/><Relationship Id="rId4" Type="http://schemas.openxmlformats.org/officeDocument/2006/relationships/image" Target="../media/image40.png"/><Relationship Id="rId5" Type="http://schemas.openxmlformats.org/officeDocument/2006/relationships/image" Target="../media/image56.png"/><Relationship Id="rId6" Type="http://schemas.openxmlformats.org/officeDocument/2006/relationships/image" Target="../media/image4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Relationship Id="rId9" Type="http://schemas.openxmlformats.org/officeDocument/2006/relationships/image" Target="../media/image7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5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8.png"/><Relationship Id="rId7" Type="http://schemas.openxmlformats.org/officeDocument/2006/relationships/image" Target="../media/image76.png"/><Relationship Id="rId8" Type="http://schemas.openxmlformats.org/officeDocument/2006/relationships/image" Target="../media/image17.png"/><Relationship Id="rId9" Type="http://schemas.openxmlformats.org/officeDocument/2006/relationships/image" Target="../media/image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5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8.png"/><Relationship Id="rId7" Type="http://schemas.openxmlformats.org/officeDocument/2006/relationships/image" Target="../media/image17.png"/><Relationship Id="rId8" Type="http://schemas.openxmlformats.org/officeDocument/2006/relationships/image" Target="../media/image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3.png"/><Relationship Id="rId4" Type="http://schemas.openxmlformats.org/officeDocument/2006/relationships/image" Target="../media/image77.png"/><Relationship Id="rId5" Type="http://schemas.openxmlformats.org/officeDocument/2006/relationships/image" Target="../media/image63.png"/><Relationship Id="rId6" Type="http://schemas.openxmlformats.org/officeDocument/2006/relationships/image" Target="../media/image6.png"/><Relationship Id="rId7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5.png"/><Relationship Id="rId4" Type="http://schemas.openxmlformats.org/officeDocument/2006/relationships/image" Target="../media/image63.png"/><Relationship Id="rId5" Type="http://schemas.openxmlformats.org/officeDocument/2006/relationships/image" Target="../media/image12.png"/><Relationship Id="rId6" Type="http://schemas.openxmlformats.org/officeDocument/2006/relationships/image" Target="../media/image76.png"/><Relationship Id="rId7" Type="http://schemas.openxmlformats.org/officeDocument/2006/relationships/image" Target="../media/image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7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28.png"/><Relationship Id="rId7" Type="http://schemas.openxmlformats.org/officeDocument/2006/relationships/image" Target="../media/image7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2.png"/><Relationship Id="rId4" Type="http://schemas.openxmlformats.org/officeDocument/2006/relationships/image" Target="../media/image9.png"/><Relationship Id="rId5" Type="http://schemas.openxmlformats.org/officeDocument/2006/relationships/image" Target="../media/image36.png"/><Relationship Id="rId6" Type="http://schemas.openxmlformats.org/officeDocument/2006/relationships/image" Target="../media/image17.png"/><Relationship Id="rId7" Type="http://schemas.openxmlformats.org/officeDocument/2006/relationships/image" Target="../media/image81.png"/><Relationship Id="rId8" Type="http://schemas.openxmlformats.org/officeDocument/2006/relationships/image" Target="../media/image62.png"/><Relationship Id="rId9" Type="http://schemas.openxmlformats.org/officeDocument/2006/relationships/image" Target="../media/image8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41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7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87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88.png"/><Relationship Id="rId7" Type="http://schemas.openxmlformats.org/officeDocument/2006/relationships/image" Target="../media/image8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86.png"/><Relationship Id="rId4" Type="http://schemas.openxmlformats.org/officeDocument/2006/relationships/image" Target="../media/image90.png"/><Relationship Id="rId5" Type="http://schemas.openxmlformats.org/officeDocument/2006/relationships/image" Target="../media/image56.png"/><Relationship Id="rId6" Type="http://schemas.openxmlformats.org/officeDocument/2006/relationships/image" Target="../media/image6.png"/><Relationship Id="rId7" Type="http://schemas.openxmlformats.org/officeDocument/2006/relationships/image" Target="../media/image91.png"/><Relationship Id="rId8" Type="http://schemas.openxmlformats.org/officeDocument/2006/relationships/image" Target="../media/image55.png"/><Relationship Id="rId9" Type="http://schemas.openxmlformats.org/officeDocument/2006/relationships/image" Target="../media/image9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image" Target="../media/image33.png"/><Relationship Id="rId6" Type="http://schemas.openxmlformats.org/officeDocument/2006/relationships/image" Target="../media/image88.png"/><Relationship Id="rId7" Type="http://schemas.openxmlformats.org/officeDocument/2006/relationships/image" Target="../media/image2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657600" y="1850427"/>
            <a:ext cx="488289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 b="1">
                <a:solidFill>
                  <a:srgbClr val="2CAB93"/>
                </a:solidFill>
                <a:latin typeface="微软雅黑" pitchFamily="2" charset="-122"/>
                <a:ea typeface="微软雅黑" pitchFamily="2" charset="-122"/>
              </a:rPr>
              <a:t>AI＋</a:t>
            </a:r>
            <a:r>
              <a:rPr lang="zh-CN" altLang="en-US" sz="5400" dirty="0" b="1">
                <a:solidFill>
                  <a:srgbClr val="1F3A35"/>
                </a:solidFill>
                <a:latin typeface="微软雅黑" pitchFamily="2" charset="-122"/>
                <a:ea typeface="微软雅黑" pitchFamily="2" charset="-122"/>
              </a:rPr>
              <a:t>数据+平台</a:t>
            </a:r>
            <a:endParaRPr lang="zh-CN" altLang="en-US" sz="8000" dirty="0">
              <a:latin typeface="Alimama ShuHeiTi Bold" pitchFamily="2" charset="-122"/>
              <a:ea typeface="Alimama ShuHeiTi Bold" pitchFamily="2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3939028" y="5924580"/>
            <a:ext cx="4313944" cy="315056"/>
            <a:chOff x="1253246" y="4118390"/>
            <a:chExt cx="4313944" cy="315056"/>
          </a:xfrm>
        </p:grpSpPr>
        <p:sp>
          <p:nvSpPr>
            <p:cNvPr id="44" name="文本框 43"/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/>
                  <a:ea typeface="微软雅黑"/>
                  <a:cs typeface="+mn-ea"/>
                  <a:sym typeface="+mn-lt"/>
                </a:rPr>
                <a:t>汇报：尹开英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" name="iconfont-10019-4889788"/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/>
                  <a:ea typeface="微软雅黑"/>
                  <a:cs typeface="+mn-ea"/>
                  <a:sym typeface="+mn-lt"/>
                </a:rPr>
                <a:t>时间：2026.10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iconfont-11899-5651509"/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759200" y="3672508"/>
            <a:ext cx="4673600" cy="471552"/>
            <a:chOff x="3759200" y="3558828"/>
            <a:chExt cx="4673600" cy="471552"/>
          </a:xfrm>
        </p:grpSpPr>
        <p:sp>
          <p:nvSpPr>
            <p:cNvPr id="28" name="矩形: 圆角 27"/>
            <p:cNvSpPr/>
            <p:nvPr/>
          </p:nvSpPr>
          <p:spPr>
            <a:xfrm>
              <a:off x="3759200" y="3558828"/>
              <a:ext cx="4673600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4229944" y="3644286"/>
              <a:ext cx="37321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/>
                  <a:ea typeface="微软雅黑"/>
                </a:rPr>
                <a:t>数据平台  /  智能体平台  /  AI＋数据+平台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9" name="十字形 18" descr="D:\51PPT模板网\51pptmoban.com\图片.jpg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 descr="D:\51PPT模板网\51pptmoban.com\图片.jpg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19" name="十字形 18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 descr="D:\51PPT模板网\51pptmoban.com\图片.jpg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83191" y="316763"/>
            <a:ext cx="1843847" cy="1040376"/>
            <a:chOff x="815747" y="507302"/>
            <a:chExt cx="1843847" cy="1040376"/>
          </a:xfrm>
        </p:grpSpPr>
        <p:sp>
          <p:nvSpPr>
            <p:cNvPr id="5" name="文本框 4"/>
            <p:cNvSpPr txBox="1"/>
            <p:nvPr/>
          </p:nvSpPr>
          <p:spPr>
            <a:xfrm>
              <a:off x="815747" y="507302"/>
              <a:ext cx="141577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8000">
                  <a:solidFill>
                    <a:srgbClr val="2CAB93"/>
                  </a:solidFill>
                  <a:latin typeface="Alimama ShuHeiTi Bold" pitchFamily="2" charset="-122"/>
                  <a:ea typeface="Alimama ShuHeiTi Bold" pitchFamily="2" charset="-122"/>
                </a:defRPr>
              </a:lvl1pPr>
            </a:lstStyle>
            <a:p>
              <a:r>
                <a:rPr lang="zh-CN" altLang="en-US" sz="4800" dirty="0">
                  <a:solidFill>
                    <a:schemeClr val="tx1"/>
                  </a:solidFill>
                </a:rPr>
                <a:t>目录</a:t>
              </a:r>
              <a:endParaRPr lang="zh-CN" altLang="en-US" sz="4800" dirty="0">
                <a:solidFill>
                  <a:schemeClr val="tx1"/>
                </a:solidFill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93577" y="1286068"/>
              <a:ext cx="176601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050" dirty="0"/>
                <a:t>CONTENTS</a:t>
              </a:r>
              <a:endParaRPr lang="zh-CN" altLang="en-US" sz="1050" dirty="0"/>
            </a:p>
          </p:txBody>
        </p:sp>
      </p:grpSp>
      <p:sp>
        <p:nvSpPr>
          <p:cNvPr id="9" name="十字形 8"/>
          <p:cNvSpPr/>
          <p:nvPr/>
        </p:nvSpPr>
        <p:spPr>
          <a:xfrm>
            <a:off x="-67941" y="527503"/>
            <a:ext cx="717891" cy="717891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十字形 10"/>
          <p:cNvSpPr/>
          <p:nvPr/>
        </p:nvSpPr>
        <p:spPr>
          <a:xfrm>
            <a:off x="595318" y="195510"/>
            <a:ext cx="242505" cy="242505"/>
          </a:xfrm>
          <a:prstGeom prst="plus">
            <a:avLst>
              <a:gd name="adj" fmla="val 33591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2099340" y="2281514"/>
            <a:ext cx="7993319" cy="562935"/>
            <a:chOff x="1778000" y="2361285"/>
            <a:chExt cx="7993319" cy="562935"/>
          </a:xfrm>
        </p:grpSpPr>
        <p:grpSp>
          <p:nvGrpSpPr>
            <p:cNvPr id="40" name="组合 39"/>
            <p:cNvGrpSpPr/>
            <p:nvPr/>
          </p:nvGrpSpPr>
          <p:grpSpPr>
            <a:xfrm>
              <a:off x="1778000" y="2361285"/>
              <a:ext cx="3889375" cy="562935"/>
              <a:chOff x="1778000" y="2361285"/>
              <a:chExt cx="3889375" cy="562935"/>
            </a:xfrm>
          </p:grpSpPr>
          <p:sp>
            <p:nvSpPr>
              <p:cNvPr id="20" name="椭圆 19"/>
              <p:cNvSpPr/>
              <p:nvPr/>
            </p:nvSpPr>
            <p:spPr>
              <a:xfrm>
                <a:off x="2688330" y="2361285"/>
                <a:ext cx="400050" cy="426365"/>
              </a:xfrm>
              <a:prstGeom prst="ellipse">
                <a:avLst/>
              </a:prstGeom>
              <a:solidFill>
                <a:srgbClr val="2CAB93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28" name="矩形: 圆角 27"/>
              <p:cNvSpPr/>
              <p:nvPr/>
            </p:nvSpPr>
            <p:spPr>
              <a:xfrm>
                <a:off x="1778000" y="2452668"/>
                <a:ext cx="3889375" cy="471552"/>
              </a:xfrm>
              <a:prstGeom prst="roundRect">
                <a:avLst>
                  <a:gd name="adj" fmla="val 50000"/>
                </a:avLst>
              </a:prstGeom>
              <a:solidFill>
                <a:srgbClr val="2CAB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31" name="任意多边形: 形状 30"/>
              <p:cNvSpPr/>
              <p:nvPr/>
            </p:nvSpPr>
            <p:spPr>
              <a:xfrm>
                <a:off x="2130076" y="2361285"/>
                <a:ext cx="758279" cy="562935"/>
              </a:xfrm>
              <a:custGeom>
                <a:avLst/>
                <a:gdLst>
                  <a:gd name="csX0" fmla="*/ 184401 w 758279"/>
                  <a:gd name="csY0" fmla="*/ 0 h 562935"/>
                  <a:gd name="csX1" fmla="*/ 354264 w 758279"/>
                  <a:gd name="csY1" fmla="*/ 0 h 562935"/>
                  <a:gd name="csX2" fmla="*/ 588416 w 758279"/>
                  <a:gd name="csY2" fmla="*/ 0 h 562935"/>
                  <a:gd name="csX3" fmla="*/ 758279 w 758279"/>
                  <a:gd name="csY3" fmla="*/ 0 h 562935"/>
                  <a:gd name="csX4" fmla="*/ 573878 w 758279"/>
                  <a:gd name="csY4" fmla="*/ 184401 h 562935"/>
                  <a:gd name="csX5" fmla="*/ 573878 w 758279"/>
                  <a:gd name="csY5" fmla="*/ 375974 h 562935"/>
                  <a:gd name="csX6" fmla="*/ 573879 w 758279"/>
                  <a:gd name="csY6" fmla="*/ 375974 h 562935"/>
                  <a:gd name="csX7" fmla="*/ 573879 w 758279"/>
                  <a:gd name="csY7" fmla="*/ 562935 h 562935"/>
                  <a:gd name="csX8" fmla="*/ 404016 w 758279"/>
                  <a:gd name="csY8" fmla="*/ 562935 h 562935"/>
                  <a:gd name="csX9" fmla="*/ 169864 w 758279"/>
                  <a:gd name="csY9" fmla="*/ 562935 h 562935"/>
                  <a:gd name="csX10" fmla="*/ 1 w 758279"/>
                  <a:gd name="csY10" fmla="*/ 562935 h 562935"/>
                  <a:gd name="csX11" fmla="*/ 1 w 758279"/>
                  <a:gd name="csY11" fmla="*/ 375974 h 562935"/>
                  <a:gd name="csX12" fmla="*/ 0 w 758279"/>
                  <a:gd name="csY12" fmla="*/ 375974 h 562935"/>
                  <a:gd name="csX13" fmla="*/ 0 w 758279"/>
                  <a:gd name="csY13" fmla="*/ 184401 h 562935"/>
                  <a:gd name="csX14" fmla="*/ 184401 w 758279"/>
                  <a:gd name="csY14" fmla="*/ 0 h 5629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758279" h="562935">
                    <a:moveTo>
                      <a:pt x="184401" y="0"/>
                    </a:moveTo>
                    <a:lnTo>
                      <a:pt x="354264" y="0"/>
                    </a:lnTo>
                    <a:lnTo>
                      <a:pt x="588416" y="0"/>
                    </a:lnTo>
                    <a:lnTo>
                      <a:pt x="758279" y="0"/>
                    </a:lnTo>
                    <a:cubicBezTo>
                      <a:pt x="656438" y="0"/>
                      <a:pt x="573878" y="82559"/>
                      <a:pt x="573878" y="184401"/>
                    </a:cubicBezTo>
                    <a:lnTo>
                      <a:pt x="573878" y="375974"/>
                    </a:lnTo>
                    <a:lnTo>
                      <a:pt x="573879" y="375974"/>
                    </a:lnTo>
                    <a:lnTo>
                      <a:pt x="573879" y="562935"/>
                    </a:lnTo>
                    <a:lnTo>
                      <a:pt x="404016" y="562935"/>
                    </a:lnTo>
                    <a:lnTo>
                      <a:pt x="169864" y="562935"/>
                    </a:lnTo>
                    <a:lnTo>
                      <a:pt x="1" y="562935"/>
                    </a:lnTo>
                    <a:lnTo>
                      <a:pt x="1" y="375974"/>
                    </a:lnTo>
                    <a:lnTo>
                      <a:pt x="0" y="375974"/>
                    </a:lnTo>
                    <a:lnTo>
                      <a:pt x="0" y="184401"/>
                    </a:lnTo>
                    <a:cubicBezTo>
                      <a:pt x="0" y="82559"/>
                      <a:pt x="82559" y="0"/>
                      <a:pt x="18440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9" name="组合 38"/>
              <p:cNvGrpSpPr/>
              <p:nvPr/>
            </p:nvGrpSpPr>
            <p:grpSpPr>
              <a:xfrm>
                <a:off x="2151918" y="2451236"/>
                <a:ext cx="2796191" cy="461665"/>
                <a:chOff x="1249621" y="2030985"/>
                <a:chExt cx="2796191" cy="461665"/>
              </a:xfrm>
            </p:grpSpPr>
            <p:sp>
              <p:nvSpPr>
                <p:cNvPr id="36" name="文本框 35"/>
                <p:cNvSpPr txBox="1"/>
                <p:nvPr/>
              </p:nvSpPr>
              <p:spPr>
                <a:xfrm>
                  <a:off x="1249621" y="2030985"/>
                  <a:ext cx="5629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2400">
                      <a:solidFill>
                        <a:srgbClr val="1F8DE6"/>
                      </a:solidFill>
                      <a:latin typeface="HarmonyOS Sans SC Black" panose="00000A00000000000000" pitchFamily="2" charset="-122"/>
                      <a:ea typeface="HarmonyOS Sans SC Black" panose="00000A00000000000000" pitchFamily="2" charset="-122"/>
                    </a:defRPr>
                  </a:lvl1pPr>
                </a:lstStyle>
                <a:p>
                  <a:r>
                    <a:rPr lang="en-US" altLang="zh-CN" dirty="0">
                      <a:solidFill>
                        <a:schemeClr val="tx1"/>
                      </a:solidFill>
                    </a:rPr>
                    <a:t>01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" name="文本框 37"/>
                <p:cNvSpPr txBox="1"/>
                <p:nvPr/>
              </p:nvSpPr>
              <p:spPr>
                <a:xfrm>
                  <a:off x="1965746" y="2122247"/>
                  <a:ext cx="2080066" cy="307777"/>
                </a:xfrm>
                <a:prstGeom prst="rect">
                  <a:avLst/>
                </a:prstGeom>
                <a:noFill/>
              </p:spPr>
              <p:txBody>
                <a:bodyPr vert="horz" wrap="square">
                  <a:spAutoFit/>
                </a:bodyPr>
                <a:lstStyle/>
                <a:p>
                  <a:r>
                    <a:rPr lang="zh-CN" altLang="en-US" sz="1400" b="1" dirty="0">
                      <a:solidFill>
                        <a:schemeClr val="bg1"/>
                      </a:solidFill>
                      <a:latin typeface="微软雅黑"/>
                      <a:ea typeface="微软雅黑"/>
                    </a:rPr>
                    <a:t>全局蓝图</a:t>
                  </a:r>
                  <a:endParaRPr lang="zh-CN" altLang="en-US" sz="14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41" name="组合 40"/>
            <p:cNvGrpSpPr/>
            <p:nvPr/>
          </p:nvGrpSpPr>
          <p:grpSpPr>
            <a:xfrm>
              <a:off x="5881944" y="2361285"/>
              <a:ext cx="3889375" cy="562935"/>
              <a:chOff x="1778000" y="2361285"/>
              <a:chExt cx="3889375" cy="562935"/>
            </a:xfrm>
          </p:grpSpPr>
          <p:sp>
            <p:nvSpPr>
              <p:cNvPr id="42" name="椭圆 41"/>
              <p:cNvSpPr/>
              <p:nvPr/>
            </p:nvSpPr>
            <p:spPr>
              <a:xfrm>
                <a:off x="2688330" y="2361285"/>
                <a:ext cx="400050" cy="426365"/>
              </a:xfrm>
              <a:prstGeom prst="ellipse">
                <a:avLst/>
              </a:prstGeom>
              <a:solidFill>
                <a:srgbClr val="2CAB93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48" name="矩形: 圆角 47"/>
              <p:cNvSpPr/>
              <p:nvPr/>
            </p:nvSpPr>
            <p:spPr>
              <a:xfrm>
                <a:off x="1778000" y="2452668"/>
                <a:ext cx="3889375" cy="471552"/>
              </a:xfrm>
              <a:prstGeom prst="roundRect">
                <a:avLst>
                  <a:gd name="adj" fmla="val 50000"/>
                </a:avLst>
              </a:prstGeom>
              <a:solidFill>
                <a:srgbClr val="2CAB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51" name="任意多边形: 形状 50"/>
              <p:cNvSpPr/>
              <p:nvPr/>
            </p:nvSpPr>
            <p:spPr>
              <a:xfrm>
                <a:off x="2130076" y="2361285"/>
                <a:ext cx="758279" cy="562935"/>
              </a:xfrm>
              <a:custGeom>
                <a:avLst/>
                <a:gdLst>
                  <a:gd name="csX0" fmla="*/ 184401 w 758279"/>
                  <a:gd name="csY0" fmla="*/ 0 h 562935"/>
                  <a:gd name="csX1" fmla="*/ 354264 w 758279"/>
                  <a:gd name="csY1" fmla="*/ 0 h 562935"/>
                  <a:gd name="csX2" fmla="*/ 588416 w 758279"/>
                  <a:gd name="csY2" fmla="*/ 0 h 562935"/>
                  <a:gd name="csX3" fmla="*/ 758279 w 758279"/>
                  <a:gd name="csY3" fmla="*/ 0 h 562935"/>
                  <a:gd name="csX4" fmla="*/ 573878 w 758279"/>
                  <a:gd name="csY4" fmla="*/ 184401 h 562935"/>
                  <a:gd name="csX5" fmla="*/ 573878 w 758279"/>
                  <a:gd name="csY5" fmla="*/ 375974 h 562935"/>
                  <a:gd name="csX6" fmla="*/ 573879 w 758279"/>
                  <a:gd name="csY6" fmla="*/ 375974 h 562935"/>
                  <a:gd name="csX7" fmla="*/ 573879 w 758279"/>
                  <a:gd name="csY7" fmla="*/ 562935 h 562935"/>
                  <a:gd name="csX8" fmla="*/ 404016 w 758279"/>
                  <a:gd name="csY8" fmla="*/ 562935 h 562935"/>
                  <a:gd name="csX9" fmla="*/ 169864 w 758279"/>
                  <a:gd name="csY9" fmla="*/ 562935 h 562935"/>
                  <a:gd name="csX10" fmla="*/ 1 w 758279"/>
                  <a:gd name="csY10" fmla="*/ 562935 h 562935"/>
                  <a:gd name="csX11" fmla="*/ 1 w 758279"/>
                  <a:gd name="csY11" fmla="*/ 375974 h 562935"/>
                  <a:gd name="csX12" fmla="*/ 0 w 758279"/>
                  <a:gd name="csY12" fmla="*/ 375974 h 562935"/>
                  <a:gd name="csX13" fmla="*/ 0 w 758279"/>
                  <a:gd name="csY13" fmla="*/ 184401 h 562935"/>
                  <a:gd name="csX14" fmla="*/ 184401 w 758279"/>
                  <a:gd name="csY14" fmla="*/ 0 h 5629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758279" h="562935">
                    <a:moveTo>
                      <a:pt x="184401" y="0"/>
                    </a:moveTo>
                    <a:lnTo>
                      <a:pt x="354264" y="0"/>
                    </a:lnTo>
                    <a:lnTo>
                      <a:pt x="588416" y="0"/>
                    </a:lnTo>
                    <a:lnTo>
                      <a:pt x="758279" y="0"/>
                    </a:lnTo>
                    <a:cubicBezTo>
                      <a:pt x="656438" y="0"/>
                      <a:pt x="573878" y="82559"/>
                      <a:pt x="573878" y="184401"/>
                    </a:cubicBezTo>
                    <a:lnTo>
                      <a:pt x="573878" y="375974"/>
                    </a:lnTo>
                    <a:lnTo>
                      <a:pt x="573879" y="375974"/>
                    </a:lnTo>
                    <a:lnTo>
                      <a:pt x="573879" y="562935"/>
                    </a:lnTo>
                    <a:lnTo>
                      <a:pt x="404016" y="562935"/>
                    </a:lnTo>
                    <a:lnTo>
                      <a:pt x="169864" y="562935"/>
                    </a:lnTo>
                    <a:lnTo>
                      <a:pt x="1" y="562935"/>
                    </a:lnTo>
                    <a:lnTo>
                      <a:pt x="1" y="375974"/>
                    </a:lnTo>
                    <a:lnTo>
                      <a:pt x="0" y="375974"/>
                    </a:lnTo>
                    <a:lnTo>
                      <a:pt x="0" y="184401"/>
                    </a:lnTo>
                    <a:cubicBezTo>
                      <a:pt x="0" y="82559"/>
                      <a:pt x="82559" y="0"/>
                      <a:pt x="18440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52" name="组合 51"/>
              <p:cNvGrpSpPr/>
              <p:nvPr/>
            </p:nvGrpSpPr>
            <p:grpSpPr>
              <a:xfrm>
                <a:off x="2151918" y="2451236"/>
                <a:ext cx="2796191" cy="461665"/>
                <a:chOff x="1249621" y="2030985"/>
                <a:chExt cx="2796191" cy="461665"/>
              </a:xfrm>
            </p:grpSpPr>
            <p:sp>
              <p:nvSpPr>
                <p:cNvPr id="53" name="文本框 52"/>
                <p:cNvSpPr txBox="1"/>
                <p:nvPr/>
              </p:nvSpPr>
              <p:spPr>
                <a:xfrm>
                  <a:off x="1249621" y="2030985"/>
                  <a:ext cx="5629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2400">
                      <a:solidFill>
                        <a:srgbClr val="1F8DE6"/>
                      </a:solidFill>
                      <a:latin typeface="HarmonyOS Sans SC Black" panose="00000A00000000000000" pitchFamily="2" charset="-122"/>
                      <a:ea typeface="HarmonyOS Sans SC Black" panose="00000A00000000000000" pitchFamily="2" charset="-122"/>
                    </a:defRPr>
                  </a:lvl1pPr>
                </a:lstStyle>
                <a:p>
                  <a:r>
                    <a:rPr lang="en-US" altLang="zh-CN" dirty="0">
                      <a:solidFill>
                        <a:schemeClr val="tx1"/>
                      </a:solidFill>
                    </a:rPr>
                    <a:t>02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文本框 53"/>
                <p:cNvSpPr txBox="1"/>
                <p:nvPr/>
              </p:nvSpPr>
              <p:spPr>
                <a:xfrm>
                  <a:off x="1965746" y="2122247"/>
                  <a:ext cx="2080066" cy="307777"/>
                </a:xfrm>
                <a:prstGeom prst="rect">
                  <a:avLst/>
                </a:prstGeom>
                <a:noFill/>
              </p:spPr>
              <p:txBody>
                <a:bodyPr vert="horz" wrap="square">
                  <a:spAutoFit/>
                </a:bodyPr>
                <a:lstStyle/>
                <a:p>
                  <a:r>
                    <a:rPr lang="zh-CN" altLang="en-US" sz="1400" b="1" dirty="0">
                      <a:solidFill>
                        <a:schemeClr val="bg1"/>
                      </a:solidFill>
                      <a:latin typeface="微软雅黑"/>
                      <a:ea typeface="微软雅黑"/>
                    </a:rPr>
                    <a:t>数据平台</a:t>
                  </a:r>
                  <a:endParaRPr lang="zh-CN" altLang="en-US" sz="14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</p:grpSp>
      <p:grpSp>
        <p:nvGrpSpPr>
          <p:cNvPr id="56" name="组合 55"/>
          <p:cNvGrpSpPr/>
          <p:nvPr/>
        </p:nvGrpSpPr>
        <p:grpSpPr>
          <a:xfrm>
            <a:off x="2099340" y="4093229"/>
            <a:ext cx="7993319" cy="562935"/>
            <a:chOff x="1778000" y="2361285"/>
            <a:chExt cx="7993319" cy="562935"/>
          </a:xfrm>
        </p:grpSpPr>
        <p:grpSp>
          <p:nvGrpSpPr>
            <p:cNvPr id="57" name="组合 56"/>
            <p:cNvGrpSpPr/>
            <p:nvPr/>
          </p:nvGrpSpPr>
          <p:grpSpPr>
            <a:xfrm>
              <a:off x="1778000" y="2361285"/>
              <a:ext cx="3889375" cy="562935"/>
              <a:chOff x="1778000" y="2361285"/>
              <a:chExt cx="3889375" cy="562935"/>
            </a:xfrm>
          </p:grpSpPr>
          <p:sp>
            <p:nvSpPr>
              <p:cNvPr id="65" name="椭圆 64"/>
              <p:cNvSpPr/>
              <p:nvPr/>
            </p:nvSpPr>
            <p:spPr>
              <a:xfrm>
                <a:off x="2688330" y="2361285"/>
                <a:ext cx="400050" cy="426365"/>
              </a:xfrm>
              <a:prstGeom prst="ellipse">
                <a:avLst/>
              </a:prstGeom>
              <a:solidFill>
                <a:srgbClr val="2CAB93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66" name="矩形: 圆角 65"/>
              <p:cNvSpPr/>
              <p:nvPr/>
            </p:nvSpPr>
            <p:spPr>
              <a:xfrm>
                <a:off x="1778000" y="2452668"/>
                <a:ext cx="3889375" cy="471552"/>
              </a:xfrm>
              <a:prstGeom prst="roundRect">
                <a:avLst>
                  <a:gd name="adj" fmla="val 50000"/>
                </a:avLst>
              </a:prstGeom>
              <a:solidFill>
                <a:srgbClr val="2CAB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67" name="任意多边形: 形状 66"/>
              <p:cNvSpPr/>
              <p:nvPr/>
            </p:nvSpPr>
            <p:spPr>
              <a:xfrm>
                <a:off x="2130076" y="2361285"/>
                <a:ext cx="758279" cy="562935"/>
              </a:xfrm>
              <a:custGeom>
                <a:avLst/>
                <a:gdLst>
                  <a:gd name="csX0" fmla="*/ 184401 w 758279"/>
                  <a:gd name="csY0" fmla="*/ 0 h 562935"/>
                  <a:gd name="csX1" fmla="*/ 354264 w 758279"/>
                  <a:gd name="csY1" fmla="*/ 0 h 562935"/>
                  <a:gd name="csX2" fmla="*/ 588416 w 758279"/>
                  <a:gd name="csY2" fmla="*/ 0 h 562935"/>
                  <a:gd name="csX3" fmla="*/ 758279 w 758279"/>
                  <a:gd name="csY3" fmla="*/ 0 h 562935"/>
                  <a:gd name="csX4" fmla="*/ 573878 w 758279"/>
                  <a:gd name="csY4" fmla="*/ 184401 h 562935"/>
                  <a:gd name="csX5" fmla="*/ 573878 w 758279"/>
                  <a:gd name="csY5" fmla="*/ 375974 h 562935"/>
                  <a:gd name="csX6" fmla="*/ 573879 w 758279"/>
                  <a:gd name="csY6" fmla="*/ 375974 h 562935"/>
                  <a:gd name="csX7" fmla="*/ 573879 w 758279"/>
                  <a:gd name="csY7" fmla="*/ 562935 h 562935"/>
                  <a:gd name="csX8" fmla="*/ 404016 w 758279"/>
                  <a:gd name="csY8" fmla="*/ 562935 h 562935"/>
                  <a:gd name="csX9" fmla="*/ 169864 w 758279"/>
                  <a:gd name="csY9" fmla="*/ 562935 h 562935"/>
                  <a:gd name="csX10" fmla="*/ 1 w 758279"/>
                  <a:gd name="csY10" fmla="*/ 562935 h 562935"/>
                  <a:gd name="csX11" fmla="*/ 1 w 758279"/>
                  <a:gd name="csY11" fmla="*/ 375974 h 562935"/>
                  <a:gd name="csX12" fmla="*/ 0 w 758279"/>
                  <a:gd name="csY12" fmla="*/ 375974 h 562935"/>
                  <a:gd name="csX13" fmla="*/ 0 w 758279"/>
                  <a:gd name="csY13" fmla="*/ 184401 h 562935"/>
                  <a:gd name="csX14" fmla="*/ 184401 w 758279"/>
                  <a:gd name="csY14" fmla="*/ 0 h 5629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758279" h="562935">
                    <a:moveTo>
                      <a:pt x="184401" y="0"/>
                    </a:moveTo>
                    <a:lnTo>
                      <a:pt x="354264" y="0"/>
                    </a:lnTo>
                    <a:lnTo>
                      <a:pt x="588416" y="0"/>
                    </a:lnTo>
                    <a:lnTo>
                      <a:pt x="758279" y="0"/>
                    </a:lnTo>
                    <a:cubicBezTo>
                      <a:pt x="656438" y="0"/>
                      <a:pt x="573878" y="82559"/>
                      <a:pt x="573878" y="184401"/>
                    </a:cubicBezTo>
                    <a:lnTo>
                      <a:pt x="573878" y="375974"/>
                    </a:lnTo>
                    <a:lnTo>
                      <a:pt x="573879" y="375974"/>
                    </a:lnTo>
                    <a:lnTo>
                      <a:pt x="573879" y="562935"/>
                    </a:lnTo>
                    <a:lnTo>
                      <a:pt x="404016" y="562935"/>
                    </a:lnTo>
                    <a:lnTo>
                      <a:pt x="169864" y="562935"/>
                    </a:lnTo>
                    <a:lnTo>
                      <a:pt x="1" y="562935"/>
                    </a:lnTo>
                    <a:lnTo>
                      <a:pt x="1" y="375974"/>
                    </a:lnTo>
                    <a:lnTo>
                      <a:pt x="0" y="375974"/>
                    </a:lnTo>
                    <a:lnTo>
                      <a:pt x="0" y="184401"/>
                    </a:lnTo>
                    <a:cubicBezTo>
                      <a:pt x="0" y="82559"/>
                      <a:pt x="82559" y="0"/>
                      <a:pt x="18440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8" name="组合 67"/>
              <p:cNvGrpSpPr/>
              <p:nvPr/>
            </p:nvGrpSpPr>
            <p:grpSpPr>
              <a:xfrm>
                <a:off x="2151918" y="2451236"/>
                <a:ext cx="2796191" cy="461665"/>
                <a:chOff x="1249621" y="2030985"/>
                <a:chExt cx="2796191" cy="461665"/>
              </a:xfrm>
            </p:grpSpPr>
            <p:sp>
              <p:nvSpPr>
                <p:cNvPr id="82" name="文本框 81"/>
                <p:cNvSpPr txBox="1"/>
                <p:nvPr/>
              </p:nvSpPr>
              <p:spPr>
                <a:xfrm>
                  <a:off x="1249621" y="2030985"/>
                  <a:ext cx="5629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2400">
                      <a:solidFill>
                        <a:srgbClr val="1F8DE6"/>
                      </a:solidFill>
                      <a:latin typeface="HarmonyOS Sans SC Black" panose="00000A00000000000000" pitchFamily="2" charset="-122"/>
                      <a:ea typeface="HarmonyOS Sans SC Black" panose="00000A00000000000000" pitchFamily="2" charset="-122"/>
                    </a:defRPr>
                  </a:lvl1pPr>
                </a:lstStyle>
                <a:p>
                  <a:r>
                    <a:rPr lang="en-US" altLang="zh-CN" dirty="0">
                      <a:solidFill>
                        <a:schemeClr val="tx1"/>
                      </a:solidFill>
                    </a:rPr>
                    <a:t>03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3" name="文本框 82"/>
                <p:cNvSpPr txBox="1"/>
                <p:nvPr/>
              </p:nvSpPr>
              <p:spPr>
                <a:xfrm>
                  <a:off x="1965746" y="2122247"/>
                  <a:ext cx="2080066" cy="307777"/>
                </a:xfrm>
                <a:prstGeom prst="rect">
                  <a:avLst/>
                </a:prstGeom>
                <a:noFill/>
              </p:spPr>
              <p:txBody>
                <a:bodyPr vert="horz" wrap="square">
                  <a:spAutoFit/>
                </a:bodyPr>
                <a:lstStyle/>
                <a:p>
                  <a:r>
                    <a:rPr lang="zh-CN" altLang="en-US" sz="1400" b="1" dirty="0">
                      <a:solidFill>
                        <a:schemeClr val="bg1"/>
                      </a:solidFill>
                      <a:latin typeface="微软雅黑"/>
                      <a:ea typeface="微软雅黑"/>
                    </a:rPr>
                    <a:t>AI 平台</a:t>
                  </a:r>
                  <a:endParaRPr lang="zh-CN" altLang="en-US" sz="14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58" name="组合 57"/>
            <p:cNvGrpSpPr/>
            <p:nvPr/>
          </p:nvGrpSpPr>
          <p:grpSpPr>
            <a:xfrm>
              <a:off x="5881944" y="2361285"/>
              <a:ext cx="3889375" cy="562935"/>
              <a:chOff x="1778000" y="2361285"/>
              <a:chExt cx="3889375" cy="562935"/>
            </a:xfrm>
          </p:grpSpPr>
          <p:sp>
            <p:nvSpPr>
              <p:cNvPr id="59" name="椭圆 58"/>
              <p:cNvSpPr/>
              <p:nvPr/>
            </p:nvSpPr>
            <p:spPr>
              <a:xfrm>
                <a:off x="2688330" y="2361285"/>
                <a:ext cx="400050" cy="426365"/>
              </a:xfrm>
              <a:prstGeom prst="ellipse">
                <a:avLst/>
              </a:prstGeom>
              <a:solidFill>
                <a:srgbClr val="2CAB93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60" name="矩形: 圆角 59"/>
              <p:cNvSpPr/>
              <p:nvPr/>
            </p:nvSpPr>
            <p:spPr>
              <a:xfrm>
                <a:off x="1778000" y="2452668"/>
                <a:ext cx="3889375" cy="471552"/>
              </a:xfrm>
              <a:prstGeom prst="roundRect">
                <a:avLst>
                  <a:gd name="adj" fmla="val 50000"/>
                </a:avLst>
              </a:prstGeom>
              <a:solidFill>
                <a:srgbClr val="2CAB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61" name="任意多边形: 形状 60"/>
              <p:cNvSpPr/>
              <p:nvPr/>
            </p:nvSpPr>
            <p:spPr>
              <a:xfrm>
                <a:off x="2130076" y="2361285"/>
                <a:ext cx="758279" cy="562935"/>
              </a:xfrm>
              <a:custGeom>
                <a:avLst/>
                <a:gdLst>
                  <a:gd name="csX0" fmla="*/ 184401 w 758279"/>
                  <a:gd name="csY0" fmla="*/ 0 h 562935"/>
                  <a:gd name="csX1" fmla="*/ 354264 w 758279"/>
                  <a:gd name="csY1" fmla="*/ 0 h 562935"/>
                  <a:gd name="csX2" fmla="*/ 588416 w 758279"/>
                  <a:gd name="csY2" fmla="*/ 0 h 562935"/>
                  <a:gd name="csX3" fmla="*/ 758279 w 758279"/>
                  <a:gd name="csY3" fmla="*/ 0 h 562935"/>
                  <a:gd name="csX4" fmla="*/ 573878 w 758279"/>
                  <a:gd name="csY4" fmla="*/ 184401 h 562935"/>
                  <a:gd name="csX5" fmla="*/ 573878 w 758279"/>
                  <a:gd name="csY5" fmla="*/ 375974 h 562935"/>
                  <a:gd name="csX6" fmla="*/ 573879 w 758279"/>
                  <a:gd name="csY6" fmla="*/ 375974 h 562935"/>
                  <a:gd name="csX7" fmla="*/ 573879 w 758279"/>
                  <a:gd name="csY7" fmla="*/ 562935 h 562935"/>
                  <a:gd name="csX8" fmla="*/ 404016 w 758279"/>
                  <a:gd name="csY8" fmla="*/ 562935 h 562935"/>
                  <a:gd name="csX9" fmla="*/ 169864 w 758279"/>
                  <a:gd name="csY9" fmla="*/ 562935 h 562935"/>
                  <a:gd name="csX10" fmla="*/ 1 w 758279"/>
                  <a:gd name="csY10" fmla="*/ 562935 h 562935"/>
                  <a:gd name="csX11" fmla="*/ 1 w 758279"/>
                  <a:gd name="csY11" fmla="*/ 375974 h 562935"/>
                  <a:gd name="csX12" fmla="*/ 0 w 758279"/>
                  <a:gd name="csY12" fmla="*/ 375974 h 562935"/>
                  <a:gd name="csX13" fmla="*/ 0 w 758279"/>
                  <a:gd name="csY13" fmla="*/ 184401 h 562935"/>
                  <a:gd name="csX14" fmla="*/ 184401 w 758279"/>
                  <a:gd name="csY14" fmla="*/ 0 h 5629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758279" h="562935">
                    <a:moveTo>
                      <a:pt x="184401" y="0"/>
                    </a:moveTo>
                    <a:lnTo>
                      <a:pt x="354264" y="0"/>
                    </a:lnTo>
                    <a:lnTo>
                      <a:pt x="588416" y="0"/>
                    </a:lnTo>
                    <a:lnTo>
                      <a:pt x="758279" y="0"/>
                    </a:lnTo>
                    <a:cubicBezTo>
                      <a:pt x="656438" y="0"/>
                      <a:pt x="573878" y="82559"/>
                      <a:pt x="573878" y="184401"/>
                    </a:cubicBezTo>
                    <a:lnTo>
                      <a:pt x="573878" y="375974"/>
                    </a:lnTo>
                    <a:lnTo>
                      <a:pt x="573879" y="375974"/>
                    </a:lnTo>
                    <a:lnTo>
                      <a:pt x="573879" y="562935"/>
                    </a:lnTo>
                    <a:lnTo>
                      <a:pt x="404016" y="562935"/>
                    </a:lnTo>
                    <a:lnTo>
                      <a:pt x="169864" y="562935"/>
                    </a:lnTo>
                    <a:lnTo>
                      <a:pt x="1" y="562935"/>
                    </a:lnTo>
                    <a:lnTo>
                      <a:pt x="1" y="375974"/>
                    </a:lnTo>
                    <a:lnTo>
                      <a:pt x="0" y="375974"/>
                    </a:lnTo>
                    <a:lnTo>
                      <a:pt x="0" y="184401"/>
                    </a:lnTo>
                    <a:cubicBezTo>
                      <a:pt x="0" y="82559"/>
                      <a:pt x="82559" y="0"/>
                      <a:pt x="18440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2" name="组合 61"/>
              <p:cNvGrpSpPr/>
              <p:nvPr/>
            </p:nvGrpSpPr>
            <p:grpSpPr>
              <a:xfrm>
                <a:off x="2151918" y="2451236"/>
                <a:ext cx="2796191" cy="461665"/>
                <a:chOff x="1249621" y="2030985"/>
                <a:chExt cx="2796191" cy="461665"/>
              </a:xfrm>
            </p:grpSpPr>
            <p:sp>
              <p:nvSpPr>
                <p:cNvPr id="63" name="文本框 62"/>
                <p:cNvSpPr txBox="1"/>
                <p:nvPr/>
              </p:nvSpPr>
              <p:spPr>
                <a:xfrm>
                  <a:off x="1249621" y="2030985"/>
                  <a:ext cx="5629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2400">
                      <a:solidFill>
                        <a:srgbClr val="1F8DE6"/>
                      </a:solidFill>
                      <a:latin typeface="HarmonyOS Sans SC Black" panose="00000A00000000000000" pitchFamily="2" charset="-122"/>
                      <a:ea typeface="HarmonyOS Sans SC Black" panose="00000A00000000000000" pitchFamily="2" charset="-122"/>
                    </a:defRPr>
                  </a:lvl1pPr>
                </a:lstStyle>
                <a:p>
                  <a:r>
                    <a:rPr lang="en-US" altLang="zh-CN" dirty="0">
                      <a:solidFill>
                        <a:schemeClr val="tx1"/>
                      </a:solidFill>
                    </a:rPr>
                    <a:t>04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4" name="文本框 63"/>
                <p:cNvSpPr txBox="1"/>
                <p:nvPr/>
              </p:nvSpPr>
              <p:spPr>
                <a:xfrm>
                  <a:off x="1965746" y="2122247"/>
                  <a:ext cx="2080066" cy="307777"/>
                </a:xfrm>
                <a:prstGeom prst="rect">
                  <a:avLst/>
                </a:prstGeom>
                <a:noFill/>
              </p:spPr>
              <p:txBody>
                <a:bodyPr vert="horz" wrap="square">
                  <a:spAutoFit/>
                </a:bodyPr>
                <a:lstStyle/>
                <a:p>
                  <a:r>
                    <a:rPr lang="zh-CN" altLang="en-US" sz="1400" b="1" dirty="0">
                      <a:solidFill>
                        <a:schemeClr val="bg1"/>
                      </a:solidFill>
                      <a:latin typeface="微软雅黑"/>
                      <a:ea typeface="微软雅黑"/>
                    </a:rPr>
                    <a:t>推进计划</a:t>
                  </a:r>
                  <a:endParaRPr lang="zh-CN" altLang="en-US" sz="14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</p:grpSp>
      <p:sp>
        <p:nvSpPr>
          <p:cNvPr id="84" name="TextBox 83"/>
          <p:cNvSpPr txBox="1"/>
          <p:nvPr/>
        </p:nvSpPr>
        <p:spPr>
          <a:xfrm>
            <a:off x="2514600" y="294436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定位 · 周边系统 · 三类服务 · 八条业务线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20256" y="294436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建什么 · 怎么治理 · 人人能用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14600" y="475488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智能体平台 · 怎么分发 · 怎么建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20256" y="475488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三线并进 · 团队 · 先做什么 · 人员清单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00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一页说清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一个底座、两个平台、三类服务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数据平台让数据可信，AI 平台让数据办事；底层一套，服务行业、客户和公司自己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03  ·  AI＋数据平台 · 汇报要点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1862632" cy="656356"/>
          </a:xfrm>
          <a:prstGeom prst="roundRect">
            <a:avLst>
              <a:gd name="adj" fmla="val 1351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pic>
        <p:nvPicPr>
          <p:cNvPr id="45" name="Picture 44" descr="targe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451" y="2225649"/>
            <a:ext cx="301569" cy="30156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97456" y="2048256"/>
            <a:ext cx="1197406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定位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963387" y="2048256"/>
            <a:ext cx="7929493" cy="656356"/>
          </a:xfrm>
          <a:prstGeom prst="roundRect">
            <a:avLst>
              <a:gd name="adj" fmla="val 1351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67390" y="2048256"/>
            <a:ext cx="7592446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1F3A35"/>
                </a:solidFill>
                <a:latin typeface="微软雅黑"/>
                <a:ea typeface="微软雅黑"/>
              </a:rPr>
              <a:t>景区和公司所有业务系统的数据，先汇到一个底座，治理后统一输出；不重复建平台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4318" y="2811048"/>
            <a:ext cx="1862632" cy="656356"/>
          </a:xfrm>
          <a:prstGeom prst="roundRect">
            <a:avLst>
              <a:gd name="adj" fmla="val 1351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pic>
        <p:nvPicPr>
          <p:cNvPr id="50" name="Picture 49" descr="databas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451" y="2988442"/>
            <a:ext cx="301569" cy="30156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597456" y="2811048"/>
            <a:ext cx="1197406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数据平台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963387" y="2811048"/>
            <a:ext cx="7929493" cy="656356"/>
          </a:xfrm>
          <a:prstGeom prst="roundRect">
            <a:avLst>
              <a:gd name="adj" fmla="val 1351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67390" y="2811048"/>
            <a:ext cx="7592446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1F3A35"/>
                </a:solidFill>
                <a:latin typeface="微软雅黑"/>
                <a:ea typeface="微软雅黑"/>
              </a:rPr>
              <a:t>把数据理清、算准、管住；中文一搜就找到数，张口一问就有答案；文档、图片、视频也能用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4318" y="3573840"/>
            <a:ext cx="1862632" cy="656356"/>
          </a:xfrm>
          <a:prstGeom prst="roundRect">
            <a:avLst>
              <a:gd name="adj" fmla="val 1351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pic>
        <p:nvPicPr>
          <p:cNvPr id="55" name="Picture 54" descr="shield-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451" y="3751234"/>
            <a:ext cx="301569" cy="301569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597456" y="3573840"/>
            <a:ext cx="1197406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数据治理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963387" y="3573840"/>
            <a:ext cx="7929493" cy="656356"/>
          </a:xfrm>
          <a:prstGeom prst="roundRect">
            <a:avLst>
              <a:gd name="adj" fmla="val 1351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67390" y="3573840"/>
            <a:ext cx="7592446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1F3A35"/>
                </a:solidFill>
                <a:latin typeface="微软雅黑"/>
                <a:ea typeface="微软雅黑"/>
              </a:rPr>
              <a:t>规矩写进日常流程，每张表都有主人；同一个数处处一致；每个客户的数据严格隔离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94318" y="4336633"/>
            <a:ext cx="1862632" cy="656356"/>
          </a:xfrm>
          <a:prstGeom prst="roundRect">
            <a:avLst>
              <a:gd name="adj" fmla="val 1351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pic>
        <p:nvPicPr>
          <p:cNvPr id="60" name="Picture 59" descr="bo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4514027"/>
            <a:ext cx="301569" cy="301569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597456" y="4336633"/>
            <a:ext cx="1197406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AI 平台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963387" y="4336633"/>
            <a:ext cx="7929493" cy="656356"/>
          </a:xfrm>
          <a:prstGeom prst="roundRect">
            <a:avLst>
              <a:gd name="adj" fmla="val 1351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67390" y="4336633"/>
            <a:ext cx="7592446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1F3A35"/>
                </a:solidFill>
                <a:latin typeface="微软雅黑"/>
                <a:ea typeface="微软雅黑"/>
              </a:rPr>
              <a:t>一个智能体平台：各入口统一接入，按意图把流量分给各个智能体；数字大脑是重点方向之一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94318" y="5099425"/>
            <a:ext cx="1862632" cy="656356"/>
          </a:xfrm>
          <a:prstGeom prst="roundRect">
            <a:avLst>
              <a:gd name="adj" fmla="val 1351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pic>
        <p:nvPicPr>
          <p:cNvPr id="65" name="Picture 64" descr="rout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9451" y="5276819"/>
            <a:ext cx="301569" cy="301569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597456" y="5099425"/>
            <a:ext cx="1197406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推进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963387" y="5099425"/>
            <a:ext cx="7929493" cy="656356"/>
          </a:xfrm>
          <a:prstGeom prst="roundRect">
            <a:avLst>
              <a:gd name="adj" fmla="val 1351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67390" y="5099425"/>
            <a:ext cx="7592446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1F3A35"/>
                </a:solidFill>
                <a:latin typeface="微软雅黑"/>
                <a:ea typeface="微软雅黑"/>
              </a:rPr>
              <a:t>业务系统升级、数据平台、智能体三线并进；先跑通一条主线、一个场景，再铺开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19" name="十字形 18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 descr="D:\51PPT模板网\51pptmoban.com\图片.jpg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9" name="十字形 8" descr="D:\51PPT模板网\51pptmoban.com\图片.jpg"/>
          <p:cNvSpPr/>
          <p:nvPr/>
        </p:nvSpPr>
        <p:spPr>
          <a:xfrm>
            <a:off x="-67941" y="527503"/>
            <a:ext cx="717891" cy="717891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十字形 10"/>
          <p:cNvSpPr/>
          <p:nvPr/>
        </p:nvSpPr>
        <p:spPr>
          <a:xfrm>
            <a:off x="595318" y="195510"/>
            <a:ext cx="242505" cy="242505"/>
          </a:xfrm>
          <a:prstGeom prst="plus">
            <a:avLst>
              <a:gd name="adj" fmla="val 33591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49883" y="3230858"/>
            <a:ext cx="6292233" cy="89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1816F"/>
                </a:solidFill>
                <a:latin typeface="微软雅黑"/>
                <a:ea typeface="微软雅黑"/>
              </a:rPr>
              <a:t>一个底座，撑起所有业务和 AI</a:t>
            </a:r>
            <a:endParaRPr lang="zh-CN" altLang="en-US" sz="1200" b="1" dirty="0"/>
          </a:p>
        </p:txBody>
      </p:sp>
      <p:grpSp>
        <p:nvGrpSpPr>
          <p:cNvPr id="40" name="组合 39"/>
          <p:cNvGrpSpPr/>
          <p:nvPr/>
        </p:nvGrpSpPr>
        <p:grpSpPr>
          <a:xfrm>
            <a:off x="4151159" y="2103120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全局蓝图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Rounded Rectangle 40"/>
          <p:cNvSpPr/>
          <p:nvPr/>
        </p:nvSpPr>
        <p:spPr>
          <a:xfrm>
            <a:off x="2441448" y="4069080"/>
            <a:ext cx="7315200" cy="18288"/>
          </a:xfrm>
          <a:prstGeom prst="roundRect">
            <a:avLst>
              <a:gd name="adj" fmla="val 0"/>
            </a:avLst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41448" y="41605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2CAB93"/>
                </a:solidFill>
                <a:latin typeface="微软雅黑"/>
                <a:ea typeface="微软雅黑"/>
              </a:rPr>
              <a:t>这一部分讲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41448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为什么现在做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60647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全局定位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79847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周边系统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9048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三类服务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8248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数据怎么转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37448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八条业务线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为什么现在做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标准、市场、技术都在往这个方向走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景区智慧化有了新国标，各地在建文旅智能体平台，智能体正从单个应用走向“一个平台、多个入口”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05  ·  AI＋数据平台 · 01  全局蓝图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72269"/>
            <a:ext cx="3151692" cy="2926994"/>
          </a:xfrm>
          <a:prstGeom prst="roundRect">
            <a:avLst>
              <a:gd name="adj" fmla="val 4242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94318" y="1972269"/>
            <a:ext cx="3151692" cy="886968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94318" y="2610886"/>
            <a:ext cx="3151692" cy="24835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stam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060" y="2202881"/>
            <a:ext cx="408005" cy="40800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792589" y="2025487"/>
            <a:ext cx="226472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50" b="1">
                <a:solidFill>
                  <a:srgbClr val="FFFFFF"/>
                </a:solidFill>
                <a:latin typeface="微软雅黑"/>
                <a:ea typeface="微软雅黑"/>
              </a:rPr>
              <a:t>标准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92589" y="2380274"/>
            <a:ext cx="226472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E6F6F2"/>
                </a:solidFill>
                <a:latin typeface="微软雅黑"/>
                <a:ea typeface="微软雅黑"/>
              </a:rPr>
              <a:t>景区智慧化有了新国标</a:t>
            </a:r>
          </a:p>
        </p:txBody>
      </p:sp>
      <p:pic>
        <p:nvPicPr>
          <p:cNvPr id="50" name="Picture 49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451" y="3151936"/>
            <a:ext cx="212872" cy="21287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491020" y="3063240"/>
            <a:ext cx="253081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《旅游景区智慧化运营管理要求》GB/T 30225-2026</a:t>
            </a:r>
          </a:p>
        </p:txBody>
      </p:sp>
      <p:pic>
        <p:nvPicPr>
          <p:cNvPr id="52" name="Picture 51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451" y="3701855"/>
            <a:ext cx="212872" cy="21287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491020" y="3613160"/>
            <a:ext cx="253081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2026 年 11 月 1 日起实施</a:t>
            </a:r>
          </a:p>
        </p:txBody>
      </p:sp>
      <p:pic>
        <p:nvPicPr>
          <p:cNvPr id="54" name="Picture 53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451" y="4251777"/>
            <a:ext cx="212872" cy="21287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491020" y="4163080"/>
            <a:ext cx="253081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“数据管理”列为六大板块之一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67753" y="1972269"/>
            <a:ext cx="3151692" cy="2926994"/>
          </a:xfrm>
          <a:prstGeom prst="roundRect">
            <a:avLst>
              <a:gd name="adj" fmla="val 4242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367753" y="1972269"/>
            <a:ext cx="3151692" cy="886968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367753" y="2610886"/>
            <a:ext cx="3151692" cy="24835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map-pinne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9495" y="2202881"/>
            <a:ext cx="408005" cy="408005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166024" y="2025487"/>
            <a:ext cx="226472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50" b="1">
                <a:solidFill>
                  <a:srgbClr val="FFFFFF"/>
                </a:solidFill>
                <a:latin typeface="微软雅黑"/>
                <a:ea typeface="微软雅黑"/>
              </a:rPr>
              <a:t>市场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66024" y="2380274"/>
            <a:ext cx="226472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E6F6F2"/>
                </a:solidFill>
                <a:latin typeface="微软雅黑"/>
                <a:ea typeface="微软雅黑"/>
              </a:rPr>
              <a:t>各地在建文旅智能体平台</a:t>
            </a:r>
          </a:p>
        </p:txBody>
      </p:sp>
      <p:pic>
        <p:nvPicPr>
          <p:cNvPr id="62" name="Picture 61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86" y="3151936"/>
            <a:ext cx="212872" cy="21287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864455" y="3063240"/>
            <a:ext cx="253081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深圳在建全市文旅智能体平台</a:t>
            </a:r>
          </a:p>
        </p:txBody>
      </p:sp>
      <p:pic>
        <p:nvPicPr>
          <p:cNvPr id="64" name="Picture 63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86" y="3701855"/>
            <a:ext cx="212872" cy="21287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864455" y="3613160"/>
            <a:ext cx="253081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上海文旅服务平台加 AI 能力</a:t>
            </a:r>
          </a:p>
        </p:txBody>
      </p:sp>
      <p:pic>
        <p:nvPicPr>
          <p:cNvPr id="66" name="Picture 65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86" y="4251777"/>
            <a:ext cx="212872" cy="21287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4864455" y="4163080"/>
            <a:ext cx="253081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智能体成为游客、景区的新入口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741188" y="1972269"/>
            <a:ext cx="3151692" cy="2926994"/>
          </a:xfrm>
          <a:prstGeom prst="roundRect">
            <a:avLst>
              <a:gd name="adj" fmla="val 4242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7741188" y="1972269"/>
            <a:ext cx="3151692" cy="886968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741188" y="2610886"/>
            <a:ext cx="3151692" cy="24835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networ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930" y="2202881"/>
            <a:ext cx="408005" cy="408005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539459" y="2025487"/>
            <a:ext cx="226472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50" b="1">
                <a:solidFill>
                  <a:srgbClr val="FFFFFF"/>
                </a:solidFill>
                <a:latin typeface="微软雅黑"/>
                <a:ea typeface="微软雅黑"/>
              </a:rPr>
              <a:t>技术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39459" y="2380274"/>
            <a:ext cx="226472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E6F6F2"/>
                </a:solidFill>
                <a:latin typeface="微软雅黑"/>
                <a:ea typeface="微软雅黑"/>
              </a:rPr>
              <a:t>智能体走向“一个平台、多入口”</a:t>
            </a:r>
          </a:p>
        </p:txBody>
      </p:sp>
      <p:pic>
        <p:nvPicPr>
          <p:cNvPr id="74" name="Picture 73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321" y="3151936"/>
            <a:ext cx="212872" cy="212872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237890" y="3063240"/>
            <a:ext cx="253081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统一入口，先识别意图</a:t>
            </a:r>
          </a:p>
        </p:txBody>
      </p:sp>
      <p:pic>
        <p:nvPicPr>
          <p:cNvPr id="76" name="Picture 75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321" y="3701855"/>
            <a:ext cx="212872" cy="21287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237890" y="3613160"/>
            <a:ext cx="253081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再分发给最合适的智能体</a:t>
            </a:r>
          </a:p>
        </p:txBody>
      </p:sp>
      <p:pic>
        <p:nvPicPr>
          <p:cNvPr id="78" name="Picture 77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321" y="4251777"/>
            <a:ext cx="212872" cy="212872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8237890" y="4163080"/>
            <a:ext cx="253081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统一管身份、权限、计量、兜底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94318" y="5076657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lightbulb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9451" y="5218572"/>
            <a:ext cx="266090" cy="26609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570847" y="5076657"/>
            <a:ext cx="9144640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微软雅黑"/>
                <a:ea typeface="微软雅黑"/>
              </a:rPr>
              <a:t>对我们意味着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数据底座要先理好（标准要求“管起来、用起来”）；智能体要有自己的平台，统一分发流量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94318" y="5697534"/>
            <a:ext cx="9898562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资料来源：国家市场监督管理总局 GB/T 30225-2026 发布报道；各地文旅平台公开报道；华为云 AgentArts 等智能体平台公开文档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全局定位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一个数据底座，撑起所有业务和 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从下往上：数据从哪来 → 统一汇到数据平台 → AI 平台用数据办事 → 服务行业、客户、游客和公司自己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06  ·  AI＋数据平台 · 01  全局蓝图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25487"/>
            <a:ext cx="1374800" cy="762792"/>
          </a:xfrm>
          <a:prstGeom prst="roundRect">
            <a:avLst>
              <a:gd name="adj" fmla="val 11627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pic>
        <p:nvPicPr>
          <p:cNvPr id="45" name="Picture 44" descr="user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63" y="2273838"/>
            <a:ext cx="266090" cy="26609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437802" y="2025487"/>
            <a:ext cx="886968" cy="762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服务谁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475555" y="2025487"/>
            <a:ext cx="1443540" cy="762792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行业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洞察 · 报告 · 数据集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990052" y="2025487"/>
            <a:ext cx="1443540" cy="762792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客户 · 景区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景数通 · 问数 · 调度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04550" y="2025487"/>
            <a:ext cx="1443540" cy="762792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游客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畅游 · 智能体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019048" y="2025487"/>
            <a:ext cx="1443540" cy="762792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公司内部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1F3A35"/>
                </a:solidFill>
                <a:latin typeface="微软雅黑"/>
                <a:ea typeface="微软雅黑"/>
              </a:rPr>
              <a:t>看板 · 业务线 · 飞书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75555" y="2788279"/>
            <a:ext cx="5987033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微软雅黑"/>
                <a:ea typeface="微软雅黑"/>
              </a:rPr>
              <a:t>▲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94318" y="3054370"/>
            <a:ext cx="1374800" cy="762792"/>
          </a:xfrm>
          <a:prstGeom prst="roundRect">
            <a:avLst>
              <a:gd name="adj" fmla="val 11627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pic>
        <p:nvPicPr>
          <p:cNvPr id="53" name="Picture 52" descr="bo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363" y="3302720"/>
            <a:ext cx="266090" cy="26609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437802" y="3054370"/>
            <a:ext cx="886968" cy="762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AI 平台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475555" y="3054370"/>
            <a:ext cx="1140640" cy="762792"/>
          </a:xfrm>
          <a:prstGeom prst="roundRect">
            <a:avLst>
              <a:gd name="adj" fmla="val 11627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智能体平台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统一分发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687153" y="3054370"/>
            <a:ext cx="1140640" cy="762792"/>
          </a:xfrm>
          <a:prstGeom prst="roundRect">
            <a:avLst>
              <a:gd name="adj" fmla="val 11627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数字大脑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问数 · 洞察 · 调度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898750" y="3054370"/>
            <a:ext cx="1140640" cy="762792"/>
          </a:xfrm>
          <a:prstGeom prst="roundRect">
            <a:avLst>
              <a:gd name="adj" fmla="val 11627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畅游 AI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游客服务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10349" y="3054370"/>
            <a:ext cx="1140640" cy="762792"/>
          </a:xfrm>
          <a:prstGeom prst="roundRect">
            <a:avLst>
              <a:gd name="adj" fmla="val 11627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票务 · 调度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21947" y="3054370"/>
            <a:ext cx="1140640" cy="762792"/>
          </a:xfrm>
          <a:prstGeom prst="roundRect">
            <a:avLst>
              <a:gd name="adj" fmla="val 11627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内部助手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75555" y="3817162"/>
            <a:ext cx="5987033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微软雅黑"/>
                <a:ea typeface="微软雅黑"/>
              </a:rPr>
              <a:t>▲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94318" y="4083253"/>
            <a:ext cx="1374800" cy="762792"/>
          </a:xfrm>
          <a:prstGeom prst="roundRect">
            <a:avLst>
              <a:gd name="adj" fmla="val 11627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pic>
        <p:nvPicPr>
          <p:cNvPr id="62" name="Picture 61" descr="databas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363" y="4331604"/>
            <a:ext cx="266090" cy="26609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437802" y="4083253"/>
            <a:ext cx="886968" cy="762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数据平台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475555" y="4083253"/>
            <a:ext cx="1443540" cy="762792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9050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汇聚接入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21816F"/>
                </a:solidFill>
                <a:latin typeface="微软雅黑"/>
                <a:ea typeface="微软雅黑"/>
              </a:rPr>
              <a:t>含文档图片视频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990052" y="4083253"/>
            <a:ext cx="1443540" cy="762792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9050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统一治理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21816F"/>
                </a:solidFill>
                <a:latin typeface="微软雅黑"/>
                <a:ea typeface="微软雅黑"/>
              </a:rPr>
              <a:t>规范 · 口径 · 质量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504550" y="4083253"/>
            <a:ext cx="1443540" cy="762792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9050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资产目录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21816F"/>
                </a:solidFill>
                <a:latin typeface="微软雅黑"/>
                <a:ea typeface="微软雅黑"/>
              </a:rPr>
              <a:t>中文一搜就找到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019048" y="4083253"/>
            <a:ext cx="1443540" cy="762792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9050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统一出口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21816F"/>
                </a:solidFill>
                <a:latin typeface="微软雅黑"/>
                <a:ea typeface="微软雅黑"/>
              </a:rPr>
              <a:t>数据开放平台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75555" y="4846045"/>
            <a:ext cx="5987033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微软雅黑"/>
                <a:ea typeface="微软雅黑"/>
              </a:rPr>
              <a:t>▲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94318" y="5112136"/>
            <a:ext cx="1374800" cy="762792"/>
          </a:xfrm>
          <a:prstGeom prst="roundRect">
            <a:avLst>
              <a:gd name="adj" fmla="val 11627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pic>
        <p:nvPicPr>
          <p:cNvPr id="70" name="Picture 69" descr="plug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363" y="5360487"/>
            <a:ext cx="266090" cy="26609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437802" y="5112136"/>
            <a:ext cx="886968" cy="762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数据从哪来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475555" y="5112136"/>
            <a:ext cx="938707" cy="762792"/>
          </a:xfrm>
          <a:prstGeom prst="roundRect">
            <a:avLst>
              <a:gd name="adj" fmla="val 11627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票务 SaaS 3.0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485220" y="5112136"/>
            <a:ext cx="938707" cy="762792"/>
          </a:xfrm>
          <a:prstGeom prst="roundRect">
            <a:avLst>
              <a:gd name="adj" fmla="val 11627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九大业态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494885" y="5112136"/>
            <a:ext cx="938707" cy="762792"/>
          </a:xfrm>
          <a:prstGeom prst="roundRect">
            <a:avLst>
              <a:gd name="adj" fmla="val 11627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终端 · 畅游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504550" y="5112136"/>
            <a:ext cx="938707" cy="762792"/>
          </a:xfrm>
          <a:prstGeom prst="roundRect">
            <a:avLst>
              <a:gd name="adj" fmla="val 11627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会员 · 财务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514216" y="5112136"/>
            <a:ext cx="938707" cy="762792"/>
          </a:xfrm>
          <a:prstGeom prst="roundRect">
            <a:avLst>
              <a:gd name="adj" fmla="val 11627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ERP · CRM · 飞书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523881" y="5112136"/>
            <a:ext cx="938707" cy="762792"/>
          </a:xfrm>
          <a:prstGeom prst="roundRect">
            <a:avLst>
              <a:gd name="adj" fmla="val 11627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外部 · 文档视频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684331" y="2025487"/>
            <a:ext cx="2208550" cy="3849441"/>
          </a:xfrm>
          <a:prstGeom prst="roundRect">
            <a:avLst>
              <a:gd name="adj" fmla="val 5622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shield-check_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1724" y="2167402"/>
            <a:ext cx="301569" cy="301569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9216511" y="2131923"/>
            <a:ext cx="1587672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B26A2C"/>
                </a:solidFill>
                <a:latin typeface="微软雅黑"/>
                <a:ea typeface="微软雅黑"/>
              </a:rPr>
              <a:t>三条原则</a:t>
            </a:r>
          </a:p>
        </p:txBody>
      </p:sp>
      <p:sp>
        <p:nvSpPr>
          <p:cNvPr id="81" name="Oval 80"/>
          <p:cNvSpPr/>
          <p:nvPr/>
        </p:nvSpPr>
        <p:spPr>
          <a:xfrm>
            <a:off x="8861724" y="2628625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861724" y="2628625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260860" y="2610886"/>
            <a:ext cx="154332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底层只有一套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260860" y="2965672"/>
            <a:ext cx="1543324" cy="5765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不重复建平台</a:t>
            </a:r>
          </a:p>
        </p:txBody>
      </p:sp>
      <p:sp>
        <p:nvSpPr>
          <p:cNvPr id="85" name="Oval 84"/>
          <p:cNvSpPr/>
          <p:nvPr/>
        </p:nvSpPr>
        <p:spPr>
          <a:xfrm>
            <a:off x="8861724" y="3675246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61724" y="3675246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60860" y="3657508"/>
            <a:ext cx="154332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其他系统是“端”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260860" y="4012294"/>
            <a:ext cx="1543324" cy="5765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飞书、CRM、ERP 数据先汇进来，再统一输出</a:t>
            </a:r>
          </a:p>
        </p:txBody>
      </p:sp>
      <p:sp>
        <p:nvSpPr>
          <p:cNvPr id="89" name="Oval 88"/>
          <p:cNvSpPr/>
          <p:nvPr/>
        </p:nvSpPr>
        <p:spPr>
          <a:xfrm>
            <a:off x="8861724" y="4721870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861724" y="4721870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260860" y="4704130"/>
            <a:ext cx="154332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客户数据隔离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60860" y="5058918"/>
            <a:ext cx="1543324" cy="5765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谁的数据只服务谁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和周边系统的关系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系统负责产数，平台负责理数，各端统一取数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左边的系统把数据汇进来，中间的数据平台统一整理，右边所有用数据的地方都从同一个出口拿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07  ·  AI＋数据平台 · 01  全局蓝图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318" y="1825919"/>
            <a:ext cx="292699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微软雅黑"/>
                <a:ea typeface="微软雅黑"/>
              </a:rPr>
              <a:t>产生数据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4318" y="2118619"/>
            <a:ext cx="2926994" cy="1259494"/>
          </a:xfrm>
          <a:prstGeom prst="roundRect">
            <a:avLst>
              <a:gd name="adj" fmla="val 7042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00754" y="2207315"/>
            <a:ext cx="319308" cy="319308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andmar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581" y="2287143"/>
            <a:ext cx="159654" cy="15965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08759" y="2189576"/>
            <a:ext cx="235046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景区业务系统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18494" y="2615321"/>
            <a:ext cx="1122507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票务 SaaS 3.0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303089" y="2615321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九大业态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18494" y="2925759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终端闸机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992649" y="2925759"/>
            <a:ext cx="56568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畅游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620426" y="2925759"/>
            <a:ext cx="9549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会员 · 财务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4010008" y="2650799"/>
            <a:ext cx="301569" cy="19513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94318" y="3484549"/>
            <a:ext cx="2926994" cy="798271"/>
          </a:xfrm>
          <a:prstGeom prst="roundRect">
            <a:avLst>
              <a:gd name="adj" fmla="val 1111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00754" y="3573245"/>
            <a:ext cx="319308" cy="319308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building2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581" y="3653072"/>
            <a:ext cx="159654" cy="15965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508759" y="3555507"/>
            <a:ext cx="235046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公司内部系统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18494" y="3981251"/>
            <a:ext cx="526266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ERP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706849" y="3981251"/>
            <a:ext cx="526266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CRM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295203" y="3981251"/>
            <a:ext cx="56568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飞书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922981" y="3981251"/>
            <a:ext cx="56568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人事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4010008" y="3786118"/>
            <a:ext cx="301569" cy="19513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94318" y="4389257"/>
            <a:ext cx="2926994" cy="1064361"/>
          </a:xfrm>
          <a:prstGeom prst="roundRect">
            <a:avLst>
              <a:gd name="adj" fmla="val 833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00754" y="4477952"/>
            <a:ext cx="319308" cy="319308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glob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0581" y="4557780"/>
            <a:ext cx="159654" cy="159654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508759" y="4460214"/>
            <a:ext cx="235046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外部与多种资料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118494" y="4885959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社媒采集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992649" y="4885959"/>
            <a:ext cx="105844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行业公开数据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118494" y="5196398"/>
            <a:ext cx="9549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文档 · 图片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135550" y="5196398"/>
            <a:ext cx="9549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视频 · 音频</a:t>
            </a:r>
          </a:p>
        </p:txBody>
      </p:sp>
      <p:sp>
        <p:nvSpPr>
          <p:cNvPr id="72" name="Right Arrow 71"/>
          <p:cNvSpPr/>
          <p:nvPr/>
        </p:nvSpPr>
        <p:spPr>
          <a:xfrm>
            <a:off x="4010008" y="4823870"/>
            <a:ext cx="301569" cy="19513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09145" y="1825919"/>
            <a:ext cx="292699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微软雅黑"/>
                <a:ea typeface="微软雅黑"/>
              </a:rPr>
              <a:t>数据平台（一个底座）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409145" y="2118619"/>
            <a:ext cx="2926994" cy="3334999"/>
          </a:xfrm>
          <a:prstGeom prst="roundRect">
            <a:avLst>
              <a:gd name="adj" fmla="val 4242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4568799" y="2251664"/>
            <a:ext cx="2607685" cy="647486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plug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2975" y="2451232"/>
            <a:ext cx="248351" cy="248351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5047762" y="2287143"/>
            <a:ext cx="2040026" cy="32374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汇聚接入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47762" y="2562457"/>
            <a:ext cx="2040026" cy="291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各系统、各类资料都接进来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09145" y="2881411"/>
            <a:ext cx="2926994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▼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568799" y="3058804"/>
            <a:ext cx="2607685" cy="647486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shield-check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2975" y="3258371"/>
            <a:ext cx="248351" cy="248351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47762" y="3094282"/>
            <a:ext cx="2040026" cy="32374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统一治理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47762" y="3369598"/>
            <a:ext cx="2040026" cy="291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定规矩、对口径、查质量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09145" y="3688552"/>
            <a:ext cx="2926994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▼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568799" y="3865946"/>
            <a:ext cx="2607685" cy="647486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search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2975" y="4065512"/>
            <a:ext cx="248351" cy="248351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5047762" y="3901424"/>
            <a:ext cx="2040026" cy="32374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资产目录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47762" y="4176738"/>
            <a:ext cx="2040026" cy="291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有什么数据，中文一搜就知道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09145" y="4495693"/>
            <a:ext cx="2926994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▼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568799" y="4673086"/>
            <a:ext cx="2607685" cy="647486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send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2975" y="4872653"/>
            <a:ext cx="248351" cy="248351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5047762" y="4708565"/>
            <a:ext cx="2040026" cy="32374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统一出口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047762" y="4983879"/>
            <a:ext cx="2040026" cy="291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数据开放平台，所有数据从这出去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823972" y="1825919"/>
            <a:ext cx="3068909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微软雅黑"/>
                <a:ea typeface="微软雅黑"/>
              </a:rPr>
              <a:t>用数据的端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823972" y="2118619"/>
            <a:ext cx="3068909" cy="753922"/>
          </a:xfrm>
          <a:prstGeom prst="roundRect">
            <a:avLst>
              <a:gd name="adj" fmla="val 11764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7930407" y="2207315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Picture 96" descr="brain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10234" y="2287143"/>
            <a:ext cx="159654" cy="159654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8338413" y="2189576"/>
            <a:ext cx="249238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B26A2C"/>
                </a:solidFill>
                <a:latin typeface="微软雅黑"/>
                <a:ea typeface="微软雅黑"/>
              </a:rPr>
              <a:t>AI 平台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948147" y="2615321"/>
            <a:ext cx="93525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B26A2C"/>
                </a:solidFill>
                <a:latin typeface="微软雅黑"/>
                <a:ea typeface="微软雅黑"/>
              </a:rPr>
              <a:t>智能体平台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945493" y="2615321"/>
            <a:ext cx="93525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B26A2C"/>
                </a:solidFill>
                <a:latin typeface="微软雅黑"/>
                <a:ea typeface="微软雅黑"/>
              </a:rPr>
              <a:t>各个智能体</a:t>
            </a:r>
          </a:p>
        </p:txBody>
      </p:sp>
      <p:sp>
        <p:nvSpPr>
          <p:cNvPr id="101" name="Right Arrow 100"/>
          <p:cNvSpPr/>
          <p:nvPr/>
        </p:nvSpPr>
        <p:spPr>
          <a:xfrm>
            <a:off x="7424836" y="2398014"/>
            <a:ext cx="301569" cy="195132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7823972" y="2978977"/>
            <a:ext cx="3068909" cy="753922"/>
          </a:xfrm>
          <a:prstGeom prst="roundRect">
            <a:avLst>
              <a:gd name="adj" fmla="val 11764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930407" y="3067673"/>
            <a:ext cx="319308" cy="319308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landmar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234" y="3147501"/>
            <a:ext cx="159654" cy="159654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338413" y="3049934"/>
            <a:ext cx="249238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景区端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948147" y="3475680"/>
            <a:ext cx="68887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景数通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8699113" y="3475680"/>
            <a:ext cx="932794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票付通 APP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693996" y="3475680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景区报表</a:t>
            </a:r>
          </a:p>
        </p:txBody>
      </p:sp>
      <p:sp>
        <p:nvSpPr>
          <p:cNvPr id="109" name="Right Arrow 108"/>
          <p:cNvSpPr/>
          <p:nvPr/>
        </p:nvSpPr>
        <p:spPr>
          <a:xfrm>
            <a:off x="7424836" y="3258371"/>
            <a:ext cx="301569" cy="19513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7823972" y="3839337"/>
            <a:ext cx="3068909" cy="753922"/>
          </a:xfrm>
          <a:prstGeom prst="roundRect">
            <a:avLst>
              <a:gd name="adj" fmla="val 11764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930407" y="3928033"/>
            <a:ext cx="319308" cy="319308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2" name="Picture 111" descr="smartphone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0234" y="4007860"/>
            <a:ext cx="159654" cy="159654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8338413" y="3910294"/>
            <a:ext cx="249238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游客端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948147" y="4336039"/>
            <a:ext cx="93525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畅游小程序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945493" y="4336039"/>
            <a:ext cx="68887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公众号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9696460" y="4336039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自助终端</a:t>
            </a:r>
          </a:p>
        </p:txBody>
      </p:sp>
      <p:sp>
        <p:nvSpPr>
          <p:cNvPr id="117" name="Right Arrow 116"/>
          <p:cNvSpPr/>
          <p:nvPr/>
        </p:nvSpPr>
        <p:spPr>
          <a:xfrm>
            <a:off x="7424836" y="4118731"/>
            <a:ext cx="301569" cy="19513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7823972" y="4699695"/>
            <a:ext cx="3068909" cy="753922"/>
          </a:xfrm>
          <a:prstGeom prst="roundRect">
            <a:avLst>
              <a:gd name="adj" fmla="val 11764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7930407" y="4788392"/>
            <a:ext cx="319308" cy="319308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0" name="Picture 119" descr="building2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234" y="4868219"/>
            <a:ext cx="159654" cy="159654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8338413" y="4770653"/>
            <a:ext cx="249238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公司内部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948147" y="5196398"/>
            <a:ext cx="56568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看板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8575923" y="5196398"/>
            <a:ext cx="794821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小Q 报表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9432833" y="5196398"/>
            <a:ext cx="56568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飞书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0060609" y="5196398"/>
            <a:ext cx="526266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CRM</a:t>
            </a:r>
          </a:p>
        </p:txBody>
      </p:sp>
      <p:sp>
        <p:nvSpPr>
          <p:cNvPr id="126" name="Right Arrow 125"/>
          <p:cNvSpPr/>
          <p:nvPr/>
        </p:nvSpPr>
        <p:spPr>
          <a:xfrm>
            <a:off x="7424836" y="4979090"/>
            <a:ext cx="301569" cy="19513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994318" y="5586663"/>
            <a:ext cx="9898562" cy="487832"/>
          </a:xfrm>
          <a:prstGeom prst="roundRect">
            <a:avLst>
              <a:gd name="adj" fmla="val 18181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8" name="Picture 127" descr="lightbulb_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9451" y="5697534"/>
            <a:ext cx="266090" cy="266090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1570847" y="5586663"/>
            <a:ext cx="9144640" cy="4878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怎么看　</a:t>
            </a: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飞书、CRM、ERP 既产生数据也用数据，但不再点对点各自对接：数据先汇进来、再统一输出 —— 数据只有一份，口径只有一个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数据服务三类对象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行业、客户、公司自己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同一个底座、同一套方法；我们自己先用好，再把能力输出给客户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08  ·  AI＋数据平台 · 01  全局蓝图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41225"/>
            <a:ext cx="3151692" cy="3414826"/>
          </a:xfrm>
          <a:prstGeom prst="roundRect">
            <a:avLst>
              <a:gd name="adj" fmla="val 3939"/>
            </a:avLst>
          </a:prstGeom>
          <a:solidFill>
            <a:srgbClr val="EFF8F6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94318" y="1941225"/>
            <a:ext cx="3151692" cy="842619"/>
          </a:xfrm>
          <a:prstGeom prst="roundRect">
            <a:avLst>
              <a:gd name="adj" fmla="val 14736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94318" y="2544363"/>
            <a:ext cx="3151692" cy="23948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glob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451" y="2136358"/>
            <a:ext cx="372526" cy="37252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703892" y="1994443"/>
            <a:ext cx="2353421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行业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03892" y="2366970"/>
            <a:ext cx="2353421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平台沉淀十几年的数据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9451" y="2916890"/>
            <a:ext cx="2796905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用什么数据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89451" y="3165241"/>
            <a:ext cx="2796905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交易、客流等匿名汇总数据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89451" y="3679682"/>
            <a:ext cx="2796905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产出什么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89451" y="3963512"/>
            <a:ext cx="83670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行业洞察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088245" y="3963512"/>
            <a:ext cx="137480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节假日 / 年度报告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89451" y="4309430"/>
            <a:ext cx="96605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规范与标准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217595" y="4309430"/>
            <a:ext cx="109540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高质量数据集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53971" y="4850480"/>
            <a:ext cx="2832384" cy="399135"/>
          </a:xfrm>
          <a:prstGeom prst="roundRect">
            <a:avLst>
              <a:gd name="adj" fmla="val 17777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957" tIns="0" rIns="70957" bIns="0"/>
          <a:lstStyle/>
          <a:p>
            <a:pPr algn="ctr"/>
            <a:r>
              <a:rPr sz="950" b="1">
                <a:solidFill>
                  <a:srgbClr val="B26A2C"/>
                </a:solidFill>
                <a:latin typeface="微软雅黑"/>
                <a:ea typeface="微软雅黑"/>
              </a:rPr>
              <a:t>只用匿名汇总，不涉及单个客户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67753" y="1941225"/>
            <a:ext cx="3151692" cy="3414826"/>
          </a:xfrm>
          <a:prstGeom prst="roundRect">
            <a:avLst>
              <a:gd name="adj" fmla="val 3939"/>
            </a:avLst>
          </a:prstGeom>
          <a:solidFill>
            <a:srgbClr val="FFFFFF"/>
          </a:solidFill>
          <a:ln w="19050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367753" y="1941225"/>
            <a:ext cx="3151692" cy="842619"/>
          </a:xfrm>
          <a:prstGeom prst="roundRect">
            <a:avLst>
              <a:gd name="adj" fmla="val 14736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367753" y="2544363"/>
            <a:ext cx="3151692" cy="23948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andmar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86" y="2136358"/>
            <a:ext cx="372526" cy="372526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077327" y="1994443"/>
            <a:ext cx="2353421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客户（景区 / 文旅集团）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77327" y="2366970"/>
            <a:ext cx="2353421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各景区自己的数据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62886" y="2916890"/>
            <a:ext cx="2796905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用什么数据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62886" y="3165241"/>
            <a:ext cx="2796905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票务、业态、客流、会员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62886" y="3679682"/>
            <a:ext cx="2796905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产出什么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62886" y="3963512"/>
            <a:ext cx="70735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景数通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332331" y="3963512"/>
            <a:ext cx="1245449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智能问数 · 洞察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62886" y="4309430"/>
            <a:ext cx="96605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调度智能体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591030" y="4309430"/>
            <a:ext cx="83670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经营报告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527407" y="4850480"/>
            <a:ext cx="2832384" cy="399135"/>
          </a:xfrm>
          <a:prstGeom prst="roundRect">
            <a:avLst>
              <a:gd name="adj" fmla="val 17777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957" tIns="0" rIns="70957" bIns="0"/>
          <a:lstStyle/>
          <a:p>
            <a:pPr algn="ctr"/>
            <a:r>
              <a:rPr sz="950" b="1">
                <a:solidFill>
                  <a:srgbClr val="B26A2C"/>
                </a:solidFill>
                <a:latin typeface="微软雅黑"/>
                <a:ea typeface="微软雅黑"/>
              </a:rPr>
              <a:t>严格按客户隔离，谁的数据只服务谁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741188" y="1941225"/>
            <a:ext cx="3151692" cy="3414826"/>
          </a:xfrm>
          <a:prstGeom prst="roundRect">
            <a:avLst>
              <a:gd name="adj" fmla="val 3939"/>
            </a:avLst>
          </a:prstGeom>
          <a:solidFill>
            <a:srgbClr val="EFF8F6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7741188" y="1941225"/>
            <a:ext cx="3151692" cy="842619"/>
          </a:xfrm>
          <a:prstGeom prst="roundRect">
            <a:avLst>
              <a:gd name="adj" fmla="val 14736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741188" y="2544363"/>
            <a:ext cx="3151692" cy="23948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building2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321" y="2136358"/>
            <a:ext cx="372526" cy="372526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8450762" y="1994443"/>
            <a:ext cx="2353421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公司自己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50762" y="2366970"/>
            <a:ext cx="2353421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票付通也相当于“一个文旅集团”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936321" y="2916890"/>
            <a:ext cx="2796905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用什么数据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36321" y="3165241"/>
            <a:ext cx="2796905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财务、人员、销售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CRM、ERP、飞书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321" y="3679682"/>
            <a:ext cx="2796905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产出什么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936321" y="3963512"/>
            <a:ext cx="96605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老板驾驶舱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964465" y="3963512"/>
            <a:ext cx="83670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经营分析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863259" y="3963512"/>
            <a:ext cx="83670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内部提效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900841" y="4850480"/>
            <a:ext cx="2832384" cy="399135"/>
          </a:xfrm>
          <a:prstGeom prst="roundRect">
            <a:avLst>
              <a:gd name="adj" fmla="val 17777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957" tIns="0" rIns="70957" bIns="0"/>
          <a:lstStyle/>
          <a:p>
            <a:pPr algn="ctr"/>
            <a:r>
              <a:rPr sz="950" b="1">
                <a:solidFill>
                  <a:srgbClr val="B26A2C"/>
                </a:solidFill>
                <a:latin typeface="微软雅黑"/>
                <a:ea typeface="微软雅黑"/>
              </a:rPr>
              <a:t>按岗位授权，敏感信息打码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94318" y="5515706"/>
            <a:ext cx="9898562" cy="443484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E7CF"/>
                </a:solidFill>
                <a:latin typeface="微软雅黑"/>
                <a:ea typeface="微软雅黑"/>
              </a:rPr>
              <a:t>一套底座、一套方法　</a:t>
            </a: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我们自己先用好，再把能力复制给客户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3997900" y="104775"/>
            <a:ext cx="4195893" cy="562935"/>
            <a:chOff x="1778000" y="2361285"/>
            <a:chExt cx="4195893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4195893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3102709" cy="461665"/>
              <a:chOff x="1249621" y="2030985"/>
              <a:chExt cx="3102709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386584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数据在公司里怎么转起来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产数 → 治数 → 办事 → 用数，再回流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数据平台让数据可信，智能体让数据办事；两者接上，形成一条完整的数据链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09  ·  AI＋数据平台 · 01  全局蓝图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812615"/>
            <a:ext cx="1374800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用数</a:t>
            </a:r>
          </a:p>
          <a:p>
            <a:pPr algn="ctr">
              <a:spcBef>
                <a:spcPts val="97"/>
              </a:spcBef>
            </a:pPr>
            <a:r>
              <a:rPr sz="950" b="0">
                <a:solidFill>
                  <a:srgbClr val="E6F6F2"/>
                </a:solidFill>
                <a:latin typeface="微软雅黑"/>
                <a:ea typeface="微软雅黑"/>
              </a:rPr>
              <a:t>游客 · 景区 · 内部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75555" y="1812615"/>
            <a:ext cx="2140549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游客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小程序 · 公众号 · 终端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87062" y="1812615"/>
            <a:ext cx="2140549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景区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景数通 · APP · SaaS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98568" y="1812615"/>
            <a:ext cx="2140549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内部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管理层 · 业务线 · 小Q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75555" y="2504450"/>
            <a:ext cx="6563563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2CAB93"/>
                </a:solidFill>
                <a:latin typeface="微软雅黑"/>
                <a:ea typeface="微软雅黑"/>
              </a:rPr>
              <a:t>▲ </a:t>
            </a:r>
            <a:r>
              <a:rPr sz="1100" b="1">
                <a:solidFill>
                  <a:srgbClr val="2CAB93"/>
                </a:solidFill>
                <a:latin typeface="微软雅黑"/>
                <a:ea typeface="微软雅黑"/>
              </a:rPr>
              <a:t>③ 服务：智能体办事，报表和接口直接用数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4318" y="2806019"/>
            <a:ext cx="1374800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办事</a:t>
            </a:r>
          </a:p>
          <a:p>
            <a:pPr algn="ctr">
              <a:spcBef>
                <a:spcPts val="97"/>
              </a:spcBef>
            </a:pPr>
            <a:r>
              <a:rPr sz="950" b="0">
                <a:solidFill>
                  <a:srgbClr val="E6F6F2"/>
                </a:solidFill>
                <a:latin typeface="微软雅黑"/>
                <a:ea typeface="微软雅黑"/>
              </a:rPr>
              <a:t>智能体 · 报表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475555" y="2806019"/>
            <a:ext cx="2140549" cy="691835"/>
          </a:xfrm>
          <a:prstGeom prst="roundRect">
            <a:avLst>
              <a:gd name="adj" fmla="val 1282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游客端智能体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客服 · 导览 · 伴游 · 旅拍 · 购票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687062" y="2806019"/>
            <a:ext cx="2140549" cy="691835"/>
          </a:xfrm>
          <a:prstGeom prst="roundRect">
            <a:avLst>
              <a:gd name="adj" fmla="val 1282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景区端智能体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问数 · 洞察 · 对账 · 预警 · 调度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98568" y="2806019"/>
            <a:ext cx="2140549" cy="691835"/>
          </a:xfrm>
          <a:prstGeom prst="roundRect">
            <a:avLst>
              <a:gd name="adj" fmla="val 1282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报表与接口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直接用数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75555" y="3497854"/>
            <a:ext cx="6563563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2CAB93"/>
                </a:solidFill>
                <a:latin typeface="微软雅黑"/>
                <a:ea typeface="微软雅黑"/>
              </a:rPr>
              <a:t>▲ </a:t>
            </a:r>
            <a:r>
              <a:rPr sz="1100" b="1">
                <a:solidFill>
                  <a:srgbClr val="2CAB93"/>
                </a:solidFill>
                <a:latin typeface="微软雅黑"/>
                <a:ea typeface="微软雅黑"/>
              </a:rPr>
              <a:t>② 供给：认证指标 · 统一标签 · 景区知识 · 数据服务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4318" y="3799423"/>
            <a:ext cx="1374800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治数</a:t>
            </a:r>
          </a:p>
          <a:p>
            <a:pPr algn="ctr">
              <a:spcBef>
                <a:spcPts val="97"/>
              </a:spcBef>
            </a:pPr>
            <a:r>
              <a:rPr sz="950" b="0">
                <a:solidFill>
                  <a:srgbClr val="E6F6F2"/>
                </a:solidFill>
                <a:latin typeface="微软雅黑"/>
                <a:ea typeface="微软雅黑"/>
              </a:rPr>
              <a:t>数据平台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475555" y="3799423"/>
            <a:ext cx="1587672" cy="691835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统一接入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21816F"/>
                </a:solidFill>
                <a:latin typeface="微软雅黑"/>
                <a:ea typeface="微软雅黑"/>
              </a:rPr>
              <a:t>离线 + 实时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34185" y="3799423"/>
            <a:ext cx="1587672" cy="691835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统一加工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21816F"/>
                </a:solidFill>
                <a:latin typeface="微软雅黑"/>
                <a:ea typeface="微软雅黑"/>
              </a:rPr>
              <a:t>原料 → 成品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792815" y="3799423"/>
            <a:ext cx="1587672" cy="691835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指标 · 标签 · 知识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21816F"/>
                </a:solidFill>
                <a:latin typeface="微软雅黑"/>
                <a:ea typeface="微软雅黑"/>
              </a:rPr>
              <a:t>认证口径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51445" y="3799423"/>
            <a:ext cx="1587672" cy="691835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统一出口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21816F"/>
                </a:solidFill>
                <a:latin typeface="微软雅黑"/>
                <a:ea typeface="微软雅黑"/>
              </a:rPr>
              <a:t>数据开放平台 · 小Q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75555" y="4491258"/>
            <a:ext cx="6563563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2CAB93"/>
                </a:solidFill>
                <a:latin typeface="微软雅黑"/>
                <a:ea typeface="微软雅黑"/>
              </a:rPr>
              <a:t>▲ </a:t>
            </a:r>
            <a:r>
              <a:rPr sz="1100" b="1">
                <a:solidFill>
                  <a:srgbClr val="2CAB93"/>
                </a:solidFill>
                <a:latin typeface="微软雅黑"/>
                <a:ea typeface="微软雅黑"/>
              </a:rPr>
              <a:t>① 生产入湖：交易 · 核销 · 客流 · 设备 · 会员 · 财务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94318" y="4792827"/>
            <a:ext cx="1374800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产数</a:t>
            </a:r>
          </a:p>
          <a:p>
            <a:pPr algn="ctr">
              <a:spcBef>
                <a:spcPts val="97"/>
              </a:spcBef>
            </a:pPr>
            <a:r>
              <a:rPr sz="950" b="0">
                <a:solidFill>
                  <a:srgbClr val="E6F6F2"/>
                </a:solidFill>
                <a:latin typeface="微软雅黑"/>
                <a:ea typeface="微软雅黑"/>
              </a:rPr>
              <a:t>业务系统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475555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票务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304870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九大业态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34185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运营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963500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财务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792815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终端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622130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畅游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451445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会员营销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280760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数字大脑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216511" y="1812615"/>
            <a:ext cx="1676369" cy="3672047"/>
          </a:xfrm>
          <a:prstGeom prst="roundRect">
            <a:avLst>
              <a:gd name="adj" fmla="val 7407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349557" y="1919051"/>
            <a:ext cx="1410279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450" b="1">
                <a:solidFill>
                  <a:srgbClr val="B26A2C"/>
                </a:solidFill>
                <a:latin typeface="微软雅黑"/>
                <a:ea typeface="微软雅黑"/>
              </a:rPr>
              <a:t>④ 回流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49557" y="2300447"/>
            <a:ext cx="1410279" cy="13304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问答记录</a:t>
            </a:r>
          </a:p>
          <a:p>
            <a:pPr algn="ctr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游客评价</a:t>
            </a:r>
          </a:p>
          <a:p>
            <a:pPr algn="ctr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转人工</a:t>
            </a:r>
          </a:p>
          <a:p>
            <a:pPr algn="ctr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预警与工单结果</a:t>
            </a:r>
          </a:p>
          <a:p>
            <a:pPr algn="ctr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使用行为</a:t>
            </a:r>
          </a:p>
        </p:txBody>
      </p:sp>
      <p:sp>
        <p:nvSpPr>
          <p:cNvPr id="72" name="Down Arrow 71"/>
          <p:cNvSpPr/>
          <p:nvPr/>
        </p:nvSpPr>
        <p:spPr>
          <a:xfrm>
            <a:off x="9939390" y="3675247"/>
            <a:ext cx="230611" cy="319308"/>
          </a:xfrm>
          <a:prstGeom prst="down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49557" y="4074383"/>
            <a:ext cx="1410279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450" b="1">
                <a:solidFill>
                  <a:srgbClr val="B26A2C"/>
                </a:solidFill>
                <a:latin typeface="微软雅黑"/>
                <a:ea typeface="微软雅黑"/>
              </a:rPr>
              <a:t>⑤ 反哺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49557" y="4455779"/>
            <a:ext cx="1410279" cy="8869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调定价</a:t>
            </a:r>
          </a:p>
          <a:p>
            <a:pPr algn="ctr">
              <a:lnSpc>
                <a:spcPct val="105000"/>
              </a:lnSpc>
              <a:spcBef>
                <a:spcPts val="97"/>
              </a:spcBef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做营销</a:t>
            </a:r>
          </a:p>
          <a:p>
            <a:pPr algn="ctr">
              <a:lnSpc>
                <a:spcPct val="105000"/>
              </a:lnSpc>
              <a:spcBef>
                <a:spcPts val="97"/>
              </a:spcBef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优化调度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94318" y="5644316"/>
            <a:ext cx="9898562" cy="443484"/>
          </a:xfrm>
          <a:prstGeom prst="roundRect">
            <a:avLst>
              <a:gd name="adj" fmla="val 2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shield-chec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451" y="5733013"/>
            <a:ext cx="266090" cy="26609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570847" y="5644316"/>
            <a:ext cx="9144640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底座　</a:t>
            </a:r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一个数据底座 · 资产目录 · 数据治理贯穿全程；所有智能体统一从这里取数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业务线闭环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每条业务线都用得上数据，也回得来数据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平台把整理好的数据给到业务（赋能），业务用完的结果再回到平台（反哺）；八条业务线都按这个方式转起来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10  ·  AI＋数据平台 · 01  全局蓝图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848093"/>
            <a:ext cx="2208550" cy="603138"/>
          </a:xfrm>
          <a:prstGeom prst="roundRect">
            <a:avLst>
              <a:gd name="adj" fmla="val 14705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业务产生数据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交易 · 行为 · 供给 · 外部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3282696" y="2060966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557656" y="1848093"/>
            <a:ext cx="2208550" cy="603138"/>
          </a:xfrm>
          <a:prstGeom prst="roundRect">
            <a:avLst>
              <a:gd name="adj" fmla="val 14705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平台接入与治理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定规矩 · 查质量 · 实时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5846033" y="2060966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120993" y="1848093"/>
            <a:ext cx="2208550" cy="603138"/>
          </a:xfrm>
          <a:prstGeom prst="roundRect">
            <a:avLst>
              <a:gd name="adj" fmla="val 14705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输出有用的数据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E6F6F2"/>
                </a:solidFill>
                <a:latin typeface="微软雅黑"/>
                <a:ea typeface="微软雅黑"/>
              </a:rPr>
              <a:t>指标 · 标签 · 预测 · 洞察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8409371" y="2060966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684331" y="1848093"/>
            <a:ext cx="2208550" cy="603138"/>
          </a:xfrm>
          <a:prstGeom prst="roundRect">
            <a:avLst>
              <a:gd name="adj" fmla="val 14705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业务使用与行动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决策 · 运营 · 营销 · 服务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788606" y="2451232"/>
            <a:ext cx="0" cy="195132"/>
          </a:xfrm>
          <a:prstGeom prst="line">
            <a:avLst/>
          </a:prstGeom>
          <a:ln w="22225">
            <a:solidFill>
              <a:srgbClr val="E39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2098593" y="2646365"/>
            <a:ext cx="7690012" cy="0"/>
          </a:xfrm>
          <a:prstGeom prst="line">
            <a:avLst/>
          </a:prstGeom>
          <a:ln w="22225">
            <a:solidFill>
              <a:srgbClr val="E39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098593" y="2460101"/>
            <a:ext cx="0" cy="186263"/>
          </a:xfrm>
          <a:prstGeom prst="line">
            <a:avLst/>
          </a:prstGeom>
          <a:ln w="22225">
            <a:solidFill>
              <a:srgbClr val="E39A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637482" y="2539928"/>
            <a:ext cx="4612233" cy="230611"/>
          </a:xfrm>
          <a:prstGeom prst="roundRect">
            <a:avLst>
              <a:gd name="adj" fmla="val 50000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反哺回流：行动结果 · 反馈 · 异常 · 新需求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4318" y="2876976"/>
            <a:ext cx="9898562" cy="337047"/>
          </a:xfrm>
          <a:prstGeom prst="roundRect">
            <a:avLst>
              <a:gd name="adj" fmla="val 21052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27363" y="2876976"/>
            <a:ext cx="981897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业务线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86654" y="2876976"/>
            <a:ext cx="3300479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平台给业务什么（赋能）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64528" y="2876976"/>
            <a:ext cx="2765421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业务回给平台什么（反哺）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07343" y="2876976"/>
            <a:ext cx="2141188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价值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94318" y="3249503"/>
            <a:ext cx="989856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27363" y="3249503"/>
            <a:ext cx="96415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票务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86654" y="3249503"/>
            <a:ext cx="328273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售票、核销实时看板；节假日作战屏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64528" y="3249503"/>
            <a:ext cx="274768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核销异常、设备补传 → 变成检查规则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07343" y="3249503"/>
            <a:ext cx="212344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入园、核销数字可信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4318" y="3604290"/>
            <a:ext cx="9898562" cy="319308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27363" y="3604290"/>
            <a:ext cx="96415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订单交易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86654" y="3604290"/>
            <a:ext cx="328273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经营驾驶舱：成交额、退票率、客单价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64528" y="3604290"/>
            <a:ext cx="274768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对账差错怎么处理的 → 变成检查规则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07343" y="3604290"/>
            <a:ext cx="212344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管理层看到同一套经营数字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94318" y="3959077"/>
            <a:ext cx="989856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27363" y="3959077"/>
            <a:ext cx="96415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小程序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654" y="3959077"/>
            <a:ext cx="328273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游客在哪一步流失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64528" y="3959077"/>
            <a:ext cx="274768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推荐位的点击、购买结果 → 调整推荐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07343" y="3959077"/>
            <a:ext cx="212344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购票转化和复购提升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94318" y="4313864"/>
            <a:ext cx="9898562" cy="319308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27363" y="4313864"/>
            <a:ext cx="96415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供应商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286654" y="4313864"/>
            <a:ext cx="328273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给景区的经营报告和自助分析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64528" y="4313864"/>
            <a:ext cx="274768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景区自己加的指标，有共性的变成标准指标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07343" y="4313864"/>
            <a:ext cx="212344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续约率提升，服务价值能用数据证明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94318" y="4668652"/>
            <a:ext cx="989856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27363" y="4668652"/>
            <a:ext cx="96415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营销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86654" y="4668652"/>
            <a:ext cx="328273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活动自动复盘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64528" y="4668652"/>
            <a:ext cx="274768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哪类活动对哪类人有效 → 沉淀策略库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707343" y="4668652"/>
            <a:ext cx="212344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活动复盘从按周变成按天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94318" y="5023439"/>
            <a:ext cx="9898562" cy="319308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27363" y="5023439"/>
            <a:ext cx="96415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渠道分销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286654" y="5023439"/>
            <a:ext cx="328273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渠道统一视图和投入产出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64528" y="5023439"/>
            <a:ext cx="274768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渠道调整后的效果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707343" y="5023439"/>
            <a:ext cx="212344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渠道资源配置更合理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94318" y="5378226"/>
            <a:ext cx="989856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7363" y="5378226"/>
            <a:ext cx="96415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外部数据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286654" y="5378226"/>
            <a:ext cx="328273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客流预测的参考因素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764528" y="5378226"/>
            <a:ext cx="274768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每类外部数据帮了多少 → 决定继续买还是停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707343" y="5378226"/>
            <a:ext cx="212344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预测和分析更准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94318" y="5733013"/>
            <a:ext cx="9898562" cy="319308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27363" y="5733013"/>
            <a:ext cx="96415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智能体服务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286654" y="5733013"/>
            <a:ext cx="328273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可信的指标、标签和知识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764528" y="5733013"/>
            <a:ext cx="274768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答不上的问题 → 补指标、补说法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707343" y="5733013"/>
            <a:ext cx="212344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AI 答案越用越准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票务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入园、核销的数字靠得住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票务是所有数据的源头，先把它做成样板：数字可信，节假日实时掌控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11  ·  AI＋数据平台 · 01  全局蓝图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318" y="1954530"/>
            <a:ext cx="98985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范围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商品 · 库存 · 价格 · 预约 · 核销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4318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chiv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495" y="2446797"/>
            <a:ext cx="186263" cy="18626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97456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现在有什么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60408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票种、价格、库存、预约、核销记录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闸机、边云网关等设备的数据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核销、入园的数字有时对不上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54471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187516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lay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647" y="2446797"/>
            <a:ext cx="186263" cy="18626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57609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平台怎么建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0561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分清“核销次数、核销票数、入园人次、游客人数”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订单、核销做到分钟级看到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业务系统、设备、结算三方每天自动核对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4318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94318" y="3657508"/>
            <a:ext cx="4261881" cy="372526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94318" y="3923598"/>
            <a:ext cx="4261881" cy="10643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711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平台给业务什么（赋能）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060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售票、核销实时看板；节假日作战屏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库存和容量预警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票种卖得好不好、价格异常提醒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节假日客流预测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630999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630999" y="3657508"/>
            <a:ext cx="4261881" cy="372526"/>
          </a:xfrm>
          <a:prstGeom prst="roundRect">
            <a:avLst>
              <a:gd name="adj" fmla="val 2857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30999" y="3923598"/>
            <a:ext cx="4261881" cy="106436"/>
          </a:xfrm>
          <a:prstGeom prst="roundRect">
            <a:avLst>
              <a:gd name="adj" fmla="val 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08392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业务回给平台什么（反哺）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2741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核销异常、设备补传 → 变成检查规则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景区怎么处理预警 → 调整预警线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预测和实际的差距 → 预测越来越准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00547" y="3675246"/>
            <a:ext cx="128610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越用越准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5610986" y="3941338"/>
            <a:ext cx="665226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677508" y="4242907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ticke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553" y="4375952"/>
            <a:ext cx="266090" cy="26609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300547" y="4783957"/>
            <a:ext cx="1286103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票务</a:t>
            </a:r>
          </a:p>
        </p:txBody>
      </p:sp>
      <p:sp>
        <p:nvSpPr>
          <p:cNvPr id="70" name="Left Arrow 69"/>
          <p:cNvSpPr/>
          <p:nvPr/>
        </p:nvSpPr>
        <p:spPr>
          <a:xfrm>
            <a:off x="5610986" y="5005699"/>
            <a:ext cx="665226" cy="230611"/>
          </a:xfrm>
          <a:prstGeom prst="lef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94318" y="5395965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trending-up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5537880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0847" y="5395965"/>
            <a:ext cx="9144640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微软雅黑"/>
                <a:ea typeface="微软雅黑"/>
              </a:rPr>
              <a:t>价值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入园、核销数字可信；节假日实时掌握各景区情况；减少超售、拥堵和结算争议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订单交易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经营只有一套数，对账又快又准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订单数据最完整，补齐支付、退改、结算的细节，管理层和财务看同一套数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12  ·  AI＋数据平台 · 01  全局蓝图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318" y="1954530"/>
            <a:ext cx="98985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范围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下单 · 支付 · 退改 · 结算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4318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chiv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495" y="2446797"/>
            <a:ext cx="186263" cy="18626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97456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现在有什么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60408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订单主流程已打通，数据最完整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支付、退款、改签、结算的细节还要补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54471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187516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lay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647" y="2446797"/>
            <a:ext cx="186263" cy="18626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57609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平台怎么建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0561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补齐支付、退款、改签、结算明细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统一“支付金额、净收入、成交额”的算法，财务一起确认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和财务数据自动核对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4318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94318" y="3657508"/>
            <a:ext cx="4261881" cy="372526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94318" y="3923598"/>
            <a:ext cx="4261881" cy="10643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711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平台给业务什么（赋能）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060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经营驾驶舱：成交额、退票率、客单价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异常退款、异常下单提醒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对账差异自动找出来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630999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630999" y="3657508"/>
            <a:ext cx="4261881" cy="372526"/>
          </a:xfrm>
          <a:prstGeom prst="roundRect">
            <a:avLst>
              <a:gd name="adj" fmla="val 2857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30999" y="3923598"/>
            <a:ext cx="4261881" cy="106436"/>
          </a:xfrm>
          <a:prstGeom prst="roundRect">
            <a:avLst>
              <a:gd name="adj" fmla="val 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08392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业务回给平台什么（反哺）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2741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对账差错怎么处理的 → 变成检查规则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异常交易的人工确认结果 → 识别更准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业务对算法的意见 → 指标更新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00547" y="3675246"/>
            <a:ext cx="128610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越用越准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5610986" y="3941338"/>
            <a:ext cx="665226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677508" y="4242907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receip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553" y="4375952"/>
            <a:ext cx="266090" cy="26609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300547" y="4783957"/>
            <a:ext cx="1286103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订单交易</a:t>
            </a:r>
          </a:p>
        </p:txBody>
      </p:sp>
      <p:sp>
        <p:nvSpPr>
          <p:cNvPr id="70" name="Left Arrow 69"/>
          <p:cNvSpPr/>
          <p:nvPr/>
        </p:nvSpPr>
        <p:spPr>
          <a:xfrm>
            <a:off x="5610986" y="5005699"/>
            <a:ext cx="665226" cy="230611"/>
          </a:xfrm>
          <a:prstGeom prst="lef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94318" y="5395965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trending-up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5537880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0847" y="5395965"/>
            <a:ext cx="9144640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微软雅黑"/>
                <a:ea typeface="微软雅黑"/>
              </a:rPr>
              <a:t>价值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管理层看到同一套经营数字；对账更快；资金和交易风险早发现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小程序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看懂游客，买票更顺、回头客更多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记下游客在小程序里的每一步，在游客授权的前提下，把服务做得更贴心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13  ·  AI＋数据平台 · 01  全局蓝图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318" y="1954530"/>
            <a:ext cx="98985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范围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游客访问 · 购票 · 会员 · AI 对话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4318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chiv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495" y="2446797"/>
            <a:ext cx="186263" cy="18626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97456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现在有什么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60408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游客的访问、浏览、搜索、下单记录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会员、领券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AI 客服、AI 伴游的对话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54471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187516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lay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647" y="2446797"/>
            <a:ext cx="186263" cy="18626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57609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平台怎么建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0561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统一“埋点”规矩：游客做了什么都按同一标准记下来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游客授权后，同一个人的会员和购票记录归到一起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做游客偏好标签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4318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94318" y="3657508"/>
            <a:ext cx="4261881" cy="372526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94318" y="3923598"/>
            <a:ext cx="4261881" cy="10643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711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平台给业务什么（赋能）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060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游客在哪一步流失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按偏好推荐门票和内容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两个方案对比试验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会员运营的人群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630999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630999" y="3657508"/>
            <a:ext cx="4261881" cy="372526"/>
          </a:xfrm>
          <a:prstGeom prst="roundRect">
            <a:avLst>
              <a:gd name="adj" fmla="val 2857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30999" y="3923598"/>
            <a:ext cx="4261881" cy="106436"/>
          </a:xfrm>
          <a:prstGeom prst="roundRect">
            <a:avLst>
              <a:gd name="adj" fmla="val 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08392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业务回给平台什么（反哺）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2741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推荐位的点击、购买结果 → 调整推荐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试验结论 → 沉淀成运营方法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游客评价 → 体验指标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00547" y="3675246"/>
            <a:ext cx="128610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越用越准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5610986" y="3941338"/>
            <a:ext cx="665226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677508" y="4242907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smartphon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553" y="4375952"/>
            <a:ext cx="266090" cy="26609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300547" y="4783957"/>
            <a:ext cx="1286103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小程序</a:t>
            </a:r>
          </a:p>
        </p:txBody>
      </p:sp>
      <p:sp>
        <p:nvSpPr>
          <p:cNvPr id="70" name="Left Arrow 69"/>
          <p:cNvSpPr/>
          <p:nvPr/>
        </p:nvSpPr>
        <p:spPr>
          <a:xfrm>
            <a:off x="5610986" y="5005699"/>
            <a:ext cx="665226" cy="230611"/>
          </a:xfrm>
          <a:prstGeom prst="lef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94318" y="5395965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trending-up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5537880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0847" y="5395965"/>
            <a:ext cx="9144640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微软雅黑"/>
                <a:ea typeface="微软雅黑"/>
              </a:rPr>
              <a:t>价值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购票转化和复购提升；运营决策有依据；体验问题能快速发现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供应商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用数据帮景区经营，也证明我们的价值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给景区看自己的经营数据，也让我们知道哪家景区需要关心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14  ·  AI＋数据平台 · 01  全局蓝图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318" y="1954530"/>
            <a:ext cx="98985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范围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景区与资源方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4318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chiv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495" y="2446797"/>
            <a:ext cx="186263" cy="18626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97456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现在有什么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60408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供应商档案、合同、商品、供货价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结算、服务质量、系统使用情况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54471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187516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lay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647" y="2446797"/>
            <a:ext cx="186263" cy="18626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57609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平台怎么建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0561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同一个供应商在各系统只有一个编号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供应商标签：类型、规模、活跃度、经营健康度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按客户隔离，谁的数据只给谁看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4318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94318" y="3657508"/>
            <a:ext cx="4261881" cy="372526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94318" y="3923598"/>
            <a:ext cx="4261881" cy="10643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711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平台给业务什么（赋能）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060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给景区的经营报告和自助分析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给客户成功的健康度、续约预警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匿名的同类景区对比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630999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630999" y="3657508"/>
            <a:ext cx="4261881" cy="372526"/>
          </a:xfrm>
          <a:prstGeom prst="roundRect">
            <a:avLst>
              <a:gd name="adj" fmla="val 2857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30999" y="3923598"/>
            <a:ext cx="4261881" cy="106436"/>
          </a:xfrm>
          <a:prstGeom prst="roundRect">
            <a:avLst>
              <a:gd name="adj" fmla="val 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08392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业务回给平台什么（反哺）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2741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景区自己加的指标，有共性的变成标准指标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续约、流失结果 → 预警更准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景区反馈的数据问题 → 进入质量检查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00547" y="3675246"/>
            <a:ext cx="128610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越用越准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5610986" y="3941338"/>
            <a:ext cx="665226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677508" y="4242907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landmar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553" y="4375952"/>
            <a:ext cx="266090" cy="26609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300547" y="4783957"/>
            <a:ext cx="1286103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供应商</a:t>
            </a:r>
          </a:p>
        </p:txBody>
      </p:sp>
      <p:sp>
        <p:nvSpPr>
          <p:cNvPr id="70" name="Left Arrow 69"/>
          <p:cNvSpPr/>
          <p:nvPr/>
        </p:nvSpPr>
        <p:spPr>
          <a:xfrm>
            <a:off x="5610986" y="5005699"/>
            <a:ext cx="665226" cy="230611"/>
          </a:xfrm>
          <a:prstGeom prst="lef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94318" y="5395965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trending-up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5537880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0847" y="5395965"/>
            <a:ext cx="9144640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微软雅黑"/>
                <a:ea typeface="微软雅黑"/>
              </a:rPr>
              <a:t>价值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续约率提升，服务价值能用数据证明；拓展新客户更有说服力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营销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每场活动都算得清投入和效果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把一场活动从“看到”到“核销”串起来，钱花在哪、效果如何，一目了然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15  ·  AI＋数据平台 · 01  全局蓝图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318" y="1954530"/>
            <a:ext cx="98985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范围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活动 · 优惠券 · 投放 · 推广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4318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chiv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495" y="2446797"/>
            <a:ext cx="186263" cy="18626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97456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现在有什么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60408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活动、优惠券、投放花费、推广员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活动带来的成交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数据分散在营销系统、小程序和各投放后台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54471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187516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lay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647" y="2446797"/>
            <a:ext cx="186263" cy="18626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57609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平台怎么建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0561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打通“活动 → 看到 → 领券 → 下单 → 核销”全过程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活动统一编号，接入投放成本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统一算法：这一单算哪场活动带来的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4318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94318" y="3657508"/>
            <a:ext cx="4261881" cy="372526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94318" y="3923598"/>
            <a:ext cx="4261881" cy="10643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711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平台给业务什么（赋能）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060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活动自动复盘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活动投入产出比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按标签圈人群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各投放渠道效果对比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630999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630999" y="3657508"/>
            <a:ext cx="4261881" cy="372526"/>
          </a:xfrm>
          <a:prstGeom prst="roundRect">
            <a:avLst>
              <a:gd name="adj" fmla="val 2857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30999" y="3923598"/>
            <a:ext cx="4261881" cy="106436"/>
          </a:xfrm>
          <a:prstGeom prst="roundRect">
            <a:avLst>
              <a:gd name="adj" fmla="val 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08392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业务回给平台什么（反哺）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2741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哪类活动对哪类人有效 → 沉淀策略库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人群反应 → 更新标签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投放成本和效果 → 优化预算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00547" y="3675246"/>
            <a:ext cx="128610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越用越准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5610986" y="3941338"/>
            <a:ext cx="665226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677508" y="4242907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megaphon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553" y="4375952"/>
            <a:ext cx="266090" cy="26609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300547" y="4783957"/>
            <a:ext cx="1286103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营销</a:t>
            </a:r>
          </a:p>
        </p:txBody>
      </p:sp>
      <p:sp>
        <p:nvSpPr>
          <p:cNvPr id="70" name="Left Arrow 69"/>
          <p:cNvSpPr/>
          <p:nvPr/>
        </p:nvSpPr>
        <p:spPr>
          <a:xfrm>
            <a:off x="5610986" y="5005699"/>
            <a:ext cx="665226" cy="230611"/>
          </a:xfrm>
          <a:prstGeom prst="lef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94318" y="5395965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trending-up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5537880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0847" y="5395965"/>
            <a:ext cx="9144640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微软雅黑"/>
                <a:ea typeface="微软雅黑"/>
              </a:rPr>
              <a:t>价值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活动复盘从按周变成按天；预算分配有依据；活动价值看得见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渠道分销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每个渠道卖得怎样、值不值，一目了然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渠道订单和平台订单一一对上，渠道价格和接口都有人看着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16  ·  AI＋数据平台 · 01  全局蓝图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318" y="1954530"/>
            <a:ext cx="98985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范围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OTA · 分销商 · 多级供销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4318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chiv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495" y="2446797"/>
            <a:ext cx="186263" cy="18626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97456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现在有什么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60408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OTA、分销商、多级分销关系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渠道订单、渠道价格、佣金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接口调用记录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54471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187516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lay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647" y="2446797"/>
            <a:ext cx="186263" cy="18626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57609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平台怎么建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0561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渠道订单和平台订单一一对上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渠道统一编号；多级分销不重复计算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监测接口是否正常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4318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94318" y="3657508"/>
            <a:ext cx="4261881" cy="372526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94318" y="3923598"/>
            <a:ext cx="4261881" cy="10643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711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平台给业务什么（赋能）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060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渠道统一视图和投入产出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渠道价格异常提醒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接口健康、对接问题提醒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630999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630999" y="3657508"/>
            <a:ext cx="4261881" cy="372526"/>
          </a:xfrm>
          <a:prstGeom prst="roundRect">
            <a:avLst>
              <a:gd name="adj" fmla="val 2857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30999" y="3923598"/>
            <a:ext cx="4261881" cy="106436"/>
          </a:xfrm>
          <a:prstGeom prst="roundRect">
            <a:avLst>
              <a:gd name="adj" fmla="val 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08392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业务回给平台什么（反哺）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2741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渠道调整后的效果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接口异常处理记录 → 改进接入规范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对接经验 → 标准模板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00547" y="3675246"/>
            <a:ext cx="128610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越用越准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5610986" y="3941338"/>
            <a:ext cx="665226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677508" y="4242907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networ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553" y="4375952"/>
            <a:ext cx="266090" cy="26609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300547" y="4783957"/>
            <a:ext cx="1286103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渠道分销</a:t>
            </a:r>
          </a:p>
        </p:txBody>
      </p:sp>
      <p:sp>
        <p:nvSpPr>
          <p:cNvPr id="70" name="Left Arrow 69"/>
          <p:cNvSpPr/>
          <p:nvPr/>
        </p:nvSpPr>
        <p:spPr>
          <a:xfrm>
            <a:off x="5610986" y="5005699"/>
            <a:ext cx="665226" cy="230611"/>
          </a:xfrm>
          <a:prstGeom prst="lef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94318" y="5395965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trending-up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5537880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0847" y="5395965"/>
            <a:ext cx="9144640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微软雅黑"/>
                <a:ea typeface="微软雅黑"/>
              </a:rPr>
              <a:t>价值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渠道资源配置更合理；价格管理更规范；新渠道接入更快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外部数据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天气、节假日、口碑，让预测和分析更准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外部数据按需引入，每一类都说清用在哪、效果如何、花了多少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17  ·  AI＋数据平台 · 01  全局蓝图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318" y="1954530"/>
            <a:ext cx="98985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范围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天气 · 节假日 · 区域热力 · 舆情 · 公共数据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4318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chiv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495" y="2446797"/>
            <a:ext cx="186263" cy="18626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97456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现在有什么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60408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天气、节假日与调休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区域热力、舆情点评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授权的公共数据核验结果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54471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187516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lay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647" y="2446797"/>
            <a:ext cx="186263" cy="18626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57609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平台怎么建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0561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外部数据登记：来源、授权、期限、更新频率、成本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和景区、日期、区域关联起来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公共数据只用核验结果，原始数据不落地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4318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94318" y="3657508"/>
            <a:ext cx="4261881" cy="372526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94318" y="3923598"/>
            <a:ext cx="4261881" cy="10643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711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平台给业务什么（赋能）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060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客流预测的参考因素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天气、节假日对销量的影响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口碑和舆情监测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行业研究素材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630999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630999" y="3657508"/>
            <a:ext cx="4261881" cy="372526"/>
          </a:xfrm>
          <a:prstGeom prst="roundRect">
            <a:avLst>
              <a:gd name="adj" fmla="val 2857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30999" y="3923598"/>
            <a:ext cx="4261881" cy="106436"/>
          </a:xfrm>
          <a:prstGeom prst="roundRect">
            <a:avLst>
              <a:gd name="adj" fmla="val 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08392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业务回给平台什么（反哺）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2741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每类外部数据帮了多少 → 决定继续买还是停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用内部交易数据检验外部数据靠不靠谱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00547" y="3675246"/>
            <a:ext cx="128610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越用越准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5610986" y="3941338"/>
            <a:ext cx="665226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677508" y="4242907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cloud-su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553" y="4375952"/>
            <a:ext cx="266090" cy="26609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300547" y="4783957"/>
            <a:ext cx="1286103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外部数据</a:t>
            </a:r>
          </a:p>
        </p:txBody>
      </p:sp>
      <p:sp>
        <p:nvSpPr>
          <p:cNvPr id="70" name="Left Arrow 69"/>
          <p:cNvSpPr/>
          <p:nvPr/>
        </p:nvSpPr>
        <p:spPr>
          <a:xfrm>
            <a:off x="5610986" y="5005699"/>
            <a:ext cx="665226" cy="230611"/>
          </a:xfrm>
          <a:prstGeom prst="lef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94318" y="5395965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trending-up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5537880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0847" y="5395965"/>
            <a:ext cx="9144640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微软雅黑"/>
                <a:ea typeface="微软雅黑"/>
              </a:rPr>
              <a:t>价值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预测和分析更准；外部数据的投入花得明白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智能体服务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AI 越用越准，还能发现新需求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智能体统一从数据平台取数；每一次提问、纠错、差评都回来，让 AI 越用越准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18  ·  AI＋数据平台 · 01  全局蓝图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318" y="1954530"/>
            <a:ext cx="98985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范围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数字大脑 · AI 客服 · AI 伴游 · 内部 AI 助手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4318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chiv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495" y="2446797"/>
            <a:ext cx="186263" cy="18626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97456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现在有什么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60408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数字大脑、畅游 AI（客服、伴游）等智能体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大量用户提问、回答、反馈数据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54471" y="2264968"/>
            <a:ext cx="4838410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187516" y="235366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lay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647" y="2446797"/>
            <a:ext cx="186263" cy="18626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57609" y="2335926"/>
            <a:ext cx="266090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平台怎么建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0561" y="2770540"/>
            <a:ext cx="4439274" cy="727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统一从数据平台取指标、标签和知识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统一记录对话；建测试题库和反馈机制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按用户和景区隔离权限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4318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94318" y="3657508"/>
            <a:ext cx="4261881" cy="372526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94318" y="3923598"/>
            <a:ext cx="4261881" cy="106436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711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平台给业务什么（赋能）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060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可信的指标、标签和知识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保证 AI 的答案口径一致、查得到来源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630999" y="3657508"/>
            <a:ext cx="4261881" cy="1578803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630999" y="3657508"/>
            <a:ext cx="4261881" cy="372526"/>
          </a:xfrm>
          <a:prstGeom prst="roundRect">
            <a:avLst>
              <a:gd name="adj" fmla="val 2857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30999" y="3923598"/>
            <a:ext cx="4261881" cy="106436"/>
          </a:xfrm>
          <a:prstGeom prst="roundRect">
            <a:avLst>
              <a:gd name="adj" fmla="val 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08392" y="3657508"/>
            <a:ext cx="399579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业务回给平台什么（反哺）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2741" y="4100992"/>
            <a:ext cx="3907093" cy="10909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答不上的问题 → 补指标、补说法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纠错和差评 → 更新题库和知识库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高频问题 → 给产品和客服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对话里的诉求（如退票原因）→ 业务洞察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00547" y="3675246"/>
            <a:ext cx="128610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越用越准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5610986" y="3941338"/>
            <a:ext cx="665226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677508" y="4242907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bo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553" y="4375952"/>
            <a:ext cx="266090" cy="26609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300547" y="4783957"/>
            <a:ext cx="1286103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智能体服务</a:t>
            </a:r>
          </a:p>
        </p:txBody>
      </p:sp>
      <p:sp>
        <p:nvSpPr>
          <p:cNvPr id="70" name="Left Arrow 69"/>
          <p:cNvSpPr/>
          <p:nvPr/>
        </p:nvSpPr>
        <p:spPr>
          <a:xfrm>
            <a:off x="5610986" y="5005699"/>
            <a:ext cx="665226" cy="230611"/>
          </a:xfrm>
          <a:prstGeom prst="lef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94318" y="5395965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trending-up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5537880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0847" y="5395965"/>
            <a:ext cx="9144640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微软雅黑"/>
                <a:ea typeface="微软雅黑"/>
              </a:rPr>
              <a:t>价值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AI 答案越用越准；业务需求自动发现；客服和运营成本下降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19" name="十字形 18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 descr="D:\51PPT模板网\51pptmoban.com\图片.jpg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9" name="十字形 8" descr="D:\51PPT模板网\51pptmoban.com\图片.jpg"/>
          <p:cNvSpPr/>
          <p:nvPr/>
        </p:nvSpPr>
        <p:spPr>
          <a:xfrm>
            <a:off x="-67941" y="527503"/>
            <a:ext cx="717891" cy="717891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十字形 10"/>
          <p:cNvSpPr/>
          <p:nvPr/>
        </p:nvSpPr>
        <p:spPr>
          <a:xfrm>
            <a:off x="595318" y="195510"/>
            <a:ext cx="242505" cy="242505"/>
          </a:xfrm>
          <a:prstGeom prst="plus">
            <a:avLst>
              <a:gd name="adj" fmla="val 33591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49883" y="3230858"/>
            <a:ext cx="6292233" cy="89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1816F"/>
                </a:solidFill>
                <a:latin typeface="微软雅黑"/>
                <a:ea typeface="微软雅黑"/>
              </a:rPr>
              <a:t>数据理清、算准、管住，人人能用</a:t>
            </a:r>
            <a:endParaRPr lang="zh-CN" altLang="en-US" sz="1200" b="1" dirty="0"/>
          </a:p>
        </p:txBody>
      </p:sp>
      <p:grpSp>
        <p:nvGrpSpPr>
          <p:cNvPr id="40" name="组合 39"/>
          <p:cNvGrpSpPr/>
          <p:nvPr/>
        </p:nvGrpSpPr>
        <p:grpSpPr>
          <a:xfrm>
            <a:off x="4151159" y="2103120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数据平台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Rounded Rectangle 40"/>
          <p:cNvSpPr/>
          <p:nvPr/>
        </p:nvSpPr>
        <p:spPr>
          <a:xfrm>
            <a:off x="2441448" y="4069080"/>
            <a:ext cx="7315200" cy="18288"/>
          </a:xfrm>
          <a:prstGeom prst="roundRect">
            <a:avLst>
              <a:gd name="adj" fmla="val 0"/>
            </a:avLst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41448" y="41605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2CAB93"/>
                </a:solidFill>
                <a:latin typeface="微软雅黑"/>
                <a:ea typeface="微软雅黑"/>
              </a:rPr>
              <a:t>这一部分讲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41448" y="452628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建什么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0248" y="452628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怎么治理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9048" y="452628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六个统一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27848" y="452628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人人能用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问题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六个平时真实遇到的麻烦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每一条都能在日常工作里找到例子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20  ·  AI＋数据平台 · 02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719483"/>
            <a:ext cx="9898562" cy="354787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71711" y="1719483"/>
            <a:ext cx="1995678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问题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33480" y="1719483"/>
            <a:ext cx="3947007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平时是什么样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46577" y="1719483"/>
            <a:ext cx="3157606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为什么会这样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4318" y="2127488"/>
            <a:ext cx="9898562" cy="532180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27363" y="2216185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searc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060" y="2304882"/>
            <a:ext cx="177393" cy="177393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597456" y="2127488"/>
            <a:ext cx="1640889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数据散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33480" y="2127488"/>
            <a:ext cx="3947007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想看“售票 + 二消 + 结算”，要从 3 个以上系统导数、手工拼表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46577" y="2127488"/>
            <a:ext cx="3157606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1816F"/>
                </a:solidFill>
                <a:latin typeface="微软雅黑"/>
                <a:ea typeface="微软雅黑"/>
              </a:rPr>
              <a:t>没有统一接入；景区、商品、渠道编号各系统不一样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4318" y="2704017"/>
            <a:ext cx="9898562" cy="532180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27363" y="2792714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copy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060" y="2881411"/>
            <a:ext cx="177393" cy="177393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597456" y="2704017"/>
            <a:ext cx="1640889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一个数多个答案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33480" y="2704017"/>
            <a:ext cx="3947007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同一天同一景区，看板、对账、接口三处“核销量”不一样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46577" y="2704017"/>
            <a:ext cx="3157606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1816F"/>
                </a:solidFill>
                <a:latin typeface="微软雅黑"/>
                <a:ea typeface="微软雅黑"/>
              </a:rPr>
              <a:t>公司层面没有统一的指标定义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94318" y="3280547"/>
            <a:ext cx="9898562" cy="532180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27363" y="3369242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file-tex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060" y="3457939"/>
            <a:ext cx="177393" cy="177393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597456" y="3280547"/>
            <a:ext cx="1640889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没规矩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33480" y="3280547"/>
            <a:ext cx="3947007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表名随意、字段没说明、出了问题找不到负责人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46577" y="3280547"/>
            <a:ext cx="3157606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1816F"/>
                </a:solidFill>
                <a:latin typeface="微软雅黑"/>
                <a:ea typeface="微软雅黑"/>
              </a:rPr>
              <a:t>规范只写在文档里，上线没有人卡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94318" y="3857076"/>
            <a:ext cx="9898562" cy="532180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127363" y="3945773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repea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6060" y="4034469"/>
            <a:ext cx="177393" cy="177393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597456" y="3857076"/>
            <a:ext cx="1640889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重复干活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433480" y="3857076"/>
            <a:ext cx="3947007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订单宽表离线、湖仓各做一份，结果还对不上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46577" y="3857076"/>
            <a:ext cx="3157606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1816F"/>
                </a:solidFill>
                <a:latin typeface="微软雅黑"/>
                <a:ea typeface="微软雅黑"/>
              </a:rPr>
              <a:t>没有统一的公共层，各做各的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94318" y="4433605"/>
            <a:ext cx="9898562" cy="532180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27363" y="4522302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triangle-aler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6060" y="4610999"/>
            <a:ext cx="177393" cy="177393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597456" y="4433605"/>
            <a:ext cx="1640889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数字不准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33480" y="4433605"/>
            <a:ext cx="3947007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入园、核销和现场对不上，节假日更明显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46577" y="4433605"/>
            <a:ext cx="3157606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1816F"/>
                </a:solidFill>
                <a:latin typeface="微软雅黑"/>
                <a:ea typeface="微软雅黑"/>
              </a:rPr>
              <a:t>补传、重复上报、撤销冲正、时间口径混用，缺逐层核对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94318" y="5010134"/>
            <a:ext cx="9898562" cy="532180"/>
          </a:xfrm>
          <a:prstGeom prst="roundRect">
            <a:avLst>
              <a:gd name="adj" fmla="val 13333"/>
            </a:avLst>
          </a:prstGeom>
          <a:solidFill>
            <a:srgbClr val="FD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127363" y="5098831"/>
            <a:ext cx="354787" cy="354787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hourglas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6060" y="5187528"/>
            <a:ext cx="177393" cy="177393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1597456" y="5010134"/>
            <a:ext cx="1640889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B26A2C"/>
                </a:solidFill>
                <a:latin typeface="微软雅黑"/>
                <a:ea typeface="微软雅黑"/>
              </a:rPr>
              <a:t>看得慢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33480" y="5010134"/>
            <a:ext cx="3947007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高峰期订单、核销第二天才看到，预警靠人盯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46577" y="5010134"/>
            <a:ext cx="3157606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B26A2C"/>
                </a:solidFill>
                <a:latin typeface="微软雅黑"/>
                <a:ea typeface="微软雅黑"/>
              </a:rPr>
              <a:t>只有每天跑一次的离线链路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94318" y="5693100"/>
            <a:ext cx="9898562" cy="487832"/>
          </a:xfrm>
          <a:prstGeom prst="roundRect">
            <a:avLst>
              <a:gd name="adj" fmla="val 1818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lightbulb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9451" y="5803971"/>
            <a:ext cx="266090" cy="26609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1570847" y="5693100"/>
            <a:ext cx="9144640" cy="4878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  <a:latin typeface="微软雅黑"/>
                <a:ea typeface="微软雅黑"/>
              </a:rPr>
              <a:t>一句话　</a:t>
            </a: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前五个是“管理问题”，要系统治理；第六个是“能力缺口”，要补实时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怎么建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六层搭起来，治理管全程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从下往上：数据从哪来 → 存到哪 → 算成什么 → 怎么给出去 → AI 怎么用 → 谁在用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21  ·  AI＋数据平台 · 02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843659"/>
            <a:ext cx="1773936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应用与服务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谁在用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901298" y="1843659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内部经营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87403" y="1843659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景区运营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73506" y="1843659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伙伴接入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59610" y="1843659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行业报告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45714" y="1843659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数据产品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94318" y="2491146"/>
            <a:ext cx="1773936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AI 能力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让 AI 能用数据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901298" y="2491146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模型服务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08929" y="2491146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知识服务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16558" y="2491146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工具服务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24188" y="2491146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评测运营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4318" y="3138632"/>
            <a:ext cx="1773936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数据服务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对外的窗口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901298" y="3138632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数据开放平台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08929" y="3138632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指标服务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16558" y="3138632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标签服务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24188" y="3138632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一键接入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94318" y="3786119"/>
            <a:ext cx="1773936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指标与分析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算好的数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901298" y="3786119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企业标准指标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08929" y="3786119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景区自定义指标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16558" y="3786119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统一标签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724188" y="3786119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小Q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4318" y="4433606"/>
            <a:ext cx="1773936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统一底座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仓库与车间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901298" y="4433606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数据加工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187403" y="4433606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每天的主流程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473506" y="4433606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实时计算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759610" y="4433606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统一存储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045714" y="4433606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公共模型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94318" y="5081092"/>
            <a:ext cx="1773936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数据来源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数据从哪来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901298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票务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705113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订单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08928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小程序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312743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供应商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116557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营销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920372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渠道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724187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设备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528003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外部数据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420513" y="1843659"/>
            <a:ext cx="1472366" cy="3787352"/>
          </a:xfrm>
          <a:prstGeom prst="roundRect">
            <a:avLst>
              <a:gd name="adj" fmla="val 843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shield-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647" y="2021053"/>
            <a:ext cx="372526" cy="372526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9615647" y="2464537"/>
            <a:ext cx="1117579" cy="70957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数据治理</a:t>
            </a:r>
          </a:p>
          <a:p>
            <a:pPr algn="l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贯穿每一层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15647" y="3218459"/>
            <a:ext cx="1117579" cy="24835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E6F6F2"/>
                </a:solidFill>
                <a:latin typeface="微软雅黑"/>
                <a:ea typeface="微软雅黑"/>
              </a:rPr>
              <a:t>数据标准</a:t>
            </a:r>
          </a:p>
          <a:p>
            <a:pPr algn="l">
              <a:lnSpc>
                <a:spcPct val="110000"/>
              </a:lnSpc>
              <a:spcBef>
                <a:spcPts val="388"/>
              </a:spcBef>
            </a:pPr>
            <a:r>
              <a:rPr sz="1200" b="0">
                <a:solidFill>
                  <a:srgbClr val="E6F6F2"/>
                </a:solidFill>
                <a:latin typeface="微软雅黑"/>
                <a:ea typeface="微软雅黑"/>
              </a:rPr>
              <a:t>主数据</a:t>
            </a:r>
          </a:p>
          <a:p>
            <a:pPr algn="l">
              <a:lnSpc>
                <a:spcPct val="110000"/>
              </a:lnSpc>
              <a:spcBef>
                <a:spcPts val="388"/>
              </a:spcBef>
            </a:pPr>
            <a:r>
              <a:rPr sz="1200" b="0">
                <a:solidFill>
                  <a:srgbClr val="E6F6F2"/>
                </a:solidFill>
                <a:latin typeface="微软雅黑"/>
                <a:ea typeface="微软雅黑"/>
              </a:rPr>
              <a:t>数据血缘</a:t>
            </a:r>
          </a:p>
          <a:p>
            <a:pPr algn="l">
              <a:lnSpc>
                <a:spcPct val="110000"/>
              </a:lnSpc>
              <a:spcBef>
                <a:spcPts val="388"/>
              </a:spcBef>
            </a:pPr>
            <a:r>
              <a:rPr sz="1200" b="0">
                <a:solidFill>
                  <a:srgbClr val="E6F6F2"/>
                </a:solidFill>
                <a:latin typeface="微软雅黑"/>
                <a:ea typeface="微软雅黑"/>
              </a:rPr>
              <a:t>数据质量</a:t>
            </a:r>
          </a:p>
          <a:p>
            <a:pPr algn="l">
              <a:lnSpc>
                <a:spcPct val="110000"/>
              </a:lnSpc>
              <a:spcBef>
                <a:spcPts val="388"/>
              </a:spcBef>
            </a:pPr>
            <a:r>
              <a:rPr sz="1200" b="0">
                <a:solidFill>
                  <a:srgbClr val="E6F6F2"/>
                </a:solidFill>
                <a:latin typeface="微软雅黑"/>
                <a:ea typeface="微软雅黑"/>
              </a:rPr>
              <a:t>统一口径</a:t>
            </a:r>
          </a:p>
          <a:p>
            <a:pPr algn="l">
              <a:lnSpc>
                <a:spcPct val="110000"/>
              </a:lnSpc>
              <a:spcBef>
                <a:spcPts val="388"/>
              </a:spcBef>
            </a:pPr>
            <a:r>
              <a:rPr sz="1200" b="0">
                <a:solidFill>
                  <a:srgbClr val="E6F6F2"/>
                </a:solidFill>
                <a:latin typeface="微软雅黑"/>
                <a:ea typeface="微软雅黑"/>
              </a:rPr>
              <a:t>权限安全</a:t>
            </a:r>
          </a:p>
          <a:p>
            <a:pPr algn="l">
              <a:lnSpc>
                <a:spcPct val="110000"/>
              </a:lnSpc>
              <a:spcBef>
                <a:spcPts val="388"/>
              </a:spcBef>
            </a:pPr>
            <a:r>
              <a:rPr sz="1200" b="0">
                <a:solidFill>
                  <a:srgbClr val="E6F6F2"/>
                </a:solidFill>
                <a:latin typeface="微软雅黑"/>
                <a:ea typeface="微软雅黑"/>
              </a:rPr>
              <a:t>资产运营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94318" y="5790666"/>
            <a:ext cx="532180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思路：统一标准，治理写进研发流程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数据平台建什么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六个模块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已有的投入全部保留（数据加工工具、小Q、数据开放平台、社媒采集平台），在上面补齐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22  ·  AI＋数据平台 · 02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3181258" cy="1640890"/>
          </a:xfrm>
          <a:prstGeom prst="roundRect">
            <a:avLst>
              <a:gd name="adj" fmla="val 648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71711" y="2207910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plug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669" y="2329868"/>
            <a:ext cx="243916" cy="24391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92589" y="2181301"/>
            <a:ext cx="44348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92589" y="2420782"/>
            <a:ext cx="2294290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1F3A35"/>
                </a:solidFill>
                <a:latin typeface="微软雅黑"/>
                <a:ea typeface="微软雅黑"/>
              </a:rPr>
              <a:t>汇聚接入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1711" y="2846527"/>
            <a:ext cx="2870818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业务系统、终端、外部数据，以及文档、图片、视频都接进来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71711" y="3307750"/>
            <a:ext cx="287081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像“进水口”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52970" y="2048256"/>
            <a:ext cx="3181258" cy="1640890"/>
          </a:xfrm>
          <a:prstGeom prst="roundRect">
            <a:avLst>
              <a:gd name="adj" fmla="val 6486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530364" y="2207910"/>
            <a:ext cx="487832" cy="487832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databas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670" y="2323216"/>
            <a:ext cx="257220" cy="25722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151241" y="2181301"/>
            <a:ext cx="44348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FFE7C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51241" y="2420782"/>
            <a:ext cx="2294290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统一底座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30364" y="2846527"/>
            <a:ext cx="2870818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F6F2"/>
                </a:solidFill>
                <a:latin typeface="微软雅黑"/>
                <a:ea typeface="微软雅黑"/>
              </a:rPr>
              <a:t>一个地方存，每天算 + 实时算；订单、核销分钟级看到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30364" y="3307750"/>
            <a:ext cx="287081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FFE7CF"/>
                </a:solidFill>
                <a:latin typeface="微软雅黑"/>
                <a:ea typeface="微软雅黑"/>
              </a:rPr>
              <a:t>像“蓄水池”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11622" y="2048256"/>
            <a:ext cx="3181258" cy="1640890"/>
          </a:xfrm>
          <a:prstGeom prst="roundRect">
            <a:avLst>
              <a:gd name="adj" fmla="val 648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889015" y="2207910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shield-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0973" y="2329868"/>
            <a:ext cx="243916" cy="243916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509894" y="2181301"/>
            <a:ext cx="44348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09894" y="2420782"/>
            <a:ext cx="2294290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1F3A35"/>
                </a:solidFill>
                <a:latin typeface="微软雅黑"/>
                <a:ea typeface="微软雅黑"/>
              </a:rPr>
              <a:t>数据治理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89015" y="2846527"/>
            <a:ext cx="2870818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规范、编号、口径、质量、权限，写进日常流程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89015" y="3307750"/>
            <a:ext cx="287081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像“净水厂”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4318" y="3866540"/>
            <a:ext cx="3181258" cy="1640890"/>
          </a:xfrm>
          <a:prstGeom prst="roundRect">
            <a:avLst>
              <a:gd name="adj" fmla="val 648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71711" y="4026194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search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3669" y="4148152"/>
            <a:ext cx="243916" cy="243916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792589" y="3999585"/>
            <a:ext cx="44348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92589" y="4239066"/>
            <a:ext cx="2294290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1F3A35"/>
                </a:solidFill>
                <a:latin typeface="微软雅黑"/>
                <a:ea typeface="微软雅黑"/>
              </a:rPr>
              <a:t>资产目录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71711" y="4664811"/>
            <a:ext cx="2870818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中文一搜：有什么数据、在哪、什么意思、找谁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71711" y="5126034"/>
            <a:ext cx="287081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像“图书馆检索台”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352970" y="3866540"/>
            <a:ext cx="3181258" cy="1640890"/>
          </a:xfrm>
          <a:prstGeom prst="roundRect">
            <a:avLst>
              <a:gd name="adj" fmla="val 648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530364" y="4026194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send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2322" y="4148152"/>
            <a:ext cx="243916" cy="243916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5151241" y="3999585"/>
            <a:ext cx="44348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51241" y="4239066"/>
            <a:ext cx="2294290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1F3A35"/>
                </a:solidFill>
                <a:latin typeface="微软雅黑"/>
                <a:ea typeface="微软雅黑"/>
              </a:rPr>
              <a:t>统一出口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30364" y="4664811"/>
            <a:ext cx="2870818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数据开放平台：所有数据从这里出去，可追溯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30364" y="5126034"/>
            <a:ext cx="287081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像“唯一的水龙头”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711622" y="3866540"/>
            <a:ext cx="3181258" cy="1640890"/>
          </a:xfrm>
          <a:prstGeom prst="roundRect">
            <a:avLst>
              <a:gd name="adj" fmla="val 648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889015" y="4026194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sparkle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0973" y="4148152"/>
            <a:ext cx="243916" cy="243916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8509894" y="3999585"/>
            <a:ext cx="44348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09894" y="4239066"/>
            <a:ext cx="2294290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1F3A35"/>
                </a:solidFill>
                <a:latin typeface="微软雅黑"/>
                <a:ea typeface="微软雅黑"/>
              </a:rPr>
              <a:t>AI 治理工具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89015" y="4664811"/>
            <a:ext cx="2870818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AI 自动分类、标注，人工审核修正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89015" y="5126034"/>
            <a:ext cx="287081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像“AI 帮手”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数据治理是什么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给数据“定规矩、上户口、做体检”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没有治理，数据越多越乱；治理就是让每个数都说得清来源、算得准口径、找得到主人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23  ·  AI＋数据平台 · 02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2341595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53971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book-ope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842" y="2318781"/>
            <a:ext cx="221742" cy="22174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03892" y="2172431"/>
            <a:ext cx="154332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定规矩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03892" y="2456261"/>
            <a:ext cx="1543324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数据标准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53971" y="2811048"/>
            <a:ext cx="207550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表名、字段全公司一个说法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513307" y="2048256"/>
            <a:ext cx="2341595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672961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d-car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3832" y="2318781"/>
            <a:ext cx="221742" cy="22174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222882" y="2172431"/>
            <a:ext cx="154332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上户口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22882" y="2456261"/>
            <a:ext cx="1543324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主数据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72961" y="2811048"/>
            <a:ext cx="207550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一个景区只有一个身份证号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032296" y="2048256"/>
            <a:ext cx="2341595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191951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folder-tre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2822" y="2318781"/>
            <a:ext cx="221742" cy="22174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741871" y="2172431"/>
            <a:ext cx="154332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建家谱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41871" y="2456261"/>
            <a:ext cx="1543324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血缘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91951" y="2811048"/>
            <a:ext cx="207550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每个数从哪来、到哪去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551285" y="2048256"/>
            <a:ext cx="2341595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10940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stethoscop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1811" y="2318781"/>
            <a:ext cx="221742" cy="22174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260860" y="2172431"/>
            <a:ext cx="154332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做体检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60860" y="2456261"/>
            <a:ext cx="1543324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质量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10940" y="2811048"/>
            <a:ext cx="207550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每天检查，不合格拦下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94318" y="3485144"/>
            <a:ext cx="2341595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53971" y="3644798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cal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4842" y="3755669"/>
            <a:ext cx="221742" cy="22174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703892" y="3609319"/>
            <a:ext cx="154332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统一算法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703892" y="3893149"/>
            <a:ext cx="1543324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统一口径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53971" y="4247936"/>
            <a:ext cx="207550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同一个指标一种算法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513307" y="3485144"/>
            <a:ext cx="2341595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672961" y="3644798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loc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3832" y="3755669"/>
            <a:ext cx="221742" cy="22174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222882" y="3609319"/>
            <a:ext cx="154332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管钥匙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22882" y="3893149"/>
            <a:ext cx="1543324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权限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72961" y="4247936"/>
            <a:ext cx="207550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谁能看什么分清楚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032296" y="3485144"/>
            <a:ext cx="2341595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191951" y="3644798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trash2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2822" y="3755669"/>
            <a:ext cx="221742" cy="221742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6741871" y="3609319"/>
            <a:ext cx="154332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搞卫生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41871" y="3893149"/>
            <a:ext cx="1543324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资产运营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91951" y="4247936"/>
            <a:ext cx="207550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没人用的定期清理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551285" y="3485144"/>
            <a:ext cx="2341595" cy="1259494"/>
          </a:xfrm>
          <a:prstGeom prst="roundRect">
            <a:avLst>
              <a:gd name="adj" fmla="val 84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710940" y="3644798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send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21811" y="3755669"/>
            <a:ext cx="221742" cy="221742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9260860" y="3609319"/>
            <a:ext cx="154332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一个窗口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260860" y="3893149"/>
            <a:ext cx="1543324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统一出口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710940" y="4247936"/>
            <a:ext cx="207550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所有数据从一处出去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94318" y="4939770"/>
            <a:ext cx="4860584" cy="691835"/>
          </a:xfrm>
          <a:prstGeom prst="roundRect">
            <a:avLst>
              <a:gd name="adj" fmla="val 12820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1742" tIns="35478" rIns="133045" bIns="35478"/>
          <a:lstStyle/>
          <a:p>
            <a:pPr algn="l"/>
            <a:r>
              <a:rPr sz="1200" b="1">
                <a:solidFill>
                  <a:srgbClr val="B26A2C"/>
                </a:solidFill>
                <a:latin typeface="微软雅黑"/>
                <a:ea typeface="微软雅黑"/>
              </a:rPr>
              <a:t>不治理　</a:t>
            </a:r>
          </a:p>
          <a:p>
            <a:pPr algn="l">
              <a:spcBef>
                <a:spcPts val="97"/>
              </a:spcBef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同一个“核销量”，报表、接口、AI 三处三个数；开会先吵数字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032296" y="4939770"/>
            <a:ext cx="4860584" cy="691835"/>
          </a:xfrm>
          <a:prstGeom prst="roundRect">
            <a:avLst>
              <a:gd name="adj" fmla="val 1282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1742" tIns="35478" rIns="133045" bIns="35478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治理后　</a:t>
            </a:r>
          </a:p>
          <a:p>
            <a:pPr algn="l">
              <a:spcBef>
                <a:spcPts val="97"/>
              </a:spcBef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三处数字一致，出了问题能追到人；数据才敢拿去办事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治理流程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八步走，一步一步落地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按顺序推进：先定规矩、统一编号，再管质量和口径，最后管好权限、盘点和出口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24  ·  AI＋数据平台 · 02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01311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EFF8F6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27363" y="2034357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034357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70847" y="1990008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定规矩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70847" y="2256099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数据标准</a:t>
            </a:r>
          </a:p>
        </p:txBody>
      </p:sp>
      <p:pic>
        <p:nvPicPr>
          <p:cNvPr id="49" name="Picture 48" descr="book-open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907" y="2052096"/>
            <a:ext cx="301569" cy="30156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153971" y="2593146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表名、字段、码值全公司一个说法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27363" y="3027761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42669" y="3027761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→ 详见“统一规范”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3313739" y="2588712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535481" y="1901311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EFF8F6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668527" y="2034357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668527" y="2034357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2011" y="1990008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统一编号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2011" y="2256099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主数据</a:t>
            </a:r>
          </a:p>
        </p:txBody>
      </p:sp>
      <p:pic>
        <p:nvPicPr>
          <p:cNvPr id="59" name="Picture 58" descr="id-card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070" y="2052096"/>
            <a:ext cx="301569" cy="30156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695136" y="2593146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景区、商品、渠道、供应商、游客一个编号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68527" y="3027761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83832" y="3027761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产出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编号对照表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5854903" y="2588712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076644" y="1901311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EFF8F6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209690" y="2034357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209690" y="2034357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53174" y="1990008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理清来龙去脉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53174" y="2256099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数据血缘</a:t>
            </a:r>
          </a:p>
        </p:txBody>
      </p:sp>
      <p:pic>
        <p:nvPicPr>
          <p:cNvPr id="69" name="Picture 68" descr="folder-tree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8233" y="2052096"/>
            <a:ext cx="301569" cy="301569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236298" y="2593146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每个数从哪来、到哪去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09690" y="3027761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24996" y="3027761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产出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资产目录、血缘图</a:t>
            </a:r>
          </a:p>
        </p:txBody>
      </p:sp>
      <p:sp>
        <p:nvSpPr>
          <p:cNvPr id="73" name="Right Arrow 72"/>
          <p:cNvSpPr/>
          <p:nvPr/>
        </p:nvSpPr>
        <p:spPr>
          <a:xfrm>
            <a:off x="8396066" y="2588712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617808" y="1901311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EFF8F6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750853" y="2034357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750853" y="2034357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94337" y="1990008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每天体检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94337" y="2256099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数据质量</a:t>
            </a:r>
          </a:p>
        </p:txBody>
      </p:sp>
      <p:pic>
        <p:nvPicPr>
          <p:cNvPr id="79" name="Picture 78" descr="stethoscope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9397" y="2052096"/>
            <a:ext cx="301569" cy="301569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8777462" y="2593146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算完自动检查，不合格就拦住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750853" y="3027761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866158" y="3027761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产出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质量规则、问题单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94318" y="3737335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127363" y="3870380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27363" y="3870380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570847" y="3826031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统一口径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570847" y="4092122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统一标签</a:t>
            </a:r>
          </a:p>
        </p:txBody>
      </p:sp>
      <p:pic>
        <p:nvPicPr>
          <p:cNvPr id="88" name="Picture 87" descr="scale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907" y="3888119"/>
            <a:ext cx="301569" cy="301569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153971" y="4429170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一个指标一个算法，集团出标准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127363" y="4863784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242669" y="4863784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→ 详见“统一标签”</a:t>
            </a:r>
          </a:p>
        </p:txBody>
      </p:sp>
      <p:sp>
        <p:nvSpPr>
          <p:cNvPr id="92" name="Right Arrow 91"/>
          <p:cNvSpPr/>
          <p:nvPr/>
        </p:nvSpPr>
        <p:spPr>
          <a:xfrm>
            <a:off x="3313739" y="4424735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3535481" y="3737335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668527" y="3870380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668527" y="3870380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112011" y="3826031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管好权限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112011" y="4092122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权限安全</a:t>
            </a:r>
          </a:p>
        </p:txBody>
      </p:sp>
      <p:pic>
        <p:nvPicPr>
          <p:cNvPr id="98" name="Picture 97" descr="lock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7070" y="3888119"/>
            <a:ext cx="301569" cy="301569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3695136" y="4429170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数据分级，谁的数据只服务谁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668527" y="4863784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783832" y="4863784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→ 详见“统一权限”</a:t>
            </a:r>
          </a:p>
        </p:txBody>
      </p:sp>
      <p:sp>
        <p:nvSpPr>
          <p:cNvPr id="102" name="Right Arrow 101"/>
          <p:cNvSpPr/>
          <p:nvPr/>
        </p:nvSpPr>
        <p:spPr>
          <a:xfrm>
            <a:off x="5854903" y="4424735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6076644" y="3737335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6209690" y="3870380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209690" y="3870380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653174" y="3826031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定期盘点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653174" y="4092122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资产运营</a:t>
            </a:r>
          </a:p>
        </p:txBody>
      </p:sp>
      <p:pic>
        <p:nvPicPr>
          <p:cNvPr id="108" name="Picture 107" descr="archive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8233" y="3888119"/>
            <a:ext cx="301569" cy="301569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6236298" y="4429170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打健康分，没人用的就下线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09690" y="4863784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24996" y="4863784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产出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健康分榜、下线清单</a:t>
            </a:r>
          </a:p>
        </p:txBody>
      </p:sp>
      <p:sp>
        <p:nvSpPr>
          <p:cNvPr id="112" name="Right Arrow 111"/>
          <p:cNvSpPr/>
          <p:nvPr/>
        </p:nvSpPr>
        <p:spPr>
          <a:xfrm>
            <a:off x="8396066" y="4424735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8617808" y="3737335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750853" y="3870380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750853" y="3870380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194337" y="3826031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统一出口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194337" y="4092122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数据分发</a:t>
            </a:r>
          </a:p>
        </p:txBody>
      </p:sp>
      <p:pic>
        <p:nvPicPr>
          <p:cNvPr id="118" name="Picture 117" descr="send_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49397" y="3888119"/>
            <a:ext cx="301569" cy="301569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8777462" y="4429170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对内对外只走一个“窗口”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8750853" y="4863784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866158" y="4863784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产出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接口目录、调用台账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994318" y="5484662"/>
            <a:ext cx="9898562" cy="514441"/>
          </a:xfrm>
          <a:prstGeom prst="roundRect">
            <a:avLst>
              <a:gd name="adj" fmla="val 1724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0" tIns="0" bIns="0"/>
          <a:lstStyle/>
          <a:p>
            <a:pPr algn="l"/>
            <a:r>
              <a:rPr sz="1200" b="1">
                <a:solidFill>
                  <a:srgbClr val="FFE7CF"/>
                </a:solidFill>
                <a:latin typeface="微软雅黑"/>
                <a:ea typeface="微软雅黑"/>
              </a:rPr>
              <a:t>先治一条主线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“订单 → 核销 → 结算”公司最核心、问题最多，先在这条线上把八步走通，再按数据域推广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② 主数据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一个景区只有一个“身份证”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以前同一个景区在票务、分销、财务里各有各的编号，拼数时对不上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25  ·  AI＋数据平台 · 02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2882646" cy="1046622"/>
          </a:xfrm>
          <a:prstGeom prst="roundRect">
            <a:avLst>
              <a:gd name="adj" fmla="val 101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53971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landmar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842" y="2318781"/>
            <a:ext cx="221742" cy="22174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03892" y="2190170"/>
            <a:ext cx="8869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景区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206508" y="2234519"/>
            <a:ext cx="776589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景区编号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1711" y="2686872"/>
            <a:ext cx="257220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集团、分园区、子景点分级挂靠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054358" y="2048256"/>
            <a:ext cx="2882646" cy="1046622"/>
          </a:xfrm>
          <a:prstGeom prst="roundRect">
            <a:avLst>
              <a:gd name="adj" fmla="val 101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14011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tick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4882" y="2318781"/>
            <a:ext cx="221742" cy="22174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763932" y="2190170"/>
            <a:ext cx="8869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商品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266547" y="2234519"/>
            <a:ext cx="776589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商品编号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31751" y="2686872"/>
            <a:ext cx="257220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票种、套票、二消商品统一编码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94318" y="3236793"/>
            <a:ext cx="2882646" cy="1046622"/>
          </a:xfrm>
          <a:prstGeom prst="roundRect">
            <a:avLst>
              <a:gd name="adj" fmla="val 101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53971" y="3396446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rout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842" y="3507317"/>
            <a:ext cx="221742" cy="22174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703892" y="3378708"/>
            <a:ext cx="8869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渠道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206508" y="3423056"/>
            <a:ext cx="776589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渠道编号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71711" y="3875410"/>
            <a:ext cx="257220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OTA、自营、分销、团队统一分类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54358" y="3236793"/>
            <a:ext cx="2882646" cy="1046622"/>
          </a:xfrm>
          <a:prstGeom prst="roundRect">
            <a:avLst>
              <a:gd name="adj" fmla="val 101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214011" y="3396446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handshak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4882" y="3507317"/>
            <a:ext cx="221742" cy="22174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763932" y="3378708"/>
            <a:ext cx="8869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供应商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451332" y="3423056"/>
            <a:ext cx="899779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供应商编号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31751" y="3875410"/>
            <a:ext cx="257220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同一主体只建一个编码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94318" y="4425330"/>
            <a:ext cx="2882646" cy="1046622"/>
          </a:xfrm>
          <a:prstGeom prst="roundRect">
            <a:avLst>
              <a:gd name="adj" fmla="val 101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53971" y="4584984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user-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4842" y="4695855"/>
            <a:ext cx="221742" cy="22174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703892" y="4567245"/>
            <a:ext cx="8869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游客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206508" y="4611593"/>
            <a:ext cx="776589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游客编号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71711" y="5063947"/>
            <a:ext cx="257220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手机号、证件号、会员号归并为一人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054358" y="4425330"/>
            <a:ext cx="2882646" cy="1046622"/>
          </a:xfrm>
          <a:prstGeom prst="roundRect">
            <a:avLst>
              <a:gd name="adj" fmla="val 101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214011" y="4584984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map-pi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4882" y="4695855"/>
            <a:ext cx="221742" cy="22174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763932" y="4567245"/>
            <a:ext cx="8869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区域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266547" y="4611593"/>
            <a:ext cx="899779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行政区划码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31751" y="5063947"/>
            <a:ext cx="257220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采用国家标准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158746" y="2048256"/>
            <a:ext cx="1773936" cy="425744"/>
          </a:xfrm>
          <a:prstGeom prst="roundRect">
            <a:avLst>
              <a:gd name="adj" fmla="val 16666"/>
            </a:avLst>
          </a:prstGeom>
          <a:solidFill>
            <a:srgbClr val="EE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票务系统编号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8932682" y="2261128"/>
            <a:ext cx="399135" cy="514441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7158746" y="2562697"/>
            <a:ext cx="1773936" cy="425744"/>
          </a:xfrm>
          <a:prstGeom prst="roundRect">
            <a:avLst>
              <a:gd name="adj" fmla="val 16666"/>
            </a:avLst>
          </a:prstGeom>
          <a:solidFill>
            <a:srgbClr val="EE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分销系统编号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8932682" y="2775569"/>
            <a:ext cx="399135" cy="0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7158746" y="3077138"/>
            <a:ext cx="1773936" cy="425744"/>
          </a:xfrm>
          <a:prstGeom prst="roundRect">
            <a:avLst>
              <a:gd name="adj" fmla="val 16666"/>
            </a:avLst>
          </a:prstGeom>
          <a:solidFill>
            <a:srgbClr val="EE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财务系统编号</a:t>
            </a:r>
          </a:p>
        </p:txBody>
      </p:sp>
      <p:cxnSp>
        <p:nvCxnSpPr>
          <p:cNvPr id="85" name="Connector 84"/>
          <p:cNvCxnSpPr/>
          <p:nvPr/>
        </p:nvCxnSpPr>
        <p:spPr>
          <a:xfrm flipV="1">
            <a:off x="8932682" y="2775569"/>
            <a:ext cx="399135" cy="514440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9376166" y="2474000"/>
            <a:ext cx="1516715" cy="603138"/>
          </a:xfrm>
          <a:prstGeom prst="roundRect">
            <a:avLst>
              <a:gd name="adj" fmla="val 14705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对照表</a:t>
            </a:r>
          </a:p>
          <a:p>
            <a:pPr algn="ctr">
              <a:spcBef>
                <a:spcPts val="97"/>
              </a:spcBef>
            </a:pPr>
            <a:r>
              <a:rPr sz="950" b="0">
                <a:solidFill>
                  <a:srgbClr val="E6F6F2"/>
                </a:solidFill>
                <a:latin typeface="微软雅黑"/>
                <a:ea typeface="微软雅黑"/>
              </a:rPr>
              <a:t>老编号 → 新编号</a:t>
            </a:r>
          </a:p>
        </p:txBody>
      </p:sp>
      <p:sp>
        <p:nvSpPr>
          <p:cNvPr id="87" name="Down Arrow 86"/>
          <p:cNvSpPr/>
          <p:nvPr/>
        </p:nvSpPr>
        <p:spPr>
          <a:xfrm>
            <a:off x="10028087" y="3148096"/>
            <a:ext cx="212872" cy="266090"/>
          </a:xfrm>
          <a:prstGeom prst="down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7158746" y="3494013"/>
            <a:ext cx="3734135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统一编号</a:t>
            </a:r>
            <a:r>
              <a:rPr sz="1050" b="0">
                <a:solidFill>
                  <a:srgbClr val="E6F6F2"/>
                </a:solidFill>
                <a:latin typeface="微软雅黑"/>
                <a:ea typeface="微软雅黑"/>
              </a:rPr>
              <a:t>　所有报表、指标、标签只认它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158746" y="4203588"/>
            <a:ext cx="3734135" cy="603138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search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8400" y="4380981"/>
            <a:ext cx="248351" cy="248351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7673187" y="4239066"/>
            <a:ext cx="3113257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先查再建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73187" y="4505157"/>
            <a:ext cx="3113257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新建景区、商品、供应商时先查，有就复用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158746" y="4895423"/>
            <a:ext cx="3734135" cy="603138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Picture 93" descr="history_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8400" y="5072816"/>
            <a:ext cx="248351" cy="248351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7673187" y="4930902"/>
            <a:ext cx="3113257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变更有记录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673187" y="5196992"/>
            <a:ext cx="3113257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改编号要审批，保留历史，旧报表能追溯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③ 数据血缘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每个数从哪来、到哪去，一查就清楚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像家谱一样，从源头一直打通到报表、接口和智能体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26  ·  AI＋数据平台 · 02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154097"/>
            <a:ext cx="1020013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17739" rIns="35478" bIns="17739"/>
          <a:lstStyle/>
          <a:p>
            <a:pPr algn="ctr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业务系统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源头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2040940" y="2446797"/>
            <a:ext cx="177393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244943" y="2154097"/>
            <a:ext cx="1020013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17739" rIns="35478" bIns="17739"/>
          <a:lstStyle/>
          <a:p>
            <a:pPr algn="ctr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原料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刚接进来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291564" y="2446797"/>
            <a:ext cx="177393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495568" y="2154097"/>
            <a:ext cx="1020013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17739" rIns="35478" bIns="17739"/>
          <a:lstStyle/>
          <a:p>
            <a:pPr algn="ctr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洗干净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去掉错的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4542190" y="2446797"/>
            <a:ext cx="177393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746192" y="2154097"/>
            <a:ext cx="1020013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17739" rIns="35478" bIns="17739"/>
          <a:lstStyle/>
          <a:p>
            <a:pPr algn="ctr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汇总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按天按景区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5792815" y="2446797"/>
            <a:ext cx="177393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996817" y="2154097"/>
            <a:ext cx="1020013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17739" rIns="35478" bIns="17739"/>
          <a:lstStyle/>
          <a:p>
            <a:pPr algn="ctr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成品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直接能用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7043440" y="2446797"/>
            <a:ext cx="177393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247442" y="2154097"/>
            <a:ext cx="1020013" cy="753922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17739" rIns="35478" bIns="17739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指标 / 标签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E6F6F2"/>
                </a:solidFill>
                <a:latin typeface="微软雅黑"/>
                <a:ea typeface="微软雅黑"/>
              </a:rPr>
              <a:t>口径认证过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8356152" y="2065401"/>
            <a:ext cx="399134" cy="461223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8799636" y="1888007"/>
            <a:ext cx="2093244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小Q 报表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8356152" y="2508885"/>
            <a:ext cx="399134" cy="17739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8799636" y="2331491"/>
            <a:ext cx="2093244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开放接口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6152" y="2526624"/>
            <a:ext cx="399134" cy="425744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799636" y="2774975"/>
            <a:ext cx="2093244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AI 智能体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94318" y="3129762"/>
            <a:ext cx="9898562" cy="17739"/>
          </a:xfrm>
          <a:prstGeom prst="roundRect">
            <a:avLst>
              <a:gd name="adj" fmla="val 0"/>
            </a:avLst>
          </a:prstGeom>
          <a:solidFill>
            <a:srgbClr val="CD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4318" y="3245068"/>
            <a:ext cx="4434840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家谱的三个用处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94318" y="3661943"/>
            <a:ext cx="3181258" cy="110871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153971" y="3821597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searc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842" y="3932468"/>
            <a:ext cx="221742" cy="221742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703892" y="3821597"/>
            <a:ext cx="233863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查错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89451" y="4353778"/>
            <a:ext cx="2790992" cy="3281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报表数字不对，沿家谱往上查，快速找到出错的那一层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352970" y="3661943"/>
            <a:ext cx="3181258" cy="110871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512624" y="3821597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git-branc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495" y="3932468"/>
            <a:ext cx="221742" cy="22174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5062545" y="3821597"/>
            <a:ext cx="233863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改之前先评估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48103" y="4353778"/>
            <a:ext cx="2790992" cy="3281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改表、改口径前，先查哪些报表、接口受影响，通知负责人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711622" y="3661943"/>
            <a:ext cx="3181258" cy="110871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71276" y="3821597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trash2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2147" y="3932468"/>
            <a:ext cx="221742" cy="221742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8421197" y="3821597"/>
            <a:ext cx="233863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清理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06755" y="4353778"/>
            <a:ext cx="2790992" cy="3281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没有下游、没人访问的表和任务，进入下线清单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4318" y="4948047"/>
            <a:ext cx="4434840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家谱里记三类信息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94318" y="5347182"/>
            <a:ext cx="3181258" cy="665226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3" tIns="26609" bIns="26609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技术信息　</a:t>
            </a: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表结构、字段类型、存储量</a:t>
            </a:r>
          </a:p>
          <a:p>
            <a:pPr algn="l">
              <a:spcBef>
                <a:spcPts val="97"/>
              </a:spcBef>
            </a:pPr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系统自动采集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352970" y="5347182"/>
            <a:ext cx="3181258" cy="665226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3" tIns="26609" bIns="26609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业务信息　</a:t>
            </a: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含义、口径、负责人、安全等级</a:t>
            </a:r>
          </a:p>
          <a:p>
            <a:pPr algn="l">
              <a:spcBef>
                <a:spcPts val="97"/>
              </a:spcBef>
            </a:pPr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开发填写，专员审核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711622" y="5347182"/>
            <a:ext cx="3181258" cy="665226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3" tIns="26609" bIns="26609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运行信息　</a:t>
            </a: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几点产出、跑多久、多少人在用</a:t>
            </a:r>
          </a:p>
          <a:p>
            <a:pPr algn="l">
              <a:spcBef>
                <a:spcPts val="97"/>
              </a:spcBef>
            </a:pPr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系统自动采集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④ 数据质量 · 举例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“核销量”怎么做到各处一致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这是数据治理的样板：核销做通了，同样的方法复制到其他指标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27  ·  AI＋数据平台 · 02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78705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6233" y="2007748"/>
            <a:ext cx="709574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第一步：先把四个容易混的数分开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4318" y="2415753"/>
            <a:ext cx="2142027" cy="691835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21816F"/>
                </a:solidFill>
                <a:latin typeface="微软雅黑"/>
                <a:ea typeface="微软雅黑"/>
              </a:rPr>
              <a:t>核销次数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刷了几次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36346" y="2415753"/>
            <a:ext cx="443484" cy="6918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350" b="1">
                <a:solidFill>
                  <a:srgbClr val="E39A57"/>
                </a:solidFill>
                <a:latin typeface="微软雅黑"/>
                <a:ea typeface="微软雅黑"/>
              </a:rPr>
              <a:t>≠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579830" y="2415753"/>
            <a:ext cx="2142027" cy="691835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21816F"/>
                </a:solidFill>
                <a:latin typeface="微软雅黑"/>
                <a:ea typeface="微软雅黑"/>
              </a:rPr>
              <a:t>有效核销票数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有效的票几张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21858" y="2415753"/>
            <a:ext cx="443484" cy="6918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350" b="1">
                <a:solidFill>
                  <a:srgbClr val="E39A57"/>
                </a:solidFill>
                <a:latin typeface="微软雅黑"/>
                <a:ea typeface="微软雅黑"/>
              </a:rPr>
              <a:t>≠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65342" y="2415753"/>
            <a:ext cx="2142027" cy="691835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21816F"/>
                </a:solidFill>
                <a:latin typeface="微软雅黑"/>
                <a:ea typeface="微软雅黑"/>
              </a:rPr>
              <a:t>入园人次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进了几人次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07369" y="2415753"/>
            <a:ext cx="443484" cy="6918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350" b="1">
                <a:solidFill>
                  <a:srgbClr val="E39A57"/>
                </a:solidFill>
                <a:latin typeface="微软雅黑"/>
                <a:ea typeface="微软雅黑"/>
              </a:rPr>
              <a:t>≠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750853" y="2415753"/>
            <a:ext cx="2142027" cy="691835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21816F"/>
                </a:solidFill>
                <a:latin typeface="微软雅黑"/>
                <a:ea typeface="微软雅黑"/>
              </a:rPr>
              <a:t>去重游客数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实际来了几个人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4318" y="3214024"/>
            <a:ext cx="9898562" cy="390265"/>
          </a:xfrm>
          <a:prstGeom prst="roundRect">
            <a:avLst>
              <a:gd name="adj" fmla="val 18181"/>
            </a:avLst>
          </a:prstGeom>
          <a:solidFill>
            <a:srgbClr val="F7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3" tIns="0" bIns="0"/>
          <a:lstStyle/>
          <a:p>
            <a:pPr algn="l"/>
            <a:r>
              <a:rPr sz="1100" b="1">
                <a:solidFill>
                  <a:srgbClr val="B26A2C"/>
                </a:solidFill>
                <a:latin typeface="微软雅黑"/>
                <a:ea typeface="微软雅黑"/>
              </a:rPr>
              <a:t>比如　</a:t>
            </a: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一位年卡游客一天进出 3 次：核销次数 3，入园人次 3，去重游客数 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4318" y="3852641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36233" y="3781684"/>
            <a:ext cx="7982712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第二步：从现场到报表，每一层按“景区 + 日期”对一次数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94318" y="4189689"/>
            <a:ext cx="1724265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闸机 / 手持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现场记录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2780671" y="4477953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037892" y="4189689"/>
            <a:ext cx="1724265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业务系统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订单与核销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4824246" y="4477953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081466" y="4189689"/>
            <a:ext cx="1724265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仓库明细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洗干净的数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6867819" y="4477953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125040" y="4189689"/>
            <a:ext cx="1724265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仓库汇总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按天按景区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8911394" y="4477953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168615" y="4189689"/>
            <a:ext cx="1724265" cy="753922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报表 / 接口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50" b="0">
                <a:solidFill>
                  <a:srgbClr val="E6F6F2"/>
                </a:solidFill>
                <a:latin typeface="微软雅黑"/>
                <a:ea typeface="微软雅黑"/>
              </a:rPr>
              <a:t>大家看到的数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4318" y="5138745"/>
            <a:ext cx="4860584" cy="753922"/>
          </a:xfrm>
          <a:prstGeom prst="roundRect">
            <a:avLst>
              <a:gd name="adj" fmla="val 11764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1742" tIns="0" bIns="0"/>
          <a:lstStyle/>
          <a:p>
            <a:pPr algn="l"/>
            <a:r>
              <a:rPr sz="1250" b="1">
                <a:solidFill>
                  <a:srgbClr val="B26A2C"/>
                </a:solidFill>
                <a:latin typeface="微软雅黑"/>
                <a:ea typeface="微软雅黑"/>
              </a:rPr>
              <a:t>第三步　</a:t>
            </a:r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对不上就自动报警</a:t>
            </a:r>
          </a:p>
          <a:p>
            <a:pPr algn="l">
              <a:spcBef>
                <a:spcPts val="194"/>
              </a:spcBef>
            </a:pPr>
            <a:r>
              <a:rPr sz="1250" b="0">
                <a:solidFill>
                  <a:srgbClr val="5E7772"/>
                </a:solidFill>
                <a:latin typeface="微软雅黑"/>
                <a:ea typeface="微软雅黑"/>
              </a:rPr>
              <a:t>→ 查原因 → 修复 → 重算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032296" y="5138745"/>
            <a:ext cx="4860584" cy="753922"/>
          </a:xfrm>
          <a:prstGeom prst="roundRect">
            <a:avLst>
              <a:gd name="adj" fmla="val 11764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1742" tIns="0" bIns="0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常见原因</a:t>
            </a:r>
          </a:p>
          <a:p>
            <a:pPr algn="l">
              <a:spcBef>
                <a:spcPts val="194"/>
              </a:spcBef>
            </a:pPr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设备离线补传 · 重复上报 · 撤销冲正 · 时间口径混用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053587" y="104775"/>
            <a:ext cx="4084519" cy="562935"/>
            <a:chOff x="1778000" y="2361285"/>
            <a:chExt cx="4084519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4084519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991335" cy="461665"/>
              <a:chOff x="1249621" y="2030985"/>
              <a:chExt cx="2991335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275210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⑦⑧ 资产运营与数据分发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定期盘点，统一出口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没人用的数据按步骤下线，省存储和计算；所有数据只从一个“窗口”出去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28  ·  AI＋数据平台 · 02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98878"/>
            <a:ext cx="4833975" cy="3902659"/>
          </a:xfrm>
          <a:prstGeom prst="roundRect">
            <a:avLst>
              <a:gd name="adj" fmla="val 318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archive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060" y="2140793"/>
            <a:ext cx="337047" cy="33704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659544" y="2105314"/>
            <a:ext cx="4035704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⑦ 资产运营：定期盘点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060" y="2602016"/>
            <a:ext cx="447918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每月打“健康分”，按负责人公示排名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16060" y="2956803"/>
            <a:ext cx="56716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规范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89663" y="2956803"/>
            <a:ext cx="56716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质量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563266" y="2956803"/>
            <a:ext cx="56716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安全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36869" y="2956803"/>
            <a:ext cx="56716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使用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910472" y="2956803"/>
            <a:ext cx="56716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成本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060" y="3444636"/>
            <a:ext cx="447918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没人用的，按步骤下线</a:t>
            </a:r>
          </a:p>
        </p:txBody>
      </p:sp>
      <p:sp>
        <p:nvSpPr>
          <p:cNvPr id="54" name="Oval 53"/>
          <p:cNvSpPr/>
          <p:nvPr/>
        </p:nvSpPr>
        <p:spPr>
          <a:xfrm>
            <a:off x="1216060" y="3834902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216060" y="3834902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59544" y="3799423"/>
            <a:ext cx="70957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发现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24769" y="3799423"/>
            <a:ext cx="3326129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90 天没人访问 · 没下游 · 重复 · 临时表</a:t>
            </a:r>
          </a:p>
        </p:txBody>
      </p:sp>
      <p:sp>
        <p:nvSpPr>
          <p:cNvPr id="58" name="Oval 57"/>
          <p:cNvSpPr/>
          <p:nvPr/>
        </p:nvSpPr>
        <p:spPr>
          <a:xfrm>
            <a:off x="1216060" y="4331604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216060" y="4331604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59544" y="4296125"/>
            <a:ext cx="70957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通知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24769" y="4296125"/>
            <a:ext cx="3326129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负责人确认</a:t>
            </a:r>
          </a:p>
        </p:txBody>
      </p:sp>
      <p:sp>
        <p:nvSpPr>
          <p:cNvPr id="62" name="Oval 61"/>
          <p:cNvSpPr/>
          <p:nvPr/>
        </p:nvSpPr>
        <p:spPr>
          <a:xfrm>
            <a:off x="1216060" y="4828306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216060" y="4828306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659544" y="4792827"/>
            <a:ext cx="70957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先停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24769" y="4792827"/>
            <a:ext cx="3326129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停调度或改只读，观察 30 天</a:t>
            </a:r>
          </a:p>
        </p:txBody>
      </p:sp>
      <p:sp>
        <p:nvSpPr>
          <p:cNvPr id="66" name="Oval 65"/>
          <p:cNvSpPr/>
          <p:nvPr/>
        </p:nvSpPr>
        <p:spPr>
          <a:xfrm>
            <a:off x="1216060" y="5325008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16060" y="5325008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659544" y="5289529"/>
            <a:ext cx="70957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删除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24769" y="5289529"/>
            <a:ext cx="3326129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没人反馈再删；有人反馈就恢复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058905" y="1998878"/>
            <a:ext cx="4833975" cy="3902659"/>
          </a:xfrm>
          <a:prstGeom prst="roundRect">
            <a:avLst>
              <a:gd name="adj" fmla="val 3181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send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647" y="2140793"/>
            <a:ext cx="337047" cy="337047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724131" y="2105314"/>
            <a:ext cx="4035704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⑧ 数据分发：统一出口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80647" y="2602016"/>
            <a:ext cx="447918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不再点对点导数、私接数据库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280647" y="3001152"/>
            <a:ext cx="1197406" cy="496702"/>
          </a:xfrm>
          <a:prstGeom prst="roundRect">
            <a:avLst>
              <a:gd name="adj" fmla="val 14285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认证指标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7478053" y="3249503"/>
            <a:ext cx="266091" cy="310438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6280647" y="3622029"/>
            <a:ext cx="1197406" cy="496702"/>
          </a:xfrm>
          <a:prstGeom prst="roundRect">
            <a:avLst>
              <a:gd name="adj" fmla="val 14285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统一标签</a:t>
            </a:r>
          </a:p>
        </p:txBody>
      </p:sp>
      <p:cxnSp>
        <p:nvCxnSpPr>
          <p:cNvPr id="77" name="Connector 76"/>
          <p:cNvCxnSpPr/>
          <p:nvPr/>
        </p:nvCxnSpPr>
        <p:spPr>
          <a:xfrm flipV="1">
            <a:off x="7478053" y="3559942"/>
            <a:ext cx="266091" cy="310438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7788492" y="3001152"/>
            <a:ext cx="1818283" cy="1117579"/>
          </a:xfrm>
          <a:prstGeom prst="roundRect">
            <a:avLst>
              <a:gd name="adj" fmla="val 952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788492" y="3045500"/>
            <a:ext cx="1818283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数据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开放平台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77189" y="3595420"/>
            <a:ext cx="1640890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E6F6F2"/>
                </a:solidFill>
                <a:latin typeface="微软雅黑"/>
                <a:ea typeface="微软雅黑"/>
              </a:rPr>
              <a:t>统一鉴权 · 按景区隔离</a:t>
            </a: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E6F6F2"/>
                </a:solidFill>
                <a:latin typeface="微软雅黑"/>
                <a:ea typeface="微软雅黑"/>
              </a:rPr>
              <a:t>调用计量 · 全程监控</a:t>
            </a:r>
          </a:p>
        </p:txBody>
      </p:sp>
      <p:cxnSp>
        <p:nvCxnSpPr>
          <p:cNvPr id="81" name="Connector 80"/>
          <p:cNvCxnSpPr/>
          <p:nvPr/>
        </p:nvCxnSpPr>
        <p:spPr>
          <a:xfrm flipV="1">
            <a:off x="9606777" y="3098718"/>
            <a:ext cx="221742" cy="461223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9828519" y="2974543"/>
            <a:ext cx="8869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景区看板</a:t>
            </a:r>
          </a:p>
        </p:txBody>
      </p:sp>
      <p:cxnSp>
        <p:nvCxnSpPr>
          <p:cNvPr id="83" name="Connector 82"/>
          <p:cNvCxnSpPr/>
          <p:nvPr/>
        </p:nvCxnSpPr>
        <p:spPr>
          <a:xfrm flipV="1">
            <a:off x="9606777" y="3400287"/>
            <a:ext cx="221742" cy="159654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9828519" y="3276112"/>
            <a:ext cx="8869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营销圈人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9606777" y="3559942"/>
            <a:ext cx="221742" cy="141914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9828519" y="3577681"/>
            <a:ext cx="8869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合作伙伴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9606777" y="3559942"/>
            <a:ext cx="221742" cy="443484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87"/>
          <p:cNvSpPr/>
          <p:nvPr/>
        </p:nvSpPr>
        <p:spPr>
          <a:xfrm>
            <a:off x="9828519" y="3879250"/>
            <a:ext cx="8869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AI 智能体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236299" y="4375952"/>
            <a:ext cx="4479188" cy="425744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69343" y="4375952"/>
            <a:ext cx="1685239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只查指标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010234" y="4375952"/>
            <a:ext cx="2616555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经营看板：销售额、核销量、入园人次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236299" y="4872653"/>
            <a:ext cx="4479188" cy="425744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369343" y="4872653"/>
            <a:ext cx="1685239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指标 + 标签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010234" y="4872653"/>
            <a:ext cx="2616555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按会员等级看复购率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236299" y="5369356"/>
            <a:ext cx="4479188" cy="425744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69343" y="5369356"/>
            <a:ext cx="1685239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标签圈人 + 指标看效果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010234" y="5369356"/>
            <a:ext cx="2616555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圈出近 90 天没复购的年卡用户，推活动后看转化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数据归属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每条业务线、每一块数据都有人负责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一份全公司数据表清单，写清楚归哪条业务线、谁负责；出了问题，马上能对应到人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29  ·  AI＋数据平台 · 02  数据平台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318" y="1954530"/>
            <a:ext cx="3414826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CAB93"/>
                </a:solidFill>
                <a:latin typeface="微软雅黑"/>
                <a:ea typeface="微软雅黑"/>
              </a:rPr>
              <a:t>四步把责任落到人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4318" y="2353665"/>
            <a:ext cx="3414826" cy="638616"/>
          </a:xfrm>
          <a:prstGeom prst="roundRect">
            <a:avLst>
              <a:gd name="adj" fmla="val 1388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486710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27363" y="2486710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15196" y="2389144"/>
            <a:ext cx="2705252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出一份清单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15196" y="2681843"/>
            <a:ext cx="270525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全公司所有数据表，一张不落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4318" y="2965673"/>
            <a:ext cx="3414826" cy="17739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>
                <a:solidFill>
                  <a:srgbClr val="2CAB93"/>
                </a:solidFill>
                <a:latin typeface="微软雅黑"/>
                <a:ea typeface="微软雅黑"/>
              </a:rPr>
              <a:t>▼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4318" y="3116458"/>
            <a:ext cx="3414826" cy="638616"/>
          </a:xfrm>
          <a:prstGeom prst="roundRect">
            <a:avLst>
              <a:gd name="adj" fmla="val 1388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27363" y="3249503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27363" y="3249503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15196" y="3151936"/>
            <a:ext cx="2705252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每张表标清楚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15196" y="3444635"/>
            <a:ext cx="270525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归哪条业务线、谁负责、敏感等级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4318" y="3728466"/>
            <a:ext cx="3414826" cy="17739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>
                <a:solidFill>
                  <a:srgbClr val="2CAB93"/>
                </a:solidFill>
                <a:latin typeface="微软雅黑"/>
                <a:ea typeface="微软雅黑"/>
              </a:rPr>
              <a:t>▼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94318" y="3879250"/>
            <a:ext cx="3414826" cy="638616"/>
          </a:xfrm>
          <a:prstGeom prst="roundRect">
            <a:avLst>
              <a:gd name="adj" fmla="val 1388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127363" y="4012295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27363" y="4012295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15196" y="3914729"/>
            <a:ext cx="2705252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业务线认领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15196" y="4207428"/>
            <a:ext cx="270525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各线接口人认领、确认口径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4318" y="4491258"/>
            <a:ext cx="3414826" cy="17739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>
                <a:solidFill>
                  <a:srgbClr val="2CAB93"/>
                </a:solidFill>
                <a:latin typeface="微软雅黑"/>
                <a:ea typeface="微软雅黑"/>
              </a:rPr>
              <a:t>▼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94318" y="4642043"/>
            <a:ext cx="3414826" cy="638616"/>
          </a:xfrm>
          <a:prstGeom prst="roundRect">
            <a:avLst>
              <a:gd name="adj" fmla="val 13888"/>
            </a:avLst>
          </a:prstGeom>
          <a:solidFill>
            <a:srgbClr val="FCF1E6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127363" y="4775088"/>
            <a:ext cx="372526" cy="372526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27363" y="4775088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15196" y="4677521"/>
            <a:ext cx="2705252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出问题找得到人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15196" y="4970221"/>
            <a:ext cx="270525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按清单马上对应到负责人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675235" y="2016617"/>
            <a:ext cx="6217645" cy="372526"/>
          </a:xfrm>
          <a:prstGeom prst="roundRect">
            <a:avLst>
              <a:gd name="adj" fmla="val 19047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08280" y="2016617"/>
            <a:ext cx="1093365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数据域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79040" y="2016617"/>
            <a:ext cx="1411055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来自哪个系统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67489" y="2016617"/>
            <a:ext cx="1093365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归属业务线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38249" y="2016617"/>
            <a:ext cx="1910282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主要管什么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675235" y="2424623"/>
            <a:ext cx="6217645" cy="381396"/>
          </a:xfrm>
          <a:prstGeom prst="roundRect">
            <a:avLst>
              <a:gd name="adj" fmla="val 1395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808280" y="2424623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交易订单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79040" y="2424623"/>
            <a:ext cx="1393315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票务 SaaS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67489" y="2424623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票务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38249" y="2424623"/>
            <a:ext cx="1892542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订单口径、退改规则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675235" y="2841498"/>
            <a:ext cx="6217645" cy="381396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08280" y="2841498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核销入园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79040" y="2841498"/>
            <a:ext cx="1393315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闸机 · 终端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67489" y="2841498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运营服务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38249" y="2841498"/>
            <a:ext cx="1892542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核销口径、入园记录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675235" y="3258371"/>
            <a:ext cx="6217645" cy="381396"/>
          </a:xfrm>
          <a:prstGeom prst="roundRect">
            <a:avLst>
              <a:gd name="adj" fmla="val 1395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808280" y="3258371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渠道分销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79040" y="3258371"/>
            <a:ext cx="1393315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分销系统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67489" y="3258371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渠道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38249" y="3258371"/>
            <a:ext cx="1892542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渠道、旅行社编号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675235" y="3675246"/>
            <a:ext cx="6217645" cy="381396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808280" y="3675246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业态消费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79040" y="3675246"/>
            <a:ext cx="1393315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九大业态系统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67489" y="3675246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业态运营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38249" y="3675246"/>
            <a:ext cx="1892542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各业态订单与消费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675235" y="4092121"/>
            <a:ext cx="6217645" cy="381396"/>
          </a:xfrm>
          <a:prstGeom prst="roundRect">
            <a:avLst>
              <a:gd name="adj" fmla="val 1395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808280" y="4092121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结算财务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079040" y="4092121"/>
            <a:ext cx="1393315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财务 · ERP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667489" y="4092121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财务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38249" y="4092121"/>
            <a:ext cx="1892542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结算、对账、发票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675235" y="4508996"/>
            <a:ext cx="6217645" cy="381396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808280" y="4508996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会员营销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079040" y="4508996"/>
            <a:ext cx="1393315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会员营销系统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667489" y="4508996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营销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38249" y="4508996"/>
            <a:ext cx="1892542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会员、积分、活动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675235" y="4925871"/>
            <a:ext cx="6217645" cy="381396"/>
          </a:xfrm>
          <a:prstGeom prst="roundRect">
            <a:avLst>
              <a:gd name="adj" fmla="val 1395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808280" y="4925871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公司经营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079040" y="4925871"/>
            <a:ext cx="1393315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CRM · 飞书 · 人事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667489" y="4925871"/>
            <a:ext cx="1075626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各职能部门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38249" y="4925871"/>
            <a:ext cx="1892542" cy="381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客户、人员、合同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94318" y="5458053"/>
            <a:ext cx="9898562" cy="487832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9" name="Picture 108" descr="user-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451" y="5568924"/>
            <a:ext cx="266090" cy="266090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1570847" y="5458053"/>
            <a:ext cx="9144640" cy="4878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结果　</a:t>
            </a:r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从数据模型设计开始就对应到开发和负责人；口径有争议，由治理小组拍板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治理怎么保证落实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写进流程、有人负责、有考核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不另起流程、不搞运动；先治“订单 → 核销 → 结算”主线，做通再推广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30  ·  AI＋数据平台 · 02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883572"/>
            <a:ext cx="3151692" cy="3547872"/>
          </a:xfrm>
          <a:prstGeom prst="roundRect">
            <a:avLst>
              <a:gd name="adj" fmla="val 393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94318" y="1883572"/>
            <a:ext cx="3151692" cy="709574"/>
          </a:xfrm>
          <a:prstGeom prst="roundRect">
            <a:avLst>
              <a:gd name="adj" fmla="val 175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94318" y="2398014"/>
            <a:ext cx="3151692" cy="195132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workflow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060" y="2043226"/>
            <a:ext cx="372526" cy="37252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748240" y="1883572"/>
            <a:ext cx="2264724" cy="7095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  <a:ea typeface="微软雅黑"/>
              </a:rPr>
              <a:t>写进流程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53971" y="2708452"/>
            <a:ext cx="2832384" cy="798271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78148" y="2743931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事前 · 定规范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78148" y="3001152"/>
            <a:ext cx="2619512" cy="47009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需求确认口径；设计做模型评审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53971" y="3595420"/>
            <a:ext cx="2832384" cy="798271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78148" y="3630899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事中 · 设卡点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78148" y="3888120"/>
            <a:ext cx="2619512" cy="47009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发布自动检查；运行不合格就拦住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53971" y="4482388"/>
            <a:ext cx="2832384" cy="798271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78148" y="4517867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事后 · 做治理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78148" y="4775088"/>
            <a:ext cx="2619512" cy="47009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健康分、整改、复盘补规则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67753" y="1883572"/>
            <a:ext cx="3151692" cy="3547872"/>
          </a:xfrm>
          <a:prstGeom prst="roundRect">
            <a:avLst>
              <a:gd name="adj" fmla="val 393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367753" y="1883572"/>
            <a:ext cx="3151692" cy="709574"/>
          </a:xfrm>
          <a:prstGeom prst="roundRect">
            <a:avLst>
              <a:gd name="adj" fmla="val 175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367753" y="2398014"/>
            <a:ext cx="3151692" cy="195132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us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495" y="2043226"/>
            <a:ext cx="372526" cy="372526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121676" y="1883572"/>
            <a:ext cx="2264724" cy="7095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  <a:ea typeface="微软雅黑"/>
              </a:rPr>
              <a:t>有人负责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27407" y="2708452"/>
            <a:ext cx="2832384" cy="576529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51583" y="2743931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数据治理小组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51583" y="3001152"/>
            <a:ext cx="2619512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拍板口径争议、审批规范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527407" y="3373678"/>
            <a:ext cx="2832384" cy="576529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51583" y="3409157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数据负责人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651583" y="3666378"/>
            <a:ext cx="2619512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定方案、跨部门协调、对健康分负责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27407" y="4038904"/>
            <a:ext cx="2832384" cy="576529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51583" y="4074383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业务数据专员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51583" y="4331604"/>
            <a:ext cx="2619512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每个业务线一名，确认口径、验收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27407" y="4704130"/>
            <a:ext cx="2832384" cy="576529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51583" y="4739609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治理专员 / 开发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51583" y="4996830"/>
            <a:ext cx="2619512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维护标准规则；模型落地、问题修复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741188" y="1883572"/>
            <a:ext cx="3151692" cy="3547872"/>
          </a:xfrm>
          <a:prstGeom prst="roundRect">
            <a:avLst>
              <a:gd name="adj" fmla="val 393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741188" y="1883572"/>
            <a:ext cx="3151692" cy="709574"/>
          </a:xfrm>
          <a:prstGeom prst="roundRect">
            <a:avLst>
              <a:gd name="adj" fmla="val 175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7741188" y="2398014"/>
            <a:ext cx="3151692" cy="195132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gaug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930" y="2043226"/>
            <a:ext cx="372526" cy="372526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8495111" y="1883572"/>
            <a:ext cx="2264724" cy="7095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  <a:ea typeface="微软雅黑"/>
              </a:rPr>
              <a:t>有考核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900841" y="2708452"/>
            <a:ext cx="2832384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025018" y="2743931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节奏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25018" y="3001152"/>
            <a:ext cx="2619512" cy="11530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两周口径评审 · 每月健康分公示 · 季度复盘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900841" y="3240632"/>
            <a:ext cx="2832384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025018" y="3240632"/>
            <a:ext cx="173254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新表规范符合率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695474" y="3240632"/>
            <a:ext cx="93131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650" b="1">
                <a:solidFill>
                  <a:srgbClr val="21816F"/>
                </a:solidFill>
                <a:latin typeface="微软雅黑"/>
                <a:ea typeface="微软雅黑"/>
              </a:rPr>
              <a:t>100%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900841" y="3772814"/>
            <a:ext cx="2832384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025018" y="3772814"/>
            <a:ext cx="173254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核心报表按时产出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695474" y="3772814"/>
            <a:ext cx="93131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650" b="1">
                <a:solidFill>
                  <a:srgbClr val="21816F"/>
                </a:solidFill>
                <a:latin typeface="微软雅黑"/>
                <a:ea typeface="微软雅黑"/>
              </a:rPr>
              <a:t>≥ 99%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900841" y="4304995"/>
            <a:ext cx="2832384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025018" y="4304995"/>
            <a:ext cx="173254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老板看板认证指标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95474" y="4304995"/>
            <a:ext cx="93131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650" b="1">
                <a:solidFill>
                  <a:srgbClr val="21816F"/>
                </a:solidFill>
                <a:latin typeface="微软雅黑"/>
                <a:ea typeface="微软雅黑"/>
              </a:rPr>
              <a:t>100%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900841" y="4837175"/>
            <a:ext cx="2832384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025018" y="4837175"/>
            <a:ext cx="173254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核销量各出口差异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695474" y="4837175"/>
            <a:ext cx="93131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650" b="1">
                <a:solidFill>
                  <a:srgbClr val="21816F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94318" y="5573359"/>
            <a:ext cx="9898562" cy="443484"/>
          </a:xfrm>
          <a:prstGeom prst="roundRect">
            <a:avLst>
              <a:gd name="adj" fmla="val 2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target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5662056"/>
            <a:ext cx="266090" cy="26609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1570847" y="5573359"/>
            <a:ext cx="9144640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原则　</a:t>
            </a:r>
            <a:r>
              <a:rPr sz="1200" b="0">
                <a:solidFill>
                  <a:srgbClr val="1F3A35"/>
                </a:solidFill>
                <a:latin typeface="微软雅黑"/>
                <a:ea typeface="微软雅黑"/>
              </a:rPr>
              <a:t>先测基线再定目标；看实际使用和业务结果，不看上了多少看板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建成后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形成“六个统一”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每一项都能对比“以前”和“以后”，也都有考核指标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31  ·  AI＋数据平台 · 02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81139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71711" y="2114184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book-ope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148" y="2220620"/>
            <a:ext cx="212872" cy="21287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03892" y="2114184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统一规范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71711" y="2646365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9DB5AF"/>
                </a:solidFill>
                <a:latin typeface="微软雅黑"/>
                <a:ea typeface="微软雅黑"/>
              </a:rPr>
              <a:t>以前　</a:t>
            </a: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规范只写在文档里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71711" y="3045500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DDF1EC"/>
                </a:solidFill>
                <a:latin typeface="微软雅黑"/>
                <a:ea typeface="微软雅黑"/>
              </a:rPr>
              <a:t>以后　</a:t>
            </a: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不合规的表发不出去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52970" y="1981139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530364" y="2114184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databas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800" y="2220620"/>
            <a:ext cx="212872" cy="21287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062545" y="2114184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统一底座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30364" y="2646365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9DB5AF"/>
                </a:solidFill>
                <a:latin typeface="微软雅黑"/>
                <a:ea typeface="微软雅黑"/>
              </a:rPr>
              <a:t>以前　</a:t>
            </a: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订单、核销第二天才看到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30364" y="3045500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DDF1EC"/>
                </a:solidFill>
                <a:latin typeface="微软雅黑"/>
                <a:ea typeface="微软雅黑"/>
              </a:rPr>
              <a:t>以后　</a:t>
            </a: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分钟级看到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11622" y="1981139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889015" y="2114184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cal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5451" y="2220620"/>
            <a:ext cx="212872" cy="21287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421197" y="2114184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统一标签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889015" y="2646365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9DB5AF"/>
                </a:solidFill>
                <a:latin typeface="微软雅黑"/>
                <a:ea typeface="微软雅黑"/>
              </a:rPr>
              <a:t>以前　</a:t>
            </a: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报表、接口、AI 各说各的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889015" y="3045500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DDF1EC"/>
                </a:solidFill>
                <a:latin typeface="微软雅黑"/>
                <a:ea typeface="微软雅黑"/>
              </a:rPr>
              <a:t>以后　</a:t>
            </a: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三处数字一致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94318" y="3684117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71711" y="3817162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lo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8148" y="3923598"/>
            <a:ext cx="212872" cy="21287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703892" y="3817162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统一权限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171711" y="4349343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9DB5AF"/>
                </a:solidFill>
                <a:latin typeface="微软雅黑"/>
                <a:ea typeface="微软雅黑"/>
              </a:rPr>
              <a:t>以前　</a:t>
            </a: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各系统各管各的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171711" y="4748479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DDF1EC"/>
                </a:solidFill>
                <a:latin typeface="微软雅黑"/>
                <a:ea typeface="微软雅黑"/>
              </a:rPr>
              <a:t>以后　</a:t>
            </a: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一套规则管住所有出口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352970" y="3684117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530364" y="3817162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user-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6800" y="3923598"/>
            <a:ext cx="212872" cy="21287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5062545" y="3817162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标签复用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30364" y="4349343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9DB5AF"/>
                </a:solidFill>
                <a:latin typeface="微软雅黑"/>
                <a:ea typeface="微软雅黑"/>
              </a:rPr>
              <a:t>以前　</a:t>
            </a: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各部门各做一套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30364" y="4748479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DDF1EC"/>
                </a:solidFill>
                <a:latin typeface="微软雅黑"/>
                <a:ea typeface="微软雅黑"/>
              </a:rPr>
              <a:t>以后　</a:t>
            </a: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一个游客一个身份，到处能用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711622" y="3684117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889015" y="3817162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chart-colum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5451" y="3923598"/>
            <a:ext cx="212872" cy="21287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421197" y="3817162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即席自助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889015" y="4349343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9DB5AF"/>
                </a:solidFill>
                <a:latin typeface="微软雅黑"/>
                <a:ea typeface="微软雅黑"/>
              </a:rPr>
              <a:t>以前　</a:t>
            </a: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找数据团队要数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889015" y="4748479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DDF1EC"/>
                </a:solidFill>
                <a:latin typeface="微软雅黑"/>
                <a:ea typeface="微软雅黑"/>
              </a:rPr>
              <a:t>以后　</a:t>
            </a: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业务自己查、自己看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94318" y="5431444"/>
            <a:ext cx="9898562" cy="487832"/>
          </a:xfrm>
          <a:prstGeom prst="roundRect">
            <a:avLst>
              <a:gd name="adj" fmla="val 18181"/>
            </a:avLst>
          </a:prstGeom>
          <a:solidFill>
            <a:srgbClr val="EFF8F6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1742" tIns="0" bIns="0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怎么推　</a:t>
            </a:r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先在“订单 → 核销 → 结算”试点；老报表先并行对比，没问题再切换，随时可退回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统一标签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一个口径，报表、接口、AI 三处一致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指标 = 数一数（卖了多少、来了多少）；标签 = 贴个签（年卡用户、喜欢夜游）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32  ·  AI＋数据平台 · 02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874702"/>
            <a:ext cx="5809640" cy="1729587"/>
          </a:xfrm>
          <a:prstGeom prst="roundRect">
            <a:avLst>
              <a:gd name="adj" fmla="val 615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scale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711" y="1963399"/>
            <a:ext cx="266090" cy="26609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26498" y="1927920"/>
            <a:ext cx="5454852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1816F"/>
                </a:solidFill>
                <a:latin typeface="微软雅黑"/>
                <a:ea typeface="微软雅黑"/>
              </a:rPr>
              <a:t>① 口径说清楚：一个指标拆成四件事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71711" y="2318186"/>
            <a:ext cx="1243971" cy="5499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算什么</a:t>
            </a:r>
          </a:p>
          <a:p>
            <a:pPr algn="ctr">
              <a:spcBef>
                <a:spcPts val="97"/>
              </a:spcBef>
            </a:pPr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支付金额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15684" y="2318186"/>
            <a:ext cx="159654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+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575338" y="2318186"/>
            <a:ext cx="1243971" cy="5499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加条件</a:t>
            </a:r>
          </a:p>
          <a:p>
            <a:pPr algn="ctr">
              <a:spcBef>
                <a:spcPts val="97"/>
              </a:spcBef>
            </a:pPr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线上成人票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19310" y="2318186"/>
            <a:ext cx="159654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+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978964" y="2318186"/>
            <a:ext cx="1243971" cy="5499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什么时间</a:t>
            </a:r>
          </a:p>
          <a:p>
            <a:pPr algn="ctr">
              <a:spcBef>
                <a:spcPts val="97"/>
              </a:spcBef>
            </a:pPr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近 7 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22937" y="2318186"/>
            <a:ext cx="159654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+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82592" y="2318186"/>
            <a:ext cx="1243971" cy="5499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按什么看</a:t>
            </a:r>
          </a:p>
          <a:p>
            <a:pPr algn="ctr">
              <a:spcBef>
                <a:spcPts val="97"/>
              </a:spcBef>
            </a:pPr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按景区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71711" y="2992282"/>
            <a:ext cx="5454852" cy="443484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= 近 7 天线上渠道成人票支付金额（按景区）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025700" y="1874702"/>
            <a:ext cx="3867180" cy="1729587"/>
          </a:xfrm>
          <a:prstGeom prst="roundRect">
            <a:avLst>
              <a:gd name="adj" fmla="val 615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badg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3094" y="1963399"/>
            <a:ext cx="266090" cy="26609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557880" y="1927920"/>
            <a:ext cx="3512393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1816F"/>
                </a:solidFill>
                <a:latin typeface="微软雅黑"/>
                <a:ea typeface="微软雅黑"/>
              </a:rPr>
              <a:t>新指标四步认证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203094" y="2318186"/>
            <a:ext cx="731748" cy="585398"/>
          </a:xfrm>
          <a:prstGeom prst="roundRect">
            <a:avLst>
              <a:gd name="adj" fmla="val 15151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起草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数据团队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7934843" y="2522189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129976" y="2318186"/>
            <a:ext cx="731748" cy="585398"/>
          </a:xfrm>
          <a:prstGeom prst="roundRect">
            <a:avLst>
              <a:gd name="adj" fmla="val 15151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确认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业务负责人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8861724" y="2522189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056857" y="2318186"/>
            <a:ext cx="731748" cy="585398"/>
          </a:xfrm>
          <a:prstGeom prst="roundRect">
            <a:avLst>
              <a:gd name="adj" fmla="val 15151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拍板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治理小组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9788606" y="2522189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983739" y="2318186"/>
            <a:ext cx="731748" cy="585398"/>
          </a:xfrm>
          <a:prstGeom prst="roundRect">
            <a:avLst>
              <a:gd name="adj" fmla="val 1515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发布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850" b="0">
                <a:solidFill>
                  <a:srgbClr val="E6F6F2"/>
                </a:solidFill>
                <a:latin typeface="微软雅黑"/>
                <a:ea typeface="微软雅黑"/>
              </a:rPr>
              <a:t>记录版本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03094" y="2992282"/>
            <a:ext cx="351239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26A2C"/>
                </a:solidFill>
                <a:latin typeface="微软雅黑"/>
                <a:ea typeface="微软雅黑"/>
              </a:rPr>
              <a:t>认证过的才能进老板看板、接口和 AI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4318" y="3763944"/>
            <a:ext cx="5321808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1816F"/>
                </a:solidFill>
                <a:latin typeface="微软雅黑"/>
                <a:ea typeface="微软雅黑"/>
              </a:rPr>
              <a:t>② 两级体系：集团出标准，景区可以自己加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94318" y="4136471"/>
            <a:ext cx="2793949" cy="1108710"/>
          </a:xfrm>
          <a:prstGeom prst="roundRect">
            <a:avLst>
              <a:gd name="adj" fmla="val 96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71711" y="4207428"/>
            <a:ext cx="2527858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企业标准指标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71711" y="4562215"/>
            <a:ext cx="2527858" cy="6208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统一定义 · 版本管理 · 业务认证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全公司一个口径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010009" y="4136471"/>
            <a:ext cx="2793949" cy="110871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A9DD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87403" y="4207428"/>
            <a:ext cx="2527858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景区自定义空间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87403" y="4562215"/>
            <a:ext cx="2527858" cy="6208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景区 A / B / C 相互隔离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不能同名覆盖企业标准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167390" y="5289529"/>
            <a:ext cx="1463497" cy="248351"/>
          </a:xfrm>
          <a:prstGeom prst="roundRect">
            <a:avLst>
              <a:gd name="adj" fmla="val 50000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B26A2C"/>
                </a:solidFill>
                <a:latin typeface="微软雅黑"/>
                <a:ea typeface="微软雅黑"/>
              </a:rPr>
              <a:t>← 好用的沉淀为标准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25700" y="3763944"/>
            <a:ext cx="3867180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1816F"/>
                </a:solidFill>
                <a:latin typeface="微软雅黑"/>
                <a:ea typeface="微软雅黑"/>
              </a:rPr>
              <a:t>③ 同一个出口，三处数字一致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025700" y="4136471"/>
            <a:ext cx="1729587" cy="31930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chart-column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396" y="4189689"/>
            <a:ext cx="212872" cy="21287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7398227" y="4136471"/>
            <a:ext cx="133045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小Q 报表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8755287" y="4296125"/>
            <a:ext cx="310439" cy="390265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7025700" y="4508997"/>
            <a:ext cx="1729587" cy="31930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plug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396" y="4562214"/>
            <a:ext cx="212872" cy="212872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7398227" y="4508997"/>
            <a:ext cx="133045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开放 API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8755287" y="4668652"/>
            <a:ext cx="310439" cy="17739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7025700" y="4881524"/>
            <a:ext cx="1729587" cy="31930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bot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4396" y="4934741"/>
            <a:ext cx="212872" cy="212872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7398227" y="4881524"/>
            <a:ext cx="133045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AI 问数</a:t>
            </a:r>
          </a:p>
        </p:txBody>
      </p:sp>
      <p:cxnSp>
        <p:nvCxnSpPr>
          <p:cNvPr id="86" name="Connector 85"/>
          <p:cNvCxnSpPr/>
          <p:nvPr/>
        </p:nvCxnSpPr>
        <p:spPr>
          <a:xfrm flipV="1">
            <a:off x="8755287" y="4686391"/>
            <a:ext cx="310439" cy="354787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9110075" y="4296125"/>
            <a:ext cx="1782805" cy="798271"/>
          </a:xfrm>
          <a:prstGeom prst="roundRect">
            <a:avLst>
              <a:gd name="adj" fmla="val 1111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三处数字一致</a:t>
            </a:r>
          </a:p>
          <a:p>
            <a:pPr algn="ctr">
              <a:spcBef>
                <a:spcPts val="97"/>
              </a:spcBef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开会不用先对数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94318" y="5653186"/>
            <a:ext cx="9898562" cy="372526"/>
          </a:xfrm>
          <a:prstGeom prst="roundRect">
            <a:avLst>
              <a:gd name="adj" fmla="val 2380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target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9451" y="5706404"/>
            <a:ext cx="266090" cy="26609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1570847" y="5653186"/>
            <a:ext cx="914464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衡量　</a:t>
            </a: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认证指标覆盖率；老板看板认证指标 100%；核销量各出口 0 差异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统一权限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数据分级，谁能看什么一套规则管到底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越敏感管得越严；谁的数据只服务谁；所有出口用同一套规则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33  ·  AI＋数据平台 · 02  数据平台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318" y="1901311"/>
            <a:ext cx="3680917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1816F"/>
                </a:solidFill>
                <a:latin typeface="微软雅黑"/>
                <a:ea typeface="微软雅黑"/>
              </a:rPr>
              <a:t>先分级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4318" y="2256099"/>
            <a:ext cx="753922" cy="514441"/>
          </a:xfrm>
          <a:prstGeom prst="roundRect">
            <a:avLst>
              <a:gd name="adj" fmla="val 13793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高敏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10329" y="2256099"/>
            <a:ext cx="2864906" cy="514441"/>
          </a:xfrm>
          <a:prstGeom prst="roundRect">
            <a:avLst>
              <a:gd name="adj" fmla="val 1379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25634" y="2256099"/>
            <a:ext cx="2705252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手机号、证件号、人脸</a:t>
            </a:r>
          </a:p>
          <a:p>
            <a:pPr algn="l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加密打码，明文不进大模型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4318" y="2841498"/>
            <a:ext cx="753922" cy="514441"/>
          </a:xfrm>
          <a:prstGeom prst="roundRect">
            <a:avLst>
              <a:gd name="adj" fmla="val 13793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敏感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10329" y="2841498"/>
            <a:ext cx="2864906" cy="514441"/>
          </a:xfrm>
          <a:prstGeom prst="roundRect">
            <a:avLst>
              <a:gd name="adj" fmla="val 1379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25634" y="2841498"/>
            <a:ext cx="2705252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单景区经营、价格、结算</a:t>
            </a:r>
          </a:p>
          <a:p>
            <a:pPr algn="l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按景区 / 供应商隔离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4318" y="3426896"/>
            <a:ext cx="753922" cy="514441"/>
          </a:xfrm>
          <a:prstGeom prst="roundRect">
            <a:avLst>
              <a:gd name="adj" fmla="val 13793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内部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810329" y="3426896"/>
            <a:ext cx="2864906" cy="514441"/>
          </a:xfrm>
          <a:prstGeom prst="roundRect">
            <a:avLst>
              <a:gd name="adj" fmla="val 1379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25634" y="3426896"/>
            <a:ext cx="2705252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日志、设备状态</a:t>
            </a:r>
          </a:p>
          <a:p>
            <a:pPr algn="l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内部按角色授权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4318" y="4012295"/>
            <a:ext cx="753922" cy="514441"/>
          </a:xfrm>
          <a:prstGeom prst="roundRect">
            <a:avLst>
              <a:gd name="adj" fmla="val 13793"/>
            </a:avLst>
          </a:prstGeom>
          <a:solidFill>
            <a:srgbClr val="8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公开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810329" y="4012295"/>
            <a:ext cx="2864906" cy="514441"/>
          </a:xfrm>
          <a:prstGeom prst="roundRect">
            <a:avLst>
              <a:gd name="adj" fmla="val 1379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25634" y="4012295"/>
            <a:ext cx="2705252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已发布的报告</a:t>
            </a:r>
          </a:p>
          <a:p>
            <a:pPr algn="l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可以公开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41326" y="1901311"/>
            <a:ext cx="3547872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1816F"/>
                </a:solidFill>
                <a:latin typeface="微软雅黑"/>
                <a:ea typeface="微软雅黑"/>
              </a:rPr>
              <a:t>再定谁能看什么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61339" y="2256099"/>
            <a:ext cx="1199624" cy="266090"/>
          </a:xfrm>
          <a:prstGeom prst="roundRect">
            <a:avLst>
              <a:gd name="adj" fmla="val 20000"/>
            </a:avLst>
          </a:prstGeom>
          <a:solidFill>
            <a:srgbClr val="8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公开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205311" y="2256099"/>
            <a:ext cx="1199624" cy="266090"/>
          </a:xfrm>
          <a:prstGeom prst="roundRect">
            <a:avLst>
              <a:gd name="adj" fmla="val 2000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内部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449284" y="2256099"/>
            <a:ext cx="1199624" cy="266090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敏感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693257" y="2256099"/>
            <a:ext cx="1199624" cy="266090"/>
          </a:xfrm>
          <a:prstGeom prst="roundRect">
            <a:avLst>
              <a:gd name="adj" fmla="val 2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高敏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41326" y="2575407"/>
            <a:ext cx="1020013" cy="274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集团管理层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61339" y="2575407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205311" y="2575407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49284" y="2575407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看汇总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93257" y="2575407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9DB5AF"/>
                </a:solidFill>
                <a:latin typeface="微软雅黑"/>
                <a:ea typeface="微软雅黑"/>
              </a:rPr>
              <a:t>不可看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41326" y="2885846"/>
            <a:ext cx="1020013" cy="274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数据团队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961339" y="2885846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205311" y="2885846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449284" y="2885846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按项目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693257" y="2885846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B26A2C"/>
                </a:solidFill>
                <a:latin typeface="微软雅黑"/>
                <a:ea typeface="微软雅黑"/>
              </a:rPr>
              <a:t>审批打码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41326" y="3196285"/>
            <a:ext cx="1020013" cy="274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业务线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961339" y="3196285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205311" y="3196285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449284" y="3196285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本业务线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693257" y="3196285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9DB5AF"/>
                </a:solidFill>
                <a:latin typeface="微软雅黑"/>
                <a:ea typeface="微软雅黑"/>
              </a:rPr>
              <a:t>不可看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41326" y="3506723"/>
            <a:ext cx="1020013" cy="274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景区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961339" y="3506723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205311" y="3506723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本景区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449284" y="3506723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本景区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693257" y="3506723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B26A2C"/>
                </a:solidFill>
                <a:latin typeface="微软雅黑"/>
                <a:ea typeface="微软雅黑"/>
              </a:rPr>
              <a:t>授权打码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941326" y="3817161"/>
            <a:ext cx="1020013" cy="274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供应商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61339" y="381716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205311" y="381716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本供应商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449284" y="381716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本供应商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693257" y="381716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9DB5AF"/>
                </a:solidFill>
                <a:latin typeface="微软雅黑"/>
                <a:ea typeface="微软雅黑"/>
              </a:rPr>
              <a:t>不可看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941326" y="4127601"/>
            <a:ext cx="1020013" cy="274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外部伙伴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961339" y="412760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205311" y="412760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9DB5AF"/>
                </a:solidFill>
                <a:latin typeface="微软雅黑"/>
                <a:ea typeface="微软雅黑"/>
              </a:rPr>
              <a:t>不可看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449284" y="412760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匿名汇总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693257" y="412760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9DB5AF"/>
                </a:solidFill>
                <a:latin typeface="微软雅黑"/>
                <a:ea typeface="微软雅黑"/>
              </a:rPr>
              <a:t>不可看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941326" y="4438040"/>
            <a:ext cx="5951555" cy="283829"/>
          </a:xfrm>
          <a:prstGeom prst="roundRect">
            <a:avLst>
              <a:gd name="adj" fmla="val 1875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AI 智能体　</a:t>
            </a:r>
            <a:r>
              <a:rPr sz="950" b="0">
                <a:solidFill>
                  <a:srgbClr val="E6F6F2"/>
                </a:solidFill>
                <a:latin typeface="微软雅黑"/>
                <a:ea typeface="微软雅黑"/>
              </a:rPr>
              <a:t>不单独开权限，继承提问人的权限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94318" y="4810566"/>
            <a:ext cx="3680917" cy="727313"/>
          </a:xfrm>
          <a:prstGeom prst="roundRect">
            <a:avLst>
              <a:gd name="adj" fmla="val 12195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71711" y="4846045"/>
            <a:ext cx="3414826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B26A2C"/>
                </a:solidFill>
                <a:latin typeface="微软雅黑"/>
                <a:ea typeface="微软雅黑"/>
              </a:rPr>
              <a:t>底线：谁的数据只服务谁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71711" y="5112136"/>
            <a:ext cx="3414826" cy="40800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F3A35"/>
                </a:solidFill>
                <a:latin typeface="微软雅黑"/>
                <a:ea typeface="微软雅黑"/>
              </a:rPr>
              <a:t>景区数据只给该景区 · 供应商数据只给该供应商 · 对外只给匿名汇总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941326" y="4810566"/>
            <a:ext cx="5951555" cy="727313"/>
          </a:xfrm>
          <a:prstGeom prst="roundRect">
            <a:avLst>
              <a:gd name="adj" fmla="val 12195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118719" y="4846045"/>
            <a:ext cx="2660904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权限闭环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118719" y="5147614"/>
            <a:ext cx="963246" cy="30156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申请</a:t>
            </a:r>
          </a:p>
        </p:txBody>
      </p:sp>
      <p:sp>
        <p:nvSpPr>
          <p:cNvPr id="99" name="Right Arrow 98"/>
          <p:cNvSpPr/>
          <p:nvPr/>
        </p:nvSpPr>
        <p:spPr>
          <a:xfrm>
            <a:off x="6108575" y="522744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6277099" y="5147614"/>
            <a:ext cx="963246" cy="30156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审批</a:t>
            </a:r>
          </a:p>
        </p:txBody>
      </p:sp>
      <p:sp>
        <p:nvSpPr>
          <p:cNvPr id="101" name="Right Arrow 100"/>
          <p:cNvSpPr/>
          <p:nvPr/>
        </p:nvSpPr>
        <p:spPr>
          <a:xfrm>
            <a:off x="7266955" y="522744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7435479" y="5147614"/>
            <a:ext cx="963246" cy="30156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最小授权</a:t>
            </a:r>
          </a:p>
        </p:txBody>
      </p:sp>
      <p:sp>
        <p:nvSpPr>
          <p:cNvPr id="103" name="Right Arrow 102"/>
          <p:cNvSpPr/>
          <p:nvPr/>
        </p:nvSpPr>
        <p:spPr>
          <a:xfrm>
            <a:off x="8425336" y="522744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8593860" y="5147614"/>
            <a:ext cx="963246" cy="30156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全程留痕</a:t>
            </a:r>
          </a:p>
        </p:txBody>
      </p:sp>
      <p:sp>
        <p:nvSpPr>
          <p:cNvPr id="105" name="Right Arrow 104"/>
          <p:cNvSpPr/>
          <p:nvPr/>
        </p:nvSpPr>
        <p:spPr>
          <a:xfrm>
            <a:off x="9583716" y="522744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9752240" y="5147614"/>
            <a:ext cx="963246" cy="301569"/>
          </a:xfrm>
          <a:prstGeom prst="roundRect">
            <a:avLst>
              <a:gd name="adj" fmla="val 235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到期回收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94318" y="5626577"/>
            <a:ext cx="9898562" cy="354787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71711" y="5626577"/>
            <a:ext cx="9632472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FFE7CF"/>
                </a:solidFill>
                <a:latin typeface="微软雅黑"/>
                <a:ea typeface="微软雅黑"/>
              </a:rPr>
              <a:t>同一套规则管住每个出口　</a:t>
            </a: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数据仓库 · 数据地图 · 开放 API · 小Q · 标签平台 · AI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标签复用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一个游客一个身份，一处加工、到处能用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订单、会员、年卡、人脸归并成同一个游客；营销、分析、AI、景区都从同一处取标签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34  ·  AI＋数据平台 · 02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1596542" cy="443484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receipt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63" y="2145822"/>
            <a:ext cx="248351" cy="24835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482150" y="2048256"/>
            <a:ext cx="1064361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订单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590860" y="2269998"/>
            <a:ext cx="399135" cy="603138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94318" y="2598176"/>
            <a:ext cx="1596542" cy="443484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users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363" y="2695742"/>
            <a:ext cx="248351" cy="248351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482150" y="2598176"/>
            <a:ext cx="1064361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会员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590860" y="2819918"/>
            <a:ext cx="399135" cy="53218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994318" y="3148096"/>
            <a:ext cx="1596542" cy="443484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ticket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363" y="3245662"/>
            <a:ext cx="248351" cy="24835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482150" y="3148096"/>
            <a:ext cx="1064361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年卡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2590860" y="2873136"/>
            <a:ext cx="399135" cy="496702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994318" y="3698016"/>
            <a:ext cx="1596542" cy="443484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scan-face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363" y="3795582"/>
            <a:ext cx="248351" cy="24835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482150" y="3698016"/>
            <a:ext cx="1064361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人脸识别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2590860" y="2873136"/>
            <a:ext cx="399135" cy="1046622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3034343" y="2429652"/>
            <a:ext cx="1596542" cy="88696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同一个游客</a:t>
            </a:r>
          </a:p>
          <a:p>
            <a:pPr algn="ctr">
              <a:spcBef>
                <a:spcPts val="97"/>
              </a:spcBef>
            </a:pPr>
            <a:r>
              <a:rPr sz="1050" b="0">
                <a:solidFill>
                  <a:srgbClr val="E6F6F2"/>
                </a:solidFill>
                <a:latin typeface="微软雅黑"/>
                <a:ea typeface="微软雅黑"/>
              </a:rPr>
              <a:t>OneID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4719584" y="2766700"/>
            <a:ext cx="248351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074370" y="2429652"/>
            <a:ext cx="1552194" cy="886968"/>
          </a:xfrm>
          <a:prstGeom prst="roundRect">
            <a:avLst>
              <a:gd name="adj" fmla="val 1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17739" rIns="44348" bIns="17739"/>
          <a:lstStyle/>
          <a:p>
            <a:pPr algn="ctr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统一生产</a:t>
            </a:r>
          </a:p>
          <a:p>
            <a:pPr algn="ctr">
              <a:spcBef>
                <a:spcPts val="194"/>
              </a:spcBef>
            </a:pPr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基于公共模型加工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6670912" y="2784439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892654" y="2429652"/>
            <a:ext cx="1552194" cy="886968"/>
          </a:xfrm>
          <a:prstGeom prst="roundRect">
            <a:avLst>
              <a:gd name="adj" fmla="val 1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17739" rIns="44348" bIns="17739"/>
          <a:lstStyle/>
          <a:p>
            <a:pPr algn="ctr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统一管理</a:t>
            </a:r>
          </a:p>
          <a:p>
            <a:pPr algn="ctr">
              <a:spcBef>
                <a:spcPts val="194"/>
              </a:spcBef>
            </a:pPr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口径 · 负责人 · 生命周期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8489198" y="2784439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710939" y="2429652"/>
            <a:ext cx="1552194" cy="886968"/>
          </a:xfrm>
          <a:prstGeom prst="roundRect">
            <a:avLst>
              <a:gd name="adj" fmla="val 1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17739" rIns="44348" bIns="17739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统一服务</a:t>
            </a:r>
          </a:p>
          <a:p>
            <a:pPr algn="ctr">
              <a:spcBef>
                <a:spcPts val="194"/>
              </a:spcBef>
            </a:pPr>
            <a:r>
              <a:rPr sz="950" b="0">
                <a:solidFill>
                  <a:srgbClr val="E6F6F2"/>
                </a:solidFill>
                <a:latin typeface="微软雅黑"/>
                <a:ea typeface="微软雅黑"/>
              </a:rPr>
              <a:t>一个出口提供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025699" y="3582709"/>
            <a:ext cx="727313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营销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841710" y="3582709"/>
            <a:ext cx="727313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分析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657721" y="3582709"/>
            <a:ext cx="727313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AI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473731" y="3582709"/>
            <a:ext cx="727313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景区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50035" y="3582709"/>
            <a:ext cx="886968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谁来用 →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94318" y="4292285"/>
            <a:ext cx="4838410" cy="106436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71711" y="4363242"/>
            <a:ext cx="97566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给谁打标签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91725" y="4363242"/>
            <a:ext cx="3507958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游客 / 会员 · 供应商 · 景区 · 渠道 · 商品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71711" y="4842205"/>
            <a:ext cx="97566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标签类型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91725" y="4842205"/>
            <a:ext cx="3507958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基础属性 · 统计类 · 规则类 · 模型预测类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054471" y="4292285"/>
            <a:ext cx="4838410" cy="1064361"/>
          </a:xfrm>
          <a:prstGeom prst="roundRect">
            <a:avLst>
              <a:gd name="adj" fmla="val 10000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31864" y="4363242"/>
            <a:ext cx="4572320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B26A2C"/>
                </a:solidFill>
                <a:latin typeface="微软雅黑"/>
                <a:ea typeface="微软雅黑"/>
              </a:rPr>
              <a:t>边界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31864" y="4664811"/>
            <a:ext cx="4572320" cy="66522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景区只用本景区的标签</a:t>
            </a:r>
          </a:p>
          <a:p>
            <a:pPr algn="l">
              <a:lnSpc>
                <a:spcPct val="110000"/>
              </a:lnSpc>
              <a:spcBef>
                <a:spcPts val="194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不做敏感个人信息标签；对外不提供个人层面标签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人人能用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不懂技术的同事也能用数据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运营、业务、标注人员都能自己找数、问数、做分析；数据团队从“帮人取数”转向“建能力”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35  ·  AI＋数据平台 · 02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07748"/>
            <a:ext cx="3151692" cy="3148736"/>
          </a:xfrm>
          <a:prstGeom prst="roundRect">
            <a:avLst>
              <a:gd name="adj" fmla="val 394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171711" y="2167402"/>
            <a:ext cx="2796905" cy="549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“公司有什么数据？”</a:t>
            </a:r>
          </a:p>
        </p:txBody>
      </p:sp>
      <p:sp>
        <p:nvSpPr>
          <p:cNvPr id="46" name="Down Arrow 45"/>
          <p:cNvSpPr/>
          <p:nvPr/>
        </p:nvSpPr>
        <p:spPr>
          <a:xfrm>
            <a:off x="2463728" y="2788279"/>
            <a:ext cx="212872" cy="266090"/>
          </a:xfrm>
          <a:prstGeom prst="down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171711" y="3143067"/>
            <a:ext cx="2796905" cy="549920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searc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105" y="3276112"/>
            <a:ext cx="283829" cy="28382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748240" y="3143067"/>
            <a:ext cx="2176028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资产目录</a:t>
            </a:r>
          </a:p>
        </p:txBody>
      </p:sp>
      <p:pic>
        <p:nvPicPr>
          <p:cNvPr id="50" name="Picture 49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0408" y="3896989"/>
            <a:ext cx="212872" cy="21287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570847" y="3834902"/>
            <a:ext cx="239777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中文一搜就出来</a:t>
            </a:r>
          </a:p>
        </p:txBody>
      </p:sp>
      <p:pic>
        <p:nvPicPr>
          <p:cNvPr id="52" name="Picture 51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0408" y="4296125"/>
            <a:ext cx="212872" cy="21287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570847" y="4234037"/>
            <a:ext cx="239777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看到在哪、什么意思</a:t>
            </a:r>
          </a:p>
        </p:txBody>
      </p:sp>
      <p:pic>
        <p:nvPicPr>
          <p:cNvPr id="54" name="Picture 53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0408" y="4695261"/>
            <a:ext cx="212872" cy="21287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570847" y="4633173"/>
            <a:ext cx="239777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知道该找谁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67753" y="2007748"/>
            <a:ext cx="3151692" cy="3148736"/>
          </a:xfrm>
          <a:prstGeom prst="roundRect">
            <a:avLst>
              <a:gd name="adj" fmla="val 394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545147" y="2167402"/>
            <a:ext cx="2796905" cy="549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“帮我查个数”</a:t>
            </a:r>
          </a:p>
        </p:txBody>
      </p:sp>
      <p:sp>
        <p:nvSpPr>
          <p:cNvPr id="58" name="Down Arrow 57"/>
          <p:cNvSpPr/>
          <p:nvPr/>
        </p:nvSpPr>
        <p:spPr>
          <a:xfrm>
            <a:off x="5837163" y="2788279"/>
            <a:ext cx="212872" cy="266090"/>
          </a:xfrm>
          <a:prstGeom prst="down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545147" y="3143067"/>
            <a:ext cx="2796905" cy="549920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messages-squar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2540" y="3276112"/>
            <a:ext cx="283829" cy="283829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5121676" y="3143067"/>
            <a:ext cx="2176028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智能问数</a:t>
            </a:r>
          </a:p>
        </p:txBody>
      </p:sp>
      <p:pic>
        <p:nvPicPr>
          <p:cNvPr id="62" name="Picture 61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843" y="3896989"/>
            <a:ext cx="212872" cy="21287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944282" y="3834902"/>
            <a:ext cx="239777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用大白话直接问</a:t>
            </a:r>
          </a:p>
        </p:txBody>
      </p:sp>
      <p:pic>
        <p:nvPicPr>
          <p:cNvPr id="64" name="Picture 63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843" y="4296125"/>
            <a:ext cx="212872" cy="21287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944282" y="4234037"/>
            <a:ext cx="239777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在小Q 之上加一层智能体</a:t>
            </a:r>
          </a:p>
        </p:txBody>
      </p:sp>
      <p:pic>
        <p:nvPicPr>
          <p:cNvPr id="66" name="Picture 65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843" y="4695261"/>
            <a:ext cx="212872" cy="21287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4944282" y="4633173"/>
            <a:ext cx="239777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先听懂问题，再去取数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741188" y="2007748"/>
            <a:ext cx="3151692" cy="3148736"/>
          </a:xfrm>
          <a:prstGeom prst="roundRect">
            <a:avLst>
              <a:gd name="adj" fmla="val 394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7918581" y="2167402"/>
            <a:ext cx="2796905" cy="549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“我想做个分析”</a:t>
            </a:r>
          </a:p>
        </p:txBody>
      </p:sp>
      <p:sp>
        <p:nvSpPr>
          <p:cNvPr id="70" name="Down Arrow 69"/>
          <p:cNvSpPr/>
          <p:nvPr/>
        </p:nvSpPr>
        <p:spPr>
          <a:xfrm>
            <a:off x="9210598" y="2788279"/>
            <a:ext cx="212872" cy="266090"/>
          </a:xfrm>
          <a:prstGeom prst="down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918581" y="3143067"/>
            <a:ext cx="2796905" cy="549920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chart-colum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5975" y="3276112"/>
            <a:ext cx="283829" cy="283829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8495111" y="3143067"/>
            <a:ext cx="2176028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即席自助</a:t>
            </a:r>
          </a:p>
        </p:txBody>
      </p:sp>
      <p:pic>
        <p:nvPicPr>
          <p:cNvPr id="74" name="Picture 73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7278" y="3896989"/>
            <a:ext cx="212872" cy="212872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317717" y="3834902"/>
            <a:ext cx="239777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选指标、点一点出结果</a:t>
            </a:r>
          </a:p>
        </p:txBody>
      </p:sp>
      <p:pic>
        <p:nvPicPr>
          <p:cNvPr id="76" name="Picture 75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7278" y="4296125"/>
            <a:ext cx="212872" cy="21287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317717" y="4234037"/>
            <a:ext cx="239777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会写查询的直接查</a:t>
            </a:r>
          </a:p>
        </p:txBody>
      </p:sp>
      <p:pic>
        <p:nvPicPr>
          <p:cNvPr id="78" name="Picture 77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7278" y="4695261"/>
            <a:ext cx="212872" cy="212872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8317717" y="4633173"/>
            <a:ext cx="239777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常用的存成看板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94318" y="5342747"/>
            <a:ext cx="4838410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1742" tIns="0" bIns="0"/>
          <a:lstStyle/>
          <a:p>
            <a:pPr algn="l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对业务　</a:t>
            </a:r>
            <a:r>
              <a:rPr sz="1200" b="0">
                <a:solidFill>
                  <a:srgbClr val="1F3A35"/>
                </a:solidFill>
                <a:latin typeface="微软雅黑"/>
                <a:ea typeface="微软雅黑"/>
              </a:rPr>
              <a:t>少等数、少找人，自己就能看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054471" y="5342747"/>
            <a:ext cx="4838410" cy="549920"/>
          </a:xfrm>
          <a:prstGeom prst="roundRect">
            <a:avLst>
              <a:gd name="adj" fmla="val 16129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1742" tIns="0" bIns="0"/>
          <a:lstStyle/>
          <a:p>
            <a:pPr algn="l"/>
            <a:r>
              <a:rPr sz="1200" b="1">
                <a:solidFill>
                  <a:srgbClr val="B26A2C"/>
                </a:solidFill>
                <a:latin typeface="微软雅黑"/>
                <a:ea typeface="微软雅黑"/>
              </a:rPr>
              <a:t>对数据团队　</a:t>
            </a:r>
            <a:r>
              <a:rPr sz="1200" b="0">
                <a:solidFill>
                  <a:srgbClr val="1F3A35"/>
                </a:solidFill>
                <a:latin typeface="微软雅黑"/>
                <a:ea typeface="微软雅黑"/>
              </a:rPr>
              <a:t>少做重复取数，精力放在建能力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多种数据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文档、图片、视频也能变成可用的数据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原始资料先放进来，AI 先识别、分类、标注，人再审核；整理好的数据用于问数、智能体和数据集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36  ·  AI＋数据平台 · 02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1766839" cy="2173071"/>
          </a:xfrm>
          <a:prstGeom prst="roundRect">
            <a:avLst>
              <a:gd name="adj" fmla="val 702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611647" y="2190170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folder-tre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693" y="2323215"/>
            <a:ext cx="266090" cy="26609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65275" y="2811048"/>
            <a:ext cx="162492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原始资料放进来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0754" y="3290010"/>
            <a:ext cx="1553967" cy="8426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文档 · 图片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视频 · 音频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表格 · 采集数据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2805506" y="3006181"/>
            <a:ext cx="177393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027248" y="2048256"/>
            <a:ext cx="1766839" cy="2173071"/>
          </a:xfrm>
          <a:prstGeom prst="roundRect">
            <a:avLst>
              <a:gd name="adj" fmla="val 7028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644578" y="2190170"/>
            <a:ext cx="532180" cy="53218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sparkle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9884" y="2305476"/>
            <a:ext cx="301569" cy="30156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3098205" y="2811048"/>
            <a:ext cx="162492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AI 识别、分类、标注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33684" y="3290010"/>
            <a:ext cx="1553967" cy="8426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自动识别内容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自动分类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自动打标注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4838437" y="3006181"/>
            <a:ext cx="177393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060179" y="2048256"/>
            <a:ext cx="1766839" cy="2173071"/>
          </a:xfrm>
          <a:prstGeom prst="roundRect">
            <a:avLst>
              <a:gd name="adj" fmla="val 702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677509" y="2190170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user-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554" y="2323215"/>
            <a:ext cx="266090" cy="26609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5131136" y="2811048"/>
            <a:ext cx="162492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人工审核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66615" y="3290010"/>
            <a:ext cx="1553967" cy="8426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标得不对的改过来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审核通过才入库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6871368" y="3006181"/>
            <a:ext cx="177393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093110" y="2048256"/>
            <a:ext cx="1766839" cy="2173071"/>
          </a:xfrm>
          <a:prstGeom prst="roundRect">
            <a:avLst>
              <a:gd name="adj" fmla="val 7028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710439" y="2190170"/>
            <a:ext cx="532180" cy="53218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databas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5745" y="2305476"/>
            <a:ext cx="301569" cy="301569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7164067" y="2811048"/>
            <a:ext cx="162492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变成可用数据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99546" y="3290010"/>
            <a:ext cx="1553967" cy="8426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标准数据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知识库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高质量数据集</a:t>
            </a:r>
          </a:p>
        </p:txBody>
      </p:sp>
      <p:sp>
        <p:nvSpPr>
          <p:cNvPr id="67" name="Right Arrow 66"/>
          <p:cNvSpPr/>
          <p:nvPr/>
        </p:nvSpPr>
        <p:spPr>
          <a:xfrm>
            <a:off x="8904298" y="3006181"/>
            <a:ext cx="177393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126040" y="2048256"/>
            <a:ext cx="1766839" cy="2173071"/>
          </a:xfrm>
          <a:prstGeom prst="roundRect">
            <a:avLst>
              <a:gd name="adj" fmla="val 702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743370" y="2190170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rocke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6415" y="2323215"/>
            <a:ext cx="266090" cy="26609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9196998" y="2811048"/>
            <a:ext cx="162492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用起来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32477" y="3290010"/>
            <a:ext cx="1553967" cy="8426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智能问数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智能体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行业报告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94318" y="4425330"/>
            <a:ext cx="4838410" cy="1374800"/>
          </a:xfrm>
          <a:prstGeom prst="roundRect">
            <a:avLst>
              <a:gd name="adj" fmla="val 7741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camera_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9451" y="4558375"/>
            <a:ext cx="301569" cy="301569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570847" y="4514027"/>
            <a:ext cx="4128836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B26A2C"/>
                </a:solidFill>
                <a:latin typeface="微软雅黑"/>
                <a:ea typeface="微软雅黑"/>
              </a:rPr>
              <a:t>举个例子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6060" y="4939771"/>
            <a:ext cx="4439274" cy="79827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客户现场没有系统，用本子记录</a:t>
            </a:r>
          </a:p>
          <a:p>
            <a:pPr algn="l">
              <a:lnSpc>
                <a:spcPct val="115000"/>
              </a:lnSpc>
              <a:spcBef>
                <a:spcPts val="291"/>
              </a:spcBef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拍照上传 → AI 识别 → 自动转成标准表格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054471" y="4425330"/>
            <a:ext cx="4838410" cy="1374800"/>
          </a:xfrm>
          <a:prstGeom prst="roundRect">
            <a:avLst>
              <a:gd name="adj" fmla="val 774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layers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9603" y="4558375"/>
            <a:ext cx="301569" cy="301569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6631000" y="4514027"/>
            <a:ext cx="4128836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1816F"/>
                </a:solidFill>
                <a:latin typeface="微软雅黑"/>
                <a:ea typeface="微软雅黑"/>
              </a:rPr>
              <a:t>高质量数据集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76213" y="4939771"/>
            <a:ext cx="4439274" cy="79827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数据按主题统一管理，做数据集时按场景去取</a:t>
            </a:r>
          </a:p>
          <a:p>
            <a:pPr algn="l">
              <a:lnSpc>
                <a:spcPct val="115000"/>
              </a:lnSpc>
              <a:spcBef>
                <a:spcPts val="291"/>
              </a:spcBef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先从我们已经有基础的场景做起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19" name="十字形 18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 descr="D:\51PPT模板网\51pptmoban.com\图片.jpg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9" name="十字形 8" descr="D:\51PPT模板网\51pptmoban.com\图片.jpg"/>
          <p:cNvSpPr/>
          <p:nvPr/>
        </p:nvSpPr>
        <p:spPr>
          <a:xfrm>
            <a:off x="-67941" y="527503"/>
            <a:ext cx="717891" cy="717891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十字形 10"/>
          <p:cNvSpPr/>
          <p:nvPr/>
        </p:nvSpPr>
        <p:spPr>
          <a:xfrm>
            <a:off x="595318" y="195510"/>
            <a:ext cx="242505" cy="242505"/>
          </a:xfrm>
          <a:prstGeom prst="plus">
            <a:avLst>
              <a:gd name="adj" fmla="val 33591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49883" y="3230858"/>
            <a:ext cx="6292233" cy="89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1816F"/>
                </a:solidFill>
                <a:latin typeface="微软雅黑"/>
                <a:ea typeface="微软雅黑"/>
              </a:rPr>
              <a:t>一个智能体平台，把流量分给各个智能体</a:t>
            </a:r>
            <a:endParaRPr lang="zh-CN" altLang="en-US" sz="1200" b="1" dirty="0"/>
          </a:p>
        </p:txBody>
      </p:sp>
      <p:grpSp>
        <p:nvGrpSpPr>
          <p:cNvPr id="40" name="组合 39"/>
          <p:cNvGrpSpPr/>
          <p:nvPr/>
        </p:nvGrpSpPr>
        <p:grpSpPr>
          <a:xfrm>
            <a:off x="4151159" y="2103120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AI 平台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Rounded Rectangle 40"/>
          <p:cNvSpPr/>
          <p:nvPr/>
        </p:nvSpPr>
        <p:spPr>
          <a:xfrm>
            <a:off x="2441448" y="4069080"/>
            <a:ext cx="7315200" cy="18288"/>
          </a:xfrm>
          <a:prstGeom prst="roundRect">
            <a:avLst>
              <a:gd name="adj" fmla="val 0"/>
            </a:avLst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41448" y="41605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2CAB93"/>
                </a:solidFill>
                <a:latin typeface="微软雅黑"/>
                <a:ea typeface="微软雅黑"/>
              </a:rPr>
              <a:t>这一部分讲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41448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全局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60647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怎么分发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79847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已有基础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9048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能做什么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8248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数字大脑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37448" y="4526280"/>
            <a:ext cx="12192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怎么建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AI 平台全局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一个智能体平台，把流量分给各个智能体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游客、景区、公司内部从哪里来都行，统一进智能体平台；平台听懂要做什么，再分给最合适的智能体；数据统一来自数据平台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38  ·  AI＋数据平台 · 03  AI 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85573"/>
            <a:ext cx="1419148" cy="496702"/>
          </a:xfrm>
          <a:prstGeom prst="roundRect">
            <a:avLst>
              <a:gd name="adj" fmla="val 17857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入口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46512" y="2100879"/>
            <a:ext cx="996852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畅游小程序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49801" y="2100879"/>
            <a:ext cx="72583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公众号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82073" y="2100879"/>
            <a:ext cx="861344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自助终端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49854" y="2100879"/>
            <a:ext cx="72583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景数通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82126" y="2100879"/>
            <a:ext cx="994143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票付通 APP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82704" y="2100879"/>
            <a:ext cx="59032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大屏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79468" y="2100879"/>
            <a:ext cx="59032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飞书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4318" y="2482275"/>
            <a:ext cx="98985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▼  所有请求统一进来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4318" y="2748366"/>
            <a:ext cx="9898562" cy="957925"/>
          </a:xfrm>
          <a:prstGeom prst="roundRect">
            <a:avLst>
              <a:gd name="adj" fmla="val 12962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spli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060" y="2961238"/>
            <a:ext cx="372526" cy="372526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703892" y="2783845"/>
            <a:ext cx="2838297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智能体平台（自己建）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03892" y="3191850"/>
            <a:ext cx="2838297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E6F6F2"/>
                </a:solidFill>
                <a:latin typeface="微软雅黑"/>
                <a:ea typeface="微软雅黑"/>
              </a:rPr>
              <a:t>统一接入、统一分发流量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453493" y="2854802"/>
            <a:ext cx="991925" cy="745053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统一入口</a:t>
            </a:r>
          </a:p>
          <a:p>
            <a:pPr algn="ctr">
              <a:spcBef>
                <a:spcPts val="97"/>
              </a:spcBef>
            </a:pP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各入口只接一次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516377" y="2854802"/>
            <a:ext cx="991925" cy="745053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认人</a:t>
            </a:r>
          </a:p>
          <a:p>
            <a:pPr algn="ctr">
              <a:spcBef>
                <a:spcPts val="97"/>
              </a:spcBef>
            </a:pP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身份、景区、权限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79260" y="2854802"/>
            <a:ext cx="991925" cy="745053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听懂</a:t>
            </a:r>
          </a:p>
          <a:p>
            <a:pPr algn="ctr">
              <a:spcBef>
                <a:spcPts val="97"/>
              </a:spcBef>
            </a:pP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识别要做什么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642143" y="2854802"/>
            <a:ext cx="991925" cy="745053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分发</a:t>
            </a:r>
          </a:p>
          <a:p>
            <a:pPr algn="ctr">
              <a:spcBef>
                <a:spcPts val="97"/>
              </a:spcBef>
            </a:pP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交给对的智能体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705027" y="2854802"/>
            <a:ext cx="991925" cy="745053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计量</a:t>
            </a:r>
          </a:p>
          <a:p>
            <a:pPr algn="ctr">
              <a:spcBef>
                <a:spcPts val="97"/>
              </a:spcBef>
            </a:pP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按景区算用量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767910" y="2854802"/>
            <a:ext cx="991925" cy="745053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" tIns="0" rIns="26609" bIns="0"/>
          <a:lstStyle/>
          <a:p>
            <a:pPr algn="ctr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评估</a:t>
            </a:r>
          </a:p>
          <a:p>
            <a:pPr algn="ctr">
              <a:spcBef>
                <a:spcPts val="97"/>
              </a:spcBef>
            </a:pP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答得好不好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4318" y="3706290"/>
            <a:ext cx="98985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▼  按意图分发；答不了的转人工兜底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94318" y="3972382"/>
            <a:ext cx="1873275" cy="1064361"/>
          </a:xfrm>
          <a:prstGeom prst="roundRect">
            <a:avLst>
              <a:gd name="adj" fmla="val 10000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00754" y="4069948"/>
            <a:ext cx="372526" cy="372526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brai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886" y="4163080"/>
            <a:ext cx="186263" cy="18626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526498" y="4034469"/>
            <a:ext cx="129674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数字大脑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26498" y="4273951"/>
            <a:ext cx="1296746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B26A2C"/>
                </a:solidFill>
                <a:latin typeface="微软雅黑"/>
                <a:ea typeface="微软雅黑"/>
              </a:rPr>
              <a:t>面向景区管理者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18494" y="4540041"/>
            <a:ext cx="1660403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问数 · 洞察 · 调度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998365" y="3848206"/>
            <a:ext cx="798271" cy="230611"/>
          </a:xfrm>
          <a:prstGeom prst="roundRect">
            <a:avLst>
              <a:gd name="adj" fmla="val 5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重点方向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000639" y="3972382"/>
            <a:ext cx="1873275" cy="1064361"/>
          </a:xfrm>
          <a:prstGeom prst="roundRect">
            <a:avLst>
              <a:gd name="adj" fmla="val 1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107075" y="4069948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smartphon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207" y="4163080"/>
            <a:ext cx="186263" cy="186263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3532820" y="4034469"/>
            <a:ext cx="129674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畅游 AI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532820" y="4273951"/>
            <a:ext cx="1296746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2CAB93"/>
                </a:solidFill>
                <a:latin typeface="微软雅黑"/>
                <a:ea typeface="微软雅黑"/>
              </a:rPr>
              <a:t>面向游客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24814" y="4540041"/>
            <a:ext cx="1660403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客服 · 导览 · 伴游 · 旅拍 · 手语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006961" y="3972382"/>
            <a:ext cx="1873275" cy="1064361"/>
          </a:xfrm>
          <a:prstGeom prst="roundRect">
            <a:avLst>
              <a:gd name="adj" fmla="val 1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113397" y="4069948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ticke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6529" y="4163080"/>
            <a:ext cx="186263" cy="186263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5539142" y="4034469"/>
            <a:ext cx="129674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智慧票务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39142" y="4273951"/>
            <a:ext cx="1296746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2CAB93"/>
                </a:solidFill>
                <a:latin typeface="微软雅黑"/>
                <a:ea typeface="微软雅黑"/>
              </a:rPr>
              <a:t>面向票务与财务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31136" y="4540041"/>
            <a:ext cx="1660403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运营助手 · 对账助手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013283" y="3972382"/>
            <a:ext cx="1873275" cy="1064361"/>
          </a:xfrm>
          <a:prstGeom prst="roundRect">
            <a:avLst>
              <a:gd name="adj" fmla="val 1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7119719" y="4069948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siren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2850" y="4163080"/>
            <a:ext cx="186263" cy="186263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7545463" y="4034469"/>
            <a:ext cx="129674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调度中枢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545463" y="4273951"/>
            <a:ext cx="1296746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2CAB93"/>
                </a:solidFill>
                <a:latin typeface="微软雅黑"/>
                <a:ea typeface="微软雅黑"/>
              </a:rPr>
              <a:t>面向安全调度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37458" y="4540041"/>
            <a:ext cx="1660403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客流 · 车船 · 防火 · 设施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019604" y="3972382"/>
            <a:ext cx="1873275" cy="1064361"/>
          </a:xfrm>
          <a:prstGeom prst="roundRect">
            <a:avLst>
              <a:gd name="adj" fmla="val 1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126040" y="4069948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building2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9172" y="4163080"/>
            <a:ext cx="186263" cy="186263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9551785" y="4034469"/>
            <a:ext cx="129674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内部助手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551785" y="4273951"/>
            <a:ext cx="1296746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2CAB93"/>
                </a:solidFill>
                <a:latin typeface="微软雅黑"/>
                <a:ea typeface="微软雅黑"/>
              </a:rPr>
              <a:t>面向公司自己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43780" y="4540041"/>
            <a:ext cx="1660403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经营问数 · 报告 · 文案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94318" y="5160919"/>
            <a:ext cx="4860584" cy="753922"/>
          </a:xfrm>
          <a:prstGeom prst="roundRect">
            <a:avLst>
              <a:gd name="adj" fmla="val 11764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71711" y="5178658"/>
            <a:ext cx="4594494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CAB93"/>
                </a:solidFill>
                <a:latin typeface="微软雅黑"/>
                <a:ea typeface="微软雅黑"/>
              </a:rPr>
              <a:t>底层能力 · 可以替换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171711" y="5515706"/>
            <a:ext cx="56568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扣子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808357" y="5515706"/>
            <a:ext cx="81206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火山方舟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691383" y="5515706"/>
            <a:ext cx="56568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腾讯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328028" y="5515706"/>
            <a:ext cx="56568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阿里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964674" y="5515706"/>
            <a:ext cx="511484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小Q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547117" y="5515706"/>
            <a:ext cx="56568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自研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032296" y="5160919"/>
            <a:ext cx="4860584" cy="753922"/>
          </a:xfrm>
          <a:prstGeom prst="roundRect">
            <a:avLst>
              <a:gd name="adj" fmla="val 11764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databas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9690" y="5382661"/>
            <a:ext cx="301569" cy="301569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6653174" y="5178658"/>
            <a:ext cx="3973616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数据统一来自数据平台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653174" y="5497967"/>
            <a:ext cx="3973616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指标、标签、知识同一套，答案口径一致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3997900" y="104775"/>
            <a:ext cx="4195893" cy="562935"/>
            <a:chOff x="1778000" y="2361285"/>
            <a:chExt cx="4195893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4195893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3102709" cy="461665"/>
              <a:chOff x="1249621" y="2030985"/>
              <a:chExt cx="3102709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386584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智能体平台怎么分发流量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认人、听懂、分给对的智能体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一句话进来，平台先认出是谁、听懂要做什么，再交给最合适的智能体；一句话里有几件事，就分给几个智能体接力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39  ·  AI＋数据平台 · 03  AI 平台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318" y="1941225"/>
            <a:ext cx="1729587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微软雅黑"/>
                <a:ea typeface="微软雅黑"/>
              </a:rPr>
              <a:t>① 从哪来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4318" y="2251664"/>
            <a:ext cx="1729587" cy="443483"/>
          </a:xfrm>
          <a:prstGeom prst="roundRect">
            <a:avLst>
              <a:gd name="adj" fmla="val 2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游客</a:t>
            </a:r>
          </a:p>
          <a:p>
            <a:pPr algn="ctr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小程序 · 公众号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4318" y="2783845"/>
            <a:ext cx="1729587" cy="443483"/>
          </a:xfrm>
          <a:prstGeom prst="roundRect">
            <a:avLst>
              <a:gd name="adj" fmla="val 2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景区</a:t>
            </a:r>
          </a:p>
          <a:p>
            <a:pPr algn="ctr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景数通 · APP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94318" y="3316025"/>
            <a:ext cx="1729587" cy="443483"/>
          </a:xfrm>
          <a:prstGeom prst="roundRect">
            <a:avLst>
              <a:gd name="adj" fmla="val 2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公司内部</a:t>
            </a:r>
          </a:p>
          <a:p>
            <a:pPr algn="ctr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飞书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4318" y="3848206"/>
            <a:ext cx="1729587" cy="443483"/>
          </a:xfrm>
          <a:prstGeom prst="roundRect">
            <a:avLst>
              <a:gd name="adj" fmla="val 2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设备</a:t>
            </a:r>
          </a:p>
          <a:p>
            <a:pPr algn="ctr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大屏 · 自助终端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2794863" y="3165241"/>
            <a:ext cx="266090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23041" y="1941225"/>
            <a:ext cx="204002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微软雅黑"/>
                <a:ea typeface="微软雅黑"/>
              </a:rPr>
              <a:t>② 平台统一分发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123041" y="2251664"/>
            <a:ext cx="2040026" cy="2040026"/>
          </a:xfrm>
          <a:prstGeom prst="roundRect">
            <a:avLst>
              <a:gd name="adj" fmla="val 6086"/>
            </a:avLst>
          </a:prstGeom>
          <a:solidFill>
            <a:srgbClr val="FCF1E6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256086" y="2358100"/>
            <a:ext cx="425744" cy="425744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spli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523" y="2464536"/>
            <a:ext cx="212872" cy="21287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743919" y="2340361"/>
            <a:ext cx="1374799" cy="4612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B26A2C"/>
                </a:solidFill>
                <a:latin typeface="微软雅黑"/>
                <a:ea typeface="微软雅黑"/>
              </a:rPr>
              <a:t>智能体平台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82696" y="2890281"/>
            <a:ext cx="177393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认人　</a:t>
            </a: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是谁、哪个景区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82696" y="3236198"/>
            <a:ext cx="177393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听懂　</a:t>
            </a: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要做哪几件事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82696" y="3582116"/>
            <a:ext cx="177393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分发　</a:t>
            </a: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交给最合适的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82696" y="3928033"/>
            <a:ext cx="177393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兜底　</a:t>
            </a: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答不了转人工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62203" y="1941225"/>
            <a:ext cx="288264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微软雅黑"/>
                <a:ea typeface="微软雅黑"/>
              </a:rPr>
              <a:t>③ 对应的智能体去办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562203" y="2251664"/>
            <a:ext cx="2882646" cy="443483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brai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4118" y="2349230"/>
            <a:ext cx="248351" cy="248351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058905" y="2269403"/>
            <a:ext cx="2306116" cy="2217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数字大脑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58905" y="2464535"/>
            <a:ext cx="2306116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E6F6F2"/>
                </a:solidFill>
                <a:latin typeface="微软雅黑"/>
                <a:ea typeface="微软雅黑"/>
              </a:rPr>
              <a:t>问数 · 洞察 · 调度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5234025" y="2375839"/>
            <a:ext cx="266090" cy="195132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562203" y="2783845"/>
            <a:ext cx="2882646" cy="443483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smartphon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4118" y="2881411"/>
            <a:ext cx="248351" cy="248351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058905" y="2801584"/>
            <a:ext cx="2306116" cy="2217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畅游 AI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58905" y="2996717"/>
            <a:ext cx="2306116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E6F6F2"/>
                </a:solidFill>
                <a:latin typeface="微软雅黑"/>
                <a:ea typeface="微软雅黑"/>
              </a:rPr>
              <a:t>客服 · 导览 · 购票</a:t>
            </a:r>
          </a:p>
        </p:txBody>
      </p:sp>
      <p:sp>
        <p:nvSpPr>
          <p:cNvPr id="69" name="Right Arrow 68"/>
          <p:cNvSpPr/>
          <p:nvPr/>
        </p:nvSpPr>
        <p:spPr>
          <a:xfrm>
            <a:off x="5234025" y="2908020"/>
            <a:ext cx="266090" cy="195132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5562203" y="3316025"/>
            <a:ext cx="2882646" cy="443483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ticke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4118" y="3413592"/>
            <a:ext cx="248351" cy="248351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058905" y="3333764"/>
            <a:ext cx="2306116" cy="2217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智慧票务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58905" y="3528898"/>
            <a:ext cx="2306116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E6F6F2"/>
                </a:solidFill>
                <a:latin typeface="微软雅黑"/>
                <a:ea typeface="微软雅黑"/>
              </a:rPr>
              <a:t>运营助手 · 对账</a:t>
            </a:r>
          </a:p>
        </p:txBody>
      </p:sp>
      <p:sp>
        <p:nvSpPr>
          <p:cNvPr id="74" name="Right Arrow 73"/>
          <p:cNvSpPr/>
          <p:nvPr/>
        </p:nvSpPr>
        <p:spPr>
          <a:xfrm>
            <a:off x="5234025" y="3440201"/>
            <a:ext cx="266090" cy="195132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562203" y="3848206"/>
            <a:ext cx="2882646" cy="443483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building2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4118" y="3945773"/>
            <a:ext cx="248351" cy="248351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6058905" y="3865945"/>
            <a:ext cx="2306116" cy="2217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内部助手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58905" y="4061079"/>
            <a:ext cx="2306116" cy="20400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E6F6F2"/>
                </a:solidFill>
                <a:latin typeface="微软雅黑"/>
                <a:ea typeface="微软雅黑"/>
              </a:rPr>
              <a:t>经营问数 · 报告</a:t>
            </a:r>
          </a:p>
        </p:txBody>
      </p:sp>
      <p:sp>
        <p:nvSpPr>
          <p:cNvPr id="79" name="Right Arrow 78"/>
          <p:cNvSpPr/>
          <p:nvPr/>
        </p:nvSpPr>
        <p:spPr>
          <a:xfrm>
            <a:off x="5234025" y="3972381"/>
            <a:ext cx="266090" cy="195132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843985" y="1941225"/>
            <a:ext cx="204889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微软雅黑"/>
                <a:ea typeface="微软雅黑"/>
              </a:rPr>
              <a:t>④ 数据从哪来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843985" y="2251664"/>
            <a:ext cx="2048896" cy="2040026"/>
          </a:xfrm>
          <a:prstGeom prst="roundRect">
            <a:avLst>
              <a:gd name="adj" fmla="val 6086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databas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1039" y="2384709"/>
            <a:ext cx="354787" cy="354787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8843985" y="2783845"/>
            <a:ext cx="204889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数据平台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003639" y="3138632"/>
            <a:ext cx="1729587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认证过的指标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003639" y="3413591"/>
            <a:ext cx="1729587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标签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003639" y="3688552"/>
            <a:ext cx="1729587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实时数据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003639" y="3963512"/>
            <a:ext cx="1729587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知识库</a:t>
            </a:r>
          </a:p>
        </p:txBody>
      </p:sp>
      <p:sp>
        <p:nvSpPr>
          <p:cNvPr id="88" name="Right Arrow 87"/>
          <p:cNvSpPr/>
          <p:nvPr/>
        </p:nvSpPr>
        <p:spPr>
          <a:xfrm>
            <a:off x="8515807" y="3165241"/>
            <a:ext cx="266090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994318" y="4469084"/>
            <a:ext cx="9898562" cy="1472366"/>
          </a:xfrm>
          <a:prstGeom prst="roundRect">
            <a:avLst>
              <a:gd name="adj" fmla="val 722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216060" y="4540041"/>
            <a:ext cx="7982712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CAB93"/>
                </a:solidFill>
                <a:latin typeface="微软雅黑"/>
                <a:ea typeface="微软雅黑"/>
              </a:rPr>
              <a:t>举个例子：游客问“明天人多吗？帮我买两张票”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216060" y="4912568"/>
            <a:ext cx="1354104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小程序里提问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游客</a:t>
            </a:r>
          </a:p>
        </p:txBody>
      </p:sp>
      <p:sp>
        <p:nvSpPr>
          <p:cNvPr id="92" name="Right Arrow 91"/>
          <p:cNvSpPr/>
          <p:nvPr/>
        </p:nvSpPr>
        <p:spPr>
          <a:xfrm>
            <a:off x="2605643" y="5200832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2836255" y="4912568"/>
            <a:ext cx="1354104" cy="753922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认人、听懂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E6F6F2"/>
                </a:solidFill>
                <a:latin typeface="微软雅黑"/>
                <a:ea typeface="微软雅黑"/>
              </a:rPr>
              <a:t>查客流 + 买票</a:t>
            </a:r>
          </a:p>
        </p:txBody>
      </p:sp>
      <p:sp>
        <p:nvSpPr>
          <p:cNvPr id="94" name="Right Arrow 93"/>
          <p:cNvSpPr/>
          <p:nvPr/>
        </p:nvSpPr>
        <p:spPr>
          <a:xfrm>
            <a:off x="4225838" y="5200832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4456450" y="4912568"/>
            <a:ext cx="1354104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客服智能体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答：明天客流预测</a:t>
            </a:r>
          </a:p>
        </p:txBody>
      </p:sp>
      <p:sp>
        <p:nvSpPr>
          <p:cNvPr id="96" name="Right Arrow 95"/>
          <p:cNvSpPr/>
          <p:nvPr/>
        </p:nvSpPr>
        <p:spPr>
          <a:xfrm>
            <a:off x="5846033" y="5200832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6076645" y="4912568"/>
            <a:ext cx="1354104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购票智能体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接着下单</a:t>
            </a:r>
          </a:p>
        </p:txBody>
      </p:sp>
      <p:sp>
        <p:nvSpPr>
          <p:cNvPr id="98" name="Right Arrow 97"/>
          <p:cNvSpPr/>
          <p:nvPr/>
        </p:nvSpPr>
        <p:spPr>
          <a:xfrm>
            <a:off x="7466227" y="5200832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7696840" y="4912568"/>
            <a:ext cx="1354104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结果回流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数据平台</a:t>
            </a:r>
          </a:p>
        </p:txBody>
      </p:sp>
      <p:sp>
        <p:nvSpPr>
          <p:cNvPr id="100" name="Right Arrow 99"/>
          <p:cNvSpPr/>
          <p:nvPr/>
        </p:nvSpPr>
        <p:spPr>
          <a:xfrm>
            <a:off x="9086423" y="5200832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9317034" y="4912568"/>
            <a:ext cx="1354104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下次更准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越用越准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16060" y="5710839"/>
            <a:ext cx="9455078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新增一个智能体，只要在平台上登记，流量就能分过去；入口不用改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现状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已有智能体，来自三个地方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智能体 = 能听懂问题、还能帮你办事的 AI 助手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40  ·  AI＋数据平台 · 03  AI 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05746"/>
            <a:ext cx="6474866" cy="1197406"/>
          </a:xfrm>
          <a:prstGeom prst="roundRect">
            <a:avLst>
              <a:gd name="adj" fmla="val 1037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89451" y="2100879"/>
            <a:ext cx="443484" cy="443484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user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887" y="2207315"/>
            <a:ext cx="230611" cy="230611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92589" y="2083140"/>
            <a:ext cx="3547872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Coze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81386" y="2127488"/>
            <a:ext cx="96605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工作流配置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792589" y="2508885"/>
            <a:ext cx="91062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智能助手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91907" y="2508885"/>
            <a:ext cx="91062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智能客服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791224" y="2508885"/>
            <a:ext cx="91062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智能导览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90541" y="2508885"/>
            <a:ext cx="82488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AI 旅拍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04118" y="2508885"/>
            <a:ext cx="82488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AI 伴游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92589" y="2845932"/>
            <a:ext cx="5587898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给游客用 · 标准化、配置化输出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4318" y="3236198"/>
            <a:ext cx="6474866" cy="1197406"/>
          </a:xfrm>
          <a:prstGeom prst="roundRect">
            <a:avLst>
              <a:gd name="adj" fmla="val 10370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89451" y="3431331"/>
            <a:ext cx="443484" cy="443484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han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322" y="3542202"/>
            <a:ext cx="221742" cy="22174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792589" y="3413592"/>
            <a:ext cx="3547872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企业合作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10736" y="3457940"/>
            <a:ext cx="83670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合作接入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792589" y="3839337"/>
            <a:ext cx="614964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B26A2C"/>
                </a:solidFill>
                <a:latin typeface="微软雅黑"/>
                <a:ea typeface="微软雅黑"/>
              </a:rPr>
              <a:t>手语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92589" y="4176384"/>
            <a:ext cx="5587898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给听障游客用 · 接入合作方的专业能力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94318" y="4566650"/>
            <a:ext cx="6474866" cy="1197406"/>
          </a:xfrm>
          <a:prstGeom prst="roundRect">
            <a:avLst>
              <a:gd name="adj" fmla="val 1037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9451" y="4761783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chart-colum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0322" y="4872654"/>
            <a:ext cx="221742" cy="22174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792589" y="4744044"/>
            <a:ext cx="3547872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小Q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10736" y="4788392"/>
            <a:ext cx="83670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平台自带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792589" y="5169789"/>
            <a:ext cx="91062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智能问数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791907" y="5169789"/>
            <a:ext cx="1206276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智能数据解读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92589" y="5506836"/>
            <a:ext cx="5587898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给景区和内部管理者用 · 直接用小Q 的 AI 能力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001364" y="1843659"/>
            <a:ext cx="2838297" cy="4213098"/>
          </a:xfrm>
          <a:prstGeom prst="roundRect">
            <a:avLst>
              <a:gd name="adj" fmla="val 10000"/>
            </a:avLst>
          </a:prstGeom>
          <a:solidFill>
            <a:srgbClr val="1F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8090061" y="1932355"/>
            <a:ext cx="2660904" cy="4035704"/>
          </a:xfrm>
          <a:prstGeom prst="roundRect">
            <a:avLst>
              <a:gd name="adj" fmla="val 8333"/>
            </a:avLst>
          </a:prstGeom>
          <a:solidFill>
            <a:srgbClr val="F7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021378" y="1958963"/>
            <a:ext cx="798271" cy="106436"/>
          </a:xfrm>
          <a:prstGeom prst="roundRect">
            <a:avLst>
              <a:gd name="adj" fmla="val 50000"/>
            </a:avLst>
          </a:prstGeom>
          <a:solidFill>
            <a:srgbClr val="1F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090061" y="2154097"/>
            <a:ext cx="2660904" cy="549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3106" y="2225055"/>
            <a:ext cx="390265" cy="390265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bo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0673" y="2322621"/>
            <a:ext cx="195132" cy="195132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8710939" y="2198445"/>
            <a:ext cx="1951329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智能客服 · 示意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10939" y="2446797"/>
            <a:ext cx="1951329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2CAB93"/>
                </a:solidFill>
                <a:latin typeface="微软雅黑"/>
                <a:ea typeface="微软雅黑"/>
              </a:rPr>
              <a:t>● 在线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626862" y="2863672"/>
            <a:ext cx="1991057" cy="319308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4175" tIns="53218" bIns="53218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明天上午去，几点开园？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223106" y="3307156"/>
            <a:ext cx="2139809" cy="674095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4175" tIns="53218" bIns="53218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明天 8:00 开园。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刷身份证或人脸就能入园，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不用换票。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073117" y="4105427"/>
            <a:ext cx="1544802" cy="319308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4175" tIns="53218" bIns="53218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帮我买两张成人票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223106" y="4548911"/>
            <a:ext cx="2014857" cy="49670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4175" tIns="53218" bIns="53218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已选好明天成人票 2 张，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点这里去支付 →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223106" y="5480226"/>
            <a:ext cx="2394813" cy="33704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400500" y="5480226"/>
            <a:ext cx="1773936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9DB5AF"/>
                </a:solidFill>
                <a:latin typeface="微软雅黑"/>
                <a:ea typeface="微软雅黑"/>
              </a:rPr>
              <a:t>有问题尽管问我…</a:t>
            </a:r>
          </a:p>
        </p:txBody>
      </p:sp>
      <p:sp>
        <p:nvSpPr>
          <p:cNvPr id="84" name="Oval 83"/>
          <p:cNvSpPr/>
          <p:nvPr/>
        </p:nvSpPr>
        <p:spPr>
          <a:xfrm>
            <a:off x="10307481" y="5506836"/>
            <a:ext cx="283829" cy="28382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send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0700" y="5560053"/>
            <a:ext cx="177393" cy="177393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游客端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覆盖游前、游中、游后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实心为已有，空心为基于现有系统和数据可以扩展的 —— 都要做，只是先后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41  ·  AI＋数据平台 · 03  AI 平台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260408" y="2180706"/>
            <a:ext cx="9366382" cy="0"/>
          </a:xfrm>
          <a:prstGeom prst="line">
            <a:avLst/>
          </a:prstGeom>
          <a:ln w="381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1083015" y="1896877"/>
            <a:ext cx="567659" cy="56765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compas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930" y="2038791"/>
            <a:ext cx="283829" cy="283829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1748240" y="1985573"/>
            <a:ext cx="724357" cy="390265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游前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561294" y="2003313"/>
            <a:ext cx="1393525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想去 · 了解 · 买票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4318" y="2650799"/>
            <a:ext cx="2882646" cy="2971342"/>
          </a:xfrm>
          <a:prstGeom prst="roundRect">
            <a:avLst>
              <a:gd name="adj" fmla="val 3692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71711" y="2739496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5E7772"/>
                </a:solidFill>
                <a:latin typeface="微软雅黑"/>
                <a:ea typeface="微软雅黑"/>
              </a:rPr>
              <a:t>场景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71711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景区咨询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036998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行程规划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71711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购票预约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036998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门票候补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71711" y="3732900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智能体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71711" y="4043339"/>
            <a:ext cx="772647" cy="30156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智能客服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006447" y="4043339"/>
            <a:ext cx="772647" cy="30156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智能助手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71711" y="4406996"/>
            <a:ext cx="96507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AI 旅游规划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198869" y="4406996"/>
            <a:ext cx="96507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AI 智能购票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71711" y="4770653"/>
            <a:ext cx="1179174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预约与候补提醒</a:t>
            </a:r>
          </a:p>
        </p:txBody>
      </p:sp>
      <p:sp>
        <p:nvSpPr>
          <p:cNvPr id="61" name="Oval 60"/>
          <p:cNvSpPr/>
          <p:nvPr/>
        </p:nvSpPr>
        <p:spPr>
          <a:xfrm>
            <a:off x="4143053" y="1896877"/>
            <a:ext cx="567659" cy="56765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ferris-wheel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968" y="2038791"/>
            <a:ext cx="283829" cy="283829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4808280" y="1985573"/>
            <a:ext cx="724357" cy="390265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游中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21334" y="2003313"/>
            <a:ext cx="1393525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入园 · 游玩 · 消费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54358" y="2650799"/>
            <a:ext cx="3955877" cy="2971342"/>
          </a:xfrm>
          <a:prstGeom prst="roundRect">
            <a:avLst>
              <a:gd name="adj" fmla="val 3582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31751" y="2739496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5E7772"/>
                </a:solidFill>
                <a:latin typeface="微软雅黑"/>
                <a:ea typeface="微软雅黑"/>
              </a:rPr>
              <a:t>场景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231751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入园核验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97038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导览讲解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962324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陪伴互动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27610" y="3049935"/>
            <a:ext cx="93525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无障碍服务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231751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乐园项目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097038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演出观看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962324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游船乘坐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27610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餐饮购物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231751" y="365307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停车租赁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097038" y="365307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酒店温泉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31751" y="4034469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智能体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231751" y="4344908"/>
            <a:ext cx="772647" cy="30156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智能导览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066487" y="4344908"/>
            <a:ext cx="694052" cy="30156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AI 伴游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822627" y="4344908"/>
            <a:ext cx="501629" cy="30156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手语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386344" y="4344908"/>
            <a:ext cx="1450192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乐园排队与项目推荐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231751" y="4708565"/>
            <a:ext cx="1043665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演出选座推荐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337505" y="4708565"/>
            <a:ext cx="1043665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餐饮二消推荐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443258" y="4708565"/>
            <a:ext cx="772647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停车引导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231751" y="5072222"/>
            <a:ext cx="1179174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自助机语音购票</a:t>
            </a:r>
          </a:p>
        </p:txBody>
      </p:sp>
      <p:sp>
        <p:nvSpPr>
          <p:cNvPr id="86" name="Oval 85"/>
          <p:cNvSpPr/>
          <p:nvPr/>
        </p:nvSpPr>
        <p:spPr>
          <a:xfrm>
            <a:off x="8276325" y="1896877"/>
            <a:ext cx="567659" cy="56765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camera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8240" y="2038791"/>
            <a:ext cx="283829" cy="283829"/>
          </a:xfrm>
          <a:prstGeom prst="rect">
            <a:avLst/>
          </a:prstGeom>
        </p:spPr>
      </p:pic>
      <p:sp>
        <p:nvSpPr>
          <p:cNvPr id="88" name="Rounded Rectangle 87"/>
          <p:cNvSpPr/>
          <p:nvPr/>
        </p:nvSpPr>
        <p:spPr>
          <a:xfrm>
            <a:off x="8941551" y="1985573"/>
            <a:ext cx="724357" cy="390265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游后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754605" y="2003313"/>
            <a:ext cx="1393525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回味 · 分享 · 再来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187629" y="2650799"/>
            <a:ext cx="2705252" cy="2971342"/>
          </a:xfrm>
          <a:prstGeom prst="roundRect">
            <a:avLst>
              <a:gd name="adj" fmla="val 3934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365021" y="2739496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5E7772"/>
                </a:solidFill>
                <a:latin typeface="微软雅黑"/>
                <a:ea typeface="微软雅黑"/>
              </a:rPr>
              <a:t>场景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365021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拍照留念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230309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游记分享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365021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点评反馈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230309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年卡复游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365021" y="365307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积分权益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365021" y="4034469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智能体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365021" y="4344908"/>
            <a:ext cx="694052" cy="30156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AI 旅拍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121162" y="4344908"/>
            <a:ext cx="1179174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游记与行程总结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365021" y="4708565"/>
            <a:ext cx="1043665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点评分享助手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470775" y="4708565"/>
            <a:ext cx="1043665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年卡服务助手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94318" y="5755187"/>
            <a:ext cx="665226" cy="24835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已有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748240" y="5755187"/>
            <a:ext cx="842619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可扩展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768254" y="5755187"/>
            <a:ext cx="7095744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实心为已有，空心为基于积累可扩展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景区端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景区每条业务线都产数、用数，AI 都能帮上忙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以景区 / 文旅集团为例：从经营管理到设备终端，每条业务线 AI 能帮什么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42  ·  AI＋数据平台 · 03  AI 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90008"/>
            <a:ext cx="9898562" cy="372526"/>
          </a:xfrm>
          <a:prstGeom prst="roundRect">
            <a:avLst>
              <a:gd name="adj" fmla="val 19047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27363" y="1990008"/>
            <a:ext cx="957762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业务线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62519" y="1990008"/>
            <a:ext cx="2546981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包含哪些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86894" y="1990008"/>
            <a:ext cx="177507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产生什么数据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39363" y="1990008"/>
            <a:ext cx="1729668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用数据做什么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46425" y="1990008"/>
            <a:ext cx="2002106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AI 能帮什么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94318" y="2398014"/>
            <a:ext cx="9898562" cy="408005"/>
          </a:xfrm>
          <a:prstGeom prst="roundRect">
            <a:avLst>
              <a:gd name="adj" fmla="val 1304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27363" y="2398014"/>
            <a:ext cx="940023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经营管理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62519" y="2398014"/>
            <a:ext cx="252924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集团 / 景区管理层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86894" y="2398014"/>
            <a:ext cx="175733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汇总各条线的数据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39363" y="2398014"/>
            <a:ext cx="1711928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看收入、客流、同比环比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46425" y="2398014"/>
            <a:ext cx="1984366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智能问数 · 日报周报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94318" y="2841498"/>
            <a:ext cx="9898562" cy="408005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27363" y="2841498"/>
            <a:ext cx="940023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票务运营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62519" y="2841498"/>
            <a:ext cx="252924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定价库存 · 分销渠道 · 团队 · 检票核销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86894" y="2841498"/>
            <a:ext cx="175733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订单、核销、渠道、价格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39363" y="2841498"/>
            <a:ext cx="1711928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调价调库存、渠道结算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46425" y="2841498"/>
            <a:ext cx="1984366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票务运营助手 · 检票异常解释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94318" y="3284982"/>
            <a:ext cx="9898562" cy="408005"/>
          </a:xfrm>
          <a:prstGeom prst="roundRect">
            <a:avLst>
              <a:gd name="adj" fmla="val 1304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27363" y="3284982"/>
            <a:ext cx="940023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业态运营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62519" y="3284982"/>
            <a:ext cx="252924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乐园 · 演出 · 游船 · 酒店 · 温泉 · 餐饮零售 · 租赁 · 停车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86894" y="3284982"/>
            <a:ext cx="175733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各业态订单与消费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39363" y="3284982"/>
            <a:ext cx="1711928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业态收入、二次消费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46425" y="3284982"/>
            <a:ext cx="1984366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业态经营助手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94318" y="3728466"/>
            <a:ext cx="9898562" cy="408005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27363" y="3728466"/>
            <a:ext cx="940023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运营服务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62519" y="3728466"/>
            <a:ext cx="252924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年卡 · 分时预约 · 候补 · 免证 · 一卡通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986894" y="3728466"/>
            <a:ext cx="175733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年卡、预约、入园记录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39363" y="3728466"/>
            <a:ext cx="1711928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调控预约、年卡续费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46425" y="3728466"/>
            <a:ext cx="1984366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智能客服 · 智能导览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94318" y="4171950"/>
            <a:ext cx="9898562" cy="408005"/>
          </a:xfrm>
          <a:prstGeom prst="roundRect">
            <a:avLst>
              <a:gd name="adj" fmla="val 1304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27363" y="4171950"/>
            <a:ext cx="940023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财务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62519" y="4171950"/>
            <a:ext cx="252924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对账 · 发票 · 报表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86894" y="4171950"/>
            <a:ext cx="175733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结算、收款、发票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39363" y="4171950"/>
            <a:ext cx="1711928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对账、收入确认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46425" y="4171950"/>
            <a:ext cx="1984366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对账助手 · 发票助手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94318" y="4615434"/>
            <a:ext cx="9898562" cy="408005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27363" y="4615434"/>
            <a:ext cx="940023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营销会员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62519" y="4615434"/>
            <a:ext cx="252924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会员 · 人群 · 全民营销 · 活动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986894" y="4615434"/>
            <a:ext cx="175733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会员、积分、推广、活动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939363" y="4615434"/>
            <a:ext cx="1711928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圈人群、活动复盘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846425" y="4615434"/>
            <a:ext cx="1984366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会员画像 · 营销文案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94318" y="5058918"/>
            <a:ext cx="9898562" cy="408005"/>
          </a:xfrm>
          <a:prstGeom prst="roundRect">
            <a:avLst>
              <a:gd name="adj" fmla="val 1304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127363" y="5058918"/>
            <a:ext cx="940023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安全调度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262519" y="5058918"/>
            <a:ext cx="252924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客流秩序 · 车船调度 · 防火生态 · 气象设施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986894" y="5058918"/>
            <a:ext cx="175733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客流、车船、物联、工单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39363" y="5058918"/>
            <a:ext cx="1711928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预警、派单、处置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846425" y="5058918"/>
            <a:ext cx="1984366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调度智能体 · 消息预警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94318" y="5502402"/>
            <a:ext cx="9898562" cy="408005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127363" y="5502402"/>
            <a:ext cx="940023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设备终端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262519" y="5502402"/>
            <a:ext cx="252924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闸机 · 自助机 · 窗口 · 边云网关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986894" y="5502402"/>
            <a:ext cx="1757335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设备状态、刷证刷脸记录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939363" y="5502402"/>
            <a:ext cx="1711928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巡检、故障定位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846425" y="5502402"/>
            <a:ext cx="1984366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设备运维诊断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数字大脑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智能体平台上面向景区管理者的重点方向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数字大脑 = 智能问数 + 智能洞察 + 调度智能体；请求同样经智能体平台分发，数据都来自数据平台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43  ·  AI＋数据平台 · 03  AI 平台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318" y="1941225"/>
            <a:ext cx="1729587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微软雅黑"/>
                <a:ea typeface="微软雅黑"/>
              </a:rPr>
              <a:t>① 管理者在哪问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4318" y="2251664"/>
            <a:ext cx="1729587" cy="443483"/>
          </a:xfrm>
          <a:prstGeom prst="roundRect">
            <a:avLst>
              <a:gd name="adj" fmla="val 2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景数通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4318" y="2783845"/>
            <a:ext cx="1729587" cy="443483"/>
          </a:xfrm>
          <a:prstGeom prst="roundRect">
            <a:avLst>
              <a:gd name="adj" fmla="val 2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票付通 APP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94318" y="3316025"/>
            <a:ext cx="1729587" cy="443483"/>
          </a:xfrm>
          <a:prstGeom prst="roundRect">
            <a:avLst>
              <a:gd name="adj" fmla="val 2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飞书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4318" y="3848206"/>
            <a:ext cx="1729587" cy="443483"/>
          </a:xfrm>
          <a:prstGeom prst="roundRect">
            <a:avLst>
              <a:gd name="adj" fmla="val 2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大屏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2794863" y="3165241"/>
            <a:ext cx="266090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23041" y="1941225"/>
            <a:ext cx="204002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微软雅黑"/>
                <a:ea typeface="微软雅黑"/>
              </a:rPr>
              <a:t>② 经平台分发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123041" y="2251664"/>
            <a:ext cx="2040026" cy="2040026"/>
          </a:xfrm>
          <a:prstGeom prst="roundRect">
            <a:avLst>
              <a:gd name="adj" fmla="val 6086"/>
            </a:avLst>
          </a:prstGeom>
          <a:solidFill>
            <a:srgbClr val="FCF1E6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256086" y="2358100"/>
            <a:ext cx="425744" cy="425744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spli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523" y="2464536"/>
            <a:ext cx="212872" cy="21287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743919" y="2340361"/>
            <a:ext cx="1374799" cy="4612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B26A2C"/>
                </a:solidFill>
                <a:latin typeface="微软雅黑"/>
                <a:ea typeface="微软雅黑"/>
              </a:rPr>
              <a:t>智能体平台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82696" y="2890281"/>
            <a:ext cx="177393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认人　</a:t>
            </a: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哪个景区、什么权限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82696" y="3236198"/>
            <a:ext cx="177393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听懂　</a:t>
            </a: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查数 / 找原因 / 派任务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82696" y="3582116"/>
            <a:ext cx="177393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分发　</a:t>
            </a: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交给数字大脑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82696" y="3928033"/>
            <a:ext cx="177393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兜底　</a:t>
            </a: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转人工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62203" y="1941225"/>
            <a:ext cx="288264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微软雅黑"/>
                <a:ea typeface="微软雅黑"/>
              </a:rPr>
              <a:t>③ 数字大脑的三类智能体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562203" y="2251664"/>
            <a:ext cx="2882646" cy="620876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chart-colum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4118" y="2437927"/>
            <a:ext cx="248351" cy="248351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058905" y="2269403"/>
            <a:ext cx="2306116" cy="31043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智能问数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58905" y="2549685"/>
            <a:ext cx="2306116" cy="2856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E6F6F2"/>
                </a:solidFill>
                <a:latin typeface="微软雅黑"/>
                <a:ea typeface="微软雅黑"/>
              </a:rPr>
              <a:t>查数：“今天卖了多少票？”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5234025" y="2464536"/>
            <a:ext cx="266090" cy="195132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562203" y="2961238"/>
            <a:ext cx="2882646" cy="620876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lightbulb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4118" y="3147500"/>
            <a:ext cx="248351" cy="248351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058905" y="2978978"/>
            <a:ext cx="2306116" cy="31043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智能洞察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58905" y="3259259"/>
            <a:ext cx="2306116" cy="2856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E6F6F2"/>
                </a:solidFill>
                <a:latin typeface="微软雅黑"/>
                <a:ea typeface="微软雅黑"/>
              </a:rPr>
              <a:t>找原因：“为什么比上周少？”</a:t>
            </a:r>
          </a:p>
        </p:txBody>
      </p:sp>
      <p:sp>
        <p:nvSpPr>
          <p:cNvPr id="69" name="Right Arrow 68"/>
          <p:cNvSpPr/>
          <p:nvPr/>
        </p:nvSpPr>
        <p:spPr>
          <a:xfrm>
            <a:off x="5234025" y="3174110"/>
            <a:ext cx="266090" cy="195132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5562203" y="3670812"/>
            <a:ext cx="2882646" cy="620876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sire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4118" y="3857076"/>
            <a:ext cx="248351" cy="248351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058905" y="3688551"/>
            <a:ext cx="2306116" cy="31043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调度智能体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58905" y="3968833"/>
            <a:ext cx="2306116" cy="2856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E6F6F2"/>
                </a:solidFill>
                <a:latin typeface="微软雅黑"/>
                <a:ea typeface="微软雅黑"/>
              </a:rPr>
              <a:t>派任务：工单、人员安全、信息通知</a:t>
            </a:r>
          </a:p>
        </p:txBody>
      </p:sp>
      <p:sp>
        <p:nvSpPr>
          <p:cNvPr id="74" name="Right Arrow 73"/>
          <p:cNvSpPr/>
          <p:nvPr/>
        </p:nvSpPr>
        <p:spPr>
          <a:xfrm>
            <a:off x="5234025" y="3883684"/>
            <a:ext cx="266090" cy="195132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843985" y="1941225"/>
            <a:ext cx="204889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1">
                <a:solidFill>
                  <a:srgbClr val="2CAB93"/>
                </a:solidFill>
                <a:latin typeface="微软雅黑"/>
                <a:ea typeface="微软雅黑"/>
              </a:rPr>
              <a:t>④ 数据从哪来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843985" y="2251664"/>
            <a:ext cx="2048896" cy="2040026"/>
          </a:xfrm>
          <a:prstGeom prst="roundRect">
            <a:avLst>
              <a:gd name="adj" fmla="val 6086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databas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1039" y="2384709"/>
            <a:ext cx="354787" cy="354787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8843985" y="2783845"/>
            <a:ext cx="204889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数据平台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003639" y="3138632"/>
            <a:ext cx="1729587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认证过的指标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003639" y="3413591"/>
            <a:ext cx="1729587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标签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003639" y="3688552"/>
            <a:ext cx="1729587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实时数据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003639" y="3963512"/>
            <a:ext cx="1729587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知识库</a:t>
            </a:r>
          </a:p>
        </p:txBody>
      </p:sp>
      <p:sp>
        <p:nvSpPr>
          <p:cNvPr id="83" name="Right Arrow 82"/>
          <p:cNvSpPr/>
          <p:nvPr/>
        </p:nvSpPr>
        <p:spPr>
          <a:xfrm>
            <a:off x="8515807" y="3165241"/>
            <a:ext cx="266090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994318" y="4469084"/>
            <a:ext cx="9898562" cy="1472366"/>
          </a:xfrm>
          <a:prstGeom prst="roundRect">
            <a:avLst>
              <a:gd name="adj" fmla="val 722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216060" y="4540041"/>
            <a:ext cx="7982712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CAB93"/>
                </a:solidFill>
                <a:latin typeface="微软雅黑"/>
                <a:ea typeface="微软雅黑"/>
              </a:rPr>
              <a:t>近期要完整跑通的一个场景：客流预警到处置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216060" y="4912568"/>
            <a:ext cx="1354104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客流接近上限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实时数据</a:t>
            </a:r>
          </a:p>
        </p:txBody>
      </p:sp>
      <p:sp>
        <p:nvSpPr>
          <p:cNvPr id="87" name="Right Arrow 86"/>
          <p:cNvSpPr/>
          <p:nvPr/>
        </p:nvSpPr>
        <p:spPr>
          <a:xfrm>
            <a:off x="2605643" y="5200832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2836255" y="4912568"/>
            <a:ext cx="1354104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洞察自动预警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智能洞察</a:t>
            </a:r>
          </a:p>
        </p:txBody>
      </p:sp>
      <p:sp>
        <p:nvSpPr>
          <p:cNvPr id="89" name="Right Arrow 88"/>
          <p:cNvSpPr/>
          <p:nvPr/>
        </p:nvSpPr>
        <p:spPr>
          <a:xfrm>
            <a:off x="4225838" y="5200832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4456450" y="4912568"/>
            <a:ext cx="1354104" cy="753922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生成工单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E6F6F2"/>
                </a:solidFill>
                <a:latin typeface="微软雅黑"/>
                <a:ea typeface="微软雅黑"/>
              </a:rPr>
              <a:t>调度智能体</a:t>
            </a:r>
          </a:p>
        </p:txBody>
      </p:sp>
      <p:sp>
        <p:nvSpPr>
          <p:cNvPr id="91" name="Right Arrow 90"/>
          <p:cNvSpPr/>
          <p:nvPr/>
        </p:nvSpPr>
        <p:spPr>
          <a:xfrm>
            <a:off x="5846033" y="5200832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076645" y="4912568"/>
            <a:ext cx="1354104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派给现场人员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APP / 飞书</a:t>
            </a:r>
          </a:p>
        </p:txBody>
      </p:sp>
      <p:sp>
        <p:nvSpPr>
          <p:cNvPr id="93" name="Right Arrow 92"/>
          <p:cNvSpPr/>
          <p:nvPr/>
        </p:nvSpPr>
        <p:spPr>
          <a:xfrm>
            <a:off x="7466227" y="5200832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7696840" y="4912568"/>
            <a:ext cx="1354104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处置结果回写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数据平台</a:t>
            </a:r>
          </a:p>
        </p:txBody>
      </p:sp>
      <p:sp>
        <p:nvSpPr>
          <p:cNvPr id="95" name="Right Arrow 94"/>
          <p:cNvSpPr/>
          <p:nvPr/>
        </p:nvSpPr>
        <p:spPr>
          <a:xfrm>
            <a:off x="9086423" y="5200832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9317034" y="4912568"/>
            <a:ext cx="1354104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复盘优化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越用越准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16060" y="5710839"/>
            <a:ext cx="9455078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跑通以后可以对外展示，再复制到其他景区和业态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全景智能体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最终都由自己的平台统一承载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四条产品线的智能体，在一个平台上统一搭建、运营、计量和评估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44  ·  AI＋数据平台 · 03  AI 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790440"/>
            <a:ext cx="9898562" cy="709574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building2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060" y="1967834"/>
            <a:ext cx="354787" cy="35478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703892" y="1790440"/>
            <a:ext cx="3193084" cy="7095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自己的智能体平台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19584" y="2003313"/>
            <a:ext cx="850503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统一搭建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94262" y="2003313"/>
            <a:ext cx="850503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统一运营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68941" y="2003313"/>
            <a:ext cx="1275509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统一计量到景区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68627" y="2003313"/>
            <a:ext cx="113384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统一评估效果</a:t>
            </a:r>
          </a:p>
        </p:txBody>
      </p:sp>
      <p:sp>
        <p:nvSpPr>
          <p:cNvPr id="51" name="Up Arrow 50"/>
          <p:cNvSpPr/>
          <p:nvPr/>
        </p:nvSpPr>
        <p:spPr>
          <a:xfrm>
            <a:off x="2058680" y="2553233"/>
            <a:ext cx="195132" cy="212872"/>
          </a:xfrm>
          <a:prstGeom prst="upArrow">
            <a:avLst/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Up Arrow 51"/>
          <p:cNvSpPr/>
          <p:nvPr/>
        </p:nvSpPr>
        <p:spPr>
          <a:xfrm>
            <a:off x="4630887" y="2553233"/>
            <a:ext cx="195132" cy="212872"/>
          </a:xfrm>
          <a:prstGeom prst="upArrow">
            <a:avLst/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Up Arrow 52"/>
          <p:cNvSpPr/>
          <p:nvPr/>
        </p:nvSpPr>
        <p:spPr>
          <a:xfrm>
            <a:off x="7203094" y="2553233"/>
            <a:ext cx="195132" cy="212872"/>
          </a:xfrm>
          <a:prstGeom prst="upArrow">
            <a:avLst/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Up Arrow 53"/>
          <p:cNvSpPr/>
          <p:nvPr/>
        </p:nvSpPr>
        <p:spPr>
          <a:xfrm>
            <a:off x="9775301" y="2553233"/>
            <a:ext cx="195132" cy="212872"/>
          </a:xfrm>
          <a:prstGeom prst="upArrow">
            <a:avLst/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94318" y="2881411"/>
            <a:ext cx="9898562" cy="638616"/>
          </a:xfrm>
          <a:prstGeom prst="roundRect">
            <a:avLst>
              <a:gd name="adj" fmla="val 1388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27363" y="2987847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smartphon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799" y="3094283"/>
            <a:ext cx="212872" cy="21287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659544" y="2952369"/>
            <a:ext cx="2128723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畅游 AI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59544" y="3218459"/>
            <a:ext cx="212872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面向游客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655222" y="3058805"/>
            <a:ext cx="730270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智能助手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47580" y="3058805"/>
            <a:ext cx="730270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智能客服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239938" y="3058805"/>
            <a:ext cx="730270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智能导览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032296" y="3058805"/>
            <a:ext cx="655247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AI 伴游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749632" y="3058805"/>
            <a:ext cx="655247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AI 旅拍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466967" y="3058805"/>
            <a:ext cx="471571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手语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00626" y="3058805"/>
            <a:ext cx="91394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AI 旅游规划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976660" y="3058805"/>
            <a:ext cx="91394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AI 智能购票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94318" y="3608725"/>
            <a:ext cx="9898562" cy="638616"/>
          </a:xfrm>
          <a:prstGeom prst="roundRect">
            <a:avLst>
              <a:gd name="adj" fmla="val 1388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27363" y="3715161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brai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3799" y="3821597"/>
            <a:ext cx="212872" cy="21287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59544" y="3679682"/>
            <a:ext cx="2128723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AI 数字大脑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659544" y="3945773"/>
            <a:ext cx="212872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面向景区管理者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655222" y="3786118"/>
            <a:ext cx="913945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AI 智能问数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631256" y="3786118"/>
            <a:ext cx="913945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AI 智能洞察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607291" y="3786118"/>
            <a:ext cx="988969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消息通知预警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658348" y="3786118"/>
            <a:ext cx="988969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工单调度处置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94318" y="4336039"/>
            <a:ext cx="9898562" cy="638616"/>
          </a:xfrm>
          <a:prstGeom prst="roundRect">
            <a:avLst>
              <a:gd name="adj" fmla="val 1388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127363" y="4442475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ticke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799" y="4548911"/>
            <a:ext cx="212872" cy="212872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659544" y="4406996"/>
            <a:ext cx="2128723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智慧票务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59544" y="4673086"/>
            <a:ext cx="212872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面向票务与财务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655222" y="4513432"/>
            <a:ext cx="121145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票务 AI 运营助手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928760" y="4513432"/>
            <a:ext cx="91394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AI 对账助手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94318" y="5063352"/>
            <a:ext cx="9898562" cy="638616"/>
          </a:xfrm>
          <a:prstGeom prst="roundRect">
            <a:avLst>
              <a:gd name="adj" fmla="val 1388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27363" y="5169789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siren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799" y="5276225"/>
            <a:ext cx="212872" cy="212872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1659544" y="5134310"/>
            <a:ext cx="2128723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景区 AI 调度中枢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659544" y="5400400"/>
            <a:ext cx="212872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面向安全调度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655222" y="5240746"/>
            <a:ext cx="73027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旅游安全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447580" y="5240746"/>
            <a:ext cx="73027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秩序治理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239938" y="5240746"/>
            <a:ext cx="73027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车辆调度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032296" y="5240746"/>
            <a:ext cx="73027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游船调度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824654" y="5240746"/>
            <a:ext cx="73027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森林防火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617012" y="5240746"/>
            <a:ext cx="73027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生态监测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409371" y="5240746"/>
            <a:ext cx="73027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气象服务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201729" y="5240746"/>
            <a:ext cx="730270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设施监测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94318" y="5861624"/>
            <a:ext cx="665226" cy="24835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已有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748240" y="5861624"/>
            <a:ext cx="842619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规划中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68254" y="5861624"/>
            <a:ext cx="5321808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实心为已有，空心为规划中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AI 怎么建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先借力快交付，边做边练，逐步换成自己的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市场和产品还在验证期，先求快；能力在自己手里攒，时机到了再切，成本降下来、能力可控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45  ·  AI＋数据平台 · 03  AI 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27920"/>
            <a:ext cx="3033430" cy="2439162"/>
          </a:xfrm>
          <a:prstGeom prst="roundRect">
            <a:avLst>
              <a:gd name="adj" fmla="val 509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71711" y="2087575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rocke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669" y="2209533"/>
            <a:ext cx="243916" cy="24391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92589" y="2052096"/>
            <a:ext cx="2146462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1F3A35"/>
                </a:solidFill>
                <a:latin typeface="微软雅黑"/>
                <a:ea typeface="微软雅黑"/>
              </a:rPr>
              <a:t>先借力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92589" y="2389144"/>
            <a:ext cx="214646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26A2C"/>
                </a:solidFill>
                <a:latin typeface="微软雅黑"/>
                <a:ea typeface="微软雅黑"/>
              </a:rPr>
              <a:t>目的：快，先证明能卖</a:t>
            </a:r>
          </a:p>
        </p:txBody>
      </p:sp>
      <p:pic>
        <p:nvPicPr>
          <p:cNvPr id="49" name="Picture 48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060" y="2912455"/>
            <a:ext cx="212872" cy="212872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526498" y="2841498"/>
            <a:ext cx="236820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成熟平台快速交付</a:t>
            </a:r>
          </a:p>
        </p:txBody>
      </p:sp>
      <p:pic>
        <p:nvPicPr>
          <p:cNvPr id="51" name="Picture 50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060" y="3373678"/>
            <a:ext cx="212872" cy="21287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526498" y="3302721"/>
            <a:ext cx="236820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客户指定的平台照样做</a:t>
            </a:r>
          </a:p>
        </p:txBody>
      </p:sp>
      <p:pic>
        <p:nvPicPr>
          <p:cNvPr id="53" name="Picture 52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060" y="3834902"/>
            <a:ext cx="212872" cy="21287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526498" y="3763944"/>
            <a:ext cx="236820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先把场景跑通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4116444" y="3018891"/>
            <a:ext cx="221742" cy="24835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426884" y="1927920"/>
            <a:ext cx="3033430" cy="2439162"/>
          </a:xfrm>
          <a:prstGeom prst="roundRect">
            <a:avLst>
              <a:gd name="adj" fmla="val 509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604278" y="2087575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repea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236" y="2209533"/>
            <a:ext cx="243916" cy="243916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5225155" y="2052096"/>
            <a:ext cx="2146462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1F3A35"/>
                </a:solidFill>
                <a:latin typeface="微软雅黑"/>
                <a:ea typeface="微软雅黑"/>
              </a:rPr>
              <a:t>边做边练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25155" y="2389144"/>
            <a:ext cx="214646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26A2C"/>
                </a:solidFill>
                <a:latin typeface="微软雅黑"/>
                <a:ea typeface="微软雅黑"/>
              </a:rPr>
              <a:t>目的：占市场，攒能力</a:t>
            </a:r>
          </a:p>
        </p:txBody>
      </p:sp>
      <p:pic>
        <p:nvPicPr>
          <p:cNvPr id="61" name="Picture 60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626" y="2912455"/>
            <a:ext cx="212872" cy="21287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4959065" y="2841498"/>
            <a:ext cx="236820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模板、知识、接口、数据留在手里</a:t>
            </a:r>
          </a:p>
        </p:txBody>
      </p:sp>
      <p:pic>
        <p:nvPicPr>
          <p:cNvPr id="63" name="Picture 62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626" y="3373678"/>
            <a:ext cx="212872" cy="212872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4959065" y="3302721"/>
            <a:ext cx="236820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自己的智能体平台逐步建</a:t>
            </a:r>
          </a:p>
        </p:txBody>
      </p:sp>
      <p:pic>
        <p:nvPicPr>
          <p:cNvPr id="65" name="Picture 64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626" y="3834902"/>
            <a:ext cx="212872" cy="212872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4959065" y="3763944"/>
            <a:ext cx="236820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按业态复制推广</a:t>
            </a:r>
          </a:p>
        </p:txBody>
      </p:sp>
      <p:sp>
        <p:nvSpPr>
          <p:cNvPr id="67" name="Right Arrow 66"/>
          <p:cNvSpPr/>
          <p:nvPr/>
        </p:nvSpPr>
        <p:spPr>
          <a:xfrm>
            <a:off x="7549011" y="3018891"/>
            <a:ext cx="221742" cy="24835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859450" y="1927920"/>
            <a:ext cx="3033430" cy="2439162"/>
          </a:xfrm>
          <a:prstGeom prst="roundRect">
            <a:avLst>
              <a:gd name="adj" fmla="val 509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036844" y="2087575"/>
            <a:ext cx="487832" cy="487832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building2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2150" y="2202881"/>
            <a:ext cx="257220" cy="25722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8657722" y="2052096"/>
            <a:ext cx="2146462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逐步换成自己的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57722" y="2389144"/>
            <a:ext cx="214646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FFE7CF"/>
                </a:solidFill>
                <a:latin typeface="微软雅黑"/>
                <a:ea typeface="微软雅黑"/>
              </a:rPr>
              <a:t>目的：省钱，能力可控</a:t>
            </a:r>
          </a:p>
        </p:txBody>
      </p:sp>
      <p:pic>
        <p:nvPicPr>
          <p:cNvPr id="73" name="Picture 72" descr="circle-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1192" y="2912455"/>
            <a:ext cx="212872" cy="212872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8391631" y="2841498"/>
            <a:ext cx="236820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平台变贵或受限时启动</a:t>
            </a:r>
          </a:p>
        </p:txBody>
      </p:sp>
      <p:pic>
        <p:nvPicPr>
          <p:cNvPr id="75" name="Picture 74" descr="circle-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1192" y="3373678"/>
            <a:ext cx="212872" cy="212872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8391631" y="3302721"/>
            <a:ext cx="236820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先小范围试，再扩大</a:t>
            </a:r>
          </a:p>
        </p:txBody>
      </p:sp>
      <p:pic>
        <p:nvPicPr>
          <p:cNvPr id="77" name="Picture 76" descr="circle-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1192" y="3834902"/>
            <a:ext cx="212872" cy="212872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8391631" y="3763944"/>
            <a:ext cx="236820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随时能退回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94318" y="4526737"/>
            <a:ext cx="9898562" cy="842619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19050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target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9451" y="4748479"/>
            <a:ext cx="354787" cy="354787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1659544" y="4571085"/>
            <a:ext cx="1951329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1816F"/>
                </a:solidFill>
                <a:latin typeface="微软雅黑"/>
                <a:ea typeface="微软雅黑"/>
              </a:rPr>
              <a:t>近期重点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659544" y="4925872"/>
            <a:ext cx="1951329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CAB93"/>
                </a:solidFill>
                <a:latin typeface="微软雅黑"/>
                <a:ea typeface="微软雅黑"/>
              </a:rPr>
              <a:t>数字大脑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566525" y="4801697"/>
            <a:ext cx="2433002" cy="301569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 w="9525">
            <a:solidFill>
              <a:srgbClr val="DD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问数体验做好：小Q 上加一层智能体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05964" y="4801697"/>
            <a:ext cx="1367901" cy="301569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 w="9525">
            <a:solidFill>
              <a:srgbClr val="DD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调度智能体做起来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580302" y="4801697"/>
            <a:ext cx="2316463" cy="301569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 w="9525">
            <a:solidFill>
              <a:srgbClr val="DD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找一个场景完整跑通，能对外展示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94318" y="5529011"/>
            <a:ext cx="9898562" cy="443484"/>
          </a:xfrm>
          <a:prstGeom prst="roundRect">
            <a:avLst>
              <a:gd name="adj" fmla="val 20000"/>
            </a:avLst>
          </a:prstGeom>
          <a:solidFill>
            <a:srgbClr val="FCF1E6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triangle-alert_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9451" y="5617706"/>
            <a:ext cx="266090" cy="266090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1570847" y="5529011"/>
            <a:ext cx="9144640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B26A2C"/>
                </a:solidFill>
                <a:latin typeface="微软雅黑"/>
                <a:ea typeface="微软雅黑"/>
              </a:rPr>
              <a:t>为什么要换成自己的　</a:t>
            </a: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规模越大，第三方平台的成本越高、功能越受限；模板、知识和数据要留在自己手里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怎么复制得快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六步上线，差异全部做成配置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实施人员和渠道伙伴按手册就能独立交付，不占核心研发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46  ·  AI＋数据平台 · 03  AI 平台</a:t>
            </a:r>
          </a:p>
        </p:txBody>
      </p:sp>
      <p:grpSp>
        <p:nvGrpSpPr>
          <p:cNvPr id="21000" name="素材 24"/>
          <p:cNvGrpSpPr/>
          <p:nvPr/>
        </p:nvGrpSpPr>
        <p:grpSpPr>
          <a:xfrm>
            <a:off x="994318" y="2504655"/>
            <a:ext cx="6740956" cy="1976135"/>
            <a:chOff x="936501" y="2932416"/>
            <a:chExt cx="9757504" cy="2860448"/>
          </a:xfrm>
        </p:grpSpPr>
        <p:sp>
          <p:nvSpPr>
            <p:cNvPr id="21001" name="Freeform 5"/>
            <p:cNvSpPr/>
            <p:nvPr/>
          </p:nvSpPr>
          <p:spPr bwMode="auto">
            <a:xfrm>
              <a:off x="7976709" y="3617221"/>
              <a:ext cx="2717296" cy="2175642"/>
            </a:xfrm>
            <a:custGeom>
              <a:avLst/>
              <a:gdLst>
                <a:gd name="T0" fmla="*/ 488 w 891"/>
                <a:gd name="T1" fmla="*/ 244 h 712"/>
                <a:gd name="T2" fmla="*/ 488 w 891"/>
                <a:gd name="T3" fmla="*/ 469 h 712"/>
                <a:gd name="T4" fmla="*/ 341 w 891"/>
                <a:gd name="T5" fmla="*/ 693 h 712"/>
                <a:gd name="T6" fmla="*/ 244 w 891"/>
                <a:gd name="T7" fmla="*/ 712 h 712"/>
                <a:gd name="T8" fmla="*/ 146 w 891"/>
                <a:gd name="T9" fmla="*/ 693 h 712"/>
                <a:gd name="T10" fmla="*/ 0 w 891"/>
                <a:gd name="T11" fmla="*/ 469 h 712"/>
                <a:gd name="T12" fmla="*/ 0 w 891"/>
                <a:gd name="T13" fmla="*/ 244 h 712"/>
                <a:gd name="T14" fmla="*/ 107 w 891"/>
                <a:gd name="T15" fmla="*/ 244 h 712"/>
                <a:gd name="T16" fmla="*/ 107 w 891"/>
                <a:gd name="T17" fmla="*/ 469 h 712"/>
                <a:gd name="T18" fmla="*/ 185 w 891"/>
                <a:gd name="T19" fmla="*/ 594 h 712"/>
                <a:gd name="T20" fmla="*/ 244 w 891"/>
                <a:gd name="T21" fmla="*/ 605 h 712"/>
                <a:gd name="T22" fmla="*/ 302 w 891"/>
                <a:gd name="T23" fmla="*/ 594 h 712"/>
                <a:gd name="T24" fmla="*/ 381 w 891"/>
                <a:gd name="T25" fmla="*/ 469 h 712"/>
                <a:gd name="T26" fmla="*/ 381 w 891"/>
                <a:gd name="T27" fmla="*/ 244 h 712"/>
                <a:gd name="T28" fmla="*/ 381 w 891"/>
                <a:gd name="T29" fmla="*/ 244 h 712"/>
                <a:gd name="T30" fmla="*/ 450 w 891"/>
                <a:gd name="T31" fmla="*/ 68 h 712"/>
                <a:gd name="T32" fmla="*/ 623 w 891"/>
                <a:gd name="T33" fmla="*/ 0 h 712"/>
                <a:gd name="T34" fmla="*/ 891 w 891"/>
                <a:gd name="T35" fmla="*/ 0 h 712"/>
                <a:gd name="T36" fmla="*/ 891 w 891"/>
                <a:gd name="T37" fmla="*/ 107 h 712"/>
                <a:gd name="T38" fmla="*/ 623 w 891"/>
                <a:gd name="T39" fmla="*/ 107 h 712"/>
                <a:gd name="T40" fmla="*/ 526 w 891"/>
                <a:gd name="T41" fmla="*/ 143 h 712"/>
                <a:gd name="T42" fmla="*/ 488 w 891"/>
                <a:gd name="T43" fmla="*/ 244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91" h="712">
                  <a:moveTo>
                    <a:pt x="488" y="244"/>
                  </a:moveTo>
                  <a:cubicBezTo>
                    <a:pt x="488" y="469"/>
                    <a:pt x="488" y="469"/>
                    <a:pt x="488" y="469"/>
                  </a:cubicBezTo>
                  <a:cubicBezTo>
                    <a:pt x="488" y="585"/>
                    <a:pt x="423" y="660"/>
                    <a:pt x="341" y="693"/>
                  </a:cubicBezTo>
                  <a:cubicBezTo>
                    <a:pt x="310" y="705"/>
                    <a:pt x="277" y="712"/>
                    <a:pt x="244" y="712"/>
                  </a:cubicBezTo>
                  <a:cubicBezTo>
                    <a:pt x="210" y="712"/>
                    <a:pt x="177" y="705"/>
                    <a:pt x="146" y="693"/>
                  </a:cubicBezTo>
                  <a:cubicBezTo>
                    <a:pt x="64" y="660"/>
                    <a:pt x="0" y="585"/>
                    <a:pt x="0" y="469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07" y="244"/>
                    <a:pt x="107" y="244"/>
                    <a:pt x="107" y="244"/>
                  </a:cubicBezTo>
                  <a:cubicBezTo>
                    <a:pt x="107" y="469"/>
                    <a:pt x="107" y="469"/>
                    <a:pt x="107" y="469"/>
                  </a:cubicBezTo>
                  <a:cubicBezTo>
                    <a:pt x="107" y="535"/>
                    <a:pt x="141" y="576"/>
                    <a:pt x="185" y="594"/>
                  </a:cubicBezTo>
                  <a:cubicBezTo>
                    <a:pt x="203" y="601"/>
                    <a:pt x="223" y="605"/>
                    <a:pt x="244" y="605"/>
                  </a:cubicBezTo>
                  <a:cubicBezTo>
                    <a:pt x="264" y="605"/>
                    <a:pt x="284" y="601"/>
                    <a:pt x="302" y="594"/>
                  </a:cubicBezTo>
                  <a:cubicBezTo>
                    <a:pt x="346" y="576"/>
                    <a:pt x="381" y="535"/>
                    <a:pt x="381" y="469"/>
                  </a:cubicBezTo>
                  <a:cubicBezTo>
                    <a:pt x="381" y="244"/>
                    <a:pt x="381" y="244"/>
                    <a:pt x="381" y="244"/>
                  </a:cubicBezTo>
                  <a:cubicBezTo>
                    <a:pt x="381" y="244"/>
                    <a:pt x="381" y="244"/>
                    <a:pt x="381" y="244"/>
                  </a:cubicBezTo>
                  <a:cubicBezTo>
                    <a:pt x="381" y="179"/>
                    <a:pt x="404" y="115"/>
                    <a:pt x="450" y="68"/>
                  </a:cubicBezTo>
                  <a:cubicBezTo>
                    <a:pt x="491" y="27"/>
                    <a:pt x="549" y="0"/>
                    <a:pt x="623" y="0"/>
                  </a:cubicBezTo>
                  <a:cubicBezTo>
                    <a:pt x="891" y="0"/>
                    <a:pt x="891" y="0"/>
                    <a:pt x="891" y="0"/>
                  </a:cubicBezTo>
                  <a:cubicBezTo>
                    <a:pt x="891" y="107"/>
                    <a:pt x="891" y="107"/>
                    <a:pt x="891" y="107"/>
                  </a:cubicBezTo>
                  <a:cubicBezTo>
                    <a:pt x="623" y="107"/>
                    <a:pt x="623" y="107"/>
                    <a:pt x="623" y="107"/>
                  </a:cubicBezTo>
                  <a:cubicBezTo>
                    <a:pt x="580" y="107"/>
                    <a:pt x="548" y="121"/>
                    <a:pt x="526" y="143"/>
                  </a:cubicBezTo>
                  <a:cubicBezTo>
                    <a:pt x="500" y="169"/>
                    <a:pt x="488" y="206"/>
                    <a:pt x="488" y="244"/>
                  </a:cubicBez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2" name="Freeform 6"/>
            <p:cNvSpPr/>
            <p:nvPr/>
          </p:nvSpPr>
          <p:spPr bwMode="auto">
            <a:xfrm>
              <a:off x="936501" y="2932416"/>
              <a:ext cx="2717296" cy="2175642"/>
            </a:xfrm>
            <a:custGeom>
              <a:avLst/>
              <a:gdLst>
                <a:gd name="T0" fmla="*/ 510 w 891"/>
                <a:gd name="T1" fmla="*/ 468 h 712"/>
                <a:gd name="T2" fmla="*/ 440 w 891"/>
                <a:gd name="T3" fmla="*/ 644 h 712"/>
                <a:gd name="T4" fmla="*/ 268 w 891"/>
                <a:gd name="T5" fmla="*/ 712 h 712"/>
                <a:gd name="T6" fmla="*/ 0 w 891"/>
                <a:gd name="T7" fmla="*/ 712 h 712"/>
                <a:gd name="T8" fmla="*/ 0 w 891"/>
                <a:gd name="T9" fmla="*/ 605 h 712"/>
                <a:gd name="T10" fmla="*/ 268 w 891"/>
                <a:gd name="T11" fmla="*/ 605 h 712"/>
                <a:gd name="T12" fmla="*/ 365 w 891"/>
                <a:gd name="T13" fmla="*/ 569 h 712"/>
                <a:gd name="T14" fmla="*/ 403 w 891"/>
                <a:gd name="T15" fmla="*/ 468 h 712"/>
                <a:gd name="T16" fmla="*/ 403 w 891"/>
                <a:gd name="T17" fmla="*/ 242 h 712"/>
                <a:gd name="T18" fmla="*/ 549 w 891"/>
                <a:gd name="T19" fmla="*/ 19 h 712"/>
                <a:gd name="T20" fmla="*/ 647 w 891"/>
                <a:gd name="T21" fmla="*/ 0 h 712"/>
                <a:gd name="T22" fmla="*/ 745 w 891"/>
                <a:gd name="T23" fmla="*/ 19 h 712"/>
                <a:gd name="T24" fmla="*/ 891 w 891"/>
                <a:gd name="T25" fmla="*/ 242 h 712"/>
                <a:gd name="T26" fmla="*/ 891 w 891"/>
                <a:gd name="T27" fmla="*/ 468 h 712"/>
                <a:gd name="T28" fmla="*/ 784 w 891"/>
                <a:gd name="T29" fmla="*/ 468 h 712"/>
                <a:gd name="T30" fmla="*/ 784 w 891"/>
                <a:gd name="T31" fmla="*/ 242 h 712"/>
                <a:gd name="T32" fmla="*/ 705 w 891"/>
                <a:gd name="T33" fmla="*/ 118 h 712"/>
                <a:gd name="T34" fmla="*/ 647 w 891"/>
                <a:gd name="T35" fmla="*/ 107 h 712"/>
                <a:gd name="T36" fmla="*/ 589 w 891"/>
                <a:gd name="T37" fmla="*/ 118 h 712"/>
                <a:gd name="T38" fmla="*/ 510 w 891"/>
                <a:gd name="T39" fmla="*/ 242 h 712"/>
                <a:gd name="T40" fmla="*/ 510 w 891"/>
                <a:gd name="T41" fmla="*/ 468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91" h="712">
                  <a:moveTo>
                    <a:pt x="510" y="468"/>
                  </a:moveTo>
                  <a:cubicBezTo>
                    <a:pt x="510" y="532"/>
                    <a:pt x="487" y="597"/>
                    <a:pt x="440" y="644"/>
                  </a:cubicBezTo>
                  <a:cubicBezTo>
                    <a:pt x="399" y="685"/>
                    <a:pt x="342" y="712"/>
                    <a:pt x="268" y="712"/>
                  </a:cubicBezTo>
                  <a:cubicBezTo>
                    <a:pt x="0" y="712"/>
                    <a:pt x="0" y="712"/>
                    <a:pt x="0" y="712"/>
                  </a:cubicBezTo>
                  <a:cubicBezTo>
                    <a:pt x="0" y="605"/>
                    <a:pt x="0" y="605"/>
                    <a:pt x="0" y="605"/>
                  </a:cubicBezTo>
                  <a:cubicBezTo>
                    <a:pt x="268" y="605"/>
                    <a:pt x="268" y="605"/>
                    <a:pt x="268" y="605"/>
                  </a:cubicBezTo>
                  <a:cubicBezTo>
                    <a:pt x="311" y="605"/>
                    <a:pt x="343" y="590"/>
                    <a:pt x="365" y="569"/>
                  </a:cubicBezTo>
                  <a:cubicBezTo>
                    <a:pt x="390" y="543"/>
                    <a:pt x="403" y="505"/>
                    <a:pt x="403" y="468"/>
                  </a:cubicBezTo>
                  <a:cubicBezTo>
                    <a:pt x="403" y="242"/>
                    <a:pt x="403" y="242"/>
                    <a:pt x="403" y="242"/>
                  </a:cubicBezTo>
                  <a:cubicBezTo>
                    <a:pt x="403" y="126"/>
                    <a:pt x="467" y="52"/>
                    <a:pt x="549" y="19"/>
                  </a:cubicBezTo>
                  <a:cubicBezTo>
                    <a:pt x="581" y="6"/>
                    <a:pt x="614" y="0"/>
                    <a:pt x="647" y="0"/>
                  </a:cubicBezTo>
                  <a:cubicBezTo>
                    <a:pt x="680" y="0"/>
                    <a:pt x="714" y="6"/>
                    <a:pt x="745" y="19"/>
                  </a:cubicBezTo>
                  <a:cubicBezTo>
                    <a:pt x="827" y="52"/>
                    <a:pt x="891" y="126"/>
                    <a:pt x="891" y="242"/>
                  </a:cubicBezTo>
                  <a:cubicBezTo>
                    <a:pt x="891" y="468"/>
                    <a:pt x="891" y="468"/>
                    <a:pt x="891" y="468"/>
                  </a:cubicBezTo>
                  <a:cubicBezTo>
                    <a:pt x="784" y="468"/>
                    <a:pt x="784" y="468"/>
                    <a:pt x="784" y="468"/>
                  </a:cubicBezTo>
                  <a:cubicBezTo>
                    <a:pt x="784" y="242"/>
                    <a:pt x="784" y="242"/>
                    <a:pt x="784" y="242"/>
                  </a:cubicBezTo>
                  <a:cubicBezTo>
                    <a:pt x="784" y="177"/>
                    <a:pt x="750" y="135"/>
                    <a:pt x="705" y="118"/>
                  </a:cubicBezTo>
                  <a:cubicBezTo>
                    <a:pt x="687" y="110"/>
                    <a:pt x="667" y="107"/>
                    <a:pt x="647" y="107"/>
                  </a:cubicBezTo>
                  <a:cubicBezTo>
                    <a:pt x="627" y="107"/>
                    <a:pt x="607" y="110"/>
                    <a:pt x="589" y="118"/>
                  </a:cubicBezTo>
                  <a:cubicBezTo>
                    <a:pt x="545" y="135"/>
                    <a:pt x="510" y="177"/>
                    <a:pt x="510" y="242"/>
                  </a:cubicBezTo>
                  <a:lnTo>
                    <a:pt x="510" y="468"/>
                  </a:ln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3" name="Freeform 7"/>
            <p:cNvSpPr/>
            <p:nvPr/>
          </p:nvSpPr>
          <p:spPr bwMode="auto">
            <a:xfrm>
              <a:off x="3327515" y="4362640"/>
              <a:ext cx="1486969" cy="1430224"/>
            </a:xfrm>
            <a:custGeom>
              <a:avLst/>
              <a:gdLst>
                <a:gd name="T0" fmla="*/ 488 w 488"/>
                <a:gd name="T1" fmla="*/ 0 h 468"/>
                <a:gd name="T2" fmla="*/ 488 w 488"/>
                <a:gd name="T3" fmla="*/ 225 h 468"/>
                <a:gd name="T4" fmla="*/ 342 w 488"/>
                <a:gd name="T5" fmla="*/ 449 h 468"/>
                <a:gd name="T6" fmla="*/ 244 w 488"/>
                <a:gd name="T7" fmla="*/ 468 h 468"/>
                <a:gd name="T8" fmla="*/ 146 w 488"/>
                <a:gd name="T9" fmla="*/ 449 h 468"/>
                <a:gd name="T10" fmla="*/ 0 w 488"/>
                <a:gd name="T11" fmla="*/ 225 h 468"/>
                <a:gd name="T12" fmla="*/ 0 w 488"/>
                <a:gd name="T13" fmla="*/ 0 h 468"/>
                <a:gd name="T14" fmla="*/ 107 w 488"/>
                <a:gd name="T15" fmla="*/ 0 h 468"/>
                <a:gd name="T16" fmla="*/ 107 w 488"/>
                <a:gd name="T17" fmla="*/ 225 h 468"/>
                <a:gd name="T18" fmla="*/ 186 w 488"/>
                <a:gd name="T19" fmla="*/ 350 h 468"/>
                <a:gd name="T20" fmla="*/ 244 w 488"/>
                <a:gd name="T21" fmla="*/ 361 h 468"/>
                <a:gd name="T22" fmla="*/ 302 w 488"/>
                <a:gd name="T23" fmla="*/ 350 h 468"/>
                <a:gd name="T24" fmla="*/ 381 w 488"/>
                <a:gd name="T25" fmla="*/ 225 h 468"/>
                <a:gd name="T26" fmla="*/ 381 w 488"/>
                <a:gd name="T27" fmla="*/ 0 h 468"/>
                <a:gd name="T28" fmla="*/ 488 w 488"/>
                <a:gd name="T29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468">
                  <a:moveTo>
                    <a:pt x="488" y="0"/>
                  </a:moveTo>
                  <a:cubicBezTo>
                    <a:pt x="488" y="225"/>
                    <a:pt x="488" y="225"/>
                    <a:pt x="488" y="225"/>
                  </a:cubicBezTo>
                  <a:cubicBezTo>
                    <a:pt x="488" y="341"/>
                    <a:pt x="424" y="416"/>
                    <a:pt x="342" y="449"/>
                  </a:cubicBezTo>
                  <a:cubicBezTo>
                    <a:pt x="311" y="461"/>
                    <a:pt x="277" y="468"/>
                    <a:pt x="244" y="468"/>
                  </a:cubicBezTo>
                  <a:cubicBezTo>
                    <a:pt x="211" y="468"/>
                    <a:pt x="178" y="461"/>
                    <a:pt x="146" y="449"/>
                  </a:cubicBezTo>
                  <a:cubicBezTo>
                    <a:pt x="64" y="416"/>
                    <a:pt x="0" y="341"/>
                    <a:pt x="0" y="22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225"/>
                    <a:pt x="107" y="225"/>
                    <a:pt x="107" y="225"/>
                  </a:cubicBezTo>
                  <a:cubicBezTo>
                    <a:pt x="107" y="291"/>
                    <a:pt x="142" y="332"/>
                    <a:pt x="186" y="350"/>
                  </a:cubicBezTo>
                  <a:cubicBezTo>
                    <a:pt x="204" y="357"/>
                    <a:pt x="224" y="361"/>
                    <a:pt x="244" y="361"/>
                  </a:cubicBezTo>
                  <a:cubicBezTo>
                    <a:pt x="264" y="361"/>
                    <a:pt x="284" y="357"/>
                    <a:pt x="302" y="350"/>
                  </a:cubicBezTo>
                  <a:cubicBezTo>
                    <a:pt x="347" y="332"/>
                    <a:pt x="381" y="291"/>
                    <a:pt x="381" y="225"/>
                  </a:cubicBezTo>
                  <a:cubicBezTo>
                    <a:pt x="381" y="0"/>
                    <a:pt x="381" y="0"/>
                    <a:pt x="381" y="0"/>
                  </a:cubicBezTo>
                  <a:lnTo>
                    <a:pt x="488" y="0"/>
                  </a:ln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4" name="Freeform 8"/>
            <p:cNvSpPr/>
            <p:nvPr/>
          </p:nvSpPr>
          <p:spPr bwMode="auto">
            <a:xfrm>
              <a:off x="4488201" y="2932416"/>
              <a:ext cx="1488257" cy="1430224"/>
            </a:xfrm>
            <a:custGeom>
              <a:avLst/>
              <a:gdLst>
                <a:gd name="T0" fmla="*/ 0 w 488"/>
                <a:gd name="T1" fmla="*/ 468 h 468"/>
                <a:gd name="T2" fmla="*/ 0 w 488"/>
                <a:gd name="T3" fmla="*/ 242 h 468"/>
                <a:gd name="T4" fmla="*/ 147 w 488"/>
                <a:gd name="T5" fmla="*/ 19 h 468"/>
                <a:gd name="T6" fmla="*/ 244 w 488"/>
                <a:gd name="T7" fmla="*/ 0 h 468"/>
                <a:gd name="T8" fmla="*/ 342 w 488"/>
                <a:gd name="T9" fmla="*/ 19 h 468"/>
                <a:gd name="T10" fmla="*/ 488 w 488"/>
                <a:gd name="T11" fmla="*/ 242 h 468"/>
                <a:gd name="T12" fmla="*/ 488 w 488"/>
                <a:gd name="T13" fmla="*/ 468 h 468"/>
                <a:gd name="T14" fmla="*/ 381 w 488"/>
                <a:gd name="T15" fmla="*/ 468 h 468"/>
                <a:gd name="T16" fmla="*/ 381 w 488"/>
                <a:gd name="T17" fmla="*/ 242 h 468"/>
                <a:gd name="T18" fmla="*/ 302 w 488"/>
                <a:gd name="T19" fmla="*/ 118 h 468"/>
                <a:gd name="T20" fmla="*/ 244 w 488"/>
                <a:gd name="T21" fmla="*/ 107 h 468"/>
                <a:gd name="T22" fmla="*/ 186 w 488"/>
                <a:gd name="T23" fmla="*/ 118 h 468"/>
                <a:gd name="T24" fmla="*/ 107 w 488"/>
                <a:gd name="T25" fmla="*/ 242 h 468"/>
                <a:gd name="T26" fmla="*/ 107 w 488"/>
                <a:gd name="T27" fmla="*/ 468 h 468"/>
                <a:gd name="T28" fmla="*/ 0 w 488"/>
                <a:gd name="T29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468">
                  <a:moveTo>
                    <a:pt x="0" y="468"/>
                  </a:moveTo>
                  <a:cubicBezTo>
                    <a:pt x="0" y="242"/>
                    <a:pt x="0" y="242"/>
                    <a:pt x="0" y="242"/>
                  </a:cubicBezTo>
                  <a:cubicBezTo>
                    <a:pt x="0" y="126"/>
                    <a:pt x="64" y="52"/>
                    <a:pt x="147" y="19"/>
                  </a:cubicBezTo>
                  <a:cubicBezTo>
                    <a:pt x="178" y="6"/>
                    <a:pt x="211" y="0"/>
                    <a:pt x="244" y="0"/>
                  </a:cubicBezTo>
                  <a:cubicBezTo>
                    <a:pt x="277" y="0"/>
                    <a:pt x="311" y="6"/>
                    <a:pt x="342" y="19"/>
                  </a:cubicBezTo>
                  <a:cubicBezTo>
                    <a:pt x="424" y="52"/>
                    <a:pt x="488" y="126"/>
                    <a:pt x="488" y="242"/>
                  </a:cubicBezTo>
                  <a:cubicBezTo>
                    <a:pt x="488" y="468"/>
                    <a:pt x="488" y="468"/>
                    <a:pt x="488" y="468"/>
                  </a:cubicBezTo>
                  <a:cubicBezTo>
                    <a:pt x="381" y="468"/>
                    <a:pt x="381" y="468"/>
                    <a:pt x="381" y="468"/>
                  </a:cubicBezTo>
                  <a:cubicBezTo>
                    <a:pt x="381" y="242"/>
                    <a:pt x="381" y="242"/>
                    <a:pt x="381" y="242"/>
                  </a:cubicBezTo>
                  <a:cubicBezTo>
                    <a:pt x="381" y="177"/>
                    <a:pt x="347" y="135"/>
                    <a:pt x="302" y="118"/>
                  </a:cubicBezTo>
                  <a:cubicBezTo>
                    <a:pt x="284" y="110"/>
                    <a:pt x="264" y="107"/>
                    <a:pt x="244" y="107"/>
                  </a:cubicBezTo>
                  <a:cubicBezTo>
                    <a:pt x="224" y="107"/>
                    <a:pt x="204" y="110"/>
                    <a:pt x="186" y="118"/>
                  </a:cubicBezTo>
                  <a:cubicBezTo>
                    <a:pt x="142" y="135"/>
                    <a:pt x="107" y="177"/>
                    <a:pt x="107" y="242"/>
                  </a:cubicBezTo>
                  <a:cubicBezTo>
                    <a:pt x="107" y="468"/>
                    <a:pt x="107" y="468"/>
                    <a:pt x="107" y="468"/>
                  </a:cubicBezTo>
                  <a:lnTo>
                    <a:pt x="0" y="468"/>
                  </a:lnTo>
                  <a:close/>
                </a:path>
              </a:pathLst>
            </a:custGeom>
            <a:solidFill>
              <a:srgbClr val="E39A57"/>
            </a:solidFill>
            <a:ln>
              <a:noFill/>
            </a:ln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5" name="Freeform 9"/>
            <p:cNvSpPr/>
            <p:nvPr/>
          </p:nvSpPr>
          <p:spPr bwMode="auto">
            <a:xfrm>
              <a:off x="5650177" y="4362640"/>
              <a:ext cx="1488257" cy="1430224"/>
            </a:xfrm>
            <a:custGeom>
              <a:avLst/>
              <a:gdLst>
                <a:gd name="T0" fmla="*/ 488 w 488"/>
                <a:gd name="T1" fmla="*/ 0 h 468"/>
                <a:gd name="T2" fmla="*/ 488 w 488"/>
                <a:gd name="T3" fmla="*/ 225 h 468"/>
                <a:gd name="T4" fmla="*/ 342 w 488"/>
                <a:gd name="T5" fmla="*/ 449 h 468"/>
                <a:gd name="T6" fmla="*/ 244 w 488"/>
                <a:gd name="T7" fmla="*/ 468 h 468"/>
                <a:gd name="T8" fmla="*/ 147 w 488"/>
                <a:gd name="T9" fmla="*/ 449 h 468"/>
                <a:gd name="T10" fmla="*/ 0 w 488"/>
                <a:gd name="T11" fmla="*/ 225 h 468"/>
                <a:gd name="T12" fmla="*/ 0 w 488"/>
                <a:gd name="T13" fmla="*/ 0 h 468"/>
                <a:gd name="T14" fmla="*/ 107 w 488"/>
                <a:gd name="T15" fmla="*/ 0 h 468"/>
                <a:gd name="T16" fmla="*/ 107 w 488"/>
                <a:gd name="T17" fmla="*/ 225 h 468"/>
                <a:gd name="T18" fmla="*/ 186 w 488"/>
                <a:gd name="T19" fmla="*/ 350 h 468"/>
                <a:gd name="T20" fmla="*/ 244 w 488"/>
                <a:gd name="T21" fmla="*/ 361 h 468"/>
                <a:gd name="T22" fmla="*/ 302 w 488"/>
                <a:gd name="T23" fmla="*/ 350 h 468"/>
                <a:gd name="T24" fmla="*/ 381 w 488"/>
                <a:gd name="T25" fmla="*/ 225 h 468"/>
                <a:gd name="T26" fmla="*/ 381 w 488"/>
                <a:gd name="T27" fmla="*/ 0 h 468"/>
                <a:gd name="T28" fmla="*/ 488 w 488"/>
                <a:gd name="T29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468">
                  <a:moveTo>
                    <a:pt x="488" y="0"/>
                  </a:moveTo>
                  <a:cubicBezTo>
                    <a:pt x="488" y="225"/>
                    <a:pt x="488" y="225"/>
                    <a:pt x="488" y="225"/>
                  </a:cubicBezTo>
                  <a:cubicBezTo>
                    <a:pt x="488" y="341"/>
                    <a:pt x="424" y="416"/>
                    <a:pt x="342" y="449"/>
                  </a:cubicBezTo>
                  <a:cubicBezTo>
                    <a:pt x="311" y="461"/>
                    <a:pt x="278" y="468"/>
                    <a:pt x="244" y="468"/>
                  </a:cubicBezTo>
                  <a:cubicBezTo>
                    <a:pt x="211" y="468"/>
                    <a:pt x="178" y="461"/>
                    <a:pt x="147" y="449"/>
                  </a:cubicBezTo>
                  <a:cubicBezTo>
                    <a:pt x="64" y="416"/>
                    <a:pt x="0" y="341"/>
                    <a:pt x="0" y="22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225"/>
                    <a:pt x="107" y="225"/>
                    <a:pt x="107" y="225"/>
                  </a:cubicBezTo>
                  <a:cubicBezTo>
                    <a:pt x="107" y="291"/>
                    <a:pt x="142" y="332"/>
                    <a:pt x="186" y="350"/>
                  </a:cubicBezTo>
                  <a:cubicBezTo>
                    <a:pt x="204" y="357"/>
                    <a:pt x="224" y="361"/>
                    <a:pt x="244" y="361"/>
                  </a:cubicBezTo>
                  <a:cubicBezTo>
                    <a:pt x="265" y="361"/>
                    <a:pt x="284" y="357"/>
                    <a:pt x="302" y="350"/>
                  </a:cubicBezTo>
                  <a:cubicBezTo>
                    <a:pt x="347" y="332"/>
                    <a:pt x="381" y="291"/>
                    <a:pt x="381" y="225"/>
                  </a:cubicBezTo>
                  <a:cubicBezTo>
                    <a:pt x="381" y="0"/>
                    <a:pt x="381" y="0"/>
                    <a:pt x="381" y="0"/>
                  </a:cubicBezTo>
                  <a:lnTo>
                    <a:pt x="488" y="0"/>
                  </a:lnTo>
                  <a:close/>
                </a:path>
              </a:pathLst>
            </a:custGeom>
            <a:solidFill>
              <a:srgbClr val="21816F"/>
            </a:solidFill>
            <a:ln>
              <a:noFill/>
            </a:ln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6" name="Freeform 10"/>
            <p:cNvSpPr/>
            <p:nvPr/>
          </p:nvSpPr>
          <p:spPr bwMode="auto">
            <a:xfrm>
              <a:off x="6812153" y="2932416"/>
              <a:ext cx="1490837" cy="1430224"/>
            </a:xfrm>
            <a:custGeom>
              <a:avLst/>
              <a:gdLst>
                <a:gd name="T0" fmla="*/ 0 w 489"/>
                <a:gd name="T1" fmla="*/ 468 h 468"/>
                <a:gd name="T2" fmla="*/ 0 w 489"/>
                <a:gd name="T3" fmla="*/ 242 h 468"/>
                <a:gd name="T4" fmla="*/ 147 w 489"/>
                <a:gd name="T5" fmla="*/ 19 h 468"/>
                <a:gd name="T6" fmla="*/ 244 w 489"/>
                <a:gd name="T7" fmla="*/ 0 h 468"/>
                <a:gd name="T8" fmla="*/ 342 w 489"/>
                <a:gd name="T9" fmla="*/ 19 h 468"/>
                <a:gd name="T10" fmla="*/ 489 w 489"/>
                <a:gd name="T11" fmla="*/ 242 h 468"/>
                <a:gd name="T12" fmla="*/ 489 w 489"/>
                <a:gd name="T13" fmla="*/ 468 h 468"/>
                <a:gd name="T14" fmla="*/ 382 w 489"/>
                <a:gd name="T15" fmla="*/ 468 h 468"/>
                <a:gd name="T16" fmla="*/ 382 w 489"/>
                <a:gd name="T17" fmla="*/ 242 h 468"/>
                <a:gd name="T18" fmla="*/ 303 w 489"/>
                <a:gd name="T19" fmla="*/ 118 h 468"/>
                <a:gd name="T20" fmla="*/ 244 w 489"/>
                <a:gd name="T21" fmla="*/ 107 h 468"/>
                <a:gd name="T22" fmla="*/ 186 w 489"/>
                <a:gd name="T23" fmla="*/ 118 h 468"/>
                <a:gd name="T24" fmla="*/ 107 w 489"/>
                <a:gd name="T25" fmla="*/ 242 h 468"/>
                <a:gd name="T26" fmla="*/ 107 w 489"/>
                <a:gd name="T27" fmla="*/ 468 h 468"/>
                <a:gd name="T28" fmla="*/ 0 w 489"/>
                <a:gd name="T29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9" h="468">
                  <a:moveTo>
                    <a:pt x="0" y="468"/>
                  </a:moveTo>
                  <a:cubicBezTo>
                    <a:pt x="0" y="242"/>
                    <a:pt x="0" y="242"/>
                    <a:pt x="0" y="242"/>
                  </a:cubicBezTo>
                  <a:cubicBezTo>
                    <a:pt x="0" y="126"/>
                    <a:pt x="65" y="52"/>
                    <a:pt x="147" y="19"/>
                  </a:cubicBezTo>
                  <a:cubicBezTo>
                    <a:pt x="178" y="6"/>
                    <a:pt x="211" y="0"/>
                    <a:pt x="244" y="0"/>
                  </a:cubicBezTo>
                  <a:cubicBezTo>
                    <a:pt x="278" y="0"/>
                    <a:pt x="311" y="6"/>
                    <a:pt x="342" y="19"/>
                  </a:cubicBezTo>
                  <a:cubicBezTo>
                    <a:pt x="424" y="52"/>
                    <a:pt x="489" y="126"/>
                    <a:pt x="489" y="242"/>
                  </a:cubicBezTo>
                  <a:cubicBezTo>
                    <a:pt x="489" y="468"/>
                    <a:pt x="489" y="468"/>
                    <a:pt x="489" y="468"/>
                  </a:cubicBezTo>
                  <a:cubicBezTo>
                    <a:pt x="382" y="468"/>
                    <a:pt x="382" y="468"/>
                    <a:pt x="382" y="468"/>
                  </a:cubicBezTo>
                  <a:cubicBezTo>
                    <a:pt x="382" y="242"/>
                    <a:pt x="382" y="242"/>
                    <a:pt x="382" y="242"/>
                  </a:cubicBezTo>
                  <a:cubicBezTo>
                    <a:pt x="382" y="177"/>
                    <a:pt x="347" y="135"/>
                    <a:pt x="303" y="118"/>
                  </a:cubicBezTo>
                  <a:cubicBezTo>
                    <a:pt x="285" y="110"/>
                    <a:pt x="265" y="107"/>
                    <a:pt x="244" y="107"/>
                  </a:cubicBezTo>
                  <a:cubicBezTo>
                    <a:pt x="224" y="107"/>
                    <a:pt x="204" y="110"/>
                    <a:pt x="186" y="118"/>
                  </a:cubicBezTo>
                  <a:cubicBezTo>
                    <a:pt x="142" y="135"/>
                    <a:pt x="107" y="177"/>
                    <a:pt x="107" y="242"/>
                  </a:cubicBezTo>
                  <a:cubicBezTo>
                    <a:pt x="107" y="468"/>
                    <a:pt x="107" y="468"/>
                    <a:pt x="107" y="468"/>
                  </a:cubicBezTo>
                  <a:lnTo>
                    <a:pt x="0" y="468"/>
                  </a:lnTo>
                  <a:close/>
                </a:path>
              </a:pathLst>
            </a:custGeom>
            <a:solidFill>
              <a:srgbClr val="E39A57"/>
            </a:solidFill>
            <a:ln>
              <a:noFill/>
            </a:ln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7" name="Oval 11"/>
            <p:cNvSpPr>
              <a:spLocks noChangeArrowheads="1"/>
            </p:cNvSpPr>
            <p:nvPr/>
          </p:nvSpPr>
          <p:spPr bwMode="auto">
            <a:xfrm>
              <a:off x="2400242" y="3173581"/>
              <a:ext cx="1018825" cy="1021404"/>
            </a:xfrm>
            <a:prstGeom prst="ellipse">
              <a:avLst/>
            </a:prstGeom>
            <a:solidFill>
              <a:srgbClr val="5BBFAE"/>
            </a:solidFill>
            <a:ln w="38100">
              <a:solidFill>
                <a:srgbClr val="FFFF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8" name="Oval 12"/>
            <p:cNvSpPr>
              <a:spLocks noChangeArrowheads="1"/>
            </p:cNvSpPr>
            <p:nvPr/>
          </p:nvSpPr>
          <p:spPr bwMode="auto">
            <a:xfrm>
              <a:off x="3553204" y="4536742"/>
              <a:ext cx="1017535" cy="1021404"/>
            </a:xfrm>
            <a:prstGeom prst="ellipse">
              <a:avLst/>
            </a:prstGeom>
            <a:solidFill>
              <a:srgbClr val="2CAB93"/>
            </a:solidFill>
            <a:ln w="38100">
              <a:solidFill>
                <a:srgbClr val="FFFF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9" name="Oval 13"/>
            <p:cNvSpPr>
              <a:spLocks noChangeArrowheads="1"/>
            </p:cNvSpPr>
            <p:nvPr/>
          </p:nvSpPr>
          <p:spPr bwMode="auto">
            <a:xfrm>
              <a:off x="4713891" y="3168423"/>
              <a:ext cx="1021404" cy="1020115"/>
            </a:xfrm>
            <a:prstGeom prst="ellipse">
              <a:avLst/>
            </a:prstGeom>
            <a:solidFill>
              <a:srgbClr val="E39A57"/>
            </a:solidFill>
            <a:ln w="38100">
              <a:solidFill>
                <a:srgbClr val="FFFF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10" name="Oval 14"/>
            <p:cNvSpPr>
              <a:spLocks noChangeArrowheads="1"/>
            </p:cNvSpPr>
            <p:nvPr/>
          </p:nvSpPr>
          <p:spPr bwMode="auto">
            <a:xfrm>
              <a:off x="5878446" y="4536742"/>
              <a:ext cx="1021404" cy="1021404"/>
            </a:xfrm>
            <a:prstGeom prst="ellipse">
              <a:avLst/>
            </a:prstGeom>
            <a:solidFill>
              <a:srgbClr val="21816F"/>
            </a:solidFill>
            <a:ln w="38100">
              <a:solidFill>
                <a:srgbClr val="FFFF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11" name="Oval 15"/>
            <p:cNvSpPr>
              <a:spLocks noChangeArrowheads="1"/>
            </p:cNvSpPr>
            <p:nvPr/>
          </p:nvSpPr>
          <p:spPr bwMode="auto">
            <a:xfrm>
              <a:off x="7044290" y="3168423"/>
              <a:ext cx="1017535" cy="1020115"/>
            </a:xfrm>
            <a:prstGeom prst="ellipse">
              <a:avLst/>
            </a:prstGeom>
            <a:solidFill>
              <a:srgbClr val="E39A57"/>
            </a:solidFill>
            <a:ln w="38100">
              <a:solidFill>
                <a:srgbClr val="FFFF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12" name="Oval 16"/>
            <p:cNvSpPr>
              <a:spLocks noChangeArrowheads="1"/>
            </p:cNvSpPr>
            <p:nvPr/>
          </p:nvSpPr>
          <p:spPr bwMode="auto">
            <a:xfrm>
              <a:off x="8208846" y="4536742"/>
              <a:ext cx="1017535" cy="1021404"/>
            </a:xfrm>
            <a:prstGeom prst="ellipse">
              <a:avLst/>
            </a:prstGeom>
            <a:solidFill>
              <a:srgbClr val="8FD3C6"/>
            </a:solidFill>
            <a:ln w="38100">
              <a:solidFill>
                <a:srgbClr val="FFFF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13" name="Inhaltsplatzhalter 4"/>
            <p:cNvSpPr txBox="1"/>
            <p:nvPr/>
          </p:nvSpPr>
          <p:spPr>
            <a:xfrm rot="16200000">
              <a:off x="2334396" y="4605130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Wingdings" panose="05000000000000000000" pitchFamily="2" charset="2"/>
                <a:buChar char="§"/>
                <a:defRPr sz="22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9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8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64"/>
                </a:spcAft>
                <a:buNone/>
              </a:pPr>
              <a:r>
                <a:rPr lang="en-US" sz="1750" b="1" dirty="0">
                  <a:solidFill>
                    <a:srgbClr val="2CAB93"/>
                  </a:solidFill>
                  <a:latin typeface="微软雅黑"/>
                </a:rPr>
                <a:t>步骤 01</a:t>
              </a:r>
              <a:endParaRPr lang="en-US" sz="1750" b="1" dirty="0">
                <a:solidFill>
                  <a:srgbClr val="2CAB93"/>
                </a:solidFill>
                <a:latin typeface="微软雅黑"/>
              </a:endParaRPr>
            </a:p>
          </p:txBody>
        </p:sp>
        <p:sp>
          <p:nvSpPr>
            <p:cNvPr id="21014" name="Inhaltsplatzhalter 4"/>
            <p:cNvSpPr txBox="1"/>
            <p:nvPr/>
          </p:nvSpPr>
          <p:spPr>
            <a:xfrm rot="16200000">
              <a:off x="4645938" y="4605131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Wingdings" panose="05000000000000000000" pitchFamily="2" charset="2"/>
                <a:buChar char="§"/>
                <a:defRPr sz="22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9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8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64"/>
                </a:spcAft>
                <a:buNone/>
              </a:pPr>
              <a:r>
                <a:rPr lang="en-US" sz="1750" b="1" dirty="0">
                  <a:solidFill>
                    <a:srgbClr val="21816F"/>
                  </a:solidFill>
                  <a:latin typeface="微软雅黑"/>
                </a:rPr>
                <a:t>步骤 03</a:t>
              </a:r>
              <a:endParaRPr lang="en-US" sz="1350" dirty="0">
                <a:solidFill>
                  <a:srgbClr val="21816F"/>
                </a:solidFill>
                <a:latin typeface="微软雅黑"/>
              </a:endParaRPr>
            </a:p>
          </p:txBody>
        </p:sp>
        <p:sp>
          <p:nvSpPr>
            <p:cNvPr id="21015" name="Inhaltsplatzhalter 4"/>
            <p:cNvSpPr txBox="1"/>
            <p:nvPr/>
          </p:nvSpPr>
          <p:spPr>
            <a:xfrm rot="16200000">
              <a:off x="6977784" y="4605131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Wingdings" panose="05000000000000000000" pitchFamily="2" charset="2"/>
                <a:buChar char="§"/>
                <a:defRPr sz="22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9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8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64"/>
                </a:spcAft>
                <a:buNone/>
              </a:pPr>
              <a:r>
                <a:rPr lang="en-US" sz="1750" b="1" dirty="0">
                  <a:solidFill>
                    <a:srgbClr val="8FD3C6"/>
                  </a:solidFill>
                  <a:latin typeface="微软雅黑"/>
                </a:rPr>
                <a:t>步骤 05</a:t>
              </a:r>
              <a:endParaRPr lang="en-US" sz="1350" dirty="0">
                <a:solidFill>
                  <a:srgbClr val="8FD3C6"/>
                </a:solidFill>
                <a:latin typeface="微软雅黑"/>
              </a:endParaRPr>
            </a:p>
          </p:txBody>
        </p:sp>
        <p:sp>
          <p:nvSpPr>
            <p:cNvPr id="21016" name="Inhaltsplatzhalter 4"/>
            <p:cNvSpPr txBox="1"/>
            <p:nvPr/>
          </p:nvSpPr>
          <p:spPr>
            <a:xfrm rot="16200000">
              <a:off x="3483964" y="3838465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Wingdings" panose="05000000000000000000" pitchFamily="2" charset="2"/>
                <a:buChar char="§"/>
                <a:defRPr sz="22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9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8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64"/>
                </a:spcAft>
                <a:buNone/>
              </a:pPr>
              <a:r>
                <a:rPr lang="en-US" sz="1750" b="1" dirty="0">
                  <a:solidFill>
                    <a:srgbClr val="1F3A35"/>
                  </a:solidFill>
                  <a:latin typeface="微软雅黑"/>
                </a:rPr>
                <a:t>步骤 02</a:t>
              </a:r>
              <a:endParaRPr lang="en-US" sz="1750" b="1" dirty="0">
                <a:solidFill>
                  <a:srgbClr val="1F3A35"/>
                </a:solidFill>
                <a:latin typeface="微软雅黑"/>
              </a:endParaRPr>
            </a:p>
          </p:txBody>
        </p:sp>
        <p:sp>
          <p:nvSpPr>
            <p:cNvPr id="21017" name="Inhaltsplatzhalter 4"/>
            <p:cNvSpPr txBox="1"/>
            <p:nvPr/>
          </p:nvSpPr>
          <p:spPr>
            <a:xfrm rot="16200000">
              <a:off x="5813874" y="3838465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Wingdings" panose="05000000000000000000" pitchFamily="2" charset="2"/>
                <a:buChar char="§"/>
                <a:defRPr sz="22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9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8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64"/>
                </a:spcAft>
                <a:buNone/>
              </a:pPr>
              <a:r>
                <a:rPr lang="en-US" sz="1750" b="1" dirty="0">
                  <a:solidFill>
                    <a:srgbClr val="1F3A35"/>
                  </a:solidFill>
                  <a:latin typeface="微软雅黑"/>
                </a:rPr>
                <a:t>步骤 04</a:t>
              </a:r>
              <a:endParaRPr lang="en-US" sz="1750" b="1" dirty="0">
                <a:solidFill>
                  <a:srgbClr val="1F3A35"/>
                </a:solidFill>
                <a:latin typeface="微软雅黑"/>
              </a:endParaRPr>
            </a:p>
          </p:txBody>
        </p:sp>
        <p:sp>
          <p:nvSpPr>
            <p:cNvPr id="21018" name="Inhaltsplatzhalter 4"/>
            <p:cNvSpPr txBox="1"/>
            <p:nvPr/>
          </p:nvSpPr>
          <p:spPr>
            <a:xfrm rot="16200000">
              <a:off x="8142340" y="3838467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Wingdings" panose="05000000000000000000" pitchFamily="2" charset="2"/>
                <a:buChar char="§"/>
                <a:defRPr sz="22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9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8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64"/>
                </a:spcAft>
                <a:buNone/>
              </a:pPr>
              <a:r>
                <a:rPr lang="en-US" sz="1750" b="1" dirty="0">
                  <a:solidFill>
                    <a:srgbClr val="1F3A35"/>
                  </a:solidFill>
                  <a:latin typeface="微软雅黑"/>
                </a:rPr>
                <a:t>步骤 06</a:t>
              </a:r>
              <a:endParaRPr lang="en-US" sz="1750" b="1" dirty="0">
                <a:solidFill>
                  <a:srgbClr val="1F3A35"/>
                </a:solidFill>
                <a:latin typeface="微软雅黑"/>
              </a:endParaRPr>
            </a:p>
          </p:txBody>
        </p:sp>
      </p:grpSp>
      <p:pic>
        <p:nvPicPr>
          <p:cNvPr id="21019" name="Picture 21018" descr="pen-lin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629" y="2847205"/>
            <a:ext cx="354787" cy="354787"/>
          </a:xfrm>
          <a:prstGeom prst="rect">
            <a:avLst/>
          </a:prstGeom>
        </p:spPr>
      </p:pic>
      <p:sp>
        <p:nvSpPr>
          <p:cNvPr id="21020" name="TextBox 21019"/>
          <p:cNvSpPr txBox="1"/>
          <p:nvPr/>
        </p:nvSpPr>
        <p:spPr>
          <a:xfrm>
            <a:off x="1466054" y="1918845"/>
            <a:ext cx="1773936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签约</a:t>
            </a:r>
          </a:p>
        </p:txBody>
      </p:sp>
      <p:sp>
        <p:nvSpPr>
          <p:cNvPr id="21021" name="TextBox 21020"/>
          <p:cNvSpPr txBox="1"/>
          <p:nvPr/>
        </p:nvSpPr>
        <p:spPr>
          <a:xfrm>
            <a:off x="1466054" y="2131717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随续约或新签</a:t>
            </a:r>
          </a:p>
        </p:txBody>
      </p:sp>
      <p:pic>
        <p:nvPicPr>
          <p:cNvPr id="21022" name="Picture 21021" descr="boxe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7903" y="3788455"/>
            <a:ext cx="354787" cy="354787"/>
          </a:xfrm>
          <a:prstGeom prst="rect">
            <a:avLst/>
          </a:prstGeom>
        </p:spPr>
      </p:pic>
      <p:sp>
        <p:nvSpPr>
          <p:cNvPr id="21023" name="TextBox 21022"/>
          <p:cNvSpPr txBox="1"/>
          <p:nvPr/>
        </p:nvSpPr>
        <p:spPr>
          <a:xfrm>
            <a:off x="2268329" y="4584927"/>
            <a:ext cx="1773936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选模板</a:t>
            </a:r>
          </a:p>
        </p:txBody>
      </p:sp>
      <p:sp>
        <p:nvSpPr>
          <p:cNvPr id="21024" name="TextBox 21023"/>
          <p:cNvSpPr txBox="1"/>
          <p:nvPr/>
        </p:nvSpPr>
        <p:spPr>
          <a:xfrm>
            <a:off x="2268329" y="4797799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已验证的业态模板</a:t>
            </a:r>
          </a:p>
        </p:txBody>
      </p:sp>
      <p:pic>
        <p:nvPicPr>
          <p:cNvPr id="21025" name="Picture 21024" descr="book-ope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3336" y="2847205"/>
            <a:ext cx="354787" cy="354787"/>
          </a:xfrm>
          <a:prstGeom prst="rect">
            <a:avLst/>
          </a:prstGeom>
        </p:spPr>
      </p:pic>
      <p:sp>
        <p:nvSpPr>
          <p:cNvPr id="21026" name="TextBox 21025"/>
          <p:cNvSpPr txBox="1"/>
          <p:nvPr/>
        </p:nvSpPr>
        <p:spPr>
          <a:xfrm>
            <a:off x="3073761" y="1918845"/>
            <a:ext cx="1773936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配知识</a:t>
            </a:r>
          </a:p>
        </p:txBody>
      </p:sp>
      <p:sp>
        <p:nvSpPr>
          <p:cNvPr id="21027" name="TextBox 21026"/>
          <p:cNvSpPr txBox="1"/>
          <p:nvPr/>
        </p:nvSpPr>
        <p:spPr>
          <a:xfrm>
            <a:off x="3073761" y="2131717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统一采集表</a:t>
            </a:r>
          </a:p>
        </p:txBody>
      </p:sp>
      <p:pic>
        <p:nvPicPr>
          <p:cNvPr id="21028" name="Picture 21027" descr="lin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609" y="3788455"/>
            <a:ext cx="354787" cy="354787"/>
          </a:xfrm>
          <a:prstGeom prst="rect">
            <a:avLst/>
          </a:prstGeom>
        </p:spPr>
      </p:pic>
      <p:sp>
        <p:nvSpPr>
          <p:cNvPr id="21029" name="TextBox 21028"/>
          <p:cNvSpPr txBox="1"/>
          <p:nvPr/>
        </p:nvSpPr>
        <p:spPr>
          <a:xfrm>
            <a:off x="3876035" y="4584927"/>
            <a:ext cx="1773936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绑入口</a:t>
            </a:r>
          </a:p>
        </p:txBody>
      </p:sp>
      <p:sp>
        <p:nvSpPr>
          <p:cNvPr id="21030" name="TextBox 21029"/>
          <p:cNvSpPr txBox="1"/>
          <p:nvPr/>
        </p:nvSpPr>
        <p:spPr>
          <a:xfrm>
            <a:off x="3876035" y="4797799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小程序 · 公众号 · 终端</a:t>
            </a:r>
          </a:p>
        </p:txBody>
      </p:sp>
      <p:pic>
        <p:nvPicPr>
          <p:cNvPr id="21031" name="Picture 21030" descr="clipboard-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4725" y="2847205"/>
            <a:ext cx="354787" cy="354787"/>
          </a:xfrm>
          <a:prstGeom prst="rect">
            <a:avLst/>
          </a:prstGeom>
        </p:spPr>
      </p:pic>
      <p:sp>
        <p:nvSpPr>
          <p:cNvPr id="21032" name="TextBox 21031"/>
          <p:cNvSpPr txBox="1"/>
          <p:nvPr/>
        </p:nvSpPr>
        <p:spPr>
          <a:xfrm>
            <a:off x="4675151" y="1918845"/>
            <a:ext cx="1773936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测试验收</a:t>
            </a:r>
          </a:p>
        </p:txBody>
      </p:sp>
      <p:sp>
        <p:nvSpPr>
          <p:cNvPr id="21033" name="TextBox 21032"/>
          <p:cNvSpPr txBox="1"/>
          <p:nvPr/>
        </p:nvSpPr>
        <p:spPr>
          <a:xfrm>
            <a:off x="4675151" y="2131717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统一测试清单</a:t>
            </a:r>
          </a:p>
        </p:txBody>
      </p:sp>
      <p:pic>
        <p:nvPicPr>
          <p:cNvPr id="21034" name="Picture 21033" descr="rocke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3316" y="3788455"/>
            <a:ext cx="354787" cy="354787"/>
          </a:xfrm>
          <a:prstGeom prst="rect">
            <a:avLst/>
          </a:prstGeom>
        </p:spPr>
      </p:pic>
      <p:sp>
        <p:nvSpPr>
          <p:cNvPr id="21035" name="TextBox 21034"/>
          <p:cNvSpPr txBox="1"/>
          <p:nvPr/>
        </p:nvSpPr>
        <p:spPr>
          <a:xfrm>
            <a:off x="5483742" y="4584927"/>
            <a:ext cx="1773936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上线运营</a:t>
            </a:r>
          </a:p>
        </p:txBody>
      </p:sp>
      <p:sp>
        <p:nvSpPr>
          <p:cNvPr id="21036" name="TextBox 21035"/>
          <p:cNvSpPr txBox="1"/>
          <p:nvPr/>
        </p:nvSpPr>
        <p:spPr>
          <a:xfrm>
            <a:off x="5483742" y="4797799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持续出效果报告</a:t>
            </a:r>
          </a:p>
        </p:txBody>
      </p:sp>
      <p:sp>
        <p:nvSpPr>
          <p:cNvPr id="21037" name="Rounded Rectangle 21036"/>
          <p:cNvSpPr/>
          <p:nvPr/>
        </p:nvSpPr>
        <p:spPr>
          <a:xfrm>
            <a:off x="7957017" y="2034562"/>
            <a:ext cx="2935864" cy="3947007"/>
          </a:xfrm>
          <a:prstGeom prst="roundRect">
            <a:avLst>
              <a:gd name="adj" fmla="val 422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38" name="TextBox 21037"/>
          <p:cNvSpPr txBox="1"/>
          <p:nvPr/>
        </p:nvSpPr>
        <p:spPr>
          <a:xfrm>
            <a:off x="8134410" y="2123259"/>
            <a:ext cx="2669773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五个环节标准化</a:t>
            </a:r>
          </a:p>
        </p:txBody>
      </p:sp>
      <p:sp>
        <p:nvSpPr>
          <p:cNvPr id="21039" name="Rounded Rectangle 21038"/>
          <p:cNvSpPr/>
          <p:nvPr/>
        </p:nvSpPr>
        <p:spPr>
          <a:xfrm>
            <a:off x="8116671" y="2549004"/>
            <a:ext cx="2616555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0" name="TextBox 21039"/>
          <p:cNvSpPr txBox="1"/>
          <p:nvPr/>
        </p:nvSpPr>
        <p:spPr>
          <a:xfrm>
            <a:off x="8240847" y="2584482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产品</a:t>
            </a:r>
          </a:p>
        </p:txBody>
      </p:sp>
      <p:sp>
        <p:nvSpPr>
          <p:cNvPr id="21041" name="TextBox 21040"/>
          <p:cNvSpPr txBox="1"/>
          <p:nvPr/>
        </p:nvSpPr>
        <p:spPr>
          <a:xfrm>
            <a:off x="8240847" y="2832833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按业态出模板，差异做成配置</a:t>
            </a:r>
          </a:p>
        </p:txBody>
      </p:sp>
      <p:sp>
        <p:nvSpPr>
          <p:cNvPr id="21042" name="Rounded Rectangle 21041"/>
          <p:cNvSpPr/>
          <p:nvPr/>
        </p:nvSpPr>
        <p:spPr>
          <a:xfrm>
            <a:off x="8116671" y="3205360"/>
            <a:ext cx="2616555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3" name="TextBox 21042"/>
          <p:cNvSpPr txBox="1"/>
          <p:nvPr/>
        </p:nvSpPr>
        <p:spPr>
          <a:xfrm>
            <a:off x="8240847" y="3240839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知识采集</a:t>
            </a:r>
          </a:p>
        </p:txBody>
      </p:sp>
      <p:sp>
        <p:nvSpPr>
          <p:cNvPr id="21044" name="TextBox 21043"/>
          <p:cNvSpPr txBox="1"/>
          <p:nvPr/>
        </p:nvSpPr>
        <p:spPr>
          <a:xfrm>
            <a:off x="8240847" y="3489190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统一采集表，景区填、实施审</a:t>
            </a:r>
          </a:p>
        </p:txBody>
      </p:sp>
      <p:sp>
        <p:nvSpPr>
          <p:cNvPr id="21045" name="Rounded Rectangle 21044"/>
          <p:cNvSpPr/>
          <p:nvPr/>
        </p:nvSpPr>
        <p:spPr>
          <a:xfrm>
            <a:off x="8116671" y="3861716"/>
            <a:ext cx="2616555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6" name="TextBox 21045"/>
          <p:cNvSpPr txBox="1"/>
          <p:nvPr/>
        </p:nvSpPr>
        <p:spPr>
          <a:xfrm>
            <a:off x="8240847" y="3897195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系统接入</a:t>
            </a:r>
          </a:p>
        </p:txBody>
      </p:sp>
      <p:sp>
        <p:nvSpPr>
          <p:cNvPr id="21047" name="TextBox 21046"/>
          <p:cNvSpPr txBox="1"/>
          <p:nvPr/>
        </p:nvSpPr>
        <p:spPr>
          <a:xfrm>
            <a:off x="8240847" y="4145546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老客户接口现成</a:t>
            </a:r>
          </a:p>
        </p:txBody>
      </p:sp>
      <p:sp>
        <p:nvSpPr>
          <p:cNvPr id="21048" name="Rounded Rectangle 21047"/>
          <p:cNvSpPr/>
          <p:nvPr/>
        </p:nvSpPr>
        <p:spPr>
          <a:xfrm>
            <a:off x="8116671" y="4518073"/>
            <a:ext cx="2616555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9" name="TextBox 21048"/>
          <p:cNvSpPr txBox="1"/>
          <p:nvPr/>
        </p:nvSpPr>
        <p:spPr>
          <a:xfrm>
            <a:off x="8240847" y="4553551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实施</a:t>
            </a:r>
          </a:p>
        </p:txBody>
      </p:sp>
      <p:sp>
        <p:nvSpPr>
          <p:cNvPr id="21050" name="TextBox 21049"/>
          <p:cNvSpPr txBox="1"/>
          <p:nvPr/>
        </p:nvSpPr>
        <p:spPr>
          <a:xfrm>
            <a:off x="8240847" y="4801902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手册 + 培训，伙伴可独立交付</a:t>
            </a:r>
          </a:p>
        </p:txBody>
      </p:sp>
      <p:sp>
        <p:nvSpPr>
          <p:cNvPr id="21051" name="Rounded Rectangle 21050"/>
          <p:cNvSpPr/>
          <p:nvPr/>
        </p:nvSpPr>
        <p:spPr>
          <a:xfrm>
            <a:off x="8116671" y="5174429"/>
            <a:ext cx="2616555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52" name="TextBox 21051"/>
          <p:cNvSpPr txBox="1"/>
          <p:nvPr/>
        </p:nvSpPr>
        <p:spPr>
          <a:xfrm>
            <a:off x="8240847" y="5209908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验收</a:t>
            </a:r>
          </a:p>
        </p:txBody>
      </p:sp>
      <p:sp>
        <p:nvSpPr>
          <p:cNvPr id="21053" name="TextBox 21052"/>
          <p:cNvSpPr txBox="1"/>
          <p:nvPr/>
        </p:nvSpPr>
        <p:spPr>
          <a:xfrm>
            <a:off x="8240847" y="5458259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统一测试清单，跑完即上线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19" name="十字形 18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 descr="D:\51PPT模板网\51pptmoban.com\图片.jpg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9" name="十字形 8" descr="D:\51PPT模板网\51pptmoban.com\图片.jpg"/>
          <p:cNvSpPr/>
          <p:nvPr/>
        </p:nvSpPr>
        <p:spPr>
          <a:xfrm>
            <a:off x="-67941" y="527503"/>
            <a:ext cx="717891" cy="717891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十字形 10"/>
          <p:cNvSpPr/>
          <p:nvPr/>
        </p:nvSpPr>
        <p:spPr>
          <a:xfrm>
            <a:off x="595318" y="195510"/>
            <a:ext cx="242505" cy="242505"/>
          </a:xfrm>
          <a:prstGeom prst="plus">
            <a:avLst>
              <a:gd name="adj" fmla="val 33591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49883" y="3230858"/>
            <a:ext cx="6292233" cy="89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1816F"/>
                </a:solidFill>
                <a:latin typeface="微软雅黑"/>
                <a:ea typeface="微软雅黑"/>
              </a:rPr>
              <a:t>三线并进，先跑通再铺开</a:t>
            </a:r>
            <a:endParaRPr lang="zh-CN" altLang="en-US" sz="1200" b="1" dirty="0"/>
          </a:p>
        </p:txBody>
      </p:sp>
      <p:grpSp>
        <p:nvGrpSpPr>
          <p:cNvPr id="40" name="组合 39"/>
          <p:cNvGrpSpPr/>
          <p:nvPr/>
        </p:nvGrpSpPr>
        <p:grpSpPr>
          <a:xfrm>
            <a:off x="4151159" y="2103120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04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推进计划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Rounded Rectangle 40"/>
          <p:cNvSpPr/>
          <p:nvPr/>
        </p:nvSpPr>
        <p:spPr>
          <a:xfrm>
            <a:off x="2441448" y="4069080"/>
            <a:ext cx="7315200" cy="18288"/>
          </a:xfrm>
          <a:prstGeom prst="roundRect">
            <a:avLst>
              <a:gd name="adj" fmla="val 0"/>
            </a:avLst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41448" y="41605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2CAB93"/>
                </a:solidFill>
                <a:latin typeface="微软雅黑"/>
                <a:ea typeface="微软雅黑"/>
              </a:rPr>
              <a:t>这一部分讲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41448" y="452628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整体路径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0248" y="452628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团队与分工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9048" y="452628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先做什么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27848" y="452628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人员清单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04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整体路径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三条线齐头并进，相辅相成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系统产生数据，数据平台整理数据，智能体用数据办事；具体时间和资源确认后再定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48  ·  AI＋数据平台 · 04  推进计划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63387" y="1927920"/>
            <a:ext cx="2595859" cy="408005"/>
          </a:xfrm>
          <a:prstGeom prst="roundRect">
            <a:avLst>
              <a:gd name="adj" fmla="val 1739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先做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30204" y="1927920"/>
            <a:ext cx="2595859" cy="408005"/>
          </a:xfrm>
          <a:prstGeom prst="roundRect">
            <a:avLst>
              <a:gd name="adj" fmla="val 17391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接着做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97021" y="1927920"/>
            <a:ext cx="2595859" cy="408005"/>
          </a:xfrm>
          <a:prstGeom prst="roundRect">
            <a:avLst>
              <a:gd name="adj" fmla="val 17391"/>
            </a:avLst>
          </a:prstGeom>
          <a:solidFill>
            <a:srgbClr val="8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持续做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94318" y="2406883"/>
            <a:ext cx="1862632" cy="691835"/>
          </a:xfrm>
          <a:prstGeom prst="roundRect">
            <a:avLst>
              <a:gd name="adj" fmla="val 10256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pic>
        <p:nvPicPr>
          <p:cNvPr id="48" name="Picture 47" descr="monito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971" y="2610886"/>
            <a:ext cx="283829" cy="28382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526498" y="2406883"/>
            <a:ext cx="1286103" cy="6918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系统 3.0 升级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963387" y="2406883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9654" tIns="26609" rIns="106436" bIns="26609"/>
          <a:lstStyle/>
          <a:p>
            <a:pPr algn="l"/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升级时一起定好埋点和口径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30204" y="2406883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9654" tIns="26609" rIns="106436" bIns="26609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新系统数据按规范直接接入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97021" y="2406883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9654" tIns="26609" rIns="106436" bIns="26609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新功能上线即有数据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4318" y="3169676"/>
            <a:ext cx="1862632" cy="691835"/>
          </a:xfrm>
          <a:prstGeom prst="roundRect">
            <a:avLst>
              <a:gd name="adj" fmla="val 10256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pic>
        <p:nvPicPr>
          <p:cNvPr id="54" name="Picture 53" descr="databas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971" y="3373678"/>
            <a:ext cx="283829" cy="28382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526498" y="3169676"/>
            <a:ext cx="1286103" cy="6918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数据平台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963387" y="3169676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9654" tIns="26609" rIns="106436" bIns="26609"/>
          <a:lstStyle/>
          <a:p>
            <a:pPr algn="l"/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主线治理 + 实时；资产目录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630204" y="3169676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9654" tIns="26609" rIns="106436" bIns="26609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统一指标和标签；统一出口；多模态接入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97021" y="3169676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9654" tIns="26609" rIns="106436" bIns="26609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高质量数据集；行业洞察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94318" y="3932468"/>
            <a:ext cx="1862632" cy="691835"/>
          </a:xfrm>
          <a:prstGeom prst="roundRect">
            <a:avLst>
              <a:gd name="adj" fmla="val 10256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pic>
        <p:nvPicPr>
          <p:cNvPr id="60" name="Picture 59" descr="bo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971" y="4136471"/>
            <a:ext cx="283829" cy="283829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526498" y="3932468"/>
            <a:ext cx="1286103" cy="6918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智能体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963387" y="3932468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9654" tIns="26609" rIns="106436" bIns="26609"/>
          <a:lstStyle/>
          <a:p>
            <a:pPr algn="l"/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智能体平台搭统一入口；数字大脑跑通一个场景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630204" y="3932468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9654" tIns="26609" rIns="106436" bIns="26609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按业态复制，沉淀模板和知识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97021" y="3932468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9654" tIns="26609" rIns="106436" bIns="26609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智能体平台统一分发，逐步自建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4318" y="4695261"/>
            <a:ext cx="1862632" cy="691835"/>
          </a:xfrm>
          <a:prstGeom prst="roundRect">
            <a:avLst>
              <a:gd name="adj" fmla="val 10256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pic>
        <p:nvPicPr>
          <p:cNvPr id="66" name="Picture 65" descr="refresh-cw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3971" y="4899263"/>
            <a:ext cx="283829" cy="283829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526498" y="4695261"/>
            <a:ext cx="1286103" cy="6918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打通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963387" y="4695261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9654" tIns="26609" rIns="106436" bIns="26609"/>
          <a:lstStyle/>
          <a:p>
            <a:pPr algn="l"/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智能体统一从数据平台取数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630204" y="4695261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9654" tIns="26609" rIns="106436" bIns="26609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交互数据回流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297021" y="4695261"/>
            <a:ext cx="2595859" cy="69183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9654" tIns="26609" rIns="106436" bIns="26609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反哺定价、营销、调度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94318" y="5546750"/>
            <a:ext cx="9898562" cy="425744"/>
          </a:xfrm>
          <a:prstGeom prst="roundRect">
            <a:avLst>
              <a:gd name="adj" fmla="val 20833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link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9451" y="5626577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0847" y="5546750"/>
            <a:ext cx="914464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说明　</a:t>
            </a: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三条线互相依赖：智能体离不开数据，数据离不开业务系统；具体时间和投入，资源确认后再定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04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团队与分工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不只是技术，产品、运营、业务一起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数据团队要配齐角色；每条业务线出一个接口人；数据表归属清楚、责任到人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49  ·  AI＋数据平台 · 04  推进计划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3181258" cy="1153058"/>
          </a:xfrm>
          <a:prstGeom prst="roundRect">
            <a:avLst>
              <a:gd name="adj" fmla="val 923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53971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clipboard-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842" y="2318781"/>
            <a:ext cx="221742" cy="22174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03892" y="2190170"/>
            <a:ext cx="2382987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数据产品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1711" y="2598176"/>
            <a:ext cx="287081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定需求、定口径、设计数据产品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164679" y="2846527"/>
            <a:ext cx="851241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B26A2C"/>
                </a:solidFill>
                <a:latin typeface="微软雅黑"/>
                <a:ea typeface="微软雅黑"/>
              </a:rPr>
              <a:t>能力要加强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52970" y="2048256"/>
            <a:ext cx="3181258" cy="1153058"/>
          </a:xfrm>
          <a:prstGeom prst="roundRect">
            <a:avLst>
              <a:gd name="adj" fmla="val 923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512624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cod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495" y="2318781"/>
            <a:ext cx="221742" cy="22174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062545" y="2190170"/>
            <a:ext cx="2382987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数据开发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30364" y="2598176"/>
            <a:ext cx="287081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建底座、建模型、做实时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11622" y="2048256"/>
            <a:ext cx="3181258" cy="1153058"/>
          </a:xfrm>
          <a:prstGeom prst="roundRect">
            <a:avLst>
              <a:gd name="adj" fmla="val 923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71276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user-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2147" y="2318781"/>
            <a:ext cx="221742" cy="22174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421197" y="2190170"/>
            <a:ext cx="2382987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治理与标注运营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89015" y="2598176"/>
            <a:ext cx="287081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维护规范和目录，审核 AI 标注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47922" y="2846527"/>
            <a:ext cx="1085303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B26A2C"/>
                </a:solidFill>
                <a:latin typeface="微软雅黑"/>
                <a:ea typeface="微软雅黑"/>
              </a:rPr>
              <a:t>不需要很懂技术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94318" y="3378708"/>
            <a:ext cx="3181258" cy="1153058"/>
          </a:xfrm>
          <a:prstGeom prst="roundRect">
            <a:avLst>
              <a:gd name="adj" fmla="val 923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53971" y="3538362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bo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4842" y="3649233"/>
            <a:ext cx="221742" cy="221742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703892" y="3520622"/>
            <a:ext cx="2382987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AI 应用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71711" y="3928628"/>
            <a:ext cx="287081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搭智能体、建智能体平台（统一分发）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352970" y="3378708"/>
            <a:ext cx="3181258" cy="1153058"/>
          </a:xfrm>
          <a:prstGeom prst="roundRect">
            <a:avLst>
              <a:gd name="adj" fmla="val 9230"/>
            </a:avLst>
          </a:prstGeom>
          <a:solidFill>
            <a:srgbClr val="FCF1E6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512624" y="3538362"/>
            <a:ext cx="443484" cy="443484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briefcas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3495" y="3649233"/>
            <a:ext cx="221742" cy="221742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062545" y="3520622"/>
            <a:ext cx="2382987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业务线数据接口人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30364" y="3928628"/>
            <a:ext cx="287081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每条线一人：确认口径、认领数据表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06301" y="4176979"/>
            <a:ext cx="968272" cy="248351"/>
          </a:xfrm>
          <a:prstGeom prst="roundRect">
            <a:avLst>
              <a:gd name="adj" fmla="val 5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不占太多时间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711622" y="3378708"/>
            <a:ext cx="3181258" cy="1153058"/>
          </a:xfrm>
          <a:prstGeom prst="roundRect">
            <a:avLst>
              <a:gd name="adj" fmla="val 923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871276" y="3538362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handshak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2147" y="3649233"/>
            <a:ext cx="221742" cy="221742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421197" y="3520622"/>
            <a:ext cx="2382987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外部合作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89015" y="3928628"/>
            <a:ext cx="287081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平台厂商、标注外包等补充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94318" y="4753508"/>
            <a:ext cx="9898562" cy="88696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list-checks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6060" y="5019598"/>
            <a:ext cx="354787" cy="354787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1703892" y="4824465"/>
            <a:ext cx="221742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机制：数据责任到人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03892" y="5196992"/>
            <a:ext cx="901159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E6F6F2"/>
                </a:solidFill>
                <a:latin typeface="微软雅黑"/>
                <a:ea typeface="微软雅黑"/>
              </a:rPr>
              <a:t>一份全公司数据表清单 → 标清归哪条业务线、谁负责 → 各线自己标注 → 出问题马上找到人；口径争议由治理小组拍板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04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接下来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先跑通一条主线、一个场景，再铺开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先做出看得见的结果，再按业务线、按业态逐步推广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50  ·  AI＋数据平台 · 04  推进计划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63399"/>
            <a:ext cx="3151692" cy="2660904"/>
          </a:xfrm>
          <a:prstGeom prst="roundRect">
            <a:avLst>
              <a:gd name="adj" fmla="val 466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94318" y="1963399"/>
            <a:ext cx="3151692" cy="886968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94318" y="2602016"/>
            <a:ext cx="3151692" cy="24835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rout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060" y="2211750"/>
            <a:ext cx="390265" cy="39026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748240" y="2034357"/>
            <a:ext cx="2264724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FFE7C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48240" y="2318186"/>
            <a:ext cx="2264724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50" b="1">
                <a:solidFill>
                  <a:srgbClr val="FFFFFF"/>
                </a:solidFill>
                <a:latin typeface="微软雅黑"/>
                <a:ea typeface="微软雅黑"/>
              </a:rPr>
              <a:t>一条主线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060" y="3054370"/>
            <a:ext cx="2796905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订单 → 核销 → 结算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060" y="3542202"/>
            <a:ext cx="2796905" cy="8869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E7772"/>
                </a:solidFill>
                <a:latin typeface="微软雅黑"/>
                <a:ea typeface="微软雅黑"/>
              </a:rPr>
              <a:t>把治理做好，做到分钟级实时；所有数据的基础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67753" y="1963399"/>
            <a:ext cx="3151692" cy="2660904"/>
          </a:xfrm>
          <a:prstGeom prst="roundRect">
            <a:avLst>
              <a:gd name="adj" fmla="val 466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367753" y="1963399"/>
            <a:ext cx="3151692" cy="886968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367753" y="2602016"/>
            <a:ext cx="3151692" cy="24835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brai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495" y="2211750"/>
            <a:ext cx="390265" cy="390265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5121676" y="2034357"/>
            <a:ext cx="2264724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FFE7C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21676" y="2318186"/>
            <a:ext cx="2264724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50" b="1">
                <a:solidFill>
                  <a:srgbClr val="FFFFFF"/>
                </a:solidFill>
                <a:latin typeface="微软雅黑"/>
                <a:ea typeface="微软雅黑"/>
              </a:rPr>
              <a:t>一个场景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89495" y="3054370"/>
            <a:ext cx="2796905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智能体平台上跑通一个场景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89495" y="3542202"/>
            <a:ext cx="2796905" cy="8869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E7772"/>
                </a:solidFill>
                <a:latin typeface="微软雅黑"/>
                <a:ea typeface="微软雅黑"/>
              </a:rPr>
              <a:t>比如客流预警到工单处置：平台分发、多个智能体接力，可以对外展示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741188" y="1963399"/>
            <a:ext cx="3151692" cy="2660904"/>
          </a:xfrm>
          <a:prstGeom prst="roundRect">
            <a:avLst>
              <a:gd name="adj" fmla="val 466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741188" y="1963399"/>
            <a:ext cx="3151692" cy="886968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741188" y="2602016"/>
            <a:ext cx="3151692" cy="24835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search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930" y="2211750"/>
            <a:ext cx="390265" cy="390265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8495111" y="2034357"/>
            <a:ext cx="2264724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FFE7C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95111" y="2318186"/>
            <a:ext cx="2264724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50" b="1">
                <a:solidFill>
                  <a:srgbClr val="FFFFFF"/>
                </a:solidFill>
                <a:latin typeface="微软雅黑"/>
                <a:ea typeface="微软雅黑"/>
              </a:rPr>
              <a:t>一个目录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62930" y="3054370"/>
            <a:ext cx="2796905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资产目录上线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62930" y="3542202"/>
            <a:ext cx="2796905" cy="8869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E7772"/>
                </a:solidFill>
                <a:latin typeface="微软雅黑"/>
                <a:ea typeface="微软雅黑"/>
              </a:rPr>
              <a:t>中文一搜就找到数；不懂技术的同事也能自己用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94318" y="4828306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refresh-cw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4970221"/>
            <a:ext cx="266090" cy="26609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570847" y="4828306"/>
            <a:ext cx="9144640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  <a:latin typeface="微软雅黑"/>
                <a:ea typeface="微软雅黑"/>
              </a:rPr>
              <a:t>然后　</a:t>
            </a: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按业务线、按业态逐步推广；数据从产生、治理、办事到回流，越用越准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94318" y="5493532"/>
            <a:ext cx="9898562" cy="443484"/>
          </a:xfrm>
          <a:prstGeom prst="roundRect">
            <a:avLst>
              <a:gd name="adj" fmla="val 2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shield-check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9451" y="5582228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0847" y="5493532"/>
            <a:ext cx="9144640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原则　</a:t>
            </a:r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底层一套、不重复建 · 数据先汇入再统一输出 · 客户数据严格隔离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04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人员清单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数据约 7–9 人，智能体约 7–9 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专职共约 14–18 人；先盘点现有团队，再定需要新招多少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51  ·  AI＋数据平台 · 04  推进计划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85573"/>
            <a:ext cx="4816236" cy="496702"/>
          </a:xfrm>
          <a:prstGeom prst="roundRect">
            <a:avLst>
              <a:gd name="adj" fmla="val 17857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databa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711" y="2100879"/>
            <a:ext cx="266090" cy="26609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44237" y="1985573"/>
            <a:ext cx="2217420" cy="4967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数据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59224" y="1985573"/>
            <a:ext cx="1773936" cy="4967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约 </a:t>
            </a:r>
            <a:r>
              <a:rPr sz="1950" b="1">
                <a:solidFill>
                  <a:srgbClr val="FFFFFF"/>
                </a:solidFill>
                <a:latin typeface="微软雅黑"/>
                <a:ea typeface="微软雅黑"/>
              </a:rPr>
              <a:t>7–9</a:t>
            </a:r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 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4318" y="2570972"/>
            <a:ext cx="4816236" cy="354787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27363" y="2570972"/>
            <a:ext cx="1369103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岗位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73860" y="2570972"/>
            <a:ext cx="247374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主要做什么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24999" y="2570972"/>
            <a:ext cx="44120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人数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94318" y="2961238"/>
            <a:ext cx="4816236" cy="443484"/>
          </a:xfrm>
          <a:prstGeom prst="roundRect">
            <a:avLst>
              <a:gd name="adj" fmla="val 12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27363" y="2961238"/>
            <a:ext cx="13513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数据负责人 / 架构师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73860" y="2961238"/>
            <a:ext cx="24560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总体架构、技术选型、治理方案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24999" y="2961238"/>
            <a:ext cx="42346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94318" y="3440201"/>
            <a:ext cx="4816236" cy="4434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27363" y="3440201"/>
            <a:ext cx="13513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数据开发 · 离线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73860" y="3440201"/>
            <a:ext cx="24560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数据底座、公共模型、指标和标签加工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24999" y="3440201"/>
            <a:ext cx="42346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94318" y="3919164"/>
            <a:ext cx="4816236" cy="443484"/>
          </a:xfrm>
          <a:prstGeom prst="roundRect">
            <a:avLst>
              <a:gd name="adj" fmla="val 12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27363" y="3919164"/>
            <a:ext cx="13513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数据开发 · 实时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673860" y="3919164"/>
            <a:ext cx="24560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订单、核销分钟级看到；数据开放平台接口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24999" y="3919164"/>
            <a:ext cx="42346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1–2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94318" y="4398126"/>
            <a:ext cx="4816236" cy="4434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27363" y="4398126"/>
            <a:ext cx="13513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数据产品经理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73860" y="4398126"/>
            <a:ext cx="24560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定需求、定口径，设计数据产品和看板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24999" y="4398126"/>
            <a:ext cx="42346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94318" y="4877089"/>
            <a:ext cx="4816236" cy="443484"/>
          </a:xfrm>
          <a:prstGeom prst="roundRect">
            <a:avLst>
              <a:gd name="adj" fmla="val 12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27363" y="4877089"/>
            <a:ext cx="13513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BI 与分析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73860" y="4877089"/>
            <a:ext cx="24560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小Q 报表、自助分析模板、经营分析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24999" y="4877089"/>
            <a:ext cx="42346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1–2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76644" y="1985573"/>
            <a:ext cx="4816236" cy="496702"/>
          </a:xfrm>
          <a:prstGeom prst="roundRect">
            <a:avLst>
              <a:gd name="adj" fmla="val 17857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bo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037" y="2100879"/>
            <a:ext cx="266090" cy="26609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6626564" y="1985573"/>
            <a:ext cx="2217420" cy="4967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智能体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41551" y="1985573"/>
            <a:ext cx="1773936" cy="4967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约 </a:t>
            </a:r>
            <a:r>
              <a:rPr sz="1950" b="1">
                <a:solidFill>
                  <a:srgbClr val="FFFFFF"/>
                </a:solidFill>
                <a:latin typeface="微软雅黑"/>
                <a:ea typeface="微软雅黑"/>
              </a:rPr>
              <a:t>7–9</a:t>
            </a:r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 人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076644" y="2570972"/>
            <a:ext cx="4816236" cy="354787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09690" y="2570972"/>
            <a:ext cx="1369103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岗位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56187" y="2570972"/>
            <a:ext cx="247374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主要做什么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07326" y="2570972"/>
            <a:ext cx="44120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人数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076644" y="2961238"/>
            <a:ext cx="4816236" cy="443484"/>
          </a:xfrm>
          <a:prstGeom prst="roundRect">
            <a:avLst>
              <a:gd name="adj" fmla="val 12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09690" y="2961238"/>
            <a:ext cx="13513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AI 负责人 / 架构师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56187" y="2961238"/>
            <a:ext cx="24560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智能体平台架构，模型和平台选型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407326" y="2961238"/>
            <a:ext cx="42346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076644" y="3440201"/>
            <a:ext cx="4816236" cy="4434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209690" y="3440201"/>
            <a:ext cx="13513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智能体平台开发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56187" y="3440201"/>
            <a:ext cx="24560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统一入口、意图识别、分发、计量、评估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407326" y="3440201"/>
            <a:ext cx="42346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2–3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076644" y="3919164"/>
            <a:ext cx="4816236" cy="443484"/>
          </a:xfrm>
          <a:prstGeom prst="roundRect">
            <a:avLst>
              <a:gd name="adj" fmla="val 12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09690" y="3919164"/>
            <a:ext cx="13513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智能体应用开发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56187" y="3919164"/>
            <a:ext cx="24560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按场景搭智能体，接业务接口和数据平台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407326" y="3919164"/>
            <a:ext cx="42346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2–3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076644" y="4398126"/>
            <a:ext cx="4816236" cy="4434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09690" y="4398126"/>
            <a:ext cx="13513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AI 产品经理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56187" y="4398126"/>
            <a:ext cx="24560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场景设计、对话体验、需求和验收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407326" y="4398126"/>
            <a:ext cx="42346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076644" y="4877089"/>
            <a:ext cx="4816236" cy="443484"/>
          </a:xfrm>
          <a:prstGeom prst="roundRect">
            <a:avLst>
              <a:gd name="adj" fmla="val 12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209690" y="4877089"/>
            <a:ext cx="13513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前端与交互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56187" y="4877089"/>
            <a:ext cx="245600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对话入口、智能体平台管理界面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407326" y="4877089"/>
            <a:ext cx="42346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94318" y="5382661"/>
            <a:ext cx="9898562" cy="532180"/>
          </a:xfrm>
          <a:prstGeom prst="roundRect">
            <a:avLst>
              <a:gd name="adj" fmla="val 16666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Picture 100" descr="user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451" y="5515706"/>
            <a:ext cx="266090" cy="26609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1570847" y="5382661"/>
            <a:ext cx="9144640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微软雅黑"/>
                <a:ea typeface="微软雅黑"/>
              </a:rPr>
              <a:t>合计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专职共约 14–18 人（数据 7–9 + 智能体 7–9）；先盘点现有团队，再定需要新招多少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49" name="文本框 48"/>
          <p:cNvSpPr txBox="1"/>
          <p:nvPr/>
        </p:nvSpPr>
        <p:spPr>
          <a:xfrm>
            <a:off x="4110227" y="4385650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500" dirty="0" b="1">
                <a:solidFill>
                  <a:srgbClr val="21816F"/>
                </a:solidFill>
                <a:latin typeface="微软雅黑"/>
                <a:ea typeface="微软雅黑"/>
                <a:cs typeface="+mn-ea"/>
                <a:sym typeface="+mn-lt"/>
              </a:rPr>
              <a:t>欢迎交流</a:t>
            </a:r>
            <a:endParaRPr lang="zh-CN" altLang="en-US" sz="1100" dirty="0"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51823" y="1850427"/>
            <a:ext cx="428835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dirty="0" b="1">
                <a:solidFill>
                  <a:srgbClr val="2CAB93"/>
                </a:solidFill>
                <a:latin typeface="微软雅黑" pitchFamily="2" charset="-122"/>
                <a:ea typeface="微软雅黑" pitchFamily="2" charset="-122"/>
              </a:rPr>
              <a:t>谢谢</a:t>
            </a:r>
            <a:endParaRPr lang="zh-CN" altLang="en-US" sz="8000" dirty="0">
              <a:latin typeface="Alimama ShuHeiTi Bold" pitchFamily="2" charset="-122"/>
              <a:ea typeface="Alimama ShuHeiTi Bold" pitchFamily="2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3939028" y="5924580"/>
            <a:ext cx="4313944" cy="315056"/>
            <a:chOff x="1253246" y="4118390"/>
            <a:chExt cx="4313944" cy="315056"/>
          </a:xfrm>
        </p:grpSpPr>
        <p:sp>
          <p:nvSpPr>
            <p:cNvPr id="44" name="文本框 43"/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/>
                  <a:ea typeface="微软雅黑"/>
                  <a:cs typeface="+mn-ea"/>
                  <a:sym typeface="+mn-lt"/>
                </a:rPr>
                <a:t>汇报：尹开英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" name="iconfont-10019-4889788"/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/>
                  <a:ea typeface="微软雅黑"/>
                  <a:cs typeface="+mn-ea"/>
                  <a:sym typeface="+mn-lt"/>
                </a:rPr>
                <a:t>时间：2026.10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iconfont-11899-5651509"/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759200" y="3672508"/>
            <a:ext cx="4673600" cy="471552"/>
            <a:chOff x="3759200" y="3558828"/>
            <a:chExt cx="4673600" cy="471552"/>
          </a:xfrm>
        </p:grpSpPr>
        <p:sp>
          <p:nvSpPr>
            <p:cNvPr id="28" name="矩形: 圆角 27"/>
            <p:cNvSpPr/>
            <p:nvPr/>
          </p:nvSpPr>
          <p:spPr>
            <a:xfrm>
              <a:off x="3759200" y="3558828"/>
              <a:ext cx="4673600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4229944" y="3644286"/>
              <a:ext cx="37321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/>
                  <a:ea typeface="微软雅黑"/>
                </a:rPr>
                <a:t>数据可信  ·  智能体落地  ·  数据越用越准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9" name="十字形 18" descr="D:\51PPT模板网\51pptmoban.com\图片.jpg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54c1c560-07e4-4903-b0b7-fc1cb353e47f">
      <a:majorFont>
        <a:latin typeface="HarmonyOS Sans SC Light"/>
        <a:ea typeface="阿里巴巴普惠体 2 55 Regular"/>
        <a:cs typeface=""/>
      </a:majorFont>
      <a:minorFont>
        <a:latin typeface="HarmonyOS Sans SC Light"/>
        <a:ea typeface="阿里巴巴普惠体 2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4538</Words>
  <Application>WPS 演示</Application>
  <PresentationFormat>宽屏</PresentationFormat>
  <Paragraphs>454</Paragraphs>
  <Slides>23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3" baseType="lpstr">
      <vt:lpstr>Arial</vt:lpstr>
      <vt:lpstr>宋体</vt:lpstr>
      <vt:lpstr>Wingdings</vt:lpstr>
      <vt:lpstr>HarmonyOS Sans SC Light</vt:lpstr>
      <vt:lpstr>阿里巴巴普惠体 2.0 55 Regular</vt:lpstr>
      <vt:lpstr>Alimama ShuHeiTi Bold</vt:lpstr>
      <vt:lpstr>HarmonyOS Sans SC Black</vt:lpstr>
      <vt:lpstr>印品黑体</vt:lpstr>
      <vt:lpstr>KSOF28C28C15</vt:lpstr>
      <vt:lpstr>FFont-Family</vt:lpstr>
      <vt:lpstr>阿里巴巴普惠体 2 55 Regular</vt:lpstr>
      <vt:lpstr>KSOF28C30074</vt:lpstr>
      <vt:lpstr>微软雅黑</vt:lpstr>
      <vt:lpstr>Arial Unicode MS</vt:lpstr>
      <vt:lpstr>等线</vt:lpstr>
      <vt:lpstr>Calibri</vt:lpstr>
      <vt:lpstr>Calibri</vt:lpstr>
      <vt:lpstr>KSOFD38F9ACC</vt:lpstr>
      <vt:lpstr>黑体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www.51pptmoban.com</Company>
  <LinksUpToDate>false</LinksUpToDate>
  <SharedDoc>false</SharedDoc>
  <HyperlinksChanged>false</HyperlinksChanged>
  <AppVersion>14.0000</AppVersion>
  <Manager>51PPT模板网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清新圆角医疗护理工作汇报PPT模板</dc:title>
  <dc:creator>©51PPT模板网（www.51pptmoban.com）</dc:creator>
  <cp:keywords>版权归属：51PPT模板网；</cp:keywords>
  <dc:description>51PPT模板网，幻灯片演示模板及素材免费下载！
51PPT模板网 唯一访问网址：www.51pptmoban.com。</dc:description>
  <cp:lastModifiedBy>寶安居士</cp:lastModifiedBy>
  <cp:revision>1007</cp:revision>
  <dcterms:created xsi:type="dcterms:W3CDTF">2026-05-24T00:54:00Z</dcterms:created>
  <dcterms:modified xsi:type="dcterms:W3CDTF">2026-10-18T01:52:06Z</dcterms:modified>
  <cp:version>51pptmoban.com（V51PPT-26081201版）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F3C048C693284A3891131F5671A846A5_12</vt:lpwstr>
  </property>
  <property fmtid="{D5CDD505-2E9C-101B-9397-08002B2CF9AE}" pid="3" name="KSOProductBuildVer">
    <vt:lpwstr>2052-12.1.0.29161</vt:lpwstr>
  </property>
</Properties>
</file>