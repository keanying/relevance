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ED4"/>
    <a:srgbClr val="4EB6A0"/>
    <a:srgbClr val="CCC9D5"/>
    <a:srgbClr val="59A132"/>
    <a:srgbClr val="2CAB93"/>
    <a:srgbClr val="21816F"/>
    <a:srgbClr val="1F9BCC"/>
    <a:srgbClr val="9EA0C3"/>
    <a:srgbClr val="F2D2BF"/>
    <a:srgbClr val="E6B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96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42" y="792"/>
      </p:cViewPr>
      <p:guideLst>
        <p:guide orient="horz" pos="2160"/>
        <p:guide pos="3840"/>
        <p:guide pos="619"/>
        <p:guide pos="70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2142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8" Type="http://schemas.openxmlformats.org/officeDocument/2006/relationships/slide" Target="slides/slide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22D82-5AC2-4639-BCCB-33DE6BAB06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6D70-FD59-465F-BBA9-429F91A1AB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F7C33-68E8-47E0-ADF8-2CE870572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7FD74-78BE-4F66-971B-354B57AE6F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这一张图把整个数据和 AI 平台讲清楚，先看左边，从下往上。第一层，数据从哪来：一类是业务数据，票务、订单、经营、营销、OTA、财务、ERP、终端；另一类是企业知识，Word、PDF、Excel、Markdown、图片、视频、音频。第二层，收进来：PDC 数据集成，所有数据只有这一个入口，离线同步、实时采集、文件采集、API 接入。第三层，洗干净、标清楚：PDP 数据清洗，去重、补缺、文档解析、图片识别、语音转写；企业知识这类资料再走两步，PDL 智能标注，AI 先做粗标注、信息抽取和分类，PDR 审核质检，人再把关，审核结果又反过来让 AI 越标越准；业务数据洗干净后直接进治理。第四层，管起来：PDG 数据治理，就是大数据平台那一套，开发建模、调度、标准和主数据、血缘、数据地图、质量。第五层，统一给出去：PDD 数据分发，也就是统一标签，指标、标签、知识、数据集、API 都从这一个出口出去。往上有一道闸门：PDS 统一权限，所有取数都要过这一关，统一登录、角色授权、景区隔离、字段脱敏、访问审计。第六层，怎么用：PDQ 即席自助，自己查数；PBI 数易BI，做看板、大屏、门户、驾驶舱，数据只能从数据分发来；PAP 智能体平台，听懂问题、把流量分给各个智能体。最上面，谁在用：票付通 3.0、景数通、数字大脑、畅游和各类 APP，服务游客、景区、公司内部和行业。再看右边，从上往下，是闭环：用的过程中产生的问答和评价、审核修正、工单处置结果、使用热度，回流到数据平台；整理好的结果再反哺业务，调定价、做营销、优化调度、补指标和知识。这样转一圈，数据越用越准。系统简称的规则是：P 代表票付通，D 代表数据，最后一个字母代表功能。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51pptmoba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 descr="D:\51PPT模板网\51pptmoban.com\图片.jpg"/>
          <p:cNvSpPr/>
          <p:nvPr userDrawn="1"/>
        </p:nvSpPr>
        <p:spPr>
          <a:xfrm>
            <a:off x="423596" y="310586"/>
            <a:ext cx="11360684" cy="6248520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7" name="十字形 6" descr="D:\51PPT模板网\51pptmoban.com\图片.jpg"/>
          <p:cNvSpPr/>
          <p:nvPr userDrawn="1"/>
        </p:nvSpPr>
        <p:spPr>
          <a:xfrm>
            <a:off x="11082528" y="5943600"/>
            <a:ext cx="530352" cy="530352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/>
          <p:cNvSpPr/>
          <p:nvPr userDrawn="1"/>
        </p:nvSpPr>
        <p:spPr>
          <a:xfrm>
            <a:off x="11725488" y="6473128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 descr="D:\51PPT模板网\51pptmoban.com\图片.jpg"/>
          <p:cNvSpPr/>
          <p:nvPr userDrawn="1"/>
        </p:nvSpPr>
        <p:spPr>
          <a:xfrm>
            <a:off x="11592982" y="5262342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3" name="十字形 12" descr="D:\51PPT模板网\51pptmoban.com\图片.jpg"/>
          <p:cNvSpPr/>
          <p:nvPr userDrawn="1"/>
        </p:nvSpPr>
        <p:spPr>
          <a:xfrm>
            <a:off x="174032" y="983864"/>
            <a:ext cx="448328" cy="448328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5" name="十字形 14"/>
          <p:cNvSpPr/>
          <p:nvPr userDrawn="1"/>
        </p:nvSpPr>
        <p:spPr>
          <a:xfrm>
            <a:off x="1129787" y="214733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38200" y="5267144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B0DED4"/>
                </a:solidFill>
              </a:rPr>
              <a:t>51PPT模板网，幻灯片演示模板及素材免费下载！</a:t>
            </a:r>
            <a:endParaRPr lang="zh-CN" altLang="en-US" dirty="0">
              <a:solidFill>
                <a:srgbClr val="B0DED4"/>
              </a:solidFill>
            </a:endParaRPr>
          </a:p>
          <a:p>
            <a:r>
              <a:rPr lang="zh-CN" altLang="en-US" dirty="0">
                <a:solidFill>
                  <a:srgbClr val="B0DED4"/>
                </a:solidFill>
              </a:rPr>
              <a:t>51PPT模板网 唯一访问网址：www.51pptmoban.com。</a:t>
            </a:r>
            <a:endParaRPr lang="zh-CN" altLang="en-US" dirty="0">
              <a:solidFill>
                <a:srgbClr val="B0DED4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image" Target="../media/image2.jpeg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总体架构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一套数据底座 + 一个智能体平台，从产数到用数形成闭环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左边从下往上：数据进来 → 洗净标好 → 管起来 → 统一给出去 → 用起来；右边从上往下：用的结果回流平台、反哺业务，越用越准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01  ·  AI＋数据平台 · 汇报要点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1056406" y="1990008"/>
            <a:ext cx="0" cy="3938137"/>
          </a:xfrm>
          <a:prstGeom prst="line">
            <a:avLst/>
          </a:prstGeom>
          <a:ln w="44450">
            <a:solidFill>
              <a:srgbClr val="2CAB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153971" y="1972269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24930" y="1990008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⑦ 谁在用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4930" y="2194011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游客·景区·内部·行业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3971" y="2486710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24930" y="2504450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⑥ 怎么用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4930" y="2708452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查数·看板·AI 办事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53971" y="3426896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24930" y="3444636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⑤ 统一给出去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4930" y="3648638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唯一出口 · 统一标签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53971" y="3941338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24930" y="3959077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④ 管起来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24930" y="4163080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有规矩、可追溯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53971" y="4455779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4930" y="4473519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③ 洗净、标好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24930" y="4677521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知识：AI 先标、人再审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53971" y="4970221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4930" y="4987960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② 收进来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4930" y="5191963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所有数据一个入口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53971" y="5484662"/>
            <a:ext cx="1277233" cy="443483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24930" y="5502402"/>
            <a:ext cx="1170797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① 数据从哪来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24930" y="5706404"/>
            <a:ext cx="1170797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E7772"/>
                </a:solidFill>
                <a:latin typeface="微软雅黑"/>
                <a:ea typeface="微软雅黑"/>
              </a:rPr>
              <a:t>业务数据 + 企业知识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19903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票付通 3.0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91155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262407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33660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畅游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04913" y="1972269"/>
            <a:ext cx="1309164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各类 APP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19903" y="2486710"/>
            <a:ext cx="2217420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26339" y="2504450"/>
            <a:ext cx="2040026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PDQ </a:t>
            </a:r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即席自助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26339" y="2708452"/>
            <a:ext cx="204002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自己查数 · 智能问数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808280" y="2486710"/>
            <a:ext cx="2217420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14717" y="2504450"/>
            <a:ext cx="2040026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PBI </a:t>
            </a:r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数易BI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14717" y="2708452"/>
            <a:ext cx="204002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看板 · 大屏 · 门户 · 驾驶舱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96658" y="2486710"/>
            <a:ext cx="2217420" cy="443483"/>
          </a:xfrm>
          <a:prstGeom prst="roundRect">
            <a:avLst>
              <a:gd name="adj" fmla="val 16000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03094" y="2504450"/>
            <a:ext cx="2040026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26A2C"/>
                </a:solidFill>
                <a:latin typeface="微软雅黑"/>
                <a:ea typeface="微软雅黑"/>
              </a:rPr>
              <a:t>PAP </a:t>
            </a:r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03094" y="2708452"/>
            <a:ext cx="204002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听懂问题 · 分发给各智能体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53971" y="3001152"/>
            <a:ext cx="8160105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408" y="3072109"/>
            <a:ext cx="212872" cy="21287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544237" y="3001152"/>
            <a:ext cx="769888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  <a:latin typeface="微软雅黑"/>
                <a:ea typeface="微软雅黑"/>
              </a:rPr>
              <a:t>PDS 统一权限　</a:t>
            </a: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所有取数都过这道关：统一登录 · 角色授权 · 景区隔离 · 字段脱敏 · 访问审计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519903" y="3426896"/>
            <a:ext cx="1525584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PDD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数据分发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116445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指标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168389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标签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20333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知识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272277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数据集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24221" y="3426896"/>
            <a:ext cx="989855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API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19903" y="3941338"/>
            <a:ext cx="1525584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PDG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数据治理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6445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开发建模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993065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调度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869686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标准与主数据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746306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血缘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622926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数据地图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499546" y="3941338"/>
            <a:ext cx="81453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519903" y="4455779"/>
            <a:ext cx="2110983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08600" y="4473519"/>
            <a:ext cx="1977938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PDP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数据清洗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08600" y="4677521"/>
            <a:ext cx="1977938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去重 · 解析 · 识别 · 转写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4657496" y="4597694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861499" y="4455779"/>
            <a:ext cx="2110983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50195" y="4473519"/>
            <a:ext cx="1977938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PDL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智能标注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50195" y="4677521"/>
            <a:ext cx="1977938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AI 粗标 · 抽取 · 分类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6999091" y="4597694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203094" y="4455779"/>
            <a:ext cx="2110983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91791" y="4473519"/>
            <a:ext cx="1977938" cy="2439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PDR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审核质检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91791" y="4677521"/>
            <a:ext cx="1977938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人工把关 · 抽检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519903" y="4970221"/>
            <a:ext cx="1525584" cy="443483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PDC </a:t>
            </a: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数据集成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116445" y="4970221"/>
            <a:ext cx="125284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离线同步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431375" y="4970221"/>
            <a:ext cx="125284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实时采集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746306" y="4970221"/>
            <a:ext cx="125284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文件采集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61236" y="4970221"/>
            <a:ext cx="1252842" cy="44348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API 接入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519903" y="5484662"/>
            <a:ext cx="3736795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626339" y="5502402"/>
            <a:ext cx="3559402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业务数据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26339" y="5697534"/>
            <a:ext cx="3559402" cy="21287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1F3A35"/>
                </a:solidFill>
                <a:latin typeface="微软雅黑"/>
                <a:ea typeface="微软雅黑"/>
              </a:rPr>
              <a:t>票务 · 订单 · 经营 · 营销 · OTA · 财务 · ERP · 终端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27656" y="5484662"/>
            <a:ext cx="2986420" cy="443483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34093" y="5502402"/>
            <a:ext cx="280902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企业知识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34093" y="5697534"/>
            <a:ext cx="2809026" cy="21287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1F3A35"/>
                </a:solidFill>
                <a:latin typeface="微软雅黑"/>
                <a:ea typeface="微软雅黑"/>
              </a:rPr>
              <a:t>Word · PDF · Excel · Markdown · 图片 · 音视频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455993" y="1972269"/>
            <a:ext cx="1436888" cy="3955877"/>
          </a:xfrm>
          <a:prstGeom prst="roundRect">
            <a:avLst>
              <a:gd name="adj" fmla="val 8641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10786445" y="2078705"/>
            <a:ext cx="0" cy="3743004"/>
          </a:xfrm>
          <a:prstGeom prst="line">
            <a:avLst/>
          </a:prstGeom>
          <a:ln w="44450">
            <a:solidFill>
              <a:srgbClr val="E39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9562429" y="2025487"/>
            <a:ext cx="115305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闭环 · 越用越准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62429" y="2531059"/>
            <a:ext cx="115305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回流到平台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62429" y="2797149"/>
            <a:ext cx="1153058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问答与评价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审核修正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工单处置结果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使用热度</a:t>
            </a:r>
          </a:p>
        </p:txBody>
      </p:sp>
      <p:sp>
        <p:nvSpPr>
          <p:cNvPr id="123" name="Down Arrow 122"/>
          <p:cNvSpPr/>
          <p:nvPr/>
        </p:nvSpPr>
        <p:spPr>
          <a:xfrm>
            <a:off x="9988174" y="3959077"/>
            <a:ext cx="266090" cy="319308"/>
          </a:xfrm>
          <a:prstGeom prst="down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562429" y="4544476"/>
            <a:ext cx="115305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反哺业务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562429" y="4810566"/>
            <a:ext cx="1153058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调定价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做营销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优化调度</a:t>
            </a:r>
          </a:p>
          <a:p>
            <a:pPr algn="l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补指标和知识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9322948" y="2114184"/>
            <a:ext cx="124175" cy="159654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Left Arrow 126"/>
          <p:cNvSpPr/>
          <p:nvPr/>
        </p:nvSpPr>
        <p:spPr>
          <a:xfrm>
            <a:off x="9322948" y="4083253"/>
            <a:ext cx="124175" cy="159654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Left Arrow 127"/>
          <p:cNvSpPr/>
          <p:nvPr/>
        </p:nvSpPr>
        <p:spPr>
          <a:xfrm>
            <a:off x="9322948" y="5626577"/>
            <a:ext cx="124175" cy="159654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4538</Words>
  <Application>WPS 演示</Application>
  <PresentationFormat>宽屏</PresentationFormat>
  <Paragraphs>454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宋体</vt:lpstr>
      <vt:lpstr>Wingdings</vt:lpstr>
      <vt:lpstr>HarmonyOS Sans SC Light</vt:lpstr>
      <vt:lpstr>阿里巴巴普惠体 2.0 55 Regular</vt:lpstr>
      <vt:lpstr>Alimama ShuHeiTi Bold</vt:lpstr>
      <vt:lpstr>HarmonyOS Sans SC Black</vt:lpstr>
      <vt:lpstr>印品黑体</vt:lpstr>
      <vt:lpstr>KSOF28C28C15</vt:lpstr>
      <vt:lpstr>FFont-Family</vt:lpstr>
      <vt:lpstr>阿里巴巴普惠体 2 55 Regular</vt:lpstr>
      <vt:lpstr>KSOF28C30074</vt:lpstr>
      <vt:lpstr>微软雅黑</vt:lpstr>
      <vt:lpstr>Arial Unicode MS</vt:lpstr>
      <vt:lpstr>等线</vt:lpstr>
      <vt:lpstr>Calibri</vt:lpstr>
      <vt:lpstr>Calibri</vt:lpstr>
      <vt:lpstr>KSOFD38F9ACC</vt:lpstr>
      <vt:lpstr>黑体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清新圆角医疗护理工作汇报PPT模板</dc:title>
  <dc:creator>©51PPT模板网（www.51pptmoban.com）</dc:creator>
  <cp:keywords>版权归属：51PPT模板网；</cp:keywords>
  <dc:description>51PPT模板网，幻灯片演示模板及素材免费下载！
51PPT模板网 唯一访问网址：www.51pptmoban.com。</dc:description>
  <cp:lastModifiedBy>寶安居士</cp:lastModifiedBy>
  <cp:revision>1007</cp:revision>
  <dcterms:created xsi:type="dcterms:W3CDTF">2026-05-24T00:54:00Z</dcterms:created>
  <dcterms:modified xsi:type="dcterms:W3CDTF">2026-10-18T01:52:06Z</dcterms:modified>
  <cp:version>51pptmoban.com（V51PPT-26081201版）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F3C048C693284A3891131F5671A846A5_12</vt:lpwstr>
  </property>
  <property fmtid="{D5CDD505-2E9C-101B-9397-08002B2CF9AE}" pid="3" name="KSOProductBuildVer">
    <vt:lpwstr>2052-12.1.0.29161</vt:lpwstr>
  </property>
</Properties>
</file>