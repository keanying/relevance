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82"/>
  </p:notesMasterIdLst>
  <p:handoutMasterIdLst>
    <p:handoutMasterId r:id="rId8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</p:sldIdLst>
  <p:sldSz cx="11522075" cy="864044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5759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11518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7284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230441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88036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3456305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403225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460883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990099"/>
    <a:srgbClr val="FF3399"/>
    <a:srgbClr val="66FF33"/>
    <a:srgbClr val="99FF66"/>
    <a:srgbClr val="FFCC66"/>
    <a:srgbClr val="FF9900"/>
    <a:srgbClr val="FFFFFF"/>
    <a:srgbClr val="FFCC0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34" autoAdjust="0"/>
    <p:restoredTop sz="95672" autoAdjust="0"/>
  </p:normalViewPr>
  <p:slideViewPr>
    <p:cSldViewPr showGuides="1">
      <p:cViewPr>
        <p:scale>
          <a:sx n="50" d="100"/>
          <a:sy n="50" d="100"/>
        </p:scale>
        <p:origin x="2814" y="1077"/>
      </p:cViewPr>
      <p:guideLst>
        <p:guide orient="horz" pos="2722"/>
        <p:guide pos="36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5304"/>
    </p:cViewPr>
  </p:sorterViewPr>
  <p:notesViewPr>
    <p:cSldViewPr>
      <p:cViewPr varScale="1">
        <p:scale>
          <a:sx n="81" d="100"/>
          <a:sy n="81" d="100"/>
        </p:scale>
        <p:origin x="-328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82" Type="http://schemas.openxmlformats.org/officeDocument/2006/relationships/notesMaster" Target="notesMasters/notesMaster1.xml"/><Relationship Id="rId83" Type="http://schemas.openxmlformats.org/officeDocument/2006/relationships/handoutMaster" Target="handoutMasters/handout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E1A7895-9E8F-4C50-B5E8-7345F3E6B0B6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C19984-4B2A-48B4-B869-87DEC631B6E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D0698-BD05-4639-9D81-B9F65B9CB3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DEE79-D6A9-404B-B2E7-14B1D35489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594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5189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847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0441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8036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5630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3225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0883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· 约 30 秒】</a:t>
            </a:r>
          </a:p>
          <a:p>
            <a:r>
              <a:t>各位领导、专家好。今天汇报的主题是「AI＋数据平台」。</a:t>
            </a:r>
          </a:p>
          <a:p>
            <a:r>
              <a:t>核心就一句话：建设我们自己的 AI＋数据平台，用它赋能企业、赋能行业。</a:t>
            </a:r>
          </a:p>
          <a:p>
            <a:r>
              <a:t>整个汇报沿着一条主线往下走：有什么、缺什么、要建什么、要怎么建、价值是什么。</a:t>
            </a:r>
          </a:p>
          <a:p>
            <a:r>
              <a:t>过渡：先用一页把结论讲清楚，再展开。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【汇报要点 · 约 2 分钟 · 本页最重要】</a:t>
            </a:r>
          </a:p>
          <a:p>
            <a:r>
              <a:t>如果只看一页，就看这一页。六句话：</a:t>
            </a:r>
          </a:p>
          <a:p>
            <a:r>
              <a:t>· 一个判断：我们家底厚、离线主流程骨架已经在，但数据还不够可信；而且 AI 应用越铺越开，会把这个问题放大。</a:t>
            </a:r>
          </a:p>
          <a:p>
            <a:r>
              <a:t>· 一个目标：建成数据可信、模型可复用、服务稳定、能力易扩展的平台。</a:t>
            </a:r>
          </a:p>
          <a:p>
            <a:r>
              <a:t>· 三年三步：第一年治理筑基、第二年平台统一、第三年价值扩展，每年都有达标标志和看得见的成果。</a:t>
            </a:r>
          </a:p>
          <a:p>
            <a:r>
              <a:t>· 两个赋能：对内跑通八条业务数据闭环；对外通过数据服务、产品和行业规范赋能行业。</a:t>
            </a:r>
          </a:p>
          <a:p>
            <a:r>
              <a:t>· 三层价值：企业降本增效，客户与伙伴增长，行业标准与洞察。</a:t>
            </a:r>
          </a:p>
          <a:p>
            <a:r>
              <a:t>· 四项支持：口径决策机制、规范强制力、资源投入、业务配合，这是今天希望领导拍板的。</a:t>
            </a:r>
          </a:p>
          <a:p>
            <a:r>
              <a:t>过渡：下面展开第一部分，先看我们手里有什么。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【第一部分 · 约 15 秒】</a:t>
            </a:r>
          </a:p>
          <a:p>
            <a:r>
              <a:t>第一部分：现状与挑战。</a:t>
            </a:r>
          </a:p>
          <a:p>
            <a:r>
              <a:t>先讲家底和已有基础，再讲五类问题、为什么现在必须做，最后做一个能力盘点。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【数据家底 · 约 1 分钟】</a:t>
            </a:r>
          </a:p>
          <a:p>
            <a:r>
              <a:t>这页说明：我们不缺数据。</a:t>
            </a:r>
          </a:p>
          <a:p>
            <a:r>
              <a:t>· 上面是一条交易主链六个域：主体与组织、资源与商品、渠道与供销、订单交易、预约与核销、结算与财务，这是核心资产。</a:t>
            </a:r>
          </a:p>
          <a:p>
            <a:r>
              <a:t>· 下面是八类支撑数据：营销、游客会员、多业态消费、现场设备、SaaS 客户、平台运行、外部公共数据，以及知识与 AI 数据。</a:t>
            </a:r>
          </a:p>
          <a:p>
            <a:r>
              <a:t>· 要强调的是：难点不在数据量，而在节假日高峰、订单状态变更、离线补传和多租户隔离。这几点决定了平台的设计要求。</a:t>
            </a:r>
          </a:p>
          <a:p>
            <a:r>
              <a:t>过渡：这些数据从哪来？看产品全景。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【产品全景 · 约 1.5 分钟】</a:t>
            </a:r>
          </a:p>
          <a:p>
            <a:r>
              <a:t>这页把产品全景和数据来源对上。</a:t>
            </a:r>
          </a:p>
          <a:p>
            <a:r>
              <a:t>· 左边智慧票务是数据的主要产生方：票务、景区业态、运营、财务、智慧终端，覆盖从售票到闸机的全过程。</a:t>
            </a:r>
          </a:p>
          <a:p>
            <a:r>
              <a:t>· 中间是要建的 AI＋数据平台：汇聚治理，形成指标、标签、数据服务和 AI 能力。</a:t>
            </a:r>
          </a:p>
          <a:p>
            <a:r>
              <a:t>· 右边两条产品线是数据的使用方：AI 数字大脑面向景区和管理方，有景数通、调度中枢、票付通 APP；畅游 AI 面向游客，有小程序、游客智能体和会员营销。</a:t>
            </a:r>
          </a:p>
          <a:p>
            <a:r>
              <a:t>· 紫色箭头是赋能，橙色箭头是使用行为回流，也就是反哺。</a:t>
            </a:r>
          </a:p>
          <a:p>
            <a:r>
              <a:t>一句话：智慧票务产生数据，另外两条产品线使用数据，使用行为再回流平台。</a:t>
            </a:r>
          </a:p>
          <a:p>
            <a:r>
              <a:t>过渡：数据有了，平台骨架现在建到什么程度？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【离线主流程 · 约 1 分钟】</a:t>
            </a:r>
          </a:p>
          <a:p>
            <a:r>
              <a:t>先讲已经做成的事：离线主流程已经贯通。</a:t>
            </a:r>
          </a:p>
          <a:p>
            <a:r>
              <a:t>· 业务主线是供应商、游客、会员到订单，再到维度。</a:t>
            </a:r>
          </a:p>
          <a:p>
            <a:r>
              <a:t>· 数据分层从 ODS、DWD、DIM、DWS 到 ADS 全链路打通。</a:t>
            </a:r>
          </a:p>
          <a:p>
            <a:r>
              <a:t>· 这意味着平台骨架已经搭好，后面是在骨架上补，不是推倒重来。</a:t>
            </a:r>
          </a:p>
          <a:p>
            <a:r>
              <a:t>· 下一步四件事：补维度（核销、渠道、结算）、补质量、补实时（订单和核销先行）、补标签。</a:t>
            </a:r>
          </a:p>
          <a:p>
            <a:r>
              <a:t>过渡：工具层面我们也有基础。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【已有能力 · 约 1 分钟】</a:t>
            </a:r>
          </a:p>
          <a:p>
            <a:r>
              <a:t>工具上，开发、服务、消费三个环节都有：</a:t>
            </a:r>
          </a:p>
          <a:p>
            <a:r>
              <a:t>· DataWorks 负责离线开发与调度；</a:t>
            </a:r>
          </a:p>
          <a:p>
            <a:r>
              <a:t>· 动态数据开放 API 把 ADS 指标对内对外提供；</a:t>
            </a:r>
          </a:p>
          <a:p>
            <a:r>
              <a:t>· Quick BI 负责分析展示。</a:t>
            </a:r>
          </a:p>
          <a:p>
            <a:r>
              <a:t>· 中间橙色这块是缺口：缺治理与指标中枢，也缺贯穿各层的 AI 能力。</a:t>
            </a:r>
          </a:p>
          <a:p>
            <a:r>
              <a:t>· 下面是三条产品线，都是平台未来的服务对象。</a:t>
            </a:r>
          </a:p>
          <a:p>
            <a:r>
              <a:t>要表达的态度：已有投入全部保留，在此基础上升级。</a:t>
            </a:r>
          </a:p>
          <a:p>
            <a:r>
              <a:t>过渡：那问题出在哪里？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【五类问题 · 约 1.5 分钟】</a:t>
            </a:r>
          </a:p>
          <a:p>
            <a:r>
              <a:t>我们梳理出五类问题：数据孤岛、口径不一、结构不规范、模型重复、关键数字不准。</a:t>
            </a:r>
          </a:p>
          <a:p>
            <a:r>
              <a:t>· 看起来是五个问题，分散在不同团队；但根因只有一个：缺少统一的标准、模型、口径和校验。</a:t>
            </a:r>
          </a:p>
          <a:p>
            <a:r>
              <a:t>· 所以单点修补会反复出现，今天修好一个报表，明天另一个口径又冒出来。</a:t>
            </a:r>
          </a:p>
          <a:p>
            <a:r>
              <a:t>· 结论：必须体系化建设，这也是这次规划的出发点。</a:t>
            </a:r>
          </a:p>
          <a:p>
            <a:r>
              <a:t>· 底部现状基线：口径冲突指标数，第一年先测基线；重复模型数，盘点后形成清单；无描述表占比，核心表优先整改；关键数字对账差异，核销先测。</a:t>
            </a:r>
          </a:p>
          <a:p>
            <a:r>
              <a:t>过渡：用一个最典型的例子看一下，为什么关键数字会不准。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【关键数字为什么不准 · 约 1.5 分钟】</a:t>
            </a:r>
          </a:p>
          <a:p>
            <a:r>
              <a:t>以入园和核销为例。</a:t>
            </a:r>
          </a:p>
          <a:p>
            <a:r>
              <a:t>· 数据从闸机、边云网关、手持终端、OTA 回传进入业务库，再到数仓，最后到看板和报表。</a:t>
            </a:r>
          </a:p>
          <a:p>
            <a:r>
              <a:t>· 每一段都可能出问题：源头有离线补传、多头上报；业务库有重复上报、撤销冲正没处理；数仓有发生时间和上报时间混用、ID 映射错误；报表层没有逐层核对，景区个性规则没处理。</a:t>
            </a:r>
          </a:p>
          <a:p>
            <a:r>
              <a:t>· 这些是待逐项排查的方向，不预判为已确认根因。</a:t>
            </a:r>
          </a:p>
          <a:p>
            <a:r>
              <a:t>结论：缺的是唯一事实源、逐层核对和统一口径，不是改某一段 SQL 能解决的。</a:t>
            </a:r>
          </a:p>
          <a:p>
            <a:r>
              <a:t>· 底部关键指标：核销对账差异率，≤ 1% → ≤ 0.5%；离线补传延迟，分钟级可见；重复上报率，持续下降；差异定位时长，小时级。</a:t>
            </a:r>
          </a:p>
          <a:p>
            <a:r>
              <a:t>过渡：为什么说这件事要现在做？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【为什么是现在 · 约 1.5 分钟 · 重点页】</a:t>
            </a:r>
          </a:p>
          <a:p>
            <a:r>
              <a:t>这页是推动决策的关键。</a:t>
            </a:r>
          </a:p>
          <a:p>
            <a:r>
              <a:t>· 三条产品线都在用数据；产品里已经有 19 个 AI 应用和智能体；其中景数通和票付通 APP 两个入口都能做 AI 问数。</a:t>
            </a:r>
          </a:p>
          <a:p>
            <a:r>
              <a:t>· AI 入口越多，直接面向管理层和一线的人就越多。如果底层数据不可信，AI 不会消除问题，反而会放大问题：</a:t>
            </a:r>
          </a:p>
          <a:p>
            <a:r>
              <a:t>  同一个问题得到多个答案；错误数字被自动推送到一线；对外数据产品失去客户信任。</a:t>
            </a:r>
          </a:p>
          <a:p>
            <a:r>
              <a:t>· 判断：先治理、建底座，AI 才会放大价值，而不是放大问题。窗口期就是现在。</a:t>
            </a:r>
          </a:p>
          <a:p>
            <a:r>
              <a:t>过渡：最后盘点一下哪些已具备、哪些要补。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【能力盘点 · 约 1 分钟】</a:t>
            </a:r>
          </a:p>
          <a:p>
            <a:r>
              <a:t>三列：</a:t>
            </a:r>
          </a:p>
          <a:p>
            <a:r>
              <a:t>· 已具备：离线主流程模型、DataWorks、动态数据开放 API、Quick BI。</a:t>
            </a:r>
          </a:p>
          <a:p>
            <a:r>
              <a:t>· 持续建设：其他维度与主题域、数据标准、地图与血缘。</a:t>
            </a:r>
          </a:p>
          <a:p>
            <a:r>
              <a:t>· 待建设：数据质量与逐层核对、实时计算、统一标签、指标中心与景区自定义、AI 共用能力。</a:t>
            </a:r>
          </a:p>
          <a:p>
            <a:r>
              <a:t>原则：治理与 AI 能力叠加在已有工具之上，不推倒重来。</a:t>
            </a:r>
          </a:p>
          <a:p>
            <a:r>
              <a:t>过渡：现状讲清楚了，第二部分讲要建成什么。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【第二部分 · 约 15 秒】</a:t>
            </a:r>
          </a:p>
          <a:p>
            <a:r>
              <a:t>第二部分：目标与蓝图。一个平台，两个赋能。</a:t>
            </a:r>
          </a:p>
          <a:p>
            <a:r>
              <a:t>依次讲建设目标、总体架构、平台组件和演进路径。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【建设目标 · 约 1 分钟】</a:t>
            </a:r>
          </a:p>
          <a:p>
            <a:r>
              <a:t>目标用四个「可」来衡量：</a:t>
            </a:r>
          </a:p>
          <a:p>
            <a:r>
              <a:t>· 数据可信：关键数字可验证、可追溯，异常可定位、可修复。</a:t>
            </a:r>
          </a:p>
          <a:p>
            <a:r>
              <a:t>· 模型可复用：公共模型一次建设、多处使用，新需求优先复用。</a:t>
            </a:r>
          </a:p>
          <a:p>
            <a:r>
              <a:t>· 服务稳定：接入、加工、查询、API 有监测、有隔离、可恢复。</a:t>
            </a:r>
          </a:p>
          <a:p>
            <a:r>
              <a:t>· 能力易扩展：新业务、新景区通过配置化方式快速接入。</a:t>
            </a:r>
          </a:p>
          <a:p>
            <a:r>
              <a:t>每个「可」都配了衡量指标，比如数据可信看对账差异率、质量规则覆盖率、元数据完整率；能力易扩展看接入周期和首次验收通过率。</a:t>
            </a:r>
          </a:p>
          <a:p>
            <a:r>
              <a:t>这四个「可」支撑对内赋能、对外商业化和行业成果输出。</a:t>
            </a:r>
          </a:p>
          <a:p>
            <a:r>
              <a:t>过渡：平台长什么样？看总体架构。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【总体架构 · 约 1.5 分钟】</a:t>
            </a:r>
          </a:p>
          <a:p>
            <a:r>
              <a:t>自下而上六层：</a:t>
            </a:r>
          </a:p>
          <a:p>
            <a:r>
              <a:t>· 数据来源：票务、订单、小程序、供应商、营销、渠道、设备、外部数据。</a:t>
            </a:r>
          </a:p>
          <a:p>
            <a:r>
              <a:t>· 统一底座：DataWorks 和离线主流程是已有的，补实时计算、湖仓存储、公共模型、分析查询。</a:t>
            </a:r>
          </a:p>
          <a:p>
            <a:r>
              <a:t>· 指标与分析：企业标准指标、景区自定义指标、统一标签，Quick BI 承接。</a:t>
            </a:r>
          </a:p>
          <a:p>
            <a:r>
              <a:t>· 数据服务：动态数据开放 API 升级，加指标服务、标签服务和一键接入。</a:t>
            </a:r>
          </a:p>
          <a:p>
            <a:r>
              <a:t>· AI 能力：模型、知识、工具、评测运营。</a:t>
            </a:r>
          </a:p>
          <a:p>
            <a:r>
              <a:t>· 应用与服务：内部经营、景区运营、伙伴接入、行业报告、数据产品。</a:t>
            </a:r>
          </a:p>
          <a:p>
            <a:r>
              <a:t>右侧治理与资产贯穿各层。渐变色是已有能力，白色是新建或升级。</a:t>
            </a:r>
          </a:p>
          <a:p>
            <a:r>
              <a:t>过渡：落到组件层面，看具体建什么。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【平台组件 · 约 1 分钟】</a:t>
            </a:r>
          </a:p>
          <a:p>
            <a:r>
              <a:t>七组能力：数据集成、存储计算、开发运维、数据治理、指标标签、服务分析、AI 能力。</a:t>
            </a:r>
          </a:p>
          <a:p>
            <a:r>
              <a:t>· 渐变是已有，浅紫是升级，虚线框是新建。</a:t>
            </a:r>
          </a:p>
          <a:p>
            <a:r>
              <a:t>· 可以看到新建主要集中在治理、指标标签和 AI 三组，这正是现在的缺口。</a:t>
            </a:r>
          </a:p>
          <a:p>
            <a:r>
              <a:t>· DataWorks 承担批量同步、离线计算、开发调度；数据地图、血缘、质量等模块按已购情况启用，避免重复采购。</a:t>
            </a:r>
          </a:p>
          <a:p>
            <a:r>
              <a:t>过渡：这么多能力，按什么顺序建？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【三年三阶段 · 约 1.5 分钟】</a:t>
            </a:r>
          </a:p>
          <a:p>
            <a:r>
              <a:t>在现有能力上分三年、三个阶段推进，每年以达标为准再进入下一阶段。</a:t>
            </a:r>
          </a:p>
          <a:p>
            <a:r>
              <a:t>· 第一年治理筑基，目标「可信」：标准、质量、核销主题域。达标标志是标准指标统一使用、关键数字对账稳定。AI 先用在提效治理。</a:t>
            </a:r>
          </a:p>
          <a:p>
            <a:r>
              <a:t>· 第二年平台统一，目标「可复用」：共享模型、指标与标签服务、AI 共用能力。达标标志是公共模型成为默认来源、AI 问数稳定准确。AI 成为平台原生能力。</a:t>
            </a:r>
          </a:p>
          <a:p>
            <a:r>
              <a:t>· 第三年价值扩展，目标「有价值」：景区自主分析、标准接入、智能体和对外产品、行业成果。用客户使用、续约与付费来验证。</a:t>
            </a:r>
          </a:p>
          <a:p>
            <a:r>
              <a:t>起点已经有了：离线主流程已贯通。</a:t>
            </a:r>
          </a:p>
          <a:p>
            <a:r>
              <a:t>过渡：三年分别做哪些事，看路线图。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【第三部分 · 约 15 秒】</a:t>
            </a:r>
          </a:p>
          <a:p>
            <a:r>
              <a:t>第三部分：治理筑基，先让数据可信。</a:t>
            </a:r>
          </a:p>
          <a:p>
            <a:r>
              <a:t>讲治理体系、规范落地、核销样板、数据安全和 AI 提效治理。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【治理体系 · 约 1 分钟】</a:t>
            </a:r>
          </a:p>
          <a:p>
            <a:r>
              <a:t>六项能力：数据标准、数据地图、数据血缘、数据质量、权限管理、资产运营。</a:t>
            </a:r>
          </a:p>
          <a:p>
            <a:r>
              <a:t>· 覆盖从源系统、接入、加工、ADS、API、Quick BI 到 AI 的全链路，不是只管数仓。</a:t>
            </a:r>
          </a:p>
          <a:p>
            <a:r>
              <a:t>· 三个保障：机制上由治理委员会裁定口径争议；责任上每个域和指标都有业务、技术负责人；卡点上发布前自动检查，不合规不发布。</a:t>
            </a:r>
          </a:p>
          <a:p>
            <a:r>
              <a:t>· 底部关键指标：核心表元数据完整率，80% → 98%；质量规则覆盖率，主流程 100%；口径争议关闭周期，两周内裁定；资产健康分，月度公示、持续提升。</a:t>
            </a:r>
          </a:p>
          <a:p>
            <a:r>
              <a:t>过渡：规范怎么真正落地？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【规范落地 · 约 1 分钟】</a:t>
            </a:r>
          </a:p>
          <a:p>
            <a:r>
              <a:t>规范最怕停留在文档里。</a:t>
            </a:r>
          </a:p>
          <a:p>
            <a:r>
              <a:t>· 命名规范举例：分层、主题域、业务过程与粒度、更新方式，一眼看出表的用途。</a:t>
            </a:r>
          </a:p>
          <a:p>
            <a:r>
              <a:t>· DDL 必填项：中文名、描述、负责人、安全等级、生命周期、分区字段、字段注释，以及发生时间与上报时间。</a:t>
            </a:r>
          </a:p>
          <a:p>
            <a:r>
              <a:t>· 落地分三类：新建表发布前自动检查，不合规不发布；存量表核心表优先整改，AI 补描述；持续运营用资产健康分，月度公示。</a:t>
            </a:r>
          </a:p>
          <a:p>
            <a:r>
              <a:t>· 底部关键指标：新建表规范通过率，100%；核心表整改完成率，第一年 80%；DDL 必填完整率，≥ 95%；不合规发布拦截，全部拦截。</a:t>
            </a:r>
          </a:p>
          <a:p>
            <a:r>
              <a:t>过渡：治理从哪里切入？选最痛的核销。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【核销治理样板 · 约 1.5 分钟】</a:t>
            </a:r>
          </a:p>
          <a:p>
            <a:r>
              <a:t>用入园与核销做第一个样板。</a:t>
            </a:r>
          </a:p>
          <a:p>
            <a:r>
              <a:t>· 第一步，厘清四个指标，不能互相替代：核销次数、有效核销票数、入园人次、去重游客数。很多争议其实是把它们混用了。</a:t>
            </a:r>
          </a:p>
          <a:p>
            <a:r>
              <a:t>· 第二步，逐层核对：源端记录、加工明细、汇总指标、API、Quick BI 每一层对得上，发现差异能追溯、修复、重算。</a:t>
            </a:r>
          </a:p>
          <a:p>
            <a:r>
              <a:t>· 长效机制：关键规则失败，阻断下游发布；透明机制：看板和 API 都标注更新时间和质量状态。</a:t>
            </a:r>
          </a:p>
          <a:p>
            <a:r>
              <a:t>样板做成后，方法复制到其他主题域。</a:t>
            </a:r>
          </a:p>
          <a:p>
            <a:r>
              <a:t>· 底部关键指标：四个核销指标认证，第一年完成；逐层对账覆盖，源端到 BI 全链路；差异发现到修复，一个工作日内；节假日数据可信，实时可核对。</a:t>
            </a:r>
          </a:p>
          <a:p>
            <a:r>
              <a:t>过渡：数据可信还包括安全可控。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【数据安全 · 约 1 分钟】</a:t>
            </a:r>
          </a:p>
          <a:p>
            <a:r>
              <a:t>两件事：分级和权属。</a:t>
            </a:r>
          </a:p>
          <a:p>
            <a:r>
              <a:t>· 分级：L4 高敏是个人信息、人脸、政务核验结果；L3 是单景区经营、价格、结算；L2 是日志、设备状态、匿名聚合；L1 是已发布的报告与规范。</a:t>
            </a:r>
          </a:p>
          <a:p>
            <a:r>
              <a:t>· 权属：景区数据只服务该景区本身；渠道数据不向其他渠道披露；游客信息在授权范围内使用；政务数据只用核验结果；对外只输出匿名聚合结果。</a:t>
            </a:r>
          </a:p>
          <a:p>
            <a:r>
              <a:t>· 一条红线：L4 明文不进入大模型。配套字段级打标、脱敏、行列权限、租户隔离、访问留痕。</a:t>
            </a:r>
          </a:p>
          <a:p>
            <a:r>
              <a:t>过渡：治理工作量很大，用 AI 来提效。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提效治理 · 约 1 分钟】</a:t>
            </a:r>
          </a:p>
          <a:p>
            <a:r>
              <a:t>原则：AI 先做，负责人确认。</a:t>
            </a:r>
          </a:p>
          <a:p>
            <a:r>
              <a:t>· 存量元数据补全：AI 根据表结构和 SQL 生成描述，负责人审核后回写。</a:t>
            </a:r>
          </a:p>
          <a:p>
            <a:r>
              <a:t>· 规范命名、口径冲突发现、质量规则推荐、敏感字段识别、异常根因分析，都由 AI 先给结果，再由开发、治理委员会、技术或安全负责人确认。</a:t>
            </a:r>
          </a:p>
          <a:p>
            <a:r>
              <a:t>这样治理不再是纯人力堆出来的，也是 AI 在平台上最先落地的场景。</a:t>
            </a:r>
          </a:p>
          <a:p>
            <a:r>
              <a:t>过渡：数据可信之后，第四部分讲平台统一。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【第四部分 · 约 15 秒】</a:t>
            </a:r>
          </a:p>
          <a:p>
            <a:r>
              <a:t>第四部分：平台统一，一份数据、一套口径、一个出口。</a:t>
            </a:r>
          </a:p>
          <a:p>
            <a:r>
              <a:t>依次讲统一底座、湖仓合一、主题域、指标、标签、自助分析和数据服务。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【统一底座 · 约 1 分钟】</a:t>
            </a:r>
          </a:p>
          <a:p>
            <a:r>
              <a:t>一份存储、一套模型、两种计算。</a:t>
            </a:r>
          </a:p>
          <a:p>
            <a:r>
              <a:t>· 业务库、渠道接口、设备事件、行为日志、外部数据统一接入，接入时就定规范、对象标识和负责人。</a:t>
            </a:r>
          </a:p>
          <a:p>
            <a:r>
              <a:t>· 湖仓一体承载公共模型：离线计算继续用 DataWorks；实时计算订单和核销先行，两者共享业务定义和质量规则。</a:t>
            </a:r>
          </a:p>
          <a:p>
            <a:r>
              <a:t>· 分析查询层保证稳定查询和负载隔离，对外服务 Quick BI、API 和 AI。</a:t>
            </a:r>
          </a:p>
          <a:p>
            <a:r>
              <a:t>· 稳定性重点：结构变更、失败恢复、补数重算、租户隔离、高峰压测。</a:t>
            </a:r>
          </a:p>
          <a:p>
            <a:r>
              <a:t>· 底部关键指标：核心任务成功率，≥ 99.5%；订单、核销时效，分钟级；补数重算时长，小时级完成；高峰压测，节前全部通过。</a:t>
            </a:r>
          </a:p>
          <a:p>
            <a:r>
              <a:t>过渡：重复开发怎么消除？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【离线与湖仓合一 · 约 1 分钟】</a:t>
            </a:r>
          </a:p>
          <a:p>
            <a:r>
              <a:t>现状是两条链路：离线一套模型、湖仓一套模型，同一逻辑写两遍，结果对不上，改口径要改多处。</a:t>
            </a:r>
          </a:p>
          <a:p>
            <a:r>
              <a:t>· 目标是一个底座：公共层 DWD、DIM、DWS 只建一次，离线和实时两种计算方式共用，统一指标输出到 BI、API、AI。</a:t>
            </a:r>
          </a:p>
          <a:p>
            <a:r>
              <a:t>· 合并五步：盘点重叠模型、确定保留版本、下游改为引用、双跑对比、下线重复模型。</a:t>
            </a:r>
          </a:p>
          <a:p>
            <a:r>
              <a:t>· 原则：存量不动、增量按新规范，双跑通过后逐域切换，保留回滚。</a:t>
            </a:r>
          </a:p>
          <a:p>
            <a:r>
              <a:t>· 底部关键指标：重复模型下线比例，50% → 80%；双跑结果一致率，≥ 99.9%；公共模型复用率，40% → 80%；存储计算成本，持续下降。</a:t>
            </a:r>
          </a:p>
          <a:p>
            <a:r>
              <a:t>过渡：模型统一后，主题域按什么顺序补？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【主题域补齐 · 约 1 分钟】</a:t>
            </a:r>
          </a:p>
          <a:p>
            <a:r>
              <a:t>以已贯通的离线主流程为基线，对照产品全景按价值排序。</a:t>
            </a:r>
          </a:p>
          <a:p>
            <a:r>
              <a:t>· 优先补齐：核销履约（治理样板，直接关系入园准确性）、渠道分销、结算财务。</a:t>
            </a:r>
          </a:p>
          <a:p>
            <a:r>
              <a:t>· 后续补齐：商品资源、九类业态的二次消费、会员营销、设备与智能体的感知数据。</a:t>
            </a:r>
          </a:p>
          <a:p>
            <a:r>
              <a:t>· 新主题域全部复用租户、景区、商品、渠道、时间等公共维度。</a:t>
            </a:r>
          </a:p>
          <a:p>
            <a:r>
              <a:t>过渡：数据统一了，口径怎么统一？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【指标体系 · 约 1 分钟】</a:t>
            </a:r>
          </a:p>
          <a:p>
            <a:r>
              <a:t>企业统一标准，景区保留专属定义。</a:t>
            </a:r>
          </a:p>
          <a:p>
            <a:r>
              <a:t>· 企业标准指标统一定义、版本管理、业务认证，经营汇总和跨景区比较一律用标准口径。</a:t>
            </a:r>
          </a:p>
          <a:p>
            <a:r>
              <a:t>· 景区可以在自己的指标空间里定义专属指标，相互隔离、只服务本景区，同名不能覆盖企业标准。</a:t>
            </a:r>
          </a:p>
          <a:p>
            <a:r>
              <a:t>· 景区指标好用的，评审后沉淀为标准。</a:t>
            </a:r>
          </a:p>
          <a:p>
            <a:r>
              <a:t>· 同一个出口服务 Quick BI、动态数据开放 API 和 AI 问数，保证三处数字一致。</a:t>
            </a:r>
          </a:p>
          <a:p>
            <a:r>
              <a:t>· 底部关键指标：企业标准指标认证数，50 → 200；跨出口口径一致，BI、API、AI 一致；景区自定义指标，按需开放、隔离；沉淀为标准，评审后入库。</a:t>
            </a:r>
          </a:p>
          <a:p>
            <a:r>
              <a:t>过渡：指标回答「有多少」，标签回答「是谁」。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【统一标签 · 约 1 分钟】</a:t>
            </a:r>
          </a:p>
          <a:p>
            <a:r>
              <a:t>一处生产，多处复用。</a:t>
            </a:r>
          </a:p>
          <a:p>
            <a:r>
              <a:t>· 统一生产：基于 DIM、DWS 公共模型加工，不在应用侧重复开发。</a:t>
            </a:r>
          </a:p>
          <a:p>
            <a:r>
              <a:t>· 统一管理：口径、负责人、生命周期都登记。</a:t>
            </a:r>
          </a:p>
          <a:p>
            <a:r>
              <a:t>· 统一服务：营销、分析、AI、景区都从这里取。</a:t>
            </a:r>
          </a:p>
          <a:p>
            <a:r>
              <a:t>· OneID：订单、会员、年卡、人脸识别归并为同一游客，这是标签的基础。</a:t>
            </a:r>
          </a:p>
          <a:p>
            <a:r>
              <a:t>· 边界：景区只用本景区标签，不做敏感个人信息标签，对外不提供个体标签。</a:t>
            </a:r>
          </a:p>
          <a:p>
            <a:r>
              <a:t>· 底部关键指标：OneID 归并覆盖，核心游客全覆盖；标签复用场景数，持续增加；关键标签时效，准实时；无人使用标签，定期下线。</a:t>
            </a:r>
          </a:p>
          <a:p>
            <a:r>
              <a:t>过渡：有了指标和标签，业务能不能自己分析？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【自助分析 · 约 1 分钟】</a:t>
            </a:r>
          </a:p>
          <a:p>
            <a:r>
              <a:t>目标是减少临时取数。</a:t>
            </a:r>
          </a:p>
          <a:p>
            <a:r>
              <a:t>· 从统一的模型、指标、标签出发，以 Quick BI 为入口：指标检索、明细探索、可视化计算、自定义看板、报表订阅。</a:t>
            </a:r>
          </a:p>
          <a:p>
            <a:r>
              <a:t>· 服务三类人：总部做跨景区对比，业务线日常分析少提需求，景区通过嵌入 SaaS 看自己的数据。</a:t>
            </a:r>
          </a:p>
          <a:p>
            <a:r>
              <a:t>· AI 问数与 BI 同源，共用指标定义和权限，问出来的数和看板上的数一致。</a:t>
            </a:r>
          </a:p>
          <a:p>
            <a:r>
              <a:t>· 底部关键指标：自助分析完成率，30% → 70%；临时取数需求，持续下降；月活跃用户，持续提升；报表订阅数，持续提升。</a:t>
            </a:r>
          </a:p>
          <a:p>
            <a:r>
              <a:t>过渡：最后是统一的数据出口。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【统一数据服务 · 约 1 分钟】</a:t>
            </a:r>
          </a:p>
          <a:p>
            <a:r>
              <a:t>动态数据开放 API 是现成的好底子，升级为统一出口。</a:t>
            </a:r>
          </a:p>
          <a:p>
            <a:r>
              <a:t>· 当前：ADS 指标快速发布。</a:t>
            </a:r>
          </a:p>
          <a:p>
            <a:r>
              <a:t>· 升级：关联标准指标、权限、质量。</a:t>
            </a:r>
          </a:p>
          <a:p>
            <a:r>
              <a:t>· 服务化：指标与标签服务、租户隔离、AI 工具化。</a:t>
            </a:r>
          </a:p>
          <a:p>
            <a:r>
              <a:t>· 开放化：嵌入式 BI 与 AI 集成、套餐与计量。</a:t>
            </a:r>
          </a:p>
          <a:p>
            <a:r>
              <a:t>· 一套服务，同时服务 Quick BI、业务系统、景区 SaaS、合作伙伴和 AI 智能体，内外口径一致。</a:t>
            </a:r>
          </a:p>
          <a:p>
            <a:r>
              <a:t>· 底部关键指标：服务可用性，≥ 99.9%；响应时长 P95，秒级以内；接入伙伴数，逐年增长；调用量与计量，可按产品核算。</a:t>
            </a:r>
          </a:p>
          <a:p>
            <a:r>
              <a:t>过渡：平台统一之后，第五部分讲 AI 赋能。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【第五部分 · 约 15 秒】</a:t>
            </a:r>
          </a:p>
          <a:p>
            <a:r>
              <a:t>第五部分：AI 与智能体，让智能体用上可信数据，从看数到办事。</a:t>
            </a:r>
          </a:p>
          <a:p>
            <a:r>
              <a:t>先讲 AI 平台和它如何支撑三条产品线，再重点讲 AI 数字大脑的智能体：闭环怎么跑、问数怎么保证准、对内对外带来什么影响。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平台 · 约 1 分钟】</a:t>
            </a:r>
          </a:p>
          <a:p>
            <a:r>
              <a:t>三层：</a:t>
            </a:r>
          </a:p>
          <a:p>
            <a:r>
              <a:t>· 最下面是可信数据：指标服务、标签服务、知识库、元数据与血缘、权限隔离。</a:t>
            </a:r>
          </a:p>
          <a:p>
            <a:r>
              <a:t>· 中间是共用能力：模型服务、知识服务、工具服务、评测运营。</a:t>
            </a:r>
          </a:p>
          <a:p>
            <a:r>
              <a:t>· 上面是应用：辅助数据建设、问数与分析、预测与预警、知识助手、业务助手。</a:t>
            </a:r>
          </a:p>
          <a:p>
            <a:r>
              <a:t>· 原则：AI 不直接生成数字，只通过受控的指标与数据服务取数。</a:t>
            </a:r>
          </a:p>
          <a:p>
            <a:r>
              <a:t>· 推进顺序：先辅助数据建设，再 AI 问数，再预测与业务助手。</a:t>
            </a:r>
          </a:p>
          <a:p>
            <a:r>
              <a:t>· 底部关键指标：AI 问数正确率，85% → 95%；越权阻断率，100%；单次问答成本，持续下降；评测集覆盖场景，持续扩充。</a:t>
            </a:r>
          </a:p>
          <a:p>
            <a:r>
              <a:t>过渡：这套底座怎么服务现有产品？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【支撑三条产品线 · 约 1.5 分钟 · 重点页】</a:t>
            </a:r>
          </a:p>
          <a:p>
            <a:r>
              <a:t>平台不重复建 AI 应用，而是做所有 AI 应用的可信底座。</a:t>
            </a:r>
          </a:p>
          <a:p>
            <a:r>
              <a:t>· 智慧票务有票务 AI 运营助手、AI 对账助手。</a:t>
            </a:r>
          </a:p>
          <a:p>
            <a:r>
              <a:t>· AI 数字大脑有景数通的问数与洞察、APP 的问数与预警、调度中枢八个智能体。</a:t>
            </a:r>
          </a:p>
          <a:p>
            <a:r>
              <a:t>· 畅游 AI 有旅游规划、智能客服、智能购票、伴游、旅拍五个游客智能体。</a:t>
            </a:r>
          </a:p>
          <a:p>
            <a:r>
              <a:t>· 关键一点：景数通和票付通 APP 都有 AI 问数，必须共用一套认证指标，同一个问题只有一个答案。</a:t>
            </a:r>
          </a:p>
          <a:p>
            <a:r>
              <a:t>· 各产品的问答日志、纠错和工单结果回流到评测集和知识库，越用越准。</a:t>
            </a:r>
          </a:p>
          <a:p>
            <a:r>
              <a:t>过渡：三条产品线里，智能体最集中的是 AI 数字大脑，重点展开。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问数 · 约 1 分钟】</a:t>
            </a:r>
          </a:p>
          <a:p>
            <a:r>
              <a:t>答得准、有出处、答不了就澄清。</a:t>
            </a:r>
          </a:p>
          <a:p>
            <a:r>
              <a:t>· 七步链路：识别用户与租户、澄清指标与时间、匹配认证指标、权限与成本检查、调用指标服务、校验结果、附上口径、时间和质量。</a:t>
            </a:r>
          </a:p>
          <a:p>
            <a:r>
              <a:t>· 评测集覆盖简单指标、对比归因、模糊问题、越权提问和无数据场景。</a:t>
            </a:r>
          </a:p>
          <a:p>
            <a:r>
              <a:t>· 衡量：正确率、越权阻断率、澄清率、响应时间、单次成本。</a:t>
            </a:r>
          </a:p>
          <a:p>
            <a:r>
              <a:t>· 内部问数、景数通、票付通 APP 共用指标服务和评测集，每次变更都回归。</a:t>
            </a:r>
          </a:p>
          <a:p>
            <a:r>
              <a:t>过渡：智能体做起来，对内对外分别带来什么？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【第六部分 · 约 15 秒】</a:t>
            </a:r>
          </a:p>
          <a:p>
            <a:r>
              <a:t>第六部分：赋能企业。数据赋能业务，业务反哺数据。</a:t>
            </a:r>
          </a:p>
          <a:p>
            <a:r>
              <a:t>讲闭环模型、八条业务闭环、两个样板、运行机制和赋能成效。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【业务闭环模型 · 约 1 分钟】</a:t>
            </a:r>
          </a:p>
          <a:p>
            <a:r>
              <a:t>这是所有业务闭环的通用模型。</a:t>
            </a:r>
          </a:p>
          <a:p>
            <a:r>
              <a:t>· 业务产生数据，平台接入与治理，加工输出价值数据，也就是指标、标签、预测、洞察，再嵌入业务的决策与动作，这是赋能。</a:t>
            </a:r>
          </a:p>
          <a:p>
            <a:r>
              <a:t>· 关键是左边这条橙色的线：业务结果、反馈、异常、新需求回流平台，这是反哺。</a:t>
            </a:r>
          </a:p>
          <a:p>
            <a:r>
              <a:t>· 一句话：没有反哺的赋能，只是一次性交付；有了反哺，才会越用越准。</a:t>
            </a:r>
          </a:p>
          <a:p>
            <a:r>
              <a:t>· 闭环好不好，看四个指标：回流覆盖率、场景采纳率、迭代周期、业务效果变化。</a:t>
            </a:r>
          </a:p>
          <a:p>
            <a:r>
              <a:t>过渡：把这个模型套到我们完整的产品全景上，看数据怎么流。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【八条业务闭环 · 约 1.5 分钟】</a:t>
            </a:r>
          </a:p>
          <a:p>
            <a:r>
              <a:t>每条闭环都写清了赋能什么、反哺什么。</a:t>
            </a:r>
          </a:p>
          <a:p>
            <a:r>
              <a:t>· 优先启动四条：票务、订单交易、供应商（优先试点）、智能体（优先起步）。</a:t>
            </a:r>
          </a:p>
          <a:p>
            <a:r>
              <a:t>· 随后启动渠道分销；小程序、营销、外部数据按推广批次复制。</a:t>
            </a:r>
          </a:p>
          <a:p>
            <a:r>
              <a:t>· 策略：先跑通两条做样板，验证方法和机制，再按批次复制，不一次铺开。</a:t>
            </a:r>
          </a:p>
          <a:p>
            <a:r>
              <a:t>过渡：看两个样板。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【票务闭环样板 · 约 1 分钟】</a:t>
            </a:r>
          </a:p>
          <a:p>
            <a:r>
              <a:t>样板一，目标是让入园、核销数字可信。</a:t>
            </a:r>
          </a:p>
          <a:p>
            <a:r>
              <a:t>· 有什么：票种、库存、预约、核销、设备事件。</a:t>
            </a:r>
          </a:p>
          <a:p>
            <a:r>
              <a:t>· 怎么建：核销事件标准模型，订单与核销实时链路。</a:t>
            </a:r>
          </a:p>
          <a:p>
            <a:r>
              <a:t>· 要做什么：赋能实时看板、预警、预测；回流异常与偏差。</a:t>
            </a:r>
          </a:p>
          <a:p>
            <a:r>
              <a:t>· 要怎么做：先做样板，共建上报规范，每个节假日后复盘。</a:t>
            </a:r>
          </a:p>
          <a:p>
            <a:r>
              <a:t>· 价值：关键数字可信，节假日实时掌控。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【智能体闭环样板 · 约 1 分钟】</a:t>
            </a:r>
          </a:p>
          <a:p>
            <a:r>
              <a:t>样板二，目标是 AI 越用越准。</a:t>
            </a:r>
          </a:p>
          <a:p>
            <a:r>
              <a:t>· 可信数据工具提供指标、标签和知识，智能体作答口径一致、可追溯。</a:t>
            </a:r>
          </a:p>
          <a:p>
            <a:r>
              <a:t>· 用户的提问、纠错、差评回流，平台据此补指标、补知识、补评测。</a:t>
            </a:r>
          </a:p>
          <a:p>
            <a:r>
              <a:t>· 要怎么做：上线即接入日志和评测，每月分析失败案例。</a:t>
            </a:r>
          </a:p>
          <a:p>
            <a:r>
              <a:t>· 价值：答案越用越准，还能从对话中自动发现新需求。</a:t>
            </a:r>
          </a:p>
          <a:p>
            <a:r>
              <a:t>过渡：闭环靠什么持续运转？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【五个运行机制 · 约 1 分钟】</a:t>
            </a:r>
          </a:p>
          <a:p>
            <a:r>
              <a:t>闭环要靠机制，不靠自觉。五个环节循环往复：</a:t>
            </a:r>
          </a:p>
          <a:p>
            <a:r>
              <a:t>· 数据前置：上线前定埋点与口径。</a:t>
            </a:r>
          </a:p>
          <a:p>
            <a:r>
              <a:t>· 统一出口：指标、标签、API 输出。</a:t>
            </a:r>
          </a:p>
          <a:p>
            <a:r>
              <a:t>· 反馈回流：结果按事件标识回流。</a:t>
            </a:r>
          </a:p>
          <a:p>
            <a:r>
              <a:t>· 效果复盘：按月及节假日复盘。</a:t>
            </a:r>
          </a:p>
          <a:p>
            <a:r>
              <a:t>· 持续迭代：规则与模型版本化。</a:t>
            </a:r>
          </a:p>
          <a:p>
            <a:r>
              <a:t>右边是角色分工：业务负责人定目标、用结果、给反馈；数据团队建能力、出数据、做复盘；产品研发保埋点、保回流。</a:t>
            </a:r>
          </a:p>
          <a:p>
            <a:r>
              <a:t>用闭环健康度来衡量：回流覆盖率、场景采纳率、迭代周期、业务效果变化。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【赋能企业成效 · 约 1 分钟】</a:t>
            </a:r>
          </a:p>
          <a:p>
            <a:r>
              <a:t>对内的变化是从「找人要数」到「数据找人」。</a:t>
            </a:r>
          </a:p>
          <a:p>
            <a:r>
              <a:t>· 管理层用经营驾驶舱：核心指标一屏看全，节假日实时作战屏，移动端随时看。</a:t>
            </a:r>
          </a:p>
          <a:p>
            <a:r>
              <a:t>· 业务团队用自助分析与 AI 问数：标准模板、拖拽或提问，结果带口径和更新时间。</a:t>
            </a:r>
          </a:p>
          <a:p>
            <a:r>
              <a:t>· 全员享受主动推送：异常自动预警、节前客流播报、日报周报自动生成。</a:t>
            </a:r>
          </a:p>
          <a:p>
            <a:r>
              <a:t>· 衡量看活跃用户、自助完成率、取数周期、业务采纳率，不以上线了多少看板来衡量。</a:t>
            </a:r>
          </a:p>
          <a:p>
            <a:r>
              <a:t>过渡：对内跑通之后，第七部分讲赋能行业。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【第七部分 · 约 15 秒】</a:t>
            </a:r>
          </a:p>
          <a:p>
            <a:r>
              <a:t>第七部分：赋能行业，从数据服务到行业标准。</a:t>
            </a:r>
          </a:p>
          <a:p>
            <a:r>
              <a:t>讲一键接入、对外产品、商业化与行业路径和行业成果。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【一键接入 · 约 1 分钟】</a:t>
            </a:r>
          </a:p>
          <a:p>
            <a:r>
              <a:t>对外的第一步是把重复对接变成标准配置。</a:t>
            </a:r>
          </a:p>
          <a:p>
            <a:r>
              <a:t>· 六步：授权开通、选择连接器、AI 字段映射、初始化与同步、质量检查与试运行、上线与监控。</a:t>
            </a:r>
          </a:p>
          <a:p>
            <a:r>
              <a:t>· 配套能力：开发者门户、文档与 SDK、沙箱、签名鉴权、限流与幂等、调用计量、服务等级。</a:t>
            </a:r>
          </a:p>
          <a:p>
            <a:r>
              <a:t>· 适用已适配的标准系统，非标系统进入专项实施。</a:t>
            </a:r>
          </a:p>
          <a:p>
            <a:r>
              <a:t>· 衡量：接入周期中位数与 P90、首次验收通过率。</a:t>
            </a:r>
          </a:p>
          <a:p>
            <a:r>
              <a:t>过渡：接入之后，对外卖什么？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【对外产品 · 约 1 分钟】</a:t>
            </a:r>
          </a:p>
          <a:p>
            <a:r>
              <a:t>讲清楚谁买、买什么、怎么收。</a:t>
            </a:r>
          </a:p>
          <a:p>
            <a:r>
              <a:t>· 景区经营分析增强版：面向景区和景区集团，SaaS 增购订阅。</a:t>
            </a:r>
          </a:p>
          <a:p>
            <a:r>
              <a:t>· 预测与运营助手：面向季节性强的景区，场景订阅。</a:t>
            </a:r>
          </a:p>
          <a:p>
            <a:r>
              <a:t>· 数据开放 API：面向渠道伙伴和集成商，年费加调用量。</a:t>
            </a:r>
          </a:p>
          <a:p>
            <a:r>
              <a:t>· 区域文旅监测：面向文旅主管部门，项目加运营服务。</a:t>
            </a:r>
          </a:p>
          <a:p>
            <a:r>
              <a:t>· 行业研究与基准：面向文旅集团和研究机构，订阅或专题。</a:t>
            </a:r>
          </a:p>
          <a:p>
            <a:r>
              <a:t>· 按产品核算收入、成本、毛利、续约。</a:t>
            </a:r>
          </a:p>
          <a:p>
            <a:r>
              <a:t>前提：数据来源、授权用途、交付粒度要写清楚，不因为数据进了平台就默认可以销售。</a:t>
            </a:r>
          </a:p>
          <a:p>
            <a:r>
              <a:t>过渡：怎么一步步走出去？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【对外路径 · 约 1 分钟】</a:t>
            </a:r>
          </a:p>
          <a:p>
            <a:r>
              <a:t>两条路径：</a:t>
            </a:r>
          </a:p>
          <a:p>
            <a:r>
              <a:t>· 商业化：内部验证、试点景区、付费试点、标准服务包，每一步都先验证再扩大。</a:t>
            </a:r>
          </a:p>
          <a:p>
            <a:r>
              <a:t>· 行业输出：经营月报、节假日专题、年度研究、对标与规范，最后到团体标准共建。</a:t>
            </a:r>
          </a:p>
          <a:p>
            <a:r>
              <a:t>· 边界：单景区数据只服务该景区，对外只提供匿名聚合，授权清楚，成本可核算。</a:t>
            </a:r>
          </a:p>
          <a:p>
            <a:r>
              <a:t>过渡：行业输出具体产出什么？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【行业成果 · 约 1 分钟】</a:t>
            </a:r>
          </a:p>
          <a:p>
            <a:r>
              <a:t>六类成果：节假日洞察快报、年度行业报告、基准与景气指数、数据与接入规范、高质量数据集、AI 应用实践指南。</a:t>
            </a:r>
          </a:p>
          <a:p>
            <a:r>
              <a:t>· 方法论保证结论可信：公开样本与口径、区分同店与新增、不外推全国市场、设最小分组规模、AI 起草加专家审核。</a:t>
            </a:r>
          </a:p>
          <a:p>
            <a:r>
              <a:t>· 发布渠道：依托文旅部技术创新中心；规范先从企业版、到伙伴共建，再推动团体标准。</a:t>
            </a:r>
          </a:p>
          <a:p>
            <a:r>
              <a:t>这是从「用数据」到「定标准」的一步，也是行业影响力的来源。</a:t>
            </a:r>
          </a:p>
          <a:p>
            <a:r>
              <a:t>· 底部关键指标：年度报告与快报，按年、按节假日发布；报告引用与转载，持续提升；规范采纳伙伴数，逐年增长；团体标准立项，第三年推动。</a:t>
            </a:r>
          </a:p>
          <a:p>
            <a:r>
              <a:t>过渡：最后一部分，讲价值和需要的支持。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【第八部分 · 约 15 秒】</a:t>
            </a:r>
          </a:p>
          <a:p>
            <a:r>
              <a:t>第八部分：价值与保障。</a:t>
            </a:r>
          </a:p>
          <a:p>
            <a:r>
              <a:t>讲价值怎么逐层放大、建成后的样子、怎么衡量，以及组织、风险和需要的支持。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【价值逐层放大 · 约 1.5 分钟】</a:t>
            </a:r>
          </a:p>
          <a:p>
            <a:r>
              <a:t>价值是一层一层放大的：</a:t>
            </a:r>
          </a:p>
          <a:p>
            <a:r>
              <a:t>· 赋能企业内部，降本增效：重复模型退役、人力释放，T+1 到分钟级，差错可发现可追溯，数据资产可计量。</a:t>
            </a:r>
          </a:p>
          <a:p>
            <a:r>
              <a:t>· 赋能客户，带来增长：景区自主分析与 AI 辅助，带来续约、客单价和新服务收入。</a:t>
            </a:r>
          </a:p>
          <a:p>
            <a:r>
              <a:t>· 赋能伙伴，形成生态连接：标准接入、直接集成，可信数据加广泛连接就是壁垒。</a:t>
            </a:r>
          </a:p>
          <a:p>
            <a:r>
              <a:t>· 赋能行业，形成影响力：口径、模型、接入规范，节假日专题与年度报告，合规高质量数据集，建立文旅数据与 AI 的专业地位。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【建成之后 · 约 1 分钟】</a:t>
            </a:r>
          </a:p>
          <a:p>
            <a:r>
              <a:t>建成后每类角色都用上可信数据：</a:t>
            </a:r>
          </a:p>
          <a:p>
            <a:r>
              <a:t>· 管理层：每个经营问题都有可追溯的答案。</a:t>
            </a:r>
          </a:p>
          <a:p>
            <a:r>
              <a:t>· 业务团队：日常分析自助完成，或者直接问 AI。</a:t>
            </a:r>
          </a:p>
          <a:p>
            <a:r>
              <a:t>· 数据团队：从反复对数，转向建能力、出洞察。</a:t>
            </a:r>
          </a:p>
          <a:p>
            <a:r>
              <a:t>· 景区客户：用自己的数据和指标做经营决策。</a:t>
            </a:r>
          </a:p>
          <a:p>
            <a:r>
              <a:t>· 合作伙伴：标准场景配置化接入，能力直接集成。</a:t>
            </a:r>
          </a:p>
          <a:p>
            <a:r>
              <a:t>· 行业：我们成为文旅数据报告、对标与规范的重要发布方。</a:t>
            </a:r>
          </a:p>
          <a:p>
            <a:r>
              <a:t>回到四个「可」：数据可信、模型可复用、服务稳定、能力易扩展。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【价值衡量 · 约 1 分钟】</a:t>
            </a:r>
          </a:p>
          <a:p>
            <a:r>
              <a:t>每类价值都有可量化的指标：</a:t>
            </a:r>
          </a:p>
          <a:p>
            <a:r>
              <a:t>· 赋能企业看降本、增效、控险、闭环四类，比如退役模型数、可查询延迟、核对差异率、回流覆盖率。</a:t>
            </a:r>
          </a:p>
          <a:p>
            <a:r>
              <a:t>· 赋能客户看客户价值、商业价值、接入效率，比如活跃景区、付费与续约、接入周期。</a:t>
            </a:r>
          </a:p>
          <a:p>
            <a:r>
              <a:t>· 赋能行业看影响力、标准化、合作。</a:t>
            </a:r>
          </a:p>
          <a:p>
            <a:r>
              <a:t>原则：先建立基线再定目标，以实际使用和业务结果衡量，不以上线看板数量衡量。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【组织保障 · 约 1 分钟】</a:t>
            </a:r>
          </a:p>
          <a:p>
            <a:r>
              <a:t>组织上三层：</a:t>
            </a:r>
          </a:p>
          <a:p>
            <a:r>
              <a:t>· 数据治理委员会由管理层牵头，负责裁定口径。</a:t>
            </a:r>
          </a:p>
          <a:p>
            <a:r>
              <a:t>· 数据平台部负责建设与运营平台，下设平台与架构、数据研发、治理与指标、产品与 BI、AI 工程、开放与解决方案。</a:t>
            </a:r>
          </a:p>
          <a:p>
            <a:r>
              <a:t>· 业务线数据负责人定口径、用结果；数据大使传需求、推使用。</a:t>
            </a:r>
          </a:p>
          <a:p>
            <a:r>
              <a:t>· 机制：月度数据共建会、口径评审、资产健康分公示、代码与 SQL 评审、开发规范手册、月度数据洞察。</a:t>
            </a:r>
          </a:p>
          <a:p>
            <a:r>
              <a:t>· 底部关键指标：业务线数据负责人，全部到位；口径评审时效，两周内；月度共建会，固定召开；数据大使覆盖，各业务线。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【风险与应对 · 约 1 分钟】</a:t>
            </a:r>
          </a:p>
          <a:p>
            <a:r>
              <a:t>提前识别六类风险：</a:t>
            </a:r>
          </a:p>
          <a:p>
            <a:r>
              <a:t>· 口径对齐阻力：靠管理层背书，定义权归业务方。</a:t>
            </a:r>
          </a:p>
          <a:p>
            <a:r>
              <a:t>· 存量切换影响业务：双跑验证、观察期、保留回滚。</a:t>
            </a:r>
          </a:p>
          <a:p>
            <a:r>
              <a:t>· AI 答错、越权：只用认证指标，评测回归，权限前置。</a:t>
            </a:r>
          </a:p>
          <a:p>
            <a:r>
              <a:t>· 个人信息与授权：分类分级、最小化、法务前置审核。</a:t>
            </a:r>
          </a:p>
          <a:p>
            <a:r>
              <a:t>· 节假日峰值：压测、降级预案、节前封版。</a:t>
            </a:r>
          </a:p>
          <a:p>
            <a:r>
              <a:t>· 与现有产品重复：底座共建，应用分工。</a:t>
            </a:r>
          </a:p>
          <a:p>
            <a:r>
              <a:t>资源不足时聚焦核心域，不贪多求全，每个阶段都有看得见的成果。</a:t>
            </a:r>
          </a:p>
          <a:p>
            <a:r>
              <a:t>过渡：最后是需要领导支持的四件事。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【需要的支持 · 约 1.5 分钟 · 收尾重点】</a:t>
            </a:r>
          </a:p>
          <a:p>
            <a:r>
              <a:t>今天希望领导在四件事上给予支持：</a:t>
            </a:r>
          </a:p>
          <a:p>
            <a:r>
              <a:t>· 第一，口径决策机制：成立数据治理委员会，明确口径最终裁定人。没有裁定人，口径问题永远对不齐。</a:t>
            </a:r>
          </a:p>
          <a:p>
            <a:r>
              <a:t>· 第二，规范强制力：规范检查作为发布前置条件；存量不动、增量按新规范。</a:t>
            </a:r>
          </a:p>
          <a:p>
            <a:r>
              <a:t>· 第三，资源投入：核心人员与资源预算；技术路线基于现有工具延伸，实时与湖仓验证后再定。</a:t>
            </a:r>
          </a:p>
          <a:p>
            <a:r>
              <a:t>· 第四，业务配合：各业务线指定数据负责人，参与指标确认与闭环。</a:t>
            </a:r>
          </a:p>
          <a:p>
            <a:r>
              <a:t>这四项到位，第一阶段治理筑基就能启动。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 · 约 30 秒】</a:t>
            </a:r>
          </a:p>
          <a:p>
            <a:r>
              <a:t>最后总结一句：治理是基础，平台是载体，AI 与数据服务放大价值。</a:t>
            </a:r>
          </a:p>
          <a:p>
            <a:r>
              <a:t>用 AI＋数据平台赋能企业、赋能行业。</a:t>
            </a:r>
          </a:p>
          <a:p>
            <a:r>
              <a:t>以上是我的汇报，请各位领导、专家指正。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 · 约 30 秒】</a:t>
            </a:r>
          </a:p>
          <a:p>
            <a:r>
              <a:t>汇报分八个部分。</a:t>
            </a:r>
          </a:p>
          <a:p>
            <a:r>
              <a:t>· 第一部分讲现状与挑战，也就是有什么、缺什么。</a:t>
            </a:r>
          </a:p>
          <a:p>
            <a:r>
              <a:t>· 第二部分讲目标与蓝图，回答要建成什么样。</a:t>
            </a:r>
          </a:p>
          <a:p>
            <a:r>
              <a:t>· 第三到第七部分讲怎么建：先治理筑基，再平台统一，然后讲 AI 与智能体，最后落到赋能企业和赋能行业。</a:t>
            </a:r>
          </a:p>
          <a:p>
            <a:r>
              <a:t>· 第八部分讲价值，以及需要领导支持的事项。</a:t>
            </a:r>
          </a:p>
          <a:p>
            <a:r>
              <a:t>过渡：先看汇报要点。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【三年路线图 · 约 2 分钟 · 重点页】</a:t>
            </a:r>
          </a:p>
          <a:p>
            <a:r>
              <a:t>按五条线、逐年分点来看：</a:t>
            </a:r>
          </a:p>
          <a:p>
            <a:r>
              <a:t>· 数据治理：第一年标准与发布卡点上线、核销样板逐层核对；第二年质量规则覆盖全部主题域、资产健康分公示；第三年治理常态化，规范对外输出。</a:t>
            </a:r>
          </a:p>
          <a:p>
            <a:r>
              <a:t>· 平台底座：第一年建订单、核销实时链路，湖仓合一盘点双跑；第二年湖仓公共层成型、重复模型下线，补齐渠道、结算、业态；第三年会员、感知、外部数据入湖，形成开放平台。</a:t>
            </a:r>
          </a:p>
          <a:p>
            <a:r>
              <a:t>· 指标与服务：第一年首批标准指标认证、开放 API 关联标准指标；第二年指标中心、景区指标空间、统一标签和 OneID、一键接入；第三年嵌入式分析与服务套餐、按调用计量。</a:t>
            </a:r>
          </a:p>
          <a:p>
            <a:r>
              <a:t>· AI 与智能体：第一年 AI 提效治理，景数通和 APP 问数接入认证指标；第二年 AI 共用能力上线，调度智能体接入实时事件；第三年 AI 数字大脑智能体规模化，上线预测与业务助手。</a:t>
            </a:r>
          </a:p>
          <a:p>
            <a:r>
              <a:t>· 赋能企业与行业：第一年票务、订单交易闭环样板；第二年供应商、智能体闭环，自助分析推广，试点景区；第三年八条闭环覆盖、对外产品付费、行业报告与团体标准。</a:t>
            </a:r>
          </a:p>
          <a:p>
            <a:r>
              <a:t>最下面一行是每年的达标标志，也是向领导汇报进展的验收口径。</a:t>
            </a:r>
          </a:p>
          <a:p>
            <a:r>
              <a:t>过渡：达标标志要能量化，看三年目标指标。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【三年目标指标 · 约 1.5 分钟 · 重点页】</a:t>
            </a:r>
          </a:p>
          <a:p>
            <a:r>
              <a:t>这页把三年目标量化成五类、十一项指标：</a:t>
            </a:r>
          </a:p>
          <a:p>
            <a:r>
              <a:t>· 数据可信：企业标准指标认证数，从首批 50 个到 200 个，再到覆盖全部对外指标；核心表元数据完整率 80%、95%、98%；关键数字逐层对账差异，第一年核销 ≤ 1%，之后全主题域 ≤ 0.5%。</a:t>
            </a:r>
          </a:p>
          <a:p>
            <a:r>
              <a:t>· 模型复用：重复模型下线比例，第一年完成盘点和双跑，之后 50%、80%；公共模型复用率 40%、60%、80%。</a:t>
            </a:r>
          </a:p>
          <a:p>
            <a:r>
              <a:t>· 服务效率：关键数据时效从订单、核销分钟级，到核心主题域小时级，再到按需实时；标准系统接入周期从一个月、两周到三天。</a:t>
            </a:r>
          </a:p>
          <a:p>
            <a:r>
              <a:t>· AI 与智能体：AI 问数正确率 85%、90%、95%；接入可信数据的智能体，从景数通和 APP，到调度中枢八个智能体，再到数字大脑和游客智能体全覆盖。</a:t>
            </a:r>
          </a:p>
          <a:p>
            <a:r>
              <a:t>· 赋能价值：业务闭环 2 条、4 条、8 条；自助分析完成率 30%、50%、70%。</a:t>
            </a:r>
          </a:p>
          <a:p>
            <a:r>
              <a:t>要说明：这些是建议目标值，第一年先建立基线，测量后校准，之后作为每年的验收口径。</a:t>
            </a:r>
          </a:p>
          <a:p>
            <a:r>
              <a:t>过渡：用一张鱼骨图把三年的演进串起来。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【演进鱼骨图 · 约 1.5 分钟】</a:t>
            </a:r>
          </a:p>
          <a:p>
            <a:r>
              <a:t>这张图从左往右看：</a:t>
            </a:r>
          </a:p>
          <a:p>
            <a:r>
              <a:t>· 鱼尾是现有基础：离线主流程已贯通，DataWorks、动态数据开放 API、Quick BI，加上三条产品线。我们不是从零开始。</a:t>
            </a:r>
          </a:p>
          <a:p>
            <a:r>
              <a:t>· 鱼脊是三年：第一年治理筑基，第二年平台统一，第三年价值扩展，一节建在一节之上。</a:t>
            </a:r>
          </a:p>
          <a:p>
            <a:r>
              <a:t>· 上方骨架是数据与平台：从标准卡点、核销样板、实时链路，到湖仓公共层、指标中心与 OneID、一键接入，再到感知与外部数据、开放平台、规范对外输出。</a:t>
            </a:r>
          </a:p>
          <a:p>
            <a:r>
              <a:t>· 下方骨架是 AI 与赋能：从 AI 提效治理和问数接入认证指标，到 AI 共用能力和调度智能体接入实时，再到数字大脑智能体规模化、对外产品付费、行业报告与团体标准。</a:t>
            </a:r>
          </a:p>
          <a:p>
            <a:r>
              <a:t>· 鱼头就是目标：AI＋数据平台，赋能企业、赋能行业。</a:t>
            </a:r>
          </a:p>
          <a:p>
            <a:r>
              <a:t>过渡：目标和路径讲完，下面按这三步展开，先讲治理筑基。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数字大脑 · 约 1.5 分钟 · 智能体重点页】</a:t>
            </a:r>
          </a:p>
          <a:p>
            <a:r>
              <a:t>AI 数字大脑是我们智能体业务的主阵地，三款产品分工清楚：</a:t>
            </a:r>
          </a:p>
          <a:p>
            <a:r>
              <a:t>· 景数通负责「看得清」：多源数据汇聚、文旅数据大屏、AI 智能问数、AI 智能洞察。</a:t>
            </a:r>
          </a:p>
          <a:p>
            <a:r>
              <a:t>· 景区 AI 调度中枢负责「调得动」：旅游安全、秩序治理、车辆调度、游船调度、森林防火、生态监测、气象服务、设施监测八个智能体。</a:t>
            </a:r>
          </a:p>
          <a:p>
            <a:r>
              <a:t>· 票付通 APP 负责「随身办」：移动驾驶舱、问数、洞察、消息预警、工单调度处置。</a:t>
            </a:r>
          </a:p>
          <a:p>
            <a:r>
              <a:t>· 每款产品需要平台提供什么，写在下面：景数通要认证指标和多源接入；调度中枢要实时事件、物联与气象数据、规则与知识；APP 要指标服务、预警规则和工单回流。</a:t>
            </a:r>
          </a:p>
          <a:p>
            <a:r>
              <a:t>一句话：平台负责数据、知识、工具，智能体负责看数、预警、办事，两者是一体的。</a:t>
            </a:r>
          </a:p>
          <a:p>
            <a:r>
              <a:t>过渡：智能体怎么从看数走到办事？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【智能体闭环 · 约 1.5 分钟】</a:t>
            </a:r>
          </a:p>
          <a:p>
            <a:r>
              <a:t>智能体的价值不止回答问题，而是把事办完，并且越办越好。五步闭环：</a:t>
            </a:r>
          </a:p>
          <a:p>
            <a:r>
              <a:t>· 感知汇聚：票务、客流、设备、气象等多源数据汇进来。</a:t>
            </a:r>
          </a:p>
          <a:p>
            <a:r>
              <a:t>· AI 洞察：通过问数和洞察主动发现异常，不等人来问。</a:t>
            </a:r>
          </a:p>
          <a:p>
            <a:r>
              <a:t>· 预警推送：通过 APP 消息把预警推给对的人。</a:t>
            </a:r>
          </a:p>
          <a:p>
            <a:r>
              <a:t>· 调度处置：调度中枢的智能体给出调度建议，配合 APP 工单人机协同处置。</a:t>
            </a:r>
          </a:p>
          <a:p>
            <a:r>
              <a:t>· 复盘回流：处置结果回流平台，补规则、补知识，下次更准。</a:t>
            </a:r>
          </a:p>
          <a:p>
            <a:r>
              <a:t>举个例子：节假日客流逼近容量，秩序治理智能体预警，联动车辆、游船调度和 APP 工单，处置完成后复盘。</a:t>
            </a:r>
          </a:p>
          <a:p>
            <a:r>
              <a:t>过渡：智能体的问数要答得准，靠下面这条链路。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【智能体的赋能与影响 · 约 1.5 分钟 · 智能体收尾页】</a:t>
            </a:r>
          </a:p>
          <a:p>
            <a:r>
              <a:t>分对内、对外两方面讲。</a:t>
            </a:r>
          </a:p>
          <a:p>
            <a:r>
              <a:t>对内，对票付通自身：</a:t>
            </a:r>
          </a:p>
          <a:p>
            <a:r>
              <a:t>· 产品力：智能体成为 SaaS 增值能力，带动续约与客单价；</a:t>
            </a:r>
          </a:p>
          <a:p>
            <a:r>
              <a:t>· 研发提效：共用数据、知识与工具，新智能体配置化上线，不用每个从零做；</a:t>
            </a:r>
          </a:p>
          <a:p>
            <a:r>
              <a:t>· 运营提效：客户成功和运营团队用景数通、APP 主动发现问题；</a:t>
            </a:r>
          </a:p>
          <a:p>
            <a:r>
              <a:t>· 数据反哺：交互、预警、工单结果回流，反过来补指标、知识与特征。</a:t>
            </a:r>
          </a:p>
          <a:p>
            <a:r>
              <a:t>对外：</a:t>
            </a:r>
          </a:p>
          <a:p>
            <a:r>
              <a:t>· 景区安全与秩序可控，车辆、游船调度更高效，减少人工巡检；</a:t>
            </a:r>
          </a:p>
          <a:p>
            <a:r>
              <a:t>· 游客排队更短、信息更及时；</a:t>
            </a:r>
          </a:p>
          <a:p>
            <a:r>
              <a:t>· 管理方有文旅数据大屏和区域研判，应急响应更快；</a:t>
            </a:r>
          </a:p>
          <a:p>
            <a:r>
              <a:t>· 森林防火、生态、气象、设施风险早发现。</a:t>
            </a:r>
          </a:p>
          <a:p>
            <a:r>
              <a:t>行业影响：沉淀景区智能体场景库和实践指南，参与制定景区智能体应用规范。</a:t>
            </a:r>
          </a:p>
          <a:p>
            <a:r>
              <a:t>底线是：智能体只用认证指标和授权数据，处置动作人机协同、全程可追溯。</a:t>
            </a:r>
          </a:p>
          <a:p>
            <a:r>
              <a:t>过渡：AI 与智能体讲完，第六部分讲如何赋能企业内部业务。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【数据流图谱 · 约 2 分钟 · 重点页】</a:t>
            </a:r>
          </a:p>
          <a:p>
            <a:r>
              <a:t>这张图把产品全流程和平台之间的数据关系画全了。看三种颜色：蓝线是产出，紫线是赋能，橙线是反哺。</a:t>
            </a:r>
          </a:p>
          <a:p>
            <a:r>
              <a:t>· 左边智慧票务是数据的主要产生方：票务管理产出交易、核销、渠道数据；景区业态产出二次消费；景区运营产出预约、权益、身份数据；景区财务产出结算对账；智慧终端产出设备与通行事件。同时它们也被赋能：销量预测、渠道 ROI、业态经营分析、容量预警、AI 对账、设备异常告警。</a:t>
            </a:r>
          </a:p>
          <a:p>
            <a:r>
              <a:t>· 中间是平台的处理链路：统一接入、治理与安全、湖仓底座与公共模型、指标标签与知识，最后通过数据服务和 AI 能力输出。</a:t>
            </a:r>
          </a:p>
          <a:p>
            <a:r>
              <a:t>· 右边是 AI 数字大脑和畅游 AI：景数通、调度中枢、票付通 APP 拿到认证指标、实时事件、预警服务；小程序、游客 AI 服务、会员营销拿到推荐、知识、人群标签。它们的问数日志、处置结果、工单、对话纠错、活动响应再反哺回平台。</a:t>
            </a:r>
          </a:p>
          <a:p>
            <a:r>
              <a:t>一句话：每个产品既是数据的生产者，也是使用者；平台在中间把数据变成可信、可复用的价值，并在反哺中越用越准。</a:t>
            </a:r>
          </a:p>
          <a:p>
            <a:r>
              <a:t>过渡：这么多闭环，按什么顺序落地？看八条业务闭环。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image2.wdp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://www.1ppt.com/tubiao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jpeg"/><Relationship Id="rId4" Type="http://schemas.microsoft.com/office/2007/relationships/hdphoto" Target="../media/image2.wdp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://www.1ppt.com/tubiao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tags" Target="../tags/tag28.xml"/><Relationship Id="rId8" Type="http://schemas.openxmlformats.org/officeDocument/2006/relationships/tags" Target="../tags/tag29.xml"/><Relationship Id="rId9" Type="http://schemas.openxmlformats.org/officeDocument/2006/relationships/tags" Target="../tags/tag30.xml"/><Relationship Id="rId10" Type="http://schemas.openxmlformats.org/officeDocument/2006/relationships/tags" Target="../tags/tag3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tags" Target="../tags/tag34.xml"/><Relationship Id="rId5" Type="http://schemas.openxmlformats.org/officeDocument/2006/relationships/tags" Target="../tags/tag35.xml"/><Relationship Id="rId6" Type="http://schemas.openxmlformats.org/officeDocument/2006/relationships/tags" Target="../tags/tag36.xml"/><Relationship Id="rId7" Type="http://schemas.openxmlformats.org/officeDocument/2006/relationships/tags" Target="../tags/tag3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tags" Target="../tags/tag4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3.xml"/><Relationship Id="rId3" Type="http://schemas.openxmlformats.org/officeDocument/2006/relationships/tags" Target="../tags/tag54.xml"/><Relationship Id="rId4" Type="http://schemas.openxmlformats.org/officeDocument/2006/relationships/tags" Target="../tags/tag55.xml"/><Relationship Id="rId5" Type="http://schemas.openxmlformats.org/officeDocument/2006/relationships/tags" Target="../tags/tag5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tags" Target="../tags/tag67.xml"/><Relationship Id="rId8" Type="http://schemas.openxmlformats.org/officeDocument/2006/relationships/tags" Target="../tags/tag68.xml"/><Relationship Id="rId9" Type="http://schemas.openxmlformats.org/officeDocument/2006/relationships/tags" Target="../tags/tag69.xml"/><Relationship Id="rId10" Type="http://schemas.openxmlformats.org/officeDocument/2006/relationships/tags" Target="../tags/tag70.xml"/><Relationship Id="rId11" Type="http://schemas.openxmlformats.org/officeDocument/2006/relationships/tags" Target="../tags/tag7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/>
          <p:nvPr userDrawn="1"/>
        </p:nvSpPr>
        <p:spPr bwMode="auto">
          <a:xfrm>
            <a:off x="-10867" y="1009940"/>
            <a:ext cx="11568081" cy="676892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 bwMode="auto">
          <a:xfrm>
            <a:off x="-8002" y="-18002"/>
            <a:ext cx="11565216" cy="1098098"/>
          </a:xfrm>
          <a:prstGeom prst="rect">
            <a:avLst/>
          </a:prstGeom>
          <a:blipFill dpi="0" rotWithShape="1">
            <a:blip r:embed="rId4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8556379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0399074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-21737" y="1054219"/>
            <a:ext cx="11568081" cy="6768925"/>
          </a:xfrm>
          <a:prstGeom prst="rect">
            <a:avLst/>
          </a:prstGeom>
          <a:gradFill flip="none" rotWithShape="1">
            <a:gsLst>
              <a:gs pos="0">
                <a:srgbClr val="16355B"/>
              </a:gs>
              <a:gs pos="50000">
                <a:srgbClr val="0A2037"/>
              </a:gs>
              <a:gs pos="100000">
                <a:srgbClr val="000D18"/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7" name="矩形 6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8" name="图片 11" descr="png素材 (276)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1" name="Picture 6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@path_Ellipse 9 (Stroke)-2050&amp;12778"/>
          <p:cNvSpPr/>
          <p:nvPr userDrawn="1">
            <p:custDataLst>
              <p:tags r:id="rId2"/>
            </p:custDataLst>
          </p:nvPr>
        </p:nvSpPr>
        <p:spPr>
          <a:xfrm>
            <a:off x="8641556" y="1079639"/>
            <a:ext cx="2877638" cy="3793643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9" name="Ellipse 3 (Stroke)_#color-2050&amp;12715"/>
          <p:cNvSpPr/>
          <p:nvPr userDrawn="1">
            <p:custDataLst>
              <p:tags r:id="rId3"/>
            </p:custDataLst>
          </p:nvPr>
        </p:nvSpPr>
        <p:spPr>
          <a:xfrm>
            <a:off x="5844573" y="2911649"/>
            <a:ext cx="5677502" cy="4649157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 userDrawn="1">
            <p:custDataLst>
              <p:tags r:id="rId4"/>
            </p:custDataLst>
          </p:nvPr>
        </p:nvSpPr>
        <p:spPr>
          <a:xfrm>
            <a:off x="5020744" y="5409059"/>
            <a:ext cx="596267" cy="1875218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 userDrawn="1">
            <p:custDataLst>
              <p:tags r:id="rId5"/>
            </p:custDataLst>
          </p:nvPr>
        </p:nvSpPr>
        <p:spPr>
          <a:xfrm>
            <a:off x="6368827" y="2920290"/>
            <a:ext cx="5150368" cy="2073974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 userDrawn="1">
            <p:custDataLst>
              <p:tags r:id="rId6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825149" y="2791147"/>
            <a:ext cx="5448981" cy="1962353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105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92143" y="5076359"/>
            <a:ext cx="2509052" cy="57310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rgbClr val="FFFFFF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3102319" y="1079639"/>
            <a:ext cx="2177672" cy="6481167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4415835" cy="6481167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4821433"/>
            <a:ext cx="4329420" cy="2739373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78976" y="3699740"/>
            <a:ext cx="2511963" cy="1241054"/>
          </a:xfrm>
        </p:spPr>
        <p:txBody>
          <a:bodyPr wrap="square" anchor="ctr" anchorCtr="0">
            <a:normAutofit/>
          </a:bodyPr>
          <a:lstStyle>
            <a:lvl1pPr>
              <a:defRPr sz="4535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44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3914625" cy="4294853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2401797"/>
            <a:ext cx="5763918" cy="5159009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2401797"/>
            <a:ext cx="5236783" cy="2073974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263328" y="4044173"/>
            <a:ext cx="4467204" cy="1874138"/>
          </a:xfrm>
        </p:spPr>
        <p:txBody>
          <a:bodyPr wrap="square" anchor="t">
            <a:normAutofit/>
          </a:bodyPr>
          <a:lstStyle>
            <a:lvl1pPr algn="l">
              <a:defRPr sz="4255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459683" y="4169628"/>
            <a:ext cx="4845033" cy="2607913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11245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57718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833050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57718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57718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833050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833050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57718" y="1419900"/>
            <a:ext cx="10208438" cy="549819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57718" y="2309860"/>
            <a:ext cx="10205701" cy="383269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270" b="0">
                <a:latin typeface="+mn-lt"/>
                <a:ea typeface="+mn-lt"/>
                <a:cs typeface="+mn-lt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 userDrawn="1">
            <p:custDataLst>
              <p:tags r:id="rId2"/>
            </p:custDataLst>
          </p:nvPr>
        </p:nvSpPr>
        <p:spPr>
          <a:xfrm>
            <a:off x="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5" name="Ellipse 3_#color_$lt1_$lt1-2050&amp;12754"/>
          <p:cNvSpPr/>
          <p:nvPr userDrawn="1">
            <p:custDataLst>
              <p:tags r:id="rId3"/>
            </p:custDataLst>
          </p:nvPr>
        </p:nvSpPr>
        <p:spPr>
          <a:xfrm>
            <a:off x="8402473" y="1079639"/>
            <a:ext cx="3119602" cy="3664020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 userDrawn="1">
            <p:custDataLst>
              <p:tags r:id="rId4"/>
            </p:custDataLst>
          </p:nvPr>
        </p:nvSpPr>
        <p:spPr>
          <a:xfrm>
            <a:off x="8753896" y="2393155"/>
            <a:ext cx="2765298" cy="2341862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 userDrawn="1">
            <p:custDataLst>
              <p:tags r:id="rId5"/>
            </p:custDataLst>
          </p:nvPr>
        </p:nvSpPr>
        <p:spPr>
          <a:xfrm>
            <a:off x="10127904" y="4691809"/>
            <a:ext cx="1391291" cy="795023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 userDrawn="1">
            <p:custDataLst>
              <p:tags r:id="rId6"/>
            </p:custDataLst>
          </p:nvPr>
        </p:nvSpPr>
        <p:spPr>
          <a:xfrm>
            <a:off x="0" y="4320223"/>
            <a:ext cx="3076394" cy="3240584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792143" y="1511717"/>
            <a:ext cx="9937223" cy="2834022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56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1"/>
            </p:custDataLst>
          </p:nvPr>
        </p:nvSpPr>
        <p:spPr>
          <a:xfrm>
            <a:off x="792143" y="4773233"/>
            <a:ext cx="9937223" cy="1172394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tags" Target="../tags/tag72.xml"/><Relationship Id="rId13" Type="http://schemas.openxmlformats.org/officeDocument/2006/relationships/tags" Target="../tags/tag73.xml"/><Relationship Id="rId14" Type="http://schemas.openxmlformats.org/officeDocument/2006/relationships/tags" Target="../tags/tag74.xml"/><Relationship Id="rId15" Type="http://schemas.openxmlformats.org/officeDocument/2006/relationships/tags" Target="../tags/tag75.xml"/><Relationship Id="rId16" Type="http://schemas.openxmlformats.org/officeDocument/2006/relationships/tags" Target="../tags/tag76.xml"/><Relationship Id="rId17" Type="http://schemas.openxmlformats.org/officeDocument/2006/relationships/tags" Target="../tags/tag77.xml"/><Relationship Id="rId18" Type="http://schemas.openxmlformats.org/officeDocument/2006/relationships/tags" Target="../tags/tag78.xml"/><Relationship Id="rId19" Type="http://schemas.openxmlformats.org/officeDocument/2006/relationships/tags" Target="../tags/tag79.xml"/><Relationship Id="rId20" Type="http://schemas.openxmlformats.org/officeDocument/2006/relationships/tags" Target="../tags/tag8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576104" y="346031"/>
            <a:ext cx="10369868" cy="14401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104" y="2016179"/>
            <a:ext cx="10369868" cy="57025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104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E97B707-22D4-4B06-9A8A-89EF284804D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6709" y="8008708"/>
            <a:ext cx="3648657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7487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3F49717-76DA-4DAA-9161-16E5D566D94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5pPr>
      <a:lvl6pPr marL="57594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6pPr>
      <a:lvl7pPr marL="115189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7pPr>
      <a:lvl8pPr marL="172847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8pPr>
      <a:lvl9pPr marL="230441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9pPr>
    </p:titleStyle>
    <p:bodyStyle>
      <a:lvl1pPr marL="431800" indent="-431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35990" indent="-36004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6125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865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4459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9648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5189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847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441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5630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3225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0883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12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8" name="Ellipse 3 (Stroke)_#color-2050&amp;12745"/>
          <p:cNvSpPr/>
          <p:nvPr userDrawn="1">
            <p:custDataLst>
              <p:tags r:id="rId13"/>
            </p:custDataLst>
          </p:nvPr>
        </p:nvSpPr>
        <p:spPr>
          <a:xfrm>
            <a:off x="10651918" y="6535221"/>
            <a:ext cx="867756" cy="102498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14"/>
            </p:custDataLst>
          </p:nvPr>
        </p:nvSpPr>
        <p:spPr>
          <a:xfrm>
            <a:off x="10801345" y="6535221"/>
            <a:ext cx="718329" cy="573703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57718" y="1419858"/>
            <a:ext cx="10206563" cy="680438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57718" y="2309860"/>
            <a:ext cx="10206563" cy="460582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57718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816687" y="7086721"/>
            <a:ext cx="3888700" cy="345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272970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1079639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 fontAlgn="auto"/>
            <a:endParaRPr lang="zh-CN" altLang="en-US" sz="1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864235" rtl="0" eaLnBrk="1" latinLnBrk="0" hangingPunct="1">
        <a:lnSpc>
          <a:spcPct val="100000"/>
        </a:lnSpc>
        <a:spcBef>
          <a:spcPct val="0"/>
        </a:spcBef>
        <a:buNone/>
        <a:defRPr sz="3025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130000"/>
        </a:lnSpc>
        <a:spcBef>
          <a:spcPts val="945"/>
        </a:spcBef>
        <a:buFont typeface="Arial" panose="020B060402020202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1pPr>
      <a:lvl2pPr marL="508635" indent="-19494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55015" indent="-15303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74090" indent="-140970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1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67130" indent="-12001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2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86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84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84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7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45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94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8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6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6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18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13.png"/><Relationship Id="rId9" Type="http://schemas.openxmlformats.org/officeDocument/2006/relationships/image" Target="../media/image15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Relationship Id="rId8" Type="http://schemas.openxmlformats.org/officeDocument/2006/relationships/image" Target="../media/image4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Relationship Id="rId7" Type="http://schemas.openxmlformats.org/officeDocument/2006/relationships/image" Target="../media/image2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image" Target="../media/image6.png"/><Relationship Id="rId9" Type="http://schemas.openxmlformats.org/officeDocument/2006/relationships/image" Target="../media/image3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3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47.png"/><Relationship Id="rId7" Type="http://schemas.openxmlformats.org/officeDocument/2006/relationships/image" Target="../media/image7.png"/><Relationship Id="rId8" Type="http://schemas.openxmlformats.org/officeDocument/2006/relationships/image" Target="../media/image3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514600"/>
            <a:ext cx="5852160" cy="1920240"/>
          </a:xfrm>
        </p:spPr>
        <p:txBody>
          <a:bodyPr wrap="square" lIns="0" tIns="0" rIns="0" bIns="0" anchor="ctr"/>
          <a:lstStyle/>
          <a:p>
            <a:pPr algn="l"/>
            <a:r>
              <a:rPr sz="4600" b="1">
                <a:solidFill>
                  <a:srgbClr val="2B2F42"/>
                </a:solidFill>
              </a:rPr>
              <a:t>AI＋数据平台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655BE6"/>
                </a:solidFill>
              </a:rPr>
              <a:t>赋能企业 · 赋能行业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795528" y="5074920"/>
            <a:ext cx="5120640" cy="576072"/>
          </a:xfrm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以治理为基 · 平台为载体 · AI 与数据服务放大价值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票付通 · 建设规划汇报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6035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有什么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55064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6035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缺什么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34056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80944" y="6035040"/>
            <a:ext cx="9387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要建什么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65447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12336" y="6035040"/>
            <a:ext cx="9387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96839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3728" y="6035040"/>
            <a:ext cx="10911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776CFD"/>
                </a:solidFill>
              </a:rPr>
              <a:t>目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5074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C7C2FD"/>
                </a:solidFill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572768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12080" y="1572768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572768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现状与挑战</a:t>
            </a:r>
          </a:p>
        </p:txBody>
      </p:sp>
      <p:sp>
        <p:nvSpPr>
          <p:cNvPr id="7" name="Oval 6"/>
          <p:cNvSpPr/>
          <p:nvPr/>
        </p:nvSpPr>
        <p:spPr>
          <a:xfrm>
            <a:off x="5529474" y="2276856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29474" y="2276856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0994" y="2276856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目标与蓝图</a:t>
            </a:r>
          </a:p>
        </p:txBody>
      </p:sp>
      <p:sp>
        <p:nvSpPr>
          <p:cNvPr id="10" name="Oval 9"/>
          <p:cNvSpPr/>
          <p:nvPr/>
        </p:nvSpPr>
        <p:spPr>
          <a:xfrm>
            <a:off x="5784005" y="2980944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84005" y="2980944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525" y="2980944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治理筑基</a:t>
            </a:r>
          </a:p>
        </p:txBody>
      </p:sp>
      <p:sp>
        <p:nvSpPr>
          <p:cNvPr id="13" name="Oval 12"/>
          <p:cNvSpPr/>
          <p:nvPr/>
        </p:nvSpPr>
        <p:spPr>
          <a:xfrm>
            <a:off x="5925259" y="3685032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5259" y="3685032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779" y="3685032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平台统一</a:t>
            </a:r>
          </a:p>
        </p:txBody>
      </p:sp>
      <p:sp>
        <p:nvSpPr>
          <p:cNvPr id="16" name="Oval 15"/>
          <p:cNvSpPr/>
          <p:nvPr/>
        </p:nvSpPr>
        <p:spPr>
          <a:xfrm>
            <a:off x="5925259" y="4389120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25259" y="4389120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779" y="4389120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AI 与智能体</a:t>
            </a:r>
          </a:p>
        </p:txBody>
      </p:sp>
      <p:sp>
        <p:nvSpPr>
          <p:cNvPr id="19" name="Oval 18"/>
          <p:cNvSpPr/>
          <p:nvPr/>
        </p:nvSpPr>
        <p:spPr>
          <a:xfrm>
            <a:off x="5784005" y="5093208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84005" y="5093208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525" y="5093208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赋能企业</a:t>
            </a:r>
          </a:p>
        </p:txBody>
      </p:sp>
      <p:sp>
        <p:nvSpPr>
          <p:cNvPr id="22" name="Oval 21"/>
          <p:cNvSpPr/>
          <p:nvPr/>
        </p:nvSpPr>
        <p:spPr>
          <a:xfrm>
            <a:off x="5529474" y="5797296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29474" y="5797296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0994" y="5797296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赋能行业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6501384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0" y="6501384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6501384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价值与保障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汇报要点：建设 AI＋数据平台，赋能企业、赋能行业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汇报要点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40280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一个判断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5728" y="2240280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0048" y="2240280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家底厚、骨架在，但数据还不够可信；</a:t>
            </a:r>
            <a:r>
              <a:rPr sz="1500" b="1">
                <a:solidFill>
                  <a:srgbClr val="B4551A"/>
                </a:solidFill>
              </a:rPr>
              <a:t>AI 正在放大这个问题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96552" y="2441448"/>
            <a:ext cx="118363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有什么 · 缺什么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一个目标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3026664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3026664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数据可信 · 模型可复用 · 服务稳定 · 能力易扩展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97872" y="3227832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要建什么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13048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三年三步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3813048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70048" y="3950208"/>
            <a:ext cx="1846580" cy="402336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55BE6"/>
                </a:solidFill>
              </a:rPr>
              <a:t>第一年 治理筑基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608067" y="4059936"/>
            <a:ext cx="228600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28108" y="3950208"/>
            <a:ext cx="1846580" cy="402336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55BE6"/>
                </a:solidFill>
              </a:rPr>
              <a:t>第二年 平台统一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66128" y="4059936"/>
            <a:ext cx="228600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86168" y="3950208"/>
            <a:ext cx="1846580" cy="40233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第三年 价值扩展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97872" y="4014215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要怎么建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599432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两个赋能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95728" y="4599432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4599432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655BE6"/>
                </a:solidFill>
              </a:rPr>
              <a:t>赋能企业：</a:t>
            </a:r>
            <a:r>
              <a:rPr sz="1500" b="0">
                <a:solidFill>
                  <a:srgbClr val="2B2F42"/>
                </a:solidFill>
              </a:rPr>
              <a:t>八条业务数据闭环　</a:t>
            </a:r>
            <a:r>
              <a:rPr sz="1500" b="1">
                <a:solidFill>
                  <a:srgbClr val="655BE6"/>
                </a:solidFill>
              </a:rPr>
              <a:t>赋能行业：</a:t>
            </a:r>
            <a:r>
              <a:rPr sz="1500" b="0">
                <a:solidFill>
                  <a:srgbClr val="2B2F42"/>
                </a:solidFill>
              </a:rPr>
              <a:t>数据服务、产品与行业规范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97872" y="4800600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要怎么建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85816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三层价值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95728" y="5385816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0048" y="5385816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企业降本增效 → 客户与伙伴增长 → 行业标准与洞察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70872" y="5586984"/>
            <a:ext cx="909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6172200"/>
            <a:ext cx="1600200" cy="676656"/>
          </a:xfrm>
          <a:prstGeom prst="roundRect">
            <a:avLst>
              <a:gd name="adj" fmla="val 13513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四项支持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6172200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6172200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口径决策机制 · 规范强制力 · 资源投入 · 业务配合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97872" y="63733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需要决策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现状与挑战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家底厚、骨架在，但数据还不够可信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数据家底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产品全景与数据来源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离线主流程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已有能力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五类问题与根因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关键数字为什么不准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为什么是现在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能力盘点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数据家底：一条交易主链，八类支撑数据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主链六域 · 核心资产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主体与组织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租户 · 景区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33599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17064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资源与商品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票种 · 库存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92296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75760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渠道与供销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OTA · 佣金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50992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34455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订单交易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支付 · 退改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09688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93152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预约与核销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票券 · 闸机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168384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51848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结算与财务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清分 · 对账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776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八类支撑数据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营销与增长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活动 · 券 · 投放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50692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游客与会员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OneID · 会员 · 标签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43016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多业态消费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酒店 · 餐饮 · 停车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5340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现场设备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闸机 · 网关 · 终端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SaaS 客户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订阅 · 使用 · 工单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50692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平台运行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日志 · 性能 · 成本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43016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外部与公共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天气 · LBS · 舆情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5340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知识与 AI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文档 · 问答 · 评测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62179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36422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52728" y="62179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难点　</a:t>
            </a:r>
            <a:r>
              <a:rPr sz="1300" b="0">
                <a:solidFill>
                  <a:srgbClr val="FFFFFF"/>
                </a:solidFill>
              </a:rPr>
              <a:t>数据量不是难点，难点在节假日高峰、订单状态变更、离线补传、多租户隔离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产品全景，就是数据来源全景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4343400" cy="3931920"/>
          </a:xfrm>
          <a:prstGeom prst="roundRect">
            <a:avLst>
              <a:gd name="adj" fmla="val 348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441448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数据的主要产生方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898648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票务管理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289864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售票 · 检票 · 全渠道分销 · 旅行社报团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3566160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景区业态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7" y="35661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乐园 · 演出 · 游船 · 酒店 · 温泉 · 餐饮零售 · 租赁 · 停车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4233672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7" y="423367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年卡 · 分时预约 · 候补 · 一卡通 · 人脸 · 免证 · 分销返利 · 运营助手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7" y="4901183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景区财务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7" y="4901183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财务报表 · AI 对账 · 电子发票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7" y="5568696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智慧终端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5568696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闸机 · 人脸一体机 · 售取票机 · 手持终端 · 边云网关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074920" y="4160519"/>
            <a:ext cx="310896" cy="27432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2331720"/>
            <a:ext cx="1481328" cy="3931920"/>
          </a:xfrm>
          <a:prstGeom prst="roundRect">
            <a:avLst>
              <a:gd name="adj" fmla="val 6172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AI＋数据</a:t>
            </a: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</a:rPr>
              <a:t>平台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汇聚 · 治理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指标 · 标签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数据服务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AI 能力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9208" y="2331720"/>
            <a:ext cx="3483864" cy="187451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242316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77272" y="2468879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655BE6"/>
                </a:solidFill>
              </a:rPr>
              <a:t>toB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2088" y="2834639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景数通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2834639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汇聚 · 大屏 · 问数 · 洞察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62088" y="3273551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调度中枢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3273551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安全 · 防火 · 生态等八个智能体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62088" y="3712463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票付通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3712463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驾驶舱 · 问数 · 预警 · 工单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995160" y="3040379"/>
            <a:ext cx="31089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eft Arrow 32"/>
          <p:cNvSpPr/>
          <p:nvPr/>
        </p:nvSpPr>
        <p:spPr>
          <a:xfrm>
            <a:off x="6995160" y="3314699"/>
            <a:ext cx="310896" cy="201168"/>
          </a:xfrm>
          <a:prstGeom prst="lef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79208" y="4389120"/>
            <a:ext cx="3483864" cy="187451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62088" y="448055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77272" y="452628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655BE6"/>
                </a:solidFill>
              </a:rPr>
              <a:t>toC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62088" y="489204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畅游小程序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8" y="4892040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游前 · 游中 · 游后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62088" y="5330952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游客 AI 服务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5330952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规划 · 客服 · 购票 · 伴游 · 旅拍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62088" y="576986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会员营销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9864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积分 · 年卡 · 全民营销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995160" y="5097779"/>
            <a:ext cx="31089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eft Arrow 43"/>
          <p:cNvSpPr/>
          <p:nvPr/>
        </p:nvSpPr>
        <p:spPr>
          <a:xfrm>
            <a:off x="6995160" y="5372099"/>
            <a:ext cx="310896" cy="201168"/>
          </a:xfrm>
          <a:prstGeom prst="lef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8368" y="644652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560820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252728" y="644652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一句话　</a:t>
            </a:r>
            <a:r>
              <a:rPr sz="1250" b="0">
                <a:solidFill>
                  <a:srgbClr val="FFFFFF"/>
                </a:solidFill>
              </a:rPr>
              <a:t>智慧票务产生数据，AI 数字大脑与畅游 AI 使用数据，使用行为再回流平台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离线主流程已贯通，平台骨架已经搭好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4378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业务主线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432304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889504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游客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346704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会员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20440" y="2962656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77639" y="2615184"/>
            <a:ext cx="1737360" cy="82296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订单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60" y="2962656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615184"/>
            <a:ext cx="1737360" cy="82296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32504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数据分层</a:t>
            </a:r>
          </a:p>
          <a:p>
            <a:pPr algn="l"/>
            <a:r>
              <a:rPr sz="1400" b="1">
                <a:solidFill>
                  <a:srgbClr val="776CFD"/>
                </a:solidFill>
              </a:rPr>
              <a:t>全链路贯通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ODS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贴源层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547872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58768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DWD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明细层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94960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05856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DIM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维度层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42048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52944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DWS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汇总层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89136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00032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ADS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应用层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35838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下一步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补维度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核销、渠道、结算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补质量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规则与逐层核对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816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补实时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订单、核销先行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87384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补标签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统一标签体系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631850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432804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2728" y="631850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结论　</a:t>
            </a:r>
            <a:r>
              <a:rPr sz="1300" b="0">
                <a:solidFill>
                  <a:srgbClr val="2B2F42"/>
                </a:solidFill>
              </a:rPr>
              <a:t>主流程骨架已搭好，下一步补维度、补质量、补实时、补标签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开发、服务、消费都有工具，缺的是中间的治理与指标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已有投入全部保留；在此基础上补齐治理与指标中枢，并叠加贯穿各层的 AI 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08</a:t>
            </a:r>
          </a:p>
        </p:txBody>
      </p:sp>
      <p:grpSp>
        <p:nvGrpSpPr>
          <p:cNvPr id="21600" name="素材 2"/>
          <p:cNvGrpSpPr/>
          <p:nvPr/>
        </p:nvGrpSpPr>
        <p:grpSpPr>
          <a:xfrm>
            <a:off x="658368" y="2692908"/>
            <a:ext cx="10204704" cy="1704444"/>
            <a:chOff x="288429" y="3108460"/>
            <a:chExt cx="10169579" cy="1698578"/>
          </a:xfrm>
        </p:grpSpPr>
        <p:sp>
          <p:nvSpPr>
            <p:cNvPr id="21601" name="Rounded Rectangle 3"/>
            <p:cNvSpPr/>
            <p:nvPr/>
          </p:nvSpPr>
          <p:spPr>
            <a:xfrm>
              <a:off x="288429" y="4499111"/>
              <a:ext cx="10169579" cy="241202"/>
            </a:xfrm>
            <a:prstGeom prst="roundRect">
              <a:avLst>
                <a:gd name="adj" fmla="val 50000"/>
              </a:avLst>
            </a:prstGeom>
            <a:solidFill>
              <a:srgbClr val="776CFD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02" name="Group 6"/>
            <p:cNvGrpSpPr/>
            <p:nvPr/>
          </p:nvGrpSpPr>
          <p:grpSpPr>
            <a:xfrm>
              <a:off x="954484" y="4405721"/>
              <a:ext cx="401318" cy="401317"/>
              <a:chOff x="2996418" y="1828800"/>
              <a:chExt cx="717453" cy="717453"/>
            </a:xfrm>
          </p:grpSpPr>
          <p:sp>
            <p:nvSpPr>
              <p:cNvPr id="21603" name="Oval 4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4" name="Oval 5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05" name="Group 9"/>
            <p:cNvGrpSpPr/>
            <p:nvPr/>
          </p:nvGrpSpPr>
          <p:grpSpPr>
            <a:xfrm>
              <a:off x="288429" y="3108460"/>
              <a:ext cx="1733426" cy="1235036"/>
              <a:chOff x="596313" y="1252025"/>
              <a:chExt cx="2743200" cy="1954482"/>
            </a:xfrm>
          </p:grpSpPr>
          <p:sp>
            <p:nvSpPr>
              <p:cNvPr id="21606" name="Rounded Rectangle 7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7" name="Isosceles Triangle 8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608" name="Right Arrow 10"/>
            <p:cNvSpPr/>
            <p:nvPr/>
          </p:nvSpPr>
          <p:spPr>
            <a:xfrm>
              <a:off x="2167613" y="3356705"/>
              <a:ext cx="788754" cy="568637"/>
            </a:xfrm>
            <a:prstGeom prst="rightArrow">
              <a:avLst/>
            </a:prstGeom>
            <a:solidFill>
              <a:srgbClr val="FFFFFF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09" name="Group 13"/>
            <p:cNvGrpSpPr/>
            <p:nvPr/>
          </p:nvGrpSpPr>
          <p:grpSpPr>
            <a:xfrm>
              <a:off x="3766535" y="4405721"/>
              <a:ext cx="401318" cy="401317"/>
              <a:chOff x="2996418" y="1828800"/>
              <a:chExt cx="717453" cy="717453"/>
            </a:xfrm>
          </p:grpSpPr>
          <p:sp>
            <p:nvSpPr>
              <p:cNvPr id="21610" name="Oval 18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solidFill>
                <a:srgbClr val="F08A3C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1" name="Oval 19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12" name="Group 14"/>
            <p:cNvGrpSpPr/>
            <p:nvPr/>
          </p:nvGrpSpPr>
          <p:grpSpPr>
            <a:xfrm>
              <a:off x="3100480" y="3108460"/>
              <a:ext cx="1733426" cy="1235036"/>
              <a:chOff x="596313" y="1252025"/>
              <a:chExt cx="2743200" cy="1954482"/>
            </a:xfrm>
          </p:grpSpPr>
          <p:sp>
            <p:nvSpPr>
              <p:cNvPr id="21613" name="Rounded Rectangle 16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solidFill>
                <a:srgbClr val="F08A3C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4" name="Isosceles Triangle 17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solidFill>
                <a:srgbClr val="F08A3C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615" name="Right Arrow 15"/>
            <p:cNvSpPr/>
            <p:nvPr/>
          </p:nvSpPr>
          <p:spPr>
            <a:xfrm>
              <a:off x="4979664" y="3356705"/>
              <a:ext cx="788754" cy="568637"/>
            </a:xfrm>
            <a:prstGeom prst="rightArrow">
              <a:avLst/>
            </a:prstGeom>
            <a:solidFill>
              <a:srgbClr val="FFFFFF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16" name="Group 21"/>
            <p:cNvGrpSpPr/>
            <p:nvPr/>
          </p:nvGrpSpPr>
          <p:grpSpPr>
            <a:xfrm>
              <a:off x="6578586" y="4405721"/>
              <a:ext cx="401318" cy="401317"/>
              <a:chOff x="2996418" y="1828800"/>
              <a:chExt cx="717453" cy="717453"/>
            </a:xfrm>
          </p:grpSpPr>
          <p:sp>
            <p:nvSpPr>
              <p:cNvPr id="21617" name="Oval 26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8" name="Oval 27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19" name="Group 22"/>
            <p:cNvGrpSpPr/>
            <p:nvPr/>
          </p:nvGrpSpPr>
          <p:grpSpPr>
            <a:xfrm>
              <a:off x="5912531" y="3108460"/>
              <a:ext cx="1733426" cy="1235036"/>
              <a:chOff x="596313" y="1252025"/>
              <a:chExt cx="2743200" cy="1954482"/>
            </a:xfrm>
          </p:grpSpPr>
          <p:sp>
            <p:nvSpPr>
              <p:cNvPr id="21620" name="Rounded Rectangle 24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solidFill>
                <a:srgbClr val="5D95F1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21" name="Isosceles Triangle 25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solidFill>
                <a:srgbClr val="5D95F1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622" name="Right Arrow 23"/>
            <p:cNvSpPr/>
            <p:nvPr/>
          </p:nvSpPr>
          <p:spPr>
            <a:xfrm>
              <a:off x="7791715" y="3356705"/>
              <a:ext cx="788754" cy="568637"/>
            </a:xfrm>
            <a:prstGeom prst="rightArrow">
              <a:avLst/>
            </a:prstGeom>
            <a:solidFill>
              <a:srgbClr val="FFFFFF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23" name="Group 29"/>
            <p:cNvGrpSpPr/>
            <p:nvPr/>
          </p:nvGrpSpPr>
          <p:grpSpPr>
            <a:xfrm>
              <a:off x="9390636" y="4405721"/>
              <a:ext cx="401318" cy="401317"/>
              <a:chOff x="2996418" y="1828800"/>
              <a:chExt cx="717453" cy="717453"/>
            </a:xfrm>
          </p:grpSpPr>
          <p:sp>
            <p:nvSpPr>
              <p:cNvPr id="21624" name="Oval 34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25" name="Oval 35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26" name="Group 30"/>
            <p:cNvGrpSpPr/>
            <p:nvPr/>
          </p:nvGrpSpPr>
          <p:grpSpPr>
            <a:xfrm>
              <a:off x="8724581" y="3108460"/>
              <a:ext cx="1733426" cy="1235036"/>
              <a:chOff x="596313" y="1252025"/>
              <a:chExt cx="2743200" cy="1954482"/>
            </a:xfrm>
          </p:grpSpPr>
          <p:sp>
            <p:nvSpPr>
              <p:cNvPr id="21627" name="Rounded Rectangle 32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solidFill>
                <a:srgbClr val="655BE6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28" name="Isosceles Triangle 33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solidFill>
                <a:srgbClr val="655BE6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</p:grpSp>
      <p:pic>
        <p:nvPicPr>
          <p:cNvPr id="21629" name="Picture 21628" descr="too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21" y="2949441"/>
            <a:ext cx="548640" cy="548640"/>
          </a:xfrm>
          <a:prstGeom prst="rect">
            <a:avLst/>
          </a:prstGeom>
        </p:spPr>
      </p:pic>
      <p:sp>
        <p:nvSpPr>
          <p:cNvPr id="21630" name="TextBox 21629"/>
          <p:cNvSpPr txBox="1"/>
          <p:nvPr/>
        </p:nvSpPr>
        <p:spPr>
          <a:xfrm>
            <a:off x="254081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DataWorks</a:t>
            </a:r>
          </a:p>
        </p:txBody>
      </p:sp>
      <p:sp>
        <p:nvSpPr>
          <p:cNvPr id="21631" name="TextBox 21630"/>
          <p:cNvSpPr txBox="1"/>
          <p:nvPr/>
        </p:nvSpPr>
        <p:spPr>
          <a:xfrm>
            <a:off x="254081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5E6478"/>
                </a:solidFill>
              </a:rPr>
              <a:t>开发 · 开发与调度</a:t>
            </a:r>
          </a:p>
        </p:txBody>
      </p:sp>
      <p:pic>
        <p:nvPicPr>
          <p:cNvPr id="21632" name="Picture 21631" descr="warnin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413" y="2949441"/>
            <a:ext cx="548640" cy="548640"/>
          </a:xfrm>
          <a:prstGeom prst="rect">
            <a:avLst/>
          </a:prstGeom>
        </p:spPr>
      </p:pic>
      <p:sp>
        <p:nvSpPr>
          <p:cNvPr id="21633" name="TextBox 21632"/>
          <p:cNvSpPr txBox="1"/>
          <p:nvPr/>
        </p:nvSpPr>
        <p:spPr>
          <a:xfrm>
            <a:off x="3075573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4551A"/>
                </a:solidFill>
              </a:rPr>
              <a:t>治理与指标</a:t>
            </a:r>
          </a:p>
        </p:txBody>
      </p:sp>
      <p:sp>
        <p:nvSpPr>
          <p:cNvPr id="21634" name="TextBox 21633"/>
          <p:cNvSpPr txBox="1"/>
          <p:nvPr/>
        </p:nvSpPr>
        <p:spPr>
          <a:xfrm>
            <a:off x="3075573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B4551A"/>
                </a:solidFill>
              </a:rPr>
              <a:t>缺口 · 待补齐的中枢</a:t>
            </a:r>
          </a:p>
        </p:txBody>
      </p:sp>
      <p:pic>
        <p:nvPicPr>
          <p:cNvPr id="21635" name="Picture 21634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905" y="2949441"/>
            <a:ext cx="548640" cy="548640"/>
          </a:xfrm>
          <a:prstGeom prst="rect">
            <a:avLst/>
          </a:prstGeom>
        </p:spPr>
      </p:pic>
      <p:sp>
        <p:nvSpPr>
          <p:cNvPr id="21636" name="TextBox 21635"/>
          <p:cNvSpPr txBox="1"/>
          <p:nvPr/>
        </p:nvSpPr>
        <p:spPr>
          <a:xfrm>
            <a:off x="5897065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动态数据开放 API</a:t>
            </a:r>
          </a:p>
        </p:txBody>
      </p:sp>
      <p:sp>
        <p:nvSpPr>
          <p:cNvPr id="21637" name="TextBox 21636"/>
          <p:cNvSpPr txBox="1"/>
          <p:nvPr/>
        </p:nvSpPr>
        <p:spPr>
          <a:xfrm>
            <a:off x="5897065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5E6478"/>
                </a:solidFill>
              </a:rPr>
              <a:t>服务 · 指标对内对外服务</a:t>
            </a:r>
          </a:p>
        </p:txBody>
      </p:sp>
      <p:pic>
        <p:nvPicPr>
          <p:cNvPr id="21638" name="Picture 21637" descr="cha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396" y="2949441"/>
            <a:ext cx="548640" cy="548640"/>
          </a:xfrm>
          <a:prstGeom prst="rect">
            <a:avLst/>
          </a:prstGeom>
        </p:spPr>
      </p:pic>
      <p:sp>
        <p:nvSpPr>
          <p:cNvPr id="21639" name="TextBox 21638"/>
          <p:cNvSpPr txBox="1"/>
          <p:nvPr/>
        </p:nvSpPr>
        <p:spPr>
          <a:xfrm>
            <a:off x="8302752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Quick BI</a:t>
            </a:r>
          </a:p>
        </p:txBody>
      </p:sp>
      <p:sp>
        <p:nvSpPr>
          <p:cNvPr id="21640" name="TextBox 21639"/>
          <p:cNvSpPr txBox="1"/>
          <p:nvPr/>
        </p:nvSpPr>
        <p:spPr>
          <a:xfrm>
            <a:off x="8302752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5E6478"/>
                </a:solidFill>
              </a:rPr>
              <a:t>消费 · 分析与展示</a:t>
            </a:r>
          </a:p>
        </p:txBody>
      </p:sp>
      <p:sp>
        <p:nvSpPr>
          <p:cNvPr id="21641" name="TextBox 21640"/>
          <p:cNvSpPr txBox="1"/>
          <p:nvPr/>
        </p:nvSpPr>
        <p:spPr>
          <a:xfrm>
            <a:off x="658368" y="543610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已有三条产品线</a:t>
            </a:r>
          </a:p>
        </p:txBody>
      </p:sp>
      <p:sp>
        <p:nvSpPr>
          <p:cNvPr id="21642" name="Rounded Rectangle 21641"/>
          <p:cNvSpPr/>
          <p:nvPr/>
        </p:nvSpPr>
        <p:spPr>
          <a:xfrm>
            <a:off x="658368" y="5801868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3" name="Oval 21642"/>
          <p:cNvSpPr/>
          <p:nvPr/>
        </p:nvSpPr>
        <p:spPr>
          <a:xfrm>
            <a:off x="841247" y="5939028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44" name="Picture 21643" descr="too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" y="6087617"/>
            <a:ext cx="297180" cy="297180"/>
          </a:xfrm>
          <a:prstGeom prst="rect">
            <a:avLst/>
          </a:prstGeom>
        </p:spPr>
      </p:pic>
      <p:sp>
        <p:nvSpPr>
          <p:cNvPr id="21645" name="TextBox 21644"/>
          <p:cNvSpPr txBox="1"/>
          <p:nvPr/>
        </p:nvSpPr>
        <p:spPr>
          <a:xfrm>
            <a:off x="1618488" y="5884164"/>
            <a:ext cx="21976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21646" name="TextBox 21645"/>
          <p:cNvSpPr txBox="1"/>
          <p:nvPr/>
        </p:nvSpPr>
        <p:spPr>
          <a:xfrm>
            <a:off x="1618488" y="6231636"/>
            <a:ext cx="219760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票务 · 业态 · 运营 · 财务 · 终端</a:t>
            </a:r>
          </a:p>
        </p:txBody>
      </p:sp>
      <p:sp>
        <p:nvSpPr>
          <p:cNvPr id="21647" name="Rounded Rectangle 21646"/>
          <p:cNvSpPr/>
          <p:nvPr/>
        </p:nvSpPr>
        <p:spPr>
          <a:xfrm>
            <a:off x="4136136" y="5801868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8" name="Oval 21647"/>
          <p:cNvSpPr/>
          <p:nvPr/>
        </p:nvSpPr>
        <p:spPr>
          <a:xfrm>
            <a:off x="4319016" y="5939028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49" name="Picture 21648" descr="bulb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7606" y="6087617"/>
            <a:ext cx="297180" cy="297180"/>
          </a:xfrm>
          <a:prstGeom prst="rect">
            <a:avLst/>
          </a:prstGeom>
        </p:spPr>
      </p:pic>
      <p:sp>
        <p:nvSpPr>
          <p:cNvPr id="21650" name="TextBox 21649"/>
          <p:cNvSpPr txBox="1"/>
          <p:nvPr/>
        </p:nvSpPr>
        <p:spPr>
          <a:xfrm>
            <a:off x="5096256" y="5884164"/>
            <a:ext cx="21976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21651" name="TextBox 21650"/>
          <p:cNvSpPr txBox="1"/>
          <p:nvPr/>
        </p:nvSpPr>
        <p:spPr>
          <a:xfrm>
            <a:off x="5096256" y="6231636"/>
            <a:ext cx="219760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景数通 · 调度中枢 · 票付通 APP</a:t>
            </a:r>
          </a:p>
        </p:txBody>
      </p:sp>
      <p:sp>
        <p:nvSpPr>
          <p:cNvPr id="21652" name="Rounded Rectangle 21651"/>
          <p:cNvSpPr/>
          <p:nvPr/>
        </p:nvSpPr>
        <p:spPr>
          <a:xfrm>
            <a:off x="7613904" y="5801868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3" name="Oval 21652"/>
          <p:cNvSpPr/>
          <p:nvPr/>
        </p:nvSpPr>
        <p:spPr>
          <a:xfrm>
            <a:off x="7796783" y="5939028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54" name="Picture 21653" descr="user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5373" y="6087617"/>
            <a:ext cx="297180" cy="297180"/>
          </a:xfrm>
          <a:prstGeom prst="rect">
            <a:avLst/>
          </a:prstGeom>
        </p:spPr>
      </p:pic>
      <p:sp>
        <p:nvSpPr>
          <p:cNvPr id="21655" name="TextBox 21654"/>
          <p:cNvSpPr txBox="1"/>
          <p:nvPr/>
        </p:nvSpPr>
        <p:spPr>
          <a:xfrm>
            <a:off x="8574024" y="5884164"/>
            <a:ext cx="21976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21656" name="TextBox 21655"/>
          <p:cNvSpPr txBox="1"/>
          <p:nvPr/>
        </p:nvSpPr>
        <p:spPr>
          <a:xfrm>
            <a:off x="8574024" y="6231636"/>
            <a:ext cx="219760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小程序 · 游客智能体 · 会员营销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五类问题看似分散，根因只有一个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09</a:t>
            </a:r>
          </a:p>
        </p:txBody>
      </p:sp>
      <p:grpSp>
        <p:nvGrpSpPr>
          <p:cNvPr id="21400" name="素材 31"/>
          <p:cNvGrpSpPr/>
          <p:nvPr/>
        </p:nvGrpSpPr>
        <p:grpSpPr>
          <a:xfrm>
            <a:off x="658368" y="2468880"/>
            <a:ext cx="6675120" cy="2766001"/>
            <a:chOff x="1728589" y="2236993"/>
            <a:chExt cx="7979490" cy="3306499"/>
          </a:xfrm>
        </p:grpSpPr>
        <p:grpSp>
          <p:nvGrpSpPr>
            <p:cNvPr id="21401" name="Group 20"/>
            <p:cNvGrpSpPr/>
            <p:nvPr/>
          </p:nvGrpSpPr>
          <p:grpSpPr>
            <a:xfrm>
              <a:off x="3240697" y="3115126"/>
              <a:ext cx="1942157" cy="1682741"/>
              <a:chOff x="3259138" y="2860907"/>
              <a:chExt cx="2222500" cy="1925638"/>
            </a:xfrm>
          </p:grpSpPr>
          <p:sp>
            <p:nvSpPr>
              <p:cNvPr id="21402" name="Freeform 6"/>
              <p:cNvSpPr/>
              <p:nvPr/>
            </p:nvSpPr>
            <p:spPr bwMode="auto">
              <a:xfrm>
                <a:off x="3259138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3" name="Freeform 15"/>
              <p:cNvSpPr>
                <a:spLocks noEditPoints="1"/>
              </p:cNvSpPr>
              <p:nvPr/>
            </p:nvSpPr>
            <p:spPr bwMode="auto">
              <a:xfrm>
                <a:off x="3387726" y="2970444"/>
                <a:ext cx="1966913" cy="1706563"/>
              </a:xfrm>
              <a:custGeom>
                <a:avLst/>
                <a:gdLst>
                  <a:gd name="T0" fmla="*/ 11 w 1239"/>
                  <a:gd name="T1" fmla="*/ 537 h 1075"/>
                  <a:gd name="T2" fmla="*/ 317 w 1239"/>
                  <a:gd name="T3" fmla="*/ 1066 h 1075"/>
                  <a:gd name="T4" fmla="*/ 924 w 1239"/>
                  <a:gd name="T5" fmla="*/ 1066 h 1075"/>
                  <a:gd name="T6" fmla="*/ 1227 w 1239"/>
                  <a:gd name="T7" fmla="*/ 537 h 1075"/>
                  <a:gd name="T8" fmla="*/ 924 w 1239"/>
                  <a:gd name="T9" fmla="*/ 9 h 1075"/>
                  <a:gd name="T10" fmla="*/ 317 w 1239"/>
                  <a:gd name="T11" fmla="*/ 9 h 1075"/>
                  <a:gd name="T12" fmla="*/ 11 w 1239"/>
                  <a:gd name="T13" fmla="*/ 537 h 1075"/>
                  <a:gd name="T14" fmla="*/ 11 w 1239"/>
                  <a:gd name="T15" fmla="*/ 537 h 1075"/>
                  <a:gd name="T16" fmla="*/ 0 w 1239"/>
                  <a:gd name="T17" fmla="*/ 537 h 1075"/>
                  <a:gd name="T18" fmla="*/ 309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09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1" y="537"/>
                    </a:moveTo>
                    <a:lnTo>
                      <a:pt x="317" y="1066"/>
                    </a:lnTo>
                    <a:lnTo>
                      <a:pt x="924" y="1066"/>
                    </a:lnTo>
                    <a:lnTo>
                      <a:pt x="1227" y="537"/>
                    </a:lnTo>
                    <a:lnTo>
                      <a:pt x="924" y="9"/>
                    </a:lnTo>
                    <a:lnTo>
                      <a:pt x="317" y="9"/>
                    </a:lnTo>
                    <a:lnTo>
                      <a:pt x="11" y="537"/>
                    </a:lnTo>
                    <a:lnTo>
                      <a:pt x="11" y="537"/>
                    </a:lnTo>
                    <a:close/>
                    <a:moveTo>
                      <a:pt x="0" y="537"/>
                    </a:moveTo>
                    <a:lnTo>
                      <a:pt x="309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09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04" name="Group 19"/>
            <p:cNvGrpSpPr/>
            <p:nvPr/>
          </p:nvGrpSpPr>
          <p:grpSpPr>
            <a:xfrm>
              <a:off x="1728589" y="2236993"/>
              <a:ext cx="1942157" cy="1686902"/>
              <a:chOff x="1528763" y="1856019"/>
              <a:chExt cx="2222500" cy="1930400"/>
            </a:xfrm>
          </p:grpSpPr>
          <p:sp>
            <p:nvSpPr>
              <p:cNvPr id="21405" name="Freeform 5"/>
              <p:cNvSpPr/>
              <p:nvPr/>
            </p:nvSpPr>
            <p:spPr bwMode="auto">
              <a:xfrm>
                <a:off x="1528763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6" name="Freeform 16"/>
              <p:cNvSpPr>
                <a:spLocks noEditPoints="1"/>
              </p:cNvSpPr>
              <p:nvPr/>
            </p:nvSpPr>
            <p:spPr bwMode="auto">
              <a:xfrm>
                <a:off x="1660526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07" name="Group 22"/>
            <p:cNvGrpSpPr/>
            <p:nvPr/>
          </p:nvGrpSpPr>
          <p:grpSpPr>
            <a:xfrm>
              <a:off x="6262137" y="3115126"/>
              <a:ext cx="1942157" cy="1682741"/>
              <a:chOff x="6716713" y="2860907"/>
              <a:chExt cx="2222500" cy="1925638"/>
            </a:xfrm>
          </p:grpSpPr>
          <p:sp>
            <p:nvSpPr>
              <p:cNvPr id="21408" name="Freeform 8"/>
              <p:cNvSpPr/>
              <p:nvPr/>
            </p:nvSpPr>
            <p:spPr bwMode="auto">
              <a:xfrm>
                <a:off x="6716713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9" name="Freeform 17"/>
              <p:cNvSpPr>
                <a:spLocks noEditPoints="1"/>
              </p:cNvSpPr>
              <p:nvPr/>
            </p:nvSpPr>
            <p:spPr bwMode="auto">
              <a:xfrm>
                <a:off x="6845301" y="2970444"/>
                <a:ext cx="1966913" cy="1706563"/>
              </a:xfrm>
              <a:custGeom>
                <a:avLst/>
                <a:gdLst>
                  <a:gd name="T0" fmla="*/ 12 w 1239"/>
                  <a:gd name="T1" fmla="*/ 537 h 1075"/>
                  <a:gd name="T2" fmla="*/ 314 w 1239"/>
                  <a:gd name="T3" fmla="*/ 1066 h 1075"/>
                  <a:gd name="T4" fmla="*/ 922 w 1239"/>
                  <a:gd name="T5" fmla="*/ 1066 h 1075"/>
                  <a:gd name="T6" fmla="*/ 1227 w 1239"/>
                  <a:gd name="T7" fmla="*/ 537 h 1075"/>
                  <a:gd name="T8" fmla="*/ 922 w 1239"/>
                  <a:gd name="T9" fmla="*/ 9 h 1075"/>
                  <a:gd name="T10" fmla="*/ 314 w 1239"/>
                  <a:gd name="T11" fmla="*/ 9 h 1075"/>
                  <a:gd name="T12" fmla="*/ 12 w 1239"/>
                  <a:gd name="T13" fmla="*/ 537 h 1075"/>
                  <a:gd name="T14" fmla="*/ 12 w 1239"/>
                  <a:gd name="T15" fmla="*/ 537 h 1075"/>
                  <a:gd name="T16" fmla="*/ 0 w 1239"/>
                  <a:gd name="T17" fmla="*/ 537 h 1075"/>
                  <a:gd name="T18" fmla="*/ 310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10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2" y="537"/>
                    </a:moveTo>
                    <a:lnTo>
                      <a:pt x="314" y="1066"/>
                    </a:lnTo>
                    <a:lnTo>
                      <a:pt x="922" y="1066"/>
                    </a:lnTo>
                    <a:lnTo>
                      <a:pt x="1227" y="537"/>
                    </a:lnTo>
                    <a:lnTo>
                      <a:pt x="922" y="9"/>
                    </a:lnTo>
                    <a:lnTo>
                      <a:pt x="314" y="9"/>
                    </a:lnTo>
                    <a:lnTo>
                      <a:pt x="12" y="537"/>
                    </a:lnTo>
                    <a:lnTo>
                      <a:pt x="12" y="537"/>
                    </a:lnTo>
                    <a:close/>
                    <a:moveTo>
                      <a:pt x="0" y="537"/>
                    </a:moveTo>
                    <a:lnTo>
                      <a:pt x="310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10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0" name="Group 21"/>
            <p:cNvGrpSpPr/>
            <p:nvPr/>
          </p:nvGrpSpPr>
          <p:grpSpPr>
            <a:xfrm>
              <a:off x="4750030" y="2236993"/>
              <a:ext cx="1942157" cy="1686902"/>
              <a:chOff x="4986338" y="1856019"/>
              <a:chExt cx="2222500" cy="1930400"/>
            </a:xfrm>
          </p:grpSpPr>
          <p:sp>
            <p:nvSpPr>
              <p:cNvPr id="21411" name="Freeform 7"/>
              <p:cNvSpPr/>
              <p:nvPr/>
            </p:nvSpPr>
            <p:spPr bwMode="auto">
              <a:xfrm>
                <a:off x="4986338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2" name="Freeform 18"/>
              <p:cNvSpPr>
                <a:spLocks noEditPoints="1"/>
              </p:cNvSpPr>
              <p:nvPr/>
            </p:nvSpPr>
            <p:spPr bwMode="auto">
              <a:xfrm>
                <a:off x="5118101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3" name="Group 23"/>
            <p:cNvGrpSpPr/>
            <p:nvPr/>
          </p:nvGrpSpPr>
          <p:grpSpPr>
            <a:xfrm>
              <a:off x="7764535" y="2236993"/>
              <a:ext cx="1943544" cy="1686902"/>
              <a:chOff x="8435976" y="1856019"/>
              <a:chExt cx="2224088" cy="1930400"/>
            </a:xfrm>
          </p:grpSpPr>
          <p:sp>
            <p:nvSpPr>
              <p:cNvPr id="21414" name="Freeform 9"/>
              <p:cNvSpPr/>
              <p:nvPr/>
            </p:nvSpPr>
            <p:spPr bwMode="auto">
              <a:xfrm>
                <a:off x="8435976" y="1856019"/>
                <a:ext cx="2224088" cy="1930400"/>
              </a:xfrm>
              <a:custGeom>
                <a:avLst/>
                <a:gdLst>
                  <a:gd name="T0" fmla="*/ 0 w 1401"/>
                  <a:gd name="T1" fmla="*/ 609 h 1216"/>
                  <a:gd name="T2" fmla="*/ 351 w 1401"/>
                  <a:gd name="T3" fmla="*/ 1216 h 1216"/>
                  <a:gd name="T4" fmla="*/ 1051 w 1401"/>
                  <a:gd name="T5" fmla="*/ 1216 h 1216"/>
                  <a:gd name="T6" fmla="*/ 1401 w 1401"/>
                  <a:gd name="T7" fmla="*/ 609 h 1216"/>
                  <a:gd name="T8" fmla="*/ 1051 w 1401"/>
                  <a:gd name="T9" fmla="*/ 0 h 1216"/>
                  <a:gd name="T10" fmla="*/ 351 w 1401"/>
                  <a:gd name="T11" fmla="*/ 0 h 1216"/>
                  <a:gd name="T12" fmla="*/ 0 w 1401"/>
                  <a:gd name="T13" fmla="*/ 609 h 1216"/>
                  <a:gd name="T14" fmla="*/ 0 w 1401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1" h="1216">
                    <a:moveTo>
                      <a:pt x="0" y="609"/>
                    </a:moveTo>
                    <a:lnTo>
                      <a:pt x="351" y="1216"/>
                    </a:lnTo>
                    <a:lnTo>
                      <a:pt x="1051" y="1216"/>
                    </a:lnTo>
                    <a:lnTo>
                      <a:pt x="1401" y="609"/>
                    </a:lnTo>
                    <a:lnTo>
                      <a:pt x="1051" y="0"/>
                    </a:lnTo>
                    <a:lnTo>
                      <a:pt x="351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5" name="Freeform 19"/>
              <p:cNvSpPr>
                <a:spLocks noEditPoints="1"/>
              </p:cNvSpPr>
              <p:nvPr/>
            </p:nvSpPr>
            <p:spPr bwMode="auto">
              <a:xfrm>
                <a:off x="8567738" y="1968732"/>
                <a:ext cx="1963738" cy="1704975"/>
              </a:xfrm>
              <a:custGeom>
                <a:avLst/>
                <a:gdLst>
                  <a:gd name="T0" fmla="*/ 10 w 1237"/>
                  <a:gd name="T1" fmla="*/ 538 h 1074"/>
                  <a:gd name="T2" fmla="*/ 315 w 1237"/>
                  <a:gd name="T3" fmla="*/ 1064 h 1074"/>
                  <a:gd name="T4" fmla="*/ 923 w 1237"/>
                  <a:gd name="T5" fmla="*/ 1064 h 1074"/>
                  <a:gd name="T6" fmla="*/ 1225 w 1237"/>
                  <a:gd name="T7" fmla="*/ 538 h 1074"/>
                  <a:gd name="T8" fmla="*/ 923 w 1237"/>
                  <a:gd name="T9" fmla="*/ 10 h 1074"/>
                  <a:gd name="T10" fmla="*/ 315 w 1237"/>
                  <a:gd name="T11" fmla="*/ 10 h 1074"/>
                  <a:gd name="T12" fmla="*/ 10 w 1237"/>
                  <a:gd name="T13" fmla="*/ 538 h 1074"/>
                  <a:gd name="T14" fmla="*/ 10 w 1237"/>
                  <a:gd name="T15" fmla="*/ 538 h 1074"/>
                  <a:gd name="T16" fmla="*/ 0 w 1237"/>
                  <a:gd name="T17" fmla="*/ 538 h 1074"/>
                  <a:gd name="T18" fmla="*/ 310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10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10" y="538"/>
                    </a:moveTo>
                    <a:lnTo>
                      <a:pt x="315" y="1064"/>
                    </a:lnTo>
                    <a:lnTo>
                      <a:pt x="923" y="1064"/>
                    </a:lnTo>
                    <a:lnTo>
                      <a:pt x="1225" y="538"/>
                    </a:lnTo>
                    <a:lnTo>
                      <a:pt x="923" y="10"/>
                    </a:lnTo>
                    <a:lnTo>
                      <a:pt x="315" y="10"/>
                    </a:lnTo>
                    <a:lnTo>
                      <a:pt x="10" y="538"/>
                    </a:lnTo>
                    <a:lnTo>
                      <a:pt x="10" y="538"/>
                    </a:lnTo>
                    <a:close/>
                    <a:moveTo>
                      <a:pt x="0" y="538"/>
                    </a:moveTo>
                    <a:lnTo>
                      <a:pt x="310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10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1416" name="Straight Connector 31"/>
            <p:cNvCxnSpPr/>
            <p:nvPr/>
          </p:nvCxnSpPr>
          <p:spPr>
            <a:xfrm>
              <a:off x="2699430" y="4160210"/>
              <a:ext cx="0" cy="541936"/>
            </a:xfrm>
            <a:prstGeom prst="line">
              <a:avLst/>
            </a:prstGeom>
            <a:ln w="28575">
              <a:solidFill>
                <a:srgbClr val="776C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7" name="Straight Connector 34"/>
            <p:cNvCxnSpPr/>
            <p:nvPr/>
          </p:nvCxnSpPr>
          <p:spPr>
            <a:xfrm>
              <a:off x="5710829" y="4160210"/>
              <a:ext cx="0" cy="541936"/>
            </a:xfrm>
            <a:prstGeom prst="line">
              <a:avLst/>
            </a:prstGeom>
            <a:ln w="28575">
              <a:solidFill>
                <a:srgbClr val="655BE6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8" name="Straight Connector 35"/>
            <p:cNvCxnSpPr/>
            <p:nvPr/>
          </p:nvCxnSpPr>
          <p:spPr>
            <a:xfrm>
              <a:off x="8736307" y="4160210"/>
              <a:ext cx="0" cy="541936"/>
            </a:xfrm>
            <a:prstGeom prst="line">
              <a:avLst/>
            </a:prstGeom>
            <a:ln w="28575">
              <a:solidFill>
                <a:srgbClr val="6C95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9" name="Straight Connector 36"/>
            <p:cNvCxnSpPr/>
            <p:nvPr/>
          </p:nvCxnSpPr>
          <p:spPr>
            <a:xfrm>
              <a:off x="4208750" y="5001556"/>
              <a:ext cx="0" cy="541936"/>
            </a:xfrm>
            <a:prstGeom prst="line">
              <a:avLst/>
            </a:prstGeom>
            <a:ln w="28575">
              <a:solidFill>
                <a:srgbClr val="5D95F1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20" name="Straight Connector 37"/>
            <p:cNvCxnSpPr/>
            <p:nvPr/>
          </p:nvCxnSpPr>
          <p:spPr>
            <a:xfrm>
              <a:off x="7233909" y="5001556"/>
              <a:ext cx="0" cy="541936"/>
            </a:xfrm>
            <a:prstGeom prst="line">
              <a:avLst/>
            </a:prstGeom>
            <a:ln w="28575">
              <a:solidFill>
                <a:srgbClr val="F08A3C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</p:grpSp>
      <p:pic>
        <p:nvPicPr>
          <p:cNvPr id="21421" name="Picture 21420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710" y="2791314"/>
            <a:ext cx="402336" cy="402336"/>
          </a:xfrm>
          <a:prstGeom prst="rect">
            <a:avLst/>
          </a:prstGeom>
        </p:spPr>
      </p:pic>
      <p:sp>
        <p:nvSpPr>
          <p:cNvPr id="21422" name="TextBox 21421"/>
          <p:cNvSpPr txBox="1"/>
          <p:nvPr/>
        </p:nvSpPr>
        <p:spPr>
          <a:xfrm>
            <a:off x="645918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数据孤岛</a:t>
            </a:r>
          </a:p>
        </p:txBody>
      </p:sp>
      <p:sp>
        <p:nvSpPr>
          <p:cNvPr id="21423" name="TextBox 21422"/>
          <p:cNvSpPr txBox="1"/>
          <p:nvPr/>
        </p:nvSpPr>
        <p:spPr>
          <a:xfrm>
            <a:off x="554478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数据分散在各系统</a:t>
            </a:r>
          </a:p>
        </p:txBody>
      </p:sp>
      <p:pic>
        <p:nvPicPr>
          <p:cNvPr id="21424" name="Picture 21423" descr="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840" y="3525645"/>
            <a:ext cx="402336" cy="402336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1908048" y="398284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口径不一</a:t>
            </a:r>
          </a:p>
        </p:txBody>
      </p:sp>
      <p:sp>
        <p:nvSpPr>
          <p:cNvPr id="21426" name="TextBox 21425"/>
          <p:cNvSpPr txBox="1"/>
          <p:nvPr/>
        </p:nvSpPr>
        <p:spPr>
          <a:xfrm>
            <a:off x="1816608" y="5287881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同一指标多种算法</a:t>
            </a:r>
          </a:p>
        </p:txBody>
      </p:sp>
      <p:pic>
        <p:nvPicPr>
          <p:cNvPr id="21427" name="Picture 21426" descr="boo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970" y="2791314"/>
            <a:ext cx="402336" cy="402336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3170178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结构不规范</a:t>
            </a:r>
          </a:p>
        </p:txBody>
      </p:sp>
      <p:sp>
        <p:nvSpPr>
          <p:cNvPr id="21429" name="TextBox 21428"/>
          <p:cNvSpPr txBox="1"/>
          <p:nvPr/>
        </p:nvSpPr>
        <p:spPr>
          <a:xfrm>
            <a:off x="3078738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表、字段、DDL、描述</a:t>
            </a:r>
          </a:p>
        </p:txBody>
      </p:sp>
      <p:pic>
        <p:nvPicPr>
          <p:cNvPr id="21430" name="Picture 21429" descr="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750" y="3525645"/>
            <a:ext cx="402336" cy="402336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4439958" y="398284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模型重复</a:t>
            </a:r>
          </a:p>
        </p:txBody>
      </p:sp>
      <p:sp>
        <p:nvSpPr>
          <p:cNvPr id="21432" name="TextBox 21431"/>
          <p:cNvSpPr txBox="1"/>
          <p:nvPr/>
        </p:nvSpPr>
        <p:spPr>
          <a:xfrm>
            <a:off x="4348518" y="5287881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离线与湖仓重复开发</a:t>
            </a:r>
          </a:p>
        </p:txBody>
      </p:sp>
      <p:pic>
        <p:nvPicPr>
          <p:cNvPr id="21433" name="Picture 21432" descr="warning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055" y="2791314"/>
            <a:ext cx="402336" cy="402336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5698263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数字不准</a:t>
            </a:r>
          </a:p>
        </p:txBody>
      </p:sp>
      <p:sp>
        <p:nvSpPr>
          <p:cNvPr id="21435" name="TextBox 21434"/>
          <p:cNvSpPr txBox="1"/>
          <p:nvPr/>
        </p:nvSpPr>
        <p:spPr>
          <a:xfrm>
            <a:off x="5606823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入园、核销等关键数字</a:t>
            </a:r>
          </a:p>
        </p:txBody>
      </p:sp>
      <p:sp>
        <p:nvSpPr>
          <p:cNvPr id="21436" name="Right Arrow 21435"/>
          <p:cNvSpPr/>
          <p:nvPr/>
        </p:nvSpPr>
        <p:spPr>
          <a:xfrm>
            <a:off x="7470648" y="3703320"/>
            <a:ext cx="384048" cy="329184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7" name="Rounded Rectangle 21436"/>
          <p:cNvSpPr/>
          <p:nvPr/>
        </p:nvSpPr>
        <p:spPr>
          <a:xfrm>
            <a:off x="8001000" y="2468880"/>
            <a:ext cx="2862072" cy="2926080"/>
          </a:xfrm>
          <a:prstGeom prst="roundRect">
            <a:avLst>
              <a:gd name="adj" fmla="val 319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 rIns="182880" bIns="91440"/>
          <a:lstStyle/>
          <a:p>
            <a:pPr algn="l"/>
            <a:r>
              <a:rPr sz="1300" b="1">
                <a:solidFill>
                  <a:srgbClr val="E4E2FF"/>
                </a:solidFill>
              </a:rPr>
              <a:t>根因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缺少统一的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标准、模型、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口径和校验</a:t>
            </a:r>
          </a:p>
        </p:txBody>
      </p:sp>
      <p:sp>
        <p:nvSpPr>
          <p:cNvPr id="21438" name="Rounded Rectangle 21437"/>
          <p:cNvSpPr/>
          <p:nvPr/>
        </p:nvSpPr>
        <p:spPr>
          <a:xfrm>
            <a:off x="658368" y="576337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39" name="Picture 21438" descr="bul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5909674"/>
            <a:ext cx="274320" cy="274320"/>
          </a:xfrm>
          <a:prstGeom prst="rect">
            <a:avLst/>
          </a:prstGeom>
        </p:spPr>
      </p:pic>
      <p:sp>
        <p:nvSpPr>
          <p:cNvPr id="21440" name="TextBox 21439"/>
          <p:cNvSpPr txBox="1"/>
          <p:nvPr/>
        </p:nvSpPr>
        <p:spPr>
          <a:xfrm>
            <a:off x="1252728" y="576337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E2C8"/>
                </a:solidFill>
              </a:rPr>
              <a:t>结论　</a:t>
            </a:r>
            <a:r>
              <a:rPr sz="1400" b="0">
                <a:solidFill>
                  <a:srgbClr val="FFFFFF"/>
                </a:solidFill>
              </a:rPr>
              <a:t>单点修补会反复出现，必须体系化建设</a:t>
            </a:r>
          </a:p>
        </p:txBody>
      </p:sp>
      <p:sp>
        <p:nvSpPr>
          <p:cNvPr id="21441" name="Rounded Rectangle 21440"/>
          <p:cNvSpPr/>
          <p:nvPr/>
        </p:nvSpPr>
        <p:spPr>
          <a:xfrm>
            <a:off x="658368" y="6531465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现状基线</a:t>
            </a:r>
          </a:p>
        </p:txBody>
      </p:sp>
      <p:sp>
        <p:nvSpPr>
          <p:cNvPr id="21442" name="Rounded Rectangle 21441"/>
          <p:cNvSpPr/>
          <p:nvPr/>
        </p:nvSpPr>
        <p:spPr>
          <a:xfrm>
            <a:off x="1892808" y="6531465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口径冲突指标数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第一年先测基线</a:t>
            </a:r>
          </a:p>
        </p:txBody>
      </p:sp>
      <p:sp>
        <p:nvSpPr>
          <p:cNvPr id="21443" name="Rounded Rectangle 21442"/>
          <p:cNvSpPr/>
          <p:nvPr/>
        </p:nvSpPr>
        <p:spPr>
          <a:xfrm>
            <a:off x="4158234" y="6531465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重复模型数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盘点后形成清单</a:t>
            </a:r>
          </a:p>
        </p:txBody>
      </p:sp>
      <p:sp>
        <p:nvSpPr>
          <p:cNvPr id="21444" name="Rounded Rectangle 21443"/>
          <p:cNvSpPr/>
          <p:nvPr/>
        </p:nvSpPr>
        <p:spPr>
          <a:xfrm>
            <a:off x="6423660" y="6531465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无描述表占比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核心表优先整改</a:t>
            </a:r>
          </a:p>
        </p:txBody>
      </p:sp>
      <p:sp>
        <p:nvSpPr>
          <p:cNvPr id="21445" name="Rounded Rectangle 21444"/>
          <p:cNvSpPr/>
          <p:nvPr/>
        </p:nvSpPr>
        <p:spPr>
          <a:xfrm>
            <a:off x="8689086" y="6531465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关键数字对账差异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核销先测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关键数字不准：问题在链路，而不在某一段 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77440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闸机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43200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边云网关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08960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手持终端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474720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OTA 回传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87168" y="2834640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377440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B2F42"/>
                </a:solidFill>
              </a:rPr>
              <a:t>业务库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7904" y="2944368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39384" y="2377440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B2F42"/>
                </a:solidFill>
              </a:rPr>
              <a:t>数仓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141208" y="2944368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52688" y="2377440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B2F42"/>
                </a:solidFill>
              </a:rPr>
              <a:t>看板与报表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50208"/>
            <a:ext cx="1737360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087369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61288" y="4059937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离线补传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多头上报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3950208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4087369"/>
            <a:ext cx="256032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29000" y="4059937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重复上报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撤销、冲正未处理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39384" y="3950208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544" y="4087369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42304" y="4059937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发生与上报时间混用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口径混淆、ID 映射错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52688" y="3950208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848" y="4087369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55608" y="4059937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没有逐层核对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景区个性规则未处理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074920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以上为待逐项排查的方向，不预判为已确认根因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13833"/>
            <a:ext cx="10204704" cy="640080"/>
          </a:xfrm>
          <a:prstGeom prst="roundRect">
            <a:avLst>
              <a:gd name="adj" fmla="val 1428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ul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696713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2728" y="5513833"/>
            <a:ext cx="942746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E2C8"/>
                </a:solidFill>
              </a:rPr>
              <a:t>缺的是　</a:t>
            </a:r>
            <a:r>
              <a:rPr sz="1500" b="0">
                <a:solidFill>
                  <a:srgbClr val="FFFFFF"/>
                </a:solidFill>
              </a:rPr>
              <a:t>唯一事实源 + 逐层核对 + 统一口径，不是某一段 SQL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6355080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92808" y="6355080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核销对账差异率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≤ 1% → ≤ 0.5%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58234" y="6355080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离线补传延迟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分钟级可见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23660" y="6355080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重复上报率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持续下降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9086" y="6355080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差异定位时长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小时级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为什么是现在：AI 应用越铺越开，正在放大数据问题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91740"/>
            <a:ext cx="3218688" cy="1325880"/>
          </a:xfrm>
          <a:prstGeom prst="roundRect">
            <a:avLst>
              <a:gd name="adj" fmla="val 689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64892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4400" b="1">
                <a:solidFill>
                  <a:srgbClr val="776CFD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776" y="27477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条产品线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6042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智慧票务 · AI 数字大脑 · 畅游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51376" y="2491740"/>
            <a:ext cx="3218688" cy="1325880"/>
          </a:xfrm>
          <a:prstGeom prst="roundRect">
            <a:avLst>
              <a:gd name="adj" fmla="val 689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564892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4400" b="1">
                <a:solidFill>
                  <a:srgbClr val="776CFD"/>
                </a:solidFill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8712" y="27477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 AI 应用与智能体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336042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运营助手 · 对账 · 问数 · 洞察 · 调度 · 游客服务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44383" y="2491740"/>
            <a:ext cx="3218688" cy="1325880"/>
          </a:xfrm>
          <a:prstGeom prst="roundRect">
            <a:avLst>
              <a:gd name="adj" fmla="val 689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8704" y="2564892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4400" b="1">
                <a:solidFill>
                  <a:srgbClr val="776CFD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8792" y="27477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 AI 问数入口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336042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景数通 · 票付通 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183379"/>
            <a:ext cx="2651760" cy="1463040"/>
          </a:xfrm>
          <a:prstGeom prst="roundRect">
            <a:avLst>
              <a:gd name="adj" fmla="val 625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AI 入口越来越多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问数 · 洞察 · 智能体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直接面向管理层与一线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01568" y="4777740"/>
            <a:ext cx="365760" cy="29260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58768" y="4183379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B4551A"/>
                </a:solidFill>
              </a:rPr>
              <a:t>若底层数据不可信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2B2F42"/>
                </a:solidFill>
              </a:rPr>
              <a:t>口径不一 · 数字不准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2B2F42"/>
                </a:solidFill>
              </a:rPr>
              <a:t>模型重复 · 不可追溯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01968" y="4777740"/>
            <a:ext cx="365760" cy="29260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59168" y="4183379"/>
            <a:ext cx="3803904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50" b="1">
                <a:solidFill>
                  <a:srgbClr val="F08A3C"/>
                </a:solidFill>
              </a:rPr>
              <a:t>✕  </a:t>
            </a:r>
            <a:r>
              <a:rPr sz="1350" b="0">
                <a:solidFill>
                  <a:srgbClr val="2B2F42"/>
                </a:solidFill>
              </a:rPr>
              <a:t>同一个问题，得到多个答案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4695444"/>
            <a:ext cx="3803904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50" b="1">
                <a:solidFill>
                  <a:srgbClr val="F08A3C"/>
                </a:solidFill>
              </a:rPr>
              <a:t>✕  </a:t>
            </a:r>
            <a:r>
              <a:rPr sz="1350" b="0">
                <a:solidFill>
                  <a:srgbClr val="2B2F42"/>
                </a:solidFill>
              </a:rPr>
              <a:t>错误数字被自动推送到一线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9168" y="5207508"/>
            <a:ext cx="3803904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50" b="1">
                <a:solidFill>
                  <a:srgbClr val="F08A3C"/>
                </a:solidFill>
              </a:rPr>
              <a:t>✕  </a:t>
            </a:r>
            <a:r>
              <a:rPr sz="1350" b="0">
                <a:solidFill>
                  <a:srgbClr val="2B2F42"/>
                </a:solidFill>
              </a:rPr>
              <a:t>对外数据产品失去客户信任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6103620"/>
            <a:ext cx="10204704" cy="658368"/>
          </a:xfrm>
          <a:prstGeom prst="roundRect">
            <a:avLst>
              <a:gd name="adj" fmla="val 13888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295644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6103620"/>
            <a:ext cx="9427464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判断　</a:t>
            </a:r>
            <a:r>
              <a:rPr sz="1600" b="0">
                <a:solidFill>
                  <a:srgbClr val="FFFFFF"/>
                </a:solidFill>
              </a:rPr>
              <a:t>先治理、建底座，AI 才会放大价值，而不是放大问题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能力盘点：已有投入全部保留，缺口逐项补齐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治理与 AI 能力叠加在已有工具之上，不推倒重来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01  现状与挑战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12</a:t>
            </a:r>
          </a:p>
        </p:txBody>
      </p:sp>
      <p:pic>
        <p:nvPicPr>
          <p:cNvPr id="9" name="Picture 8" descr="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70048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9848" y="2651760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776CFD"/>
                </a:solidFill>
              </a:rPr>
              <a:t>已具备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91256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离线主流程模型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58184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DataWorks 离线开发调度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25112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动态数据开放 API 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92040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Quick BI 分析展示</a:t>
            </a:r>
          </a:p>
        </p:txBody>
      </p:sp>
      <p:pic>
        <p:nvPicPr>
          <p:cNvPr id="15" name="Picture 14" descr="activity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616" y="2670048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8096" y="2651760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776CFD"/>
                </a:solidFill>
              </a:rPr>
              <a:t>持续建设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6616" y="3191256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其他维度与主题域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6616" y="3758184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数据标准、地图与血缘</a:t>
            </a:r>
          </a:p>
        </p:txBody>
      </p:sp>
      <p:pic>
        <p:nvPicPr>
          <p:cNvPr id="19" name="Picture 18" descr="clock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864" y="2670048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86344" y="2651760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B4551A"/>
                </a:solidFill>
              </a:rPr>
              <a:t>待建设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74864" y="3191256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数据质量与逐层核对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74864" y="3758184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74864" y="4325112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统一数据标签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74864" y="4892040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指标中心与景区自定义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74864" y="5458968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AI 共用能力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6208776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wrench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6323076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6208776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下一步　</a:t>
            </a:r>
            <a:r>
              <a:rPr sz="1300" b="0">
                <a:solidFill>
                  <a:srgbClr val="2B2F42"/>
                </a:solidFill>
              </a:rPr>
              <a:t>补维度、补质量、补实时、补标签，并把治理和 AI 能力叠加上去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目标与蓝图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一个平台，两个赋能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建设目标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总体架构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平台组件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三年三阶段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三年路线图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三年目标指标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演进鱼骨图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建设目标：四个“可”，支撑对内赋能与对外商业化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14</a:t>
            </a:r>
          </a:p>
        </p:txBody>
      </p:sp>
      <p:grpSp>
        <p:nvGrpSpPr>
          <p:cNvPr id="21400" name="素材 34"/>
          <p:cNvGrpSpPr/>
          <p:nvPr/>
        </p:nvGrpSpPr>
        <p:grpSpPr>
          <a:xfrm>
            <a:off x="914400" y="2331720"/>
            <a:ext cx="3683022" cy="3703320"/>
            <a:chOff x="432445" y="1940798"/>
            <a:chExt cx="4586553" cy="4611830"/>
          </a:xfrm>
        </p:grpSpPr>
        <p:sp>
          <p:nvSpPr>
            <p:cNvPr id="21401" name="Oval 5"/>
            <p:cNvSpPr>
              <a:spLocks noChangeArrowheads="1"/>
            </p:cNvSpPr>
            <p:nvPr/>
          </p:nvSpPr>
          <p:spPr bwMode="auto">
            <a:xfrm rot="5400000" flipV="1">
              <a:off x="766893" y="3623076"/>
              <a:ext cx="1355433" cy="1352760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402" name="Group 17"/>
            <p:cNvGrpSpPr/>
            <p:nvPr/>
          </p:nvGrpSpPr>
          <p:grpSpPr>
            <a:xfrm>
              <a:off x="2471210" y="3611046"/>
              <a:ext cx="843471" cy="117631"/>
              <a:chOff x="2735417" y="3483370"/>
              <a:chExt cx="843471" cy="117631"/>
            </a:xfrm>
          </p:grpSpPr>
          <p:sp>
            <p:nvSpPr>
              <p:cNvPr id="21403" name="Oval 7"/>
              <p:cNvSpPr>
                <a:spLocks noChangeArrowheads="1"/>
              </p:cNvSpPr>
              <p:nvPr/>
            </p:nvSpPr>
            <p:spPr bwMode="auto">
              <a:xfrm rot="5400000" flipV="1">
                <a:off x="2734749" y="3484038"/>
                <a:ext cx="117631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04" name="Rectangle 10"/>
              <p:cNvSpPr>
                <a:spLocks noChangeArrowheads="1"/>
              </p:cNvSpPr>
              <p:nvPr/>
            </p:nvSpPr>
            <p:spPr bwMode="auto">
              <a:xfrm rot="5400000" flipV="1">
                <a:off x="3163836" y="3141838"/>
                <a:ext cx="24061" cy="806042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405" name="Freeform 11"/>
            <p:cNvSpPr/>
            <p:nvPr/>
          </p:nvSpPr>
          <p:spPr bwMode="auto">
            <a:xfrm rot="5400000" flipV="1">
              <a:off x="2899629" y="3269514"/>
              <a:ext cx="24061" cy="806042"/>
            </a:xfrm>
            <a:custGeom>
              <a:avLst/>
              <a:gdLst>
                <a:gd name="T0" fmla="*/ 0 w 18"/>
                <a:gd name="T1" fmla="*/ 0 h 603"/>
                <a:gd name="T2" fmla="*/ 0 w 18"/>
                <a:gd name="T3" fmla="*/ 603 h 603"/>
                <a:gd name="T4" fmla="*/ 18 w 18"/>
                <a:gd name="T5" fmla="*/ 603 h 603"/>
                <a:gd name="T6" fmla="*/ 18 w 18"/>
                <a:gd name="T7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603">
                  <a:moveTo>
                    <a:pt x="0" y="0"/>
                  </a:moveTo>
                  <a:lnTo>
                    <a:pt x="0" y="603"/>
                  </a:lnTo>
                  <a:lnTo>
                    <a:pt x="18" y="603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  <a:latin typeface="微软雅黑"/>
                <a:ea typeface="+mn-ea"/>
              </a:endParaRPr>
            </a:p>
          </p:txBody>
        </p:sp>
        <p:grpSp>
          <p:nvGrpSpPr>
            <p:cNvPr id="21406" name="Group 91"/>
            <p:cNvGrpSpPr/>
            <p:nvPr/>
          </p:nvGrpSpPr>
          <p:grpSpPr>
            <a:xfrm>
              <a:off x="2471210" y="4913010"/>
              <a:ext cx="843471" cy="116295"/>
              <a:chOff x="2735417" y="4785334"/>
              <a:chExt cx="843471" cy="116295"/>
            </a:xfrm>
          </p:grpSpPr>
          <p:sp>
            <p:nvSpPr>
              <p:cNvPr id="21407" name="Oval 8"/>
              <p:cNvSpPr>
                <a:spLocks noChangeArrowheads="1"/>
              </p:cNvSpPr>
              <p:nvPr/>
            </p:nvSpPr>
            <p:spPr bwMode="auto">
              <a:xfrm rot="5400000" flipV="1">
                <a:off x="2735417" y="4785334"/>
                <a:ext cx="116295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08" name="Rectangle 12"/>
              <p:cNvSpPr>
                <a:spLocks noChangeArrowheads="1"/>
              </p:cNvSpPr>
              <p:nvPr/>
            </p:nvSpPr>
            <p:spPr bwMode="auto">
              <a:xfrm rot="5400000" flipV="1">
                <a:off x="3164504" y="4436451"/>
                <a:ext cx="22725" cy="806042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409" name="Freeform 13"/>
            <p:cNvSpPr/>
            <p:nvPr/>
          </p:nvSpPr>
          <p:spPr bwMode="auto">
            <a:xfrm rot="5400000" flipV="1">
              <a:off x="2900297" y="4564127"/>
              <a:ext cx="22725" cy="806042"/>
            </a:xfrm>
            <a:custGeom>
              <a:avLst/>
              <a:gdLst>
                <a:gd name="T0" fmla="*/ 0 w 17"/>
                <a:gd name="T1" fmla="*/ 0 h 603"/>
                <a:gd name="T2" fmla="*/ 0 w 17"/>
                <a:gd name="T3" fmla="*/ 603 h 603"/>
                <a:gd name="T4" fmla="*/ 17 w 17"/>
                <a:gd name="T5" fmla="*/ 603 h 603"/>
                <a:gd name="T6" fmla="*/ 17 w 17"/>
                <a:gd name="T7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603">
                  <a:moveTo>
                    <a:pt x="0" y="0"/>
                  </a:moveTo>
                  <a:lnTo>
                    <a:pt x="0" y="603"/>
                  </a:lnTo>
                  <a:lnTo>
                    <a:pt x="17" y="603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  <a:latin typeface="微软雅黑"/>
                <a:ea typeface="+mn-ea"/>
              </a:endParaRPr>
            </a:p>
          </p:txBody>
        </p:sp>
        <p:grpSp>
          <p:nvGrpSpPr>
            <p:cNvPr id="21410" name="Group 15"/>
            <p:cNvGrpSpPr/>
            <p:nvPr/>
          </p:nvGrpSpPr>
          <p:grpSpPr>
            <a:xfrm>
              <a:off x="919278" y="2428049"/>
              <a:ext cx="2480952" cy="725840"/>
              <a:chOff x="1183485" y="2300373"/>
              <a:chExt cx="2480952" cy="725840"/>
            </a:xfrm>
          </p:grpSpPr>
          <p:sp>
            <p:nvSpPr>
              <p:cNvPr id="21411" name="Oval 6"/>
              <p:cNvSpPr>
                <a:spLocks noChangeArrowheads="1"/>
              </p:cNvSpPr>
              <p:nvPr/>
            </p:nvSpPr>
            <p:spPr bwMode="auto">
              <a:xfrm rot="5400000" flipV="1">
                <a:off x="1182149" y="2908581"/>
                <a:ext cx="118968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2" name="Freeform 14"/>
              <p:cNvSpPr/>
              <p:nvPr/>
            </p:nvSpPr>
            <p:spPr bwMode="auto">
              <a:xfrm rot="5400000" flipV="1">
                <a:off x="2144587" y="1386057"/>
                <a:ext cx="605534" cy="2434166"/>
              </a:xfrm>
              <a:custGeom>
                <a:avLst/>
                <a:gdLst>
                  <a:gd name="T0" fmla="*/ 12 w 312"/>
                  <a:gd name="T1" fmla="*/ 1256 h 1256"/>
                  <a:gd name="T2" fmla="*/ 12 w 312"/>
                  <a:gd name="T3" fmla="*/ 43 h 1256"/>
                  <a:gd name="T4" fmla="*/ 19 w 312"/>
                  <a:gd name="T5" fmla="*/ 20 h 1256"/>
                  <a:gd name="T6" fmla="*/ 37 w 312"/>
                  <a:gd name="T7" fmla="*/ 12 h 1256"/>
                  <a:gd name="T8" fmla="*/ 312 w 312"/>
                  <a:gd name="T9" fmla="*/ 12 h 1256"/>
                  <a:gd name="T10" fmla="*/ 312 w 312"/>
                  <a:gd name="T11" fmla="*/ 0 h 1256"/>
                  <a:gd name="T12" fmla="*/ 37 w 312"/>
                  <a:gd name="T13" fmla="*/ 0 h 1256"/>
                  <a:gd name="T14" fmla="*/ 10 w 312"/>
                  <a:gd name="T15" fmla="*/ 13 h 1256"/>
                  <a:gd name="T16" fmla="*/ 0 w 312"/>
                  <a:gd name="T17" fmla="*/ 43 h 1256"/>
                  <a:gd name="T18" fmla="*/ 0 w 312"/>
                  <a:gd name="T19" fmla="*/ 1256 h 1256"/>
                  <a:gd name="T20" fmla="*/ 12 w 312"/>
                  <a:gd name="T21" fmla="*/ 1256 h 1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2" h="1256">
                    <a:moveTo>
                      <a:pt x="12" y="1256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2" y="33"/>
                      <a:pt x="15" y="26"/>
                      <a:pt x="19" y="20"/>
                    </a:cubicBezTo>
                    <a:cubicBezTo>
                      <a:pt x="24" y="15"/>
                      <a:pt x="29" y="12"/>
                      <a:pt x="37" y="12"/>
                    </a:cubicBezTo>
                    <a:cubicBezTo>
                      <a:pt x="312" y="12"/>
                      <a:pt x="312" y="12"/>
                      <a:pt x="312" y="12"/>
                    </a:cubicBezTo>
                    <a:cubicBezTo>
                      <a:pt x="312" y="0"/>
                      <a:pt x="312" y="0"/>
                      <a:pt x="312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6" y="0"/>
                      <a:pt x="16" y="5"/>
                      <a:pt x="10" y="13"/>
                    </a:cubicBezTo>
                    <a:cubicBezTo>
                      <a:pt x="3" y="20"/>
                      <a:pt x="0" y="31"/>
                      <a:pt x="0" y="43"/>
                    </a:cubicBezTo>
                    <a:cubicBezTo>
                      <a:pt x="0" y="1256"/>
                      <a:pt x="0" y="1256"/>
                      <a:pt x="0" y="1256"/>
                    </a:cubicBezTo>
                    <a:lnTo>
                      <a:pt x="12" y="1256"/>
                    </a:lnTo>
                    <a:close/>
                  </a:path>
                </a:pathLst>
              </a:cu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3" name="Group 104"/>
            <p:cNvGrpSpPr/>
            <p:nvPr/>
          </p:nvGrpSpPr>
          <p:grpSpPr>
            <a:xfrm>
              <a:off x="919279" y="5422301"/>
              <a:ext cx="2480952" cy="664348"/>
              <a:chOff x="1183486" y="5294625"/>
              <a:chExt cx="2480952" cy="664348"/>
            </a:xfrm>
          </p:grpSpPr>
          <p:sp>
            <p:nvSpPr>
              <p:cNvPr id="21414" name="Oval 9"/>
              <p:cNvSpPr>
                <a:spLocks noChangeArrowheads="1"/>
              </p:cNvSpPr>
              <p:nvPr/>
            </p:nvSpPr>
            <p:spPr bwMode="auto">
              <a:xfrm rot="5400000" flipV="1">
                <a:off x="1183486" y="5294625"/>
                <a:ext cx="116295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5" name="Freeform 15"/>
              <p:cNvSpPr/>
              <p:nvPr/>
            </p:nvSpPr>
            <p:spPr bwMode="auto">
              <a:xfrm rot="5400000" flipV="1">
                <a:off x="2145256" y="4439792"/>
                <a:ext cx="604197" cy="2434166"/>
              </a:xfrm>
              <a:custGeom>
                <a:avLst/>
                <a:gdLst>
                  <a:gd name="T0" fmla="*/ 312 w 312"/>
                  <a:gd name="T1" fmla="*/ 1256 h 1256"/>
                  <a:gd name="T2" fmla="*/ 312 w 312"/>
                  <a:gd name="T3" fmla="*/ 43 h 1256"/>
                  <a:gd name="T4" fmla="*/ 301 w 312"/>
                  <a:gd name="T5" fmla="*/ 12 h 1256"/>
                  <a:gd name="T6" fmla="*/ 273 w 312"/>
                  <a:gd name="T7" fmla="*/ 0 h 1256"/>
                  <a:gd name="T8" fmla="*/ 0 w 312"/>
                  <a:gd name="T9" fmla="*/ 0 h 1256"/>
                  <a:gd name="T10" fmla="*/ 0 w 312"/>
                  <a:gd name="T11" fmla="*/ 12 h 1256"/>
                  <a:gd name="T12" fmla="*/ 273 w 312"/>
                  <a:gd name="T13" fmla="*/ 12 h 1256"/>
                  <a:gd name="T14" fmla="*/ 292 w 312"/>
                  <a:gd name="T15" fmla="*/ 20 h 1256"/>
                  <a:gd name="T16" fmla="*/ 300 w 312"/>
                  <a:gd name="T17" fmla="*/ 43 h 1256"/>
                  <a:gd name="T18" fmla="*/ 300 w 312"/>
                  <a:gd name="T19" fmla="*/ 1256 h 1256"/>
                  <a:gd name="T20" fmla="*/ 312 w 312"/>
                  <a:gd name="T21" fmla="*/ 1256 h 1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2" h="1256">
                    <a:moveTo>
                      <a:pt x="312" y="1256"/>
                    </a:moveTo>
                    <a:cubicBezTo>
                      <a:pt x="312" y="43"/>
                      <a:pt x="312" y="43"/>
                      <a:pt x="312" y="43"/>
                    </a:cubicBezTo>
                    <a:cubicBezTo>
                      <a:pt x="312" y="31"/>
                      <a:pt x="308" y="20"/>
                      <a:pt x="301" y="12"/>
                    </a:cubicBezTo>
                    <a:cubicBezTo>
                      <a:pt x="294" y="5"/>
                      <a:pt x="284" y="0"/>
                      <a:pt x="2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73" y="12"/>
                      <a:pt x="273" y="12"/>
                      <a:pt x="273" y="12"/>
                    </a:cubicBezTo>
                    <a:cubicBezTo>
                      <a:pt x="281" y="12"/>
                      <a:pt x="287" y="15"/>
                      <a:pt x="292" y="20"/>
                    </a:cubicBezTo>
                    <a:cubicBezTo>
                      <a:pt x="297" y="26"/>
                      <a:pt x="300" y="33"/>
                      <a:pt x="300" y="43"/>
                    </a:cubicBezTo>
                    <a:cubicBezTo>
                      <a:pt x="300" y="1256"/>
                      <a:pt x="300" y="1256"/>
                      <a:pt x="300" y="1256"/>
                    </a:cubicBezTo>
                    <a:lnTo>
                      <a:pt x="312" y="1256"/>
                    </a:lnTo>
                    <a:close/>
                  </a:path>
                </a:pathLst>
              </a:cu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6" name="Group 36"/>
            <p:cNvGrpSpPr/>
            <p:nvPr/>
          </p:nvGrpSpPr>
          <p:grpSpPr>
            <a:xfrm rot="5400000" flipV="1">
              <a:off x="3507836" y="1390738"/>
              <a:ext cx="961102" cy="2061222"/>
              <a:chOff x="3638550" y="3703638"/>
              <a:chExt cx="1141413" cy="2447926"/>
            </a:xfrm>
          </p:grpSpPr>
          <p:sp>
            <p:nvSpPr>
              <p:cNvPr id="21417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8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19" name="Freeform 22"/>
              <p:cNvSpPr/>
              <p:nvPr/>
            </p:nvSpPr>
            <p:spPr bwMode="auto">
              <a:xfrm>
                <a:off x="3783013" y="4084639"/>
                <a:ext cx="857251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776CFD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0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1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2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3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4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5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776CFD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6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7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8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9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01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0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1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2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3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</p:grpSp>
        <p:grpSp>
          <p:nvGrpSpPr>
            <p:cNvPr id="21434" name="Group 37"/>
            <p:cNvGrpSpPr/>
            <p:nvPr/>
          </p:nvGrpSpPr>
          <p:grpSpPr>
            <a:xfrm rot="5400000" flipV="1">
              <a:off x="3507836" y="2623861"/>
              <a:ext cx="961102" cy="2061221"/>
              <a:chOff x="3638550" y="3703638"/>
              <a:chExt cx="1141413" cy="2447925"/>
            </a:xfrm>
          </p:grpSpPr>
          <p:sp>
            <p:nvSpPr>
              <p:cNvPr id="21435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36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7" name="Freeform 22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5D95F1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38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9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0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1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42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3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5D95F1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4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5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6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7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02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8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9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0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1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</p:grpSp>
        <p:grpSp>
          <p:nvGrpSpPr>
            <p:cNvPr id="21452" name="Group 55"/>
            <p:cNvGrpSpPr/>
            <p:nvPr/>
          </p:nvGrpSpPr>
          <p:grpSpPr>
            <a:xfrm rot="5400000" flipV="1">
              <a:off x="3507836" y="3920478"/>
              <a:ext cx="961102" cy="2061221"/>
              <a:chOff x="3638550" y="3703638"/>
              <a:chExt cx="1141413" cy="2447925"/>
            </a:xfrm>
          </p:grpSpPr>
          <p:sp>
            <p:nvSpPr>
              <p:cNvPr id="21453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54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5" name="Freeform 22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655BE6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56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7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8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9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60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1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655BE6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2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3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4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5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03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6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7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8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9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</p:grpSp>
        <p:grpSp>
          <p:nvGrpSpPr>
            <p:cNvPr id="21470" name="Group 73"/>
            <p:cNvGrpSpPr/>
            <p:nvPr/>
          </p:nvGrpSpPr>
          <p:grpSpPr>
            <a:xfrm rot="5400000" flipV="1">
              <a:off x="3507836" y="5041467"/>
              <a:ext cx="961102" cy="2061221"/>
              <a:chOff x="3638550" y="3703638"/>
              <a:chExt cx="1141413" cy="2447925"/>
            </a:xfrm>
          </p:grpSpPr>
          <p:sp>
            <p:nvSpPr>
              <p:cNvPr id="21471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72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3" name="Freeform 22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F08A3C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74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5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6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7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78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9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F08A3C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0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1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2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3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04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4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5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6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7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</p:grpSp>
        <p:grpSp>
          <p:nvGrpSpPr>
            <p:cNvPr id="21488" name="Group 121"/>
            <p:cNvGrpSpPr/>
            <p:nvPr/>
          </p:nvGrpSpPr>
          <p:grpSpPr>
            <a:xfrm>
              <a:off x="432445" y="3300927"/>
              <a:ext cx="2037429" cy="2002406"/>
              <a:chOff x="696652" y="3173251"/>
              <a:chExt cx="2037429" cy="2002406"/>
            </a:xfrm>
          </p:grpSpPr>
          <p:grpSp>
            <p:nvGrpSpPr>
              <p:cNvPr id="21489" name="Group 92"/>
              <p:cNvGrpSpPr/>
              <p:nvPr/>
            </p:nvGrpSpPr>
            <p:grpSpPr>
              <a:xfrm rot="5400000" flipV="1">
                <a:off x="1218909" y="3660485"/>
                <a:ext cx="2002406" cy="1027938"/>
                <a:chOff x="5245100" y="1903413"/>
                <a:chExt cx="2378076" cy="1220788"/>
              </a:xfrm>
            </p:grpSpPr>
            <p:sp>
              <p:nvSpPr>
                <p:cNvPr id="21490" name="Freeform 17"/>
                <p:cNvSpPr/>
                <p:nvPr/>
              </p:nvSpPr>
              <p:spPr bwMode="auto">
                <a:xfrm>
                  <a:off x="5245100" y="1903413"/>
                  <a:ext cx="1189038" cy="1220788"/>
                </a:xfrm>
                <a:custGeom>
                  <a:avLst/>
                  <a:gdLst>
                    <a:gd name="T0" fmla="*/ 0 w 517"/>
                    <a:gd name="T1" fmla="*/ 0 h 530"/>
                    <a:gd name="T2" fmla="*/ 0 w 517"/>
                    <a:gd name="T3" fmla="*/ 4 h 530"/>
                    <a:gd name="T4" fmla="*/ 517 w 517"/>
                    <a:gd name="T5" fmla="*/ 530 h 530"/>
                    <a:gd name="T6" fmla="*/ 517 w 517"/>
                    <a:gd name="T7" fmla="*/ 429 h 530"/>
                    <a:gd name="T8" fmla="*/ 101 w 517"/>
                    <a:gd name="T9" fmla="*/ 4 h 530"/>
                    <a:gd name="T10" fmla="*/ 101 w 517"/>
                    <a:gd name="T11" fmla="*/ 0 h 530"/>
                    <a:gd name="T12" fmla="*/ 0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0" y="0"/>
                      </a:moveTo>
                      <a:cubicBezTo>
                        <a:pt x="0" y="1"/>
                        <a:pt x="0" y="3"/>
                        <a:pt x="0" y="4"/>
                      </a:cubicBezTo>
                      <a:cubicBezTo>
                        <a:pt x="0" y="292"/>
                        <a:pt x="231" y="526"/>
                        <a:pt x="517" y="530"/>
                      </a:cubicBezTo>
                      <a:cubicBezTo>
                        <a:pt x="517" y="429"/>
                        <a:pt x="517" y="429"/>
                        <a:pt x="517" y="429"/>
                      </a:cubicBezTo>
                      <a:cubicBezTo>
                        <a:pt x="287" y="424"/>
                        <a:pt x="101" y="236"/>
                        <a:pt x="101" y="4"/>
                      </a:cubicBezTo>
                      <a:cubicBezTo>
                        <a:pt x="101" y="3"/>
                        <a:pt x="101" y="1"/>
                        <a:pt x="10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6C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1491" name="Freeform 19"/>
                <p:cNvSpPr/>
                <p:nvPr/>
              </p:nvSpPr>
              <p:spPr bwMode="auto">
                <a:xfrm>
                  <a:off x="6434138" y="1903413"/>
                  <a:ext cx="1189038" cy="1220788"/>
                </a:xfrm>
                <a:custGeom>
                  <a:avLst/>
                  <a:gdLst>
                    <a:gd name="T0" fmla="*/ 517 w 517"/>
                    <a:gd name="T1" fmla="*/ 0 h 530"/>
                    <a:gd name="T2" fmla="*/ 517 w 517"/>
                    <a:gd name="T3" fmla="*/ 4 h 530"/>
                    <a:gd name="T4" fmla="*/ 0 w 517"/>
                    <a:gd name="T5" fmla="*/ 530 h 530"/>
                    <a:gd name="T6" fmla="*/ 0 w 517"/>
                    <a:gd name="T7" fmla="*/ 429 h 530"/>
                    <a:gd name="T8" fmla="*/ 416 w 517"/>
                    <a:gd name="T9" fmla="*/ 4 h 530"/>
                    <a:gd name="T10" fmla="*/ 416 w 517"/>
                    <a:gd name="T11" fmla="*/ 0 h 530"/>
                    <a:gd name="T12" fmla="*/ 517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517" y="0"/>
                      </a:moveTo>
                      <a:cubicBezTo>
                        <a:pt x="517" y="1"/>
                        <a:pt x="517" y="3"/>
                        <a:pt x="517" y="4"/>
                      </a:cubicBezTo>
                      <a:cubicBezTo>
                        <a:pt x="517" y="292"/>
                        <a:pt x="287" y="526"/>
                        <a:pt x="0" y="530"/>
                      </a:cubicBezTo>
                      <a:cubicBezTo>
                        <a:pt x="0" y="429"/>
                        <a:pt x="0" y="429"/>
                        <a:pt x="0" y="429"/>
                      </a:cubicBezTo>
                      <a:cubicBezTo>
                        <a:pt x="231" y="424"/>
                        <a:pt x="416" y="236"/>
                        <a:pt x="416" y="4"/>
                      </a:cubicBezTo>
                      <a:cubicBezTo>
                        <a:pt x="416" y="3"/>
                        <a:pt x="416" y="1"/>
                        <a:pt x="416" y="0"/>
                      </a:cubicBezTo>
                      <a:lnTo>
                        <a:pt x="517" y="0"/>
                      </a:lnTo>
                      <a:close/>
                    </a:path>
                  </a:pathLst>
                </a:custGeom>
                <a:solidFill>
                  <a:srgbClr val="5D95F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21492" name="Group 96"/>
              <p:cNvGrpSpPr/>
              <p:nvPr/>
            </p:nvGrpSpPr>
            <p:grpSpPr>
              <a:xfrm rot="5400000">
                <a:off x="209419" y="3660485"/>
                <a:ext cx="2002405" cy="1027939"/>
                <a:chOff x="5245101" y="1903412"/>
                <a:chExt cx="2378075" cy="1220789"/>
              </a:xfrm>
            </p:grpSpPr>
            <p:sp>
              <p:nvSpPr>
                <p:cNvPr id="21493" name="Freeform 17"/>
                <p:cNvSpPr/>
                <p:nvPr/>
              </p:nvSpPr>
              <p:spPr bwMode="auto">
                <a:xfrm>
                  <a:off x="5245101" y="1903412"/>
                  <a:ext cx="1189038" cy="1220788"/>
                </a:xfrm>
                <a:custGeom>
                  <a:avLst/>
                  <a:gdLst>
                    <a:gd name="T0" fmla="*/ 0 w 517"/>
                    <a:gd name="T1" fmla="*/ 0 h 530"/>
                    <a:gd name="T2" fmla="*/ 0 w 517"/>
                    <a:gd name="T3" fmla="*/ 4 h 530"/>
                    <a:gd name="T4" fmla="*/ 517 w 517"/>
                    <a:gd name="T5" fmla="*/ 530 h 530"/>
                    <a:gd name="T6" fmla="*/ 517 w 517"/>
                    <a:gd name="T7" fmla="*/ 429 h 530"/>
                    <a:gd name="T8" fmla="*/ 101 w 517"/>
                    <a:gd name="T9" fmla="*/ 4 h 530"/>
                    <a:gd name="T10" fmla="*/ 101 w 517"/>
                    <a:gd name="T11" fmla="*/ 0 h 530"/>
                    <a:gd name="T12" fmla="*/ 0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0" y="0"/>
                      </a:moveTo>
                      <a:cubicBezTo>
                        <a:pt x="0" y="1"/>
                        <a:pt x="0" y="3"/>
                        <a:pt x="0" y="4"/>
                      </a:cubicBezTo>
                      <a:cubicBezTo>
                        <a:pt x="0" y="292"/>
                        <a:pt x="231" y="526"/>
                        <a:pt x="517" y="530"/>
                      </a:cubicBezTo>
                      <a:cubicBezTo>
                        <a:pt x="517" y="429"/>
                        <a:pt x="517" y="429"/>
                        <a:pt x="517" y="429"/>
                      </a:cubicBezTo>
                      <a:cubicBezTo>
                        <a:pt x="287" y="424"/>
                        <a:pt x="101" y="236"/>
                        <a:pt x="101" y="4"/>
                      </a:cubicBezTo>
                      <a:cubicBezTo>
                        <a:pt x="101" y="3"/>
                        <a:pt x="101" y="1"/>
                        <a:pt x="10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55BE6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  <p:sp>
              <p:nvSpPr>
                <p:cNvPr id="21494" name="Freeform 19"/>
                <p:cNvSpPr/>
                <p:nvPr/>
              </p:nvSpPr>
              <p:spPr bwMode="auto">
                <a:xfrm>
                  <a:off x="6434138" y="1903413"/>
                  <a:ext cx="1189038" cy="1220788"/>
                </a:xfrm>
                <a:custGeom>
                  <a:avLst/>
                  <a:gdLst>
                    <a:gd name="T0" fmla="*/ 517 w 517"/>
                    <a:gd name="T1" fmla="*/ 0 h 530"/>
                    <a:gd name="T2" fmla="*/ 517 w 517"/>
                    <a:gd name="T3" fmla="*/ 4 h 530"/>
                    <a:gd name="T4" fmla="*/ 0 w 517"/>
                    <a:gd name="T5" fmla="*/ 530 h 530"/>
                    <a:gd name="T6" fmla="*/ 0 w 517"/>
                    <a:gd name="T7" fmla="*/ 429 h 530"/>
                    <a:gd name="T8" fmla="*/ 416 w 517"/>
                    <a:gd name="T9" fmla="*/ 4 h 530"/>
                    <a:gd name="T10" fmla="*/ 416 w 517"/>
                    <a:gd name="T11" fmla="*/ 0 h 530"/>
                    <a:gd name="T12" fmla="*/ 517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517" y="0"/>
                      </a:moveTo>
                      <a:cubicBezTo>
                        <a:pt x="517" y="1"/>
                        <a:pt x="517" y="3"/>
                        <a:pt x="517" y="4"/>
                      </a:cubicBezTo>
                      <a:cubicBezTo>
                        <a:pt x="517" y="292"/>
                        <a:pt x="287" y="526"/>
                        <a:pt x="0" y="530"/>
                      </a:cubicBezTo>
                      <a:cubicBezTo>
                        <a:pt x="0" y="429"/>
                        <a:pt x="0" y="429"/>
                        <a:pt x="0" y="429"/>
                      </a:cubicBezTo>
                      <a:cubicBezTo>
                        <a:pt x="231" y="424"/>
                        <a:pt x="416" y="236"/>
                        <a:pt x="416" y="4"/>
                      </a:cubicBezTo>
                      <a:cubicBezTo>
                        <a:pt x="416" y="3"/>
                        <a:pt x="416" y="1"/>
                        <a:pt x="416" y="0"/>
                      </a:cubicBezTo>
                      <a:lnTo>
                        <a:pt x="517" y="0"/>
                      </a:lnTo>
                      <a:close/>
                    </a:path>
                  </a:pathLst>
                </a:custGeom>
                <a:solidFill>
                  <a:srgbClr val="F08A3C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21495" name="Freeform 264"/>
            <p:cNvSpPr>
              <a:spLocks noEditPoints="1"/>
            </p:cNvSpPr>
            <p:nvPr/>
          </p:nvSpPr>
          <p:spPr bwMode="auto">
            <a:xfrm>
              <a:off x="1044010" y="3898858"/>
              <a:ext cx="801198" cy="801196"/>
            </a:xfrm>
            <a:custGeom>
              <a:avLst/>
              <a:gdLst>
                <a:gd name="T0" fmla="*/ 1036 w 3366"/>
                <a:gd name="T1" fmla="*/ 2650 h 3366"/>
                <a:gd name="T2" fmla="*/ 938 w 3366"/>
                <a:gd name="T3" fmla="*/ 187 h 3366"/>
                <a:gd name="T4" fmla="*/ 759 w 3366"/>
                <a:gd name="T5" fmla="*/ 343 h 3366"/>
                <a:gd name="T6" fmla="*/ 549 w 3366"/>
                <a:gd name="T7" fmla="*/ 514 h 3366"/>
                <a:gd name="T8" fmla="*/ 310 w 3366"/>
                <a:gd name="T9" fmla="*/ 679 h 3366"/>
                <a:gd name="T10" fmla="*/ 168 w 3366"/>
                <a:gd name="T11" fmla="*/ 932 h 3366"/>
                <a:gd name="T12" fmla="*/ 154 w 3366"/>
                <a:gd name="T13" fmla="*/ 1233 h 3366"/>
                <a:gd name="T14" fmla="*/ 273 w 3366"/>
                <a:gd name="T15" fmla="*/ 1500 h 3366"/>
                <a:gd name="T16" fmla="*/ 495 w 3366"/>
                <a:gd name="T17" fmla="*/ 1686 h 3366"/>
                <a:gd name="T18" fmla="*/ 785 w 3366"/>
                <a:gd name="T19" fmla="*/ 1755 h 3366"/>
                <a:gd name="T20" fmla="*/ 2973 w 3366"/>
                <a:gd name="T21" fmla="*/ 1712 h 3366"/>
                <a:gd name="T22" fmla="*/ 3150 w 3366"/>
                <a:gd name="T23" fmla="*/ 1553 h 3366"/>
                <a:gd name="T24" fmla="*/ 3217 w 3366"/>
                <a:gd name="T25" fmla="*/ 1318 h 3366"/>
                <a:gd name="T26" fmla="*/ 3150 w 3366"/>
                <a:gd name="T27" fmla="*/ 1083 h 3366"/>
                <a:gd name="T28" fmla="*/ 2973 w 3366"/>
                <a:gd name="T29" fmla="*/ 925 h 3366"/>
                <a:gd name="T30" fmla="*/ 2751 w 3366"/>
                <a:gd name="T31" fmla="*/ 882 h 3366"/>
                <a:gd name="T32" fmla="*/ 2614 w 3366"/>
                <a:gd name="T33" fmla="*/ 910 h 3366"/>
                <a:gd name="T34" fmla="*/ 2540 w 3366"/>
                <a:gd name="T35" fmla="*/ 937 h 3366"/>
                <a:gd name="T36" fmla="*/ 2547 w 3366"/>
                <a:gd name="T37" fmla="*/ 898 h 3366"/>
                <a:gd name="T38" fmla="*/ 2559 w 3366"/>
                <a:gd name="T39" fmla="*/ 767 h 3366"/>
                <a:gd name="T40" fmla="*/ 2486 w 3366"/>
                <a:gd name="T41" fmla="*/ 481 h 3366"/>
                <a:gd name="T42" fmla="*/ 2293 w 3366"/>
                <a:gd name="T43" fmla="*/ 268 h 3366"/>
                <a:gd name="T44" fmla="*/ 2020 w 3366"/>
                <a:gd name="T45" fmla="*/ 168 h 3366"/>
                <a:gd name="T46" fmla="*/ 1787 w 3366"/>
                <a:gd name="T47" fmla="*/ 191 h 3366"/>
                <a:gd name="T48" fmla="*/ 1627 w 3366"/>
                <a:gd name="T49" fmla="*/ 266 h 3366"/>
                <a:gd name="T50" fmla="*/ 1537 w 3366"/>
                <a:gd name="T51" fmla="*/ 336 h 3366"/>
                <a:gd name="T52" fmla="*/ 1515 w 3366"/>
                <a:gd name="T53" fmla="*/ 343 h 3366"/>
                <a:gd name="T54" fmla="*/ 1447 w 3366"/>
                <a:gd name="T55" fmla="*/ 274 h 3366"/>
                <a:gd name="T56" fmla="*/ 1314 w 3366"/>
                <a:gd name="T57" fmla="*/ 187 h 3366"/>
                <a:gd name="T58" fmla="*/ 1129 w 3366"/>
                <a:gd name="T59" fmla="*/ 144 h 3366"/>
                <a:gd name="T60" fmla="*/ 1346 w 3366"/>
                <a:gd name="T61" fmla="*/ 40 h 3366"/>
                <a:gd name="T62" fmla="*/ 1583 w 3366"/>
                <a:gd name="T63" fmla="*/ 116 h 3366"/>
                <a:gd name="T64" fmla="*/ 1891 w 3366"/>
                <a:gd name="T65" fmla="*/ 18 h 3366"/>
                <a:gd name="T66" fmla="*/ 2212 w 3366"/>
                <a:gd name="T67" fmla="*/ 60 h 3366"/>
                <a:gd name="T68" fmla="*/ 2477 w 3366"/>
                <a:gd name="T69" fmla="*/ 227 h 3366"/>
                <a:gd name="T70" fmla="*/ 2651 w 3366"/>
                <a:gd name="T71" fmla="*/ 489 h 3366"/>
                <a:gd name="T72" fmla="*/ 2730 w 3366"/>
                <a:gd name="T73" fmla="*/ 741 h 3366"/>
                <a:gd name="T74" fmla="*/ 2960 w 3366"/>
                <a:gd name="T75" fmla="*/ 764 h 3366"/>
                <a:gd name="T76" fmla="*/ 3197 w 3366"/>
                <a:gd name="T77" fmla="*/ 908 h 3366"/>
                <a:gd name="T78" fmla="*/ 3341 w 3366"/>
                <a:gd name="T79" fmla="*/ 1145 h 3366"/>
                <a:gd name="T80" fmla="*/ 3354 w 3366"/>
                <a:gd name="T81" fmla="*/ 1435 h 3366"/>
                <a:gd name="T82" fmla="*/ 3231 w 3366"/>
                <a:gd name="T83" fmla="*/ 1688 h 3366"/>
                <a:gd name="T84" fmla="*/ 3007 w 3366"/>
                <a:gd name="T85" fmla="*/ 1852 h 3366"/>
                <a:gd name="T86" fmla="*/ 1751 w 3366"/>
                <a:gd name="T87" fmla="*/ 1898 h 3366"/>
                <a:gd name="T88" fmla="*/ 3287 w 3366"/>
                <a:gd name="T89" fmla="*/ 3008 h 3366"/>
                <a:gd name="T90" fmla="*/ 71 w 3366"/>
                <a:gd name="T91" fmla="*/ 3008 h 3366"/>
                <a:gd name="T92" fmla="*/ 1608 w 3366"/>
                <a:gd name="T93" fmla="*/ 1898 h 3366"/>
                <a:gd name="T94" fmla="*/ 511 w 3366"/>
                <a:gd name="T95" fmla="*/ 1849 h 3366"/>
                <a:gd name="T96" fmla="*/ 230 w 3366"/>
                <a:gd name="T97" fmla="*/ 1668 h 3366"/>
                <a:gd name="T98" fmla="*/ 49 w 3366"/>
                <a:gd name="T99" fmla="*/ 1386 h 3366"/>
                <a:gd name="T100" fmla="*/ 3 w 3366"/>
                <a:gd name="T101" fmla="*/ 1042 h 3366"/>
                <a:gd name="T102" fmla="*/ 98 w 3366"/>
                <a:gd name="T103" fmla="*/ 729 h 3366"/>
                <a:gd name="T104" fmla="*/ 306 w 3366"/>
                <a:gd name="T105" fmla="*/ 486 h 3366"/>
                <a:gd name="T106" fmla="*/ 601 w 3366"/>
                <a:gd name="T107" fmla="*/ 344 h 3366"/>
                <a:gd name="T108" fmla="*/ 772 w 3366"/>
                <a:gd name="T109" fmla="*/ 126 h 3366"/>
                <a:gd name="T110" fmla="*/ 1023 w 3366"/>
                <a:gd name="T111" fmla="*/ 11 h 3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66" h="3366">
                  <a:moveTo>
                    <a:pt x="1036" y="2650"/>
                  </a:moveTo>
                  <a:lnTo>
                    <a:pt x="1036" y="3222"/>
                  </a:lnTo>
                  <a:lnTo>
                    <a:pt x="2323" y="3222"/>
                  </a:lnTo>
                  <a:lnTo>
                    <a:pt x="2323" y="2650"/>
                  </a:lnTo>
                  <a:lnTo>
                    <a:pt x="1036" y="2650"/>
                  </a:lnTo>
                  <a:close/>
                  <a:moveTo>
                    <a:pt x="1129" y="144"/>
                  </a:moveTo>
                  <a:lnTo>
                    <a:pt x="1078" y="146"/>
                  </a:lnTo>
                  <a:lnTo>
                    <a:pt x="1030" y="155"/>
                  </a:lnTo>
                  <a:lnTo>
                    <a:pt x="983" y="168"/>
                  </a:lnTo>
                  <a:lnTo>
                    <a:pt x="938" y="187"/>
                  </a:lnTo>
                  <a:lnTo>
                    <a:pt x="897" y="209"/>
                  </a:lnTo>
                  <a:lnTo>
                    <a:pt x="857" y="237"/>
                  </a:lnTo>
                  <a:lnTo>
                    <a:pt x="821" y="268"/>
                  </a:lnTo>
                  <a:lnTo>
                    <a:pt x="787" y="303"/>
                  </a:lnTo>
                  <a:lnTo>
                    <a:pt x="759" y="343"/>
                  </a:lnTo>
                  <a:lnTo>
                    <a:pt x="734" y="385"/>
                  </a:lnTo>
                  <a:lnTo>
                    <a:pt x="714" y="430"/>
                  </a:lnTo>
                  <a:lnTo>
                    <a:pt x="664" y="480"/>
                  </a:lnTo>
                  <a:lnTo>
                    <a:pt x="606" y="495"/>
                  </a:lnTo>
                  <a:lnTo>
                    <a:pt x="549" y="514"/>
                  </a:lnTo>
                  <a:lnTo>
                    <a:pt x="495" y="538"/>
                  </a:lnTo>
                  <a:lnTo>
                    <a:pt x="444" y="567"/>
                  </a:lnTo>
                  <a:lnTo>
                    <a:pt x="396" y="601"/>
                  </a:lnTo>
                  <a:lnTo>
                    <a:pt x="351" y="638"/>
                  </a:lnTo>
                  <a:lnTo>
                    <a:pt x="310" y="679"/>
                  </a:lnTo>
                  <a:lnTo>
                    <a:pt x="273" y="724"/>
                  </a:lnTo>
                  <a:lnTo>
                    <a:pt x="240" y="772"/>
                  </a:lnTo>
                  <a:lnTo>
                    <a:pt x="211" y="823"/>
                  </a:lnTo>
                  <a:lnTo>
                    <a:pt x="188" y="876"/>
                  </a:lnTo>
                  <a:lnTo>
                    <a:pt x="168" y="932"/>
                  </a:lnTo>
                  <a:lnTo>
                    <a:pt x="154" y="989"/>
                  </a:lnTo>
                  <a:lnTo>
                    <a:pt x="146" y="1050"/>
                  </a:lnTo>
                  <a:lnTo>
                    <a:pt x="143" y="1110"/>
                  </a:lnTo>
                  <a:lnTo>
                    <a:pt x="146" y="1172"/>
                  </a:lnTo>
                  <a:lnTo>
                    <a:pt x="154" y="1233"/>
                  </a:lnTo>
                  <a:lnTo>
                    <a:pt x="168" y="1291"/>
                  </a:lnTo>
                  <a:lnTo>
                    <a:pt x="188" y="1348"/>
                  </a:lnTo>
                  <a:lnTo>
                    <a:pt x="211" y="1401"/>
                  </a:lnTo>
                  <a:lnTo>
                    <a:pt x="241" y="1452"/>
                  </a:lnTo>
                  <a:lnTo>
                    <a:pt x="273" y="1500"/>
                  </a:lnTo>
                  <a:lnTo>
                    <a:pt x="310" y="1545"/>
                  </a:lnTo>
                  <a:lnTo>
                    <a:pt x="351" y="1587"/>
                  </a:lnTo>
                  <a:lnTo>
                    <a:pt x="396" y="1624"/>
                  </a:lnTo>
                  <a:lnTo>
                    <a:pt x="444" y="1658"/>
                  </a:lnTo>
                  <a:lnTo>
                    <a:pt x="495" y="1686"/>
                  </a:lnTo>
                  <a:lnTo>
                    <a:pt x="549" y="1710"/>
                  </a:lnTo>
                  <a:lnTo>
                    <a:pt x="605" y="1729"/>
                  </a:lnTo>
                  <a:lnTo>
                    <a:pt x="663" y="1743"/>
                  </a:lnTo>
                  <a:lnTo>
                    <a:pt x="723" y="1752"/>
                  </a:lnTo>
                  <a:lnTo>
                    <a:pt x="785" y="1755"/>
                  </a:lnTo>
                  <a:lnTo>
                    <a:pt x="2781" y="1755"/>
                  </a:lnTo>
                  <a:lnTo>
                    <a:pt x="2832" y="1752"/>
                  </a:lnTo>
                  <a:lnTo>
                    <a:pt x="2882" y="1744"/>
                  </a:lnTo>
                  <a:lnTo>
                    <a:pt x="2928" y="1730"/>
                  </a:lnTo>
                  <a:lnTo>
                    <a:pt x="2973" y="1712"/>
                  </a:lnTo>
                  <a:lnTo>
                    <a:pt x="3015" y="1688"/>
                  </a:lnTo>
                  <a:lnTo>
                    <a:pt x="3055" y="1660"/>
                  </a:lnTo>
                  <a:lnTo>
                    <a:pt x="3090" y="1628"/>
                  </a:lnTo>
                  <a:lnTo>
                    <a:pt x="3122" y="1592"/>
                  </a:lnTo>
                  <a:lnTo>
                    <a:pt x="3150" y="1553"/>
                  </a:lnTo>
                  <a:lnTo>
                    <a:pt x="3173" y="1512"/>
                  </a:lnTo>
                  <a:lnTo>
                    <a:pt x="3192" y="1467"/>
                  </a:lnTo>
                  <a:lnTo>
                    <a:pt x="3206" y="1419"/>
                  </a:lnTo>
                  <a:lnTo>
                    <a:pt x="3214" y="1370"/>
                  </a:lnTo>
                  <a:lnTo>
                    <a:pt x="3217" y="1318"/>
                  </a:lnTo>
                  <a:lnTo>
                    <a:pt x="3214" y="1267"/>
                  </a:lnTo>
                  <a:lnTo>
                    <a:pt x="3206" y="1217"/>
                  </a:lnTo>
                  <a:lnTo>
                    <a:pt x="3192" y="1170"/>
                  </a:lnTo>
                  <a:lnTo>
                    <a:pt x="3173" y="1125"/>
                  </a:lnTo>
                  <a:lnTo>
                    <a:pt x="3150" y="1083"/>
                  </a:lnTo>
                  <a:lnTo>
                    <a:pt x="3122" y="1043"/>
                  </a:lnTo>
                  <a:lnTo>
                    <a:pt x="3090" y="1009"/>
                  </a:lnTo>
                  <a:lnTo>
                    <a:pt x="3055" y="976"/>
                  </a:lnTo>
                  <a:lnTo>
                    <a:pt x="3015" y="949"/>
                  </a:lnTo>
                  <a:lnTo>
                    <a:pt x="2973" y="925"/>
                  </a:lnTo>
                  <a:lnTo>
                    <a:pt x="2928" y="907"/>
                  </a:lnTo>
                  <a:lnTo>
                    <a:pt x="2882" y="893"/>
                  </a:lnTo>
                  <a:lnTo>
                    <a:pt x="2832" y="884"/>
                  </a:lnTo>
                  <a:lnTo>
                    <a:pt x="2781" y="881"/>
                  </a:lnTo>
                  <a:lnTo>
                    <a:pt x="2751" y="882"/>
                  </a:lnTo>
                  <a:lnTo>
                    <a:pt x="2721" y="885"/>
                  </a:lnTo>
                  <a:lnTo>
                    <a:pt x="2692" y="890"/>
                  </a:lnTo>
                  <a:lnTo>
                    <a:pt x="2664" y="897"/>
                  </a:lnTo>
                  <a:lnTo>
                    <a:pt x="2638" y="903"/>
                  </a:lnTo>
                  <a:lnTo>
                    <a:pt x="2614" y="910"/>
                  </a:lnTo>
                  <a:lnTo>
                    <a:pt x="2593" y="917"/>
                  </a:lnTo>
                  <a:lnTo>
                    <a:pt x="2573" y="923"/>
                  </a:lnTo>
                  <a:lnTo>
                    <a:pt x="2558" y="929"/>
                  </a:lnTo>
                  <a:lnTo>
                    <a:pt x="2547" y="934"/>
                  </a:lnTo>
                  <a:lnTo>
                    <a:pt x="2540" y="937"/>
                  </a:lnTo>
                  <a:lnTo>
                    <a:pt x="2538" y="938"/>
                  </a:lnTo>
                  <a:lnTo>
                    <a:pt x="2539" y="935"/>
                  </a:lnTo>
                  <a:lnTo>
                    <a:pt x="2540" y="927"/>
                  </a:lnTo>
                  <a:lnTo>
                    <a:pt x="2543" y="915"/>
                  </a:lnTo>
                  <a:lnTo>
                    <a:pt x="2547" y="898"/>
                  </a:lnTo>
                  <a:lnTo>
                    <a:pt x="2550" y="876"/>
                  </a:lnTo>
                  <a:lnTo>
                    <a:pt x="2553" y="853"/>
                  </a:lnTo>
                  <a:lnTo>
                    <a:pt x="2556" y="826"/>
                  </a:lnTo>
                  <a:lnTo>
                    <a:pt x="2558" y="797"/>
                  </a:lnTo>
                  <a:lnTo>
                    <a:pt x="2559" y="767"/>
                  </a:lnTo>
                  <a:lnTo>
                    <a:pt x="2556" y="706"/>
                  </a:lnTo>
                  <a:lnTo>
                    <a:pt x="2547" y="646"/>
                  </a:lnTo>
                  <a:lnTo>
                    <a:pt x="2532" y="589"/>
                  </a:lnTo>
                  <a:lnTo>
                    <a:pt x="2511" y="533"/>
                  </a:lnTo>
                  <a:lnTo>
                    <a:pt x="2486" y="481"/>
                  </a:lnTo>
                  <a:lnTo>
                    <a:pt x="2455" y="431"/>
                  </a:lnTo>
                  <a:lnTo>
                    <a:pt x="2420" y="385"/>
                  </a:lnTo>
                  <a:lnTo>
                    <a:pt x="2382" y="342"/>
                  </a:lnTo>
                  <a:lnTo>
                    <a:pt x="2339" y="303"/>
                  </a:lnTo>
                  <a:lnTo>
                    <a:pt x="2293" y="268"/>
                  </a:lnTo>
                  <a:lnTo>
                    <a:pt x="2244" y="238"/>
                  </a:lnTo>
                  <a:lnTo>
                    <a:pt x="2191" y="212"/>
                  </a:lnTo>
                  <a:lnTo>
                    <a:pt x="2136" y="192"/>
                  </a:lnTo>
                  <a:lnTo>
                    <a:pt x="2079" y="177"/>
                  </a:lnTo>
                  <a:lnTo>
                    <a:pt x="2020" y="168"/>
                  </a:lnTo>
                  <a:lnTo>
                    <a:pt x="1958" y="165"/>
                  </a:lnTo>
                  <a:lnTo>
                    <a:pt x="1913" y="166"/>
                  </a:lnTo>
                  <a:lnTo>
                    <a:pt x="1869" y="172"/>
                  </a:lnTo>
                  <a:lnTo>
                    <a:pt x="1827" y="181"/>
                  </a:lnTo>
                  <a:lnTo>
                    <a:pt x="1787" y="191"/>
                  </a:lnTo>
                  <a:lnTo>
                    <a:pt x="1750" y="204"/>
                  </a:lnTo>
                  <a:lnTo>
                    <a:pt x="1716" y="218"/>
                  </a:lnTo>
                  <a:lnTo>
                    <a:pt x="1683" y="234"/>
                  </a:lnTo>
                  <a:lnTo>
                    <a:pt x="1653" y="250"/>
                  </a:lnTo>
                  <a:lnTo>
                    <a:pt x="1627" y="266"/>
                  </a:lnTo>
                  <a:lnTo>
                    <a:pt x="1602" y="283"/>
                  </a:lnTo>
                  <a:lnTo>
                    <a:pt x="1582" y="298"/>
                  </a:lnTo>
                  <a:lnTo>
                    <a:pt x="1564" y="312"/>
                  </a:lnTo>
                  <a:lnTo>
                    <a:pt x="1548" y="325"/>
                  </a:lnTo>
                  <a:lnTo>
                    <a:pt x="1537" y="336"/>
                  </a:lnTo>
                  <a:lnTo>
                    <a:pt x="1529" y="344"/>
                  </a:lnTo>
                  <a:lnTo>
                    <a:pt x="1523" y="349"/>
                  </a:lnTo>
                  <a:lnTo>
                    <a:pt x="1522" y="351"/>
                  </a:lnTo>
                  <a:lnTo>
                    <a:pt x="1520" y="349"/>
                  </a:lnTo>
                  <a:lnTo>
                    <a:pt x="1515" y="343"/>
                  </a:lnTo>
                  <a:lnTo>
                    <a:pt x="1508" y="334"/>
                  </a:lnTo>
                  <a:lnTo>
                    <a:pt x="1496" y="322"/>
                  </a:lnTo>
                  <a:lnTo>
                    <a:pt x="1483" y="308"/>
                  </a:lnTo>
                  <a:lnTo>
                    <a:pt x="1466" y="292"/>
                  </a:lnTo>
                  <a:lnTo>
                    <a:pt x="1447" y="274"/>
                  </a:lnTo>
                  <a:lnTo>
                    <a:pt x="1425" y="256"/>
                  </a:lnTo>
                  <a:lnTo>
                    <a:pt x="1401" y="238"/>
                  </a:lnTo>
                  <a:lnTo>
                    <a:pt x="1374" y="220"/>
                  </a:lnTo>
                  <a:lnTo>
                    <a:pt x="1345" y="203"/>
                  </a:lnTo>
                  <a:lnTo>
                    <a:pt x="1314" y="187"/>
                  </a:lnTo>
                  <a:lnTo>
                    <a:pt x="1281" y="172"/>
                  </a:lnTo>
                  <a:lnTo>
                    <a:pt x="1245" y="161"/>
                  </a:lnTo>
                  <a:lnTo>
                    <a:pt x="1209" y="152"/>
                  </a:lnTo>
                  <a:lnTo>
                    <a:pt x="1169" y="146"/>
                  </a:lnTo>
                  <a:lnTo>
                    <a:pt x="1129" y="144"/>
                  </a:lnTo>
                  <a:close/>
                  <a:moveTo>
                    <a:pt x="1136" y="0"/>
                  </a:moveTo>
                  <a:lnTo>
                    <a:pt x="1189" y="3"/>
                  </a:lnTo>
                  <a:lnTo>
                    <a:pt x="1242" y="10"/>
                  </a:lnTo>
                  <a:lnTo>
                    <a:pt x="1295" y="23"/>
                  </a:lnTo>
                  <a:lnTo>
                    <a:pt x="1346" y="40"/>
                  </a:lnTo>
                  <a:lnTo>
                    <a:pt x="1395" y="62"/>
                  </a:lnTo>
                  <a:lnTo>
                    <a:pt x="1442" y="88"/>
                  </a:lnTo>
                  <a:lnTo>
                    <a:pt x="1487" y="117"/>
                  </a:lnTo>
                  <a:lnTo>
                    <a:pt x="1529" y="151"/>
                  </a:lnTo>
                  <a:lnTo>
                    <a:pt x="1583" y="116"/>
                  </a:lnTo>
                  <a:lnTo>
                    <a:pt x="1640" y="87"/>
                  </a:lnTo>
                  <a:lnTo>
                    <a:pt x="1699" y="61"/>
                  </a:lnTo>
                  <a:lnTo>
                    <a:pt x="1762" y="42"/>
                  </a:lnTo>
                  <a:lnTo>
                    <a:pt x="1825" y="28"/>
                  </a:lnTo>
                  <a:lnTo>
                    <a:pt x="1891" y="18"/>
                  </a:lnTo>
                  <a:lnTo>
                    <a:pt x="1957" y="15"/>
                  </a:lnTo>
                  <a:lnTo>
                    <a:pt x="2024" y="18"/>
                  </a:lnTo>
                  <a:lnTo>
                    <a:pt x="2089" y="27"/>
                  </a:lnTo>
                  <a:lnTo>
                    <a:pt x="2151" y="41"/>
                  </a:lnTo>
                  <a:lnTo>
                    <a:pt x="2212" y="60"/>
                  </a:lnTo>
                  <a:lnTo>
                    <a:pt x="2271" y="85"/>
                  </a:lnTo>
                  <a:lnTo>
                    <a:pt x="2327" y="114"/>
                  </a:lnTo>
                  <a:lnTo>
                    <a:pt x="2380" y="148"/>
                  </a:lnTo>
                  <a:lnTo>
                    <a:pt x="2431" y="186"/>
                  </a:lnTo>
                  <a:lnTo>
                    <a:pt x="2477" y="227"/>
                  </a:lnTo>
                  <a:lnTo>
                    <a:pt x="2520" y="273"/>
                  </a:lnTo>
                  <a:lnTo>
                    <a:pt x="2559" y="322"/>
                  </a:lnTo>
                  <a:lnTo>
                    <a:pt x="2594" y="374"/>
                  </a:lnTo>
                  <a:lnTo>
                    <a:pt x="2624" y="430"/>
                  </a:lnTo>
                  <a:lnTo>
                    <a:pt x="2651" y="489"/>
                  </a:lnTo>
                  <a:lnTo>
                    <a:pt x="2671" y="550"/>
                  </a:lnTo>
                  <a:lnTo>
                    <a:pt x="2687" y="613"/>
                  </a:lnTo>
                  <a:lnTo>
                    <a:pt x="2697" y="678"/>
                  </a:lnTo>
                  <a:lnTo>
                    <a:pt x="2701" y="746"/>
                  </a:lnTo>
                  <a:lnTo>
                    <a:pt x="2730" y="741"/>
                  </a:lnTo>
                  <a:lnTo>
                    <a:pt x="2758" y="738"/>
                  </a:lnTo>
                  <a:lnTo>
                    <a:pt x="2787" y="738"/>
                  </a:lnTo>
                  <a:lnTo>
                    <a:pt x="2847" y="742"/>
                  </a:lnTo>
                  <a:lnTo>
                    <a:pt x="2904" y="750"/>
                  </a:lnTo>
                  <a:lnTo>
                    <a:pt x="2960" y="764"/>
                  </a:lnTo>
                  <a:lnTo>
                    <a:pt x="3013" y="783"/>
                  </a:lnTo>
                  <a:lnTo>
                    <a:pt x="3064" y="808"/>
                  </a:lnTo>
                  <a:lnTo>
                    <a:pt x="3111" y="837"/>
                  </a:lnTo>
                  <a:lnTo>
                    <a:pt x="3156" y="870"/>
                  </a:lnTo>
                  <a:lnTo>
                    <a:pt x="3197" y="908"/>
                  </a:lnTo>
                  <a:lnTo>
                    <a:pt x="3234" y="949"/>
                  </a:lnTo>
                  <a:lnTo>
                    <a:pt x="3267" y="993"/>
                  </a:lnTo>
                  <a:lnTo>
                    <a:pt x="3297" y="1041"/>
                  </a:lnTo>
                  <a:lnTo>
                    <a:pt x="3321" y="1091"/>
                  </a:lnTo>
                  <a:lnTo>
                    <a:pt x="3341" y="1145"/>
                  </a:lnTo>
                  <a:lnTo>
                    <a:pt x="3355" y="1201"/>
                  </a:lnTo>
                  <a:lnTo>
                    <a:pt x="3363" y="1259"/>
                  </a:lnTo>
                  <a:lnTo>
                    <a:pt x="3366" y="1318"/>
                  </a:lnTo>
                  <a:lnTo>
                    <a:pt x="3363" y="1378"/>
                  </a:lnTo>
                  <a:lnTo>
                    <a:pt x="3354" y="1435"/>
                  </a:lnTo>
                  <a:lnTo>
                    <a:pt x="3339" y="1491"/>
                  </a:lnTo>
                  <a:lnTo>
                    <a:pt x="3320" y="1544"/>
                  </a:lnTo>
                  <a:lnTo>
                    <a:pt x="3295" y="1595"/>
                  </a:lnTo>
                  <a:lnTo>
                    <a:pt x="3265" y="1643"/>
                  </a:lnTo>
                  <a:lnTo>
                    <a:pt x="3231" y="1688"/>
                  </a:lnTo>
                  <a:lnTo>
                    <a:pt x="3194" y="1729"/>
                  </a:lnTo>
                  <a:lnTo>
                    <a:pt x="3152" y="1767"/>
                  </a:lnTo>
                  <a:lnTo>
                    <a:pt x="3107" y="1799"/>
                  </a:lnTo>
                  <a:lnTo>
                    <a:pt x="3058" y="1829"/>
                  </a:lnTo>
                  <a:lnTo>
                    <a:pt x="3007" y="1852"/>
                  </a:lnTo>
                  <a:lnTo>
                    <a:pt x="2954" y="1872"/>
                  </a:lnTo>
                  <a:lnTo>
                    <a:pt x="2898" y="1886"/>
                  </a:lnTo>
                  <a:lnTo>
                    <a:pt x="2840" y="1895"/>
                  </a:lnTo>
                  <a:lnTo>
                    <a:pt x="2781" y="1898"/>
                  </a:lnTo>
                  <a:lnTo>
                    <a:pt x="1751" y="1898"/>
                  </a:lnTo>
                  <a:lnTo>
                    <a:pt x="1751" y="2507"/>
                  </a:lnTo>
                  <a:lnTo>
                    <a:pt x="2465" y="2507"/>
                  </a:lnTo>
                  <a:lnTo>
                    <a:pt x="2465" y="2864"/>
                  </a:lnTo>
                  <a:lnTo>
                    <a:pt x="3287" y="2864"/>
                  </a:lnTo>
                  <a:lnTo>
                    <a:pt x="3287" y="3008"/>
                  </a:lnTo>
                  <a:lnTo>
                    <a:pt x="2465" y="3008"/>
                  </a:lnTo>
                  <a:lnTo>
                    <a:pt x="2465" y="3366"/>
                  </a:lnTo>
                  <a:lnTo>
                    <a:pt x="894" y="3366"/>
                  </a:lnTo>
                  <a:lnTo>
                    <a:pt x="894" y="3008"/>
                  </a:lnTo>
                  <a:lnTo>
                    <a:pt x="71" y="3008"/>
                  </a:lnTo>
                  <a:lnTo>
                    <a:pt x="71" y="2864"/>
                  </a:lnTo>
                  <a:lnTo>
                    <a:pt x="894" y="2864"/>
                  </a:lnTo>
                  <a:lnTo>
                    <a:pt x="894" y="2507"/>
                  </a:lnTo>
                  <a:lnTo>
                    <a:pt x="1608" y="2507"/>
                  </a:lnTo>
                  <a:lnTo>
                    <a:pt x="1608" y="1898"/>
                  </a:lnTo>
                  <a:lnTo>
                    <a:pt x="785" y="1898"/>
                  </a:lnTo>
                  <a:lnTo>
                    <a:pt x="714" y="1895"/>
                  </a:lnTo>
                  <a:lnTo>
                    <a:pt x="645" y="1885"/>
                  </a:lnTo>
                  <a:lnTo>
                    <a:pt x="576" y="1870"/>
                  </a:lnTo>
                  <a:lnTo>
                    <a:pt x="511" y="1849"/>
                  </a:lnTo>
                  <a:lnTo>
                    <a:pt x="449" y="1823"/>
                  </a:lnTo>
                  <a:lnTo>
                    <a:pt x="389" y="1791"/>
                  </a:lnTo>
                  <a:lnTo>
                    <a:pt x="332" y="1754"/>
                  </a:lnTo>
                  <a:lnTo>
                    <a:pt x="278" y="1714"/>
                  </a:lnTo>
                  <a:lnTo>
                    <a:pt x="230" y="1668"/>
                  </a:lnTo>
                  <a:lnTo>
                    <a:pt x="185" y="1619"/>
                  </a:lnTo>
                  <a:lnTo>
                    <a:pt x="144" y="1566"/>
                  </a:lnTo>
                  <a:lnTo>
                    <a:pt x="107" y="1509"/>
                  </a:lnTo>
                  <a:lnTo>
                    <a:pt x="75" y="1448"/>
                  </a:lnTo>
                  <a:lnTo>
                    <a:pt x="49" y="1386"/>
                  </a:lnTo>
                  <a:lnTo>
                    <a:pt x="28" y="1320"/>
                  </a:lnTo>
                  <a:lnTo>
                    <a:pt x="12" y="1253"/>
                  </a:lnTo>
                  <a:lnTo>
                    <a:pt x="3" y="1182"/>
                  </a:lnTo>
                  <a:lnTo>
                    <a:pt x="0" y="1110"/>
                  </a:lnTo>
                  <a:lnTo>
                    <a:pt x="3" y="1042"/>
                  </a:lnTo>
                  <a:lnTo>
                    <a:pt x="11" y="976"/>
                  </a:lnTo>
                  <a:lnTo>
                    <a:pt x="26" y="911"/>
                  </a:lnTo>
                  <a:lnTo>
                    <a:pt x="45" y="849"/>
                  </a:lnTo>
                  <a:lnTo>
                    <a:pt x="68" y="787"/>
                  </a:lnTo>
                  <a:lnTo>
                    <a:pt x="98" y="729"/>
                  </a:lnTo>
                  <a:lnTo>
                    <a:pt x="131" y="674"/>
                  </a:lnTo>
                  <a:lnTo>
                    <a:pt x="169" y="622"/>
                  </a:lnTo>
                  <a:lnTo>
                    <a:pt x="211" y="573"/>
                  </a:lnTo>
                  <a:lnTo>
                    <a:pt x="256" y="527"/>
                  </a:lnTo>
                  <a:lnTo>
                    <a:pt x="306" y="486"/>
                  </a:lnTo>
                  <a:lnTo>
                    <a:pt x="359" y="449"/>
                  </a:lnTo>
                  <a:lnTo>
                    <a:pt x="415" y="415"/>
                  </a:lnTo>
                  <a:lnTo>
                    <a:pt x="474" y="387"/>
                  </a:lnTo>
                  <a:lnTo>
                    <a:pt x="536" y="362"/>
                  </a:lnTo>
                  <a:lnTo>
                    <a:pt x="601" y="344"/>
                  </a:lnTo>
                  <a:lnTo>
                    <a:pt x="626" y="293"/>
                  </a:lnTo>
                  <a:lnTo>
                    <a:pt x="657" y="246"/>
                  </a:lnTo>
                  <a:lnTo>
                    <a:pt x="692" y="202"/>
                  </a:lnTo>
                  <a:lnTo>
                    <a:pt x="729" y="162"/>
                  </a:lnTo>
                  <a:lnTo>
                    <a:pt x="772" y="126"/>
                  </a:lnTo>
                  <a:lnTo>
                    <a:pt x="817" y="94"/>
                  </a:lnTo>
                  <a:lnTo>
                    <a:pt x="866" y="66"/>
                  </a:lnTo>
                  <a:lnTo>
                    <a:pt x="916" y="43"/>
                  </a:lnTo>
                  <a:lnTo>
                    <a:pt x="969" y="24"/>
                  </a:lnTo>
                  <a:lnTo>
                    <a:pt x="1023" y="11"/>
                  </a:lnTo>
                  <a:lnTo>
                    <a:pt x="1079" y="3"/>
                  </a:lnTo>
                  <a:lnTo>
                    <a:pt x="1136" y="0"/>
                  </a:lnTo>
                  <a:close/>
                </a:path>
              </a:pathLst>
            </a:custGeom>
            <a:solidFill>
              <a:srgbClr val="2B2F42">
                <a:lumMod val="75000"/>
                <a:lumOff val="25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496" name="Picture 21495" descr="verifie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214" y="2517135"/>
            <a:ext cx="420624" cy="420624"/>
          </a:xfrm>
          <a:prstGeom prst="rect">
            <a:avLst/>
          </a:prstGeom>
        </p:spPr>
      </p:pic>
      <p:sp>
        <p:nvSpPr>
          <p:cNvPr id="21497" name="TextBox 21496"/>
          <p:cNvSpPr txBox="1"/>
          <p:nvPr/>
        </p:nvSpPr>
        <p:spPr>
          <a:xfrm>
            <a:off x="4789181" y="2331339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数据可信</a:t>
            </a:r>
          </a:p>
        </p:txBody>
      </p:sp>
      <p:sp>
        <p:nvSpPr>
          <p:cNvPr id="21498" name="TextBox 21497"/>
          <p:cNvSpPr txBox="1"/>
          <p:nvPr/>
        </p:nvSpPr>
        <p:spPr>
          <a:xfrm>
            <a:off x="4789181" y="2733675"/>
            <a:ext cx="607389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关键数字可验证、可追溯，异常可定位、可修复</a:t>
            </a:r>
          </a:p>
        </p:txBody>
      </p:sp>
      <p:sp>
        <p:nvSpPr>
          <p:cNvPr id="21499" name="TextBox 21498"/>
          <p:cNvSpPr txBox="1"/>
          <p:nvPr/>
        </p:nvSpPr>
        <p:spPr>
          <a:xfrm>
            <a:off x="4789181" y="3026283"/>
            <a:ext cx="607389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>
                <a:solidFill>
                  <a:srgbClr val="B4551A"/>
                </a:solidFill>
              </a:rPr>
              <a:t>衡量指标　</a:t>
            </a:r>
            <a:r>
              <a:rPr sz="1150" b="0">
                <a:solidFill>
                  <a:srgbClr val="655BE6"/>
                </a:solidFill>
              </a:rPr>
              <a:t>对账差异率 · 质量规则覆盖率 · 元数据完整率</a:t>
            </a:r>
          </a:p>
        </p:txBody>
      </p:sp>
      <p:pic>
        <p:nvPicPr>
          <p:cNvPr id="21500" name="Picture 21499" descr="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214" y="3512067"/>
            <a:ext cx="420624" cy="420624"/>
          </a:xfrm>
          <a:prstGeom prst="rect">
            <a:avLst/>
          </a:prstGeom>
        </p:spPr>
      </p:pic>
      <p:sp>
        <p:nvSpPr>
          <p:cNvPr id="21501" name="TextBox 21500"/>
          <p:cNvSpPr txBox="1"/>
          <p:nvPr/>
        </p:nvSpPr>
        <p:spPr>
          <a:xfrm>
            <a:off x="4789181" y="3326271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模型可复用</a:t>
            </a:r>
          </a:p>
        </p:txBody>
      </p:sp>
      <p:sp>
        <p:nvSpPr>
          <p:cNvPr id="21502" name="TextBox 21501"/>
          <p:cNvSpPr txBox="1"/>
          <p:nvPr/>
        </p:nvSpPr>
        <p:spPr>
          <a:xfrm>
            <a:off x="4789181" y="3728607"/>
            <a:ext cx="607389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公共模型一次建设、多处使用，新需求优先复用</a:t>
            </a:r>
          </a:p>
        </p:txBody>
      </p:sp>
      <p:sp>
        <p:nvSpPr>
          <p:cNvPr id="21503" name="TextBox 21502"/>
          <p:cNvSpPr txBox="1"/>
          <p:nvPr/>
        </p:nvSpPr>
        <p:spPr>
          <a:xfrm>
            <a:off x="4789181" y="4021215"/>
            <a:ext cx="607389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>
                <a:solidFill>
                  <a:srgbClr val="B4551A"/>
                </a:solidFill>
              </a:rPr>
              <a:t>衡量指标　</a:t>
            </a:r>
            <a:r>
              <a:rPr sz="1150" b="0">
                <a:solidFill>
                  <a:srgbClr val="655BE6"/>
                </a:solidFill>
              </a:rPr>
              <a:t>公共模型复用率 · 重复模型下线比例</a:t>
            </a:r>
          </a:p>
        </p:txBody>
      </p:sp>
      <p:pic>
        <p:nvPicPr>
          <p:cNvPr id="21504" name="Picture 21503" descr="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214" y="4551055"/>
            <a:ext cx="420624" cy="420624"/>
          </a:xfrm>
          <a:prstGeom prst="rect">
            <a:avLst/>
          </a:prstGeom>
        </p:spPr>
      </p:pic>
      <p:sp>
        <p:nvSpPr>
          <p:cNvPr id="21505" name="TextBox 21504"/>
          <p:cNvSpPr txBox="1"/>
          <p:nvPr/>
        </p:nvSpPr>
        <p:spPr>
          <a:xfrm>
            <a:off x="4789181" y="4365259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服务稳定</a:t>
            </a:r>
          </a:p>
        </p:txBody>
      </p:sp>
      <p:sp>
        <p:nvSpPr>
          <p:cNvPr id="21506" name="TextBox 21505"/>
          <p:cNvSpPr txBox="1"/>
          <p:nvPr/>
        </p:nvSpPr>
        <p:spPr>
          <a:xfrm>
            <a:off x="4789181" y="4767595"/>
            <a:ext cx="607389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接入、加工、查询、API 有监测、有隔离、可恢复</a:t>
            </a:r>
          </a:p>
        </p:txBody>
      </p:sp>
      <p:sp>
        <p:nvSpPr>
          <p:cNvPr id="21507" name="TextBox 21506"/>
          <p:cNvSpPr txBox="1"/>
          <p:nvPr/>
        </p:nvSpPr>
        <p:spPr>
          <a:xfrm>
            <a:off x="4789181" y="5060203"/>
            <a:ext cx="607389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>
                <a:solidFill>
                  <a:srgbClr val="B4551A"/>
                </a:solidFill>
              </a:rPr>
              <a:t>衡量指标　</a:t>
            </a:r>
            <a:r>
              <a:rPr sz="1150" b="0">
                <a:solidFill>
                  <a:srgbClr val="655BE6"/>
                </a:solidFill>
              </a:rPr>
              <a:t>服务可用性 · 数据时效达标率 · 故障恢复时长</a:t>
            </a:r>
          </a:p>
        </p:txBody>
      </p:sp>
      <p:pic>
        <p:nvPicPr>
          <p:cNvPr id="21508" name="Picture 21507" descr="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214" y="5446861"/>
            <a:ext cx="420624" cy="420624"/>
          </a:xfrm>
          <a:prstGeom prst="rect">
            <a:avLst/>
          </a:prstGeom>
        </p:spPr>
      </p:pic>
      <p:sp>
        <p:nvSpPr>
          <p:cNvPr id="21509" name="TextBox 21508"/>
          <p:cNvSpPr txBox="1"/>
          <p:nvPr/>
        </p:nvSpPr>
        <p:spPr>
          <a:xfrm>
            <a:off x="4789181" y="5261065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能力易扩展</a:t>
            </a:r>
          </a:p>
        </p:txBody>
      </p:sp>
      <p:sp>
        <p:nvSpPr>
          <p:cNvPr id="21510" name="TextBox 21509"/>
          <p:cNvSpPr txBox="1"/>
          <p:nvPr/>
        </p:nvSpPr>
        <p:spPr>
          <a:xfrm>
            <a:off x="4789181" y="5663401"/>
            <a:ext cx="607389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新业务、新景区通过配置化方式快速接入</a:t>
            </a:r>
          </a:p>
        </p:txBody>
      </p:sp>
      <p:sp>
        <p:nvSpPr>
          <p:cNvPr id="21511" name="TextBox 21510"/>
          <p:cNvSpPr txBox="1"/>
          <p:nvPr/>
        </p:nvSpPr>
        <p:spPr>
          <a:xfrm>
            <a:off x="4789181" y="5956009"/>
            <a:ext cx="607389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1">
                <a:solidFill>
                  <a:srgbClr val="B4551A"/>
                </a:solidFill>
              </a:rPr>
              <a:t>衡量指标　</a:t>
            </a:r>
            <a:r>
              <a:rPr sz="1150" b="0">
                <a:solidFill>
                  <a:srgbClr val="655BE6"/>
                </a:solidFill>
              </a:rPr>
              <a:t>标准系统接入周期 · 首次验收通过率</a:t>
            </a:r>
          </a:p>
        </p:txBody>
      </p:sp>
      <p:sp>
        <p:nvSpPr>
          <p:cNvPr id="21512" name="Rounded Rectangle 21511"/>
          <p:cNvSpPr/>
          <p:nvPr/>
        </p:nvSpPr>
        <p:spPr>
          <a:xfrm>
            <a:off x="658368" y="6263640"/>
            <a:ext cx="10204704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13" name="TextBox 21512"/>
          <p:cNvSpPr txBox="1"/>
          <p:nvPr/>
        </p:nvSpPr>
        <p:spPr>
          <a:xfrm>
            <a:off x="658368" y="6263640"/>
            <a:ext cx="102047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支撑　</a:t>
            </a:r>
            <a:r>
              <a:rPr sz="1600" b="0">
                <a:solidFill>
                  <a:srgbClr val="FFFFFF"/>
                </a:solidFill>
              </a:rPr>
              <a:t>对内赋能 · 对外商业化 · 行业成果输出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总体架构：六层分层建设，治理贯穿始终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渐变色块为已有能力，白色块为新建或升级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01468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应用与服务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内部经营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3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景区运营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7448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伙伴接入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行业报告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936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数据产品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05556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 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模型服务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91889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知识服务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17820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工具服务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43750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评测运营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009644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数据服务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4009644"/>
            <a:ext cx="1634489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动态数据开放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91889" y="400964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7820" y="400964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标签服务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43750" y="400964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一键接入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13732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指标与分析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4713732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企业标准指标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91889" y="4713732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景区自定义指标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17820" y="4713732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统一标签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43750" y="4713732"/>
            <a:ext cx="1634489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17820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统一底座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5960" y="5417820"/>
            <a:ext cx="1059180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DataWorks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16580" y="5417820"/>
            <a:ext cx="1059180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离线主流程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7199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7820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湖仓存储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8440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公共模型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19060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分析查询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6121908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数据来源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票务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28925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订单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91889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小程序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54854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17819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营销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0784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渠道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43750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设备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6715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15400" y="2601468"/>
            <a:ext cx="1947672" cy="4123944"/>
          </a:xfrm>
          <a:prstGeom prst="roundRect">
            <a:avLst>
              <a:gd name="adj" fmla="val 5633"/>
            </a:avLst>
          </a:prstGeom>
          <a:gradFill rotWithShape="1">
            <a:gsLst>
              <a:gs pos="0">
                <a:srgbClr val="776CFD"/>
              </a:gs>
              <a:gs pos="100000">
                <a:srgbClr val="655B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2784348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</a:rPr>
              <a:t>治理与资产</a:t>
            </a:r>
          </a:p>
          <a:p>
            <a:pPr algn="l"/>
            <a:r>
              <a:rPr sz="1400" b="1">
                <a:solidFill>
                  <a:srgbClr val="FFFFFF"/>
                </a:solidFill>
              </a:rPr>
              <a:t>贯穿各层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3653028"/>
            <a:ext cx="164592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EDFF"/>
                </a:solidFill>
              </a:rPr>
              <a:t>数据标准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数据地图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数据血缘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数据质量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权限安全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资产目录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平台组件：七组能力，在已有工具上升级与新建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04872"/>
            <a:ext cx="384048" cy="219456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86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渐变：已有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240487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386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浅紫：升级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40487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386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虚线：新建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数据集成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批量同步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实时采集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埋点采集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边云回传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连接器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185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存储计算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31858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离线计算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185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3185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湖仓存储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3185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分析引擎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534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开发运维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05348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开发调度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534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数据建模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534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发布卡点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534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运行监控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05348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成本治理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883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数据治理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78838" y="3374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数据标准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883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数据地图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883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数据血缘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883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质量与核对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8838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分级与脱敏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8838" y="5660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资产运营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52329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指标标签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52329" y="3374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指标中心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52329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景区指标空间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52329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标签平台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52329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统一语义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5819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服务分析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5819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动态开放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5819" y="38313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5819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开发者门户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25819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嵌入式分析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99309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能力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9309" y="3374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模型网关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9309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知识检索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99309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智能体工具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99309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评测反馈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99309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AI 问数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636422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ool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478524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52728" y="636422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DataWorks 承担批量同步、离线计算、开发调度；数据地图、血缘、质量等模块按已购情况启用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三年三阶段：治理筑基 → 平台统一 → 价值扩展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起点：离线主流程已贯通；每年以达标为准，再进入下一阶段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84448"/>
            <a:ext cx="3249168" cy="2697480"/>
          </a:xfrm>
          <a:prstGeom prst="roundRect">
            <a:avLst>
              <a:gd name="adj" fmla="val 5084"/>
            </a:avLst>
          </a:prstGeom>
          <a:gradFill rotWithShape="1">
            <a:gsLst>
              <a:gs pos="0">
                <a:srgbClr val="5D95F1"/>
              </a:gs>
              <a:gs pos="100000">
                <a:srgbClr val="6C95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74904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第一年 · 可信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041648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治理筑基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544568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核心数据可信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标准 · 质量 · 核销主题域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5532120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150" b="1">
                <a:solidFill>
                  <a:srgbClr val="655BE6"/>
                </a:solidFill>
              </a:rPr>
              <a:t>进入下一步：标准指标统一使用，关键数字对账稳定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6136" y="3035808"/>
            <a:ext cx="3249168" cy="3246120"/>
          </a:xfrm>
          <a:prstGeom prst="roundRect">
            <a:avLst>
              <a:gd name="adj" fmla="val 422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4736" y="320040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第二年 · 可复用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3493008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平台统一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4736" y="3995928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公共能力可复用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共享模型 · 指标与标签服务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AI 共用能力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9016" y="5532120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150" b="1">
                <a:solidFill>
                  <a:srgbClr val="655BE6"/>
                </a:solidFill>
              </a:rPr>
              <a:t>进入下一步：公共模型成为默认来源，AI 问数稳定准确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3904" y="2487167"/>
            <a:ext cx="3249168" cy="3794760"/>
          </a:xfrm>
          <a:prstGeom prst="roundRect">
            <a:avLst>
              <a:gd name="adj" fmla="val 4221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2504" y="265176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第三年 · 有价值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2504" y="2944367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价值扩展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2504" y="3447287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产品价值可验证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景区自主分析 · 标准接入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AI 应用 · 行业成果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6783" y="5532120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150" b="1">
                <a:solidFill>
                  <a:srgbClr val="655BE6"/>
                </a:solidFill>
              </a:rPr>
              <a:t>验证方式：客户使用、续约与付费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6437376"/>
            <a:ext cx="3249168" cy="43891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提效治理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6136" y="6437376"/>
            <a:ext cx="3249168" cy="43891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成为平台原生能力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3904" y="6437376"/>
            <a:ext cx="3249168" cy="43891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面向业务与客户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三年路线图：在现有能力上逐年推进，每年都有可见成果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7128" y="2286000"/>
            <a:ext cx="2837687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5D95F1"/>
              </a:gs>
              <a:gs pos="100000">
                <a:srgbClr val="6C95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EEEDFF"/>
                </a:solidFill>
              </a:rPr>
              <a:t>第一年　</a:t>
            </a:r>
            <a:r>
              <a:rPr sz="1700" b="1">
                <a:solidFill>
                  <a:srgbClr val="FFFFFF"/>
                </a:solidFill>
              </a:rPr>
              <a:t>治理筑基</a:t>
            </a:r>
            <a:r>
              <a:rPr sz="1200" b="0">
                <a:solidFill>
                  <a:srgbClr val="EEEDFF"/>
                </a:solidFill>
              </a:rPr>
              <a:t>　· 可信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6256" y="2286000"/>
            <a:ext cx="2837687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6C95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EEEDFF"/>
                </a:solidFill>
              </a:rPr>
              <a:t>第二年　</a:t>
            </a:r>
            <a:r>
              <a:rPr sz="1700" b="1">
                <a:solidFill>
                  <a:srgbClr val="FFFFFF"/>
                </a:solidFill>
              </a:rPr>
              <a:t>平台统一</a:t>
            </a:r>
            <a:r>
              <a:rPr sz="1200" b="0">
                <a:solidFill>
                  <a:srgbClr val="EEEDFF"/>
                </a:solidFill>
              </a:rPr>
              <a:t>　· 可复用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5384" y="2286000"/>
            <a:ext cx="2837687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EEEDFF"/>
                </a:solidFill>
              </a:rPr>
              <a:t>第三年　</a:t>
            </a:r>
            <a:r>
              <a:rPr sz="1700" b="1">
                <a:solidFill>
                  <a:srgbClr val="FFFFFF"/>
                </a:solidFill>
              </a:rPr>
              <a:t>价值扩展</a:t>
            </a:r>
            <a:r>
              <a:rPr sz="1200" b="0">
                <a:solidFill>
                  <a:srgbClr val="EEEDFF"/>
                </a:solidFill>
              </a:rPr>
              <a:t>　· 有价值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80944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数据治理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7128" y="2980944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980944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标准与发布卡点上线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核销样板逐层核对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6256" y="2980944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0848" y="2980944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质量规则覆盖全部主题域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资产健康分月度公示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5384" y="2980944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9976" y="2980944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治理常态化运营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规范对外输出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75887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平台底座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67128" y="3675887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3675887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订单、核销实时链路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湖仓合一盘点与双跑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6256" y="3675887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0848" y="3675887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湖仓公共层，重复模型下线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补齐渠道、结算、业态主题域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5384" y="3675887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9976" y="3675887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会员、感知、外部数据入湖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开放平台与服务等级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370831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指标与服务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67128" y="4370831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4370831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首批企业标准指标认证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开放 API 关联标准指标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96256" y="4370831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60848" y="4370831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指标中心与景区指标空间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统一标签、OneID、一键接入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5384" y="4370831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9976" y="4370831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嵌入式分析与服务套餐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按调用计量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65775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与智能体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67128" y="5065775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5065775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AI 提效治理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景数通、APP 问数接入认证指标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96256" y="5065775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60848" y="5065775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AI 共用能力上线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调度智能体接入实时事件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5384" y="5065775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9976" y="5065775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AI 数字大脑智能体规模化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预测与业务助手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60719"/>
            <a:ext cx="1417320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赋能企业与行业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67128" y="5760719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5760719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票务、订单交易闭环样板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96256" y="5760719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60848" y="5760719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供应商、智能体闭环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自助分析推广，试点景区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5384" y="5760719"/>
            <a:ext cx="2837687" cy="640080"/>
          </a:xfrm>
          <a:prstGeom prst="roundRect">
            <a:avLst>
              <a:gd name="adj" fmla="val 11428"/>
            </a:avLst>
          </a:prstGeom>
          <a:solidFill>
            <a:srgbClr val="F3F2FF"/>
          </a:solidFill>
          <a:ln w="762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9976" y="5760719"/>
            <a:ext cx="2609087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B2F42"/>
                </a:solidFill>
              </a:rPr>
              <a:t>· 八条闭环覆盖，对外产品付费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150" b="0">
                <a:solidFill>
                  <a:srgbClr val="2B2F42"/>
                </a:solidFill>
              </a:rPr>
              <a:t>· 行业报告与团体标准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6492239"/>
            <a:ext cx="1417320" cy="512064"/>
          </a:xfrm>
          <a:prstGeom prst="roundRect">
            <a:avLst>
              <a:gd name="adj" fmla="val 17857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达标标志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67128" y="6492239"/>
            <a:ext cx="2837687" cy="512064"/>
          </a:xfrm>
          <a:prstGeom prst="roundRect">
            <a:avLst>
              <a:gd name="adj" fmla="val 17857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标准指标统一使用，关键数字对账稳定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96256" y="6492239"/>
            <a:ext cx="2837687" cy="512064"/>
          </a:xfrm>
          <a:prstGeom prst="roundRect">
            <a:avLst>
              <a:gd name="adj" fmla="val 17857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公共模型成为默认来源，问数稳定准确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5384" y="6492239"/>
            <a:ext cx="2837687" cy="512064"/>
          </a:xfrm>
          <a:prstGeom prst="roundRect">
            <a:avLst>
              <a:gd name="adj" fmla="val 17857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客户使用、续约与付费得到验证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三年目标指标：每一步都可量化、可验收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67712"/>
            <a:ext cx="1143000" cy="384048"/>
          </a:xfrm>
          <a:prstGeom prst="roundRect">
            <a:avLst>
              <a:gd name="adj" fmla="val 23809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56232" y="2267712"/>
            <a:ext cx="2606040" cy="384048"/>
          </a:xfrm>
          <a:prstGeom prst="roundRect">
            <a:avLst>
              <a:gd name="adj" fmla="val 23809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2267712"/>
            <a:ext cx="2078736" cy="384048"/>
          </a:xfrm>
          <a:prstGeom prst="roundRect">
            <a:avLst>
              <a:gd name="adj" fmla="val 23809"/>
            </a:avLst>
          </a:prstGeom>
          <a:solidFill>
            <a:srgbClr val="5D9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第一年 · 治理筑基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0736" y="2267712"/>
            <a:ext cx="2078736" cy="384048"/>
          </a:xfrm>
          <a:prstGeom prst="roundRect">
            <a:avLst>
              <a:gd name="adj" fmla="val 23809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第二年 · 平台统一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84336" y="2267712"/>
            <a:ext cx="2078736" cy="384048"/>
          </a:xfrm>
          <a:prstGeom prst="roundRect">
            <a:avLst>
              <a:gd name="adj" fmla="val 2380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第三年 · 价值扩展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06624"/>
            <a:ext cx="1143000" cy="1005840"/>
          </a:xfrm>
          <a:prstGeom prst="roundRect">
            <a:avLst>
              <a:gd name="adj" fmla="val 909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数据可信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56232" y="2706624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企业标准指标认证数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2706624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首批 50 个核心指标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0736" y="2706624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200 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84336" y="2706624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覆盖全部对外指标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56232" y="3054096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核心表元数据完整率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7136" y="305409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80%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0736" y="305409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95%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84336" y="305409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98%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56232" y="3401568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关键数字逐层对账差异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136" y="340156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核销 ≤ 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50736" y="340156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全主题域 ≤ 0.5%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84336" y="340156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持续 ≤ 0.5%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85616"/>
            <a:ext cx="1143000" cy="658368"/>
          </a:xfrm>
          <a:prstGeom prst="roundRect">
            <a:avLst>
              <a:gd name="adj" fmla="val 13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模型复用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56232" y="3785616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重复模型下线比例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17136" y="378561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完成盘点与双跑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0736" y="378561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50%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84336" y="378561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80%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56232" y="4133088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公共模型复用率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17136" y="413308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40%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0736" y="413308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60%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336" y="413308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80%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517136"/>
            <a:ext cx="1143000" cy="658368"/>
          </a:xfrm>
          <a:prstGeom prst="roundRect">
            <a:avLst>
              <a:gd name="adj" fmla="val 13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服务效率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56232" y="4517136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关键数据时效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17136" y="451713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订单、核销分钟级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0736" y="451713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核心主题域小时级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84336" y="451713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按需实时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56232" y="4864608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标准系统接入周期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17136" y="486460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一个月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50736" y="486460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两周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84336" y="486460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三天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248656"/>
            <a:ext cx="1143000" cy="658368"/>
          </a:xfrm>
          <a:prstGeom prst="roundRect">
            <a:avLst>
              <a:gd name="adj" fmla="val 13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AI 与智能体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56232" y="5248656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AI 问数正确率（评测集）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17136" y="524865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85%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50736" y="524865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90%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84336" y="524865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95%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56232" y="5596128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接入可信数据的智能体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17136" y="559612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景数通、APP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50736" y="559612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调度中枢八个智能体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84336" y="559612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数字大脑与游客智能体全覆盖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5980176"/>
            <a:ext cx="1143000" cy="658368"/>
          </a:xfrm>
          <a:prstGeom prst="roundRect">
            <a:avLst>
              <a:gd name="adj" fmla="val 13888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赋能价值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56232" y="5980176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业务闭环跑通数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17136" y="598017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2 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50736" y="598017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4 条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84336" y="5980176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8 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56232" y="6327648"/>
            <a:ext cx="2606040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0" rIns="45720" bIns="0"/>
          <a:lstStyle/>
          <a:p>
            <a:pPr algn="l"/>
            <a:r>
              <a:rPr sz="1150" b="1">
                <a:solidFill>
                  <a:srgbClr val="2B2F42"/>
                </a:solidFill>
              </a:rPr>
              <a:t>自助分析完成率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17136" y="632764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30%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50736" y="632764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50%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84336" y="6327648"/>
            <a:ext cx="2078736" cy="310896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635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1">
                <a:solidFill>
                  <a:srgbClr val="B4551A"/>
                </a:solidFill>
              </a:rPr>
              <a:t>70%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6711696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注：以上为建议目标值；第一年先建立基线，测量后校准，作为每年验收口径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演进鱼骨图：从现有基础出发，三年推到目标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上方为数据与平台，下方为 AI 与赋能；每一节骨架都建在前一节之上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02  目标与蓝图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59936"/>
            <a:ext cx="1463040" cy="1243584"/>
          </a:xfrm>
          <a:prstGeom prst="roundRect">
            <a:avLst>
              <a:gd name="adj" fmla="val 7352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现有基础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EEDFF"/>
                </a:solidFill>
              </a:rPr>
              <a:t>离线主流程已贯通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EEDFF"/>
                </a:solidFill>
              </a:rPr>
              <a:t>DataWorks · API · BI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EEEDFF"/>
                </a:solidFill>
              </a:rPr>
              <a:t>三条产品线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7128" y="4617720"/>
            <a:ext cx="6976872" cy="12801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entagon 10"/>
          <p:cNvSpPr/>
          <p:nvPr/>
        </p:nvSpPr>
        <p:spPr>
          <a:xfrm>
            <a:off x="9098280" y="4023360"/>
            <a:ext cx="1764792" cy="1316736"/>
          </a:xfrm>
          <a:prstGeom prst="homePlate">
            <a:avLst/>
          </a:prstGeom>
          <a:gradFill rotWithShape="1">
            <a:gsLst>
              <a:gs pos="0">
                <a:srgbClr val="776CFD"/>
              </a:gs>
              <a:gs pos="100000">
                <a:srgbClr val="655BE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18288" rIns="201168" bIns="18288"/>
          <a:lstStyle/>
          <a:p>
            <a:pPr algn="l"/>
            <a:r>
              <a:rPr sz="1200" b="1">
                <a:solidFill>
                  <a:srgbClr val="FFFFFF"/>
                </a:solidFill>
              </a:rPr>
              <a:t>AI＋数据平台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赋能企业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FFFFFF"/>
                </a:solidFill>
              </a:rPr>
              <a:t>赋能行业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4288" y="44988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5D9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第一年 · 治理筑基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304032" y="2807208"/>
            <a:ext cx="914400" cy="1810512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18232" y="24780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数据与平台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48190" y="331012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02470" y="327355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6278" y="31729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标准与发布卡点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26610" y="367588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480890" y="363931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44698" y="353872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核销样板逐层核对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05029" y="404164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659309" y="400507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3117" y="390448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订单、核销实时链路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304032" y="4745736"/>
            <a:ext cx="914400" cy="181051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18232" y="65562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B4551A"/>
                </a:solidFill>
              </a:rPr>
              <a:t>AI 与赋能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05029" y="532180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659309" y="528523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23117" y="518464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AI 提效治理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26610" y="568756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480890" y="565099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44698" y="555040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问数接入认证指标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48190" y="605332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302470" y="601675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66278" y="59161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票务、订单闭环样板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29912" y="44988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第二年 · 平台统一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5629656" y="2807208"/>
            <a:ext cx="914400" cy="1810512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943856" y="24780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数据与平台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73814" y="331012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628094" y="327355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91902" y="31729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湖仓一体公共层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52234" y="367588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806514" y="363931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0322" y="353872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指标中心与 OneID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30653" y="404164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984933" y="400507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48741" y="390448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标准连接器一键接入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5629656" y="4745736"/>
            <a:ext cx="914400" cy="181051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943856" y="65562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B4551A"/>
                </a:solidFill>
              </a:rPr>
              <a:t>AI 与赋能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30653" y="532180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984933" y="528523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8741" y="518464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AI 共用能力上线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852234" y="568756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5806514" y="565099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70322" y="555040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调度智能体接入实时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73814" y="605332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628094" y="601675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91902" y="59161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供应商、智能体闭环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55536" y="449884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第三年 · 价值扩展</a:t>
            </a:r>
          </a:p>
        </p:txBody>
      </p:sp>
      <p:cxnSp>
        <p:nvCxnSpPr>
          <p:cNvPr id="59" name="Connector 58"/>
          <p:cNvCxnSpPr/>
          <p:nvPr/>
        </p:nvCxnSpPr>
        <p:spPr>
          <a:xfrm flipH="1" flipV="1">
            <a:off x="7955279" y="2807208"/>
            <a:ext cx="914401" cy="1810512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269479" y="24780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数据与平台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999438" y="331012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953718" y="327355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7526" y="31729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会员、感知、外部数据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177858" y="367588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8132138" y="363931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95946" y="353872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开放平台与计量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356277" y="4041648"/>
            <a:ext cx="201168" cy="0"/>
          </a:xfrm>
          <a:prstGeom prst="line">
            <a:avLst/>
          </a:prstGeom>
          <a:ln w="158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310557" y="4005072"/>
            <a:ext cx="73152" cy="73152"/>
          </a:xfrm>
          <a:prstGeom prst="ellipse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74365" y="390448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治理规范对外输出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7955279" y="4745736"/>
            <a:ext cx="914401" cy="181051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7269479" y="655624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B4551A"/>
                </a:solidFill>
              </a:rPr>
              <a:t>AI 与赋能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356277" y="532180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10557" y="528523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74365" y="518464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数字大脑智能体规模化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177858" y="568756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8132138" y="565099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95946" y="555040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对外产品付费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999438" y="6053328"/>
            <a:ext cx="201168" cy="0"/>
          </a:xfrm>
          <a:prstGeom prst="line">
            <a:avLst/>
          </a:prstGeom>
          <a:ln w="158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953718" y="6016752"/>
            <a:ext cx="73152" cy="73152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17526" y="5916168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100" b="0">
                <a:solidFill>
                  <a:srgbClr val="2B2F42"/>
                </a:solidFill>
              </a:rPr>
              <a:t>行业报告与团体标准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治理筑基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先让数据可信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治理体系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规范落地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核销治理样板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数据安全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提效治理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治理体系：六项能力，覆盖从源头到 AI 的全链路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73452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2619756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o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756916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2592323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30652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命名、类型、DDL、描述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896" y="2473452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3776" y="2619756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936" y="2756916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17008" y="2592323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数据地图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7008" y="2930652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表、指标、标签一处可查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3424" y="2473452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66303" y="2619756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463" y="2756916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79536" y="2592323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数据血缘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9536" y="2930652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来源可解释，影响可评估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61004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7" y="3607308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7" y="3744468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54480" y="3579876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918204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完整、准确、及时、一致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0896" y="3461004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03776" y="3607308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0936" y="3744468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17008" y="3579876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权限管理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7008" y="3918204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租户隔离、脱敏、留痕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3424" y="3461004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66303" y="3607308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har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3463" y="3744468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79536" y="3579876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资产运营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9536" y="3918204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版本、成本、复用、退役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466845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治理覆盖的链路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805173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源系统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882357" y="4933189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65821" y="4805173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接入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389811" y="4933189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73275" y="4805173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加工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897265" y="4933189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180729" y="4805173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ADS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404718" y="4933189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88182" y="4805173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API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7912172" y="4933189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95636" y="4805173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Quick BI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419626" y="4933189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03090" y="4805173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426965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机制　</a:t>
            </a:r>
            <a:r>
              <a:rPr sz="1250" b="0">
                <a:solidFill>
                  <a:srgbClr val="FFFFFF"/>
                </a:solidFill>
              </a:rPr>
              <a:t>治理委员会裁定口径争议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20896" y="5426965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责任　</a:t>
            </a:r>
            <a:r>
              <a:rPr sz="1250" b="0">
                <a:solidFill>
                  <a:srgbClr val="FFFFFF"/>
                </a:solidFill>
              </a:rPr>
              <a:t>每个域与指标有业务、技术负责人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83424" y="5426965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卡点　</a:t>
            </a:r>
            <a:r>
              <a:rPr sz="1250" b="0">
                <a:solidFill>
                  <a:srgbClr val="FFFFFF"/>
                </a:solidFill>
              </a:rPr>
              <a:t>发布前自动检查，不合规不发布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6249924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92808" y="624992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核心表元数据完整率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80% → 98%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58234" y="624992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质量规则覆盖率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主流程 100%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23660" y="624992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口径争议关闭周期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两周内裁定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89086" y="624992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资产健康分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月度公示、持续提升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规范落地：把规范从文档变成发布卡点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5748" y="288036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ourier New"/>
                <a:ea typeface="Courier New"/>
              </a:rPr>
              <a:t>dwd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5748" y="3657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1588" y="288036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45636" y="288036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ourier New"/>
                <a:ea typeface="Courier New"/>
              </a:rPr>
              <a:t>trd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5636" y="36576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主题域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1476" y="288036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5524" y="28803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B2F42"/>
                </a:solidFill>
                <a:latin typeface="Courier New"/>
                <a:ea typeface="Courier New"/>
              </a:rPr>
              <a:t>order_item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5524" y="3657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业务过程与粒度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2964" y="2880360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012" y="2880360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B2F42"/>
                </a:solidFill>
                <a:latin typeface="Courier New"/>
                <a:ea typeface="Courier New"/>
              </a:rPr>
              <a:t>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012" y="365760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更新方式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DDL 必填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4096512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中文名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2" y="4096512"/>
            <a:ext cx="6339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描述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0336" y="4096512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负责人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8160" y="4096512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安全等级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58384" y="4096512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生命周期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8608" y="4096512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分区字段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18832" y="4096512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字段注释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49056" y="4096512"/>
            <a:ext cx="1700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发生时间与上报时间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590288"/>
            <a:ext cx="309676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新建 · 卡点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发布前自动检查，不合规不发布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864864" y="5001768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12336" y="4590288"/>
            <a:ext cx="3096768" cy="1051560"/>
          </a:xfrm>
          <a:prstGeom prst="roundRect">
            <a:avLst>
              <a:gd name="adj" fmla="val 869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存量 · 整改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核心表优先，AI 补描述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418832" y="5001768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66304" y="4590288"/>
            <a:ext cx="3096768" cy="1051560"/>
          </a:xfrm>
          <a:prstGeom prst="roundRect">
            <a:avLst>
              <a:gd name="adj" fmla="val 8695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持续 · 运营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资产健康分，月度公示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843015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92808" y="5843015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新建表规范通过率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100%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58234" y="5843015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核心表整改完成率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第一年 80%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3660" y="5843015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DDL 必填完整率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≥ 95%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9086" y="5843015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不合规发布拦截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全部拦截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治理样板：先把入园与核销数字做准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72867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第一步　厘清四个指标，不能互相替代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20339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核销次数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按发生时间，扣除撤销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6644" y="2720339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3844" y="2720339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有效核销票数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至少核销一次的票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720339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720339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入园人次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入园通行次数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7596" y="2720339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4796" y="2720339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去重游客数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去重后的游客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753611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第二步　逐层核对，差异可追溯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19372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源端记录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50008" y="4402836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86634" y="4119372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加工明细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78274" y="4402836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14900" y="4119372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汇总指标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06540" y="4402836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43166" y="4119372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34806" y="4402836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71432" y="4119372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Quick BI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17252" y="4686300"/>
            <a:ext cx="0" cy="34747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504188" y="5033772"/>
            <a:ext cx="8513064" cy="0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504188" y="4686300"/>
            <a:ext cx="0" cy="347472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00400" y="512521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B4551A"/>
                </a:solidFill>
              </a:rPr>
              <a:t>发现差异 → 追溯 → 修复 → 重算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82412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FFE2C8"/>
                </a:solidFill>
              </a:rPr>
              <a:t>长效　</a:t>
            </a:r>
            <a:r>
              <a:rPr sz="1300" b="0">
                <a:solidFill>
                  <a:srgbClr val="FFFFFF"/>
                </a:solidFill>
              </a:rPr>
              <a:t>关键规则失败，阻断下游发布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5582412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FFE2C8"/>
                </a:solidFill>
              </a:rPr>
              <a:t>透明　</a:t>
            </a:r>
            <a:r>
              <a:rPr sz="1300" b="0">
                <a:solidFill>
                  <a:srgbClr val="FFFFFF"/>
                </a:solidFill>
              </a:rPr>
              <a:t>看板与 API 标注更新时间和质量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6350508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92808" y="6350508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四个核销指标认证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第一年完成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58234" y="6350508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逐层对账覆盖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源端到 BI 全链路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23660" y="6350508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差异发现到修复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一个工作日内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9086" y="6350508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节假日数据可信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实时可核对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数据安全：分级管控，权属清楚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637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数据分级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8488" y="2711196"/>
            <a:ext cx="2926080" cy="777240"/>
          </a:xfrm>
          <a:prstGeom prst="roundRect">
            <a:avLst>
              <a:gd name="adj" fmla="val 11764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L4 高敏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个人信息、人脸、政务核验结果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3598163"/>
            <a:ext cx="3566160" cy="777240"/>
          </a:xfrm>
          <a:prstGeom prst="roundRect">
            <a:avLst>
              <a:gd name="adj" fmla="val 11764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L3 敏感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单景区经营、价格、结算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" y="4485132"/>
            <a:ext cx="420624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L2 内部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日志、设备状态、匿名聚合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372100"/>
            <a:ext cx="4846320" cy="777240"/>
          </a:xfrm>
          <a:prstGeom prst="roundRect">
            <a:avLst>
              <a:gd name="adj" fmla="val 1176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L1 公开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已发布的报告与规范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3637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权属边界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711196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景区数据　</a:t>
            </a:r>
            <a:r>
              <a:rPr sz="1250" b="0">
                <a:solidFill>
                  <a:srgbClr val="5E6478"/>
                </a:solidFill>
              </a:rPr>
              <a:t>只服务该景区本人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296412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渠道数据　</a:t>
            </a:r>
            <a:r>
              <a:rPr sz="1250" b="0">
                <a:solidFill>
                  <a:srgbClr val="5E6478"/>
                </a:solidFill>
              </a:rPr>
              <a:t>不向其他渠道披露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881628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游客信息　</a:t>
            </a:r>
            <a:r>
              <a:rPr sz="1250" b="0">
                <a:solidFill>
                  <a:srgbClr val="5E6478"/>
                </a:solidFill>
              </a:rPr>
              <a:t>在用户授权范围内使用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466844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政务数据　</a:t>
            </a:r>
            <a:r>
              <a:rPr sz="1250" b="0">
                <a:solidFill>
                  <a:srgbClr val="5E6478"/>
                </a:solidFill>
              </a:rPr>
              <a:t>只用核验结果，不留原始数据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5052060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外部采购　</a:t>
            </a:r>
            <a:r>
              <a:rPr sz="1250" b="0">
                <a:solidFill>
                  <a:srgbClr val="5E6478"/>
                </a:solidFill>
              </a:rPr>
              <a:t>按合同约定范围使用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5637276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对外输出　</a:t>
            </a:r>
            <a:r>
              <a:rPr sz="1250" b="0">
                <a:solidFill>
                  <a:srgbClr val="FFFFFF"/>
                </a:solidFill>
              </a:rPr>
              <a:t>仅限匿名聚合结果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638708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501384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52728" y="638708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L4 明文不进入大模型　</a:t>
            </a:r>
            <a:r>
              <a:rPr sz="1200" b="0">
                <a:solidFill>
                  <a:srgbClr val="2B2F42"/>
                </a:solidFill>
              </a:rPr>
              <a:t>字段级打标 · 脱敏 · 行列权限 · 租户隔离 · 访问留痕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提效治理：AI 先做，负责人确认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00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5E6478"/>
                </a:solidFill>
              </a:rPr>
              <a:t>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00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AI 先做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5100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B4551A"/>
                </a:solidFill>
              </a:rPr>
              <a:t>负责人确认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75788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存量元数据补全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875788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根据表结构与 SQL 生成表和字段描述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78040" y="3040380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2875788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负责人审核后回写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43300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规范命名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543300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推荐规范的表名、字段名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78040" y="3707892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3543300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开发确认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10812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口径冲突发现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210812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识别同名异义、同义异算、相似 SQL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78040" y="4375404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4210812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治理委员会裁定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878324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质量规则推荐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878324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按字段特征和历史数据推荐规则与阈值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78040" y="5042916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4878324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技术负责人确认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545836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敏感字段识别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545836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自动识别证件、手机号、人脸并打标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78040" y="5710427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9520" y="5545836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安全负责人复核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6213348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异常根因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6213348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结合血缘给出可能原因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178040" y="6377940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89520" y="6213348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值班处理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平台统一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一份数据、一套口径、一个出口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统一底座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离线与湖仓合一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主题域补齐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指标体系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统一标签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自助分析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统一数据服务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统一底座：一份存储、一套模型、两种计算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离线与实时是两种计算方式，湖仓负责统一存储与管理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06040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业务库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63240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渠道接口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520440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设备事件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77639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行为日志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34840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057400" y="3611880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04872" y="2606040"/>
            <a:ext cx="1188720" cy="221284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E6478"/>
                </a:solidFill>
              </a:rPr>
              <a:t>统一接入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接入规范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对象标识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负责人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66744" y="3611880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14215" y="2606040"/>
            <a:ext cx="3566160" cy="2212848"/>
          </a:xfrm>
          <a:prstGeom prst="roundRect">
            <a:avLst>
              <a:gd name="adj" fmla="val 6198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269748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湖仓一体 · 公共模型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7096" y="3090672"/>
            <a:ext cx="3200400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离线计算 · DataWorks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7096" y="3547872"/>
            <a:ext cx="3200400" cy="384048"/>
          </a:xfrm>
          <a:prstGeom prst="roundRect">
            <a:avLst>
              <a:gd name="adj" fmla="val 23809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B2F42"/>
                </a:solidFill>
              </a:rPr>
              <a:t>实时计算 · 订单、核销先行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7096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ODS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8148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DWD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99201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0254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1307" y="4023360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7096" y="44348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776CFD"/>
                </a:solidFill>
              </a:rPr>
              <a:t>共享业务定义与质量规则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653527" y="3611880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01000" y="2606040"/>
            <a:ext cx="1188720" cy="221284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E6478"/>
                </a:solidFill>
              </a:rPr>
              <a:t>分析查询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稳定查询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负载隔离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62872" y="3611880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10344" y="2697480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0344" y="3410712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0344" y="4123944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0292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稳定与扩展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12848" y="498348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结构变更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70324" y="498348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失败恢复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27801" y="498348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补数重算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85278" y="498348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租户隔离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42755" y="4983480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高峰压测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8698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atabas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701284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52728" y="558698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预期产出　</a:t>
            </a:r>
            <a:r>
              <a:rPr sz="1200" b="0">
                <a:solidFill>
                  <a:srgbClr val="2B2F42"/>
                </a:solidFill>
              </a:rPr>
              <a:t>统一接入、离线与实时处理、湖仓底座、公共模型及标准数据集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6291072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92808" y="629107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核心任务成功率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≥ 99.5%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58234" y="629107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订单、核销时效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分钟级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23660" y="629107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补数重算时长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小时级完成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9086" y="629107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高峰压测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节前全部通过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离线与湖仓合一：同一逻辑只写一遍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4663440" cy="2331720"/>
          </a:xfrm>
          <a:prstGeom prst="roundRect">
            <a:avLst>
              <a:gd name="adj" fmla="val 5882"/>
            </a:avLst>
          </a:prstGeom>
          <a:solidFill>
            <a:srgbClr val="FDEEE2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现状：两条链路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2608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离线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35607" y="2926080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源数据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05456" y="3044952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34056" y="2926080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离线模型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03903" y="3044952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32503" y="2926080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9300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湖仓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35607" y="3493008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源数据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05456" y="3611880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34056" y="3493008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湖仓模型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03903" y="3611880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32503" y="3493008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 A′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160520"/>
            <a:ext cx="429767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4551A"/>
                </a:solidFill>
              </a:rPr>
              <a:t>同一逻辑写两遍 · 结果对不上 · 改口径要改多处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13247" y="3291840"/>
            <a:ext cx="411480" cy="34747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16168" y="2331720"/>
            <a:ext cx="4946904" cy="2331720"/>
          </a:xfrm>
          <a:prstGeom prst="roundRect">
            <a:avLst>
              <a:gd name="adj" fmla="val 5882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2450592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目标：一个底座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852928"/>
            <a:ext cx="4489704" cy="41148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公共层 DWD · DIM · DWS（只建一次）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364992"/>
            <a:ext cx="219913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离线计算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5340" y="3364992"/>
            <a:ext cx="219913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289036" y="3794760"/>
            <a:ext cx="201168" cy="22860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44768" y="4069080"/>
            <a:ext cx="4489704" cy="411480"/>
          </a:xfrm>
          <a:prstGeom prst="roundRect">
            <a:avLst>
              <a:gd name="adj" fmla="val 22222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统一指标 → BI · API ·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82803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合并步骤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193792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盘点重叠模型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465222" y="5367528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76118" y="5193792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确定保留版本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582972" y="5367528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93868" y="5193792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下游改为引用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700723" y="5367528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11619" y="5193792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双跑对比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818473" y="5367528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29369" y="5193792"/>
            <a:ext cx="1733702" cy="54864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下线重复模型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907024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存量不动、增量按新规范，双跑通过后逐域切换，保留回滚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6382512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92808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重复模型下线比例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50% → 80%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58234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双跑结果一致率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≥ 99.9%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23660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公共模型复用率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40% → 80%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9086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存储计算成本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持续下降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主题域补齐：以主流程为基线，按价值排序推进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对照产品全景：主流程已覆盖交易，业态、设备、财务、会员与感知数据待补齐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0028"/>
            <a:ext cx="2743200" cy="3520440"/>
          </a:xfrm>
          <a:prstGeom prst="roundRect">
            <a:avLst>
              <a:gd name="adj" fmla="val 3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182880" bIns="91440"/>
          <a:lstStyle/>
          <a:p>
            <a:pPr algn="l"/>
            <a:r>
              <a:rPr sz="1200" b="1">
                <a:solidFill>
                  <a:srgbClr val="EEEDFF"/>
                </a:solidFill>
              </a:rPr>
              <a:t>基线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离线主流程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已贯通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供应商 / 游客 / 会员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→ 订单 → 维度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20440" y="4110228"/>
            <a:ext cx="384048" cy="32918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510028"/>
            <a:ext cx="914400" cy="1691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优先补齐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510028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DEEE2"/>
          </a:solidFill>
          <a:ln w="1905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B4551A"/>
                </a:solidFill>
              </a:rPr>
              <a:t>1 · 治理样板</a:t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核销履约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闸机 · 网关 · 终端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9544" y="2510028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2</a:t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渠道分销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分销 · 报团 · 返利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9888" y="2510028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3</a:t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结算财务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报表 · 对账 · 发票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338828"/>
            <a:ext cx="914400" cy="1691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后续补齐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4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商品资源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票种 · 库存 · 价格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1958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5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业态消费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乐园 · 演出 · 酒店 · 餐饮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4716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6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会员营销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年卡 · 积分 · 全民营销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7474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7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设备感知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设备 · 智能体 · SaaS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6350508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in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464808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52728" y="6350508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复用公共维度　</a:t>
            </a:r>
            <a:r>
              <a:rPr sz="1300" b="0">
                <a:solidFill>
                  <a:srgbClr val="2B2F42"/>
                </a:solidFill>
              </a:rPr>
              <a:t>租户 · 景区 · 商品 · 渠道 · 时间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指标体系：企业统一标准，景区保留专属定义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同一出口，按景区隔离；同名不能覆盖企业标准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790188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公共模型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明细 · 维度 · 汇总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692908"/>
            <a:ext cx="3200400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企业标准指标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统一定义 · 版本管理 · 业务认证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430268"/>
            <a:ext cx="3200400" cy="1508760"/>
          </a:xfrm>
          <a:prstGeom prst="roundRect">
            <a:avLst>
              <a:gd name="adj" fmla="val 6060"/>
            </a:avLst>
          </a:prstGeom>
          <a:solidFill>
            <a:srgbClr val="FDEEE2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452170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景区自定义指标空间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4933188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4933188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68696" y="4933188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540867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相互隔离，只服务本景区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2" y="2729484"/>
            <a:ext cx="3200400" cy="658368"/>
          </a:xfrm>
          <a:prstGeom prst="roundRect">
            <a:avLst>
              <a:gd name="adj" fmla="val 13888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3872484"/>
            <a:ext cx="3200400" cy="658368"/>
          </a:xfrm>
          <a:prstGeom prst="roundRect">
            <a:avLst>
              <a:gd name="adj" fmla="val 13888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动态数据开放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5015484"/>
            <a:ext cx="3200400" cy="658368"/>
          </a:xfrm>
          <a:prstGeom prst="roundRect">
            <a:avLst>
              <a:gd name="adj" fmla="val 13888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问数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87168" y="4247387"/>
            <a:ext cx="484632" cy="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71800" y="3214116"/>
            <a:ext cx="0" cy="1975104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71800" y="3214116"/>
            <a:ext cx="502920" cy="0"/>
          </a:xfrm>
          <a:prstGeom prst="line">
            <a:avLst/>
          </a:prstGeom>
          <a:ln w="2222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971800" y="5189220"/>
            <a:ext cx="502920" cy="0"/>
          </a:xfrm>
          <a:prstGeom prst="line">
            <a:avLst/>
          </a:prstGeom>
          <a:ln w="2222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75120" y="3214116"/>
            <a:ext cx="502920" cy="0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78040" y="3058668"/>
            <a:ext cx="0" cy="2286000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78040" y="3058668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78040" y="4201668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78040" y="5344668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75120" y="5189220"/>
            <a:ext cx="502920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074920" y="3744468"/>
            <a:ext cx="0" cy="685800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93792" y="3945635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B4551A"/>
                </a:solidFill>
              </a:rPr>
              <a:t>评审后沉淀为标准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6140196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92808" y="6140196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企业标准指标认证数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50 → 200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58234" y="6140196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跨出口口径一致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BI、API、AI 一致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23660" y="6140196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景区自定义指标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按需开放、隔离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9086" y="6140196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沉淀为标准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评审后入库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统一标签：一处生产，多处复用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OneID：订单、会员、年卡、人脸识别归并为同一游客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578608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27048" y="2450592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统一生产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83464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基于 DIM / DWS 公共模型加工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77055" y="2743200"/>
            <a:ext cx="228600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97096" y="2331720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578608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65776" y="2450592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283464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口径 · 负责人 · 生命周期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415783" y="2743200"/>
            <a:ext cx="228600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35824" y="2331720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578608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04504" y="2450592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283464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营销 · 分析 · AI · 景区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547873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标签对象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92808" y="3547873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游客 / 会员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14292" y="3547873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5777" y="3547873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景区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7262" y="3547873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渠道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8747" y="3547873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商品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7083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标签类型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92808" y="4096512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基础属性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景区类型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会员等级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9664" y="4096512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统计类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近 30 天购票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客单价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096512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规则类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高频复购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夜游偏好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23376" y="4096512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模型预测类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流失风险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复购倾向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221225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ock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358385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5221225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边界　</a:t>
            </a:r>
            <a:r>
              <a:rPr sz="1300" b="0">
                <a:solidFill>
                  <a:srgbClr val="2B2F42"/>
                </a:solidFill>
              </a:rPr>
              <a:t>景区只用本景区标签 · 不做敏感个人信息标签 · 对外不提供个体标签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907025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指标回答“有多少”，标签回答“是谁、什么样”；两者共用公共模型和治理体系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6382512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92808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OneID 归并覆盖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核心游客全覆盖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58234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标签复用场景数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持续增加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23660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关键标签时效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准实时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9086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无人使用标签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定期下线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自助分析：从统一模型出发，减少临时取数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23160"/>
            <a:ext cx="2286000" cy="23774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EDFF"/>
                </a:solidFill>
              </a:rPr>
              <a:t>统一出发点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模型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指标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标签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35808" y="3493008"/>
            <a:ext cx="292608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423160"/>
            <a:ext cx="4251960" cy="2377440"/>
          </a:xfrm>
          <a:prstGeom prst="roundRect">
            <a:avLst>
              <a:gd name="adj" fmla="val 5769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606040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87368" y="258775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Quick BI 自助分析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154680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7824" y="3154680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明细探索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8048" y="3154680"/>
            <a:ext cx="10911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可视化计算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611880"/>
            <a:ext cx="10911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自定义看板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0224" y="3611880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报表订阅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20624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5E6478"/>
                </a:solidFill>
              </a:rPr>
              <a:t>景区指标与权限统一管理，集成到 BI 使用流程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72400" y="3493008"/>
            <a:ext cx="292608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80" y="2423160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总部经营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跨景区对比 · 标准口径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246120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业务线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日常分析 · 少提需求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069080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景区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嵌入 SaaS · 本景区数据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65193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655BE6"/>
                </a:solidFill>
              </a:rPr>
              <a:t>AI 问数与 BI 同源　</a:t>
            </a:r>
            <a:r>
              <a:rPr sz="1300" b="0">
                <a:solidFill>
                  <a:srgbClr val="2B2F42"/>
                </a:solidFill>
              </a:rPr>
              <a:t>共用指标定义和权限，问出来的数和看板上的数一致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678425"/>
            <a:ext cx="10204704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806441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52728" y="5678425"/>
            <a:ext cx="9427464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预期产出　</a:t>
            </a:r>
            <a:r>
              <a:rPr sz="1200" b="0">
                <a:solidFill>
                  <a:srgbClr val="2B2F42"/>
                </a:solidFill>
              </a:rPr>
              <a:t>企业指标中心 · 景区专属指标空间 · 统一标签服务 · 统一语义服务 · 自助分析平台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6409944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92808" y="640994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自助分析完成率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30% → 70%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58234" y="640994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临时取数需求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持续下降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23660" y="640994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月活跃用户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持续提升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9086" y="640994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报表订阅数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持续提升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数据服务：动态数据开放 API 升级为统一出口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04  平台统一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当前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7048" y="2468880"/>
            <a:ext cx="2194560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1">
                <a:solidFill>
                  <a:srgbClr val="FFFFFF"/>
                </a:solidFill>
              </a:rPr>
              <a:t>ADS 指标快速发布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54680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升级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7048" y="3154680"/>
            <a:ext cx="288036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0">
                <a:solidFill>
                  <a:srgbClr val="2B2F42"/>
                </a:solidFill>
              </a:rPr>
              <a:t>关联标准指标 · 权限 · 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840480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服务化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7048" y="3840480"/>
            <a:ext cx="3566160" cy="530352"/>
          </a:xfrm>
          <a:prstGeom prst="roundRect">
            <a:avLst>
              <a:gd name="adj" fmla="val 17241"/>
            </a:avLst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0">
                <a:solidFill>
                  <a:srgbClr val="2B2F42"/>
                </a:solidFill>
              </a:rPr>
              <a:t>指标与标签服务 · 租户隔离 · AI 工具化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26280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开放化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7048" y="4526280"/>
            <a:ext cx="4251960" cy="530352"/>
          </a:xfrm>
          <a:prstGeom prst="roundRect">
            <a:avLst>
              <a:gd name="adj" fmla="val 17241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0">
                <a:solidFill>
                  <a:srgbClr val="2B2F42"/>
                </a:solidFill>
              </a:rPr>
              <a:t>嵌入式 BI 与 AI 集成 · 套餐与计量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349240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in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477255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52728" y="5349240"/>
            <a:ext cx="4343399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一键接入　</a:t>
            </a:r>
            <a:r>
              <a:rPr sz="1200" b="0">
                <a:solidFill>
                  <a:srgbClr val="2B2F42"/>
                </a:solidFill>
              </a:rPr>
              <a:t>标准连接器 · 接入向导 · 运行监测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1691640" cy="100584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统一指标与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标签服务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79" y="4206240"/>
            <a:ext cx="320041" cy="0"/>
          </a:xfrm>
          <a:prstGeom prst="line">
            <a:avLst/>
          </a:prstGeom>
          <a:ln w="25400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75320" y="2697480"/>
            <a:ext cx="0" cy="3017520"/>
          </a:xfrm>
          <a:prstGeom prst="line">
            <a:avLst/>
          </a:prstGeom>
          <a:ln w="25400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41080" y="242316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Quick BI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75320" y="269748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41080" y="320040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业务系统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75320" y="347472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41080" y="393192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景区 SaaS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75320" y="420624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41080" y="466344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合作伙伴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75320" y="493776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41080" y="5440680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智能体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75320" y="5715000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63640" y="4937760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776CFD"/>
                </a:solidFill>
              </a:rPr>
              <a:t>一套服务</a:t>
            </a:r>
          </a:p>
          <a:p>
            <a:pPr algn="ctr"/>
            <a:r>
              <a:rPr sz="1200" b="1">
                <a:solidFill>
                  <a:srgbClr val="776CFD"/>
                </a:solidFill>
              </a:rPr>
              <a:t>内外口径一致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6190488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92808" y="6190488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服务可用性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≥ 99.9%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58234" y="6190488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响应时长 P95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秒级以内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3660" y="6190488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接入伙伴数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逐年增长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9086" y="6190488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调用量与计量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可按产品核算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AI 与智能体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让智能体用上可信数据，从看数到办事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AI 平台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支撑三条产品线的 AI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数字大脑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智能体闭环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问数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智能体的赋能与影响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平台：AI 只通过可信数据作答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辅助数据建设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5382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问数与分析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2236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预测与预警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9091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知识助手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5945" y="2331720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业务助手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3756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共用能力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8528" y="3337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模型服务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3337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知识服务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3337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工具服务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14232" y="3337560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评测运营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4340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可信数据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38528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指标服务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5382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标签服务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2236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知识库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9091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元数据与血缘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5945" y="4343400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权限隔离</a:t>
            </a:r>
          </a:p>
        </p:txBody>
      </p:sp>
      <p:sp>
        <p:nvSpPr>
          <p:cNvPr id="25" name="Up Arrow 24"/>
          <p:cNvSpPr/>
          <p:nvPr/>
        </p:nvSpPr>
        <p:spPr>
          <a:xfrm>
            <a:off x="6281928" y="2926080"/>
            <a:ext cx="237744" cy="347472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6281928" y="3931920"/>
            <a:ext cx="237744" cy="347472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038344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18464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5038344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AI 不直接生成数字，只通过受控的指标与数据服务取数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769864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推进顺序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38528" y="5769864"/>
            <a:ext cx="1502664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1 辅助数据建设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514344" y="5879592"/>
            <a:ext cx="228600" cy="182880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16096" y="5769864"/>
            <a:ext cx="1109472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2 AI 问数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998720" y="5879592"/>
            <a:ext cx="228600" cy="182880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00472" y="5769864"/>
            <a:ext cx="1655064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3 预测与业务助手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6382512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92808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AI 问数正确率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85% → 95%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58234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越权阻断率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100%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23660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单次问答成本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持续下降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9086" y="6382512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评测集覆盖场景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持续扩充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一套可信底座，支撑三条产品线的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32304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96312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7" y="29169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票务 AI 运营助手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330098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AI 对账助手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6136" y="2432304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16" y="2496312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9016" y="29169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景数通 问数 · 洞察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330098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APP 问数 · 预警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9016" y="368503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调度中枢 八个智能体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3904" y="2432304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6783" y="2496312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6783" y="29169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旅游规划 · 智能客服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6783" y="330098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智能购票 · 伴游 · 旅拍</a:t>
            </a:r>
          </a:p>
        </p:txBody>
      </p:sp>
      <p:sp>
        <p:nvSpPr>
          <p:cNvPr id="21" name="Up Arrow 20"/>
          <p:cNvSpPr/>
          <p:nvPr/>
        </p:nvSpPr>
        <p:spPr>
          <a:xfrm>
            <a:off x="5641848" y="4169664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535424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AI 共用能力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38528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模型网关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7096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知识检索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智能体工具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14232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评测反馈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129784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可信数据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38528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认证指标与语义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5382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统一标签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2236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数据服务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9091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实时事件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65945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权限隔离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86130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998464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52728" y="586130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4551A"/>
                </a:solidFill>
              </a:rPr>
              <a:t>关键　</a:t>
            </a:r>
            <a:r>
              <a:rPr sz="1250" b="0">
                <a:solidFill>
                  <a:srgbClr val="2B2F42"/>
                </a:solidFill>
              </a:rPr>
              <a:t>景数通、票付通 APP 都有 AI 问数，共用一套认证指标：同一个问题只有一个答案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47104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各产品的问答日志、纠错和工单结果，回流到评测集与知识库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数字大脑：三款产品，共用一个可信数据底座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智能体业务的主阵地；平台负责“数据、知识、工具”，智能体负责“看数、预警、办事”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46604"/>
            <a:ext cx="3249168" cy="2971800"/>
          </a:xfrm>
          <a:prstGeom prst="roundRect">
            <a:avLst>
              <a:gd name="adj" fmla="val 4307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711196"/>
            <a:ext cx="566928" cy="56692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2852927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" y="2711196"/>
            <a:ext cx="224332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景数通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031236"/>
            <a:ext cx="2243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看得清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347929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多源数据汇聚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3881628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文旅数据大屏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" y="428396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智能问数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7" y="4686300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智能洞察</a:t>
            </a:r>
          </a:p>
        </p:txBody>
      </p:sp>
      <p:sp>
        <p:nvSpPr>
          <p:cNvPr id="18" name="Up Arrow 17"/>
          <p:cNvSpPr/>
          <p:nvPr/>
        </p:nvSpPr>
        <p:spPr>
          <a:xfrm>
            <a:off x="2164080" y="5591556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02452"/>
            <a:ext cx="32491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平台提供：认证指标 · 多源接入 · 统一语义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6136" y="2546604"/>
            <a:ext cx="3249168" cy="2971800"/>
          </a:xfrm>
          <a:prstGeom prst="roundRect">
            <a:avLst>
              <a:gd name="adj" fmla="val 4307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37304" y="2711196"/>
            <a:ext cx="566928" cy="56692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036" y="2852927"/>
            <a:ext cx="283464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50536" y="2711196"/>
            <a:ext cx="224332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景区 AI 调度中枢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0536" y="3031236"/>
            <a:ext cx="2243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B4551A"/>
                </a:solidFill>
              </a:rPr>
              <a:t>调得动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9016" y="3479292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旅游安全智能体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479292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秩序治理智能体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9016" y="3881628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车辆调度智能体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3881628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游船调度智能体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9016" y="4283964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森林防火智能体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4283964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生态监测智能体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9016" y="4686300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气象服务智能体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4686300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设施监测智能体</a:t>
            </a:r>
          </a:p>
        </p:txBody>
      </p:sp>
      <p:sp>
        <p:nvSpPr>
          <p:cNvPr id="33" name="Up Arrow 32"/>
          <p:cNvSpPr/>
          <p:nvPr/>
        </p:nvSpPr>
        <p:spPr>
          <a:xfrm>
            <a:off x="5641848" y="5591556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6136" y="5902452"/>
            <a:ext cx="32491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平台提供：实时事件 · 物联与气象 · 规则知识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13904" y="2546604"/>
            <a:ext cx="3249168" cy="2971800"/>
          </a:xfrm>
          <a:prstGeom prst="roundRect">
            <a:avLst>
              <a:gd name="adj" fmla="val 4307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15072" y="2711196"/>
            <a:ext cx="566928" cy="56692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e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804" y="2852927"/>
            <a:ext cx="283464" cy="2834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28304" y="2711196"/>
            <a:ext cx="224332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票付通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8304" y="3031236"/>
            <a:ext cx="2243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随身办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96783" y="347929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移动驾驶舱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6783" y="3881628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智能问数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96783" y="428396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智能洞察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96783" y="4686300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消息通知预警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96783" y="50886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工单调度处置</a:t>
            </a:r>
          </a:p>
        </p:txBody>
      </p:sp>
      <p:sp>
        <p:nvSpPr>
          <p:cNvPr id="45" name="Up Arrow 44"/>
          <p:cNvSpPr/>
          <p:nvPr/>
        </p:nvSpPr>
        <p:spPr>
          <a:xfrm>
            <a:off x="9119616" y="5591556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3904" y="5902452"/>
            <a:ext cx="32491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平台提供：指标服务 · 预警规则 · 工单回流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6249924"/>
            <a:ext cx="10204704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AI＋数据平台　</a:t>
            </a:r>
            <a:r>
              <a:rPr sz="1400" b="0">
                <a:solidFill>
                  <a:srgbClr val="FFFFFF"/>
                </a:solidFill>
              </a:rPr>
              <a:t>认证指标 · 统一标签 · 实时事件 · 知识库 · 智能体工具 · 权限与审计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智能体闭环：从“看数”到“办事”，处置结果再回流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39</a:t>
            </a:r>
          </a:p>
        </p:txBody>
      </p:sp>
      <p:grpSp>
        <p:nvGrpSpPr>
          <p:cNvPr id="21400" name="素材 22"/>
          <p:cNvGrpSpPr/>
          <p:nvPr/>
        </p:nvGrpSpPr>
        <p:grpSpPr>
          <a:xfrm>
            <a:off x="914400" y="2788920"/>
            <a:ext cx="9692640" cy="2998493"/>
            <a:chOff x="897064" y="2795992"/>
            <a:chExt cx="8850635" cy="2738013"/>
          </a:xfrm>
        </p:grpSpPr>
        <p:sp>
          <p:nvSpPr>
            <p:cNvPr id="21401" name="Line 6"/>
            <p:cNvSpPr>
              <a:spLocks noChangeShapeType="1"/>
            </p:cNvSpPr>
            <p:nvPr/>
          </p:nvSpPr>
          <p:spPr bwMode="auto">
            <a:xfrm rot="18900000">
              <a:off x="7753569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776CF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Line 7"/>
            <p:cNvSpPr>
              <a:spLocks noChangeShapeType="1"/>
            </p:cNvSpPr>
            <p:nvPr/>
          </p:nvSpPr>
          <p:spPr bwMode="auto">
            <a:xfrm rot="18900000">
              <a:off x="6053708" y="3980542"/>
              <a:ext cx="216173" cy="218070"/>
            </a:xfrm>
            <a:prstGeom prst="line">
              <a:avLst/>
            </a:prstGeom>
            <a:noFill/>
            <a:ln w="34925" cap="rnd">
              <a:solidFill>
                <a:srgbClr val="5D95F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Line 8"/>
            <p:cNvSpPr>
              <a:spLocks noChangeShapeType="1"/>
            </p:cNvSpPr>
            <p:nvPr/>
          </p:nvSpPr>
          <p:spPr bwMode="auto">
            <a:xfrm rot="18900000">
              <a:off x="4371931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655BE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4" name="Line 9"/>
            <p:cNvSpPr>
              <a:spLocks noChangeShapeType="1"/>
            </p:cNvSpPr>
            <p:nvPr/>
          </p:nvSpPr>
          <p:spPr bwMode="auto">
            <a:xfrm rot="18900000">
              <a:off x="2640053" y="3982044"/>
              <a:ext cx="210485" cy="212381"/>
            </a:xfrm>
            <a:prstGeom prst="line">
              <a:avLst/>
            </a:prstGeom>
            <a:noFill/>
            <a:ln w="34925" cap="rnd">
              <a:solidFill>
                <a:srgbClr val="F08A3C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10"/>
            <p:cNvSpPr/>
            <p:nvPr/>
          </p:nvSpPr>
          <p:spPr bwMode="auto">
            <a:xfrm rot="18900000">
              <a:off x="897064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F08A3C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grpSp>
          <p:nvGrpSpPr>
            <p:cNvPr id="21406" name="Group 54"/>
            <p:cNvGrpSpPr/>
            <p:nvPr/>
          </p:nvGrpSpPr>
          <p:grpSpPr>
            <a:xfrm>
              <a:off x="1495950" y="3573124"/>
              <a:ext cx="1027771" cy="1031563"/>
              <a:chOff x="2239027" y="3573124"/>
              <a:chExt cx="1027771" cy="1031563"/>
            </a:xfrm>
          </p:grpSpPr>
          <p:sp>
            <p:nvSpPr>
              <p:cNvPr id="21407" name="Freeform 11"/>
              <p:cNvSpPr/>
              <p:nvPr/>
            </p:nvSpPr>
            <p:spPr bwMode="auto">
              <a:xfrm rot="18900000">
                <a:off x="2239027" y="3573124"/>
                <a:ext cx="1027771" cy="1031563"/>
              </a:xfrm>
              <a:custGeom>
                <a:avLst/>
                <a:gdLst>
                  <a:gd name="T0" fmla="*/ 396 w 396"/>
                  <a:gd name="T1" fmla="*/ 198 h 396"/>
                  <a:gd name="T2" fmla="*/ 198 w 396"/>
                  <a:gd name="T3" fmla="*/ 396 h 396"/>
                  <a:gd name="T4" fmla="*/ 0 w 396"/>
                  <a:gd name="T5" fmla="*/ 198 h 396"/>
                  <a:gd name="T6" fmla="*/ 198 w 396"/>
                  <a:gd name="T7" fmla="*/ 0 h 396"/>
                  <a:gd name="T8" fmla="*/ 396 w 396"/>
                  <a:gd name="T9" fmla="*/ 198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396">
                    <a:moveTo>
                      <a:pt x="396" y="198"/>
                    </a:moveTo>
                    <a:cubicBezTo>
                      <a:pt x="396" y="307"/>
                      <a:pt x="307" y="396"/>
                      <a:pt x="198" y="396"/>
                    </a:cubicBezTo>
                    <a:cubicBezTo>
                      <a:pt x="89" y="396"/>
                      <a:pt x="0" y="307"/>
                      <a:pt x="0" y="198"/>
                    </a:cubicBezTo>
                    <a:cubicBezTo>
                      <a:pt x="0" y="88"/>
                      <a:pt x="89" y="0"/>
                      <a:pt x="198" y="0"/>
                    </a:cubicBezTo>
                    <a:cubicBezTo>
                      <a:pt x="308" y="0"/>
                      <a:pt x="396" y="89"/>
                      <a:pt x="396" y="198"/>
                    </a:cubicBez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Oval 12"/>
              <p:cNvSpPr>
                <a:spLocks noChangeArrowheads="1"/>
              </p:cNvSpPr>
              <p:nvPr/>
            </p:nvSpPr>
            <p:spPr bwMode="auto">
              <a:xfrm rot="18900000">
                <a:off x="2338580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09" name="Group 55"/>
            <p:cNvGrpSpPr/>
            <p:nvPr/>
          </p:nvGrpSpPr>
          <p:grpSpPr>
            <a:xfrm>
              <a:off x="3202189" y="3574743"/>
              <a:ext cx="1027771" cy="1029667"/>
              <a:chOff x="3945266" y="3574743"/>
              <a:chExt cx="1027771" cy="1029667"/>
            </a:xfrm>
          </p:grpSpPr>
          <p:sp>
            <p:nvSpPr>
              <p:cNvPr id="21410" name="Oval 18"/>
              <p:cNvSpPr>
                <a:spLocks noChangeArrowheads="1"/>
              </p:cNvSpPr>
              <p:nvPr/>
            </p:nvSpPr>
            <p:spPr bwMode="auto">
              <a:xfrm rot="18900000">
                <a:off x="3945266" y="3574743"/>
                <a:ext cx="1027771" cy="1029667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1" name="Freeform 21"/>
              <p:cNvSpPr/>
              <p:nvPr/>
            </p:nvSpPr>
            <p:spPr bwMode="auto">
              <a:xfrm rot="18900000">
                <a:off x="4042808" y="3674574"/>
                <a:ext cx="828665" cy="828664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2" name="Group 56"/>
            <p:cNvGrpSpPr/>
            <p:nvPr/>
          </p:nvGrpSpPr>
          <p:grpSpPr>
            <a:xfrm>
              <a:off x="4903458" y="3575413"/>
              <a:ext cx="1029668" cy="1029667"/>
              <a:chOff x="5646535" y="3575413"/>
              <a:chExt cx="1029668" cy="1029667"/>
            </a:xfrm>
          </p:grpSpPr>
          <p:sp>
            <p:nvSpPr>
              <p:cNvPr id="21413" name="Oval 14"/>
              <p:cNvSpPr>
                <a:spLocks noChangeArrowheads="1"/>
              </p:cNvSpPr>
              <p:nvPr/>
            </p:nvSpPr>
            <p:spPr bwMode="auto">
              <a:xfrm rot="18900000">
                <a:off x="5646535" y="3575413"/>
                <a:ext cx="1029668" cy="1029667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4" name="Freeform 22"/>
              <p:cNvSpPr/>
              <p:nvPr/>
            </p:nvSpPr>
            <p:spPr bwMode="auto">
              <a:xfrm rot="18900000">
                <a:off x="5749047" y="3674295"/>
                <a:ext cx="828665" cy="830560"/>
              </a:xfrm>
              <a:custGeom>
                <a:avLst/>
                <a:gdLst>
                  <a:gd name="T0" fmla="*/ 319 w 319"/>
                  <a:gd name="T1" fmla="*/ 159 h 319"/>
                  <a:gd name="T2" fmla="*/ 159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59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59"/>
                    </a:moveTo>
                    <a:cubicBezTo>
                      <a:pt x="319" y="247"/>
                      <a:pt x="248" y="319"/>
                      <a:pt x="159" y="319"/>
                    </a:cubicBezTo>
                    <a:cubicBezTo>
                      <a:pt x="71" y="319"/>
                      <a:pt x="0" y="247"/>
                      <a:pt x="0" y="159"/>
                    </a:cubicBezTo>
                    <a:cubicBezTo>
                      <a:pt x="0" y="71"/>
                      <a:pt x="71" y="0"/>
                      <a:pt x="160" y="0"/>
                    </a:cubicBezTo>
                    <a:cubicBezTo>
                      <a:pt x="248" y="0"/>
                      <a:pt x="319" y="71"/>
                      <a:pt x="319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5" name="Group 57"/>
            <p:cNvGrpSpPr/>
            <p:nvPr/>
          </p:nvGrpSpPr>
          <p:grpSpPr>
            <a:xfrm>
              <a:off x="6609026" y="3575413"/>
              <a:ext cx="1029668" cy="1029667"/>
              <a:chOff x="7352103" y="3575413"/>
              <a:chExt cx="1029668" cy="1029667"/>
            </a:xfrm>
          </p:grpSpPr>
          <p:sp>
            <p:nvSpPr>
              <p:cNvPr id="21416" name="Oval 20"/>
              <p:cNvSpPr>
                <a:spLocks noChangeArrowheads="1"/>
              </p:cNvSpPr>
              <p:nvPr/>
            </p:nvSpPr>
            <p:spPr bwMode="auto">
              <a:xfrm rot="18900000">
                <a:off x="7352103" y="3575413"/>
                <a:ext cx="1029668" cy="1029667"/>
              </a:xfrm>
              <a:prstGeom prst="ellipse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7" name="Oval 23"/>
              <p:cNvSpPr>
                <a:spLocks noChangeArrowheads="1"/>
              </p:cNvSpPr>
              <p:nvPr/>
            </p:nvSpPr>
            <p:spPr bwMode="auto">
              <a:xfrm rot="18900000">
                <a:off x="7452604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8" name="Group 58"/>
            <p:cNvGrpSpPr/>
            <p:nvPr/>
          </p:nvGrpSpPr>
          <p:grpSpPr>
            <a:xfrm>
              <a:off x="8313254" y="3576755"/>
              <a:ext cx="1029668" cy="1029667"/>
              <a:chOff x="9056331" y="3576755"/>
              <a:chExt cx="1029668" cy="1029667"/>
            </a:xfrm>
          </p:grpSpPr>
          <p:sp>
            <p:nvSpPr>
              <p:cNvPr id="21419" name="Oval 16"/>
              <p:cNvSpPr>
                <a:spLocks noChangeArrowheads="1"/>
              </p:cNvSpPr>
              <p:nvPr/>
            </p:nvSpPr>
            <p:spPr bwMode="auto">
              <a:xfrm rot="18900000">
                <a:off x="9056331" y="3576755"/>
                <a:ext cx="1029668" cy="1029667"/>
              </a:xfrm>
              <a:prstGeom prst="ellipse">
                <a:avLst/>
              </a:pr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20" name="Freeform 24"/>
              <p:cNvSpPr/>
              <p:nvPr/>
            </p:nvSpPr>
            <p:spPr bwMode="auto">
              <a:xfrm rot="18900000">
                <a:off x="9155885" y="3674967"/>
                <a:ext cx="830560" cy="830560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421" name="Freeform 15"/>
            <p:cNvSpPr/>
            <p:nvPr/>
          </p:nvSpPr>
          <p:spPr bwMode="auto">
            <a:xfrm rot="2700000" flipV="1">
              <a:off x="2538944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655BE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22" name="Freeform 15"/>
            <p:cNvSpPr/>
            <p:nvPr/>
          </p:nvSpPr>
          <p:spPr bwMode="auto">
            <a:xfrm rot="2700000" flipV="1">
              <a:off x="5951422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776CF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23" name="Freeform 10"/>
            <p:cNvSpPr/>
            <p:nvPr/>
          </p:nvSpPr>
          <p:spPr bwMode="auto">
            <a:xfrm rot="18900000">
              <a:off x="4326021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5D95F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24" name="Freeform 10"/>
            <p:cNvSpPr/>
            <p:nvPr/>
          </p:nvSpPr>
          <p:spPr bwMode="auto">
            <a:xfrm rot="18900000">
              <a:off x="7720600" y="2795993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6C95FD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425" name="Picture 21424" descr="database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454" y="3979556"/>
            <a:ext cx="457200" cy="457200"/>
          </a:xfrm>
          <a:prstGeom prst="rect">
            <a:avLst/>
          </a:prstGeom>
        </p:spPr>
      </p:pic>
      <p:sp>
        <p:nvSpPr>
          <p:cNvPr id="21426" name="TextBox 21425"/>
          <p:cNvSpPr txBox="1"/>
          <p:nvPr/>
        </p:nvSpPr>
        <p:spPr>
          <a:xfrm>
            <a:off x="2275249" y="233054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01  感知汇聚</a:t>
            </a:r>
          </a:p>
        </p:txBody>
      </p:sp>
      <p:sp>
        <p:nvSpPr>
          <p:cNvPr id="21427" name="TextBox 21426"/>
          <p:cNvSpPr txBox="1"/>
          <p:nvPr/>
        </p:nvSpPr>
        <p:spPr>
          <a:xfrm>
            <a:off x="2275249" y="267802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票务、客流、设备、气象</a:t>
            </a:r>
          </a:p>
        </p:txBody>
      </p:sp>
      <p:pic>
        <p:nvPicPr>
          <p:cNvPr id="21428" name="Picture 21427" descr="search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041" y="3979556"/>
            <a:ext cx="457200" cy="457200"/>
          </a:xfrm>
          <a:prstGeom prst="rect">
            <a:avLst/>
          </a:prstGeom>
        </p:spPr>
      </p:pic>
      <p:sp>
        <p:nvSpPr>
          <p:cNvPr id="21429" name="TextBox 21428"/>
          <p:cNvSpPr txBox="1"/>
          <p:nvPr/>
        </p:nvSpPr>
        <p:spPr>
          <a:xfrm>
            <a:off x="4137836" y="5334723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02  AI 洞察</a:t>
            </a:r>
          </a:p>
        </p:txBody>
      </p:sp>
      <p:sp>
        <p:nvSpPr>
          <p:cNvPr id="21430" name="TextBox 21429"/>
          <p:cNvSpPr txBox="1"/>
          <p:nvPr/>
        </p:nvSpPr>
        <p:spPr>
          <a:xfrm>
            <a:off x="4137836" y="568219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主动发现异常</a:t>
            </a:r>
          </a:p>
        </p:txBody>
      </p:sp>
      <p:pic>
        <p:nvPicPr>
          <p:cNvPr id="21431" name="Picture 21430" descr="warning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638" y="3979556"/>
            <a:ext cx="457200" cy="457200"/>
          </a:xfrm>
          <a:prstGeom prst="rect">
            <a:avLst/>
          </a:prstGeom>
        </p:spPr>
      </p:pic>
      <p:sp>
        <p:nvSpPr>
          <p:cNvPr id="21432" name="TextBox 21431"/>
          <p:cNvSpPr txBox="1"/>
          <p:nvPr/>
        </p:nvSpPr>
        <p:spPr>
          <a:xfrm>
            <a:off x="6005432" y="233054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03  预警推送</a:t>
            </a:r>
          </a:p>
        </p:txBody>
      </p:sp>
      <p:sp>
        <p:nvSpPr>
          <p:cNvPr id="21433" name="TextBox 21432"/>
          <p:cNvSpPr txBox="1"/>
          <p:nvPr/>
        </p:nvSpPr>
        <p:spPr>
          <a:xfrm>
            <a:off x="6005432" y="267802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APP 推给对的人</a:t>
            </a:r>
          </a:p>
        </p:txBody>
      </p:sp>
      <p:pic>
        <p:nvPicPr>
          <p:cNvPr id="21434" name="Picture 21433" descr="bol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240" y="3979556"/>
            <a:ext cx="457200" cy="457200"/>
          </a:xfrm>
          <a:prstGeom prst="rect">
            <a:avLst/>
          </a:prstGeom>
        </p:spPr>
      </p:pic>
      <p:sp>
        <p:nvSpPr>
          <p:cNvPr id="21435" name="TextBox 21434"/>
          <p:cNvSpPr txBox="1"/>
          <p:nvPr/>
        </p:nvSpPr>
        <p:spPr>
          <a:xfrm>
            <a:off x="7878034" y="5334723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04  调度处置</a:t>
            </a:r>
          </a:p>
        </p:txBody>
      </p:sp>
      <p:sp>
        <p:nvSpPr>
          <p:cNvPr id="21436" name="TextBox 21435"/>
          <p:cNvSpPr txBox="1"/>
          <p:nvPr/>
        </p:nvSpPr>
        <p:spPr>
          <a:xfrm>
            <a:off x="7878034" y="568219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智能体 + 工单，人机协同</a:t>
            </a:r>
          </a:p>
        </p:txBody>
      </p:sp>
      <p:pic>
        <p:nvPicPr>
          <p:cNvPr id="21437" name="Picture 21436" descr="activity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1828" y="3979556"/>
            <a:ext cx="457200" cy="457200"/>
          </a:xfrm>
          <a:prstGeom prst="rect">
            <a:avLst/>
          </a:prstGeom>
        </p:spPr>
      </p:pic>
      <p:sp>
        <p:nvSpPr>
          <p:cNvPr id="21438" name="TextBox 21437"/>
          <p:cNvSpPr txBox="1"/>
          <p:nvPr/>
        </p:nvSpPr>
        <p:spPr>
          <a:xfrm>
            <a:off x="9740622" y="233054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05  复盘回流</a:t>
            </a:r>
          </a:p>
        </p:txBody>
      </p:sp>
      <p:sp>
        <p:nvSpPr>
          <p:cNvPr id="21439" name="TextBox 21438"/>
          <p:cNvSpPr txBox="1"/>
          <p:nvPr/>
        </p:nvSpPr>
        <p:spPr>
          <a:xfrm>
            <a:off x="9740622" y="267802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补规则、补知识</a:t>
            </a:r>
          </a:p>
        </p:txBody>
      </p:sp>
      <p:sp>
        <p:nvSpPr>
          <p:cNvPr id="21440" name="Rounded Rectangle 21439"/>
          <p:cNvSpPr/>
          <p:nvPr/>
        </p:nvSpPr>
        <p:spPr>
          <a:xfrm>
            <a:off x="658368" y="626364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41" name="Picture 21440" descr="us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6409944"/>
            <a:ext cx="274320" cy="274320"/>
          </a:xfrm>
          <a:prstGeom prst="rect">
            <a:avLst/>
          </a:prstGeom>
        </p:spPr>
      </p:pic>
      <p:sp>
        <p:nvSpPr>
          <p:cNvPr id="21442" name="TextBox 21441"/>
          <p:cNvSpPr txBox="1"/>
          <p:nvPr/>
        </p:nvSpPr>
        <p:spPr>
          <a:xfrm>
            <a:off x="1252728" y="626364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场景示例　</a:t>
            </a:r>
            <a:r>
              <a:rPr sz="1250" b="0">
                <a:solidFill>
                  <a:srgbClr val="FFFFFF"/>
                </a:solidFill>
              </a:rPr>
              <a:t>节假日客流逼近容量 → 秩序治理智能体预警 → 车辆、游船调度 + APP 工单 → 处置结果复盘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问数：答得准、有出处、答不了就澄清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识别用户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与租户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17627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5371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澄清指标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与时间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14630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2374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匹配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认证指标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11634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49378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权限与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成本检查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08637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46381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调用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指标服务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05641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3385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校验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结果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02644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40388" y="2743200"/>
            <a:ext cx="1222683" cy="1143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附口径、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时间、质量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60520"/>
            <a:ext cx="4988052" cy="1417320"/>
          </a:xfrm>
          <a:prstGeom prst="roundRect">
            <a:avLst>
              <a:gd name="adj" fmla="val 645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2793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评测集覆盖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简单指标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17192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对比归因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47416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模糊问题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40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越权提问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" y="5193791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无数据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5020" y="4160520"/>
            <a:ext cx="4988052" cy="1417320"/>
          </a:xfrm>
          <a:prstGeom prst="roundRect">
            <a:avLst>
              <a:gd name="adj" fmla="val 645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3620" y="42793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衡量方式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3620" y="4754880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正确率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81444" y="4754880"/>
            <a:ext cx="10911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越权阻断率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4067" y="4754880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澄清率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1891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响应时间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3620" y="5193791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单次成本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94360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089904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52728" y="594360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内外同源　</a:t>
            </a:r>
            <a:r>
              <a:rPr sz="1300" b="0">
                <a:solidFill>
                  <a:srgbClr val="FFFFFF"/>
                </a:solidFill>
              </a:rPr>
              <a:t>内部问数、景数通、票付通 APP 共用指标服务和评测集；每次变更都回归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智能体的赋能与影响：对内提效增收，对外安全与体验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4965192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对内 · 票付通自身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44368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44368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产品力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944368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智能体成为 SaaS 增值能力，带动续约与客单价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57600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657600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研发提效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3657600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共用数据、知识与工具，新智能体配置化上线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70832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370832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运营提效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5688" y="4370832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客户成功与运营团队用景数通、APP 主动发现问题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84064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084064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数据反哺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5084064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交互、预警、工单结果回流，补指标、知识与特征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79" y="2331720"/>
            <a:ext cx="4965192" cy="502920"/>
          </a:xfrm>
          <a:prstGeom prst="roundRect">
            <a:avLst>
              <a:gd name="adj" fmla="val 1818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对外 · 景区、游客与管理方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79" y="2944368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7" y="2944368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景区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2944368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安全与秩序可控，车辆、游船调度更高效，减少人工巡检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79" y="3657600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7" y="3657600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游客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9" y="3657600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排队更短、信息更及时、出游体验更好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79" y="4370832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7" y="4370832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管理方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9" y="4370832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文旅数据大屏与区域研判，应急响应更快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79" y="5084064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7" y="5084064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生态与设施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5084064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森林防火、生态、气象、设施风险早发现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70448"/>
            <a:ext cx="10204704" cy="54864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lob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6007608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5870448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行业影响　</a:t>
            </a:r>
            <a:r>
              <a:rPr sz="1300" b="0">
                <a:solidFill>
                  <a:srgbClr val="FFFFFF"/>
                </a:solidFill>
              </a:rPr>
              <a:t>沉淀景区智能体场景库与实践指南，参与制定景区智能体应用规范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底线：智能体只用认证指标与授权数据；处置动作人机协同、全程可追溯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赋能企业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数据赋能业务，业务反哺数据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业务闭环模型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产品全流程数据流图谱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八条业务闭环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票务闭环样板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智能体闭环样板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五个运行机制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赋能企业成效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业务闭环：数据赋能业务，业务反哺数据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00884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业务产生数据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交易 · 行为 · 供给 · 外部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45552" y="2500884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平台接入与治理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标准 · 质量 · 模型 · 实时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5747004"/>
            <a:ext cx="3017520" cy="100584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输出价值数据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指标 · 标签 · 预测 · 洞察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747004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业务使用与行动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决策 · 运营 · 营销 · 服务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75887" y="3003804"/>
            <a:ext cx="4169665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54312" y="3506724"/>
            <a:ext cx="0" cy="224028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75887" y="6249924"/>
            <a:ext cx="4169665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67128" y="3506724"/>
            <a:ext cx="0" cy="2240280"/>
          </a:xfrm>
          <a:prstGeom prst="line">
            <a:avLst/>
          </a:prstGeom>
          <a:ln w="4445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89120" y="261061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776CFD"/>
                </a:solidFill>
              </a:rPr>
              <a:t>采集与治理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46684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300" b="1">
                <a:solidFill>
                  <a:srgbClr val="776CFD"/>
                </a:solidFill>
              </a:rPr>
              <a:t>加工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63413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776CFD"/>
                </a:solidFill>
              </a:rPr>
              <a:t>赋能：嵌入决策与动作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09644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反哺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结果 · 反馈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异常 · 新需求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0964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200" b="1">
                <a:solidFill>
                  <a:srgbClr val="776CFD"/>
                </a:solidFill>
              </a:rPr>
              <a:t>越用越准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4972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0">
                <a:solidFill>
                  <a:srgbClr val="5E6478"/>
                </a:solidFill>
              </a:rPr>
              <a:t>没有反哺的赋能，只是一次性交付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5152644"/>
            <a:ext cx="1027683" cy="31089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00" b="0">
                <a:solidFill>
                  <a:srgbClr val="2B2F42"/>
                </a:solidFill>
              </a:rPr>
              <a:t>回流覆盖率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8204" y="5152644"/>
            <a:ext cx="1027683" cy="31089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00" b="0">
                <a:solidFill>
                  <a:srgbClr val="2B2F42"/>
                </a:solidFill>
              </a:rPr>
              <a:t>场景采纳率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7328" y="5152644"/>
            <a:ext cx="887984" cy="31089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00" b="0">
                <a:solidFill>
                  <a:srgbClr val="2B2F42"/>
                </a:solidFill>
              </a:rPr>
              <a:t>迭代周期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5554980"/>
            <a:ext cx="1167384" cy="310896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00" b="0">
                <a:solidFill>
                  <a:srgbClr val="2B2F42"/>
                </a:solidFill>
              </a:rPr>
              <a:t>业务效果变化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数据流图谱：产品全流程与平台之间的赋能、反哺关系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103120"/>
            <a:ext cx="411480" cy="0"/>
          </a:xfrm>
          <a:prstGeom prst="line">
            <a:avLst/>
          </a:prstGeom>
          <a:ln w="2857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61288" y="1965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产出：业务数据进入平台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84448" y="2103120"/>
            <a:ext cx="411480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87368" y="1965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赋能：平台输出价值数据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10528" y="2103120"/>
            <a:ext cx="411480" cy="0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13448" y="19659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反哺：使用结果回流平台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331720"/>
            <a:ext cx="2697480" cy="292608"/>
          </a:xfrm>
          <a:prstGeom prst="roundRect">
            <a:avLst>
              <a:gd name="adj" fmla="val 31250"/>
            </a:avLst>
          </a:prstGeom>
          <a:solidFill>
            <a:srgbClr val="2B2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智慧票务 · 数据主要产生方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97480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rIns="54864" bIns="27432"/>
          <a:lstStyle/>
          <a:p>
            <a:pPr algn="l"/>
            <a:r>
              <a:rPr sz="1200" b="1">
                <a:solidFill>
                  <a:srgbClr val="2B2F42"/>
                </a:solidFill>
              </a:rPr>
              <a:t>票务管理  </a:t>
            </a:r>
            <a:r>
              <a:rPr sz="850" b="0">
                <a:solidFill>
                  <a:srgbClr val="5E6478"/>
                </a:solidFill>
              </a:rPr>
              <a:t>售票 · 检票 · 分销 · 报团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交易、核销、渠道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销量预测、渠道 ROI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93008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rIns="54864" bIns="27432"/>
          <a:lstStyle/>
          <a:p>
            <a:pPr algn="l"/>
            <a:r>
              <a:rPr sz="1200" b="1">
                <a:solidFill>
                  <a:srgbClr val="2B2F42"/>
                </a:solidFill>
              </a:rPr>
              <a:t>景区业态  </a:t>
            </a:r>
            <a:r>
              <a:rPr sz="850" b="0">
                <a:solidFill>
                  <a:srgbClr val="5E6478"/>
                </a:solidFill>
              </a:rPr>
              <a:t>乐园 · 演出 · 游船 · 酒店 · 停车…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二次消费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业态经营分析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88536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rIns="54864" bIns="27432"/>
          <a:lstStyle/>
          <a:p>
            <a:pPr algn="l"/>
            <a:r>
              <a:rPr sz="1200" b="1">
                <a:solidFill>
                  <a:srgbClr val="2B2F42"/>
                </a:solidFill>
              </a:rPr>
              <a:t>景区运营  </a:t>
            </a:r>
            <a:r>
              <a:rPr sz="850" b="0">
                <a:solidFill>
                  <a:srgbClr val="5E6478"/>
                </a:solidFill>
              </a:rPr>
              <a:t>年卡 · 预约 · 人脸 · 候补 · 一卡通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预约、权益、身份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容量预警、运营助手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84064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rIns="54864" bIns="27432"/>
          <a:lstStyle/>
          <a:p>
            <a:pPr algn="l"/>
            <a:r>
              <a:rPr sz="1200" b="1">
                <a:solidFill>
                  <a:srgbClr val="2B2F42"/>
                </a:solidFill>
              </a:rPr>
              <a:t>景区财务  </a:t>
            </a:r>
            <a:r>
              <a:rPr sz="850" b="0">
                <a:solidFill>
                  <a:srgbClr val="5E6478"/>
                </a:solidFill>
              </a:rPr>
              <a:t>报表 · 对账 · 发票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结算、对账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AI 对账、差异定位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79592"/>
            <a:ext cx="2697480" cy="713232"/>
          </a:xfrm>
          <a:prstGeom prst="roundRect">
            <a:avLst>
              <a:gd name="adj" fmla="val 12820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27432" rIns="54864" bIns="27432"/>
          <a:lstStyle/>
          <a:p>
            <a:pPr algn="l"/>
            <a:r>
              <a:rPr sz="1200" b="1">
                <a:solidFill>
                  <a:srgbClr val="2B2F42"/>
                </a:solidFill>
              </a:rPr>
              <a:t>智慧终端  </a:t>
            </a:r>
            <a:r>
              <a:rPr sz="850" b="0">
                <a:solidFill>
                  <a:srgbClr val="5E6478"/>
                </a:solidFill>
              </a:rPr>
              <a:t>闸机 · 一体机 · 手持 · 边云网关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5D95F1"/>
                </a:solidFill>
              </a:rPr>
              <a:t>产出　</a:t>
            </a:r>
            <a:r>
              <a:rPr sz="1000" b="0">
                <a:solidFill>
                  <a:srgbClr val="2B2F42"/>
                </a:solidFill>
              </a:rPr>
              <a:t>设备与通行事件</a:t>
            </a:r>
          </a:p>
          <a:p>
            <a:pPr algn="l">
              <a:spcBef>
                <a:spcPts val="100"/>
              </a:spcBef>
            </a:pPr>
            <a:r>
              <a:rPr sz="1000" b="1">
                <a:solidFill>
                  <a:srgbClr val="776CFD"/>
                </a:solidFill>
              </a:rPr>
              <a:t>赋能　</a:t>
            </a:r>
            <a:r>
              <a:rPr sz="1000" b="0">
                <a:solidFill>
                  <a:srgbClr val="2B2F42"/>
                </a:solidFill>
              </a:rPr>
              <a:t>设备健康、异常告警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2331720"/>
            <a:ext cx="267004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AI＋数据平台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2880360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统一接入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批量 · 实时 · 边云回传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468112" y="3493008"/>
            <a:ext cx="182880" cy="13716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24528" y="3639312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治理与安全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标准 · 质量 · 血缘 · 分级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468112" y="4251960"/>
            <a:ext cx="182880" cy="13716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24528" y="4398264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湖仓底座 · 公共模型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一份存储 · 一套模型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468112" y="5010912"/>
            <a:ext cx="182880" cy="13716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24528" y="5157216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指标 · 标签 · 知识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认证指标 · OneID · 知识库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468112" y="5769864"/>
            <a:ext cx="182880" cy="13716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24528" y="5916168"/>
            <a:ext cx="2670048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数据服务 · AI 能力</a:t>
            </a:r>
          </a:p>
          <a:p>
            <a:pPr algn="ctr">
              <a:spcBef>
                <a:spcPts val="100"/>
              </a:spcBef>
            </a:pPr>
            <a:r>
              <a:rPr sz="1000" b="0">
                <a:solidFill>
                  <a:srgbClr val="5E6478"/>
                </a:solidFill>
              </a:rPr>
              <a:t>API · 智能体工具 · 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2331720"/>
            <a:ext cx="3136392" cy="292608"/>
          </a:xfrm>
          <a:prstGeom prst="roundRect">
            <a:avLst>
              <a:gd name="adj" fmla="val 3125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AI 数字大脑 · toB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2679191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54864" bIns="18288"/>
          <a:lstStyle/>
          <a:p>
            <a:pPr algn="l"/>
            <a:r>
              <a:rPr sz="1150" b="1">
                <a:solidFill>
                  <a:srgbClr val="2B2F42"/>
                </a:solidFill>
              </a:rPr>
              <a:t>景数通</a:t>
            </a: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认证指标、多源汇聚</a:t>
            </a: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问数日志、洞察反馈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3328415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54864" bIns="18288"/>
          <a:lstStyle/>
          <a:p>
            <a:pPr algn="l"/>
            <a:r>
              <a:rPr sz="1150" b="1">
                <a:solidFill>
                  <a:srgbClr val="2B2F42"/>
                </a:solidFill>
              </a:rPr>
              <a:t>景区 AI 调度中枢</a:t>
            </a: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实时事件、规则知识</a:t>
            </a: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处置结果、告警反馈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3977639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54864" bIns="18288"/>
          <a:lstStyle/>
          <a:p>
            <a:pPr algn="l"/>
            <a:r>
              <a:rPr sz="1150" b="1">
                <a:solidFill>
                  <a:srgbClr val="2B2F42"/>
                </a:solidFill>
              </a:rPr>
              <a:t>票付通 APP</a:t>
            </a: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指标服务、预警</a:t>
            </a: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工单结果、订阅行为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4681727"/>
            <a:ext cx="3136392" cy="292608"/>
          </a:xfrm>
          <a:prstGeom prst="roundRect">
            <a:avLst>
              <a:gd name="adj" fmla="val 3125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</a:rPr>
              <a:t>畅游 AI · toC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5029199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54864" bIns="18288"/>
          <a:lstStyle/>
          <a:p>
            <a:pPr algn="l"/>
            <a:r>
              <a:rPr sz="1150" b="1">
                <a:solidFill>
                  <a:srgbClr val="2B2F42"/>
                </a:solidFill>
              </a:rPr>
              <a:t>畅游小程序</a:t>
            </a: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推荐、转化分析</a:t>
            </a: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浏览、转化、评价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5678423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54864" bIns="18288"/>
          <a:lstStyle/>
          <a:p>
            <a:pPr algn="l"/>
            <a:r>
              <a:rPr sz="1150" b="1">
                <a:solidFill>
                  <a:srgbClr val="2B2F42"/>
                </a:solidFill>
              </a:rPr>
              <a:t>游客 AI 服务</a:t>
            </a: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知识、标签、库存</a:t>
            </a: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对话、纠错、偏好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6327647"/>
            <a:ext cx="3136392" cy="603504"/>
          </a:xfrm>
          <a:prstGeom prst="roundRect">
            <a:avLst>
              <a:gd name="adj" fmla="val 1515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rIns="54864" bIns="18288"/>
          <a:lstStyle/>
          <a:p>
            <a:pPr algn="l"/>
            <a:r>
              <a:rPr sz="1150" b="1">
                <a:solidFill>
                  <a:srgbClr val="2B2F42"/>
                </a:solidFill>
              </a:rPr>
              <a:t>会员营销</a:t>
            </a:r>
          </a:p>
          <a:p>
            <a:pPr algn="l"/>
            <a:r>
              <a:rPr sz="950" b="1">
                <a:solidFill>
                  <a:srgbClr val="776CFD"/>
                </a:solidFill>
              </a:rPr>
              <a:t>赋能　</a:t>
            </a:r>
            <a:r>
              <a:rPr sz="950" b="0">
                <a:solidFill>
                  <a:srgbClr val="2B2F42"/>
                </a:solidFill>
              </a:rPr>
              <a:t>人群标签、营销复盘</a:t>
            </a:r>
          </a:p>
          <a:p>
            <a:pPr algn="l"/>
            <a:r>
              <a:rPr sz="950" b="1">
                <a:solidFill>
                  <a:srgbClr val="B4551A"/>
                </a:solidFill>
              </a:rPr>
              <a:t>反哺　</a:t>
            </a:r>
            <a:r>
              <a:rPr sz="950" b="0">
                <a:solidFill>
                  <a:srgbClr val="2B2F42"/>
                </a:solidFill>
              </a:rPr>
              <a:t>活动响应、积分权益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392424" y="2971800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392424" y="3136392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392424" y="3767328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392424" y="3931920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392424" y="4562856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392424" y="4727448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392424" y="5358384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3392424" y="5522976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392424" y="6153912"/>
            <a:ext cx="795528" cy="0"/>
          </a:xfrm>
          <a:prstGeom prst="line">
            <a:avLst/>
          </a:prstGeom>
          <a:ln w="22225">
            <a:solidFill>
              <a:srgbClr val="5D95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3392424" y="6318503"/>
            <a:ext cx="795528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931152" y="2898648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931152" y="3063239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931152" y="3547872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931152" y="3712463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31152" y="4197096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6931152" y="4361688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31152" y="5248655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6931152" y="5413247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931152" y="5897879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6931152" y="6062471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931152" y="6547103"/>
            <a:ext cx="758952" cy="0"/>
          </a:xfrm>
          <a:prstGeom prst="line">
            <a:avLst/>
          </a:prstGeom>
          <a:ln w="2222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931152" y="6711695"/>
            <a:ext cx="758952" cy="0"/>
          </a:xfrm>
          <a:prstGeom prst="line">
            <a:avLst/>
          </a:prstGeom>
          <a:ln w="2222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八条业务闭环：先跑通两条，再按批次复制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票务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0620" y="2830068"/>
            <a:ext cx="528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实时看板 · 预警 · 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核销异常 · 预测偏差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0692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5284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订单交易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2944" y="2830068"/>
            <a:ext cx="528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5284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5636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驾驶舱 · 对账定位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5284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5636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差错处理 · 口径反馈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43016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8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268" y="28300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优先试点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07608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经营报告 · 健康度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7608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使用行为 · 续约结果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35340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9932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智能体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43592" y="28300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优先起步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9932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0284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可信指标 · 标签 · 知识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9932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0284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提问 · 纠错 · 高频问题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渠道分销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66620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随后启动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59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2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渠道 ROI · 价格监控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2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策略效果 · 接口异常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50692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15284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小程序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58944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15284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45636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转化漏斗 · 推荐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15284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45636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曝光转化 · 实验结论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43016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07608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营销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51268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07608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自动复盘 · 人群圈选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07608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活动效果 · 人群响应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35340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9932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592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99932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0284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预测特征 · 口碑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9932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0284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实际贡献 · 续采决策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6332220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15568" y="63047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实线框：优先启动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35808" y="6332220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93008" y="63047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虚线框：后续批次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票务闭环（样板一）：让入园、核销数字可信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0088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核销与设备数据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闸机 · 网关 · 票券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250088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核销标准模型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四个口径 · 三层核对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5838444"/>
            <a:ext cx="219456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实时看板与预警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容量预警 · 客流预测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3844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EDFF"/>
                </a:solidFill>
              </a:rPr>
              <a:t>景区运营调度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EEEDFF"/>
                </a:solidFill>
              </a:rPr>
              <a:t>节假日实时作战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52928" y="2958084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30368" y="3415284"/>
            <a:ext cx="0" cy="242316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52928" y="6295644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55648" y="3415284"/>
            <a:ext cx="0" cy="242316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49240" y="44668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76CFD"/>
                </a:solidFill>
              </a:rPr>
              <a:t>赋能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963924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反哺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预警处理结果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预测与实际偏差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50088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50088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有什么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50088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票种、库存、预约、核销、设备事件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336956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36956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怎么建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36956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核销事件标准模型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订单与核销实时链路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423824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23824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要做什么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23824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赋能看板、预警、预测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回流异常与偏差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5106923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5106923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要怎么做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5106923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先做样板，共建上报规范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每个节假日后复盘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597560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597560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597560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关键数字可信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节假日实时掌控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智能体闭环（样板二）：AI 越用越准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00884"/>
            <a:ext cx="219456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可信数据工具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指标 · 标签 · 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250088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EDFF"/>
                </a:solidFill>
              </a:rPr>
              <a:t>智能体作答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EEEDFF"/>
                </a:solidFill>
              </a:rPr>
              <a:t>口径一致、可追溯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583844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用户交互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提问 · 纠错 · 差评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3844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DEEE2"/>
          </a:solidFill>
          <a:ln w="1905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平台持续补齐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补指标 · 补知识 · 评测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52928" y="2958084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30368" y="3415284"/>
            <a:ext cx="0" cy="242316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52928" y="6295644"/>
            <a:ext cx="1280159" cy="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55648" y="3415284"/>
            <a:ext cx="0" cy="242316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26080" y="2574036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776CFD"/>
                </a:solidFill>
              </a:rPr>
              <a:t>赋能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638708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反哺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63924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未覆盖的指标需求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口径歧义、高频问题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会话中的业务诉求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50088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50088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有什么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50088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景数通、APP 问数及游客智能体的交互数据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36956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36956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怎么建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36956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统一取数工具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统一交互日志与评测集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423824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23824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要做什么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23824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赋能可信答案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回流需求、歧义与纠错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5106923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5106923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要怎么做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106923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上线即接入日志和评测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每月分析失败案例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597560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97560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597560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答案越用越准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需求自动发现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闭环靠机制运转：五个环节循环往复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48</a:t>
            </a:r>
          </a:p>
        </p:txBody>
      </p:sp>
      <p:grpSp>
        <p:nvGrpSpPr>
          <p:cNvPr id="21400" name="素材 30"/>
          <p:cNvGrpSpPr/>
          <p:nvPr/>
        </p:nvGrpSpPr>
        <p:grpSpPr>
          <a:xfrm>
            <a:off x="658368" y="2743200"/>
            <a:ext cx="7955279" cy="2930470"/>
            <a:chOff x="991320" y="2358345"/>
            <a:chExt cx="9455150" cy="3482975"/>
          </a:xfrm>
        </p:grpSpPr>
        <p:sp>
          <p:nvSpPr>
            <p:cNvPr id="21401" name="Freeform 6"/>
            <p:cNvSpPr>
              <a:spLocks noEditPoints="1"/>
            </p:cNvSpPr>
            <p:nvPr/>
          </p:nvSpPr>
          <p:spPr bwMode="auto">
            <a:xfrm>
              <a:off x="139772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Freeform 7"/>
            <p:cNvSpPr>
              <a:spLocks noEditPoints="1"/>
            </p:cNvSpPr>
            <p:nvPr/>
          </p:nvSpPr>
          <p:spPr bwMode="auto">
            <a:xfrm>
              <a:off x="316937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5D95F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Freeform 8"/>
            <p:cNvSpPr>
              <a:spLocks noEditPoints="1"/>
            </p:cNvSpPr>
            <p:nvPr/>
          </p:nvSpPr>
          <p:spPr bwMode="auto">
            <a:xfrm>
              <a:off x="4942607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2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5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04" name="Freeform 9"/>
            <p:cNvSpPr>
              <a:spLocks noEditPoints="1"/>
            </p:cNvSpPr>
            <p:nvPr/>
          </p:nvSpPr>
          <p:spPr bwMode="auto">
            <a:xfrm>
              <a:off x="6714257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7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4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4" y="87"/>
                  </a:cubicBez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10"/>
            <p:cNvSpPr>
              <a:spLocks noEditPoints="1"/>
            </p:cNvSpPr>
            <p:nvPr/>
          </p:nvSpPr>
          <p:spPr bwMode="auto">
            <a:xfrm>
              <a:off x="8487495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6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6" y="158"/>
                    <a:pt x="86" y="245"/>
                  </a:cubicBezTo>
                  <a:cubicBezTo>
                    <a:pt x="86" y="332"/>
                    <a:pt x="157" y="403"/>
                    <a:pt x="244" y="403"/>
                  </a:cubicBezTo>
                  <a:cubicBezTo>
                    <a:pt x="331" y="403"/>
                    <a:pt x="402" y="332"/>
                    <a:pt x="402" y="245"/>
                  </a:cubicBezTo>
                  <a:cubicBezTo>
                    <a:pt x="402" y="158"/>
                    <a:pt x="331" y="87"/>
                    <a:pt x="244" y="87"/>
                  </a:cubicBezTo>
                  <a:close/>
                </a:path>
              </a:pathLst>
            </a:custGeom>
            <a:solidFill>
              <a:srgbClr val="6C95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406" name="Group 3"/>
            <p:cNvGrpSpPr/>
            <p:nvPr/>
          </p:nvGrpSpPr>
          <p:grpSpPr>
            <a:xfrm>
              <a:off x="991320" y="4633233"/>
              <a:ext cx="2355850" cy="1208087"/>
              <a:chOff x="1370013" y="4633233"/>
              <a:chExt cx="2355850" cy="1208087"/>
            </a:xfrm>
          </p:grpSpPr>
          <p:sp>
            <p:nvSpPr>
              <p:cNvPr id="21407" name="Freeform 11"/>
              <p:cNvSpPr/>
              <p:nvPr/>
            </p:nvSpPr>
            <p:spPr bwMode="auto">
              <a:xfrm>
                <a:off x="13700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Oval 12"/>
              <p:cNvSpPr>
                <a:spLocks noChangeArrowheads="1"/>
              </p:cNvSpPr>
              <p:nvPr/>
            </p:nvSpPr>
            <p:spPr bwMode="auto">
              <a:xfrm>
                <a:off x="2481263" y="5326970"/>
                <a:ext cx="136525" cy="136525"/>
              </a:xfrm>
              <a:prstGeom prst="ellipse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9" name="Freeform 13"/>
              <p:cNvSpPr/>
              <p:nvPr/>
            </p:nvSpPr>
            <p:spPr bwMode="auto">
              <a:xfrm>
                <a:off x="2503488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0" name="Group 26"/>
            <p:cNvGrpSpPr/>
            <p:nvPr/>
          </p:nvGrpSpPr>
          <p:grpSpPr>
            <a:xfrm>
              <a:off x="4539382" y="4633233"/>
              <a:ext cx="2355850" cy="1208087"/>
              <a:chOff x="4918075" y="4633233"/>
              <a:chExt cx="2355850" cy="1208087"/>
            </a:xfrm>
          </p:grpSpPr>
          <p:sp>
            <p:nvSpPr>
              <p:cNvPr id="21411" name="Freeform 14"/>
              <p:cNvSpPr/>
              <p:nvPr/>
            </p:nvSpPr>
            <p:spPr bwMode="auto">
              <a:xfrm>
                <a:off x="4918075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3 w 744"/>
                  <a:gd name="T3" fmla="*/ 27 h 316"/>
                  <a:gd name="T4" fmla="*/ 10 w 744"/>
                  <a:gd name="T5" fmla="*/ 25 h 316"/>
                  <a:gd name="T6" fmla="*/ 0 w 744"/>
                  <a:gd name="T7" fmla="*/ 31 h 316"/>
                  <a:gd name="T8" fmla="*/ 0 w 744"/>
                  <a:gd name="T9" fmla="*/ 0 h 316"/>
                  <a:gd name="T10" fmla="*/ 26 w 744"/>
                  <a:gd name="T11" fmla="*/ 17 h 316"/>
                  <a:gd name="T12" fmla="*/ 15 w 744"/>
                  <a:gd name="T13" fmla="*/ 23 h 316"/>
                  <a:gd name="T14" fmla="*/ 728 w 744"/>
                  <a:gd name="T15" fmla="*/ 24 h 316"/>
                  <a:gd name="T16" fmla="*/ 717 w 744"/>
                  <a:gd name="T17" fmla="*/ 19 h 316"/>
                  <a:gd name="T18" fmla="*/ 743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3" y="27"/>
                      <a:pt x="733" y="27"/>
                      <a:pt x="733" y="27"/>
                    </a:cubicBezTo>
                    <a:cubicBezTo>
                      <a:pt x="579" y="314"/>
                      <a:pt x="164" y="316"/>
                      <a:pt x="10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6" y="308"/>
                      <a:pt x="576" y="308"/>
                      <a:pt x="728" y="24"/>
                    </a:cubicBezTo>
                    <a:cubicBezTo>
                      <a:pt x="717" y="19"/>
                      <a:pt x="717" y="19"/>
                      <a:pt x="717" y="19"/>
                    </a:cubicBezTo>
                    <a:cubicBezTo>
                      <a:pt x="743" y="2"/>
                      <a:pt x="743" y="2"/>
                      <a:pt x="743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2" name="Oval 15"/>
              <p:cNvSpPr>
                <a:spLocks noChangeArrowheads="1"/>
              </p:cNvSpPr>
              <p:nvPr/>
            </p:nvSpPr>
            <p:spPr bwMode="auto">
              <a:xfrm>
                <a:off x="6026150" y="5326970"/>
                <a:ext cx="136525" cy="136525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3" name="Freeform 16"/>
              <p:cNvSpPr/>
              <p:nvPr/>
            </p:nvSpPr>
            <p:spPr bwMode="auto">
              <a:xfrm>
                <a:off x="6048375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4" name="Group 25"/>
            <p:cNvGrpSpPr/>
            <p:nvPr/>
          </p:nvGrpSpPr>
          <p:grpSpPr>
            <a:xfrm>
              <a:off x="2767732" y="2358345"/>
              <a:ext cx="2354263" cy="1204913"/>
              <a:chOff x="3146425" y="2358345"/>
              <a:chExt cx="2354263" cy="1204913"/>
            </a:xfrm>
          </p:grpSpPr>
          <p:sp>
            <p:nvSpPr>
              <p:cNvPr id="21415" name="Freeform 17"/>
              <p:cNvSpPr/>
              <p:nvPr/>
            </p:nvSpPr>
            <p:spPr bwMode="auto">
              <a:xfrm>
                <a:off x="3146425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0 w 744"/>
                  <a:gd name="T5" fmla="*/ 291 h 316"/>
                  <a:gd name="T6" fmla="*/ 0 w 744"/>
                  <a:gd name="T7" fmla="*/ 285 h 316"/>
                  <a:gd name="T8" fmla="*/ 0 w 744"/>
                  <a:gd name="T9" fmla="*/ 316 h 316"/>
                  <a:gd name="T10" fmla="*/ 26 w 744"/>
                  <a:gd name="T11" fmla="*/ 299 h 316"/>
                  <a:gd name="T12" fmla="*/ 15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4" y="0"/>
                      <a:pt x="10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0" y="316"/>
                      <a:pt x="0" y="316"/>
                      <a:pt x="0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5" y="294"/>
                      <a:pt x="15" y="294"/>
                      <a:pt x="15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6" name="Oval 18"/>
              <p:cNvSpPr>
                <a:spLocks noChangeArrowheads="1"/>
              </p:cNvSpPr>
              <p:nvPr/>
            </p:nvSpPr>
            <p:spPr bwMode="auto">
              <a:xfrm>
                <a:off x="4254500" y="2732995"/>
                <a:ext cx="134938" cy="139700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7" name="Freeform 19"/>
              <p:cNvSpPr/>
              <p:nvPr/>
            </p:nvSpPr>
            <p:spPr bwMode="auto">
              <a:xfrm>
                <a:off x="4276725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8" name="Group 27"/>
            <p:cNvGrpSpPr/>
            <p:nvPr/>
          </p:nvGrpSpPr>
          <p:grpSpPr>
            <a:xfrm>
              <a:off x="6303095" y="2358345"/>
              <a:ext cx="2354263" cy="1204913"/>
              <a:chOff x="6681788" y="2358345"/>
              <a:chExt cx="2354263" cy="1204913"/>
            </a:xfrm>
          </p:grpSpPr>
          <p:sp>
            <p:nvSpPr>
              <p:cNvPr id="21419" name="Freeform 20"/>
              <p:cNvSpPr/>
              <p:nvPr/>
            </p:nvSpPr>
            <p:spPr bwMode="auto">
              <a:xfrm>
                <a:off x="6681788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1 w 744"/>
                  <a:gd name="T5" fmla="*/ 291 h 316"/>
                  <a:gd name="T6" fmla="*/ 0 w 744"/>
                  <a:gd name="T7" fmla="*/ 285 h 316"/>
                  <a:gd name="T8" fmla="*/ 1 w 744"/>
                  <a:gd name="T9" fmla="*/ 316 h 316"/>
                  <a:gd name="T10" fmla="*/ 26 w 744"/>
                  <a:gd name="T11" fmla="*/ 299 h 316"/>
                  <a:gd name="T12" fmla="*/ 16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5" y="0"/>
                      <a:pt x="11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1" y="316"/>
                      <a:pt x="1" y="316"/>
                      <a:pt x="1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6" y="294"/>
                      <a:pt x="16" y="294"/>
                      <a:pt x="16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0" name="Oval 21"/>
              <p:cNvSpPr>
                <a:spLocks noChangeArrowheads="1"/>
              </p:cNvSpPr>
              <p:nvPr/>
            </p:nvSpPr>
            <p:spPr bwMode="auto">
              <a:xfrm>
                <a:off x="7789863" y="2732995"/>
                <a:ext cx="138113" cy="139700"/>
              </a:xfrm>
              <a:prstGeom prst="ellipse">
                <a:avLst/>
              </a:pr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1" name="Freeform 22"/>
              <p:cNvSpPr/>
              <p:nvPr/>
            </p:nvSpPr>
            <p:spPr bwMode="auto">
              <a:xfrm>
                <a:off x="7812088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22" name="Group 29"/>
            <p:cNvGrpSpPr/>
            <p:nvPr/>
          </p:nvGrpSpPr>
          <p:grpSpPr>
            <a:xfrm>
              <a:off x="8090620" y="4633233"/>
              <a:ext cx="2355850" cy="1208087"/>
              <a:chOff x="8469313" y="4633233"/>
              <a:chExt cx="2355850" cy="1208087"/>
            </a:xfrm>
          </p:grpSpPr>
          <p:sp>
            <p:nvSpPr>
              <p:cNvPr id="21423" name="Freeform 24"/>
              <p:cNvSpPr/>
              <p:nvPr/>
            </p:nvSpPr>
            <p:spPr bwMode="auto">
              <a:xfrm>
                <a:off x="84693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grpSp>
            <p:nvGrpSpPr>
              <p:cNvPr id="21424" name="Group 28"/>
              <p:cNvGrpSpPr/>
              <p:nvPr/>
            </p:nvGrpSpPr>
            <p:grpSpPr>
              <a:xfrm>
                <a:off x="9580563" y="5114245"/>
                <a:ext cx="136525" cy="727075"/>
                <a:chOff x="9580563" y="5114245"/>
                <a:chExt cx="136525" cy="727075"/>
              </a:xfrm>
            </p:grpSpPr>
            <p:sp>
              <p:nvSpPr>
                <p:cNvPr id="21425" name="Freeform 23"/>
                <p:cNvSpPr/>
                <p:nvPr/>
              </p:nvSpPr>
              <p:spPr bwMode="auto">
                <a:xfrm>
                  <a:off x="9602788" y="5114245"/>
                  <a:ext cx="95250" cy="727075"/>
                </a:xfrm>
                <a:custGeom>
                  <a:avLst/>
                  <a:gdLst>
                    <a:gd name="T0" fmla="*/ 60 w 60"/>
                    <a:gd name="T1" fmla="*/ 54 h 458"/>
                    <a:gd name="T2" fmla="*/ 36 w 60"/>
                    <a:gd name="T3" fmla="*/ 54 h 458"/>
                    <a:gd name="T4" fmla="*/ 36 w 60"/>
                    <a:gd name="T5" fmla="*/ 404 h 458"/>
                    <a:gd name="T6" fmla="*/ 60 w 60"/>
                    <a:gd name="T7" fmla="*/ 404 h 458"/>
                    <a:gd name="T8" fmla="*/ 30 w 60"/>
                    <a:gd name="T9" fmla="*/ 458 h 458"/>
                    <a:gd name="T10" fmla="*/ 0 w 60"/>
                    <a:gd name="T11" fmla="*/ 404 h 458"/>
                    <a:gd name="T12" fmla="*/ 24 w 60"/>
                    <a:gd name="T13" fmla="*/ 404 h 458"/>
                    <a:gd name="T14" fmla="*/ 24 w 60"/>
                    <a:gd name="T15" fmla="*/ 54 h 458"/>
                    <a:gd name="T16" fmla="*/ 0 w 60"/>
                    <a:gd name="T17" fmla="*/ 54 h 458"/>
                    <a:gd name="T18" fmla="*/ 30 w 60"/>
                    <a:gd name="T19" fmla="*/ 0 h 458"/>
                    <a:gd name="T20" fmla="*/ 60 w 60"/>
                    <a:gd name="T21" fmla="*/ 54 h 458"/>
                    <a:gd name="T22" fmla="*/ 60 w 60"/>
                    <a:gd name="T23" fmla="*/ 54 h 4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0" h="458">
                      <a:moveTo>
                        <a:pt x="60" y="54"/>
                      </a:moveTo>
                      <a:lnTo>
                        <a:pt x="36" y="54"/>
                      </a:lnTo>
                      <a:lnTo>
                        <a:pt x="36" y="404"/>
                      </a:lnTo>
                      <a:lnTo>
                        <a:pt x="60" y="404"/>
                      </a:lnTo>
                      <a:lnTo>
                        <a:pt x="30" y="458"/>
                      </a:lnTo>
                      <a:lnTo>
                        <a:pt x="0" y="404"/>
                      </a:lnTo>
                      <a:lnTo>
                        <a:pt x="24" y="404"/>
                      </a:lnTo>
                      <a:lnTo>
                        <a:pt x="24" y="54"/>
                      </a:lnTo>
                      <a:lnTo>
                        <a:pt x="0" y="54"/>
                      </a:lnTo>
                      <a:lnTo>
                        <a:pt x="30" y="0"/>
                      </a:lnTo>
                      <a:lnTo>
                        <a:pt x="60" y="54"/>
                      </a:lnTo>
                      <a:lnTo>
                        <a:pt x="60" y="54"/>
                      </a:lnTo>
                      <a:close/>
                    </a:path>
                  </a:pathLst>
                </a:custGeom>
                <a:solidFill>
                  <a:srgbClr val="6C95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  <p:sp>
              <p:nvSpPr>
                <p:cNvPr id="21426" name="Oval 25"/>
                <p:cNvSpPr>
                  <a:spLocks noChangeArrowheads="1"/>
                </p:cNvSpPr>
                <p:nvPr/>
              </p:nvSpPr>
              <p:spPr bwMode="auto">
                <a:xfrm>
                  <a:off x="9580563" y="5326970"/>
                  <a:ext cx="136525" cy="136525"/>
                </a:xfrm>
                <a:prstGeom prst="ellipse">
                  <a:avLst/>
                </a:prstGeom>
                <a:solidFill>
                  <a:srgbClr val="6C95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</p:grpSp>
        </p:grpSp>
      </p:grpSp>
      <p:pic>
        <p:nvPicPr>
          <p:cNvPr id="21427" name="Picture 21426" descr="send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048" y="3993878"/>
            <a:ext cx="438912" cy="438912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645664" y="572125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01  数据前置</a:t>
            </a:r>
          </a:p>
        </p:txBody>
      </p:sp>
      <p:sp>
        <p:nvSpPr>
          <p:cNvPr id="21429" name="TextBox 21428"/>
          <p:cNvSpPr txBox="1"/>
          <p:nvPr/>
        </p:nvSpPr>
        <p:spPr>
          <a:xfrm>
            <a:off x="645664" y="605044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上线前定埋点与口径</a:t>
            </a:r>
          </a:p>
        </p:txBody>
      </p:sp>
      <p:pic>
        <p:nvPicPr>
          <p:cNvPr id="21430" name="Picture 21429" descr="lin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4584" y="3993878"/>
            <a:ext cx="438912" cy="438912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2138200" y="2259189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02  统一出口</a:t>
            </a:r>
          </a:p>
        </p:txBody>
      </p:sp>
      <p:sp>
        <p:nvSpPr>
          <p:cNvPr id="21432" name="TextBox 21431"/>
          <p:cNvSpPr txBox="1"/>
          <p:nvPr/>
        </p:nvSpPr>
        <p:spPr>
          <a:xfrm>
            <a:off x="2138200" y="258837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指标、标签、API 输出</a:t>
            </a:r>
          </a:p>
        </p:txBody>
      </p:sp>
      <p:pic>
        <p:nvPicPr>
          <p:cNvPr id="21433" name="Picture 21432" descr="activity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121" y="3993878"/>
            <a:ext cx="438912" cy="438912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3630737" y="572125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03  反馈回流</a:t>
            </a:r>
          </a:p>
        </p:txBody>
      </p:sp>
      <p:sp>
        <p:nvSpPr>
          <p:cNvPr id="21435" name="TextBox 21434"/>
          <p:cNvSpPr txBox="1"/>
          <p:nvPr/>
        </p:nvSpPr>
        <p:spPr>
          <a:xfrm>
            <a:off x="3630737" y="605044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结果按事件标识回流</a:t>
            </a:r>
          </a:p>
        </p:txBody>
      </p:sp>
      <p:pic>
        <p:nvPicPr>
          <p:cNvPr id="21436" name="Picture 21435" descr="search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964" y="3993878"/>
            <a:ext cx="438912" cy="438912"/>
          </a:xfrm>
          <a:prstGeom prst="rect">
            <a:avLst/>
          </a:prstGeom>
        </p:spPr>
      </p:pic>
      <p:sp>
        <p:nvSpPr>
          <p:cNvPr id="21437" name="TextBox 21436"/>
          <p:cNvSpPr txBox="1"/>
          <p:nvPr/>
        </p:nvSpPr>
        <p:spPr>
          <a:xfrm>
            <a:off x="5115580" y="2259189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04  效果复盘</a:t>
            </a:r>
          </a:p>
        </p:txBody>
      </p:sp>
      <p:sp>
        <p:nvSpPr>
          <p:cNvPr id="21438" name="TextBox 21437"/>
          <p:cNvSpPr txBox="1"/>
          <p:nvPr/>
        </p:nvSpPr>
        <p:spPr>
          <a:xfrm>
            <a:off x="5115580" y="258837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按月及节假日复盘</a:t>
            </a:r>
          </a:p>
        </p:txBody>
      </p:sp>
      <p:pic>
        <p:nvPicPr>
          <p:cNvPr id="21439" name="Picture 21438" descr="gear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4500" y="3993878"/>
            <a:ext cx="438912" cy="438912"/>
          </a:xfrm>
          <a:prstGeom prst="rect">
            <a:avLst/>
          </a:prstGeom>
        </p:spPr>
      </p:pic>
      <p:sp>
        <p:nvSpPr>
          <p:cNvPr id="21440" name="TextBox 21439"/>
          <p:cNvSpPr txBox="1"/>
          <p:nvPr/>
        </p:nvSpPr>
        <p:spPr>
          <a:xfrm>
            <a:off x="6608116" y="572125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05  持续迭代</a:t>
            </a:r>
          </a:p>
        </p:txBody>
      </p:sp>
      <p:sp>
        <p:nvSpPr>
          <p:cNvPr id="21441" name="TextBox 21440"/>
          <p:cNvSpPr txBox="1"/>
          <p:nvPr/>
        </p:nvSpPr>
        <p:spPr>
          <a:xfrm>
            <a:off x="6608116" y="605044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规则与模型版本化</a:t>
            </a:r>
          </a:p>
        </p:txBody>
      </p:sp>
      <p:sp>
        <p:nvSpPr>
          <p:cNvPr id="21442" name="TextBox 21441"/>
          <p:cNvSpPr txBox="1"/>
          <p:nvPr/>
        </p:nvSpPr>
        <p:spPr>
          <a:xfrm>
            <a:off x="8915400" y="2331720"/>
            <a:ext cx="194767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谁来转动闭环</a:t>
            </a:r>
          </a:p>
        </p:txBody>
      </p:sp>
      <p:sp>
        <p:nvSpPr>
          <p:cNvPr id="21443" name="Rounded Rectangle 21442"/>
          <p:cNvSpPr/>
          <p:nvPr/>
        </p:nvSpPr>
        <p:spPr>
          <a:xfrm>
            <a:off x="8915400" y="2724912"/>
            <a:ext cx="1947672" cy="896112"/>
          </a:xfrm>
          <a:prstGeom prst="roundRect">
            <a:avLst>
              <a:gd name="adj" fmla="val 1020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4" name="Oval 21443"/>
          <p:cNvSpPr/>
          <p:nvPr/>
        </p:nvSpPr>
        <p:spPr>
          <a:xfrm>
            <a:off x="9052560" y="290779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45" name="Picture 21444" descr="user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8290" y="3033522"/>
            <a:ext cx="251460" cy="251460"/>
          </a:xfrm>
          <a:prstGeom prst="rect">
            <a:avLst/>
          </a:prstGeom>
        </p:spPr>
      </p:pic>
      <p:sp>
        <p:nvSpPr>
          <p:cNvPr id="21446" name="TextBox 21445"/>
          <p:cNvSpPr txBox="1"/>
          <p:nvPr/>
        </p:nvSpPr>
        <p:spPr>
          <a:xfrm>
            <a:off x="9665208" y="2834640"/>
            <a:ext cx="112471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业务负责人</a:t>
            </a:r>
          </a:p>
        </p:txBody>
      </p:sp>
      <p:sp>
        <p:nvSpPr>
          <p:cNvPr id="21447" name="TextBox 21446"/>
          <p:cNvSpPr txBox="1"/>
          <p:nvPr/>
        </p:nvSpPr>
        <p:spPr>
          <a:xfrm>
            <a:off x="9665208" y="3163824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定目标 · 用结果 · 给反馈</a:t>
            </a:r>
          </a:p>
        </p:txBody>
      </p:sp>
      <p:sp>
        <p:nvSpPr>
          <p:cNvPr id="21448" name="Rounded Rectangle 21447"/>
          <p:cNvSpPr/>
          <p:nvPr/>
        </p:nvSpPr>
        <p:spPr>
          <a:xfrm>
            <a:off x="8915400" y="3749039"/>
            <a:ext cx="1947672" cy="896112"/>
          </a:xfrm>
          <a:prstGeom prst="roundRect">
            <a:avLst>
              <a:gd name="adj" fmla="val 1020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9" name="Oval 21448"/>
          <p:cNvSpPr/>
          <p:nvPr/>
        </p:nvSpPr>
        <p:spPr>
          <a:xfrm>
            <a:off x="9052560" y="3931920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50" name="Picture 21449" descr="databas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8290" y="4057650"/>
            <a:ext cx="251460" cy="251460"/>
          </a:xfrm>
          <a:prstGeom prst="rect">
            <a:avLst/>
          </a:prstGeom>
        </p:spPr>
      </p:pic>
      <p:sp>
        <p:nvSpPr>
          <p:cNvPr id="21451" name="TextBox 21450"/>
          <p:cNvSpPr txBox="1"/>
          <p:nvPr/>
        </p:nvSpPr>
        <p:spPr>
          <a:xfrm>
            <a:off x="9665208" y="3858768"/>
            <a:ext cx="112471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数据团队</a:t>
            </a:r>
          </a:p>
        </p:txBody>
      </p:sp>
      <p:sp>
        <p:nvSpPr>
          <p:cNvPr id="21452" name="TextBox 21451"/>
          <p:cNvSpPr txBox="1"/>
          <p:nvPr/>
        </p:nvSpPr>
        <p:spPr>
          <a:xfrm>
            <a:off x="9665208" y="4187952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建能力 · 出数据 · 做复盘</a:t>
            </a:r>
          </a:p>
        </p:txBody>
      </p:sp>
      <p:sp>
        <p:nvSpPr>
          <p:cNvPr id="21453" name="Rounded Rectangle 21452"/>
          <p:cNvSpPr/>
          <p:nvPr/>
        </p:nvSpPr>
        <p:spPr>
          <a:xfrm>
            <a:off x="8915400" y="4773168"/>
            <a:ext cx="1947672" cy="896112"/>
          </a:xfrm>
          <a:prstGeom prst="roundRect">
            <a:avLst>
              <a:gd name="adj" fmla="val 1020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4" name="Oval 21453"/>
          <p:cNvSpPr/>
          <p:nvPr/>
        </p:nvSpPr>
        <p:spPr>
          <a:xfrm>
            <a:off x="9052560" y="495604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55" name="Picture 21454" descr="cod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8290" y="5081778"/>
            <a:ext cx="251460" cy="251460"/>
          </a:xfrm>
          <a:prstGeom prst="rect">
            <a:avLst/>
          </a:prstGeom>
        </p:spPr>
      </p:pic>
      <p:sp>
        <p:nvSpPr>
          <p:cNvPr id="21456" name="TextBox 21455"/>
          <p:cNvSpPr txBox="1"/>
          <p:nvPr/>
        </p:nvSpPr>
        <p:spPr>
          <a:xfrm>
            <a:off x="9665208" y="4882896"/>
            <a:ext cx="112471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产品研发</a:t>
            </a:r>
          </a:p>
        </p:txBody>
      </p:sp>
      <p:sp>
        <p:nvSpPr>
          <p:cNvPr id="21457" name="TextBox 21456"/>
          <p:cNvSpPr txBox="1"/>
          <p:nvPr/>
        </p:nvSpPr>
        <p:spPr>
          <a:xfrm>
            <a:off x="9665208" y="5212080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保埋点 · 保回流</a:t>
            </a:r>
          </a:p>
        </p:txBody>
      </p:sp>
      <p:sp>
        <p:nvSpPr>
          <p:cNvPr id="21458" name="Rounded Rectangle 21457"/>
          <p:cNvSpPr/>
          <p:nvPr/>
        </p:nvSpPr>
        <p:spPr>
          <a:xfrm>
            <a:off x="658368" y="6473952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59" name="Picture 21458" descr="activity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536" y="6588252"/>
            <a:ext cx="274320" cy="274320"/>
          </a:xfrm>
          <a:prstGeom prst="rect">
            <a:avLst/>
          </a:prstGeom>
        </p:spPr>
      </p:pic>
      <p:sp>
        <p:nvSpPr>
          <p:cNvPr id="21460" name="TextBox 21459"/>
          <p:cNvSpPr txBox="1"/>
          <p:nvPr/>
        </p:nvSpPr>
        <p:spPr>
          <a:xfrm>
            <a:off x="1252728" y="6473952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闭环健康度　</a:t>
            </a:r>
            <a:r>
              <a:rPr sz="1250" b="0">
                <a:solidFill>
                  <a:srgbClr val="FFFFFF"/>
                </a:solidFill>
              </a:rPr>
              <a:t>回流覆盖率 · 场景采纳率 · 迭代周期 · 业务效果变化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赋能企业：从“找人要数”到“数据找人”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83180"/>
            <a:ext cx="3249168" cy="2240280"/>
          </a:xfrm>
          <a:prstGeom prst="roundRect">
            <a:avLst>
              <a:gd name="adj" fmla="val 40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76606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" y="326898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经营驾驶舱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65302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FFE2C8"/>
                </a:solidFill>
              </a:rPr>
              <a:t>管理层 · 景区运营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00049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核心指标一屏看全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节假日实时作战屏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移动端随时查看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6136" y="2583180"/>
            <a:ext cx="3249168" cy="2240280"/>
          </a:xfrm>
          <a:prstGeom prst="roundRect">
            <a:avLst>
              <a:gd name="adj" fmla="val 40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36" y="2766060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64736" y="326898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自助分析与 AI 问数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365302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运营 · 渠道 · 营销 · 客户成功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4736" y="400049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标准分析模板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拖拽或提问取数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结果带口径与更新时间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3904" y="2583180"/>
            <a:ext cx="3249168" cy="2240280"/>
          </a:xfrm>
          <a:prstGeom prst="roundRect">
            <a:avLst>
              <a:gd name="adj" fmla="val 4081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nd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504" y="2766060"/>
            <a:ext cx="411480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42504" y="326898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主动推送与自动报告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2504" y="365302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B4551A"/>
                </a:solidFill>
              </a:rPr>
              <a:t>全员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2504" y="400049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指标异常自动预警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2B2F42"/>
                </a:solidFill>
              </a:rPr>
              <a:t>节假日前客流播报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2B2F42"/>
                </a:solidFill>
              </a:rPr>
              <a:t>日报、周报自动生成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063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用数流程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数据门户找数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147316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12492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看指标口径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901440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66616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申请权限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55564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20740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模板或提问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409688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74864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带口径的结果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163812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28988" y="5326380"/>
            <a:ext cx="1434084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订阅变化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61036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249924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52728" y="61036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衡量　</a:t>
            </a:r>
            <a:r>
              <a:rPr sz="1300" b="0">
                <a:solidFill>
                  <a:srgbClr val="FFFFFF"/>
                </a:solidFill>
              </a:rPr>
              <a:t>活跃用户 · 自助完成率 · 取数周期 · 业务采纳率，不以上线看板数量衡量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赋能行业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从数据服务到行业标准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一键接入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对外数据产品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商业化与行业路径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行业成果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一键接入：把重复对接变成标准配置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07  赋能行业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51</a:t>
            </a:r>
          </a:p>
        </p:txBody>
      </p:sp>
      <p:grpSp>
        <p:nvGrpSpPr>
          <p:cNvPr id="21400" name="素材 24"/>
          <p:cNvGrpSpPr/>
          <p:nvPr/>
        </p:nvGrpSpPr>
        <p:grpSpPr>
          <a:xfrm>
            <a:off x="658368" y="2926080"/>
            <a:ext cx="7772400" cy="2278507"/>
            <a:chOff x="936501" y="2932416"/>
            <a:chExt cx="9757504" cy="2860448"/>
          </a:xfrm>
        </p:grpSpPr>
        <p:sp>
          <p:nvSpPr>
            <p:cNvPr id="214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5D95F1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776CFD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F08A3C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655BE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F08A3C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6C95FD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776CFD"/>
                  </a:solidFill>
                  <a:latin typeface="微软雅黑"/>
                </a:rPr>
                <a:t>步骤 01</a:t>
              </a:r>
              <a:endParaRPr lang="en-US" sz="1800" b="1" dirty="0">
                <a:solidFill>
                  <a:srgbClr val="776CFD"/>
                </a:solidFill>
                <a:latin typeface="微软雅黑"/>
              </a:endParaRPr>
            </a:p>
          </p:txBody>
        </p:sp>
        <p:sp>
          <p:nvSpPr>
            <p:cNvPr id="214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655BE6"/>
                  </a:solidFill>
                  <a:latin typeface="微软雅黑"/>
                </a:rPr>
                <a:t>步骤 03</a:t>
              </a:r>
              <a:endParaRPr lang="en-US" sz="1400" dirty="0">
                <a:solidFill>
                  <a:srgbClr val="655BE6"/>
                </a:solidFill>
                <a:latin typeface="微软雅黑"/>
              </a:endParaRPr>
            </a:p>
          </p:txBody>
        </p:sp>
        <p:sp>
          <p:nvSpPr>
            <p:cNvPr id="214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6C95FD"/>
                  </a:solidFill>
                  <a:latin typeface="微软雅黑"/>
                </a:rPr>
                <a:t>步骤 05</a:t>
              </a:r>
              <a:endParaRPr lang="en-US" sz="1400" dirty="0">
                <a:solidFill>
                  <a:srgbClr val="6C95FD"/>
                </a:solidFill>
                <a:latin typeface="微软雅黑"/>
              </a:endParaRPr>
            </a:p>
          </p:txBody>
        </p:sp>
        <p:sp>
          <p:nvSpPr>
            <p:cNvPr id="214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微软雅黑"/>
                </a:rPr>
                <a:t>步骤 02</a:t>
              </a:r>
              <a:endParaRPr lang="en-US" sz="1800" b="1" dirty="0">
                <a:solidFill>
                  <a:srgbClr val="2B2F42"/>
                </a:solidFill>
                <a:latin typeface="微软雅黑"/>
              </a:endParaRPr>
            </a:p>
          </p:txBody>
        </p:sp>
        <p:sp>
          <p:nvSpPr>
            <p:cNvPr id="214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微软雅黑"/>
                </a:rPr>
                <a:t>步骤 04</a:t>
              </a:r>
              <a:endParaRPr lang="en-US" sz="1800" b="1" dirty="0">
                <a:solidFill>
                  <a:srgbClr val="2B2F42"/>
                </a:solidFill>
                <a:latin typeface="微软雅黑"/>
              </a:endParaRPr>
            </a:p>
          </p:txBody>
        </p:sp>
        <p:sp>
          <p:nvSpPr>
            <p:cNvPr id="214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微软雅黑"/>
                </a:rPr>
                <a:t>步骤 06</a:t>
              </a:r>
              <a:endParaRPr lang="en-US" sz="1800" b="1" dirty="0">
                <a:solidFill>
                  <a:srgbClr val="2B2F42"/>
                </a:solidFill>
                <a:latin typeface="微软雅黑"/>
              </a:endParaRPr>
            </a:p>
          </p:txBody>
        </p:sp>
      </p:grpSp>
      <p:pic>
        <p:nvPicPr>
          <p:cNvPr id="21419" name="Picture 21418" descr="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802" y="3324412"/>
            <a:ext cx="402336" cy="402336"/>
          </a:xfrm>
          <a:prstGeom prst="rect">
            <a:avLst/>
          </a:prstGeom>
        </p:spPr>
      </p:pic>
      <p:sp>
        <p:nvSpPr>
          <p:cNvPr id="21420" name="TextBox 21419"/>
          <p:cNvSpPr txBox="1"/>
          <p:nvPr/>
        </p:nvSpPr>
        <p:spPr>
          <a:xfrm>
            <a:off x="1264850" y="2352903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授权开通</a:t>
            </a:r>
          </a:p>
        </p:txBody>
      </p:sp>
      <p:sp>
        <p:nvSpPr>
          <p:cNvPr id="21421" name="TextBox 21420"/>
          <p:cNvSpPr txBox="1"/>
          <p:nvPr/>
        </p:nvSpPr>
        <p:spPr>
          <a:xfrm>
            <a:off x="1264850" y="266379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景区授权，开通服务</a:t>
            </a:r>
          </a:p>
        </p:txBody>
      </p:sp>
      <p:pic>
        <p:nvPicPr>
          <p:cNvPr id="21422" name="Picture 21421" descr="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833" y="4409685"/>
            <a:ext cx="402336" cy="402336"/>
          </a:xfrm>
          <a:prstGeom prst="rect">
            <a:avLst/>
          </a:prstGeom>
        </p:spPr>
      </p:pic>
      <p:sp>
        <p:nvSpPr>
          <p:cNvPr id="21423" name="TextBox 21422"/>
          <p:cNvSpPr txBox="1"/>
          <p:nvPr/>
        </p:nvSpPr>
        <p:spPr>
          <a:xfrm>
            <a:off x="2189881" y="5324657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选择连接器</a:t>
            </a:r>
          </a:p>
        </p:txBody>
      </p:sp>
      <p:sp>
        <p:nvSpPr>
          <p:cNvPr id="21424" name="TextBox 21423"/>
          <p:cNvSpPr txBox="1"/>
          <p:nvPr/>
        </p:nvSpPr>
        <p:spPr>
          <a:xfrm>
            <a:off x="2189881" y="563555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标准系统即选即用</a:t>
            </a:r>
          </a:p>
        </p:txBody>
      </p:sp>
      <p:pic>
        <p:nvPicPr>
          <p:cNvPr id="21425" name="Picture 21424" descr="bul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506" y="3324412"/>
            <a:ext cx="402336" cy="402336"/>
          </a:xfrm>
          <a:prstGeom prst="rect">
            <a:avLst/>
          </a:prstGeom>
        </p:spPr>
      </p:pic>
      <p:sp>
        <p:nvSpPr>
          <p:cNvPr id="21426" name="TextBox 21425"/>
          <p:cNvSpPr txBox="1"/>
          <p:nvPr/>
        </p:nvSpPr>
        <p:spPr>
          <a:xfrm>
            <a:off x="3118554" y="2352903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AI 字段映射</a:t>
            </a:r>
          </a:p>
        </p:txBody>
      </p:sp>
      <p:sp>
        <p:nvSpPr>
          <p:cNvPr id="21427" name="TextBox 21426"/>
          <p:cNvSpPr txBox="1"/>
          <p:nvPr/>
        </p:nvSpPr>
        <p:spPr>
          <a:xfrm>
            <a:off x="3118554" y="266379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AI 推荐，人工确认</a:t>
            </a:r>
          </a:p>
        </p:txBody>
      </p:sp>
      <p:pic>
        <p:nvPicPr>
          <p:cNvPr id="21428" name="Picture 21427" descr="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537" y="4409685"/>
            <a:ext cx="402336" cy="402336"/>
          </a:xfrm>
          <a:prstGeom prst="rect">
            <a:avLst/>
          </a:prstGeom>
        </p:spPr>
      </p:pic>
      <p:sp>
        <p:nvSpPr>
          <p:cNvPr id="21429" name="TextBox 21428"/>
          <p:cNvSpPr txBox="1"/>
          <p:nvPr/>
        </p:nvSpPr>
        <p:spPr>
          <a:xfrm>
            <a:off x="4043585" y="5324657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初始化与同步</a:t>
            </a:r>
          </a:p>
        </p:txBody>
      </p:sp>
      <p:sp>
        <p:nvSpPr>
          <p:cNvPr id="21430" name="TextBox 21429"/>
          <p:cNvSpPr txBox="1"/>
          <p:nvPr/>
        </p:nvSpPr>
        <p:spPr>
          <a:xfrm>
            <a:off x="4043585" y="563555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历史初始化 · 增量同步</a:t>
            </a:r>
          </a:p>
        </p:txBody>
      </p:sp>
      <p:pic>
        <p:nvPicPr>
          <p:cNvPr id="21431" name="Picture 21430" descr="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3926" y="3324412"/>
            <a:ext cx="402336" cy="402336"/>
          </a:xfrm>
          <a:prstGeom prst="rect">
            <a:avLst/>
          </a:prstGeom>
        </p:spPr>
      </p:pic>
      <p:sp>
        <p:nvSpPr>
          <p:cNvPr id="21432" name="TextBox 21431"/>
          <p:cNvSpPr txBox="1"/>
          <p:nvPr/>
        </p:nvSpPr>
        <p:spPr>
          <a:xfrm>
            <a:off x="4964974" y="2352903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质量检查与试运行</a:t>
            </a:r>
          </a:p>
        </p:txBody>
      </p:sp>
      <p:sp>
        <p:nvSpPr>
          <p:cNvPr id="21433" name="TextBox 21432"/>
          <p:cNvSpPr txBox="1"/>
          <p:nvPr/>
        </p:nvSpPr>
        <p:spPr>
          <a:xfrm>
            <a:off x="4964974" y="266379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核对通过才上线</a:t>
            </a:r>
          </a:p>
        </p:txBody>
      </p:sp>
      <p:pic>
        <p:nvPicPr>
          <p:cNvPr id="21434" name="Picture 21433" descr="activity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241" y="4409685"/>
            <a:ext cx="402336" cy="402336"/>
          </a:xfrm>
          <a:prstGeom prst="rect">
            <a:avLst/>
          </a:prstGeom>
        </p:spPr>
      </p:pic>
      <p:sp>
        <p:nvSpPr>
          <p:cNvPr id="21435" name="TextBox 21434"/>
          <p:cNvSpPr txBox="1"/>
          <p:nvPr/>
        </p:nvSpPr>
        <p:spPr>
          <a:xfrm>
            <a:off x="5897289" y="5324657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上线与监控</a:t>
            </a:r>
          </a:p>
        </p:txBody>
      </p:sp>
      <p:sp>
        <p:nvSpPr>
          <p:cNvPr id="21436" name="TextBox 21435"/>
          <p:cNvSpPr txBox="1"/>
          <p:nvPr/>
        </p:nvSpPr>
        <p:spPr>
          <a:xfrm>
            <a:off x="5897289" y="563555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运行监测 · 异常告警</a:t>
            </a:r>
          </a:p>
        </p:txBody>
      </p:sp>
      <p:sp>
        <p:nvSpPr>
          <p:cNvPr id="21437" name="Rounded Rectangle 21436"/>
          <p:cNvSpPr/>
          <p:nvPr/>
        </p:nvSpPr>
        <p:spPr>
          <a:xfrm>
            <a:off x="8732520" y="2331720"/>
            <a:ext cx="2130552" cy="3611880"/>
          </a:xfrm>
          <a:prstGeom prst="roundRect">
            <a:avLst>
              <a:gd name="adj" fmla="val 515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8" name="TextBox 21437"/>
          <p:cNvSpPr txBox="1"/>
          <p:nvPr/>
        </p:nvSpPr>
        <p:spPr>
          <a:xfrm>
            <a:off x="8915400" y="2450592"/>
            <a:ext cx="185623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配套能力</a:t>
            </a:r>
          </a:p>
        </p:txBody>
      </p:sp>
      <p:sp>
        <p:nvSpPr>
          <p:cNvPr id="21439" name="Rounded Rectangle 21438"/>
          <p:cNvSpPr/>
          <p:nvPr/>
        </p:nvSpPr>
        <p:spPr>
          <a:xfrm>
            <a:off x="8915400" y="2834640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开发者门户</a:t>
            </a:r>
          </a:p>
        </p:txBody>
      </p:sp>
      <p:sp>
        <p:nvSpPr>
          <p:cNvPr id="21440" name="Rounded Rectangle 21439"/>
          <p:cNvSpPr/>
          <p:nvPr/>
        </p:nvSpPr>
        <p:spPr>
          <a:xfrm>
            <a:off x="8915400" y="3264408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文档与 SDK</a:t>
            </a:r>
          </a:p>
        </p:txBody>
      </p:sp>
      <p:sp>
        <p:nvSpPr>
          <p:cNvPr id="21441" name="Rounded Rectangle 21440"/>
          <p:cNvSpPr/>
          <p:nvPr/>
        </p:nvSpPr>
        <p:spPr>
          <a:xfrm>
            <a:off x="8915400" y="3694176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沙箱</a:t>
            </a:r>
          </a:p>
        </p:txBody>
      </p:sp>
      <p:sp>
        <p:nvSpPr>
          <p:cNvPr id="21442" name="Rounded Rectangle 21441"/>
          <p:cNvSpPr/>
          <p:nvPr/>
        </p:nvSpPr>
        <p:spPr>
          <a:xfrm>
            <a:off x="8915400" y="4123944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签名鉴权</a:t>
            </a:r>
          </a:p>
        </p:txBody>
      </p:sp>
      <p:sp>
        <p:nvSpPr>
          <p:cNvPr id="21443" name="Rounded Rectangle 21442"/>
          <p:cNvSpPr/>
          <p:nvPr/>
        </p:nvSpPr>
        <p:spPr>
          <a:xfrm>
            <a:off x="8915400" y="4553712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限流与幂等</a:t>
            </a:r>
          </a:p>
        </p:txBody>
      </p:sp>
      <p:sp>
        <p:nvSpPr>
          <p:cNvPr id="21444" name="Rounded Rectangle 21443"/>
          <p:cNvSpPr/>
          <p:nvPr/>
        </p:nvSpPr>
        <p:spPr>
          <a:xfrm>
            <a:off x="8915400" y="4983479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调用计量</a:t>
            </a:r>
          </a:p>
        </p:txBody>
      </p:sp>
      <p:sp>
        <p:nvSpPr>
          <p:cNvPr id="21445" name="Rounded Rectangle 21444"/>
          <p:cNvSpPr/>
          <p:nvPr/>
        </p:nvSpPr>
        <p:spPr>
          <a:xfrm>
            <a:off x="8915400" y="5413248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服务等级</a:t>
            </a:r>
          </a:p>
        </p:txBody>
      </p:sp>
      <p:sp>
        <p:nvSpPr>
          <p:cNvPr id="21446" name="Rounded Rectangle 21445"/>
          <p:cNvSpPr/>
          <p:nvPr/>
        </p:nvSpPr>
        <p:spPr>
          <a:xfrm>
            <a:off x="658368" y="6263640"/>
            <a:ext cx="5010912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B4551A"/>
                </a:solidFill>
              </a:rPr>
              <a:t>适用　</a:t>
            </a:r>
            <a:r>
              <a:rPr sz="1250" b="0">
                <a:solidFill>
                  <a:srgbClr val="2B2F42"/>
                </a:solidFill>
              </a:rPr>
              <a:t>已适配的标准系统；非标系统进入专项实施</a:t>
            </a:r>
          </a:p>
        </p:txBody>
      </p:sp>
      <p:sp>
        <p:nvSpPr>
          <p:cNvPr id="21447" name="Rounded Rectangle 21446"/>
          <p:cNvSpPr/>
          <p:nvPr/>
        </p:nvSpPr>
        <p:spPr>
          <a:xfrm>
            <a:off x="5852160" y="6263640"/>
            <a:ext cx="501091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衡量　</a:t>
            </a:r>
            <a:r>
              <a:rPr sz="1250" b="0">
                <a:solidFill>
                  <a:srgbClr val="FFFFFF"/>
                </a:solidFill>
              </a:rPr>
              <a:t>接入周期中位数与 P90 · 首次验收通过率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对外产品：谁买、买什么、怎么收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07  赋能行业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8318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2033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景区经营分析增强版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5010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景区、景区集团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统一分析、对标、预警、问数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SaaS 增购订阅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0896" y="258318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2064" y="272033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预测与运营助手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2064" y="315010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季节性强的景区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客流预测、备勤建议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场景订阅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3424" y="258318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4592" y="272033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数据开放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4592" y="315010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渠道伙伴、集成商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标准接入、指标调用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年费 + 调用量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48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41198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B4551A"/>
                </a:solidFill>
              </a:rPr>
              <a:t>区域文旅监测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8417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文旅主管部门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客流、消费、安全研判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项目 + 运营服务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20896" y="42748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2064" y="441198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B4551A"/>
                </a:solidFill>
              </a:rPr>
              <a:t>行业研究与基准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2064" y="48417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文旅集团、研究机构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报告、匿名对标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订阅或专题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3424" y="42748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4592" y="441198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FE2C8"/>
                </a:solidFill>
              </a:rPr>
              <a:t>按产品核算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4592" y="48417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</a:rPr>
              <a:t>收入、交付人天、云资源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模型调用、外部数据、客服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看毛利、续约、复用率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61036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ck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249924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61036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前提　</a:t>
            </a:r>
            <a:r>
              <a:rPr sz="1300" b="0">
                <a:solidFill>
                  <a:srgbClr val="2B2F42"/>
                </a:solidFill>
              </a:rPr>
              <a:t>数据来源、授权用途、交付粒度写清楚；不因数据进入平台就推定可以销售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对外路径：从内部验证到标准服务，从月报到团体标准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07  赋能行业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53</a:t>
            </a:r>
          </a:p>
        </p:txBody>
      </p:sp>
      <p:grpSp>
        <p:nvGrpSpPr>
          <p:cNvPr id="21400" name="素材 6"/>
          <p:cNvGrpSpPr/>
          <p:nvPr/>
        </p:nvGrpSpPr>
        <p:grpSpPr>
          <a:xfrm>
            <a:off x="658368" y="2958084"/>
            <a:ext cx="9158456" cy="1828800"/>
            <a:chOff x="504453" y="3531488"/>
            <a:chExt cx="10545456" cy="2105762"/>
          </a:xfrm>
        </p:grpSpPr>
        <p:sp>
          <p:nvSpPr>
            <p:cNvPr id="21401" name="Pentagon 1"/>
            <p:cNvSpPr/>
            <p:nvPr/>
          </p:nvSpPr>
          <p:spPr>
            <a:xfrm>
              <a:off x="504453" y="3531488"/>
              <a:ext cx="2720842" cy="351076"/>
            </a:xfrm>
            <a:prstGeom prst="homePlate">
              <a:avLst/>
            </a:prstGeom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402" name="Notched Right Arrow 2"/>
            <p:cNvSpPr/>
            <p:nvPr/>
          </p:nvSpPr>
          <p:spPr>
            <a:xfrm>
              <a:off x="3112658" y="3531488"/>
              <a:ext cx="2720842" cy="351076"/>
            </a:xfrm>
            <a:prstGeom prst="notchedRightArrow">
              <a:avLst>
                <a:gd name="adj1" fmla="val 100000"/>
                <a:gd name="adj2" fmla="val 50000"/>
              </a:avLst>
            </a:prstGeom>
            <a:solidFill>
              <a:srgbClr val="5D95F1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403" name="Straight Connector 4"/>
            <p:cNvCxnSpPr/>
            <p:nvPr/>
          </p:nvCxnSpPr>
          <p:spPr>
            <a:xfrm>
              <a:off x="3112658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04" name="Straight Connector 5"/>
            <p:cNvCxnSpPr/>
            <p:nvPr/>
          </p:nvCxnSpPr>
          <p:spPr>
            <a:xfrm>
              <a:off x="5667888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sp>
          <p:nvSpPr>
            <p:cNvPr id="21405" name="Notched Right Arrow 6"/>
            <p:cNvSpPr/>
            <p:nvPr/>
          </p:nvSpPr>
          <p:spPr>
            <a:xfrm>
              <a:off x="5720862" y="3531488"/>
              <a:ext cx="2720842" cy="351076"/>
            </a:xfrm>
            <a:prstGeom prst="notchedRightArrow">
              <a:avLst>
                <a:gd name="adj1" fmla="val 100000"/>
                <a:gd name="adj2" fmla="val 50000"/>
              </a:avLst>
            </a:prstGeom>
            <a:solidFill>
              <a:srgbClr val="655BE6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406" name="Straight Connector 7"/>
            <p:cNvCxnSpPr/>
            <p:nvPr/>
          </p:nvCxnSpPr>
          <p:spPr>
            <a:xfrm>
              <a:off x="8276093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sp>
          <p:nvSpPr>
            <p:cNvPr id="21407" name="Notched Right Arrow 8"/>
            <p:cNvSpPr/>
            <p:nvPr/>
          </p:nvSpPr>
          <p:spPr>
            <a:xfrm>
              <a:off x="8329067" y="3531488"/>
              <a:ext cx="2720842" cy="351076"/>
            </a:xfrm>
            <a:prstGeom prst="notchedRightArrow">
              <a:avLst>
                <a:gd name="adj1" fmla="val 100000"/>
                <a:gd name="adj2" fmla="val 50000"/>
              </a:avLst>
            </a:prstGeom>
            <a:solidFill>
              <a:srgbClr val="F08A3C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408" name="Straight Connector 9"/>
            <p:cNvCxnSpPr/>
            <p:nvPr/>
          </p:nvCxnSpPr>
          <p:spPr>
            <a:xfrm>
              <a:off x="10884297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</p:grpSp>
      <p:sp>
        <p:nvSpPr>
          <p:cNvPr id="21409" name="TextBox 21408"/>
          <p:cNvSpPr txBox="1"/>
          <p:nvPr/>
        </p:nvSpPr>
        <p:spPr>
          <a:xfrm>
            <a:off x="658368" y="23637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商业化路径</a:t>
            </a:r>
          </a:p>
        </p:txBody>
      </p:sp>
      <p:pic>
        <p:nvPicPr>
          <p:cNvPr id="21410" name="Picture 21409" descr="hom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414" y="2480942"/>
            <a:ext cx="365760" cy="365760"/>
          </a:xfrm>
          <a:prstGeom prst="rect">
            <a:avLst/>
          </a:prstGeom>
        </p:spPr>
      </p:pic>
      <p:sp>
        <p:nvSpPr>
          <p:cNvPr id="21411" name="TextBox 21410"/>
          <p:cNvSpPr txBox="1"/>
          <p:nvPr/>
        </p:nvSpPr>
        <p:spPr>
          <a:xfrm>
            <a:off x="697294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776CFD"/>
                </a:solidFill>
              </a:rPr>
              <a:t>内部验证</a:t>
            </a:r>
          </a:p>
        </p:txBody>
      </p:sp>
      <p:sp>
        <p:nvSpPr>
          <p:cNvPr id="21412" name="TextBox 21411"/>
          <p:cNvSpPr txBox="1"/>
          <p:nvPr/>
        </p:nvSpPr>
        <p:spPr>
          <a:xfrm>
            <a:off x="788734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内部业务先用，验证口径与效果</a:t>
            </a:r>
          </a:p>
        </p:txBody>
      </p:sp>
      <p:pic>
        <p:nvPicPr>
          <p:cNvPr id="21413" name="Picture 21412" descr="users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693" y="2480942"/>
            <a:ext cx="365760" cy="365760"/>
          </a:xfrm>
          <a:prstGeom prst="rect">
            <a:avLst/>
          </a:prstGeom>
        </p:spPr>
      </p:pic>
      <p:sp>
        <p:nvSpPr>
          <p:cNvPr id="21414" name="TextBox 21413"/>
          <p:cNvSpPr txBox="1"/>
          <p:nvPr/>
        </p:nvSpPr>
        <p:spPr>
          <a:xfrm>
            <a:off x="2960573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5D95F1"/>
                </a:solidFill>
              </a:rPr>
              <a:t>试点景区</a:t>
            </a:r>
          </a:p>
        </p:txBody>
      </p:sp>
      <p:sp>
        <p:nvSpPr>
          <p:cNvPr id="21415" name="TextBox 21414"/>
          <p:cNvSpPr txBox="1"/>
          <p:nvPr/>
        </p:nvSpPr>
        <p:spPr>
          <a:xfrm>
            <a:off x="3052013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典型景区共建，验证使用价值</a:t>
            </a:r>
          </a:p>
        </p:txBody>
      </p:sp>
      <p:pic>
        <p:nvPicPr>
          <p:cNvPr id="21416" name="Picture 21415" descr="star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912" y="2480942"/>
            <a:ext cx="365760" cy="365760"/>
          </a:xfrm>
          <a:prstGeom prst="rect">
            <a:avLst/>
          </a:prstGeom>
        </p:spPr>
      </p:pic>
      <p:sp>
        <p:nvSpPr>
          <p:cNvPr id="21417" name="TextBox 21416"/>
          <p:cNvSpPr txBox="1"/>
          <p:nvPr/>
        </p:nvSpPr>
        <p:spPr>
          <a:xfrm>
            <a:off x="5231792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655BE6"/>
                </a:solidFill>
              </a:rPr>
              <a:t>付费试点</a:t>
            </a:r>
          </a:p>
        </p:txBody>
      </p:sp>
      <p:sp>
        <p:nvSpPr>
          <p:cNvPr id="21418" name="TextBox 21417"/>
          <p:cNvSpPr txBox="1"/>
          <p:nvPr/>
        </p:nvSpPr>
        <p:spPr>
          <a:xfrm>
            <a:off x="5323232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验证付费意愿、定价与交付</a:t>
            </a:r>
          </a:p>
        </p:txBody>
      </p:sp>
      <p:pic>
        <p:nvPicPr>
          <p:cNvPr id="21419" name="Picture 21418" descr="send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191" y="2480942"/>
            <a:ext cx="365760" cy="365760"/>
          </a:xfrm>
          <a:prstGeom prst="rect">
            <a:avLst/>
          </a:prstGeom>
        </p:spPr>
      </p:pic>
      <p:sp>
        <p:nvSpPr>
          <p:cNvPr id="21420" name="TextBox 21419"/>
          <p:cNvSpPr txBox="1"/>
          <p:nvPr/>
        </p:nvSpPr>
        <p:spPr>
          <a:xfrm>
            <a:off x="7495071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4551A"/>
                </a:solidFill>
              </a:rPr>
              <a:t>标准服务包</a:t>
            </a:r>
          </a:p>
        </p:txBody>
      </p:sp>
      <p:sp>
        <p:nvSpPr>
          <p:cNvPr id="21421" name="TextBox 21420"/>
          <p:cNvSpPr txBox="1"/>
          <p:nvPr/>
        </p:nvSpPr>
        <p:spPr>
          <a:xfrm>
            <a:off x="7586511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分析增强版 · AI 运营助手 · 标准 API</a:t>
            </a:r>
          </a:p>
        </p:txBody>
      </p:sp>
      <p:sp>
        <p:nvSpPr>
          <p:cNvPr id="21422" name="TextBox 21421"/>
          <p:cNvSpPr txBox="1"/>
          <p:nvPr/>
        </p:nvSpPr>
        <p:spPr>
          <a:xfrm>
            <a:off x="658368" y="51526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B4551A"/>
                </a:solidFill>
              </a:rPr>
              <a:t>行业输出路径</a:t>
            </a:r>
          </a:p>
        </p:txBody>
      </p:sp>
      <p:sp>
        <p:nvSpPr>
          <p:cNvPr id="21423" name="Rounded Rectangle 21422"/>
          <p:cNvSpPr/>
          <p:nvPr/>
        </p:nvSpPr>
        <p:spPr>
          <a:xfrm>
            <a:off x="658368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经营月报</a:t>
            </a:r>
          </a:p>
        </p:txBody>
      </p:sp>
      <p:sp>
        <p:nvSpPr>
          <p:cNvPr id="21424" name="Right Arrow 21423"/>
          <p:cNvSpPr/>
          <p:nvPr/>
        </p:nvSpPr>
        <p:spPr>
          <a:xfrm>
            <a:off x="2479852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5" name="Rounded Rectangle 21424"/>
          <p:cNvSpPr/>
          <p:nvPr/>
        </p:nvSpPr>
        <p:spPr>
          <a:xfrm>
            <a:off x="2772460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B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节假日专题</a:t>
            </a:r>
          </a:p>
        </p:txBody>
      </p:sp>
      <p:sp>
        <p:nvSpPr>
          <p:cNvPr id="21426" name="Right Arrow 21425"/>
          <p:cNvSpPr/>
          <p:nvPr/>
        </p:nvSpPr>
        <p:spPr>
          <a:xfrm>
            <a:off x="4593945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7" name="Rounded Rectangle 21426"/>
          <p:cNvSpPr/>
          <p:nvPr/>
        </p:nvSpPr>
        <p:spPr>
          <a:xfrm>
            <a:off x="4886553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年度研究</a:t>
            </a:r>
          </a:p>
        </p:txBody>
      </p:sp>
      <p:sp>
        <p:nvSpPr>
          <p:cNvPr id="21428" name="Right Arrow 21427"/>
          <p:cNvSpPr/>
          <p:nvPr/>
        </p:nvSpPr>
        <p:spPr>
          <a:xfrm>
            <a:off x="6708038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9" name="Rounded Rectangle 21428"/>
          <p:cNvSpPr/>
          <p:nvPr/>
        </p:nvSpPr>
        <p:spPr>
          <a:xfrm>
            <a:off x="7000646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3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对标与规范</a:t>
            </a:r>
          </a:p>
        </p:txBody>
      </p:sp>
      <p:sp>
        <p:nvSpPr>
          <p:cNvPr id="21430" name="Right Arrow 21429"/>
          <p:cNvSpPr/>
          <p:nvPr/>
        </p:nvSpPr>
        <p:spPr>
          <a:xfrm>
            <a:off x="8822131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1" name="Rounded Rectangle 21430"/>
          <p:cNvSpPr/>
          <p:nvPr/>
        </p:nvSpPr>
        <p:spPr>
          <a:xfrm>
            <a:off x="9114739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团体标准共建</a:t>
            </a:r>
          </a:p>
        </p:txBody>
      </p:sp>
      <p:sp>
        <p:nvSpPr>
          <p:cNvPr id="21432" name="Rounded Rectangle 21431"/>
          <p:cNvSpPr/>
          <p:nvPr/>
        </p:nvSpPr>
        <p:spPr>
          <a:xfrm>
            <a:off x="658368" y="634136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33" name="Picture 21432" descr="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6478524"/>
            <a:ext cx="274320" cy="274320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1252728" y="634136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边界　</a:t>
            </a:r>
            <a:r>
              <a:rPr sz="1250" b="0">
                <a:solidFill>
                  <a:srgbClr val="FFFFFF"/>
                </a:solidFill>
              </a:rPr>
              <a:t>单景区数据只服务该景区 · 对外只提供匿名聚合 · 授权清楚 · 成本可核算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行业成果：可验证的方法，可信的结论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07  赋能行业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96312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633471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19" y="2770631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27048" y="2606040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节假日洞察快报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953512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预订、核销、渠道变化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896" y="2496312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85488" y="2633471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648" y="2770631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89576" y="2606040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年度行业报告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9576" y="2953512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数字经营与典型实践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3424" y="2496312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48015" y="2633471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5176" y="2770631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52103" y="2606040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基准与景气指数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2103" y="2953512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同类景区匿名对标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56431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" y="3593591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verifie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19" y="3730751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27048" y="3566160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数据与接入规范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913631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模型、口径、接口契约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0896" y="3456431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85488" y="3593591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2648" y="3730751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89576" y="3566160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高质量数据集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9576" y="3913631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交易、核销、客流脱敏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3424" y="3456431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48015" y="3593591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ul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5176" y="3730751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52103" y="3566160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AI 应用实践指南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2103" y="3913631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问数评测、知识治理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443983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方法论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91455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公开样本与口径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26740" y="4791455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区分同店与新增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95113" y="4791455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不外推全国市场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63486" y="4791455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最小分组规模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31859" y="4791455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AI 起草，专家审核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458967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lob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605271"/>
            <a:ext cx="274320" cy="2743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52728" y="5458967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发布渠道　</a:t>
            </a:r>
            <a:r>
              <a:rPr sz="1300" b="0">
                <a:solidFill>
                  <a:srgbClr val="FFFFFF"/>
                </a:solidFill>
              </a:rPr>
              <a:t>依托文旅部技术创新中心；规范从企业版到伙伴共建，再推动团体标准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6227063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92808" y="6227063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年度报告与快报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按年、按节假日发布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58234" y="6227063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报告引用与转载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持续提升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23660" y="6227063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规范采纳伙伴数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逐年增长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9086" y="6227063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团体标准立项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第三年推动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价值与保障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价值逐层放大，保障落地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价值逐层放大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建成之后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价值衡量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组织保障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风险与应对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需要的支持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价值逐层放大：企业 → 客户 → 伙伴 → 行业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56</a:t>
            </a:r>
          </a:p>
        </p:txBody>
      </p:sp>
      <p:grpSp>
        <p:nvGrpSpPr>
          <p:cNvPr id="21400" name="素材 3"/>
          <p:cNvGrpSpPr/>
          <p:nvPr/>
        </p:nvGrpSpPr>
        <p:grpSpPr>
          <a:xfrm>
            <a:off x="960120" y="3058746"/>
            <a:ext cx="9418320" cy="2188617"/>
            <a:chOff x="742226" y="3016129"/>
            <a:chExt cx="9386508" cy="2181225"/>
          </a:xfrm>
        </p:grpSpPr>
        <p:sp>
          <p:nvSpPr>
            <p:cNvPr id="21401" name="Oval 5"/>
            <p:cNvSpPr>
              <a:spLocks noChangeArrowheads="1"/>
            </p:cNvSpPr>
            <p:nvPr/>
          </p:nvSpPr>
          <p:spPr bwMode="auto">
            <a:xfrm>
              <a:off x="822820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Freeform 6"/>
            <p:cNvSpPr>
              <a:spLocks noEditPoints="1"/>
            </p:cNvSpPr>
            <p:nvPr/>
          </p:nvSpPr>
          <p:spPr bwMode="auto">
            <a:xfrm>
              <a:off x="742226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Pentagon 6"/>
            <p:cNvSpPr/>
            <p:nvPr/>
          </p:nvSpPr>
          <p:spPr>
            <a:xfrm>
              <a:off x="2226707" y="4030542"/>
              <a:ext cx="955423" cy="152400"/>
            </a:xfrm>
            <a:prstGeom prst="homePlate">
              <a:avLst/>
            </a:prstGeom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404" name="Oval 5"/>
            <p:cNvSpPr>
              <a:spLocks noChangeArrowheads="1"/>
            </p:cNvSpPr>
            <p:nvPr/>
          </p:nvSpPr>
          <p:spPr bwMode="auto">
            <a:xfrm>
              <a:off x="3460173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6"/>
            <p:cNvSpPr>
              <a:spLocks noEditPoints="1"/>
            </p:cNvSpPr>
            <p:nvPr/>
          </p:nvSpPr>
          <p:spPr bwMode="auto">
            <a:xfrm>
              <a:off x="3379579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6" name="Pentagon 11"/>
            <p:cNvSpPr/>
            <p:nvPr/>
          </p:nvSpPr>
          <p:spPr>
            <a:xfrm>
              <a:off x="4910545" y="4030542"/>
              <a:ext cx="955423" cy="152400"/>
            </a:xfrm>
            <a:prstGeom prst="homePlate">
              <a:avLst/>
            </a:prstGeom>
            <a:solidFill>
              <a:srgbClr val="776CFD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7" name="Oval 5"/>
            <p:cNvSpPr>
              <a:spLocks noChangeArrowheads="1"/>
            </p:cNvSpPr>
            <p:nvPr/>
          </p:nvSpPr>
          <p:spPr bwMode="auto">
            <a:xfrm>
              <a:off x="6175752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8" name="Freeform 6"/>
            <p:cNvSpPr>
              <a:spLocks noEditPoints="1"/>
            </p:cNvSpPr>
            <p:nvPr/>
          </p:nvSpPr>
          <p:spPr bwMode="auto">
            <a:xfrm>
              <a:off x="6095158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9" name="Pentagon 15"/>
            <p:cNvSpPr/>
            <p:nvPr/>
          </p:nvSpPr>
          <p:spPr>
            <a:xfrm>
              <a:off x="7594383" y="4030542"/>
              <a:ext cx="955423" cy="152400"/>
            </a:xfrm>
            <a:prstGeom prst="homePlate">
              <a:avLst/>
            </a:prstGeom>
            <a:solidFill>
              <a:srgbClr val="776CFD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10" name="Oval 5"/>
            <p:cNvSpPr>
              <a:spLocks noChangeArrowheads="1"/>
            </p:cNvSpPr>
            <p:nvPr/>
          </p:nvSpPr>
          <p:spPr bwMode="auto">
            <a:xfrm>
              <a:off x="8874335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11" name="Freeform 6"/>
            <p:cNvSpPr>
              <a:spLocks noEditPoints="1"/>
            </p:cNvSpPr>
            <p:nvPr/>
          </p:nvSpPr>
          <p:spPr bwMode="auto">
            <a:xfrm>
              <a:off x="8793741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412" name="Picture 21411" descr="ge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438" y="3905077"/>
            <a:ext cx="493776" cy="493776"/>
          </a:xfrm>
          <a:prstGeom prst="rect">
            <a:avLst/>
          </a:prstGeom>
        </p:spPr>
      </p:pic>
      <p:sp>
        <p:nvSpPr>
          <p:cNvPr id="21413" name="TextBox 21412"/>
          <p:cNvSpPr txBox="1"/>
          <p:nvPr/>
        </p:nvSpPr>
        <p:spPr>
          <a:xfrm>
            <a:off x="393886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776CFD"/>
                </a:solidFill>
              </a:rPr>
              <a:t>降本增效</a:t>
            </a:r>
          </a:p>
        </p:txBody>
      </p:sp>
      <p:sp>
        <p:nvSpPr>
          <p:cNvPr id="21414" name="TextBox 21413"/>
          <p:cNvSpPr txBox="1"/>
          <p:nvPr/>
        </p:nvSpPr>
        <p:spPr>
          <a:xfrm>
            <a:off x="393886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赋能企业内部</a:t>
            </a:r>
          </a:p>
        </p:txBody>
      </p:sp>
      <p:sp>
        <p:nvSpPr>
          <p:cNvPr id="21415" name="TextBox 21414"/>
          <p:cNvSpPr txBox="1"/>
          <p:nvPr/>
        </p:nvSpPr>
        <p:spPr>
          <a:xfrm>
            <a:off x="393886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重复模型退役，人力释放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T+1 到分钟级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差错可发现、可追溯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数据资产可计量</a:t>
            </a:r>
          </a:p>
        </p:txBody>
      </p:sp>
      <p:pic>
        <p:nvPicPr>
          <p:cNvPr id="21416" name="Picture 21415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836" y="3905077"/>
            <a:ext cx="493776" cy="493776"/>
          </a:xfrm>
          <a:prstGeom prst="rect">
            <a:avLst/>
          </a:prstGeom>
        </p:spPr>
      </p:pic>
      <p:sp>
        <p:nvSpPr>
          <p:cNvPr id="21417" name="TextBox 21416"/>
          <p:cNvSpPr txBox="1"/>
          <p:nvPr/>
        </p:nvSpPr>
        <p:spPr>
          <a:xfrm>
            <a:off x="3036284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776CFD"/>
                </a:solidFill>
              </a:rPr>
              <a:t>客户增长</a:t>
            </a:r>
          </a:p>
        </p:txBody>
      </p:sp>
      <p:sp>
        <p:nvSpPr>
          <p:cNvPr id="21418" name="TextBox 21417"/>
          <p:cNvSpPr txBox="1"/>
          <p:nvPr/>
        </p:nvSpPr>
        <p:spPr>
          <a:xfrm>
            <a:off x="3036284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赋能客户</a:t>
            </a:r>
          </a:p>
        </p:txBody>
      </p:sp>
      <p:sp>
        <p:nvSpPr>
          <p:cNvPr id="21419" name="TextBox 21418"/>
          <p:cNvSpPr txBox="1"/>
          <p:nvPr/>
        </p:nvSpPr>
        <p:spPr>
          <a:xfrm>
            <a:off x="3036284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景区自主分析与 AI 辅助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续约、客单价、新服务</a:t>
            </a:r>
          </a:p>
        </p:txBody>
      </p:sp>
      <p:pic>
        <p:nvPicPr>
          <p:cNvPr id="21420" name="Picture 21419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808" y="3905077"/>
            <a:ext cx="493776" cy="493776"/>
          </a:xfrm>
          <a:prstGeom prst="rect">
            <a:avLst/>
          </a:prstGeom>
        </p:spPr>
      </p:pic>
      <p:sp>
        <p:nvSpPr>
          <p:cNvPr id="21421" name="TextBox 21420"/>
          <p:cNvSpPr txBox="1"/>
          <p:nvPr/>
        </p:nvSpPr>
        <p:spPr>
          <a:xfrm>
            <a:off x="5761256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776CFD"/>
                </a:solidFill>
              </a:rPr>
              <a:t>生态连接</a:t>
            </a:r>
          </a:p>
        </p:txBody>
      </p:sp>
      <p:sp>
        <p:nvSpPr>
          <p:cNvPr id="21422" name="TextBox 21421"/>
          <p:cNvSpPr txBox="1"/>
          <p:nvPr/>
        </p:nvSpPr>
        <p:spPr>
          <a:xfrm>
            <a:off x="5761256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赋能伙伴</a:t>
            </a:r>
          </a:p>
        </p:txBody>
      </p:sp>
      <p:sp>
        <p:nvSpPr>
          <p:cNvPr id="21423" name="TextBox 21422"/>
          <p:cNvSpPr txBox="1"/>
          <p:nvPr/>
        </p:nvSpPr>
        <p:spPr>
          <a:xfrm>
            <a:off x="5761256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标准接入、直接集成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可信数据与广泛连接</a:t>
            </a:r>
          </a:p>
        </p:txBody>
      </p:sp>
      <p:pic>
        <p:nvPicPr>
          <p:cNvPr id="21424" name="Picture 21423" descr="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605" y="3905077"/>
            <a:ext cx="493776" cy="493776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8477053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B4551A"/>
                </a:solidFill>
              </a:rPr>
              <a:t>行业影响力</a:t>
            </a:r>
          </a:p>
        </p:txBody>
      </p:sp>
      <p:sp>
        <p:nvSpPr>
          <p:cNvPr id="21426" name="TextBox 21425"/>
          <p:cNvSpPr txBox="1"/>
          <p:nvPr/>
        </p:nvSpPr>
        <p:spPr>
          <a:xfrm>
            <a:off x="8477053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赋能行业</a:t>
            </a:r>
          </a:p>
        </p:txBody>
      </p:sp>
      <p:sp>
        <p:nvSpPr>
          <p:cNvPr id="21427" name="TextBox 21426"/>
          <p:cNvSpPr txBox="1"/>
          <p:nvPr/>
        </p:nvSpPr>
        <p:spPr>
          <a:xfrm>
            <a:off x="8477053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口径、模型、接入规范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节假日专题与年度报告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合规高质量数据集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文旅数据与 AI 专业地位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建成之后：每类角色都用上可信数据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0662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3026664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" y="3191256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9928" y="288950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管理层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327355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每个经营问题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都有可追溯的答案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896" y="270662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22064" y="3026664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656" y="3191256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72456" y="288950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业务团队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2456" y="327355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日常分析自助完成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或直接问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3424" y="270662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84592" y="3026664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184" y="3191256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34984" y="288950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数据团队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4984" y="327355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从反复对数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转向建能力、出洞察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6966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4489704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om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7" y="4654296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09928" y="435254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景区客户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928" y="473659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用自己的数据和指标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做经营决策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0896" y="416966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2064" y="4489704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in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656" y="4654296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72456" y="435254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合作伙伴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2456" y="473659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标准场景配置化接入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能力直接集成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3424" y="416966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84592" y="4489704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lob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9184" y="4654296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34984" y="435254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行业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4984" y="473659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文旅数据报告、对标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与规范的重要发布方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815584"/>
            <a:ext cx="10204704" cy="73152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815584"/>
            <a:ext cx="1020470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数据可信 · 模型可复用 · 服务稳定 · 能力易扩展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价值衡量：每类价值都有可量化的指标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78024"/>
            <a:ext cx="3249168" cy="3520440"/>
          </a:xfrm>
          <a:prstGeom prst="roundRect">
            <a:avLst>
              <a:gd name="adj" fmla="val 281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15184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655BE6"/>
                </a:solidFill>
              </a:rPr>
              <a:t>赋能企业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63824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降本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56431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退役模型与任务、释放存算、省下人天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858767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增效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15137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可查询延迟、交付周期、自助完成率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55371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控险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84632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核对差异率、问题关闭时长、越权拦截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248656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541264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跑通闭环数、回流覆盖率、采纳率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6136" y="2478024"/>
            <a:ext cx="3249168" cy="3520440"/>
          </a:xfrm>
          <a:prstGeom prst="roundRect">
            <a:avLst>
              <a:gd name="adj" fmla="val 281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4736" y="2615184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FFFFFF"/>
                </a:solidFill>
              </a:rPr>
              <a:t>赋能客户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4736" y="3163824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客户价值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4736" y="3456431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自助分析景区数、活跃度、满意度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4736" y="3858767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商业价值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4736" y="415137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付费客户、收入、续约率、毛利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4736" y="455371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接入效率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4736" y="484632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接入周期、首次验收通过率、调用量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3904" y="2478024"/>
            <a:ext cx="3249168" cy="3520440"/>
          </a:xfrm>
          <a:prstGeom prst="roundRect">
            <a:avLst>
              <a:gd name="adj" fmla="val 2814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2504" y="2615184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B4551A"/>
                </a:solidFill>
              </a:rPr>
              <a:t>赋能行业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2504" y="3163824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影响力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2504" y="3456431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报告发布与引用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2504" y="3858767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标准化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2504" y="415137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规范被伙伴采纳、标准立项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2504" y="455371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合作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2504" y="484632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研究合作、商机转化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622706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ctivit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364224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622706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先建立基线再定目标；以实际使用和业务结果衡量，不以上线看板数量衡量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组织保障：谁负责、怎么协同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2450592"/>
            <a:ext cx="2962656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数据治理委员会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FFFFFF"/>
                </a:solidFill>
              </a:rPr>
              <a:t>管理层牵头 · 裁定口径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3547872"/>
            <a:ext cx="2962656" cy="73152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数据平台部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FFFFFF"/>
                </a:solidFill>
              </a:rPr>
              <a:t>建设与运营平台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547872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业务线数据负责人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5E6478"/>
                </a:solidFill>
              </a:rPr>
              <a:t>定口径 · 用结果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3547872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数据大使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5E6478"/>
                </a:solidFill>
              </a:rPr>
              <a:t>传需求 · 推使用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3182112"/>
            <a:ext cx="0" cy="365760"/>
          </a:xfrm>
          <a:prstGeom prst="line">
            <a:avLst/>
          </a:prstGeom>
          <a:ln w="25400">
            <a:solidFill>
              <a:srgbClr val="655B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67328" y="3913632"/>
            <a:ext cx="512064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8" y="3913632"/>
            <a:ext cx="512064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4919472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平台与架构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8964" y="4919472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数据研发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9560" y="4919472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治理与指标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20156" y="4919472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产品与 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0752" y="4919472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AI 工程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1348" y="4919472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开放与解决方案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4279392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59230" y="4599432"/>
            <a:ext cx="8602980" cy="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59230" y="4599432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179826" y="4599432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00422" y="4599432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21018" y="4599432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41614" y="4599432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62210" y="4599432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5724145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机制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35607" y="5724145"/>
            <a:ext cx="13959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月度数据共建会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3032" y="5724145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口径评审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53256" y="5724145"/>
            <a:ext cx="13959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资产健康分公示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40680" y="5724145"/>
            <a:ext cx="143865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代码与 SQL 评审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70776" y="5724145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开发规范手册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5799" y="5724145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月度数据洞察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6272784"/>
            <a:ext cx="1143000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关键指标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92808" y="627278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业务线数据负责人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全部到位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58234" y="627278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口径评审时效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两周内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23660" y="627278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月度共建会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固定召开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9086" y="6272784"/>
            <a:ext cx="2173986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9144" rIns="54864" bIns="9144"/>
          <a:lstStyle/>
          <a:p>
            <a:pPr algn="ctr"/>
            <a:r>
              <a:rPr sz="1150" b="1">
                <a:solidFill>
                  <a:srgbClr val="2B2F42"/>
                </a:solidFill>
              </a:rPr>
              <a:t>数据大使覆盖</a:t>
            </a:r>
          </a:p>
          <a:p>
            <a:pPr algn="ctr"/>
            <a:r>
              <a:rPr sz="1050" b="1">
                <a:solidFill>
                  <a:srgbClr val="B4551A"/>
                </a:solidFill>
              </a:rPr>
              <a:t>各业务线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风险与应对：提前识别，预案前置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746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8300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口径对齐阻力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2216" y="28392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964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管理层背书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定义权归业务方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0896" y="26746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2064" y="28300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存量切换影响业务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4744" y="28392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2064" y="32964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双跑验证、观察期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保留回滚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3424" y="26746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4592" y="28300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答错、越权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77272" y="28392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4592" y="32964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只用认证指标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评测回归、权限前置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748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4302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个人信息与授权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52216" y="44394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8966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分类分级、最小化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法务前置审核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20896" y="42748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2064" y="44302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节假日峰值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4744" y="44394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2064" y="48966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压测、降级预案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节前封版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3424" y="42748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4592" y="44302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与现有产品重复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77272" y="44394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4592" y="48966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底座共建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应用分工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601218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158484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52728" y="601218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资源不足时　</a:t>
            </a:r>
            <a:r>
              <a:rPr sz="1300" b="0">
                <a:solidFill>
                  <a:srgbClr val="FFFFFF"/>
                </a:solidFill>
              </a:rPr>
              <a:t>聚焦核心域，不贪多求全；每个阶段都有看得见的成果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需要的支持：四项关键决策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61</a:t>
            </a:r>
          </a:p>
        </p:txBody>
      </p:sp>
      <p:grpSp>
        <p:nvGrpSpPr>
          <p:cNvPr id="21400" name="素材 19"/>
          <p:cNvGrpSpPr/>
          <p:nvPr/>
        </p:nvGrpSpPr>
        <p:grpSpPr>
          <a:xfrm>
            <a:off x="868680" y="2582176"/>
            <a:ext cx="9692640" cy="4089376"/>
            <a:chOff x="792485" y="2119934"/>
            <a:chExt cx="9823679" cy="4144663"/>
          </a:xfrm>
        </p:grpSpPr>
        <p:sp>
          <p:nvSpPr>
            <p:cNvPr id="21401" name="Freeform 5"/>
            <p:cNvSpPr/>
            <p:nvPr/>
          </p:nvSpPr>
          <p:spPr bwMode="auto">
            <a:xfrm>
              <a:off x="6072403" y="2119934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02" name="Group 27"/>
            <p:cNvGrpSpPr/>
            <p:nvPr/>
          </p:nvGrpSpPr>
          <p:grpSpPr>
            <a:xfrm>
              <a:off x="4764059" y="2290535"/>
              <a:ext cx="1589476" cy="1077672"/>
              <a:chOff x="5155735" y="2183152"/>
              <a:chExt cx="1589476" cy="1077672"/>
            </a:xfrm>
          </p:grpSpPr>
          <p:sp>
            <p:nvSpPr>
              <p:cNvPr id="21403" name="Freeform 6"/>
              <p:cNvSpPr/>
              <p:nvPr/>
            </p:nvSpPr>
            <p:spPr bwMode="auto">
              <a:xfrm>
                <a:off x="5155735" y="2183152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776CFD">
                      <a:lumMod val="95000"/>
                    </a:srgbClr>
                  </a:gs>
                  <a:gs pos="100000">
                    <a:srgbClr val="776CFD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4" name="Freeform 7"/>
              <p:cNvSpPr/>
              <p:nvPr/>
            </p:nvSpPr>
            <p:spPr bwMode="auto">
              <a:xfrm>
                <a:off x="5226619" y="2234814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776CFD"/>
                  </a:gs>
                  <a:gs pos="100000">
                    <a:srgbClr val="776CFD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01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</p:grpSp>
        <p:sp>
          <p:nvSpPr>
            <p:cNvPr id="21405" name="Freeform 5"/>
            <p:cNvSpPr/>
            <p:nvPr/>
          </p:nvSpPr>
          <p:spPr bwMode="auto">
            <a:xfrm flipH="1">
              <a:off x="792485" y="3085397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5D95F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06" name="Group 26"/>
            <p:cNvGrpSpPr/>
            <p:nvPr/>
          </p:nvGrpSpPr>
          <p:grpSpPr>
            <a:xfrm>
              <a:off x="4984230" y="3255998"/>
              <a:ext cx="1589476" cy="1077672"/>
              <a:chOff x="5375906" y="3148615"/>
              <a:chExt cx="1589476" cy="1077672"/>
            </a:xfrm>
          </p:grpSpPr>
          <p:sp>
            <p:nvSpPr>
              <p:cNvPr id="21407" name="Freeform 6"/>
              <p:cNvSpPr/>
              <p:nvPr/>
            </p:nvSpPr>
            <p:spPr bwMode="auto">
              <a:xfrm flipH="1">
                <a:off x="5375906" y="3148615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5D95F1">
                      <a:lumMod val="95000"/>
                    </a:srgbClr>
                  </a:gs>
                  <a:gs pos="100000">
                    <a:srgbClr val="5D95F1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Freeform 7"/>
              <p:cNvSpPr/>
              <p:nvPr/>
            </p:nvSpPr>
            <p:spPr bwMode="auto">
              <a:xfrm flipH="1">
                <a:off x="5941774" y="3200277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5D95F1"/>
                  </a:gs>
                  <a:gs pos="100000">
                    <a:srgbClr val="5D95F1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02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</p:grpSp>
        <p:sp>
          <p:nvSpPr>
            <p:cNvPr id="21409" name="Freeform 5"/>
            <p:cNvSpPr/>
            <p:nvPr/>
          </p:nvSpPr>
          <p:spPr bwMode="auto">
            <a:xfrm>
              <a:off x="6143287" y="4050860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10" name="Group 25"/>
            <p:cNvGrpSpPr/>
            <p:nvPr/>
          </p:nvGrpSpPr>
          <p:grpSpPr>
            <a:xfrm>
              <a:off x="4834943" y="4221461"/>
              <a:ext cx="1589476" cy="1077672"/>
              <a:chOff x="5226619" y="4114078"/>
              <a:chExt cx="1589476" cy="1077672"/>
            </a:xfrm>
          </p:grpSpPr>
          <p:sp>
            <p:nvSpPr>
              <p:cNvPr id="21411" name="Freeform 6"/>
              <p:cNvSpPr/>
              <p:nvPr/>
            </p:nvSpPr>
            <p:spPr bwMode="auto">
              <a:xfrm>
                <a:off x="5226619" y="4114078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55BE6">
                      <a:lumMod val="95000"/>
                    </a:srgbClr>
                  </a:gs>
                  <a:gs pos="100000">
                    <a:srgbClr val="655BE6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2" name="Freeform 7"/>
              <p:cNvSpPr/>
              <p:nvPr/>
            </p:nvSpPr>
            <p:spPr bwMode="auto">
              <a:xfrm>
                <a:off x="5297503" y="4165740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655BE6"/>
                  </a:gs>
                  <a:gs pos="100000">
                    <a:srgbClr val="655BE6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03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</p:grpSp>
        <p:sp>
          <p:nvSpPr>
            <p:cNvPr id="21413" name="Freeform 5"/>
            <p:cNvSpPr/>
            <p:nvPr/>
          </p:nvSpPr>
          <p:spPr bwMode="auto">
            <a:xfrm flipH="1">
              <a:off x="792485" y="5016324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14" name="Group 24"/>
            <p:cNvGrpSpPr/>
            <p:nvPr/>
          </p:nvGrpSpPr>
          <p:grpSpPr>
            <a:xfrm>
              <a:off x="4984230" y="5186925"/>
              <a:ext cx="1589476" cy="1077672"/>
              <a:chOff x="5375906" y="5079542"/>
              <a:chExt cx="1589476" cy="1077672"/>
            </a:xfrm>
          </p:grpSpPr>
          <p:sp>
            <p:nvSpPr>
              <p:cNvPr id="21415" name="Freeform 6"/>
              <p:cNvSpPr/>
              <p:nvPr/>
            </p:nvSpPr>
            <p:spPr bwMode="auto">
              <a:xfrm flipH="1">
                <a:off x="5375906" y="5079542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8A3C">
                      <a:lumMod val="95000"/>
                    </a:srgbClr>
                  </a:gs>
                  <a:gs pos="100000">
                    <a:srgbClr val="F08A3C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6" name="Freeform 7"/>
              <p:cNvSpPr/>
              <p:nvPr/>
            </p:nvSpPr>
            <p:spPr bwMode="auto">
              <a:xfrm flipH="1">
                <a:off x="5941774" y="5131204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08A3C"/>
                  </a:gs>
                  <a:gs pos="100000">
                    <a:srgbClr val="F08A3C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04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</p:grpSp>
        <p:sp>
          <p:nvSpPr>
            <p:cNvPr id="21417" name="Rectangle 28"/>
            <p:cNvSpPr/>
            <p:nvPr/>
          </p:nvSpPr>
          <p:spPr>
            <a:xfrm>
              <a:off x="7435998" y="2255014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18" name="Rectangle 87"/>
            <p:cNvSpPr/>
            <p:nvPr/>
          </p:nvSpPr>
          <p:spPr>
            <a:xfrm>
              <a:off x="7435998" y="4153692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19" name="Rectangle 92"/>
            <p:cNvSpPr/>
            <p:nvPr/>
          </p:nvSpPr>
          <p:spPr>
            <a:xfrm>
              <a:off x="3832687" y="3218918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20" name="Rectangle 96"/>
            <p:cNvSpPr/>
            <p:nvPr/>
          </p:nvSpPr>
          <p:spPr>
            <a:xfrm>
              <a:off x="3832687" y="5149845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</p:grpSp>
      <p:pic>
        <p:nvPicPr>
          <p:cNvPr id="21421" name="Picture 21420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934" y="2845269"/>
            <a:ext cx="457200" cy="457200"/>
          </a:xfrm>
          <a:prstGeom prst="rect">
            <a:avLst/>
          </a:prstGeom>
        </p:spPr>
      </p:pic>
      <p:sp>
        <p:nvSpPr>
          <p:cNvPr id="21422" name="TextBox 21421"/>
          <p:cNvSpPr txBox="1"/>
          <p:nvPr/>
        </p:nvSpPr>
        <p:spPr>
          <a:xfrm>
            <a:off x="7620158" y="2699940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</a:rPr>
              <a:t>口径决策机制</a:t>
            </a:r>
          </a:p>
        </p:txBody>
      </p:sp>
      <p:sp>
        <p:nvSpPr>
          <p:cNvPr id="21423" name="TextBox 21422"/>
          <p:cNvSpPr txBox="1"/>
          <p:nvPr/>
        </p:nvSpPr>
        <p:spPr>
          <a:xfrm>
            <a:off x="7620158" y="3047412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成立数据治理委员会，明确口径最终裁定人</a:t>
            </a:r>
          </a:p>
        </p:txBody>
      </p:sp>
      <p:pic>
        <p:nvPicPr>
          <p:cNvPr id="21424" name="Picture 21423" descr="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568" y="3792581"/>
            <a:ext cx="457200" cy="457200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1176967" y="3656275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550" b="1">
                <a:solidFill>
                  <a:srgbClr val="FFFFFF"/>
                </a:solidFill>
              </a:rPr>
              <a:t>规范强制力</a:t>
            </a:r>
          </a:p>
        </p:txBody>
      </p:sp>
      <p:sp>
        <p:nvSpPr>
          <p:cNvPr id="21426" name="TextBox 21425"/>
          <p:cNvSpPr txBox="1"/>
          <p:nvPr/>
        </p:nvSpPr>
        <p:spPr>
          <a:xfrm>
            <a:off x="1176967" y="4003747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规范检查作为发布前置条件；存量不动、增量新规范</a:t>
            </a:r>
          </a:p>
        </p:txBody>
      </p:sp>
      <p:pic>
        <p:nvPicPr>
          <p:cNvPr id="21427" name="Picture 21426" descr="st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022" y="4730872"/>
            <a:ext cx="457200" cy="457200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7620158" y="4576522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</a:rPr>
              <a:t>资源投入</a:t>
            </a:r>
          </a:p>
        </p:txBody>
      </p:sp>
      <p:sp>
        <p:nvSpPr>
          <p:cNvPr id="21429" name="TextBox 21428"/>
          <p:cNvSpPr txBox="1"/>
          <p:nvPr/>
        </p:nvSpPr>
        <p:spPr>
          <a:xfrm>
            <a:off x="7620158" y="4923994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核心人员与资源预算；基于现有工具延伸，实时与湖仓验证后定</a:t>
            </a:r>
          </a:p>
        </p:txBody>
      </p:sp>
      <p:pic>
        <p:nvPicPr>
          <p:cNvPr id="21430" name="Picture 21429" descr="trus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2546" y="5669163"/>
            <a:ext cx="457200" cy="457200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1176967" y="5559923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550" b="1">
                <a:solidFill>
                  <a:srgbClr val="FFFFFF"/>
                </a:solidFill>
              </a:rPr>
              <a:t>业务配合</a:t>
            </a:r>
          </a:p>
        </p:txBody>
      </p:sp>
      <p:sp>
        <p:nvSpPr>
          <p:cNvPr id="21432" name="TextBox 21431"/>
          <p:cNvSpPr txBox="1"/>
          <p:nvPr/>
        </p:nvSpPr>
        <p:spPr>
          <a:xfrm>
            <a:off x="1176967" y="5907395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各业务线指定数据负责人，参与指标确认与闭环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治理是基础，平台是载体</a:t>
            </a:r>
          </a:p>
          <a:p>
            <a:pPr algn="ctr"/>
            <a:r>
              <a:rPr sz="3600" b="1">
                <a:solidFill>
                  <a:srgbClr val="FFFFFF"/>
                </a:solidFill>
              </a:rPr>
              <a:t>AI 与数据服务放大价值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800" b="0">
                <a:solidFill>
                  <a:srgbClr val="EEEDFF"/>
                </a:solidFill>
              </a:rPr>
              <a:t>赋能企业 · 赋能行业　|　谢谢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heme/theme1.xml><?xml version="1.0" encoding="utf-8"?>
<a:theme xmlns:a="http://schemas.openxmlformats.org/drawingml/2006/main" name="第一PPT模板网：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13ee637-1583-4e68-adee-a086e9f023e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chemeClr val="bg1">
              <a:lumMod val="75000"/>
            </a:schemeClr>
          </a:solidFill>
        </a:ln>
        <a:scene3d>
          <a:camera prst="orthographicFront"/>
          <a:lightRig rig="flat" dir="t"/>
        </a:scene3d>
        <a:sp3d>
          <a:extrusionClr>
            <a:schemeClr val="bg1"/>
          </a:extrusionClr>
          <a:contourClr>
            <a:schemeClr val="bg1"/>
          </a:contourClr>
        </a:sp3d>
      </a:spPr>
      <a:bodyPr rtlCol="0" anchor="ctr"/>
      <a:lstStyle>
        <a:defPPr marL="0" algn="ctr" eaLnBrk="0" fontAlgn="ctr" hangingPunct="0">
          <a:spcBef>
            <a:spcPts val="0"/>
          </a:spcBef>
          <a:spcAft>
            <a:spcPts val="0"/>
          </a:spcAft>
          <a:buClr>
            <a:srgbClr val="FF0000"/>
          </a:buClr>
          <a:buSzPct val="70000"/>
          <a:tabLst>
            <a:tab pos="136525" algn="l"/>
          </a:tabLst>
          <a:defRPr sz="140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21268</Words>
  <Application>WPS 演示</Application>
  <PresentationFormat>自定义</PresentationFormat>
  <Paragraphs>3534</Paragraphs>
  <Slides>78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120" baseType="lpstr">
      <vt:lpstr>Arial</vt:lpstr>
      <vt:lpstr>SimSun</vt:lpstr>
      <vt:lpstr>Wingdings</vt:lpstr>
      <vt:lpstr>Microsoft YaHei</vt:lpstr>
      <vt:lpstr>Calibri</vt:lpstr>
      <vt:lpstr>Arial Unicode MS</vt:lpstr>
      <vt:lpstr>STXihei</vt:lpstr>
      <vt:lpstr>Calibri</vt:lpstr>
      <vt:lpstr>苹方 特粗</vt:lpstr>
      <vt:lpstr>OPPOSans B</vt:lpstr>
      <vt:lpstr>Microsoft YaHei UI Bold</vt:lpstr>
      <vt:lpstr>Microsoft YaHei UI Regular</vt:lpstr>
      <vt:lpstr>Arial</vt:lpstr>
      <vt:lpstr>DM Sans Regular</vt:lpstr>
      <vt:lpstr>FFont-Family</vt:lpstr>
      <vt:lpstr>Barlow Medium</vt:lpstr>
      <vt:lpstr>Helvetica Neue</vt:lpstr>
      <vt:lpstr>Microsoft YaHei Bold</vt:lpstr>
      <vt:lpstr>Helvetica Neue Medium</vt:lpstr>
      <vt:lpstr>Arial Unicode MS</vt:lpstr>
      <vt:lpstr>Gilroy ExtraBold</vt:lpstr>
      <vt:lpstr>OPPOSans R</vt:lpstr>
      <vt:lpstr>DengXian</vt:lpstr>
      <vt:lpstr>Jost-Bold</vt:lpstr>
      <vt:lpstr>思源宋体 CN Heavy</vt:lpstr>
      <vt:lpstr>Barlow Bold</vt:lpstr>
      <vt:lpstr>思源黑体 CN Normal</vt:lpstr>
      <vt:lpstr>SimHei</vt:lpstr>
      <vt:lpstr>Barlow SemiBold</vt:lpstr>
      <vt:lpstr>阿里巴巴普惠体 2.0 45 Light</vt:lpstr>
      <vt:lpstr>Alibaba PuHuiTi 3.0 55 Regular</vt:lpstr>
      <vt:lpstr>Roboto Regular</vt:lpstr>
      <vt:lpstr>思源黑体 CN Regular</vt:lpstr>
      <vt:lpstr>Alibaba PuHuiTi 3.0 55 Regular</vt:lpstr>
      <vt:lpstr>Barlow SemiBold</vt:lpstr>
      <vt:lpstr>Helvetica Neue</vt:lpstr>
      <vt:lpstr>Wingdings</vt:lpstr>
      <vt:lpstr>Microsoft YaHei</vt:lpstr>
      <vt:lpstr>+mn-ea微软雅黑</vt:lpstr>
      <vt:lpstr>+mn-lt微软雅黑</vt:lpstr>
      <vt:lpstr>第一PPT模板网：www.1ppt.com</vt:lpstr>
      <vt:lpstr>Office 主题​​</vt:lpstr>
      <vt:lpstr>点击输入总结内容</vt:lpstr>
      <vt:lpstr>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</dc:title>
  <dc:creator>www.1ppt.com</dc:creator>
  <cp:keywords>第一PPT www.1ppt.com</cp:keywords>
  <dc:description>http://www.1ppt.com</dc:description>
  <cp:category>http://www.1ppt.com</cp:category>
  <cp:lastModifiedBy>寶安居士</cp:lastModifiedBy>
  <cp:revision>1446</cp:revision>
  <dcterms:created xsi:type="dcterms:W3CDTF">2009-02-11T05:37:00Z</dcterms:created>
  <dcterms:modified xsi:type="dcterms:W3CDTF">2026-10-14T11:53:47Z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锐普图表</vt:lpwstr>
  </property>
  <property fmtid="{D5CDD505-2E9C-101B-9397-08002B2CF9AE}" pid="3" name="SlideDescription">
    <vt:lpwstr/>
  </property>
  <property fmtid="{D5CDD505-2E9C-101B-9397-08002B2CF9AE}" pid="4" name="ICV">
    <vt:lpwstr>B14B338463114CB1AA48C40141CB66E8_12</vt:lpwstr>
  </property>
  <property fmtid="{D5CDD505-2E9C-101B-9397-08002B2CF9AE}" pid="5" name="KSOProductBuildVer">
    <vt:lpwstr>2052-12.1.0.29161</vt:lpwstr>
  </property>
</Properties>
</file>