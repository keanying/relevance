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今天汇报分四部分：先说数据平台，再说智能体平台，然后是两者打通以后数据怎么在公司里转起来，最后是接下来先做什么、需要您支持什么。开始之前，先用一页把结论说清楚。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先说结论。今天汇报三件事。第一，数据平台：把公司的数据理清、算准、管住，同一个数全公司只有一个答案，先从订单到核销到结算这条主线做起。第二，智能体，也就是能帮游客和景区办事的 AI 助手：先借现成平台做出来、卖出去，验证能赚钱；再按业态铺开，占住市场；规模起来后建自己的平台，更省钱、更可控。第三，把两者打通：业务产生的数据经平台整理，给智能体和报表用，用完的结果再回来，越用越准。最下面四件事需要您拍板，最后一页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第一部分：数据平台，把数据理清、算准、管住。主要讲：现状、怎么建、怎么管、建成后的变化。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先说数据的现状。工具上，数据加工的工具已经买了，对内对外提供数据的接口有了，看报表的小Q 有了，存数据的仓库也建了一部分，每天的主流程已经跑通，订单、游客、供应商的数据每天自动算好。但平时用起来有不少麻烦：想看一个综合情况要从好几个系统导数拼表；同一天同一个景区，看板、对账、接口三个地方的核销量不一样；入园和核销跟现场对不上，节假日更明显；同样的表做了好几份，结果还对不上；高峰期订单核销第二天才能看到。这些问题根子是同一个：缺少统一的规矩、口径和检查，所以要系统地治理；看得慢是能力缺口，要补实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建？一句话：一个底座存所有数据，算好的数大家共用。从左往右看：数据从票务、订单、小程序、供应商、营销、现场设备这些地方来；进入统一的底座，就是一个大仓库，每天算一遍，订单核销这些关键数据还要实时算；然后算成统一的指标和标签，比如核销量、销售额，年卡用户、喜欢夜游这样的标签；最后给大家用：老板看板、各业务线、景区、合作伙伴，还有 AI 智能体，用的都是同一套数。下面这条是数据治理，管规矩、口径、质量、权限，贯穿每一步。已经买的工具全部保留，只补缺的：实时、质量检查、统一指标和标签。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怎么管，我们叫数据治理，具体是八件事，按顺序推进。定规矩：表名、字段全公司一个说法。统一编号：一个景区、一个商品、一个游客，全公司只有一个编号。理清来龙去脉：每个数从哪来、到哪去，出错能顺藤摸瓜。每天体检：数据算完自动检查，不合格的拦住，不让错数流到报表。统一口径：一个指标一个算法，集团出标准。管好权限：数据分级，谁的数据只服务谁，敏感信息打码。定期盘点：没人用的表和任务下线，省钱。统一出口：对内对外只从一个窗口给数据。关键是三点：写进日常流程，不合规的发不出去；有人负责，治理小组拍板口径；有考核，健康分每月公示。先在订单到核销到结算这条线做通，再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建成以后，最终落在六个统一上。统一规范：以前规范只写在文档里，以后不合规的表发不出去。统一底座：以前订单核销第二天才能看到，以后分钟级。统一标签：以前报表、接口、AI 各说各的，以后三处数字一致，开会不用先对数。统一权限：以前各系统各管各的，以后一套规则管住所有出口。标签复用：以前各部门各做一套，以后一个游客一个身份，一处加工到处用。即席自助：以前要找数据团队要数，以后业务自己查、自己看。推进上，先在订单、核销、结算这条线试点，老的报表先并行对比，没问题再切换，随时可以退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第二部分：智能体平台，围绕三个目标，一条线建下去。主要讲：现状与底气、能做什么、建设思路、验证模式、占市场、自建平台。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助手，比如游客问几点开园，它能回答，还能直接帮他买票。我们已经有的智能体来自三个地方：在 Coze 上配置出来的智能助手、智能客服、智能导览、AI 旅拍、AI 伴游，给游客用；和合作企业一起做的手语服务，给听障游客用；小Q 自带的智能问数、智能数据解读，给景区和内部管理者用。我们做智能体有三个别人很难复制的底气：我们的系统就装在景区现场；售票、核销、客流、会员这些办事要用的数据在我们手里；大量景区已经在用我们的票务，接口现成、信任也有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做的智能体很多，游客和景区两头都有，这些都要做，只是先后顺序不同。游客这头，按一次出游来看：游前有客服、助手、旅游规划、智能购票；游中有导览、伴游、手语、乐园排队推荐、餐饮二消推荐、停车引导；游后有旅拍、游记总结、年卡服务。景区这头：经营上有智能问数、智能洞察、经营日报；票务上有票务运营助手、分销渠道助手；财务上有对账助手、发票助手；营销上有人群圈选、营销文案；运营上有消息预警、工单处置；安全调度上有客流秩序、车船调度、森林防火、气象等。这些都建立在我们自己的系统和数据之上，所以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验证模式，核心是两件事：怎么收钱，账算不算得过来。收钱有四种方式：随票务打包，作为票务系统的增值模块；年费订阅，按景区规模分档；按效果分成，按 AI 带来的购票和二消收入分；按用量收费。建议先同时试前两种，看哪种成交快、续费稳。账怎么算：一个景区一年的收入，减去平台调用费、交付成本、运营支持，大于零才算能赚钱。景区为什么愿意付钱？要用数据证明四种价值：少用人工、多卖票、游客更满意、管理更省心。怎么验证：在已经用我们票务的景区里挑标杆，跑一个完整旺季，数据从第一天回流。用起来、有价值、愿付费、能赚钱、可复制，五条都满足再铺开；不满足就调整再试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式跑通后，要快速占市场。先打哪些客户：最先是已经用我们票务的景区，随续约一起推，开通就能用，成交最快；其次是同业态的景区，用标杆案例复制，模板直接复用；同时用智能体做差异化卖点，带动新客户签票务。业态上先做客流大、咨询多、线上购票多的：山岳、主题乐园、古镇街区，再到博物馆、温泉、游船演出。交付要标准化，六步上线：签约、选模板、配本景区知识、绑定入口、测试验收、上线运营，景区之间的差异全部做成配置，实施人员和渠道伙伴按手册就能独立交付，不占核心研发。上线后定期给景区出效果报告，促续费。最关键一条：借平台，但不交资产，景区知识、业务接口、模板、交互数据都留在自己手里，将来自建才能低成本切过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最终要建自己的平台？借平台在起步时最划算，但景区越多：平台费越来越高，利润被分走；每个景区要单独配置，交付慢；个性需求受平台限制；数据和知识在别人那里，平台一调价、改规则就影响我们。自建以后，只付模型调用和运维，集团建一次景区开通即用，能按需扩展，数据都在自己手里，越用越准。什么时候建？看五个信号：测算下来自建更便宜了、平台费占收入比例越来越高、主力场景已经稳定、因为平台限制丢单了、客户要求数据不出去，满足任意两条就启动。建什么？大模型不自己研发，直接买，可以换；语音、图像、手语这些专业能力采购或合作；真正自建的是管理台、知识和业务工具，用数字大脑作为智能体管理台，因为这里装着我们的业务和数据，是壁垒。切换时双轨运行，同一套测试对比达标才切，随时可以退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第三部分：AI＋数据+平台，数据在公司里转起来，越用越准。主要讲：数据怎么转起来、一张门票的例子。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两件事打通，数据就在公司里转起来了。第一步，业务产生数据：票务、业态、运营、财务、终端、会员营销，每天在产生交易、核销、客流这些数据。第二步，数据平台整理：统一接进来，算成可信的指标、标签和景区知识。第三步，智能体和报表来用：智能体帮游客和景区办事，报表和接口直接看数。第四步，结果回来：问答记录、游客评价、处置结果再回到数据平台。第五步，反哺业务：用这些数去调定价、做营销、优化调度。反哺以后业务又产生新数据，进入下一圈。每转一圈，数据更全、更准，智能体也更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第四部分：接下来，先做出结果，再铺开。主要讲：先做的三件事、需要的支持。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16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Relationship Id="rId4" Type="http://schemas.openxmlformats.org/officeDocument/2006/relationships/image" Target="../media/image3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3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42.png"/><Relationship Id="rId5" Type="http://schemas.openxmlformats.org/officeDocument/2006/relationships/image" Target="../media/image8.png"/><Relationship Id="rId6" Type="http://schemas.openxmlformats.org/officeDocument/2006/relationships/image" Target="../media/image43.png"/><Relationship Id="rId7" Type="http://schemas.openxmlformats.org/officeDocument/2006/relationships/image" Target="../media/image3.png"/><Relationship Id="rId8" Type="http://schemas.openxmlformats.org/officeDocument/2006/relationships/image" Target="../media/image44.png"/><Relationship Id="rId9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3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4.png"/><Relationship Id="rId8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5.png"/><Relationship Id="rId10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AI＋数据+平台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接下来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现状 · 怎么建 · 怎么管 · 建成后的变化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现状 · 能做什么 · 怎么建 · 怎么赚钱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数据怎么转起来 · 一个例子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先做的三件事 · 需要的支持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我们要做的三件事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数据是底子，智能体是抓手，两者打通，数据越用越准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03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同一个数，全公司一个答案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错的数据拦在报表外面</a:t>
            </a: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订单、核销分钟级就能看到</a:t>
            </a: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先做“订单 → 核销 → 结算”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能帮游客和景区办事的 AI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先借现成平台做出来、卖出去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验证能卖、能赚钱再铺开</a:t>
            </a: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按业态复制，占住市场</a:t>
            </a: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规模起来后建自己的平台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AI＋数据+平台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数据在公司里转起来</a:t>
            </a: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业务产生的数据统一整理</a:t>
            </a: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智能体和报表用同一套数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用完的结果再回来</a:t>
            </a: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rIns="177393" bIns="0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需要的支持　</a:t>
            </a:r>
            <a:r>
              <a:rPr sz="1350" b="0">
                <a:solidFill>
                  <a:srgbClr val="1F3A35"/>
                </a:solidFill>
                <a:latin typeface="微软雅黑"/>
                <a:ea typeface="微软雅黑"/>
              </a:rPr>
              <a:t>口径由谁拍板 · 规范强制执行 · 标杆景区与销售配合 · 自建时点决策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建成后的变化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工具基本都有了，但数据还不好用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已经花的钱都在用；问题不在工具，在于缺统一的规矩和口径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2048256"/>
            <a:ext cx="399135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已经有的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429652"/>
            <a:ext cx="3991356" cy="496702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0754" y="2491739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86" y="2584870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70847" y="2429652"/>
            <a:ext cx="1419148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数据加工工具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45648" y="2429652"/>
            <a:ext cx="1951329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已采购，每天自动加工数据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3015051"/>
            <a:ext cx="3991356" cy="496702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00754" y="307713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86" y="3170270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570847" y="3015051"/>
            <a:ext cx="1419148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数据开放接口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45648" y="3015051"/>
            <a:ext cx="1951329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对内对外提供数据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00450"/>
            <a:ext cx="3991356" cy="496702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00754" y="36625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886" y="3755669"/>
            <a:ext cx="186263" cy="186263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70847" y="3600450"/>
            <a:ext cx="1419148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45648" y="3600450"/>
            <a:ext cx="1951329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看报表、做分析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185847"/>
            <a:ext cx="3991356" cy="496702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00754" y="4247936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arehou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3886" y="4341068"/>
            <a:ext cx="186263" cy="18626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70847" y="4185847"/>
            <a:ext cx="1419148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数据仓库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45648" y="4185847"/>
            <a:ext cx="1951329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部分已建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824465"/>
            <a:ext cx="3991356" cy="665226"/>
          </a:xfrm>
          <a:prstGeom prst="roundRect">
            <a:avLst>
              <a:gd name="adj" fmla="val 1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rIns="133045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已跑通　</a:t>
            </a: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每天的主流程：订单、游客、供应商数据每天自动算好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96112" y="2048256"/>
            <a:ext cx="55967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平时遇到的麻烦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296112" y="2429652"/>
            <a:ext cx="5596768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earch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2549" y="2500609"/>
            <a:ext cx="230611" cy="23061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739596" y="2429652"/>
            <a:ext cx="141914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8746" y="2429652"/>
            <a:ext cx="364543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看一个综合情况，要从好几个系统导数拼表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296112" y="2873136"/>
            <a:ext cx="5596768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opy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2549" y="2944093"/>
            <a:ext cx="230611" cy="23061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739596" y="2873136"/>
            <a:ext cx="141914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58746" y="2873136"/>
            <a:ext cx="364543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同一天同一景区，三个地方的核销量不一样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296112" y="3316620"/>
            <a:ext cx="5596768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triangle-alert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2549" y="3387577"/>
            <a:ext cx="230611" cy="23061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739596" y="3316620"/>
            <a:ext cx="141914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58746" y="3316620"/>
            <a:ext cx="364543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296112" y="3760104"/>
            <a:ext cx="5596768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repeat_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2549" y="3831061"/>
            <a:ext cx="230611" cy="230611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739596" y="3760104"/>
            <a:ext cx="141914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58746" y="3760104"/>
            <a:ext cx="364543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同样的表做了好几份，结果还对不上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296112" y="4203588"/>
            <a:ext cx="5596768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hourglass_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02549" y="4274545"/>
            <a:ext cx="230611" cy="230611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739596" y="4203588"/>
            <a:ext cx="141914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58746" y="4203588"/>
            <a:ext cx="364543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高峰期订单、核销第二天才看到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296112" y="4824465"/>
            <a:ext cx="5596768" cy="665226"/>
          </a:xfrm>
          <a:prstGeom prst="roundRect">
            <a:avLst>
              <a:gd name="adj" fmla="val 13333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rIns="133045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根子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缺统一的规矩、口径和检查 → 要系统治理；看得慢 → 要补实时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一个底座存数据，算好的数大家共用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已有的全部保留，在上面补齐；治理贯穿每一步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995678" cy="2660904"/>
          </a:xfrm>
          <a:prstGeom prst="roundRect">
            <a:avLst>
              <a:gd name="adj" fmla="val 622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711" y="2114184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70847" y="2078705"/>
            <a:ext cx="137480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53971" y="2602016"/>
            <a:ext cx="1676369" cy="26609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3971" y="2939064"/>
            <a:ext cx="1676369" cy="26609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53971" y="3276112"/>
            <a:ext cx="1676369" cy="26609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3971" y="3613160"/>
            <a:ext cx="1676369" cy="26609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53971" y="3950208"/>
            <a:ext cx="1676369" cy="26609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3971" y="4287255"/>
            <a:ext cx="1676369" cy="26609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现场设备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007735" y="3160806"/>
            <a:ext cx="23061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256086" y="1954530"/>
            <a:ext cx="2572207" cy="2660904"/>
          </a:xfrm>
          <a:prstGeom prst="roundRect">
            <a:avLst>
              <a:gd name="adj" fmla="val 48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3480" y="2114184"/>
            <a:ext cx="319308" cy="3193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3832616" y="2078705"/>
            <a:ext cx="19513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15741" y="2602016"/>
            <a:ext cx="2252898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一个仓库存所有数据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15741" y="3063240"/>
            <a:ext cx="2252898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每天算 + 实时算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15741" y="3524463"/>
            <a:ext cx="2252898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订单、核销分钟级可见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5846033" y="3160806"/>
            <a:ext cx="23061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094384" y="1954530"/>
            <a:ext cx="2572207" cy="2660904"/>
          </a:xfrm>
          <a:prstGeom prst="roundRect">
            <a:avLst>
              <a:gd name="adj" fmla="val 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sca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1778" y="2114184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70913" y="2078705"/>
            <a:ext cx="19513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54038" y="2602016"/>
            <a:ext cx="2252898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统一指标：核销量、销售额…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54038" y="3063240"/>
            <a:ext cx="2252898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统一标签：年卡用户、喜欢夜游…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8684331" y="3160806"/>
            <a:ext cx="23061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932682" y="1954530"/>
            <a:ext cx="1960199" cy="2660904"/>
          </a:xfrm>
          <a:prstGeom prst="roundRect">
            <a:avLst>
              <a:gd name="adj" fmla="val 63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sers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0075" y="2114184"/>
            <a:ext cx="319308" cy="3193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509211" y="2078705"/>
            <a:ext cx="133932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92336" y="2602016"/>
            <a:ext cx="1640890" cy="333499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老板看板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92336" y="3006473"/>
            <a:ext cx="1640890" cy="333499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各业务线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92336" y="3410930"/>
            <a:ext cx="1640890" cy="333499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92336" y="3815388"/>
            <a:ext cx="1640890" cy="333499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92336" y="4219845"/>
            <a:ext cx="1640890" cy="333499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79282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4934742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4792827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数据治理贯穿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00435" y="4934742"/>
            <a:ext cx="69035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097228" y="49347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029530" y="49347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961832" y="49347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894134" y="49347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26435" y="49347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502402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591098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502402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已有投入全部保留，只补缺的：实时数据、质量检查、统一指标和标签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数据治理八件事，写进日常流程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不搞一次性运动；每张表、每个指标从产生到下线都要过“检查站”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23486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56531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56531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2029922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pic>
        <p:nvPicPr>
          <p:cNvPr id="48" name="Picture 47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83140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71711" y="2562103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表名、字段全公司一个说法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3313739" y="2411318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535481" y="1923486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68527" y="2056531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68527" y="2056531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2011" y="2029922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pic>
        <p:nvPicPr>
          <p:cNvPr id="55" name="Picture 54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83140"/>
            <a:ext cx="283829" cy="28382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3712875" y="2562103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一个景区、一个游客只有一个编号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5854903" y="2411318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076644" y="1923486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09690" y="2056531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209690" y="2056531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53174" y="2029922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pic>
        <p:nvPicPr>
          <p:cNvPr id="62" name="Picture 61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83140"/>
            <a:ext cx="283829" cy="28382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254037" y="2562103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8396066" y="2411318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617808" y="1923486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50853" y="2056531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750853" y="2056531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94337" y="2029922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pic>
        <p:nvPicPr>
          <p:cNvPr id="69" name="Picture 6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83140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795201" y="2562103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算完自动检查，错数拦住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3271677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7363" y="340472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3404722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70847" y="3378113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pic>
        <p:nvPicPr>
          <p:cNvPr id="75" name="Picture 74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431331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171711" y="3910294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一个指标一个算法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313739" y="375950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535481" y="3271677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668527" y="340472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668527" y="3404722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2011" y="3378113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pic>
        <p:nvPicPr>
          <p:cNvPr id="82" name="Picture 81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431331"/>
            <a:ext cx="283829" cy="283829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712875" y="3910294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谁的数据只服务谁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5854903" y="375950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076644" y="3271677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09690" y="340472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209690" y="3404722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53174" y="3378113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pic>
        <p:nvPicPr>
          <p:cNvPr id="89" name="Picture 88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431331"/>
            <a:ext cx="283829" cy="283829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254037" y="3910294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没人用的下线，省钱</a:t>
            </a:r>
          </a:p>
        </p:txBody>
      </p:sp>
      <p:sp>
        <p:nvSpPr>
          <p:cNvPr id="91" name="Right Arrow 90"/>
          <p:cNvSpPr/>
          <p:nvPr/>
        </p:nvSpPr>
        <p:spPr>
          <a:xfrm>
            <a:off x="8396066" y="375950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617808" y="3271677"/>
            <a:ext cx="2275072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50853" y="340472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750853" y="3404722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94337" y="3378113"/>
            <a:ext cx="121071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pic>
        <p:nvPicPr>
          <p:cNvPr id="96" name="Picture 95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431331"/>
            <a:ext cx="283829" cy="283829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795201" y="3910294"/>
            <a:ext cx="196463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对内对外只走一个窗口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94318" y="4664217"/>
            <a:ext cx="3181258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workflow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711" y="4877089"/>
            <a:ext cx="319308" cy="31930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615196" y="4717435"/>
            <a:ext cx="247168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写进流程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15196" y="5036743"/>
            <a:ext cx="247168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不合规的表发不出去，错数流不到报表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52970" y="4664217"/>
            <a:ext cx="3181258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users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0364" y="4877089"/>
            <a:ext cx="319308" cy="3193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4973848" y="4717435"/>
            <a:ext cx="247168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有人负责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973848" y="5036743"/>
            <a:ext cx="247168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治理小组拍板口径，各业务线有人对接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711622" y="4664217"/>
            <a:ext cx="3181258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gauge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89015" y="4877089"/>
            <a:ext cx="319308" cy="31930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332499" y="4717435"/>
            <a:ext cx="247168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有考核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32499" y="5036743"/>
            <a:ext cx="247168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健康分每月公示，低分限期整改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94318" y="5551185"/>
            <a:ext cx="9898562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先治一条主线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“订单 → 核销 → 结算”最核心、问题最多，做通了再推广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建成后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每一项都能对比“以前”和“以后”，也都有考核指标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220620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800" y="2220620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0364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分钟级看到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11622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451" y="2220620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89015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89015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923598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71711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各系统各管各的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一套规则管住所有出口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800" y="3923598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0364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0364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5451" y="3923598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即席自助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89015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89015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431444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怎么推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先在“订单 → 核销 → 结算”试点；老报表先并行对比，没问题再切换，随时可退回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每个人都用上靠谱的数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从管理层到景区，九类角色的变化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管理层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驾驶舱全用认证指标，不用先对数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核销口径统一，差异自动定位；节假日实时看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业务与财务逐层对账，差异自动列原因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销量、佣金、返利口径统一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标签圈人、指标看效果，复盘自动完成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运营 / 客户成功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景区经营报告自动生成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产品研发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上线前定好口径，上线即有数据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从取数对数转向建模型、做分析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 / 供应商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直接用标准指标，不够用自己加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数据可信、有口径、有权限，AI 接上去才能答得准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现状与底气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能做什么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建设思路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验证模式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占市场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自建平台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智能体已经在用，而且我们有别人没有的底气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02  智能体平台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85573"/>
            <a:ext cx="558789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已经有的智能体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366970"/>
            <a:ext cx="5587898" cy="816010"/>
          </a:xfrm>
          <a:prstGeom prst="roundRect">
            <a:avLst>
              <a:gd name="adj" fmla="val 108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5443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655234"/>
            <a:ext cx="221742" cy="22174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03892" y="2420188"/>
            <a:ext cx="141914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Coze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03892" y="2792714"/>
            <a:ext cx="150784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给游客用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11738" y="2473406"/>
            <a:ext cx="808126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90822" y="2473406"/>
            <a:ext cx="808126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69906" y="2473406"/>
            <a:ext cx="808126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11738" y="2828193"/>
            <a:ext cx="72953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012226" y="2828193"/>
            <a:ext cx="72953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98285"/>
            <a:ext cx="5587898" cy="816010"/>
          </a:xfrm>
          <a:prstGeom prst="roundRect">
            <a:avLst>
              <a:gd name="adj" fmla="val 108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27363" y="347568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3586551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351503"/>
            <a:ext cx="141914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企业合作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03892" y="3724031"/>
            <a:ext cx="150784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11738" y="3404722"/>
            <a:ext cx="537108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4229602"/>
            <a:ext cx="5587898" cy="816010"/>
          </a:xfrm>
          <a:prstGeom prst="roundRect">
            <a:avLst>
              <a:gd name="adj" fmla="val 108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7363" y="44069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4517867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4282821"/>
            <a:ext cx="141914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03892" y="4655347"/>
            <a:ext cx="150784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给景区和管理者用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11738" y="4336039"/>
            <a:ext cx="808126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90822" y="4336039"/>
            <a:ext cx="1079144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848306" y="1985573"/>
            <a:ext cx="4044574" cy="3281781"/>
          </a:xfrm>
          <a:prstGeom prst="roundRect">
            <a:avLst>
              <a:gd name="adj" fmla="val 378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70048" y="2074270"/>
            <a:ext cx="368978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我们的底气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025700" y="2544363"/>
            <a:ext cx="3689786" cy="762792"/>
          </a:xfrm>
          <a:prstGeom prst="roundRect">
            <a:avLst>
              <a:gd name="adj" fmla="val 11627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oni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745" y="2774975"/>
            <a:ext cx="301569" cy="301569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602230" y="2597581"/>
            <a:ext cx="306890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系统在景区现场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02230" y="2934629"/>
            <a:ext cx="306890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票务、业态、终端都是我们的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025700" y="3413592"/>
            <a:ext cx="3689786" cy="762792"/>
          </a:xfrm>
          <a:prstGeom prst="roundRect">
            <a:avLst>
              <a:gd name="adj" fmla="val 11627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8745" y="3644204"/>
            <a:ext cx="301569" cy="30156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02230" y="3466810"/>
            <a:ext cx="306890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数据在我们手里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02230" y="3803858"/>
            <a:ext cx="306890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售票、核销、客流、会员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025700" y="4282821"/>
            <a:ext cx="3689786" cy="762792"/>
          </a:xfrm>
          <a:prstGeom prst="roundRect">
            <a:avLst>
              <a:gd name="adj" fmla="val 11627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handshak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8745" y="4513432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7602230" y="4336039"/>
            <a:ext cx="306890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客户已经在用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02230" y="4673086"/>
            <a:ext cx="306890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大量景区在用我们的票务，接口现成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4318" y="5427009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shield-check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570847" y="5427009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结论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别人做通用聊天，我们做“能办事”的智能体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能做什么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游客和景区两头都能做，都要做，只是先后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实心为已有，空心为基于我们现有系统和数据可以扩展的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27920"/>
            <a:ext cx="4816236" cy="3680917"/>
          </a:xfrm>
          <a:prstGeom prst="roundRect">
            <a:avLst>
              <a:gd name="adj" fmla="val 337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4322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582" y="2154097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21632" y="2043226"/>
            <a:ext cx="392926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游客端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37495"/>
            <a:ext cx="842619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9637" y="2672974"/>
            <a:ext cx="730270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13126" y="2672974"/>
            <a:ext cx="730270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96614" y="2672974"/>
            <a:ext cx="91394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779" y="2672974"/>
            <a:ext cx="91394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583593"/>
            <a:ext cx="842619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129637" y="3619072"/>
            <a:ext cx="730270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13126" y="3619072"/>
            <a:ext cx="655247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21591" y="3619072"/>
            <a:ext cx="471571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46380" y="3619072"/>
            <a:ext cx="111831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排队与项目推荐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129637" y="3938381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71825" y="3938381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529692"/>
            <a:ext cx="842619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29637" y="4565172"/>
            <a:ext cx="655247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38103" y="4565172"/>
            <a:ext cx="111831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9639" y="4565172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76644" y="1927920"/>
            <a:ext cx="4816236" cy="3680917"/>
          </a:xfrm>
          <a:prstGeom prst="roundRect">
            <a:avLst>
              <a:gd name="adj" fmla="val 337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54037" y="204322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andmar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908" y="2154097"/>
            <a:ext cx="221742" cy="22174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803958" y="2043226"/>
            <a:ext cx="392926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景区端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54037" y="2637495"/>
            <a:ext cx="842619" cy="384352"/>
          </a:xfrm>
          <a:prstGeom prst="roundRect">
            <a:avLst>
              <a:gd name="adj" fmla="val 1846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经营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11964" y="2672974"/>
            <a:ext cx="913945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79128" y="2672974"/>
            <a:ext cx="913945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46293" y="2672974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经营日报周报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54037" y="3110544"/>
            <a:ext cx="842619" cy="384352"/>
          </a:xfrm>
          <a:prstGeom prst="roundRect">
            <a:avLst>
              <a:gd name="adj" fmla="val 1846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11964" y="3146023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票务运营助手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254150" y="3146023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分销渠道助手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54037" y="3583593"/>
            <a:ext cx="842619" cy="384352"/>
          </a:xfrm>
          <a:prstGeom prst="roundRect">
            <a:avLst>
              <a:gd name="adj" fmla="val 1846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211964" y="3619072"/>
            <a:ext cx="91394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79128" y="3619072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发票助手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54037" y="4056644"/>
            <a:ext cx="842619" cy="384352"/>
          </a:xfrm>
          <a:prstGeom prst="roundRect">
            <a:avLst>
              <a:gd name="adj" fmla="val 1846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11964" y="4092122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人群圈选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95452" y="4092122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营销文案生成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54037" y="4529692"/>
            <a:ext cx="842619" cy="384352"/>
          </a:xfrm>
          <a:prstGeom prst="roundRect">
            <a:avLst>
              <a:gd name="adj" fmla="val 1846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11964" y="4565172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54150" y="4565172"/>
            <a:ext cx="98896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54037" y="5002742"/>
            <a:ext cx="842619" cy="384352"/>
          </a:xfrm>
          <a:prstGeom prst="roundRect">
            <a:avLst>
              <a:gd name="adj" fmla="val 1846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11964" y="5038221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客流秩序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95452" y="5038221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车船调度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778941" y="5038221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562429" y="5038221"/>
            <a:ext cx="73027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724144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748240" y="5724144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围绕三个目标，走一条建设流程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先用成熟平台把事做成、把钱赚到，再快速铺开，最后建成自己的平台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建设目标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跑通商业模式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能卖、能赚钱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快速占领市场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铺得快、交付快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建成自己的平台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更省钱、更可控、有壁垒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建设流程：一条线走下来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选场景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借成熟平台搭建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标杆试点验证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定价与交付定型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按业态标准化复制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沉淀知识、接口、数据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时机成熟自建平台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平稳迁移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为了跑通商业模式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为了快速占领市场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为了建成自己的平台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起步依托 Coze · 火山方舟 · 羚羊小Q；自建时以数字大脑作为智能体管理台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贯穿始终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借平台，不交资产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数据从第一天回流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守住安全底线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培养自己的 AI 团队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用成本数据判断自建时机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验证模式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怎么收钱、算不算得过账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先在已用我们票务的景区里挑标杆，跑一个完整旺季，用真实的钱来回答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02  智能体平台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2034357"/>
            <a:ext cx="567659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怎么收钱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415753"/>
            <a:ext cx="2749600" cy="842619"/>
          </a:xfrm>
          <a:prstGeom prst="roundRect">
            <a:avLst>
              <a:gd name="adj" fmla="val 10526"/>
            </a:avLst>
          </a:prstGeom>
          <a:solidFill>
            <a:srgbClr val="EFF8F6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1711" y="2486710"/>
            <a:ext cx="168523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随票务打包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856951" y="2522189"/>
            <a:ext cx="75392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2859237"/>
            <a:ext cx="243916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作为票务增值模块，提高年费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21312" y="2415753"/>
            <a:ext cx="2749600" cy="842619"/>
          </a:xfrm>
          <a:prstGeom prst="roundRect">
            <a:avLst>
              <a:gd name="adj" fmla="val 10526"/>
            </a:avLst>
          </a:prstGeom>
          <a:solidFill>
            <a:srgbClr val="EFF8F6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98706" y="2486710"/>
            <a:ext cx="168523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年费订阅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83945" y="2522189"/>
            <a:ext cx="75392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98706" y="2859237"/>
            <a:ext cx="243916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按景区规模分档收年费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391418"/>
            <a:ext cx="2749600" cy="842619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1711" y="3462375"/>
            <a:ext cx="168523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按效果分成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834902"/>
            <a:ext cx="243916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 AI 带来的购票、二消收入分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21312" y="3391418"/>
            <a:ext cx="2749600" cy="842619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98706" y="3462375"/>
            <a:ext cx="168523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按用量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98706" y="3834902"/>
            <a:ext cx="243916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按对话量或调用量收费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4318" y="4455779"/>
            <a:ext cx="567659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景区认的价值，要用数据证明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810566"/>
            <a:ext cx="850503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少用人工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77867" y="4810566"/>
            <a:ext cx="708835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多卖票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19747" y="4810566"/>
            <a:ext cx="99217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游客更满意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944965" y="4810566"/>
            <a:ext cx="99217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管理更省心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937004" y="2034357"/>
            <a:ext cx="3955877" cy="31043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937004" y="2034357"/>
            <a:ext cx="3955877" cy="487832"/>
          </a:xfrm>
          <a:prstGeom prst="roundRect">
            <a:avLst>
              <a:gd name="adj" fmla="val 2545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937004" y="2327056"/>
            <a:ext cx="3955877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calcula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97" y="2123053"/>
            <a:ext cx="283829" cy="283829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7486923" y="2034357"/>
            <a:ext cx="3334999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单个景区算一笔账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58746" y="2637495"/>
            <a:ext cx="31043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E39A57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13533" y="2637495"/>
            <a:ext cx="320195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一年收入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58746" y="3080979"/>
            <a:ext cx="31043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13533" y="3080979"/>
            <a:ext cx="320195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平台调用费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58746" y="3524463"/>
            <a:ext cx="31043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13533" y="3524463"/>
            <a:ext cx="320195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交付成本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58746" y="3967947"/>
            <a:ext cx="31043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13533" y="3967947"/>
            <a:ext cx="320195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运营支持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114397" y="4482388"/>
            <a:ext cx="3601090" cy="532180"/>
          </a:xfrm>
          <a:prstGeom prst="roundRect">
            <a:avLst>
              <a:gd name="adj" fmla="val 16666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50" b="1">
                <a:solidFill>
                  <a:srgbClr val="FFFFFF"/>
                </a:solidFill>
                <a:latin typeface="微软雅黑"/>
                <a:ea typeface="微软雅黑"/>
              </a:rPr>
              <a:t>＞ 0</a:t>
            </a:r>
            <a:r>
              <a:rPr sz="1150" b="0">
                <a:solidFill>
                  <a:srgbClr val="FCE6D2"/>
                </a:solidFill>
                <a:latin typeface="微软雅黑"/>
                <a:ea typeface="微软雅黑"/>
              </a:rPr>
              <a:t>　才算能赚钱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316138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16138"/>
            <a:ext cx="133045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跑通标准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457815" y="5458053"/>
            <a:ext cx="69035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54608" y="5458053"/>
            <a:ext cx="69035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有价值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051401" y="5458053"/>
            <a:ext cx="69035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愿付费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48194" y="5458053"/>
            <a:ext cx="69035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能赚钱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44987" y="5458053"/>
            <a:ext cx="69035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可复制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0477" y="5316138"/>
            <a:ext cx="427370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五条都满足再铺开；不满足就调整再试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占市场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先打老客户，按业态复制，标准化交付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从最容易成交的客户开始；差异做成配置，伙伴也能独立交付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22127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314346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21632" y="2172431"/>
            <a:ext cx="170297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7828" y="2207910"/>
            <a:ext cx="487832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最先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451" y="2669133"/>
            <a:ext cx="2767340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随续约推，开通即用，成交最快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4160794" y="2500609"/>
            <a:ext cx="177393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382536" y="2048256"/>
            <a:ext cx="3122127" cy="1108710"/>
          </a:xfrm>
          <a:prstGeom prst="roundRect">
            <a:avLst>
              <a:gd name="adj" fmla="val 96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59929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800" y="2318781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109850" y="2172431"/>
            <a:ext cx="170297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同业态景区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66046" y="2207910"/>
            <a:ext cx="487832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其次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7669" y="2669133"/>
            <a:ext cx="2767340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用标杆案例复制，模板直接复用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549012" y="2500609"/>
            <a:ext cx="177393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770753" y="2048256"/>
            <a:ext cx="3122127" cy="1108710"/>
          </a:xfrm>
          <a:prstGeom prst="roundRect">
            <a:avLst>
              <a:gd name="adj" fmla="val 96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48146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user-plu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9017" y="2318781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498067" y="2172431"/>
            <a:ext cx="170297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新客户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4263" y="2207910"/>
            <a:ext cx="487832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同步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65887" y="2669133"/>
            <a:ext cx="2767340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智能体做卖点，带动票务签约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4318" y="33166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业态先后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58680" y="3334359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 w="9525">
            <a:solidFill>
              <a:srgbClr val="218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山岳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14543" y="3334359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 w="9525">
            <a:solidFill>
              <a:srgbClr val="218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主题乐园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53744" y="3334359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 w="9525">
            <a:solidFill>
              <a:srgbClr val="218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古镇街区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637293" y="3387577"/>
            <a:ext cx="221742" cy="177393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947732" y="3334359"/>
            <a:ext cx="708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博物馆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745264" y="3334359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温泉度假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684464" y="3334359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游船演出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4318" y="3804452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标准化交付：六步上线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159239"/>
            <a:ext cx="1457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2469642" y="434550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682513" y="4159239"/>
            <a:ext cx="1457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4157836" y="434550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70709" y="4159239"/>
            <a:ext cx="1457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5846033" y="434550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058905" y="4159239"/>
            <a:ext cx="1457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534228" y="434550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7747101" y="4159239"/>
            <a:ext cx="1457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9222425" y="434550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435297" y="4159239"/>
            <a:ext cx="1457584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上线运营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出效果报告促续费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4913162"/>
            <a:ext cx="9898562" cy="842619"/>
          </a:xfrm>
          <a:prstGeom prst="roundRect">
            <a:avLst>
              <a:gd name="adj" fmla="val 1052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ock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152644"/>
            <a:ext cx="319308" cy="31930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659544" y="4957511"/>
            <a:ext cx="310438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借平台，但不交资产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59544" y="5312298"/>
            <a:ext cx="901159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景区知识、业务接口、模板设计、交互数据、成本数据都留在自己手里 —— 将来自建才能低成本切过去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自建平台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为什么建、什么时候建、建什么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规模起来后，借平台越来越贵、越来越受限；时机到了再建，不提前也不拖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82855" y="2021052"/>
            <a:ext cx="2190810" cy="372526"/>
          </a:xfrm>
          <a:prstGeom prst="roundRect">
            <a:avLst>
              <a:gd name="adj" fmla="val 1904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借平台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4624" y="2021052"/>
            <a:ext cx="2279507" cy="372526"/>
          </a:xfrm>
          <a:prstGeom prst="roundRect">
            <a:avLst>
              <a:gd name="adj" fmla="val 1904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自建平台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64536"/>
            <a:ext cx="5765292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7363" y="2464536"/>
            <a:ext cx="9756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0422" y="246453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景区越多平台费越高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42190" y="2464536"/>
            <a:ext cx="212872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只付模型调用和运维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961238"/>
            <a:ext cx="5765292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7363" y="2961238"/>
            <a:ext cx="9756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交付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0422" y="296123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每个景区单独配置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2190" y="2961238"/>
            <a:ext cx="212872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集团建一次，开通即用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457940"/>
            <a:ext cx="5765292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3457940"/>
            <a:ext cx="9756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定制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0422" y="345794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受平台功能限制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2190" y="3457940"/>
            <a:ext cx="212872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按需自主扩展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318" y="3954642"/>
            <a:ext cx="5765292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27363" y="3954642"/>
            <a:ext cx="9756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0422" y="395464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留在别人那里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42190" y="3954642"/>
            <a:ext cx="212872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在自己手里，越用越准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451344"/>
            <a:ext cx="5765292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7363" y="4451344"/>
            <a:ext cx="9756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风险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80422" y="445134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调价改规则受影响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42190" y="4451344"/>
            <a:ext cx="212872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自主可控，模型可换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25700" y="2021052"/>
            <a:ext cx="386718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什么时候建：看五个信号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700" y="2464536"/>
            <a:ext cx="3867180" cy="354787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37" y="2535494"/>
            <a:ext cx="212872" cy="21287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451445" y="2464536"/>
            <a:ext cx="333499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测算下来自建更便宜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025700" y="2881411"/>
            <a:ext cx="3867180" cy="354787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37" y="2952369"/>
            <a:ext cx="212872" cy="21287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451445" y="2881411"/>
            <a:ext cx="333499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平台费占收入比例越来越高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025700" y="3298286"/>
            <a:ext cx="3867180" cy="354787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37" y="3369243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7451445" y="3298286"/>
            <a:ext cx="333499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主力场景已经稳定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025700" y="3715161"/>
            <a:ext cx="3867180" cy="354787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37" y="3786118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451445" y="3715161"/>
            <a:ext cx="333499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因平台限制丢单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025700" y="4132036"/>
            <a:ext cx="3867180" cy="354787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37" y="4202993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451445" y="4132036"/>
            <a:ext cx="333499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客户要求数据不出去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25700" y="4575520"/>
            <a:ext cx="3867180" cy="372526"/>
          </a:xfrm>
          <a:prstGeom prst="roundRect">
            <a:avLst>
              <a:gd name="adj" fmla="val 1904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满足任意两条，就启动自建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5125440"/>
            <a:ext cx="9898562" cy="753922"/>
          </a:xfrm>
          <a:prstGeom prst="roundRect">
            <a:avLst>
              <a:gd name="adj" fmla="val 11764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216060" y="5125440"/>
            <a:ext cx="1153058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7CF"/>
                </a:solidFill>
                <a:latin typeface="微软雅黑"/>
                <a:ea typeface="微软雅黑"/>
              </a:rPr>
              <a:t>建什么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280422" y="5214137"/>
            <a:ext cx="2028939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大模型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买，可换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415797" y="5214137"/>
            <a:ext cx="2028939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语音 · 图像 · 手语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采购或合作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51173" y="5214137"/>
            <a:ext cx="2028939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管理台 · 知识 · 业务工具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自建（数字大脑做管理台）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86548" y="5214137"/>
            <a:ext cx="2028939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切换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双轨运行，可退回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AI＋数据+平台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数据怎么转起来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一张门票的例子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打通以后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数据在公司里转起来，越用越准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数据平台让数据可信，智能体让数据办事；用完的结果再回来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19  ·  AI＋数据平台 · 03  AI＋数据+平台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235159" cy="1951329"/>
          </a:xfrm>
          <a:prstGeom prst="roundRect">
            <a:avLst>
              <a:gd name="adj" fmla="val 636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828068" y="2181301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actor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982" y="2323216"/>
            <a:ext cx="283829" cy="28382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83015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① 业务产生数据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363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票务 · 业态 · 运营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财务 · 终端 · 会员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3282696" y="2908614"/>
            <a:ext cx="21287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48785" y="2048256"/>
            <a:ext cx="2235159" cy="1951329"/>
          </a:xfrm>
          <a:prstGeom prst="roundRect">
            <a:avLst>
              <a:gd name="adj" fmla="val 636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82535" y="2181301"/>
            <a:ext cx="567659" cy="567659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6711" y="2305476"/>
            <a:ext cx="319308" cy="3193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37482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② 数据平台整理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81830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可信的指标、标签、知识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5837162" y="2908614"/>
            <a:ext cx="21287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03254" y="2048256"/>
            <a:ext cx="2235159" cy="1951329"/>
          </a:xfrm>
          <a:prstGeom prst="roundRect">
            <a:avLst>
              <a:gd name="adj" fmla="val 636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937003" y="2181301"/>
            <a:ext cx="567659" cy="567659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179" y="2305476"/>
            <a:ext cx="319308" cy="3193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191950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③ 智能体和报表用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99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智能体帮游客、景区办事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报表和接口直接看数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391631" y="2908614"/>
            <a:ext cx="21287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657722" y="2048256"/>
            <a:ext cx="2235159" cy="1951329"/>
          </a:xfrm>
          <a:prstGeom prst="roundRect">
            <a:avLst>
              <a:gd name="adj" fmla="val 636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491472" y="2181301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3386" y="2323216"/>
            <a:ext cx="283829" cy="28382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746418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④ 结果回来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90767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问答、评价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处置结果、使用行为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221327"/>
            <a:ext cx="9898562" cy="753922"/>
          </a:xfrm>
          <a:prstGeom prst="roundRect">
            <a:avLst>
              <a:gd name="adj" fmla="val 1411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rending-up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425330"/>
            <a:ext cx="337047" cy="337047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703892" y="4221327"/>
            <a:ext cx="2306116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反哺业务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743919" y="4443069"/>
            <a:ext cx="727313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调定价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04278" y="4443069"/>
            <a:ext cx="727313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做营销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464637" y="4443069"/>
            <a:ext cx="1318625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优化预约和调度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05004" y="4221327"/>
            <a:ext cx="3799179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业务又产生新数据，进入下一圈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5196992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za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330037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196992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越转越好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每转一圈：数据更全、指标更准、智能体更聪明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一张门票的数据旅程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游客买一张票，数据在公司里转一圈，景区和游客都受益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03  AI＋数据+平台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买票入园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售票 · 闸机核销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数据进平台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 · 核销 · 客流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算出指标和标签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实时客流 · 游客偏好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智能体办事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客流预警 · 二消推荐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 · 推荐转化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反哺业务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调预约 · 调营销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结果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游客体验更好 · 景区多卖钱、少出事 · 数据和智能体更准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 · 示意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消息通知预警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【客流预警】东门入园排队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变长，预计 20 分钟后接近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预约上限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建议：增开闸机，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引导游客从西门入园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收到，已派人处理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已记录处置结果，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明天的预约名额会参考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先做出结果，再铺开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先做的三件事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需要的支持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先做三件事，需要您支持四件事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先在一条主线、几家标杆景区上做出结果，再铺开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接下来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接下来先做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数据：主线试点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“订单 → 核销 → 结算”定口径、上卡点、逐层核对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订单、核销实时链路建起来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智能体：标杆验证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挑老客户做标杆，跑一个完整旺季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同时试“随票务打包”和“年费订阅”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打通：统一取数、数据回流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智能体统一从数据平台取数，交互数据回流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知识、接口、模板、成本数据留在手里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微软雅黑"/>
                <a:ea typeface="微软雅黑"/>
              </a:rPr>
              <a:t>需要的支持</a:t>
            </a: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口径谁拍板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成立数据治理小组，口径争议有人定</a:t>
            </a: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规范强制执行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不合规的数据不上线，需公司层面授权</a:t>
            </a: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标杆与销售配合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标杆景区配合试点；智能体纳入销售考核</a:t>
            </a: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自建时点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定期用成本数据评估，由您决策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