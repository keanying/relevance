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今天汇报分四部分：先讲全局蓝图，数据平台和 AI 平台在公司里是什么位置、服务谁；再分别讲数据平台和 AI 平台建什么、怎么建；最后讲推进计划、团队和需要您拍板的事。先用一页把结论说清楚。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先用一页把结论说清楚。定位上：公司所有业务系统的数据，先汇到一个数据底座，治理好以后统一输出，不重复建平台，飞书、CRM、ERP 这些都只是用数据的“端”。数据平台：把数据理清、算准、管住，让不懂技术的同事也能找数、问数，文档、图片、视频这类数据也能管起来。AI 平台：以数字大脑为核心，先借成熟平台快速交付，边做边练自己的能力，逐步换成自己的，成本和能力都可控。推进上：系统 3.0 升级、数据平台、智能体三条线齐头并进，按建设清单分批落地，团队要有产品、开发、治理和运营。最后有几件事需要您拍板。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第一部分：全局蓝图，一个底座，撑起所有业务和 AI。主要讲：定位与关系、三类服务对象、数据怎么转起来。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这张图是全局。最下面是数据从哪来：票务 SaaS 3.0、九大业态、智慧终端、畅游、会员营销、财务，还有公司内部的 ERP、CRM、飞书，以及外部采集的数据和文档、图片、视频。往上是数据平台，就是一个底座：所有数据先汇进来，统一治理，建好资产目录，再从数据开放平台统一输出。再往上是 AI 平台，以数字大脑为核心，智能问数、智能洞察、调度智能体、游客服务智能体，都从数据平台取数。最上面是服务谁：行业、客户景区、游客、公司内部。右边是三条原则：底层只有一套，不重复建；飞书、CRM、ERP 只是端，数据先汇进来再统一输出；每个客户的数据严格隔离。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平台服务三类对象。第一类是行业：我们平台沉淀了十几年的交易、客流数据，用匿名汇总的方式做行业洞察、节假日和年度报告、行业规范，以及高质量数据集，这是我们在行业里的影响力。第二类是客户，也就是景区和文旅集团：用他们自己的数据，给他们提供景数通、智能问数、智能洞察、调度智能体和经营报告，每个客户的数据严格隔离。第三类是公司自己：票付通自己其实也相当于一个文旅集团，财务、人员、销售、CRM、ERP、飞书这些经营数据，也进同一个底座，给您和各业务线做经营分析、内部提效。三类用的是同一个底座、同一套方法：我们自己先用好，再把这套能力复制给客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两件事打通，数据就在公司里转起来了。第一步，业务产生数据：票务、业态、运营、财务、终端、会员营销，每天在产生交易、核销、客流这些数据。第二步，数据平台整理：统一接进来，算成可信的指标、标签和景区知识。第三步，智能体和报表来用：智能体帮游客和景区办事，报表和接口直接看数。第四步，结果回来：问答记录、游客评价、处置结果再回到数据平台。第五步，反哺业务：用这些数去调定价、做营销、优化调度。反哺以后业务又产生新数据，进入下一圈。每转一圈，数据更全、更准，智能体也更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第二部分：数据平台，数据理清、算准、管住，人人能用。主要讲：建什么、人人能用、多种数据。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平台具体建什么？六个模块。第一，汇聚接入：业务系统、终端、外部数据，还有文档、图片、视频，都接进来。第二，统一底座：一个地方存，每天算加实时算，订单核销要做到分钟级看到，这一点现在还做不到，是重点。第三，数据治理：规范、编号、口径、质量、权限，写进日常流程，规范我们已经定了。第四，资产目录：中文一搜，就知道公司有什么数据、在哪、什么意思、找谁。第五，统一出口：就是我们自己做的数据开放平台，所有数据从这里出去，可追溯。第六，AI 治理工具：AI 先自动分类、标注，人工再审核，我们的社媒采集平台已经有了雏形。已有的投入全部保留，在上面补齐。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板特别强调，数据平台不能只有技术人员会用，运营、业务、标注的同事也要用得上、看得懂。我们按三个常见场景来设计。第一，想知道公司有什么数据：在资产目录里用中文搜一下，就能看到有哪些数据、在哪、什么意思、该找谁。第二，想看一个数：直接用大白话问，智能问数帮你查出来；现在小Q 的问数体验不够好，我们会在上面加一层智能体，先听懂问题，再去取数。第三，想做个分析：在即席自助里选指标、点一点就能出结果，会写查询的同事也可以直接查。效果是业务少等数，数据团队少做重复取数，把精力放在建模型、做产品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以后进来的不只是表格数据，还有文档、图片、视频、音频。做法是：原始资料先统一放进来；AI 先识别、自动分类、打标注；人再审核，标得不对的改过来；审核通过的变成标准数据、进知识库，也可以组成高质量数据集；最后用在智能问数、智能体和行业报告上。举个例子：有的客户没有系统，现场用本子记录，拍张照片传上来，AI 识别以后自动转成标准表格。高质量数据集也是同一个思路：数据按主题统一管理，做数据集时按场景去取，先从我们已经有基础的场景做起。资产目录里能看到每类数据有多少、整理到什么程度。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 平台，以数字大脑为核心，先借力、再自建。主要讲：全局、怎么建。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的全局是这样。最上面是各类智能体，分三类：给景区用的，以数字大脑、也就是景数通为核心，智能问数、智能洞察，再加上调度智能体，比如智能工单、人员安全、信息管理，这三块做完，数字大脑的雏形就成型了；给游客用的，畅游里的客服、导览、伴游、旅拍、手语、购票；给公司内部用的，经营问数、报告、营销文案。中间是我们自己的管理台：统一搭建、统一运营、按客户计量、评估效果，还有一个关键能力叫意图转发，就是先听懂用户要什么，再分派给对应的能力去办。下面的平台能力是可以替换的：扣子、火山方舟、腾讯、阿里这些都能接，客户指定用哪个平台，我们都能交付。所有智能体的数据，统一来自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怎么建，思路是先求快、再求稳。先借力：现在产品和市场还在验证期，用扣子、火山方舟这些成熟平台快速交付，客户指定用阿里或腾讯的平台，我们也照样做，目的是先证明能卖、能赚钱。边做边练：在交付的同时，把模板、知识、业务接口、交互数据留在自己手里，自己的意图转发、管理台慢慢建起来。逐步切换：等第三方平台变贵、或者功能限制了我们，就把业务一点点切到自己的平台上，先小范围试，没问题再扩大，随时能退回。为什么不能一直借？比如扣子最近企业版涨价，从一个月一百多涨到上千，规模一大，这个成本会很高。近期的重点是数字大脑：先把智能问数的体验做好，在小Q 上加一层智能体，再把调度智能体做起来，找一个场景完整跑通，能拿出去给客户展示。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第四部分：推进计划，三线并进，配齐团队。主要讲：整体路径、团队与分工、需要拍板。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整体怎么推进？现在是三条线同时往前跑：传统业务系统在做 3.0 升级，数据平台在建，智能体在搭。这三条线互相依赖：智能体没有数据不行，数据平台也离不开业务系统产生的数据。所以我们按“先做、接着做、持续做”排了一个建设清单。系统 3.0：升级时就把埋点和数据口径一起定好，新系统的数据直接按规范接进来。数据平台：先做订单、核销、结算这条主线的治理和实时，把资产目录建起来；接着做统一指标和标签、数据开放平台统一出口、文档图片视频接入；持续做高质量数据集和行业洞察。智能体：先把数字大脑的问数体验和调度智能体做好，跑通一个场景；接着按业态复制、沉淀模板和知识；持续把管理台建起来、逐步切换。最后一行是打通：先让智能体统一从数据平台取数，再让交互数据回流，最后反哺业务。具体时间和投入，需要和资源一起确认后再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团队怎么配？数据这件事不能只靠技术，要有几类角色。数据产品：定需求、定口径、设计数据产品，这块能力要加强。数据开发：建底座、建模型、做实时。数据治理和标注运营：维护规范和资产目录，审核 AI 的标注结果，这类同事不需要很懂技术。AI 应用：搭智能体、做意图转发、管理台。再加上各业务线的数据接口人：票务、业态、财务、营销等每条线出一个人，负责确认口径、认领自己线上的数据表，不占大家太多时间。外部合作可以补充，比如平台厂商和标注外包。机制上很简单：出一份全公司的数据表清单，写清楚每张表归哪条业务线、谁负责，让各线自己标注，以后出了问题能马上找到人；口径有争议由治理小组拍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最后，需要您拍板几件事。第一，定位和原则：所有业务数据先汇到一个底座，不重复建平台，飞书、CRM、ERP 只是端，这个需要公司层面明确。第二，团队配置：数据团队要配齐产品、开发、治理运营和 AI 应用这几类角色。第三，节奏和资源：建设清单确认后，定时间和投入。第四，业务线配合：每条业务线指定一名数据接口人。第五，AI 平台原则：短期借成熟平台快速交付，长期建自己的，什么时候切换由您决策。近期我们先做三件事：订单到核销到结算这条主线的治理和实时；数字大脑找一个场景完整跑通；资产目录建起来，让大家能找到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5.png"/><Relationship Id="rId4" Type="http://schemas.openxmlformats.org/officeDocument/2006/relationships/image" Target="../media/image21.png"/><Relationship Id="rId5" Type="http://schemas.openxmlformats.org/officeDocument/2006/relationships/image" Target="../media/image26.png"/><Relationship Id="rId6" Type="http://schemas.openxmlformats.org/officeDocument/2006/relationships/image" Target="../media/image4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30.png"/><Relationship Id="rId5" Type="http://schemas.openxmlformats.org/officeDocument/2006/relationships/image" Target="../media/image13.png"/><Relationship Id="rId6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png"/><Relationship Id="rId4" Type="http://schemas.openxmlformats.org/officeDocument/2006/relationships/image" Target="../media/image22.png"/><Relationship Id="rId5" Type="http://schemas.openxmlformats.org/officeDocument/2006/relationships/image" Target="../media/image32.png"/><Relationship Id="rId6" Type="http://schemas.openxmlformats.org/officeDocument/2006/relationships/image" Target="../media/image13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6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Relationship Id="rId7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26.png"/><Relationship Id="rId6" Type="http://schemas.openxmlformats.org/officeDocument/2006/relationships/image" Target="../media/image5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3.png"/><Relationship Id="rId4" Type="http://schemas.openxmlformats.org/officeDocument/2006/relationships/image" Target="../media/image4.png"/><Relationship Id="rId5" Type="http://schemas.openxmlformats.org/officeDocument/2006/relationships/image" Target="../media/image44.png"/><Relationship Id="rId6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7600" y="1850427"/>
            <a:ext cx="48828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数据+平台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AI＋数据+平台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全局蓝图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 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推进计划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定位 · 三类服务对象 · 数据怎么转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建什么 · 人人能用 · 多种数据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全局 · 怎么建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路径 · 团队 · 需要拍板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一个底座、两个平台、三类服务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数据平台让数据可信，AI 平台让数据办事；底层一套，服务行业、客户和公司自己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03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5" name="Picture 44" descr="targ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225649"/>
            <a:ext cx="301569" cy="30156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97456" y="2048256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定位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63387" y="2048256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7390" y="2048256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所有业务数据先汇到一个底座，治理后统一输出；不重复建平台，飞书、CRM、ERP 都只是“端”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11048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0" name="Picture 49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2988442"/>
            <a:ext cx="301569" cy="30156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811048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63387" y="2811048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67390" y="2811048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理清、算准、管住；不懂技术的人也能找数、问数；文档、图片、视频也能管起来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573840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5" name="Picture 54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3751234"/>
            <a:ext cx="301569" cy="30156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597456" y="3573840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963387" y="3573840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7390" y="3573840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以数字大脑为核心；先借成熟平台快速交付，边做边练，逐步换成自己的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4336633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0" name="Picture 59" descr="rout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514027"/>
            <a:ext cx="301569" cy="30156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97456" y="4336633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推进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63387" y="4336633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67390" y="4336633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系统 3.0 升级、数据平台、智能体三线并进；按建设清单分批落地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5099425"/>
            <a:ext cx="1862632" cy="656356"/>
          </a:xfrm>
          <a:prstGeom prst="roundRect">
            <a:avLst>
              <a:gd name="adj" fmla="val 13513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5" name="Picture 64" descr="flag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276819"/>
            <a:ext cx="301569" cy="30156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597456" y="5099425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需要拍板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63387" y="5099425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67390" y="5099425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定位与原则 · 团队配置 · 节奏与资源 · 业务线配合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一个底座，撑起所有业务和 AI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全局蓝图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定位与关系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9847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三类服务对象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82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数据怎么转起来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全局定位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一个数据底座，撑起所有业务和 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统一汇到数据平台 → AI 平台用数据办事 → 服务行业、客户、游客和公司自己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05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5487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5" name="Picture 44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273838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37802" y="2025487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服务谁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75555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行业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洞察 · 报告 · 数据集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90052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客户 · 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景数通 · 问数 · 调度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550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畅游 · 智能体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19048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看板 · 业务线 · 飞书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75555" y="2788279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3054370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302720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37802" y="3054370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87153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智能洞察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98750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0349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游客服务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21947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内部提效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75555" y="3817162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4083253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2" name="Picture 61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4331604"/>
            <a:ext cx="266090" cy="26609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37802" y="4083253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475555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汇聚接入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含文档图片视频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90052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统一治理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规范 · 口径 · 质量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04550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资产目录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中文一搜就找到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19048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数据开放平台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75555" y="4846045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5112136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70" name="Picture 69" descr="plu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5360487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437802" y="5112136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47555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票务 SaaS 3.0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8522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49488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终端 · 畅游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50455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会员 · 财务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514216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ERP · CRM · 飞书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523881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外部 · 文档视频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4331" y="2025487"/>
            <a:ext cx="2208550" cy="3849441"/>
          </a:xfrm>
          <a:prstGeom prst="roundRect">
            <a:avLst>
              <a:gd name="adj" fmla="val 5622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hield-check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1724" y="2167402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9216511" y="2131923"/>
            <a:ext cx="15876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三条原则</a:t>
            </a:r>
          </a:p>
        </p:txBody>
      </p:sp>
      <p:sp>
        <p:nvSpPr>
          <p:cNvPr id="81" name="Oval 80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60860" y="2610886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底层只有一套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60860" y="2965672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不重复建平台</a:t>
            </a:r>
          </a:p>
        </p:txBody>
      </p:sp>
      <p:sp>
        <p:nvSpPr>
          <p:cNvPr id="85" name="Oval 84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60860" y="3657508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其他系统是“端”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0860" y="4012294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飞书、CRM、ERP 数据先汇进来，再统一输出</a:t>
            </a:r>
          </a:p>
        </p:txBody>
      </p:sp>
      <p:sp>
        <p:nvSpPr>
          <p:cNvPr id="89" name="Oval 88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60860" y="4704130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客户数据隔离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60860" y="5058918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谁的数据只服务谁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数据服务三类对象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行业、客户、公司自己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同一个底座、同一套方法；我们自己先用好，再把能力输出给客户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lob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136358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0389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行业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0389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平台沉淀十几年的数据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945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交易、客流等匿名汇总数据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945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89451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行业洞察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88245" y="3963512"/>
            <a:ext cx="137480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节假日 / 年度报告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89451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规范与标准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17595" y="4309430"/>
            <a:ext cx="109540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5397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只用匿名汇总，不涉及单个客户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landmar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2136358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077327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客户（景区 / 文旅集团）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77327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各景区自己的数据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2886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62886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票务、业态、客流、会员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62886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62886" y="396351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32331" y="3963512"/>
            <a:ext cx="124544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智能问数 · 洞察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62886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591030" y="430943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经营报告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27407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严格按客户隔离，谁的数据只服务谁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4118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4118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74118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321" y="2136358"/>
            <a:ext cx="372526" cy="37252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5076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公司自己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076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票付通也相当于“一个文旅集团”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3632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3632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财务、人员、销售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CRM、ERP、飞书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632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936321" y="3963512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老板驾驶舱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4465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经营分析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63259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内部提效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90084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按岗位授权，敏感信息打码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51570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E7CF"/>
                </a:solidFill>
                <a:latin typeface="微软雅黑"/>
                <a:ea typeface="微软雅黑"/>
              </a:rPr>
              <a:t>一套底座、一套方法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我们自己先用好，再把能力复制给客户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打通以后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数据在公司里转起来，越用越准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数据平台让数据可信，智能体让数据办事；用完的结果再回来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235159" cy="1951329"/>
          </a:xfrm>
          <a:prstGeom prst="roundRect">
            <a:avLst>
              <a:gd name="adj" fmla="val 636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828068" y="2181301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actor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982" y="2323216"/>
            <a:ext cx="283829" cy="28382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83015" y="2846527"/>
            <a:ext cx="20577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① 业务产生数据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363" y="3245661"/>
            <a:ext cx="1969068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票务 · 业态 · 运营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财务 · 终端 · 会员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3282696" y="2908614"/>
            <a:ext cx="21287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48785" y="2048256"/>
            <a:ext cx="2235159" cy="1951329"/>
          </a:xfrm>
          <a:prstGeom prst="roundRect">
            <a:avLst>
              <a:gd name="adj" fmla="val 636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82535" y="2181301"/>
            <a:ext cx="567659" cy="567659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6711" y="2305476"/>
            <a:ext cx="319308" cy="3193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37482" y="2846527"/>
            <a:ext cx="20577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② 数据平台整理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81830" y="3245661"/>
            <a:ext cx="1969068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可信的指标、标签、知识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5837162" y="2908614"/>
            <a:ext cx="21287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03254" y="2048256"/>
            <a:ext cx="2235159" cy="1951329"/>
          </a:xfrm>
          <a:prstGeom prst="roundRect">
            <a:avLst>
              <a:gd name="adj" fmla="val 636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937003" y="2181301"/>
            <a:ext cx="567659" cy="567659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179" y="2305476"/>
            <a:ext cx="319308" cy="3193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191950" y="2846527"/>
            <a:ext cx="20577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③ 智能体和报表用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99" y="3245661"/>
            <a:ext cx="1969068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智能体帮游客、景区办事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报表和接口直接看数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8391631" y="2908614"/>
            <a:ext cx="21287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657722" y="2048256"/>
            <a:ext cx="2235159" cy="1951329"/>
          </a:xfrm>
          <a:prstGeom prst="roundRect">
            <a:avLst>
              <a:gd name="adj" fmla="val 636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491472" y="2181301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3386" y="2323216"/>
            <a:ext cx="283829" cy="283829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746418" y="2846527"/>
            <a:ext cx="20577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④ 结果回来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90767" y="3245661"/>
            <a:ext cx="1969068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问答、评价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处置结果、使用行为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318" y="4221327"/>
            <a:ext cx="9898562" cy="753922"/>
          </a:xfrm>
          <a:prstGeom prst="roundRect">
            <a:avLst>
              <a:gd name="adj" fmla="val 1411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trending-up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425330"/>
            <a:ext cx="337047" cy="337047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703892" y="4221327"/>
            <a:ext cx="2306116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反哺业务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743919" y="4443069"/>
            <a:ext cx="727313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调定价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604278" y="4443069"/>
            <a:ext cx="727313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做营销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464637" y="4443069"/>
            <a:ext cx="1318625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优化预约和调度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05004" y="4221327"/>
            <a:ext cx="3799179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业务又产生新数据，进入下一圈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5196992"/>
            <a:ext cx="9898562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za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330037"/>
            <a:ext cx="266090" cy="26609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0847" y="5196992"/>
            <a:ext cx="9144640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越转越好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每转一圈：数据更全、指标更准、智能体更聪明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数据理清、算准、管住，人人能用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9847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人人能用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82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多种数据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六个模块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已有的投入全部保留（数据加工工具、小Q、数据开放平台、社媒采集平台），在上面补齐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汇聚接入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业务系统、终端、外部数据，以及文档、图片、视频都接进来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71711" y="3307750"/>
            <a:ext cx="146349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在建：主流程已接入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2970" y="2048256"/>
            <a:ext cx="3181258" cy="1640890"/>
          </a:xfrm>
          <a:prstGeom prst="roundRect">
            <a:avLst>
              <a:gd name="adj" fmla="val 648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30364" y="220791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670" y="2323216"/>
            <a:ext cx="257220" cy="2572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151241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1241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30364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一个地方存，每天算 + 实时算；订单、核销分钟级看到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30364" y="3307750"/>
            <a:ext cx="109392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重点：补实时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1622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889015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0973" y="2329868"/>
            <a:ext cx="243916" cy="243916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509894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9894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9015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规范、编号、口径、质量、权限，写进日常流程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889015" y="3307750"/>
            <a:ext cx="146349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规范已定，持续推进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71711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earc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669" y="4148152"/>
            <a:ext cx="243916" cy="24391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92589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1711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中文一搜：有什么数据、在哪、什么意思、找谁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71711" y="5126034"/>
            <a:ext cx="60116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要建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52970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30364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2322" y="4148152"/>
            <a:ext cx="243916" cy="243916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151241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51241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30364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数据开放平台：所有数据从这里出去，可追溯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30364" y="5126034"/>
            <a:ext cx="84754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已有雏形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11622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889015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parkle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0973" y="4148152"/>
            <a:ext cx="243916" cy="24391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509894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09894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AI 治理工具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9015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AI 自动分类、标注，人工审核修正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889015" y="5126034"/>
            <a:ext cx="158668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社媒采集平台已有雏形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人人能用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不懂技术的同事也能用数据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运营、业务、标注人员都能自己找数、问数、做分析；数据团队从“帮人取数”转向“建能力”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7171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“公司有什么数据？”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246372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7171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05" y="3276112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48240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资产目录</a:t>
            </a: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3896989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7084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中文一搜就出来</a:t>
            </a: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429612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57084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看到在哪、什么意思</a:t>
            </a: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4695261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7084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知道该找谁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67753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545147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“帮我查个数”</a:t>
            </a:r>
          </a:p>
        </p:txBody>
      </p:sp>
      <p:sp>
        <p:nvSpPr>
          <p:cNvPr id="58" name="Down Arrow 57"/>
          <p:cNvSpPr/>
          <p:nvPr/>
        </p:nvSpPr>
        <p:spPr>
          <a:xfrm>
            <a:off x="5837163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45147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messages-squar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2540" y="3276112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5121676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3896989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944282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用大白话直接问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429612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944282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在小Q 之上加一层智能体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4695261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944282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先听懂问题，再去取数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4118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91858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“我想做个分析”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921059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91858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hart-colum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975" y="3276112"/>
            <a:ext cx="283829" cy="283829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495111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即席自助</a:t>
            </a: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3896989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31771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选指标、点一点出结果</a:t>
            </a: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429612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31771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会写查询的直接查</a:t>
            </a: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4695261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31771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常用的存成看板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对业务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少等数、少找人，自己就能看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54471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对数据团队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少做重复取数，精力放在建能力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多种数据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文档、图片、视频也能变成可用的数据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原始资料先放进来，AI 先识别、分类、标注，人再审核；整理好的数据用于问数、智能体和数据集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11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11647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older-tre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693" y="2323215"/>
            <a:ext cx="266090" cy="26609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6527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原始资料放进来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75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文档 · 图片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视频 · 音频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表格 · 采集数据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805506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27248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44578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sparkl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884" y="2305476"/>
            <a:ext cx="301569" cy="30156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09820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AI 识别、分类、标注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3368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自动识别内容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自动分类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自动打标注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838437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60179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77509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4" y="232321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131136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人工审核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615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标得不对的改过来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审核通过才入库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7136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93110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710439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5745" y="2305476"/>
            <a:ext cx="301569" cy="301569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164067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变成可用数据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99546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标准数据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知识库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890429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126040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743370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rock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15" y="2323215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196998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2477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智能问数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camera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4558375"/>
            <a:ext cx="301569" cy="301569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70847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举个例子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6060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客户现场没有系统，用本子记录</a:t>
            </a:r>
          </a:p>
          <a:p>
            <a:pPr algn="l">
              <a:lnSpc>
                <a:spcPct val="115000"/>
              </a:lnSpc>
              <a:spcBef>
                <a:spcPts val="291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拍照上传 → AI 识别 → 自动转成标准表格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ayers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603" y="4558375"/>
            <a:ext cx="301569" cy="301569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631000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76213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数据按主题统一管理，做数据集时按场景去取</a:t>
            </a:r>
          </a:p>
          <a:p>
            <a:pPr algn="l">
              <a:lnSpc>
                <a:spcPct val="115000"/>
              </a:lnSpc>
              <a:spcBef>
                <a:spcPts val="291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先从我们已经有基础的场景做起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以数字大脑为核心，先借力、再自建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全局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90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平台全局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以数字大脑为核心，面向景区、游客和公司内部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上面是各类智能体，中间是自己的管理台，下面的平台能力可以替换，数据统一来自数据平台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9922"/>
            <a:ext cx="3181258" cy="1507845"/>
          </a:xfrm>
          <a:prstGeom prst="roundRect">
            <a:avLst>
              <a:gd name="adj" fmla="val 705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145228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408" y="2251664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45228"/>
            <a:ext cx="23829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景区 · 数字大脑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704017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70506" y="2704017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智能洞察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69300" y="2704017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1711" y="3147501"/>
            <a:ext cx="2826471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三块做完，数字大脑雏形成型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52970" y="2029922"/>
            <a:ext cx="3181258" cy="1507845"/>
          </a:xfrm>
          <a:prstGeom prst="roundRect">
            <a:avLst>
              <a:gd name="adj" fmla="val 705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12624" y="214522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martpho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2256099"/>
            <a:ext cx="221742" cy="22174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062545" y="2145228"/>
            <a:ext cx="23829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游客 · 畅游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30364" y="2704017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客服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170459" y="2704017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导览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810554" y="2704017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伴游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50650" y="2704017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旅拍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530364" y="3049935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70459" y="3049935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购票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11622" y="2029922"/>
            <a:ext cx="3181258" cy="1507845"/>
          </a:xfrm>
          <a:prstGeom prst="roundRect">
            <a:avLst>
              <a:gd name="adj" fmla="val 705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871276" y="214522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2256099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421197" y="2145228"/>
            <a:ext cx="23829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89015" y="2704017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经营问数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87810" y="2704017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经营报告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686604" y="2704017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营销文案</a:t>
            </a:r>
          </a:p>
        </p:txBody>
      </p:sp>
      <p:sp>
        <p:nvSpPr>
          <p:cNvPr id="69" name="Up Arrow 68"/>
          <p:cNvSpPr/>
          <p:nvPr/>
        </p:nvSpPr>
        <p:spPr>
          <a:xfrm>
            <a:off x="2478511" y="3590985"/>
            <a:ext cx="21287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p Arrow 69"/>
          <p:cNvSpPr/>
          <p:nvPr/>
        </p:nvSpPr>
        <p:spPr>
          <a:xfrm>
            <a:off x="5837163" y="3590985"/>
            <a:ext cx="21287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Up Arrow 70"/>
          <p:cNvSpPr/>
          <p:nvPr/>
        </p:nvSpPr>
        <p:spPr>
          <a:xfrm>
            <a:off x="9195816" y="3590985"/>
            <a:ext cx="21287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94318" y="3874815"/>
            <a:ext cx="9898562" cy="753922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ayout-dashboard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096557"/>
            <a:ext cx="319308" cy="319308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615196" y="3874815"/>
            <a:ext cx="2306116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智能体管理台</a:t>
            </a:r>
          </a:p>
          <a:p>
            <a:pPr algn="l">
              <a:lnSpc>
                <a:spcPct val="100000"/>
              </a:lnSpc>
            </a:pPr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自己建 · 数字大脑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832616" y="4114297"/>
            <a:ext cx="1774428" cy="283829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 w="952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意图转发：先听懂再分派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95741" y="4114297"/>
            <a:ext cx="825865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统一搭建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10304" y="4114297"/>
            <a:ext cx="825865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统一运营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524866" y="4114297"/>
            <a:ext cx="961374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按客户计量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74938" y="4114297"/>
            <a:ext cx="825865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效果评估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761783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16060" y="4761783"/>
            <a:ext cx="257220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底层能力 · 可替换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167390" y="4903698"/>
            <a:ext cx="55484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扣子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10934" y="4903698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火山方舟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25497" y="4903698"/>
            <a:ext cx="55484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腾讯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369041" y="4903698"/>
            <a:ext cx="55484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阿里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12586" y="4903698"/>
            <a:ext cx="49522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96506" y="4903698"/>
            <a:ext cx="55484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自研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28747" y="4761783"/>
            <a:ext cx="3475436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客户指定哪个平台，都能交付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42700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E7CF"/>
                </a:solidFill>
                <a:latin typeface="微软雅黑"/>
                <a:ea typeface="微软雅黑"/>
              </a:rPr>
              <a:t>数据统一来自数据平台　</a:t>
            </a: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智能体问的数、用的知识，和报表是同一套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先借力快交付，边做边练，逐步换成自己的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市场和产品还在验证期，先求快；能力在自己手里攒，时机到了再切，成本降下来、能力可控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o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209533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先借力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目的：快，先证明能卖</a:t>
            </a:r>
          </a:p>
        </p:txBody>
      </p:sp>
      <p:pic>
        <p:nvPicPr>
          <p:cNvPr id="49" name="Picture 48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912455"/>
            <a:ext cx="212872" cy="2128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526498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成熟平台快速交付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373678"/>
            <a:ext cx="212872" cy="2128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526498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客户指定的平台照样做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834902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526498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先把钱赚到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116444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26884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04278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epea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236" y="2209533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225155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边做边练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25155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目的：占市场，攒能力</a:t>
            </a:r>
          </a:p>
        </p:txBody>
      </p:sp>
      <p:pic>
        <p:nvPicPr>
          <p:cNvPr id="61" name="Picture 6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2912455"/>
            <a:ext cx="212872" cy="21287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959065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模板、知识、接口、数据留在手里</a:t>
            </a:r>
          </a:p>
        </p:txBody>
      </p:sp>
      <p:pic>
        <p:nvPicPr>
          <p:cNvPr id="63" name="Picture 6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3373678"/>
            <a:ext cx="212872" cy="21287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959065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自己的意图转发、管理台逐步建</a:t>
            </a:r>
          </a:p>
        </p:txBody>
      </p:sp>
      <p:pic>
        <p:nvPicPr>
          <p:cNvPr id="65" name="Picture 6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3834902"/>
            <a:ext cx="212872" cy="21287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959065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按业态复制推广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7549011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59450" y="1927920"/>
            <a:ext cx="3033430" cy="2439162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036844" y="2087575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2150" y="2202881"/>
            <a:ext cx="257220" cy="2572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657722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逐步换成自己的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7722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目的：省钱，能力可控</a:t>
            </a:r>
          </a:p>
        </p:txBody>
      </p:sp>
      <p:pic>
        <p:nvPicPr>
          <p:cNvPr id="73" name="Picture 72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2912455"/>
            <a:ext cx="212872" cy="21287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391631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平台变贵或受限时启动</a:t>
            </a:r>
          </a:p>
        </p:txBody>
      </p:sp>
      <p:pic>
        <p:nvPicPr>
          <p:cNvPr id="75" name="Picture 74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3373678"/>
            <a:ext cx="212872" cy="21287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391631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先小范围试，再扩大</a:t>
            </a:r>
          </a:p>
        </p:txBody>
      </p:sp>
      <p:pic>
        <p:nvPicPr>
          <p:cNvPr id="77" name="Picture 76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3834902"/>
            <a:ext cx="212872" cy="21287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391631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随时能退回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4526737"/>
            <a:ext cx="9898562" cy="842619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4748479"/>
            <a:ext cx="354787" cy="35478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659544" y="4571085"/>
            <a:ext cx="1951329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近期重点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59544" y="4925872"/>
            <a:ext cx="195132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566525" y="4801697"/>
            <a:ext cx="2433002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问数体验做好：小Q 上加一层智能体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05964" y="4801697"/>
            <a:ext cx="1367901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调度智能体做起来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02" y="4801697"/>
            <a:ext cx="2316463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找一个场景完整跑通，能对外展示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94318" y="5529011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triangle-alert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617706"/>
            <a:ext cx="266090" cy="26609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570847" y="5529011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为什么不能一直借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第三方平台会涨价、会限制功能（如扣子企业版近期大幅涨价）；资产不能放在别人那里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三线并进，配齐团队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推进计划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整体路径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9847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团队与分工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82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需要拍板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整体路径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三条线齐头并进，相辅相成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系统产生数据，数据平台整理数据，智能体用数据办事；具体时间和资源确认后再定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963387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先做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30204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接着做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97021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持续做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2406883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8" name="Picture 47" descr="moni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971" y="2610886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526498" y="2406883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系统 3.0 升级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63387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升级时一起定好埋点和口径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30204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新系统数据按规范直接接入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97021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新功能上线即有数据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169676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4" name="Picture 53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3971" y="3373678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26498" y="3169676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3387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主线治理 + 实时；资产目录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30204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统一指标和标签；统一出口；多模态接入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97021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高质量数据集；行业洞察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932468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3971" y="4136471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26498" y="3932468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63387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数字大脑：问数体验 + 调度，跑通一个场景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30204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按业态复制，沉淀模板和知识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97021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管理台自建，逐步切换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695261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6" name="Picture 65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971" y="4899263"/>
            <a:ext cx="283829" cy="28382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695261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打通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963387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智能体统一从数据平台取数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30204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交互数据回流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97021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546750"/>
            <a:ext cx="9898562" cy="425744"/>
          </a:xfrm>
          <a:prstGeom prst="roundRect">
            <a:avLst>
              <a:gd name="adj" fmla="val 2083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lin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546750"/>
            <a:ext cx="914464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说明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三条线互相依赖：智能体离不开数据，数据离不开业务系统；具体时间和投入，资源确认后再定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团队与分工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不只是技术，产品、运营、业务一起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数据团队要配齐角色；每条业务线出一个接口人；数据表归属清楚、责任到人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定需求、定口径、设计数据产品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164679" y="2846527"/>
            <a:ext cx="85124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能力要加强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12624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cod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数据开发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0364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建底座、建模型、做实时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11622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871276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2318781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421197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治理与标注运营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89015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维护规范和目录，审核 AI 标注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47922" y="2846527"/>
            <a:ext cx="1085303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不需要很懂技术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53971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3649233"/>
            <a:ext cx="221742" cy="22174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703892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AI 应用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71711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搭智能体、意图转发、管理台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52970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12624" y="3538362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riefc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3495" y="3649233"/>
            <a:ext cx="221742" cy="22174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062545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业务线数据接口人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30364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每条线一人：确认口径、认领数据表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6301" y="4176979"/>
            <a:ext cx="968272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不占太多时间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11622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71276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handshak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147" y="3649233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421197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外部合作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89015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平台厂商、标注外包等补充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4753508"/>
            <a:ext cx="989856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ist-check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16060" y="5019598"/>
            <a:ext cx="354787" cy="35478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703892" y="4824465"/>
            <a:ext cx="221742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机制：数据责任到人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3892" y="5196992"/>
            <a:ext cx="901159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一份全公司数据表清单 → 标清归哪条业务线、谁负责 → 各线自己标注 → 出问题马上找到人；口径争议由治理小组拍板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需要拍板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先把方向和人定下来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方向和人定下来，建设清单就能按节奏落地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18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5853988" cy="3902659"/>
          </a:xfrm>
          <a:prstGeom prst="roundRect">
            <a:avLst>
              <a:gd name="adj" fmla="val 3181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la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40793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15196" y="2105314"/>
            <a:ext cx="51444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B26A2C"/>
                </a:solidFill>
                <a:latin typeface="微软雅黑"/>
                <a:ea typeface="微软雅黑"/>
              </a:rPr>
              <a:t>需要您拍板</a:t>
            </a:r>
          </a:p>
        </p:txBody>
      </p:sp>
      <p:sp>
        <p:nvSpPr>
          <p:cNvPr id="47" name="Oval 46"/>
          <p:cNvSpPr/>
          <p:nvPr/>
        </p:nvSpPr>
        <p:spPr>
          <a:xfrm>
            <a:off x="1216060" y="2672974"/>
            <a:ext cx="408005" cy="408005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216060" y="2672974"/>
            <a:ext cx="408005" cy="408005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92589" y="2619756"/>
            <a:ext cx="1552194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定位与原则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00435" y="2619756"/>
            <a:ext cx="3414825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所有数据先汇到一个底座，不重复建平台</a:t>
            </a:r>
          </a:p>
        </p:txBody>
      </p:sp>
      <p:sp>
        <p:nvSpPr>
          <p:cNvPr id="51" name="Oval 50"/>
          <p:cNvSpPr/>
          <p:nvPr/>
        </p:nvSpPr>
        <p:spPr>
          <a:xfrm>
            <a:off x="1216060" y="3311590"/>
            <a:ext cx="408005" cy="408005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216060" y="3311590"/>
            <a:ext cx="408005" cy="408005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92589" y="3258372"/>
            <a:ext cx="1552194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团队配置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00435" y="3258372"/>
            <a:ext cx="3414825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配齐产品、开发、治理运营、AI 应用</a:t>
            </a:r>
          </a:p>
        </p:txBody>
      </p:sp>
      <p:sp>
        <p:nvSpPr>
          <p:cNvPr id="55" name="Oval 54"/>
          <p:cNvSpPr/>
          <p:nvPr/>
        </p:nvSpPr>
        <p:spPr>
          <a:xfrm>
            <a:off x="1216060" y="3950207"/>
            <a:ext cx="408005" cy="408005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16060" y="3950207"/>
            <a:ext cx="408005" cy="408005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92589" y="3896989"/>
            <a:ext cx="1552194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节奏与资源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00435" y="3896989"/>
            <a:ext cx="3414825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建设清单确认后，定时间和投入</a:t>
            </a:r>
          </a:p>
        </p:txBody>
      </p:sp>
      <p:sp>
        <p:nvSpPr>
          <p:cNvPr id="59" name="Oval 58"/>
          <p:cNvSpPr/>
          <p:nvPr/>
        </p:nvSpPr>
        <p:spPr>
          <a:xfrm>
            <a:off x="1216060" y="4588824"/>
            <a:ext cx="408005" cy="408005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216060" y="4588824"/>
            <a:ext cx="408005" cy="408005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589" y="4535606"/>
            <a:ext cx="1552194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业务线配合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00435" y="4535606"/>
            <a:ext cx="3414825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每条业务线指定一名数据接口人</a:t>
            </a:r>
          </a:p>
        </p:txBody>
      </p:sp>
      <p:sp>
        <p:nvSpPr>
          <p:cNvPr id="63" name="Oval 62"/>
          <p:cNvSpPr/>
          <p:nvPr/>
        </p:nvSpPr>
        <p:spPr>
          <a:xfrm>
            <a:off x="1216060" y="5227440"/>
            <a:ext cx="408005" cy="408005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216060" y="5227440"/>
            <a:ext cx="408005" cy="408005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92589" y="5174222"/>
            <a:ext cx="1552194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AI 平台原则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00435" y="5174222"/>
            <a:ext cx="3414825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短期借力、长期自建；切换时点由您决策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14396" y="1998878"/>
            <a:ext cx="3778483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近期先做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114396" y="2468971"/>
            <a:ext cx="3778483" cy="1020013"/>
          </a:xfrm>
          <a:prstGeom prst="roundRect">
            <a:avLst>
              <a:gd name="adj" fmla="val 10434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291790" y="27350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749" y="2857019"/>
            <a:ext cx="243916" cy="243916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7957016" y="2575407"/>
            <a:ext cx="284716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数据主线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7016" y="2956803"/>
            <a:ext cx="284716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 → 核销 → 结算：治理 + 实时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114396" y="3622029"/>
            <a:ext cx="3778483" cy="1020013"/>
          </a:xfrm>
          <a:prstGeom prst="roundRect">
            <a:avLst>
              <a:gd name="adj" fmla="val 10434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1790" y="388812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rai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3749" y="4010078"/>
            <a:ext cx="243916" cy="24391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957016" y="3728466"/>
            <a:ext cx="284716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57016" y="4109862"/>
            <a:ext cx="284716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找一个场景完整跑通，能对外展示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114396" y="4775088"/>
            <a:ext cx="3778483" cy="1020013"/>
          </a:xfrm>
          <a:prstGeom prst="roundRect">
            <a:avLst>
              <a:gd name="adj" fmla="val 10434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91790" y="5041178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searc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3749" y="5163136"/>
            <a:ext cx="243916" cy="24391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957016" y="4881524"/>
            <a:ext cx="284716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7016" y="5262920"/>
            <a:ext cx="284716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让大家能找到数、看得懂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