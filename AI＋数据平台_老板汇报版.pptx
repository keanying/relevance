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619" userDrawn="1">
          <p15:clr>
            <a:srgbClr val="A4A3A4"/>
          </p15:clr>
        </p15:guide>
        <p15:guide id="4" pos="70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DED4"/>
    <a:srgbClr val="4EB6A0"/>
    <a:srgbClr val="CCC9D5"/>
    <a:srgbClr val="59A132"/>
    <a:srgbClr val="2CAB93"/>
    <a:srgbClr val="21816F"/>
    <a:srgbClr val="1F9BCC"/>
    <a:srgbClr val="9EA0C3"/>
    <a:srgbClr val="F2D2BF"/>
    <a:srgbClr val="E6BF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96" autoAdjust="0"/>
    <p:restoredTop sz="94660"/>
  </p:normalViewPr>
  <p:slideViewPr>
    <p:cSldViewPr snapToGrid="0" showGuides="1">
      <p:cViewPr varScale="1">
        <p:scale>
          <a:sx n="46" d="100"/>
          <a:sy n="46" d="100"/>
        </p:scale>
        <p:origin x="42" y="792"/>
      </p:cViewPr>
      <p:guideLst>
        <p:guide orient="horz" pos="2160"/>
        <p:guide pos="3840"/>
        <p:guide pos="619"/>
        <p:guide pos="70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105" d="100"/>
          <a:sy n="105" d="100"/>
        </p:scale>
        <p:origin x="2142" y="12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D22D82-5AC2-4639-BCCB-33DE6BAB06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86D70-FD59-465F-BBA9-429F91A1AB6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DF7C33-68E8-47E0-ADF8-2CE8705721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7FD74-78BE-4F66-971B-354B57AE6F2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今天向您汇报三件事：第一，数据平台要怎么建，让公司的数据理得清、算得准、管得住；第二，智能体，也就是能帮我们干活的 AI 助手，要怎么做、怎么卖、什么时候自己建平台；第三，这两件事打通以后，数据怎么在公司里转起来，越用越准。整体按能落地的思路讲，每一部分都会讲到具体做什么、怎么做、做成什么样。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先说结论。今天汇报三件事。第一，数据平台：把公司的数据理清、算准、管住，同一个数全公司只有一个答案，先从订单到核销到结算这条主线做起。第二，智能体，也就是能帮游客和景区办事的 AI 助手：先借现成平台做出来、卖出去，验证能赚钱；再按业态铺开，占住市场；规模起来后建自己的平台，更省钱、更可控。第三，把两者打通：业务产生的数据经平台整理，给智能体和报表用，用完的结果再回来，越用越准。最下面四件事需要您拍板，最后一页细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先说数据的现状。工具上，数据加工的工具已经买了，对内对外提供数据的接口有了，看报表的小Q 有了，存数据的仓库也建了一部分，每天的主流程已经跑通，订单、游客、供应商的数据每天自动算好。但平时用起来有不少麻烦：想看一个综合情况要从好几个系统导数拼表；同一天同一个景区，看板、对账、接口三个地方的核销量不一样；入园和核销跟现场对不上，节假日更明显；同样的表做了好几份，结果还对不上；高峰期订单核销第二天才能看到。这些问题根子是同一个：缺少统一的规矩、口径和检查，所以要系统地治理；看得慢是能力缺口，要补实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怎么建？一句话：一个底座存所有数据，算好的数大家共用。从左往右看：数据从票务、订单、小程序、供应商、营销、现场设备这些地方来；进入统一的底座，就是一个大仓库，每天算一遍，订单核销这些关键数据还要实时算；然后算成统一的指标和标签，比如核销量、销售额，年卡用户、喜欢夜游这样的标签；最后给大家用：老板看板、各业务线、景区、合作伙伴，还有 AI 智能体，用的都是同一套数。下面这条是数据治理，管规矩、口径、质量、权限，贯穿每一步。已经买的工具全部保留，只补缺的：实时、质量检查、统一指标和标签。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怎么管，我们叫数据治理，具体是八件事，按顺序推进。定规矩：表名、字段全公司一个说法。统一编号：一个景区、一个商品、一个游客，全公司只有一个编号。理清来龙去脉：每个数从哪来、到哪去，出错能顺藤摸瓜。每天体检：数据算完自动检查，不合格的拦住，不让错数流到报表。统一口径：一个指标一个算法，集团出标准。管好权限：数据分级，谁的数据只服务谁，敏感信息打码。定期盘点：没人用的表和任务下线，省钱。统一出口：对内对外只从一个窗口给数据。关键是三点：写进日常流程，不合规的发不出去；有人负责，治理小组拍板口径；有考核，健康分每月公示。先在订单到核销到结算这条线做通，再推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举个最常见的例子：核销量。为什么以前各处对不上？第一个原因是四个数经常混着用：核销次数、有效核销票数、入园人次、去重游客数，其实是四个不同的数，比如一个人一张年卡一天进出三次，核销次数是三，入园人次是三，去重游客数是一。第二步，从闸机、手持机，到业务系统，到仓库明细、汇总，再到报表和接口，每一层都按景区加日期对一次数。第三步，对不上就自动报警，查原因、修复、重算。常见的原因有四个：设备离线后补传、重复上报、撤销冲正、按下单时间还是核销时间统计混用了。核销做通了，就是一个样板，同样的方法复制到销售额、入园人数等其他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建成以后，最终落在六个统一上。统一规范：以前规范只写在文档里，以后不合规的表发不出去。统一底座：以前订单核销第二天才能看到，以后分钟级。统一标签：以前报表、接口、AI 各说各的，以后三处数字一致，开会不用先对数。统一权限：以前各系统各管各的，以后一套规则管住所有出口。标签复用：以前各部门各做一套，以后一个游客一个身份，一处加工到处用。即席自助：以前要找数据团队要数，以后业务自己查、自己看。推进上，先在订单、核销、结算这条线试点，老的报表先并行对比，没问题再切换，随时可以退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各个业务线，变化很具体。管理层：驾驶舱全部用认证过的指标，不用先对数。票务：核销口径统一，有差异自动定位，节假日实时看数。财务：业务和财务逐层对账，差异自动列出原因。渠道：销量、佣金、返利口径统一。营销：用标签圈人、用指标看效果，活动复盘自动完成。运营和客户成功：景区经营报告自动生成。产品研发：上线前定好埋点和口径，上线就有数据。数据团队：从天天帮人取数对数，转向建模型、做分析。景区和供应商：直接用集团标准的指标和标签，不够用可以在自己的空间里加。这些也为第二部分打基础：数据可信、有口径、有权限，AI 接上去才能答得准。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先解释一下智能体：就是能听懂问题、还能帮你办事的 AI 助手，比如游客问几点开园，它能回答，还能直接帮他买票。我们已经有的智能体来自三个地方：在 Coze 上配置出来的智能助手、智能客服、智能导览、AI 旅拍、AI 伴游，给游客用；和合作企业一起做的手语服务，给听障游客用；小Q 自带的智能问数、智能数据解读，给景区和内部管理者用。我们做智能体有三个别人很难复制的底气：我们的系统就装在景区现场；售票、核销、客流、会员这些办事要用的数据在我们手里；大量景区已经在用我们的票务，接口现成、信任也有。所以别人只能做通用聊天，我们能做真正帮景区和游客办事的智能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做的智能体很多，游客和景区两头都有，这些都要做，只是先后顺序不同。游客这头，按一次出游来看：游前有客服、助手、旅游规划、智能购票；游中有导览、伴游、手语、乐园排队推荐、餐饮二消推荐、停车引导；游后有旅拍、游记总结、年卡服务。景区这头：经营上有智能问数、智能洞察、经营日报；票务上有票务运营助手、分销渠道助手；财务上有对账助手、发票助手；营销上有人群圈选、营销文案；运营上有消息预警、工单处置；安全调度上有客流秩序、车船调度、森林防火、气象等。这些都建立在我们自己的系统和数据之上，所以有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能体怎么建？我们围绕三个目标来做：第一，跑通商业模式，就是确认能卖、能赚钱；第二，快速占领市场，就是铺得快、交付快；第三，建成自己的平台，就是更省钱、更可控、形成壁垒。建设流程是一条线走下来的：先选价值最高的场景，借扣子、火山方舟、羚羊小Q 这些成熟平台快速搭出来，在标杆景区试点验证，把定价和交付方式定下来，这是为了跑通商业模式；然后按业态把产品做成标准模板快速复制，同时把知识、接口、数据沉淀在自己手里，这是为了快速占领市场；等时机成熟，以数字大脑作为管理台建自己的平台，再把客户平稳迁过来。整个过程中有几件事一直要做：借平台但不交资产，数据从第一天回流，守住安全底线，培养自己的 AI 团队，用成本数据判断什么时候自建。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验证模式，核心是两件事：怎么收钱，账算不算得过来。收钱有四种方式：随票务打包，作为票务系统的增值模块；年费订阅，按景区规模分档；按效果分成，按 AI 带来的购票和二消收入分；按用量收费。建议先同时试前两种，看哪种成交快、续费稳。账怎么算：一个景区一年的收入，减去平台调用费、交付成本、运营支持，大于零才算能赚钱。景区为什么愿意付钱？要用数据证明四种价值：少用人工、多卖票、游客更满意、管理更省心。怎么验证：在已经用我们票务的景区里挑标杆，跑一个完整旺季，数据从第一天回流。用起来、有价值、愿付费、能赚钱、可复制，五条都满足再铺开；不满足就调整再试，不硬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式跑通后，要快速占市场。先打哪些客户：最先是已经用我们票务的景区，随续约一起推，开通就能用，成交最快；其次是同业态的景区，用标杆案例复制，模板直接复用；同时用智能体做差异化卖点，带动新客户签票务。业态上先做客流大、咨询多、线上购票多的：山岳、主题乐园、古镇街区，再到博物馆、温泉、游船演出。交付要标准化，六步上线：签约、选模板、配本景区知识、绑定入口、测试验收、上线运营，景区之间的差异全部做成配置，实施人员和渠道伙伴按手册就能独立交付，不占核心研发。上线后定期给景区出效果报告，促续费。最关键一条：借平台，但不交资产，景区知识、业务接口、模板、交互数据都留在自己手里，将来自建才能低成本切过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最终要建自己的平台？借平台在起步时最划算，但景区越多：平台费越来越高，利润被分走；每个景区要单独配置，交付慢；个性需求受平台限制；数据和知识在别人那里，平台一调价、改规则就影响我们。自建以后，只付模型调用和运维，集团建一次景区开通即用，能按需扩展，数据都在自己手里，越用越准。什么时候建？看五个信号：测算下来自建更便宜了、平台费占收入比例越来越高、主力场景已经稳定、因为平台限制丢单了、客户要求数据不出去，满足任意两条就启动。建什么？大模型不自己研发，直接买，可以换；语音、图像、手语这些专业能力采购或合作；真正自建的是管理台、知识和业务工具，用数字大脑作为智能体管理台，因为这里装着我们的业务和数据，是壁垒。切换时双轨运行，同一套测试对比达标才切，随时可以退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两件事打通，数据就在公司里转起来了。第一步，业务产生数据：票务、业态、运营、财务、终端、会员营销，每天在产生交易、核销、客流这些数据。第二步，数据平台整理：统一接进来，算成可信的指标、标签和景区知识。第三步，智能体和报表来用：智能体帮游客和景区办事，报表和接口直接看数。第四步，结果回来：问答记录、游客评价、处置结果再回到数据平台。第五步，反哺业务：用这些数去调定价、做营销、优化调度。反哺以后业务又产生新数据，进入下一圈。每转一圈，数据更全、更准，智能体也更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举个例子，一张门票的数据旅程。第一步，游客买票入园，售票和闸机核销产生数据。第二步，订单、核销、客流进入数据平台。第三步，平台算出实时客流这样的指标，也给游客打上偏好标签。第四步，智能体办事：客流接近预约上限时提前预警，推送给现场工作人员处置；同时根据游客偏好推荐餐饮、演出等二次消费。第五步，处置结果和推荐转化回流到平台。第六步，反哺业务：景区据此调整预约名额、调整营销活动。右边是工作人员在票付通 APP 上收到预警的示意。这一圈下来，游客体验更好，景区多卖钱、少出事，我们的数据和智能体也更准了。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说接下来。先做三件事。第一，数据：在订单到核销到结算这条主线上试点治理，定口径、上卡点、做逐层核对，先把核销量这些关键数字做准，同时把订单核销的实时链路建起来。第二，智能体：挑已经用我们票务的景区做标杆，在成熟平台上搭好现有智能体，加上高价值的新场景，跑一个完整旺季，同时试随票务打包和年费订阅两种收费。第三，打通：智能体统一从数据平台取数，对话、评价、转人工等数据从第一天回流，知识、接口、模板、成本数据留在自己手里。需要您支持四件事：一，口径谁拍板，建议成立数据治理小组，有争议时有人定；二，规范强制执行，不合规的数据不上线，这需要公司层面授权；三，标杆景区和销售团队的配合，智能体纳入销售考核；四，什么时候自己建平台，我们定期用成本数据评估，由您来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汇报完毕，请您指示。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51pptmoban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 descr="D:\51PPT模板网\51pptmoban.com\图片.jpg"/>
          <p:cNvSpPr/>
          <p:nvPr userDrawn="1"/>
        </p:nvSpPr>
        <p:spPr>
          <a:xfrm>
            <a:off x="423596" y="310586"/>
            <a:ext cx="11360684" cy="6248520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7" name="十字形 6" descr="D:\51PPT模板网\51pptmoban.com\图片.jpg"/>
          <p:cNvSpPr/>
          <p:nvPr userDrawn="1"/>
        </p:nvSpPr>
        <p:spPr>
          <a:xfrm>
            <a:off x="11082528" y="5943600"/>
            <a:ext cx="530352" cy="530352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/>
          <p:cNvSpPr/>
          <p:nvPr userDrawn="1"/>
        </p:nvSpPr>
        <p:spPr>
          <a:xfrm>
            <a:off x="11725488" y="6473128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 descr="D:\51PPT模板网\51pptmoban.com\图片.jpg"/>
          <p:cNvSpPr/>
          <p:nvPr userDrawn="1"/>
        </p:nvSpPr>
        <p:spPr>
          <a:xfrm>
            <a:off x="11592982" y="5262342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3" name="十字形 12" descr="D:\51PPT模板网\51pptmoban.com\图片.jpg"/>
          <p:cNvSpPr/>
          <p:nvPr userDrawn="1"/>
        </p:nvSpPr>
        <p:spPr>
          <a:xfrm>
            <a:off x="174032" y="983864"/>
            <a:ext cx="448328" cy="448328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5" name="十字形 14"/>
          <p:cNvSpPr/>
          <p:nvPr userDrawn="1"/>
        </p:nvSpPr>
        <p:spPr>
          <a:xfrm>
            <a:off x="1129787" y="214733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838200" y="5267144"/>
            <a:ext cx="6099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B0DED4"/>
                </a:solidFill>
              </a:rPr>
              <a:t>51PPT模板网，幻灯片演示模板及素材免费下载！</a:t>
            </a:r>
            <a:endParaRPr lang="zh-CN" altLang="en-US" dirty="0">
              <a:solidFill>
                <a:srgbClr val="B0DED4"/>
              </a:solidFill>
            </a:endParaRPr>
          </a:p>
          <a:p>
            <a:r>
              <a:rPr lang="zh-CN" altLang="en-US" dirty="0">
                <a:solidFill>
                  <a:srgbClr val="B0DED4"/>
                </a:solidFill>
              </a:rPr>
              <a:t>51PPT模板网 唯一访问网址：www.51pptmoban.com。</a:t>
            </a:r>
            <a:endParaRPr lang="zh-CN" altLang="en-US" dirty="0">
              <a:solidFill>
                <a:srgbClr val="B0DED4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/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5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/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/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/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/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/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/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/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/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/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/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/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/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/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/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/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/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/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/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/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/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image" Target="../media/image2.jpeg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16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3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3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42.png"/><Relationship Id="rId5" Type="http://schemas.openxmlformats.org/officeDocument/2006/relationships/image" Target="../media/image8.png"/><Relationship Id="rId6" Type="http://schemas.openxmlformats.org/officeDocument/2006/relationships/image" Target="../media/image43.png"/><Relationship Id="rId7" Type="http://schemas.openxmlformats.org/officeDocument/2006/relationships/image" Target="../media/image3.png"/><Relationship Id="rId8" Type="http://schemas.openxmlformats.org/officeDocument/2006/relationships/image" Target="../media/image44.png"/><Relationship Id="rId9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5.png"/><Relationship Id="rId4" Type="http://schemas.openxmlformats.org/officeDocument/2006/relationships/image" Target="../media/image4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3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54.png"/><Relationship Id="rId8" Type="http://schemas.openxmlformats.org/officeDocument/2006/relationships/image" Target="../media/image4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5.png"/><Relationship Id="rId10" Type="http://schemas.openxmlformats.org/officeDocument/2006/relationships/image" Target="../media/image6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657600" y="1850427"/>
            <a:ext cx="488289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 b="1">
                <a:solidFill>
                  <a:srgbClr val="2CAB93"/>
                </a:solidFill>
                <a:latin typeface="微软雅黑" pitchFamily="2" charset="-122"/>
                <a:ea typeface="微软雅黑" pitchFamily="2" charset="-122"/>
              </a:rPr>
              <a:t>AI＋</a:t>
            </a:r>
            <a:r>
              <a:rPr lang="zh-CN" altLang="en-US" sz="5400" dirty="0" b="1">
                <a:solidFill>
                  <a:srgbClr val="1F3A35"/>
                </a:solidFill>
                <a:latin typeface="微软雅黑" pitchFamily="2" charset="-122"/>
                <a:ea typeface="微软雅黑" pitchFamily="2" charset="-122"/>
              </a:rPr>
              <a:t>数据+平台</a:t>
            </a:r>
            <a:endParaRPr lang="zh-CN" altLang="en-US" sz="8000" dirty="0">
              <a:latin typeface="Alimama ShuHeiTi Bold" pitchFamily="2" charset="-122"/>
              <a:ea typeface="Alimama ShuHeiTi Bold" pitchFamily="2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939028" y="5924580"/>
            <a:ext cx="4313944" cy="315056"/>
            <a:chOff x="1253246" y="4118390"/>
            <a:chExt cx="4313944" cy="315056"/>
          </a:xfrm>
        </p:grpSpPr>
        <p:sp>
          <p:nvSpPr>
            <p:cNvPr id="44" name="文本框 43"/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/>
                  <a:ea typeface="微软雅黑"/>
                  <a:cs typeface="+mn-ea"/>
                  <a:sym typeface="+mn-lt"/>
                </a:rPr>
                <a:t>汇报：尹开英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iconfont-10019-4889788"/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/>
                  <a:ea typeface="微软雅黑"/>
                  <a:cs typeface="+mn-ea"/>
                  <a:sym typeface="+mn-lt"/>
                </a:rPr>
                <a:t>时间：2026.10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iconfont-11899-5651509"/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759200" y="3672508"/>
            <a:ext cx="4673600" cy="471552"/>
            <a:chOff x="3759200" y="3558828"/>
            <a:chExt cx="4673600" cy="471552"/>
          </a:xfrm>
        </p:grpSpPr>
        <p:sp>
          <p:nvSpPr>
            <p:cNvPr id="28" name="矩形: 圆角 27"/>
            <p:cNvSpPr/>
            <p:nvPr/>
          </p:nvSpPr>
          <p:spPr>
            <a:xfrm>
              <a:off x="3759200" y="3558828"/>
              <a:ext cx="4673600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4229944" y="3644286"/>
              <a:ext cx="3732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/>
                  <a:ea typeface="微软雅黑"/>
                </a:rPr>
                <a:t>数据平台  /  智能体平台  /  AI＋数据+平台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十字形 18" descr="D:\51PPT模板网\51pptmoban.com\图片.jpg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 descr="D:\51PPT模板网\51pptmoban.com\图片.jpg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00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一页说清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我们要做的三件事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数据是底子，智能体是抓手，两者打通，数据越用越准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02  ·  AI＋数据平台 · 汇报要点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67834"/>
            <a:ext cx="3181258" cy="3237433"/>
          </a:xfrm>
          <a:prstGeom prst="roundRect">
            <a:avLst>
              <a:gd name="adj" fmla="val 390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94318" y="1967834"/>
            <a:ext cx="3181258" cy="1020013"/>
          </a:xfrm>
          <a:prstGeom prst="roundRect">
            <a:avLst>
              <a:gd name="adj" fmla="val 1217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4318" y="2766105"/>
            <a:ext cx="3181258" cy="22174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16060" y="2074270"/>
            <a:ext cx="1064361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pic>
        <p:nvPicPr>
          <p:cNvPr id="48" name="Picture 47" descr="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351" y="2145228"/>
            <a:ext cx="443484" cy="44348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216060" y="2553233"/>
            <a:ext cx="273777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  <a:ea typeface="微软雅黑"/>
              </a:rPr>
              <a:t>数据平台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060" y="3120892"/>
            <a:ext cx="273777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1816F"/>
                </a:solidFill>
                <a:latin typeface="微软雅黑"/>
                <a:ea typeface="微软雅黑"/>
              </a:rPr>
              <a:t>把数据理清、算准、管住</a:t>
            </a:r>
          </a:p>
        </p:txBody>
      </p:sp>
      <p:pic>
        <p:nvPicPr>
          <p:cNvPr id="51" name="Picture 50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060" y="3617595"/>
            <a:ext cx="195132" cy="19513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499890" y="3564376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1F3A35"/>
                </a:solidFill>
                <a:latin typeface="微软雅黑"/>
                <a:ea typeface="微软雅黑"/>
              </a:rPr>
              <a:t>同一个数，全公司一个答案</a:t>
            </a:r>
          </a:p>
        </p:txBody>
      </p:sp>
      <p:pic>
        <p:nvPicPr>
          <p:cNvPr id="53" name="Picture 52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060" y="4016730"/>
            <a:ext cx="195132" cy="19513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499890" y="3963512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1F3A35"/>
                </a:solidFill>
                <a:latin typeface="微软雅黑"/>
                <a:ea typeface="微软雅黑"/>
              </a:rPr>
              <a:t>错的数据拦在报表外面</a:t>
            </a:r>
          </a:p>
        </p:txBody>
      </p:sp>
      <p:pic>
        <p:nvPicPr>
          <p:cNvPr id="55" name="Picture 54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060" y="4415866"/>
            <a:ext cx="195132" cy="19513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499890" y="4362648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1F3A35"/>
                </a:solidFill>
                <a:latin typeface="微软雅黑"/>
                <a:ea typeface="微软雅黑"/>
              </a:rPr>
              <a:t>订单、核销分钟级就能看到</a:t>
            </a:r>
          </a:p>
        </p:txBody>
      </p:sp>
      <p:pic>
        <p:nvPicPr>
          <p:cNvPr id="57" name="Picture 56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060" y="4815001"/>
            <a:ext cx="195132" cy="19513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499890" y="4761783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1F3A35"/>
                </a:solidFill>
                <a:latin typeface="微软雅黑"/>
                <a:ea typeface="微软雅黑"/>
              </a:rPr>
              <a:t>先做“订单 → 核销 → 结算”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52970" y="1967834"/>
            <a:ext cx="3181258" cy="3237433"/>
          </a:xfrm>
          <a:prstGeom prst="roundRect">
            <a:avLst>
              <a:gd name="adj" fmla="val 390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52970" y="1967834"/>
            <a:ext cx="3181258" cy="1020013"/>
          </a:xfrm>
          <a:prstGeom prst="roundRect">
            <a:avLst>
              <a:gd name="adj" fmla="val 1217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352970" y="2766105"/>
            <a:ext cx="3181258" cy="22174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4712" y="2074270"/>
            <a:ext cx="1064361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pic>
        <p:nvPicPr>
          <p:cNvPr id="63" name="Picture 62" descr="bo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9003" y="2145228"/>
            <a:ext cx="443484" cy="443484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4574712" y="2553233"/>
            <a:ext cx="273777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  <a:ea typeface="微软雅黑"/>
              </a:rPr>
              <a:t>智能体平台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4712" y="3120892"/>
            <a:ext cx="273777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1816F"/>
                </a:solidFill>
                <a:latin typeface="微软雅黑"/>
                <a:ea typeface="微软雅黑"/>
              </a:rPr>
              <a:t>能帮游客和景区办事的 AI</a:t>
            </a:r>
          </a:p>
        </p:txBody>
      </p:sp>
      <p:pic>
        <p:nvPicPr>
          <p:cNvPr id="66" name="Picture 65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712" y="3617595"/>
            <a:ext cx="195132" cy="19513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4858542" y="3564376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1F3A35"/>
                </a:solidFill>
                <a:latin typeface="微软雅黑"/>
                <a:ea typeface="微软雅黑"/>
              </a:rPr>
              <a:t>先借现成平台做出来、卖出去</a:t>
            </a:r>
          </a:p>
        </p:txBody>
      </p:sp>
      <p:pic>
        <p:nvPicPr>
          <p:cNvPr id="68" name="Picture 67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712" y="4016730"/>
            <a:ext cx="195132" cy="195132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4858542" y="3963512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1F3A35"/>
                </a:solidFill>
                <a:latin typeface="微软雅黑"/>
                <a:ea typeface="微软雅黑"/>
              </a:rPr>
              <a:t>验证能卖、能赚钱再铺开</a:t>
            </a:r>
          </a:p>
        </p:txBody>
      </p:sp>
      <p:pic>
        <p:nvPicPr>
          <p:cNvPr id="70" name="Picture 69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712" y="4415866"/>
            <a:ext cx="195132" cy="19513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858542" y="4362648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1F3A35"/>
                </a:solidFill>
                <a:latin typeface="微软雅黑"/>
                <a:ea typeface="微软雅黑"/>
              </a:rPr>
              <a:t>按业态复制，占住市场</a:t>
            </a:r>
          </a:p>
        </p:txBody>
      </p:sp>
      <p:pic>
        <p:nvPicPr>
          <p:cNvPr id="72" name="Picture 71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712" y="4815001"/>
            <a:ext cx="195132" cy="195132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858542" y="4761783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1F3A35"/>
                </a:solidFill>
                <a:latin typeface="微软雅黑"/>
                <a:ea typeface="微软雅黑"/>
              </a:rPr>
              <a:t>规模起来后建自己的平台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711622" y="1967834"/>
            <a:ext cx="3181258" cy="3237433"/>
          </a:xfrm>
          <a:prstGeom prst="roundRect">
            <a:avLst>
              <a:gd name="adj" fmla="val 390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711622" y="1967834"/>
            <a:ext cx="3181258" cy="1020013"/>
          </a:xfrm>
          <a:prstGeom prst="roundRect">
            <a:avLst>
              <a:gd name="adj" fmla="val 1217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711622" y="2766105"/>
            <a:ext cx="3181258" cy="22174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33364" y="2074270"/>
            <a:ext cx="1064361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pic>
        <p:nvPicPr>
          <p:cNvPr id="78" name="Picture 77" descr="refresh-cw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7655" y="2145228"/>
            <a:ext cx="443484" cy="443484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7933364" y="2553233"/>
            <a:ext cx="273777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  <a:ea typeface="微软雅黑"/>
              </a:rPr>
              <a:t>AI＋数据+平台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3364" y="3120892"/>
            <a:ext cx="273777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1816F"/>
                </a:solidFill>
                <a:latin typeface="微软雅黑"/>
                <a:ea typeface="微软雅黑"/>
              </a:rPr>
              <a:t>数据在公司里转起来</a:t>
            </a:r>
          </a:p>
        </p:txBody>
      </p:sp>
      <p:pic>
        <p:nvPicPr>
          <p:cNvPr id="81" name="Picture 80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364" y="3617595"/>
            <a:ext cx="195132" cy="195132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8217194" y="3564376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1F3A35"/>
                </a:solidFill>
                <a:latin typeface="微软雅黑"/>
                <a:ea typeface="微软雅黑"/>
              </a:rPr>
              <a:t>业务产生的数据统一整理</a:t>
            </a:r>
          </a:p>
        </p:txBody>
      </p:sp>
      <p:pic>
        <p:nvPicPr>
          <p:cNvPr id="83" name="Picture 82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364" y="4016730"/>
            <a:ext cx="195132" cy="195132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8217194" y="3963512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1F3A35"/>
                </a:solidFill>
                <a:latin typeface="微软雅黑"/>
                <a:ea typeface="微软雅黑"/>
              </a:rPr>
              <a:t>智能体和报表用同一套数</a:t>
            </a:r>
          </a:p>
        </p:txBody>
      </p:sp>
      <p:pic>
        <p:nvPicPr>
          <p:cNvPr id="85" name="Picture 84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364" y="4415866"/>
            <a:ext cx="195132" cy="195132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217194" y="4362648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1F3A35"/>
                </a:solidFill>
                <a:latin typeface="微软雅黑"/>
                <a:ea typeface="微软雅黑"/>
              </a:rPr>
              <a:t>用完的结果再回来</a:t>
            </a:r>
          </a:p>
        </p:txBody>
      </p:sp>
      <p:pic>
        <p:nvPicPr>
          <p:cNvPr id="87" name="Picture 86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364" y="4815001"/>
            <a:ext cx="195132" cy="195132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8217194" y="4761783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1F3A35"/>
                </a:solidFill>
                <a:latin typeface="微软雅黑"/>
                <a:ea typeface="微软雅黑"/>
              </a:rPr>
              <a:t>反哺定价、营销、调度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94318" y="5382661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0" tIns="0" rIns="177393" bIns="0"/>
          <a:lstStyle/>
          <a:p>
            <a:pPr algn="l"/>
            <a:r>
              <a:rPr sz="1350" b="1">
                <a:solidFill>
                  <a:srgbClr val="B26A2C"/>
                </a:solidFill>
                <a:latin typeface="微软雅黑"/>
                <a:ea typeface="微软雅黑"/>
              </a:rPr>
              <a:t>需要的支持　</a:t>
            </a:r>
            <a:r>
              <a:rPr sz="1350" b="0">
                <a:solidFill>
                  <a:srgbClr val="1F3A35"/>
                </a:solidFill>
                <a:latin typeface="微软雅黑"/>
                <a:ea typeface="微软雅黑"/>
              </a:rPr>
              <a:t>口径由谁拍板 · 规范强制执行 · 标杆景区与销售配合 · 自建时点决策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现状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工具基本都有了，但数据还不好用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已经花的钱都在用；问题不在工具，在于缺统一的规矩和口径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03  ·  AI＋数据平台 · 01  数据平台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2048256"/>
            <a:ext cx="399135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1816F"/>
                </a:solidFill>
                <a:latin typeface="微软雅黑"/>
                <a:ea typeface="微软雅黑"/>
              </a:rPr>
              <a:t>已经有的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429652"/>
            <a:ext cx="3991356" cy="496702"/>
          </a:xfrm>
          <a:prstGeom prst="roundRect">
            <a:avLst>
              <a:gd name="adj" fmla="val 14285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00754" y="2491739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86" y="2584870"/>
            <a:ext cx="186263" cy="18626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70847" y="2429652"/>
            <a:ext cx="1419148" cy="4967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数据加工工具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45648" y="2429652"/>
            <a:ext cx="1951329" cy="4967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已采购，每天自动加工数据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4318" y="3015051"/>
            <a:ext cx="3991356" cy="496702"/>
          </a:xfrm>
          <a:prstGeom prst="roundRect">
            <a:avLst>
              <a:gd name="adj" fmla="val 14285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00754" y="3077138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plug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886" y="3170270"/>
            <a:ext cx="186263" cy="18626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570847" y="3015051"/>
            <a:ext cx="1419148" cy="4967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数据开放接口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45648" y="3015051"/>
            <a:ext cx="1951329" cy="4967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对内对外提供数据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600450"/>
            <a:ext cx="3991356" cy="496702"/>
          </a:xfrm>
          <a:prstGeom prst="roundRect">
            <a:avLst>
              <a:gd name="adj" fmla="val 14285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00754" y="366253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chart-colum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886" y="3755669"/>
            <a:ext cx="186263" cy="186263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570847" y="3600450"/>
            <a:ext cx="1419148" cy="4967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小Q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45648" y="3600450"/>
            <a:ext cx="1951329" cy="4967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看报表、做分析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4318" y="4185847"/>
            <a:ext cx="3991356" cy="496702"/>
          </a:xfrm>
          <a:prstGeom prst="roundRect">
            <a:avLst>
              <a:gd name="adj" fmla="val 14285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00754" y="4247936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warehous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3886" y="4341068"/>
            <a:ext cx="186263" cy="186263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570847" y="4185847"/>
            <a:ext cx="1419148" cy="4967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数据仓库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45648" y="4185847"/>
            <a:ext cx="1951329" cy="4967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部分已建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4318" y="4824465"/>
            <a:ext cx="3991356" cy="665226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3" rIns="133045"/>
          <a:lstStyle/>
          <a:p>
            <a:pPr algn="l"/>
            <a:r>
              <a:rPr sz="1100" b="1">
                <a:solidFill>
                  <a:srgbClr val="FFE7CF"/>
                </a:solidFill>
                <a:latin typeface="微软雅黑"/>
                <a:ea typeface="微软雅黑"/>
              </a:rPr>
              <a:t>已跑通　</a:t>
            </a: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每天的主流程：订单、游客、供应商数据每天自动算好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96112" y="2048256"/>
            <a:ext cx="55967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B26A2C"/>
                </a:solidFill>
                <a:latin typeface="微软雅黑"/>
                <a:ea typeface="微软雅黑"/>
              </a:rPr>
              <a:t>平时遇到的麻烦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296112" y="2429652"/>
            <a:ext cx="5596768" cy="372526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search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2549" y="2500609"/>
            <a:ext cx="230611" cy="230611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739596" y="2429652"/>
            <a:ext cx="141914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数据散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58746" y="2429652"/>
            <a:ext cx="364543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看一个综合情况，要从好几个系统导数拼表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296112" y="2873136"/>
            <a:ext cx="5596768" cy="372526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copy_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2549" y="2944093"/>
            <a:ext cx="230611" cy="230611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739596" y="2873136"/>
            <a:ext cx="141914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一个数多个答案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58746" y="2873136"/>
            <a:ext cx="364543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同一天同一景区，三个地方的核销量不一样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296112" y="3316620"/>
            <a:ext cx="5596768" cy="372526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triangle-alert_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2549" y="3387577"/>
            <a:ext cx="230611" cy="230611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5739596" y="3316620"/>
            <a:ext cx="141914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数字不准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58746" y="3316620"/>
            <a:ext cx="364543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入园、核销和现场对不上，节假日更明显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296112" y="3760104"/>
            <a:ext cx="5596768" cy="372526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repeat_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2549" y="3831061"/>
            <a:ext cx="230611" cy="230611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5739596" y="3760104"/>
            <a:ext cx="141914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重复干活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58746" y="3760104"/>
            <a:ext cx="364543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同样的表做了好几份，结果还对不上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296112" y="4203588"/>
            <a:ext cx="5596768" cy="372526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hourglass_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02549" y="4274545"/>
            <a:ext cx="230611" cy="230611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739596" y="4203588"/>
            <a:ext cx="141914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看得慢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58746" y="4203588"/>
            <a:ext cx="364543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高峰期订单、核销第二天才看到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296112" y="4824465"/>
            <a:ext cx="5596768" cy="665226"/>
          </a:xfrm>
          <a:prstGeom prst="roundRect">
            <a:avLst>
              <a:gd name="adj" fmla="val 13333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3" rIns="133045"/>
          <a:lstStyle/>
          <a:p>
            <a:pPr algn="l"/>
            <a:r>
              <a:rPr sz="1150" b="1">
                <a:solidFill>
                  <a:srgbClr val="B26A2C"/>
                </a:solidFill>
                <a:latin typeface="微软雅黑"/>
                <a:ea typeface="微软雅黑"/>
              </a:rPr>
              <a:t>根子　</a:t>
            </a:r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缺统一的规矩、口径和检查 → 要系统治理；看得慢 → 要补实时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怎么建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一个底座存数据，算好的数大家共用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已有的全部保留，在上面补齐；治理贯穿每一步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04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54530"/>
            <a:ext cx="1995678" cy="2660904"/>
          </a:xfrm>
          <a:prstGeom prst="roundRect">
            <a:avLst>
              <a:gd name="adj" fmla="val 622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plug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711" y="2114184"/>
            <a:ext cx="319308" cy="31930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70847" y="2078705"/>
            <a:ext cx="1374800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数据从哪来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53971" y="2602016"/>
            <a:ext cx="1676369" cy="26609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票务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53971" y="2939064"/>
            <a:ext cx="1676369" cy="26609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订单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53971" y="3276112"/>
            <a:ext cx="1676369" cy="26609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小程序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53971" y="3613160"/>
            <a:ext cx="1676369" cy="26609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53971" y="3950208"/>
            <a:ext cx="1676369" cy="26609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营销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53971" y="4287255"/>
            <a:ext cx="1676369" cy="26609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现场设备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3007735" y="3160806"/>
            <a:ext cx="230611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256086" y="1954530"/>
            <a:ext cx="2572207" cy="2660904"/>
          </a:xfrm>
          <a:prstGeom prst="roundRect">
            <a:avLst>
              <a:gd name="adj" fmla="val 482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3480" y="2114184"/>
            <a:ext cx="319308" cy="31930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832616" y="2078705"/>
            <a:ext cx="1951329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统一底座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415741" y="2602016"/>
            <a:ext cx="2252898" cy="39026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一个仓库存所有数据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415741" y="3063240"/>
            <a:ext cx="2252898" cy="39026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每天算 + 实时算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15741" y="3524463"/>
            <a:ext cx="2252898" cy="39026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订单、核销分钟级可见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5846033" y="3160806"/>
            <a:ext cx="230611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094384" y="1954530"/>
            <a:ext cx="2572207" cy="2660904"/>
          </a:xfrm>
          <a:prstGeom prst="roundRect">
            <a:avLst>
              <a:gd name="adj" fmla="val 482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scale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778" y="2114184"/>
            <a:ext cx="319308" cy="31930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670913" y="2078705"/>
            <a:ext cx="1951329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算好的数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54038" y="2602016"/>
            <a:ext cx="2252898" cy="39026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统一指标：核销量、销售额…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54038" y="3063240"/>
            <a:ext cx="2252898" cy="39026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统一标签：年卡用户、喜欢夜游…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8684331" y="3160806"/>
            <a:ext cx="230611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932682" y="1954530"/>
            <a:ext cx="1960199" cy="2660904"/>
          </a:xfrm>
          <a:prstGeom prst="roundRect">
            <a:avLst>
              <a:gd name="adj" fmla="val 6334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users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0075" y="2114184"/>
            <a:ext cx="319308" cy="31930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509211" y="2078705"/>
            <a:ext cx="1339321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谁在用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092336" y="2602016"/>
            <a:ext cx="1640890" cy="333499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老板看板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092336" y="3006473"/>
            <a:ext cx="1640890" cy="333499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各业务线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092336" y="3410930"/>
            <a:ext cx="1640890" cy="333499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景区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092336" y="3815388"/>
            <a:ext cx="1640890" cy="333499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合作伙伴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092336" y="4219845"/>
            <a:ext cx="1640890" cy="333499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AI 智能体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94318" y="4792827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shield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9451" y="4934742"/>
            <a:ext cx="266090" cy="26609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570847" y="4792827"/>
            <a:ext cx="1773936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数据治理贯穿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300435" y="4934742"/>
            <a:ext cx="690356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定规矩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097228" y="4934742"/>
            <a:ext cx="825865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统一编号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029530" y="4934742"/>
            <a:ext cx="825865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每天体检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61832" y="4934742"/>
            <a:ext cx="825865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统一口径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894134" y="4934742"/>
            <a:ext cx="825865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管好权限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826435" y="4934742"/>
            <a:ext cx="825865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定期盘点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94318" y="5502402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circle-check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9451" y="5591098"/>
            <a:ext cx="266090" cy="26609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570847" y="5502402"/>
            <a:ext cx="9144640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原则　</a:t>
            </a:r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已有投入全部保留，只补缺的：实时数据、质量检查、统一指标和标签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怎么管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数据治理八件事，写进日常流程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不搞一次性运动；每张表、每个指标从产生到下线都要过“检查站”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05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23486"/>
            <a:ext cx="2275072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27363" y="2056531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056531"/>
            <a:ext cx="354787" cy="354787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70847" y="2029922"/>
            <a:ext cx="1210711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定规矩</a:t>
            </a:r>
          </a:p>
        </p:txBody>
      </p:sp>
      <p:pic>
        <p:nvPicPr>
          <p:cNvPr id="48" name="Picture 47" descr="book-open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907" y="2083140"/>
            <a:ext cx="283829" cy="28382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171711" y="2562103"/>
            <a:ext cx="1964633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7772"/>
                </a:solidFill>
                <a:latin typeface="微软雅黑"/>
                <a:ea typeface="微软雅黑"/>
              </a:rPr>
              <a:t>表名、字段全公司一个说法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3313739" y="2411318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535481" y="1923486"/>
            <a:ext cx="2275072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668527" y="2056531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668527" y="2056531"/>
            <a:ext cx="354787" cy="354787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2011" y="2029922"/>
            <a:ext cx="1210711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统一编号</a:t>
            </a:r>
          </a:p>
        </p:txBody>
      </p:sp>
      <p:pic>
        <p:nvPicPr>
          <p:cNvPr id="55" name="Picture 54" descr="id-card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070" y="2083140"/>
            <a:ext cx="283829" cy="283829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712875" y="2562103"/>
            <a:ext cx="1964633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7772"/>
                </a:solidFill>
                <a:latin typeface="微软雅黑"/>
                <a:ea typeface="微软雅黑"/>
              </a:rPr>
              <a:t>一个景区、一个游客只有一个编号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5854903" y="2411318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076644" y="1923486"/>
            <a:ext cx="2275072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209690" y="2056531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09690" y="2056531"/>
            <a:ext cx="354787" cy="354787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53174" y="2029922"/>
            <a:ext cx="1210711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理清来龙去脉</a:t>
            </a:r>
          </a:p>
        </p:txBody>
      </p:sp>
      <p:pic>
        <p:nvPicPr>
          <p:cNvPr id="62" name="Picture 61" descr="folder-tree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8233" y="2083140"/>
            <a:ext cx="283829" cy="28382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254037" y="2562103"/>
            <a:ext cx="1964633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7772"/>
                </a:solidFill>
                <a:latin typeface="微软雅黑"/>
                <a:ea typeface="微软雅黑"/>
              </a:rPr>
              <a:t>每个数从哪来、到哪去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8396066" y="2411318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617808" y="1923486"/>
            <a:ext cx="2275072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50853" y="2056531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750853" y="2056531"/>
            <a:ext cx="354787" cy="354787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94337" y="2029922"/>
            <a:ext cx="1210711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每天体检</a:t>
            </a:r>
          </a:p>
        </p:txBody>
      </p:sp>
      <p:pic>
        <p:nvPicPr>
          <p:cNvPr id="69" name="Picture 68" descr="stethoscope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9397" y="2083140"/>
            <a:ext cx="283829" cy="283829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795201" y="2562103"/>
            <a:ext cx="1964633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7772"/>
                </a:solidFill>
                <a:latin typeface="微软雅黑"/>
                <a:ea typeface="微软雅黑"/>
              </a:rPr>
              <a:t>算完自动检查，错数拦住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94318" y="3271677"/>
            <a:ext cx="2275072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127363" y="3404722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7363" y="3404722"/>
            <a:ext cx="354787" cy="354787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70847" y="3378113"/>
            <a:ext cx="1210711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统一口径</a:t>
            </a:r>
          </a:p>
        </p:txBody>
      </p:sp>
      <p:pic>
        <p:nvPicPr>
          <p:cNvPr id="75" name="Picture 74" descr="scale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907" y="3431331"/>
            <a:ext cx="283829" cy="283829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171711" y="3910294"/>
            <a:ext cx="1964633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7772"/>
                </a:solidFill>
                <a:latin typeface="微软雅黑"/>
                <a:ea typeface="微软雅黑"/>
              </a:rPr>
              <a:t>一个指标一个算法</a:t>
            </a:r>
          </a:p>
        </p:txBody>
      </p:sp>
      <p:sp>
        <p:nvSpPr>
          <p:cNvPr id="77" name="Right Arrow 76"/>
          <p:cNvSpPr/>
          <p:nvPr/>
        </p:nvSpPr>
        <p:spPr>
          <a:xfrm>
            <a:off x="3313739" y="3759509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3535481" y="3271677"/>
            <a:ext cx="2275072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668527" y="3404722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668527" y="3404722"/>
            <a:ext cx="354787" cy="354787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2011" y="3378113"/>
            <a:ext cx="1210711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管好权限</a:t>
            </a:r>
          </a:p>
        </p:txBody>
      </p:sp>
      <p:pic>
        <p:nvPicPr>
          <p:cNvPr id="82" name="Picture 81" descr="lock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7070" y="3431331"/>
            <a:ext cx="283829" cy="283829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712875" y="3910294"/>
            <a:ext cx="1964633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7772"/>
                </a:solidFill>
                <a:latin typeface="微软雅黑"/>
                <a:ea typeface="微软雅黑"/>
              </a:rPr>
              <a:t>谁的数据只服务谁</a:t>
            </a:r>
          </a:p>
        </p:txBody>
      </p:sp>
      <p:sp>
        <p:nvSpPr>
          <p:cNvPr id="84" name="Right Arrow 83"/>
          <p:cNvSpPr/>
          <p:nvPr/>
        </p:nvSpPr>
        <p:spPr>
          <a:xfrm>
            <a:off x="5854903" y="3759509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076644" y="3271677"/>
            <a:ext cx="2275072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209690" y="3404722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209690" y="3404722"/>
            <a:ext cx="354787" cy="354787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53174" y="3378113"/>
            <a:ext cx="1210711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定期盘点</a:t>
            </a:r>
          </a:p>
        </p:txBody>
      </p:sp>
      <p:pic>
        <p:nvPicPr>
          <p:cNvPr id="89" name="Picture 88" descr="archive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8233" y="3431331"/>
            <a:ext cx="283829" cy="283829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6254037" y="3910294"/>
            <a:ext cx="1964633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7772"/>
                </a:solidFill>
                <a:latin typeface="微软雅黑"/>
                <a:ea typeface="微软雅黑"/>
              </a:rPr>
              <a:t>没人用的下线，省钱</a:t>
            </a:r>
          </a:p>
        </p:txBody>
      </p:sp>
      <p:sp>
        <p:nvSpPr>
          <p:cNvPr id="91" name="Right Arrow 90"/>
          <p:cNvSpPr/>
          <p:nvPr/>
        </p:nvSpPr>
        <p:spPr>
          <a:xfrm>
            <a:off x="8396066" y="3759509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8617808" y="3271677"/>
            <a:ext cx="2275072" cy="1153058"/>
          </a:xfrm>
          <a:prstGeom prst="roundRect">
            <a:avLst>
              <a:gd name="adj" fmla="val 923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750853" y="3404722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750853" y="3404722"/>
            <a:ext cx="354787" cy="354787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94337" y="3378113"/>
            <a:ext cx="1210711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统一出口</a:t>
            </a:r>
          </a:p>
        </p:txBody>
      </p:sp>
      <p:pic>
        <p:nvPicPr>
          <p:cNvPr id="96" name="Picture 95" descr="send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9397" y="3431331"/>
            <a:ext cx="283829" cy="283829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8795201" y="3910294"/>
            <a:ext cx="1964633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5E7772"/>
                </a:solidFill>
                <a:latin typeface="微软雅黑"/>
                <a:ea typeface="微软雅黑"/>
              </a:rPr>
              <a:t>对内对外只走一个窗口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94318" y="4664217"/>
            <a:ext cx="3181258" cy="753922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Picture 98" descr="workflow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1711" y="4877089"/>
            <a:ext cx="319308" cy="31930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1615196" y="4717435"/>
            <a:ext cx="2471683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写进流程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15196" y="5036743"/>
            <a:ext cx="2471683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不合规的表发不出去，错数流不到报表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352970" y="4664217"/>
            <a:ext cx="3181258" cy="753922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users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30364" y="4877089"/>
            <a:ext cx="319308" cy="31930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4973848" y="4717435"/>
            <a:ext cx="2471683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有人负责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973848" y="5036743"/>
            <a:ext cx="2471683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治理小组拍板口径，各业务线有人对接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711622" y="4664217"/>
            <a:ext cx="3181258" cy="753922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7" name="Picture 106" descr="gauge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89015" y="4877089"/>
            <a:ext cx="319308" cy="319308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8332499" y="4717435"/>
            <a:ext cx="2471683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有考核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32499" y="5036743"/>
            <a:ext cx="2471683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健康分每月公示，低分限期整改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94318" y="5551185"/>
            <a:ext cx="9898562" cy="425744"/>
          </a:xfrm>
          <a:prstGeom prst="roundRect">
            <a:avLst>
              <a:gd name="adj" fmla="val 16666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0" bIns="0"/>
          <a:lstStyle/>
          <a:p>
            <a:pPr algn="l"/>
            <a:r>
              <a:rPr sz="1150" b="1">
                <a:solidFill>
                  <a:srgbClr val="B26A2C"/>
                </a:solidFill>
                <a:latin typeface="微软雅黑"/>
                <a:ea typeface="微软雅黑"/>
              </a:rPr>
              <a:t>先治一条主线　</a:t>
            </a:r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“订单 → 核销 → 结算”最核心、问题最多，做通了再推广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举个例子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“核销量”怎么做到各处一致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这是数据治理的样板：核销做通了，同样的方法复制到其他指标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06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78705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6233" y="2007748"/>
            <a:ext cx="709574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第一步：先把四个容易混的数分开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4318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21816F"/>
                </a:solidFill>
                <a:latin typeface="微软雅黑"/>
                <a:ea typeface="微软雅黑"/>
              </a:rPr>
              <a:t>核销次数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刷了几次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36346" y="2415753"/>
            <a:ext cx="443484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50" b="1">
                <a:solidFill>
                  <a:srgbClr val="E39A57"/>
                </a:solidFill>
                <a:latin typeface="微软雅黑"/>
                <a:ea typeface="微软雅黑"/>
              </a:rPr>
              <a:t>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79830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21816F"/>
                </a:solidFill>
                <a:latin typeface="微软雅黑"/>
                <a:ea typeface="微软雅黑"/>
              </a:rPr>
              <a:t>有效核销票数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有效的票几张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21858" y="2415753"/>
            <a:ext cx="443484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50" b="1">
                <a:solidFill>
                  <a:srgbClr val="E39A57"/>
                </a:solidFill>
                <a:latin typeface="微软雅黑"/>
                <a:ea typeface="微软雅黑"/>
              </a:rPr>
              <a:t>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65342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21816F"/>
                </a:solidFill>
                <a:latin typeface="微软雅黑"/>
                <a:ea typeface="微软雅黑"/>
              </a:rPr>
              <a:t>入园人次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进了几人次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07369" y="2415753"/>
            <a:ext cx="443484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50" b="1">
                <a:solidFill>
                  <a:srgbClr val="E39A57"/>
                </a:solidFill>
                <a:latin typeface="微软雅黑"/>
                <a:ea typeface="微软雅黑"/>
              </a:rPr>
              <a:t>≠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50853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21816F"/>
                </a:solidFill>
                <a:latin typeface="微软雅黑"/>
                <a:ea typeface="微软雅黑"/>
              </a:rPr>
              <a:t>去重游客数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实际来了几个人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4318" y="3214024"/>
            <a:ext cx="9898562" cy="390265"/>
          </a:xfrm>
          <a:prstGeom prst="roundRect">
            <a:avLst>
              <a:gd name="adj" fmla="val 18181"/>
            </a:avLst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3" tIns="0" bIns="0"/>
          <a:lstStyle/>
          <a:p>
            <a:pPr algn="l"/>
            <a:r>
              <a:rPr sz="1100" b="1">
                <a:solidFill>
                  <a:srgbClr val="B26A2C"/>
                </a:solidFill>
                <a:latin typeface="微软雅黑"/>
                <a:ea typeface="微软雅黑"/>
              </a:rPr>
              <a:t>比如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一位年卡游客一天进出 3 次：核销次数 3，入园人次 3，去重游客数 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4318" y="3852641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36233" y="3781684"/>
            <a:ext cx="7982712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第二步：从现场到报表，每一层按“景区 + 日期”对一次数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4318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闸机 / 手持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现场记录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2780671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037892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业务系统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订单与核销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4824246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81466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仓库明细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洗干净的数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867819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125040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仓库汇总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按天按景区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8911394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68615" y="4189689"/>
            <a:ext cx="1724265" cy="753922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报表 / 接口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大家看到的数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4318" y="5138745"/>
            <a:ext cx="4860584" cy="753922"/>
          </a:xfrm>
          <a:prstGeom prst="roundRect">
            <a:avLst>
              <a:gd name="adj" fmla="val 11764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0" bIns="0"/>
          <a:lstStyle/>
          <a:p>
            <a:pPr algn="l"/>
            <a:r>
              <a:rPr sz="1250" b="1">
                <a:solidFill>
                  <a:srgbClr val="B26A2C"/>
                </a:solidFill>
                <a:latin typeface="微软雅黑"/>
                <a:ea typeface="微软雅黑"/>
              </a:rPr>
              <a:t>第三步　</a:t>
            </a:r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对不上就自动报警</a:t>
            </a:r>
          </a:p>
          <a:p>
            <a:pPr algn="l">
              <a:spcBef>
                <a:spcPts val="194"/>
              </a:spcBef>
            </a:pPr>
            <a:r>
              <a:rPr sz="1250" b="0">
                <a:solidFill>
                  <a:srgbClr val="5E7772"/>
                </a:solidFill>
                <a:latin typeface="微软雅黑"/>
                <a:ea typeface="微软雅黑"/>
              </a:rPr>
              <a:t>→ 查原因 → 修复 → 重算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32296" y="5138745"/>
            <a:ext cx="4860584" cy="753922"/>
          </a:xfrm>
          <a:prstGeom prst="roundRect">
            <a:avLst>
              <a:gd name="adj" fmla="val 11764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0" bIns="0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常见原因</a:t>
            </a:r>
          </a:p>
          <a:p>
            <a:pPr algn="l">
              <a:spcBef>
                <a:spcPts val="194"/>
              </a:spcBef>
            </a:pPr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设备离线补传 · 重复上报 · 撤销冲正 · 时间口径混用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建成后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形成“六个统一”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每一项都能对比“以前”和“以后”，也都有考核指标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07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81139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114184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ook-o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48" y="2220620"/>
            <a:ext cx="212872" cy="21287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03892" y="2114184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统一规范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71711" y="2646365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规范只写在文档里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71711" y="3045500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不合规的表发不出去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52970" y="1981139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530364" y="2114184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800" y="2220620"/>
            <a:ext cx="212872" cy="21287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062545" y="2114184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统一底座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30364" y="2646365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订单、核销第二天才看到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30364" y="3045500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分钟级看到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11622" y="1981139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889015" y="2114184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ca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451" y="2220620"/>
            <a:ext cx="212872" cy="21287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421197" y="2114184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统一标签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889015" y="2646365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报表、接口、AI 各说各的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89015" y="3045500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三处数字一致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4318" y="3684117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71711" y="3817162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lo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8148" y="3923598"/>
            <a:ext cx="212872" cy="21287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703892" y="3817162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统一权限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71711" y="4349343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各系统各管各的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171711" y="4748479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一套规则管住所有出口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352970" y="3684117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530364" y="3817162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user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800" y="3923598"/>
            <a:ext cx="212872" cy="21287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062545" y="3817162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标签复用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30364" y="4349343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各部门各做一套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30364" y="4748479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一个游客一个身份，到处能用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711622" y="3684117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889015" y="3817162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chart-colum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5451" y="3923598"/>
            <a:ext cx="212872" cy="21287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421197" y="3817162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即席自助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889015" y="4349343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找数据团队要数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889015" y="4748479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业务自己查、自己看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94318" y="5431444"/>
            <a:ext cx="9898562" cy="487832"/>
          </a:xfrm>
          <a:prstGeom prst="roundRect">
            <a:avLst>
              <a:gd name="adj" fmla="val 18181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0" bIns="0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怎么推　</a:t>
            </a:r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先在“订单 → 核销 → 结算”试点；老报表先并行对比，没问题再切换，随时可退回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对各业务线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每个人都用上靠谱的数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从管理层到景区，九类角色的变化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08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90008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211750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crow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322" y="2340361"/>
            <a:ext cx="257220" cy="2572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836938" y="2096444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管理层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36938" y="2415753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驾驶舱全用认证指标，不用先对数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52970" y="1990008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530364" y="2211750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ti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974" y="2340361"/>
            <a:ext cx="257220" cy="25722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195590" y="2096444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票务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95590" y="2415753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核销口径统一，差异自动定位；节假日实时看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11622" y="1990008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89015" y="2211750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calculato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7625" y="2340361"/>
            <a:ext cx="257220" cy="25722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554241" y="2096444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财务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54241" y="2415753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业务与财务逐层对账，差异自动列原因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4318" y="3125327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71711" y="3347069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rout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0322" y="3475680"/>
            <a:ext cx="257220" cy="25722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836938" y="3231763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渠道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36938" y="3551072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销量、佣金、返利口径统一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352970" y="3125327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530364" y="3347069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megaphon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8974" y="3475680"/>
            <a:ext cx="257220" cy="25722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195590" y="3231763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营销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95590" y="3551072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标签圈人、指标看效果，复盘自动完成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711622" y="3125327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889015" y="3347069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headse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7625" y="3475680"/>
            <a:ext cx="257220" cy="25722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554241" y="3231763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运营 / 客户成功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54241" y="3551072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景区经营报告自动生成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94318" y="4260646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71711" y="4482388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cod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0322" y="4610998"/>
            <a:ext cx="257220" cy="25722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836938" y="4367082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产品研发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36938" y="4686391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上线前定好口径，上线即有数据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352970" y="4260646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530364" y="4482388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databas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8974" y="4610998"/>
            <a:ext cx="257220" cy="2572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195590" y="4367082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数据团队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95590" y="4686391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从取数对数转向建模型、做分析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711622" y="4260646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889015" y="4482388"/>
            <a:ext cx="514441" cy="514441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landmark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7625" y="4610998"/>
            <a:ext cx="257220" cy="25722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8554241" y="4367082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景区 / 供应商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54241" y="4686391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直接用标准指标，不够用自己加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94318" y="5395965"/>
            <a:ext cx="9898562" cy="514441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zap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9451" y="5520141"/>
            <a:ext cx="266090" cy="266090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1570847" y="5395965"/>
            <a:ext cx="9144640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为第二部分打基础　</a:t>
            </a: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数据可信、有口径、有权限，AI 接上去才能答得准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现状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智能体已经在用，而且我们有别人没有的底气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智能体 = 能听懂问题、还能帮你办事的 AI 助手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09  ·  AI＋数据平台 · 02  智能体平台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85573"/>
            <a:ext cx="558789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1816F"/>
                </a:solidFill>
                <a:latin typeface="微软雅黑"/>
                <a:ea typeface="微软雅黑"/>
              </a:rPr>
              <a:t>已经有的智能体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366970"/>
            <a:ext cx="5587898" cy="816010"/>
          </a:xfrm>
          <a:prstGeom prst="roundRect">
            <a:avLst>
              <a:gd name="adj" fmla="val 108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544363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34" y="2655234"/>
            <a:ext cx="221742" cy="22174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703892" y="2420188"/>
            <a:ext cx="1419148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Coze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03892" y="2792714"/>
            <a:ext cx="1507845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给游客用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11738" y="2473406"/>
            <a:ext cx="808126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智能助手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090822" y="2473406"/>
            <a:ext cx="808126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智能客服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69906" y="2473406"/>
            <a:ext cx="808126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智能导览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11738" y="2828193"/>
            <a:ext cx="729531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AI 旅拍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012226" y="2828193"/>
            <a:ext cx="729531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AI 伴游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298285"/>
            <a:ext cx="5587898" cy="816010"/>
          </a:xfrm>
          <a:prstGeom prst="roundRect">
            <a:avLst>
              <a:gd name="adj" fmla="val 108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27363" y="347568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han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34" y="3586551"/>
            <a:ext cx="221742" cy="22174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703892" y="3351503"/>
            <a:ext cx="1419148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企业合作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03892" y="3724031"/>
            <a:ext cx="1507845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给听障游客用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11738" y="3404722"/>
            <a:ext cx="537108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手语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4318" y="4229602"/>
            <a:ext cx="5587898" cy="816010"/>
          </a:xfrm>
          <a:prstGeom prst="roundRect">
            <a:avLst>
              <a:gd name="adj" fmla="val 108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27363" y="4406996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chart-colum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34" y="4517867"/>
            <a:ext cx="221742" cy="221742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703892" y="4282821"/>
            <a:ext cx="1419148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小Q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03892" y="4655347"/>
            <a:ext cx="1507845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给景区和管理者用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211738" y="4336039"/>
            <a:ext cx="808126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智能问数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90822" y="4336039"/>
            <a:ext cx="1079144" cy="2838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智能数据解读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48306" y="1985573"/>
            <a:ext cx="4044574" cy="3281781"/>
          </a:xfrm>
          <a:prstGeom prst="roundRect">
            <a:avLst>
              <a:gd name="adj" fmla="val 378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070048" y="2074270"/>
            <a:ext cx="3689786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我们的底气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025700" y="2544363"/>
            <a:ext cx="3689786" cy="762792"/>
          </a:xfrm>
          <a:prstGeom prst="roundRect">
            <a:avLst>
              <a:gd name="adj" fmla="val 11627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monito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745" y="2774975"/>
            <a:ext cx="301569" cy="301569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7602230" y="2597581"/>
            <a:ext cx="3068909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系统在景区现场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02230" y="2934629"/>
            <a:ext cx="306890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票务、业态、终端都是我们的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025700" y="3413592"/>
            <a:ext cx="3689786" cy="762792"/>
          </a:xfrm>
          <a:prstGeom prst="roundRect">
            <a:avLst>
              <a:gd name="adj" fmla="val 11627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databas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8745" y="3644204"/>
            <a:ext cx="301569" cy="301569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7602230" y="3466810"/>
            <a:ext cx="3068909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数据在我们手里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02230" y="3803858"/>
            <a:ext cx="306890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售票、核销、客流、会员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025700" y="4282821"/>
            <a:ext cx="3689786" cy="762792"/>
          </a:xfrm>
          <a:prstGeom prst="roundRect">
            <a:avLst>
              <a:gd name="adj" fmla="val 11627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handshak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8745" y="4513432"/>
            <a:ext cx="301569" cy="301569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7602230" y="4336039"/>
            <a:ext cx="3068909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客户已经在用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02230" y="4673086"/>
            <a:ext cx="306890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大量景区在用我们的票务，接口现成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94318" y="5427009"/>
            <a:ext cx="9898562" cy="487832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shield-check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9451" y="5537880"/>
            <a:ext cx="266090" cy="266090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570847" y="5427009"/>
            <a:ext cx="9144640" cy="4878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  <a:latin typeface="微软雅黑"/>
                <a:ea typeface="微软雅黑"/>
              </a:rPr>
              <a:t>结论　</a:t>
            </a: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别人做通用聊天，我们做“能办事”的智能体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能做什么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游客和景区两头都能做，都要做，只是先后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实心为已有，空心为基于我们现有系统和数据可以扩展的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10  ·  AI＋数据平台 · 02  智能体平台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27920"/>
            <a:ext cx="4816236" cy="3680917"/>
          </a:xfrm>
          <a:prstGeom prst="roundRect">
            <a:avLst>
              <a:gd name="adj" fmla="val 337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043226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compas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582" y="2154097"/>
            <a:ext cx="221742" cy="2217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21632" y="2043226"/>
            <a:ext cx="3929267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1F3A35"/>
                </a:solidFill>
                <a:latin typeface="微软雅黑"/>
                <a:ea typeface="微软雅黑"/>
              </a:rPr>
              <a:t>游客端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71711" y="2637495"/>
            <a:ext cx="842619" cy="549920"/>
          </a:xfrm>
          <a:prstGeom prst="roundRect">
            <a:avLst>
              <a:gd name="adj" fmla="val 12903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游前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29637" y="2672974"/>
            <a:ext cx="730270" cy="2660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智能客服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13126" y="2672974"/>
            <a:ext cx="730270" cy="2660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智能助手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96614" y="2672974"/>
            <a:ext cx="913945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AI 旅游规划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663779" y="2672974"/>
            <a:ext cx="913945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AI 智能购票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71711" y="3583593"/>
            <a:ext cx="842619" cy="549920"/>
          </a:xfrm>
          <a:prstGeom prst="roundRect">
            <a:avLst>
              <a:gd name="adj" fmla="val 12903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游中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29637" y="3619072"/>
            <a:ext cx="730270" cy="2660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智能导览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913126" y="3619072"/>
            <a:ext cx="655247" cy="2660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AI 伴游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621591" y="3619072"/>
            <a:ext cx="471571" cy="2660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手语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46380" y="3619072"/>
            <a:ext cx="111831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排队与项目推荐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129637" y="3938381"/>
            <a:ext cx="988969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餐饮二消推荐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171825" y="3938381"/>
            <a:ext cx="730270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停车引导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71711" y="4529692"/>
            <a:ext cx="842619" cy="549920"/>
          </a:xfrm>
          <a:prstGeom prst="roundRect">
            <a:avLst>
              <a:gd name="adj" fmla="val 12903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游后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129637" y="4565172"/>
            <a:ext cx="655247" cy="2660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AI 旅拍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838103" y="4565172"/>
            <a:ext cx="111831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游记与行程总结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009639" y="4565172"/>
            <a:ext cx="988969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年卡服务助手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076644" y="1927920"/>
            <a:ext cx="4816236" cy="3680917"/>
          </a:xfrm>
          <a:prstGeom prst="roundRect">
            <a:avLst>
              <a:gd name="adj" fmla="val 337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254037" y="2043226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landmar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908" y="2154097"/>
            <a:ext cx="221742" cy="22174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803958" y="2043226"/>
            <a:ext cx="3929267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1F3A35"/>
                </a:solidFill>
                <a:latin typeface="微软雅黑"/>
                <a:ea typeface="微软雅黑"/>
              </a:rPr>
              <a:t>景区端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54037" y="2637495"/>
            <a:ext cx="842619" cy="384352"/>
          </a:xfrm>
          <a:prstGeom prst="roundRect">
            <a:avLst>
              <a:gd name="adj" fmla="val 1846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经营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11964" y="2672974"/>
            <a:ext cx="913945" cy="2660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AI 智能问数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179128" y="2672974"/>
            <a:ext cx="913945" cy="2660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AI 智能洞察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146293" y="2672974"/>
            <a:ext cx="988969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经营日报周报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54037" y="3110544"/>
            <a:ext cx="842619" cy="384352"/>
          </a:xfrm>
          <a:prstGeom prst="roundRect">
            <a:avLst>
              <a:gd name="adj" fmla="val 1846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票务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211964" y="3146023"/>
            <a:ext cx="988969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票务运营助手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254150" y="3146023"/>
            <a:ext cx="988969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分销渠道助手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254037" y="3583593"/>
            <a:ext cx="842619" cy="384352"/>
          </a:xfrm>
          <a:prstGeom prst="roundRect">
            <a:avLst>
              <a:gd name="adj" fmla="val 1846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财务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211964" y="3619072"/>
            <a:ext cx="913945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AI 对账助手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179128" y="3619072"/>
            <a:ext cx="730270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发票助手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54037" y="4056644"/>
            <a:ext cx="842619" cy="384352"/>
          </a:xfrm>
          <a:prstGeom prst="roundRect">
            <a:avLst>
              <a:gd name="adj" fmla="val 1846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营销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211964" y="4092122"/>
            <a:ext cx="730270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人群圈选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995452" y="4092122"/>
            <a:ext cx="988969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营销文案生成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254037" y="4529692"/>
            <a:ext cx="842619" cy="384352"/>
          </a:xfrm>
          <a:prstGeom prst="roundRect">
            <a:avLst>
              <a:gd name="adj" fmla="val 1846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运营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211964" y="4565172"/>
            <a:ext cx="988969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消息通知预警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54150" y="4565172"/>
            <a:ext cx="988969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工单调度处置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254037" y="5002742"/>
            <a:ext cx="842619" cy="384352"/>
          </a:xfrm>
          <a:prstGeom prst="roundRect">
            <a:avLst>
              <a:gd name="adj" fmla="val 1846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安全调度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211964" y="5038221"/>
            <a:ext cx="730270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客流秩序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995452" y="5038221"/>
            <a:ext cx="730270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车船调度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778941" y="5038221"/>
            <a:ext cx="730270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森林防火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562429" y="5038221"/>
            <a:ext cx="730270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气象服务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94318" y="5724144"/>
            <a:ext cx="665226" cy="2483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已有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748240" y="5724144"/>
            <a:ext cx="842619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可扩展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建设思路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围绕三个目标，走一条建设流程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先用成熟平台把事做成、把钱赚到，再快速铺开，最后建成自己的平台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11  ·  AI＋数据平台 · 02  智能体平台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69835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6233" y="1998878"/>
            <a:ext cx="266090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建设目标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4318" y="2380274"/>
            <a:ext cx="3151692" cy="842619"/>
          </a:xfrm>
          <a:prstGeom prst="roundRect">
            <a:avLst>
              <a:gd name="adj" fmla="val 1263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1711" y="2513319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targ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756" y="2646365"/>
            <a:ext cx="266090" cy="26609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836938" y="2442362"/>
            <a:ext cx="222037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1F3A35"/>
                </a:solidFill>
                <a:latin typeface="微软雅黑"/>
                <a:ea typeface="微软雅黑"/>
              </a:rPr>
              <a:t>跑通商业模式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36938" y="2797149"/>
            <a:ext cx="222037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能卖、能赚钱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67753" y="2380274"/>
            <a:ext cx="3151692" cy="842619"/>
          </a:xfrm>
          <a:prstGeom prst="roundRect">
            <a:avLst>
              <a:gd name="adj" fmla="val 1263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545147" y="2513319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ro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192" y="2646365"/>
            <a:ext cx="266090" cy="26609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210373" y="2442362"/>
            <a:ext cx="222037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1F3A35"/>
                </a:solidFill>
                <a:latin typeface="微软雅黑"/>
                <a:ea typeface="微软雅黑"/>
              </a:rPr>
              <a:t>快速占领市场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0373" y="2797149"/>
            <a:ext cx="222037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铺得快、交付快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41188" y="2380274"/>
            <a:ext cx="3151692" cy="842619"/>
          </a:xfrm>
          <a:prstGeom prst="roundRect">
            <a:avLst>
              <a:gd name="adj" fmla="val 1263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918581" y="2513319"/>
            <a:ext cx="532180" cy="53218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building2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1626" y="2646365"/>
            <a:ext cx="266090" cy="26609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583807" y="2442362"/>
            <a:ext cx="222037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建成自己的平台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83807" y="2797149"/>
            <a:ext cx="222037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微软雅黑"/>
                <a:ea typeface="微软雅黑"/>
              </a:rPr>
              <a:t>更省钱、更可控、有壁垒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4318" y="3515593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36233" y="3444636"/>
            <a:ext cx="443484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建设流程：一条线走下来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94318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选场景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2100811" y="413647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2251595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借成熟平台搭建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3358088" y="413647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508871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标杆试点验证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4615364" y="413647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766149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定价与交付定型</a:t>
            </a:r>
          </a:p>
        </p:txBody>
      </p:sp>
      <p:sp>
        <p:nvSpPr>
          <p:cNvPr id="70" name="Right Arrow 69"/>
          <p:cNvSpPr/>
          <p:nvPr/>
        </p:nvSpPr>
        <p:spPr>
          <a:xfrm>
            <a:off x="5872641" y="413647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023427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按业态标准化复制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7129918" y="413647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280704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沉淀知识、接口、数据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8387196" y="413647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537981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时机成熟自建平台</a:t>
            </a:r>
          </a:p>
        </p:txBody>
      </p:sp>
      <p:sp>
        <p:nvSpPr>
          <p:cNvPr id="76" name="Right Arrow 75"/>
          <p:cNvSpPr/>
          <p:nvPr/>
        </p:nvSpPr>
        <p:spPr>
          <a:xfrm>
            <a:off x="9644473" y="413647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795258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平稳迁移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94318" y="4642043"/>
            <a:ext cx="4869453" cy="44348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4318" y="4713000"/>
            <a:ext cx="4869453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为了跑通商业模式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023427" y="4642043"/>
            <a:ext cx="2354900" cy="44348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23427" y="4713000"/>
            <a:ext cx="2354900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为了快速占领市场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537981" y="4642043"/>
            <a:ext cx="2354900" cy="44348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37981" y="4713000"/>
            <a:ext cx="2354900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为了建成自己的平台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4318" y="4996830"/>
            <a:ext cx="989856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起步依托 Coze · 火山方舟 · 羚羊小Q；自建时以数字大脑作为智能体管理台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94318" y="5351617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216060" y="5351617"/>
            <a:ext cx="1419148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B26A2C"/>
                </a:solidFill>
                <a:latin typeface="微软雅黑"/>
                <a:ea typeface="微软雅黑"/>
              </a:rPr>
              <a:t>贯穿始终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502164" y="5493532"/>
            <a:ext cx="1367901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B26A2C"/>
                </a:solidFill>
                <a:latin typeface="微软雅黑"/>
                <a:ea typeface="微软雅黑"/>
              </a:rPr>
              <a:t>借平台，不交资产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976502" y="5493532"/>
            <a:ext cx="1367901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B26A2C"/>
                </a:solidFill>
                <a:latin typeface="微软雅黑"/>
                <a:ea typeface="微软雅黑"/>
              </a:rPr>
              <a:t>数据从第一天回流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50840" y="5493532"/>
            <a:ext cx="1096883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B26A2C"/>
                </a:solidFill>
                <a:latin typeface="微软雅黑"/>
                <a:ea typeface="微软雅黑"/>
              </a:rPr>
              <a:t>守住安全底线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654159" y="5493532"/>
            <a:ext cx="1465467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B26A2C"/>
                </a:solidFill>
                <a:latin typeface="微软雅黑"/>
                <a:ea typeface="微软雅黑"/>
              </a:rPr>
              <a:t>培养自己的 AI 团队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226064" y="5493532"/>
            <a:ext cx="177442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B26A2C"/>
                </a:solidFill>
                <a:latin typeface="微软雅黑"/>
                <a:ea typeface="微软雅黑"/>
              </a:rPr>
              <a:t>用成本数据判断自建时机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验证模式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怎么收钱、算不算得过账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先在已用我们票务的景区里挑标杆，跑一个完整旺季，用真实的钱来回答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12  ·  AI＋数据平台 · 02  智能体平台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2034357"/>
            <a:ext cx="567659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1816F"/>
                </a:solidFill>
                <a:latin typeface="微软雅黑"/>
                <a:ea typeface="微软雅黑"/>
              </a:rPr>
              <a:t>怎么收钱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415753"/>
            <a:ext cx="2749600" cy="842619"/>
          </a:xfrm>
          <a:prstGeom prst="roundRect">
            <a:avLst>
              <a:gd name="adj" fmla="val 10526"/>
            </a:avLst>
          </a:prstGeom>
          <a:solidFill>
            <a:srgbClr val="EFF8F6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71711" y="2486710"/>
            <a:ext cx="1685239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1816F"/>
                </a:solidFill>
                <a:latin typeface="微软雅黑"/>
                <a:ea typeface="微软雅黑"/>
              </a:rPr>
              <a:t>随票务打包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56951" y="2522189"/>
            <a:ext cx="753922" cy="248351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建议先试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1711" y="2859237"/>
            <a:ext cx="2439162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作为票务增值模块，提高年费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921312" y="2415753"/>
            <a:ext cx="2749600" cy="842619"/>
          </a:xfrm>
          <a:prstGeom prst="roundRect">
            <a:avLst>
              <a:gd name="adj" fmla="val 10526"/>
            </a:avLst>
          </a:prstGeom>
          <a:solidFill>
            <a:srgbClr val="EFF8F6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98706" y="2486710"/>
            <a:ext cx="1685239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1816F"/>
                </a:solidFill>
                <a:latin typeface="微软雅黑"/>
                <a:ea typeface="微软雅黑"/>
              </a:rPr>
              <a:t>年费订阅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83945" y="2522189"/>
            <a:ext cx="753922" cy="248351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建议先试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98706" y="2859237"/>
            <a:ext cx="2439162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按景区规模分档收年费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4318" y="3391418"/>
            <a:ext cx="2749600" cy="842619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71711" y="3462375"/>
            <a:ext cx="1685239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按效果分成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71711" y="3834902"/>
            <a:ext cx="2439162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按 AI 带来的购票、二消收入分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921312" y="3391418"/>
            <a:ext cx="2749600" cy="842619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98706" y="3462375"/>
            <a:ext cx="1685239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按用量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98706" y="3834902"/>
            <a:ext cx="2439162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按对话量或调用量收费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4318" y="4455779"/>
            <a:ext cx="5676595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景区认的价值，要用数据证明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4318" y="4810566"/>
            <a:ext cx="850503" cy="301569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 w="9525">
            <a:solidFill>
              <a:srgbClr val="DD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少用人工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977867" y="4810566"/>
            <a:ext cx="708835" cy="301569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 w="9525">
            <a:solidFill>
              <a:srgbClr val="DD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多卖票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819747" y="4810566"/>
            <a:ext cx="992172" cy="301569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 w="9525">
            <a:solidFill>
              <a:srgbClr val="DD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游客更满意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944965" y="4810566"/>
            <a:ext cx="992172" cy="301569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 w="9525">
            <a:solidFill>
              <a:srgbClr val="DD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管理更省心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937004" y="2034357"/>
            <a:ext cx="3955877" cy="31043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937004" y="2034357"/>
            <a:ext cx="3955877" cy="487832"/>
          </a:xfrm>
          <a:prstGeom prst="roundRect">
            <a:avLst>
              <a:gd name="adj" fmla="val 2545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937004" y="2327056"/>
            <a:ext cx="3955877" cy="19513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calculato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397" y="2123053"/>
            <a:ext cx="283829" cy="283829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7486923" y="2034357"/>
            <a:ext cx="3334999" cy="4878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单个景区算一笔账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58746" y="2637495"/>
            <a:ext cx="310438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E39A57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13533" y="2637495"/>
            <a:ext cx="320195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一年收入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58746" y="3080979"/>
            <a:ext cx="310438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E39A57"/>
                </a:solidFill>
                <a:latin typeface="微软雅黑"/>
                <a:ea typeface="微软雅黑"/>
              </a:rPr>
              <a:t>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13533" y="3080979"/>
            <a:ext cx="320195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5E7772"/>
                </a:solidFill>
                <a:latin typeface="微软雅黑"/>
                <a:ea typeface="微软雅黑"/>
              </a:rPr>
              <a:t>平台调用费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58746" y="3524463"/>
            <a:ext cx="310438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E39A57"/>
                </a:solidFill>
                <a:latin typeface="微软雅黑"/>
                <a:ea typeface="微软雅黑"/>
              </a:rPr>
              <a:t>−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13533" y="3524463"/>
            <a:ext cx="320195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5E7772"/>
                </a:solidFill>
                <a:latin typeface="微软雅黑"/>
                <a:ea typeface="微软雅黑"/>
              </a:rPr>
              <a:t>交付成本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58746" y="3967947"/>
            <a:ext cx="310438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E39A57"/>
                </a:solidFill>
                <a:latin typeface="微软雅黑"/>
                <a:ea typeface="微软雅黑"/>
              </a:rPr>
              <a:t>−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13533" y="3967947"/>
            <a:ext cx="320195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5E7772"/>
                </a:solidFill>
                <a:latin typeface="微软雅黑"/>
                <a:ea typeface="微软雅黑"/>
              </a:rPr>
              <a:t>运营支持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114397" y="4482388"/>
            <a:ext cx="3601090" cy="532180"/>
          </a:xfrm>
          <a:prstGeom prst="roundRect">
            <a:avLst>
              <a:gd name="adj" fmla="val 16666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50" b="1">
                <a:solidFill>
                  <a:srgbClr val="FFFFFF"/>
                </a:solidFill>
                <a:latin typeface="微软雅黑"/>
                <a:ea typeface="微软雅黑"/>
              </a:rPr>
              <a:t>＞ 0</a:t>
            </a:r>
            <a:r>
              <a:rPr sz="1150" b="0">
                <a:solidFill>
                  <a:srgbClr val="FCE6D2"/>
                </a:solidFill>
                <a:latin typeface="微软雅黑"/>
                <a:ea typeface="微软雅黑"/>
              </a:rPr>
              <a:t>　才算能赚钱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94318" y="5316138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216060" y="5316138"/>
            <a:ext cx="1330452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7CF"/>
                </a:solidFill>
                <a:latin typeface="微软雅黑"/>
                <a:ea typeface="微软雅黑"/>
              </a:rPr>
              <a:t>跑通标准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457815" y="5458053"/>
            <a:ext cx="690356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用起来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54608" y="5458053"/>
            <a:ext cx="690356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有价值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051401" y="5458053"/>
            <a:ext cx="690356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愿付费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848194" y="5458053"/>
            <a:ext cx="690356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能赚钱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644987" y="5458053"/>
            <a:ext cx="690356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可复制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30477" y="5316138"/>
            <a:ext cx="4273707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五条都满足再铺开；不满足就调整再试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占市场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先打老客户，按业态复制，标准化交付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从最容易成交的客户开始；差异做成配置，伙伴也能独立交付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13  ·  AI＋数据平台 · 02  智能体平台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3122127" cy="1108710"/>
          </a:xfrm>
          <a:prstGeom prst="roundRect">
            <a:avLst>
              <a:gd name="adj" fmla="val 96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207910"/>
            <a:ext cx="443484" cy="443484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hou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48" y="2314346"/>
            <a:ext cx="230611" cy="23061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21632" y="2172431"/>
            <a:ext cx="170297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已用我们票务的景区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77828" y="2207910"/>
            <a:ext cx="487832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最先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9451" y="2669133"/>
            <a:ext cx="2767340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微软雅黑"/>
                <a:ea typeface="微软雅黑"/>
              </a:rPr>
              <a:t>随续约推，开通即用，成交最快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160794" y="2500609"/>
            <a:ext cx="177393" cy="19513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382536" y="2048256"/>
            <a:ext cx="3122127" cy="1108710"/>
          </a:xfrm>
          <a:prstGeom prst="roundRect">
            <a:avLst>
              <a:gd name="adj" fmla="val 96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559929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cop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800" y="2318781"/>
            <a:ext cx="221742" cy="22174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109850" y="2172431"/>
            <a:ext cx="170297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同业态景区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66046" y="2207910"/>
            <a:ext cx="487832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B26A2C"/>
                </a:solidFill>
                <a:latin typeface="微软雅黑"/>
                <a:ea typeface="微软雅黑"/>
              </a:rPr>
              <a:t>其次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7669" y="2669133"/>
            <a:ext cx="2767340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用标杆案例复制，模板直接复用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7549012" y="2500609"/>
            <a:ext cx="177393" cy="19513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770753" y="2048256"/>
            <a:ext cx="3122127" cy="1108710"/>
          </a:xfrm>
          <a:prstGeom prst="roundRect">
            <a:avLst>
              <a:gd name="adj" fmla="val 96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48146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user-plu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9017" y="2318781"/>
            <a:ext cx="221742" cy="22174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498067" y="2172431"/>
            <a:ext cx="170297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新客户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254263" y="2207910"/>
            <a:ext cx="487832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B26A2C"/>
                </a:solidFill>
                <a:latin typeface="微软雅黑"/>
                <a:ea typeface="微软雅黑"/>
              </a:rPr>
              <a:t>同步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65887" y="2669133"/>
            <a:ext cx="2767340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智能体做卖点，带动票务签约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4318" y="3316620"/>
            <a:ext cx="266090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业态先后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058680" y="3334359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 w="9525">
            <a:solidFill>
              <a:srgbClr val="218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山岳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14543" y="3334359"/>
            <a:ext cx="850503" cy="283829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 w="9525">
            <a:solidFill>
              <a:srgbClr val="218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主题乐园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653744" y="3334359"/>
            <a:ext cx="850503" cy="283829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 w="9525">
            <a:solidFill>
              <a:srgbClr val="218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古镇街区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4637293" y="3387577"/>
            <a:ext cx="221742" cy="177393"/>
          </a:xfrm>
          <a:prstGeom prst="rightArrow">
            <a:avLst/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947732" y="3334359"/>
            <a:ext cx="70883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博物馆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745264" y="3334359"/>
            <a:ext cx="850503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温泉度假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684464" y="3334359"/>
            <a:ext cx="850503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游船演出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4318" y="3804452"/>
            <a:ext cx="532180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标准化交付：六步上线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94318" y="4159239"/>
            <a:ext cx="1457584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签约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2469642" y="434550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2682513" y="4159239"/>
            <a:ext cx="1457584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选模板</a:t>
            </a:r>
          </a:p>
        </p:txBody>
      </p:sp>
      <p:sp>
        <p:nvSpPr>
          <p:cNvPr id="76" name="Right Arrow 75"/>
          <p:cNvSpPr/>
          <p:nvPr/>
        </p:nvSpPr>
        <p:spPr>
          <a:xfrm>
            <a:off x="4157836" y="434550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4370709" y="4159239"/>
            <a:ext cx="1457584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配知识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5846033" y="434550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058905" y="4159239"/>
            <a:ext cx="1457584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绑入口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7534228" y="434550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7747101" y="4159239"/>
            <a:ext cx="1457584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测试验收</a:t>
            </a:r>
          </a:p>
        </p:txBody>
      </p:sp>
      <p:sp>
        <p:nvSpPr>
          <p:cNvPr id="82" name="Right Arrow 81"/>
          <p:cNvSpPr/>
          <p:nvPr/>
        </p:nvSpPr>
        <p:spPr>
          <a:xfrm>
            <a:off x="9222425" y="434550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435297" y="4159239"/>
            <a:ext cx="1457584" cy="549920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上线运营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出效果报告促续费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94318" y="4913162"/>
            <a:ext cx="9898562" cy="842619"/>
          </a:xfrm>
          <a:prstGeom prst="roundRect">
            <a:avLst>
              <a:gd name="adj" fmla="val 10526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lock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152644"/>
            <a:ext cx="319308" cy="31930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659544" y="4957511"/>
            <a:ext cx="3104388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26A2C"/>
                </a:solidFill>
                <a:latin typeface="微软雅黑"/>
                <a:ea typeface="微软雅黑"/>
              </a:rPr>
              <a:t>借平台，但不交资产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59544" y="5312298"/>
            <a:ext cx="9011594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景区知识、业务接口、模板设计、交互数据、成本数据都留在自己手里 —— 将来自建才能低成本切过去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自建平台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为什么建、什么时候建、建什么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规模起来后，借平台越来越贵、越来越受限；时机到了再建，不提前也不拖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14  ·  AI＋数据平台 · 02  智能体平台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182855" y="2021052"/>
            <a:ext cx="2190810" cy="372526"/>
          </a:xfrm>
          <a:prstGeom prst="roundRect">
            <a:avLst>
              <a:gd name="adj" fmla="val 19047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B26A2C"/>
                </a:solidFill>
                <a:latin typeface="微软雅黑"/>
                <a:ea typeface="微软雅黑"/>
              </a:rPr>
              <a:t>借平台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44624" y="2021052"/>
            <a:ext cx="2279507" cy="372526"/>
          </a:xfrm>
          <a:prstGeom prst="roundRect">
            <a:avLst>
              <a:gd name="adj" fmla="val 1904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自建平台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4318" y="2464536"/>
            <a:ext cx="5765292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27363" y="2464536"/>
            <a:ext cx="9756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成本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0422" y="2464536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景区越多平台费越高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42190" y="2464536"/>
            <a:ext cx="212872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只付模型调用和运维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4318" y="2961238"/>
            <a:ext cx="5765292" cy="4434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27363" y="2961238"/>
            <a:ext cx="9756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交付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0422" y="2961238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每个景区单独配置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42190" y="2961238"/>
            <a:ext cx="212872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集团建一次，开通即用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4318" y="3457940"/>
            <a:ext cx="5765292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27363" y="3457940"/>
            <a:ext cx="9756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定制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0422" y="3457940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受平台功能限制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42190" y="3457940"/>
            <a:ext cx="212872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按需自主扩展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4318" y="3954642"/>
            <a:ext cx="5765292" cy="4434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27363" y="3954642"/>
            <a:ext cx="9756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数据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80422" y="3954642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留在别人那里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42190" y="3954642"/>
            <a:ext cx="212872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在自己手里，越用越准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4318" y="4451344"/>
            <a:ext cx="5765292" cy="443484"/>
          </a:xfrm>
          <a:prstGeom prst="roundRect">
            <a:avLst>
              <a:gd name="adj" fmla="val 12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27363" y="4451344"/>
            <a:ext cx="975664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风险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80422" y="4451344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调价改规则受影响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42190" y="4451344"/>
            <a:ext cx="212872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自主可控，模型可换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25700" y="2021052"/>
            <a:ext cx="386718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微软雅黑"/>
                <a:ea typeface="微软雅黑"/>
              </a:rPr>
              <a:t>什么时候建：看五个信号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025700" y="2464536"/>
            <a:ext cx="3867180" cy="354787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circle-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137" y="2535494"/>
            <a:ext cx="212872" cy="212872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451445" y="2464536"/>
            <a:ext cx="3334999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测算下来自建更便宜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025700" y="2881411"/>
            <a:ext cx="3867180" cy="354787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circle-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137" y="2952369"/>
            <a:ext cx="212872" cy="212872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7451445" y="2881411"/>
            <a:ext cx="3334999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平台费占收入比例越来越高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025700" y="3298286"/>
            <a:ext cx="3867180" cy="354787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circle-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137" y="3369243"/>
            <a:ext cx="212872" cy="21287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7451445" y="3298286"/>
            <a:ext cx="3334999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主力场景已经稳定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025700" y="3715161"/>
            <a:ext cx="3867180" cy="354787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circle-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137" y="3786118"/>
            <a:ext cx="212872" cy="212872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7451445" y="3715161"/>
            <a:ext cx="3334999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因平台限制丢单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025700" y="4132036"/>
            <a:ext cx="3867180" cy="354787"/>
          </a:xfrm>
          <a:prstGeom prst="roundRect">
            <a:avLst>
              <a:gd name="adj" fmla="val 20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circle-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137" y="4202993"/>
            <a:ext cx="212872" cy="212872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451445" y="4132036"/>
            <a:ext cx="3334999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客户要求数据不出去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025700" y="4575520"/>
            <a:ext cx="3867180" cy="372526"/>
          </a:xfrm>
          <a:prstGeom prst="roundRect">
            <a:avLst>
              <a:gd name="adj" fmla="val 19047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满足任意两条，就启动自建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94318" y="5125440"/>
            <a:ext cx="9898562" cy="753922"/>
          </a:xfrm>
          <a:prstGeom prst="roundRect">
            <a:avLst>
              <a:gd name="adj" fmla="val 11764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216060" y="5125440"/>
            <a:ext cx="1153058" cy="7539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7CF"/>
                </a:solidFill>
                <a:latin typeface="微软雅黑"/>
                <a:ea typeface="微软雅黑"/>
              </a:rPr>
              <a:t>建什么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280422" y="5214137"/>
            <a:ext cx="2028939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大模型</a:t>
            </a:r>
          </a:p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买，可换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415797" y="5214137"/>
            <a:ext cx="2028939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语音 · 图像 · 手语</a:t>
            </a:r>
          </a:p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采购或合作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551173" y="5214137"/>
            <a:ext cx="2028939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管理台 · 知识 · 业务工具</a:t>
            </a:r>
          </a:p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自建（数字大脑做管理台）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686548" y="5214137"/>
            <a:ext cx="2028939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切换</a:t>
            </a:r>
          </a:p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双轨运行，可退回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打通以后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数据在公司里转起来，越用越准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数据平台让数据可信，智能体让数据办事；用完的结果再回来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15  ·  AI＋数据平台 · 03  AI＋数据+平台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2235159" cy="1951329"/>
          </a:xfrm>
          <a:prstGeom prst="roundRect">
            <a:avLst>
              <a:gd name="adj" fmla="val 636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068" y="2181301"/>
            <a:ext cx="567659" cy="56765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factory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982" y="2323216"/>
            <a:ext cx="283829" cy="28382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83015" y="2846527"/>
            <a:ext cx="205776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① 业务产生数据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7363" y="3245661"/>
            <a:ext cx="1969068" cy="66522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票务 · 业态 · 运营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财务 · 终端 · 会员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3282696" y="2908614"/>
            <a:ext cx="212872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548785" y="2048256"/>
            <a:ext cx="2235159" cy="1951329"/>
          </a:xfrm>
          <a:prstGeom prst="roundRect">
            <a:avLst>
              <a:gd name="adj" fmla="val 636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382535" y="2181301"/>
            <a:ext cx="567659" cy="567659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6711" y="2305476"/>
            <a:ext cx="319308" cy="31930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3637482" y="2846527"/>
            <a:ext cx="205776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② 数据平台整理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81830" y="3245661"/>
            <a:ext cx="1969068" cy="66522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统一接入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可信的指标、标签、知识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5837162" y="2908614"/>
            <a:ext cx="212872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103254" y="2048256"/>
            <a:ext cx="2235159" cy="1951329"/>
          </a:xfrm>
          <a:prstGeom prst="roundRect">
            <a:avLst>
              <a:gd name="adj" fmla="val 636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937003" y="2181301"/>
            <a:ext cx="567659" cy="567659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bo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1179" y="2305476"/>
            <a:ext cx="319308" cy="31930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191950" y="2846527"/>
            <a:ext cx="205776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③ 智能体和报表用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36299" y="3245661"/>
            <a:ext cx="1969068" cy="66522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智能体帮游客、景区办事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报表和接口直接看数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8391631" y="2908614"/>
            <a:ext cx="212872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657722" y="2048256"/>
            <a:ext cx="2235159" cy="1951329"/>
          </a:xfrm>
          <a:prstGeom prst="roundRect">
            <a:avLst>
              <a:gd name="adj" fmla="val 636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491472" y="2181301"/>
            <a:ext cx="567659" cy="56765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refresh-cw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3386" y="2323216"/>
            <a:ext cx="283829" cy="28382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746418" y="2846527"/>
            <a:ext cx="205776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④ 结果回来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90767" y="3245661"/>
            <a:ext cx="1969068" cy="66522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问答、评价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处置结果、使用行为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94318" y="4221327"/>
            <a:ext cx="9898562" cy="753922"/>
          </a:xfrm>
          <a:prstGeom prst="roundRect">
            <a:avLst>
              <a:gd name="adj" fmla="val 14117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trending-up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6060" y="4425330"/>
            <a:ext cx="337047" cy="337047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703892" y="4221327"/>
            <a:ext cx="2306116" cy="7539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B26A2C"/>
                </a:solidFill>
                <a:latin typeface="微软雅黑"/>
                <a:ea typeface="微软雅黑"/>
              </a:rPr>
              <a:t>⑤ 反哺业务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743919" y="4443069"/>
            <a:ext cx="727313" cy="3193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B26A2C"/>
                </a:solidFill>
                <a:latin typeface="微软雅黑"/>
                <a:ea typeface="微软雅黑"/>
              </a:rPr>
              <a:t>调定价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604278" y="4443069"/>
            <a:ext cx="727313" cy="3193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B26A2C"/>
                </a:solidFill>
                <a:latin typeface="微软雅黑"/>
                <a:ea typeface="微软雅黑"/>
              </a:rPr>
              <a:t>做营销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464637" y="4443069"/>
            <a:ext cx="1318625" cy="3193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B26A2C"/>
                </a:solidFill>
                <a:latin typeface="微软雅黑"/>
                <a:ea typeface="微软雅黑"/>
              </a:rPr>
              <a:t>优化预约和调度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05004" y="4221327"/>
            <a:ext cx="3799179" cy="7539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→ 业务又产生新数据，进入下一圈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94318" y="5196992"/>
            <a:ext cx="9898562" cy="532180"/>
          </a:xfrm>
          <a:prstGeom prst="roundRect">
            <a:avLst>
              <a:gd name="adj" fmla="val 16666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zap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9451" y="5330037"/>
            <a:ext cx="266090" cy="26609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570847" y="5196992"/>
            <a:ext cx="9144640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  <a:latin typeface="微软雅黑"/>
                <a:ea typeface="微软雅黑"/>
              </a:rPr>
              <a:t>越转越好　</a:t>
            </a: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每转一圈：数据更全、指标更准、智能体更聪明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举个例子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一张门票的数据旅程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游客买一张票，数据在公司里转一圈，景区和游客都受益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16  ·  AI＋数据平台 · 03  AI＋数据+平台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94443"/>
            <a:ext cx="2069591" cy="1419148"/>
          </a:xfrm>
          <a:prstGeom prst="roundRect">
            <a:avLst>
              <a:gd name="adj" fmla="val 87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17183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71711" y="217183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pic>
        <p:nvPicPr>
          <p:cNvPr id="47" name="Picture 46" descr="ticket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729" y="2171837"/>
            <a:ext cx="337047" cy="33704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71711" y="2659669"/>
            <a:ext cx="1803501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买票入园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1711" y="2987847"/>
            <a:ext cx="1803501" cy="3104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售票 · 闸机核销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85652" y="1994443"/>
            <a:ext cx="2069591" cy="1419148"/>
          </a:xfrm>
          <a:prstGeom prst="roundRect">
            <a:avLst>
              <a:gd name="adj" fmla="val 87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463046" y="217183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463046" y="217183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pic>
        <p:nvPicPr>
          <p:cNvPr id="53" name="Picture 52" descr="database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063" y="2171837"/>
            <a:ext cx="337047" cy="33704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463046" y="2659669"/>
            <a:ext cx="1803501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数据进平台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63046" y="2987847"/>
            <a:ext cx="1803501" cy="3104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订单 · 核销 · 客流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576986" y="1994443"/>
            <a:ext cx="2069591" cy="1419148"/>
          </a:xfrm>
          <a:prstGeom prst="roundRect">
            <a:avLst>
              <a:gd name="adj" fmla="val 87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754380" y="217183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54380" y="217183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pic>
        <p:nvPicPr>
          <p:cNvPr id="59" name="Picture 58" descr="chart-line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397" y="2171837"/>
            <a:ext cx="337047" cy="337047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754380" y="2659669"/>
            <a:ext cx="1803501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算出指标和标签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54380" y="2987847"/>
            <a:ext cx="1803501" cy="3104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实时客流 · 游客偏好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576986" y="3724031"/>
            <a:ext cx="2069591" cy="1419148"/>
          </a:xfrm>
          <a:prstGeom prst="roundRect">
            <a:avLst>
              <a:gd name="adj" fmla="val 87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754380" y="3901424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754380" y="3901424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pic>
        <p:nvPicPr>
          <p:cNvPr id="65" name="Picture 64" descr="bot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397" y="3901424"/>
            <a:ext cx="337047" cy="33704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754380" y="4389257"/>
            <a:ext cx="1803501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智能体办事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54380" y="4717435"/>
            <a:ext cx="1803501" cy="3104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客流预警 · 二消推荐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285652" y="3724031"/>
            <a:ext cx="2069591" cy="1419148"/>
          </a:xfrm>
          <a:prstGeom prst="roundRect">
            <a:avLst>
              <a:gd name="adj" fmla="val 87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63046" y="3901424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463046" y="3901424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pic>
        <p:nvPicPr>
          <p:cNvPr id="71" name="Picture 70" descr="refresh-cw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3063" y="3901424"/>
            <a:ext cx="337047" cy="33704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463046" y="4389257"/>
            <a:ext cx="1803501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结果回流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63046" y="4717435"/>
            <a:ext cx="1803501" cy="3104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处置结果 · 推荐转化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94318" y="3724031"/>
            <a:ext cx="2069591" cy="1419148"/>
          </a:xfrm>
          <a:prstGeom prst="roundRect">
            <a:avLst>
              <a:gd name="adj" fmla="val 875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71711" y="3901424"/>
            <a:ext cx="372526" cy="372526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171711" y="3901424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pic>
        <p:nvPicPr>
          <p:cNvPr id="77" name="Picture 76" descr="trending-up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1729" y="3901424"/>
            <a:ext cx="337047" cy="337047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171711" y="4389257"/>
            <a:ext cx="1803501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反哺业务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71711" y="4717435"/>
            <a:ext cx="1803501" cy="3104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调预约 · 调营销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3081649" y="2615321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Left Arrow 80"/>
          <p:cNvSpPr/>
          <p:nvPr/>
        </p:nvSpPr>
        <p:spPr>
          <a:xfrm>
            <a:off x="3081649" y="4344908"/>
            <a:ext cx="177393" cy="177393"/>
          </a:xfrm>
          <a:prstGeom prst="lef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ight Arrow 81"/>
          <p:cNvSpPr/>
          <p:nvPr/>
        </p:nvSpPr>
        <p:spPr>
          <a:xfrm>
            <a:off x="5372983" y="2615321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Left Arrow 82"/>
          <p:cNvSpPr/>
          <p:nvPr/>
        </p:nvSpPr>
        <p:spPr>
          <a:xfrm>
            <a:off x="5372983" y="4344908"/>
            <a:ext cx="177393" cy="177393"/>
          </a:xfrm>
          <a:prstGeom prst="lef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own Arrow 83"/>
          <p:cNvSpPr/>
          <p:nvPr/>
        </p:nvSpPr>
        <p:spPr>
          <a:xfrm>
            <a:off x="6523085" y="3440201"/>
            <a:ext cx="177393" cy="266090"/>
          </a:xfrm>
          <a:prstGeom prst="down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994318" y="5391531"/>
            <a:ext cx="6652259" cy="532180"/>
          </a:xfrm>
          <a:prstGeom prst="roundRect">
            <a:avLst>
              <a:gd name="adj" fmla="val 16666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0" bIns="0"/>
          <a:lstStyle/>
          <a:p>
            <a:pPr algn="l"/>
            <a:r>
              <a:rPr sz="1200" b="1">
                <a:solidFill>
                  <a:srgbClr val="FFE7CF"/>
                </a:solidFill>
                <a:latin typeface="微软雅黑"/>
                <a:ea typeface="微软雅黑"/>
              </a:rPr>
              <a:t>结果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游客体验更好 · 景区多卖钱、少出事 · 数据和智能体更准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045714" y="1932355"/>
            <a:ext cx="2847167" cy="4035704"/>
          </a:xfrm>
          <a:prstGeom prst="roundRect">
            <a:avLst>
              <a:gd name="adj" fmla="val 9968"/>
            </a:avLst>
          </a:prstGeom>
          <a:solidFill>
            <a:srgbClr val="1F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8134410" y="2021052"/>
            <a:ext cx="2669773" cy="3858309"/>
          </a:xfrm>
          <a:prstGeom prst="roundRect">
            <a:avLst>
              <a:gd name="adj" fmla="val 8305"/>
            </a:avLst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9070162" y="2047660"/>
            <a:ext cx="798271" cy="106436"/>
          </a:xfrm>
          <a:prstGeom prst="roundRect">
            <a:avLst>
              <a:gd name="adj" fmla="val 50000"/>
            </a:avLst>
          </a:prstGeom>
          <a:solidFill>
            <a:srgbClr val="1F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8134410" y="2242794"/>
            <a:ext cx="2669773" cy="549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267456" y="2313752"/>
            <a:ext cx="390265" cy="39026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bo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5021" y="2411318"/>
            <a:ext cx="195132" cy="195132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8755287" y="2287142"/>
            <a:ext cx="1960199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票付通 APP · 示意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55287" y="2535494"/>
            <a:ext cx="1960199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2CAB93"/>
                </a:solidFill>
                <a:latin typeface="微软雅黑"/>
                <a:ea typeface="微软雅黑"/>
              </a:rPr>
              <a:t>● 消息通知预警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267456" y="2952369"/>
            <a:ext cx="2139809" cy="674095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4175" tIns="53218" bIns="53218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【客流预警】东门入园排队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变长，预计 20 分钟后接近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预约上限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267456" y="3750640"/>
            <a:ext cx="1693554" cy="49670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4175" tIns="53218" bIns="53218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建议：增开闸机，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引导游客从西门入园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126336" y="4371517"/>
            <a:ext cx="1544802" cy="319308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4175" tIns="53218" bIns="53218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收到，已派人处理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267456" y="4815001"/>
            <a:ext cx="1842305" cy="49670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4175" tIns="53218" bIns="53218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已记录处置结果，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明天的预约名额会参考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267456" y="5391531"/>
            <a:ext cx="2403683" cy="33704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444848" y="5391531"/>
            <a:ext cx="1782805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9DB5AF"/>
                </a:solidFill>
                <a:latin typeface="微软雅黑"/>
                <a:ea typeface="微软雅黑"/>
              </a:rPr>
              <a:t>有问题尽管问我…</a:t>
            </a:r>
          </a:p>
        </p:txBody>
      </p:sp>
      <p:sp>
        <p:nvSpPr>
          <p:cNvPr id="100" name="Oval 99"/>
          <p:cNvSpPr/>
          <p:nvPr/>
        </p:nvSpPr>
        <p:spPr>
          <a:xfrm>
            <a:off x="10360700" y="5418140"/>
            <a:ext cx="283829" cy="28382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Picture 100" descr="send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13918" y="5471358"/>
            <a:ext cx="177393" cy="17739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04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接下来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先做三件事，需要您支持四件事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先在一条主线、几家标杆景区上做出结果，再铺开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17  ·  AI＋数据平台 · 接下来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7661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6233" y="1976704"/>
            <a:ext cx="3547872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接下来先做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4318" y="2402448"/>
            <a:ext cx="5321808" cy="10643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1711" y="2579842"/>
            <a:ext cx="461223" cy="461223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017" y="2695148"/>
            <a:ext cx="230611" cy="230611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792589" y="2526624"/>
            <a:ext cx="443484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数据：主线试点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92589" y="2863672"/>
            <a:ext cx="4434840" cy="549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· “订单 → 核销 → 结算”定口径、上卡点、逐层核对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· 订单、核销实时链路建起来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4318" y="3582115"/>
            <a:ext cx="5321808" cy="10643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71711" y="3759509"/>
            <a:ext cx="461223" cy="461223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bo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017" y="3874815"/>
            <a:ext cx="230611" cy="23061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792589" y="3706290"/>
            <a:ext cx="443484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智能体：标杆验证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92589" y="4043338"/>
            <a:ext cx="4434840" cy="549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· 挑老客户做标杆，跑一个完整旺季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· 同时试“随票务打包”和“年费订阅”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4318" y="4761783"/>
            <a:ext cx="5321808" cy="10643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71711" y="4939177"/>
            <a:ext cx="461223" cy="461223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lin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017" y="5054483"/>
            <a:ext cx="230611" cy="230611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792589" y="4885958"/>
            <a:ext cx="443484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打通：统一取数、数据回流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92589" y="5223006"/>
            <a:ext cx="4434840" cy="549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· 智能体统一从数据平台取数，交互数据回流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· 知识、接口、模板、成本数据留在手里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82216" y="1976704"/>
            <a:ext cx="4310664" cy="3947007"/>
          </a:xfrm>
          <a:prstGeom prst="roundRect">
            <a:avLst>
              <a:gd name="adj" fmla="val 3146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flag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3958" y="2118619"/>
            <a:ext cx="319308" cy="31930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203094" y="2083140"/>
            <a:ext cx="3601090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B26A2C"/>
                </a:solidFill>
                <a:latin typeface="微软雅黑"/>
                <a:ea typeface="微软雅黑"/>
              </a:rPr>
              <a:t>需要的支持</a:t>
            </a:r>
          </a:p>
        </p:txBody>
      </p:sp>
      <p:sp>
        <p:nvSpPr>
          <p:cNvPr id="64" name="Oval 63"/>
          <p:cNvSpPr/>
          <p:nvPr/>
        </p:nvSpPr>
        <p:spPr>
          <a:xfrm>
            <a:off x="6803958" y="2695148"/>
            <a:ext cx="443484" cy="44348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03958" y="2695148"/>
            <a:ext cx="443484" cy="44348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24836" y="2624190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口径谁拍板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24836" y="2943499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成立数据治理小组，口径争议有人定</a:t>
            </a:r>
          </a:p>
        </p:txBody>
      </p:sp>
      <p:sp>
        <p:nvSpPr>
          <p:cNvPr id="68" name="Oval 67"/>
          <p:cNvSpPr/>
          <p:nvPr/>
        </p:nvSpPr>
        <p:spPr>
          <a:xfrm>
            <a:off x="6803958" y="3511158"/>
            <a:ext cx="443484" cy="44348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803958" y="3511158"/>
            <a:ext cx="443484" cy="44348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24836" y="3440201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规范强制执行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24836" y="3759509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不合规的数据不上线，需公司层面授权</a:t>
            </a:r>
          </a:p>
        </p:txBody>
      </p:sp>
      <p:sp>
        <p:nvSpPr>
          <p:cNvPr id="72" name="Oval 71"/>
          <p:cNvSpPr/>
          <p:nvPr/>
        </p:nvSpPr>
        <p:spPr>
          <a:xfrm>
            <a:off x="6803958" y="4327169"/>
            <a:ext cx="443484" cy="44348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803958" y="4327169"/>
            <a:ext cx="443484" cy="44348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24836" y="4256211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标杆与销售配合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4836" y="4575520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标杆景区配合试点；智能体纳入销售考核</a:t>
            </a:r>
          </a:p>
        </p:txBody>
      </p:sp>
      <p:sp>
        <p:nvSpPr>
          <p:cNvPr id="76" name="Oval 75"/>
          <p:cNvSpPr/>
          <p:nvPr/>
        </p:nvSpPr>
        <p:spPr>
          <a:xfrm>
            <a:off x="6803958" y="5143179"/>
            <a:ext cx="443484" cy="44348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803958" y="5143179"/>
            <a:ext cx="443484" cy="44348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24836" y="5072222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自建时点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24836" y="5391530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定期用成本数据评估，由您决策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4110227" y="4385650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500" dirty="0" b="1">
                <a:solidFill>
                  <a:srgbClr val="21816F"/>
                </a:solidFill>
                <a:latin typeface="微软雅黑"/>
                <a:ea typeface="微软雅黑"/>
                <a:cs typeface="+mn-ea"/>
                <a:sym typeface="+mn-lt"/>
              </a:rPr>
              <a:t>请您指示</a:t>
            </a:r>
            <a:endParaRPr lang="zh-CN" altLang="en-US" sz="1100" dirty="0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1823" y="1850427"/>
            <a:ext cx="42883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dirty="0" b="1">
                <a:solidFill>
                  <a:srgbClr val="2CAB93"/>
                </a:solidFill>
                <a:latin typeface="微软雅黑" pitchFamily="2" charset="-122"/>
                <a:ea typeface="微软雅黑" pitchFamily="2" charset="-122"/>
              </a:rPr>
              <a:t>谢谢</a:t>
            </a:r>
            <a:endParaRPr lang="zh-CN" altLang="en-US" sz="8000" dirty="0">
              <a:latin typeface="Alimama ShuHeiTi Bold" pitchFamily="2" charset="-122"/>
              <a:ea typeface="Alimama ShuHeiTi Bold" pitchFamily="2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939028" y="5924580"/>
            <a:ext cx="4313944" cy="315056"/>
            <a:chOff x="1253246" y="4118390"/>
            <a:chExt cx="4313944" cy="315056"/>
          </a:xfrm>
        </p:grpSpPr>
        <p:sp>
          <p:nvSpPr>
            <p:cNvPr id="44" name="文本框 43"/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/>
                  <a:ea typeface="微软雅黑"/>
                  <a:cs typeface="+mn-ea"/>
                  <a:sym typeface="+mn-lt"/>
                </a:rPr>
                <a:t>汇报：尹开英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iconfont-10019-4889788"/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/>
                  <a:ea typeface="微软雅黑"/>
                  <a:cs typeface="+mn-ea"/>
                  <a:sym typeface="+mn-lt"/>
                </a:rPr>
                <a:t>时间：2026.10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iconfont-11899-5651509"/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759200" y="3672508"/>
            <a:ext cx="4673600" cy="471552"/>
            <a:chOff x="3759200" y="3558828"/>
            <a:chExt cx="4673600" cy="471552"/>
          </a:xfrm>
        </p:grpSpPr>
        <p:sp>
          <p:nvSpPr>
            <p:cNvPr id="28" name="矩形: 圆角 27"/>
            <p:cNvSpPr/>
            <p:nvPr/>
          </p:nvSpPr>
          <p:spPr>
            <a:xfrm>
              <a:off x="3759200" y="3558828"/>
              <a:ext cx="4673600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4229944" y="3644286"/>
              <a:ext cx="3732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/>
                  <a:ea typeface="微软雅黑"/>
                </a:rPr>
                <a:t>数据可信  ·  智能体落地  ·  数据越用越准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十字形 18" descr="D:\51PPT模板网\51pptmoban.com\图片.jpg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4c1c560-07e4-4903-b0b7-fc1cb353e47f">
      <a:majorFont>
        <a:latin typeface="HarmonyOS Sans SC Light"/>
        <a:ea typeface="阿里巴巴普惠体 2 55 Regular"/>
        <a:cs typeface=""/>
      </a:majorFont>
      <a:minorFont>
        <a:latin typeface="HarmonyOS Sans SC Light"/>
        <a:ea typeface="阿里巴巴普惠体 2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4538</Words>
  <Application>WPS 演示</Application>
  <PresentationFormat>宽屏</PresentationFormat>
  <Paragraphs>454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3" baseType="lpstr">
      <vt:lpstr>Arial</vt:lpstr>
      <vt:lpstr>宋体</vt:lpstr>
      <vt:lpstr>Wingdings</vt:lpstr>
      <vt:lpstr>HarmonyOS Sans SC Light</vt:lpstr>
      <vt:lpstr>阿里巴巴普惠体 2.0 55 Regular</vt:lpstr>
      <vt:lpstr>Alimama ShuHeiTi Bold</vt:lpstr>
      <vt:lpstr>HarmonyOS Sans SC Black</vt:lpstr>
      <vt:lpstr>印品黑体</vt:lpstr>
      <vt:lpstr>KSOF28C28C15</vt:lpstr>
      <vt:lpstr>FFont-Family</vt:lpstr>
      <vt:lpstr>阿里巴巴普惠体 2 55 Regular</vt:lpstr>
      <vt:lpstr>KSOF28C30074</vt:lpstr>
      <vt:lpstr>微软雅黑</vt:lpstr>
      <vt:lpstr>Arial Unicode MS</vt:lpstr>
      <vt:lpstr>等线</vt:lpstr>
      <vt:lpstr>Calibri</vt:lpstr>
      <vt:lpstr>Calibri</vt:lpstr>
      <vt:lpstr>KSOFD38F9ACC</vt:lpstr>
      <vt:lpstr>黑体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www.51pptmoban.com</Company>
  <LinksUpToDate>false</LinksUpToDate>
  <SharedDoc>false</SharedDoc>
  <HyperlinksChanged>false</HyperlinksChanged>
  <AppVersion>14.0000</AppVersion>
  <Manager>51PPT模板网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清新圆角医疗护理工作汇报PPT模板</dc:title>
  <dc:creator>©51PPT模板网（www.51pptmoban.com）</dc:creator>
  <cp:keywords>版权归属：51PPT模板网；</cp:keywords>
  <dc:description>51PPT模板网，幻灯片演示模板及素材免费下载！
51PPT模板网 唯一访问网址：www.51pptmoban.com。</dc:description>
  <cp:lastModifiedBy>寶安居士</cp:lastModifiedBy>
  <cp:revision>1007</cp:revision>
  <dcterms:created xsi:type="dcterms:W3CDTF">2026-05-24T00:54:00Z</dcterms:created>
  <dcterms:modified xsi:type="dcterms:W3CDTF">2026-10-18T01:52:06Z</dcterms:modified>
  <cp:version>51pptmoban.com（V51PPT-26081201版）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F3C048C693284A3891131F5671A846A5_12</vt:lpwstr>
  </property>
  <property fmtid="{D5CDD505-2E9C-101B-9397-08002B2CF9AE}" pid="3" name="KSOProductBuildVer">
    <vt:lpwstr>2052-12.1.0.29161</vt:lpwstr>
  </property>
</Properties>
</file>