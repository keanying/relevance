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>
              <a:solidFill>
                <a:srgbClr val="E39A57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>
              <a:solidFill>
                <a:srgbClr val="21816F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>
            <a:solidFill>
              <a:srgbClr val="CDE9E3"/>
            </a:solidFill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>
              <a:solidFill>
                <a:srgbClr val="E7F2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E7772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E7772"/>
          </a:solidFill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第一部分：数据平台，把数据理清、算准、管住。主要讲：现状与问题、手里的数据、怎么建、数据治理八步、治理保障、六个统一、建成后的变化。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讲的是怎么治，治理的结果最终落在六个统一上。统一规范：以前规范只写在文档里，以后不合规的表发不出去。统一底座：以前订单核销第二天才能看到，以后分钟级看到。统一标签，也就是统一指标：以前报表、接口、AI 各说各的，以后三处数字一致。统一权限：以前权限各管各的，以后一套规则管住所有出口。标签复用：以前各部门各做一套，以后一个游客一个身份，一处加工到处用。自助分析：以前要找数据团队要数，以后业务自己查、自己看。推进方式是：先在订单、核销、结算主线试点，按统接入、统建模、统开发、统服务的顺序推；老模型先双跑对比再切换，可以回退。后面每个统一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第一个统一，统一规范，对应治理的第一步数据标准。先说定什么规矩：表名像身份证号，比如 dwd_ord_order_item_di，拆开就是“洗干净”这一层、订单业务、订单明细、每天增量，一看就懂；字段统一叫法，景区全公司都叫 scenic_id，金额都以 amt 结尾；票种、渠道类型、订单状态这些码值建公共码表，不在代码里写死；建表有 8 项必填，比如负责人、安全等级。再说怎么让规矩落地，三招：新建的卡住，发布前脚本自动检查，不合规直接打回；老的分批改，核心表优先，改名保留兼容视图、下游不受影响，缺描述的用 AI 先补；持续有人管，资产健康分每月公示。衡量标准是新表规范符合率百分之百。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报表、动态数据开放 API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第二部分：智能体平台，围绕三个目标，一条线建下去。主要讲：现状与底气、能做哪些、建设思路、跑通商业模式、快速占领市场、建自己的平台、风险与底线。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验证？四件事。挑标杆：从已经用我们票务的景区里挑，覆盖主要业态，有配合意愿、客流有代表性。快速搭：在成熟平台上把现有智能体搭起来，再加价值最高的新场景，比如智能购票。跑一个旺季：节假日客流最能检验效果和成本。数据回流：对话、转人工、评价、订单从第一天进数据平台，结论靠数据说话。怎样算跑通？五条：用起来，标杆景区持续在用、问题解决率达标；有价值，景区认可的指标有提升；愿付费，有景区按拟定价格付费或明确续费；能赚钱，单景区收入覆盖平台费、交付和运营；可复制，不靠核心研发、按标准流程就能上线。五条都满足，就把模板、定价、交付流程定型，转入规模复制；没过关就调整场景组合或定价再验一轮，还不行的场景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最终要自建？借平台在起步时最划算，但景区越多，平台费越高、交付受平台限制、数据和知识留在别人那里、平台调价改规则直接影响我们。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采购或合作。最底下数据底座复用第一部分。前期留在手里的知识、接口、模板、交互数据，直接搬进能力层和管理台。四条产品线的智能体，最后都在这个平台上统一搭建、运营、计量和评估。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风险方面主要有四个，都有应对。投入超预期：小团队先做核心模块，跟着迁移进度分批投入。外部平台调价或停服：资产在自己手里，模型多家可替换，随时能切。团队能力不足：前期就开始培养自己的 AI 应用团队，自建时延续。需求变化快：模板化、配置化，景区差异放在配置里，不改代码。另外，智能体从第一天起就要守住四条底线：只用授权数据，数据按景区隔离；退款、调度这些关键动作要人工确认；手机号、证件号不进对话和知识库，展示时打码；价格和退改规则以系统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3.png"/><Relationship Id="rId4" Type="http://schemas.openxmlformats.org/officeDocument/2006/relationships/image" Target="../media/image20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6.png"/><Relationship Id="rId4" Type="http://schemas.openxmlformats.org/officeDocument/2006/relationships/image" Target="../media/image3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3.png"/><Relationship Id="rId6" Type="http://schemas.openxmlformats.org/officeDocument/2006/relationships/image" Target="../media/image42.png"/><Relationship Id="rId7" Type="http://schemas.openxmlformats.org/officeDocument/2006/relationships/image" Target="../media/image36.png"/><Relationship Id="rId8" Type="http://schemas.openxmlformats.org/officeDocument/2006/relationships/image" Target="../media/image6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59.png"/><Relationship Id="rId7" Type="http://schemas.openxmlformats.org/officeDocument/2006/relationships/image" Target="../media/image64.png"/><Relationship Id="rId8" Type="http://schemas.openxmlformats.org/officeDocument/2006/relationships/image" Target="../media/image5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2.png"/><Relationship Id="rId4" Type="http://schemas.openxmlformats.org/officeDocument/2006/relationships/image" Target="../media/image38.png"/><Relationship Id="rId5" Type="http://schemas.openxmlformats.org/officeDocument/2006/relationships/image" Target="../media/image73.png"/><Relationship Id="rId6" Type="http://schemas.openxmlformats.org/officeDocument/2006/relationships/image" Target="../media/image39.png"/><Relationship Id="rId7" Type="http://schemas.openxmlformats.org/officeDocument/2006/relationships/image" Target="../media/image22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3.png"/><Relationship Id="rId11" Type="http://schemas.openxmlformats.org/officeDocument/2006/relationships/image" Target="../media/image37.png"/><Relationship Id="rId12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0.png"/><Relationship Id="rId4" Type="http://schemas.openxmlformats.org/officeDocument/2006/relationships/image" Target="../media/image76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7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8.png"/><Relationship Id="rId4" Type="http://schemas.openxmlformats.org/officeDocument/2006/relationships/image" Target="../media/image67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83.png"/><Relationship Id="rId10" Type="http://schemas.openxmlformats.org/officeDocument/2006/relationships/image" Target="../media/image84.png"/><Relationship Id="rId11" Type="http://schemas.openxmlformats.org/officeDocument/2006/relationships/image" Target="../media/image85.png"/><Relationship Id="rId12" Type="http://schemas.openxmlformats.org/officeDocument/2006/relationships/image" Target="../media/image3.png"/><Relationship Id="rId13" Type="http://schemas.openxmlformats.org/officeDocument/2006/relationships/image" Target="../media/image65.png"/><Relationship Id="rId14" Type="http://schemas.openxmlformats.org/officeDocument/2006/relationships/image" Target="../media/image86.png"/><Relationship Id="rId15" Type="http://schemas.openxmlformats.org/officeDocument/2006/relationships/image" Target="../media/image87.png"/><Relationship Id="rId16" Type="http://schemas.openxmlformats.org/officeDocument/2006/relationships/image" Target="../media/image88.png"/><Relationship Id="rId17" Type="http://schemas.openxmlformats.org/officeDocument/2006/relationships/image" Target="../media/image66.png"/><Relationship Id="rId18" Type="http://schemas.openxmlformats.org/officeDocument/2006/relationships/image" Target="../media/image68.png"/><Relationship Id="rId19" Type="http://schemas.openxmlformats.org/officeDocument/2006/relationships/image" Target="../media/image62.png"/><Relationship Id="rId20" Type="http://schemas.openxmlformats.org/officeDocument/2006/relationships/image" Target="../media/image21.png"/><Relationship Id="rId21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2.png"/><Relationship Id="rId4" Type="http://schemas.openxmlformats.org/officeDocument/2006/relationships/image" Target="../media/image67.png"/><Relationship Id="rId5" Type="http://schemas.openxmlformats.org/officeDocument/2006/relationships/image" Target="../media/image79.png"/><Relationship Id="rId6" Type="http://schemas.openxmlformats.org/officeDocument/2006/relationships/image" Target="../media/image52.png"/><Relationship Id="rId7" Type="http://schemas.openxmlformats.org/officeDocument/2006/relationships/image" Target="../media/image93.png"/><Relationship Id="rId8" Type="http://schemas.openxmlformats.org/officeDocument/2006/relationships/image" Target="../media/image85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.png"/><Relationship Id="rId4" Type="http://schemas.openxmlformats.org/officeDocument/2006/relationships/image" Target="../media/image78.png"/><Relationship Id="rId5" Type="http://schemas.openxmlformats.org/officeDocument/2006/relationships/image" Target="../media/image99.png"/><Relationship Id="rId6" Type="http://schemas.openxmlformats.org/officeDocument/2006/relationships/image" Target="../media/image73.png"/><Relationship Id="rId7" Type="http://schemas.openxmlformats.org/officeDocument/2006/relationships/image" Target="../media/image10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0.png"/><Relationship Id="rId4" Type="http://schemas.openxmlformats.org/officeDocument/2006/relationships/image" Target="../media/image38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2.png"/><Relationship Id="rId4" Type="http://schemas.openxmlformats.org/officeDocument/2006/relationships/image" Target="../media/image97.png"/><Relationship Id="rId5" Type="http://schemas.openxmlformats.org/officeDocument/2006/relationships/image" Target="../media/image103.png"/><Relationship Id="rId6" Type="http://schemas.openxmlformats.org/officeDocument/2006/relationships/image" Target="../media/image6.png"/><Relationship Id="rId7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04.png"/><Relationship Id="rId4" Type="http://schemas.openxmlformats.org/officeDocument/2006/relationships/image" Target="../media/image12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79.png"/><Relationship Id="rId8" Type="http://schemas.openxmlformats.org/officeDocument/2006/relationships/image" Target="../media/image71.png"/><Relationship Id="rId9" Type="http://schemas.openxmlformats.org/officeDocument/2006/relationships/image" Target="../media/image29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9.png"/><Relationship Id="rId4" Type="http://schemas.openxmlformats.org/officeDocument/2006/relationships/image" Target="../media/image78.png"/><Relationship Id="rId5" Type="http://schemas.openxmlformats.org/officeDocument/2006/relationships/image" Target="../media/image56.png"/><Relationship Id="rId6" Type="http://schemas.openxmlformats.org/officeDocument/2006/relationships/image" Target="../media/image110.png"/><Relationship Id="rId7" Type="http://schemas.openxmlformats.org/officeDocument/2006/relationships/image" Target="../media/image46.png"/><Relationship Id="rId8" Type="http://schemas.openxmlformats.org/officeDocument/2006/relationships/image" Target="../media/image9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74.png"/><Relationship Id="rId6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8.png"/><Relationship Id="rId4" Type="http://schemas.openxmlformats.org/officeDocument/2006/relationships/image" Target="../media/image56.png"/><Relationship Id="rId5" Type="http://schemas.openxmlformats.org/officeDocument/2006/relationships/image" Target="../media/image7.png"/><Relationship Id="rId6" Type="http://schemas.openxmlformats.org/officeDocument/2006/relationships/image" Target="../media/image13.png"/><Relationship Id="rId7" Type="http://schemas.openxmlformats.org/officeDocument/2006/relationships/image" Target="../media/image113.png"/><Relationship Id="rId8" Type="http://schemas.openxmlformats.org/officeDocument/2006/relationships/image" Target="../media/image99.png"/><Relationship Id="rId9" Type="http://schemas.openxmlformats.org/officeDocument/2006/relationships/image" Target="../media/image1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Relationship Id="rId7" Type="http://schemas.openxmlformats.org/officeDocument/2006/relationships/image" Target="../media/image119.png"/><Relationship Id="rId8" Type="http://schemas.openxmlformats.org/officeDocument/2006/relationships/image" Target="../media/image6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1.xml"/><Relationship Id="rId4" Type="http://schemas.openxmlformats.org/officeDocument/2006/relationships/image" Target="../media/image99.png"/><Relationship Id="rId5" Type="http://schemas.openxmlformats.org/officeDocument/2006/relationships/image" Target="../media/image120.png"/><Relationship Id="rId6" Type="http://schemas.openxmlformats.org/officeDocument/2006/relationships/image" Target="../media/image28.png"/><Relationship Id="rId7" Type="http://schemas.openxmlformats.org/officeDocument/2006/relationships/image" Target="../media/image121.png"/><Relationship Id="rId8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53.png"/><Relationship Id="rId6" Type="http://schemas.openxmlformats.org/officeDocument/2006/relationships/image" Target="../media/image98.png"/><Relationship Id="rId7" Type="http://schemas.openxmlformats.org/officeDocument/2006/relationships/image" Target="../media/image3.png"/><Relationship Id="rId8" Type="http://schemas.openxmlformats.org/officeDocument/2006/relationships/image" Target="../media/image5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4.png"/><Relationship Id="rId4" Type="http://schemas.openxmlformats.org/officeDocument/2006/relationships/image" Target="../media/image33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2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2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7.png"/><Relationship Id="rId4" Type="http://schemas.openxmlformats.org/officeDocument/2006/relationships/image" Target="../media/image118.png"/><Relationship Id="rId5" Type="http://schemas.openxmlformats.org/officeDocument/2006/relationships/image" Target="../media/image92.png"/><Relationship Id="rId6" Type="http://schemas.openxmlformats.org/officeDocument/2006/relationships/image" Target="../media/image64.png"/><Relationship Id="rId7" Type="http://schemas.openxmlformats.org/officeDocument/2006/relationships/image" Target="../media/image129.png"/><Relationship Id="rId8" Type="http://schemas.openxmlformats.org/officeDocument/2006/relationships/image" Target="../media/image120.png"/><Relationship Id="rId9" Type="http://schemas.openxmlformats.org/officeDocument/2006/relationships/image" Target="../media/image5.png"/><Relationship Id="rId10" Type="http://schemas.openxmlformats.org/officeDocument/2006/relationships/image" Target="../media/image7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10.png"/><Relationship Id="rId6" Type="http://schemas.openxmlformats.org/officeDocument/2006/relationships/image" Target="../media/image1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我们要做的三件事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数据是底子，智能体是抓手，两者打通才能越用越好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02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定规矩、统一编号和口径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每天自动体检，错数拦在报表外</a:t>
            </a: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订单、核销从第二天看到变成分钟级</a:t>
            </a: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先做“订单 → 核销 → 结算”主线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先借力卖起来，再自己建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借现成平台，几周做出来去卖</a:t>
            </a: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标杆景区验证能卖、能赚钱</a:t>
            </a: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跑通后按业态快速复制抢市场</a:t>
            </a: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规模起来后自建，省钱、交付快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AI＋数据平台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数据在公司里转起来</a:t>
            </a: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业务产生数据，平台统一整理</a:t>
            </a: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智能体和报表用同一套数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问答、评价、处置结果回流</a:t>
            </a: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rIns="177393" bIns="0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微软雅黑"/>
                <a:ea typeface="微软雅黑"/>
              </a:rPr>
              <a:t>口径由谁拍板 · 规范强制执行 · 标杆景区与销售配合 · 自建时点决策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AI＋数据+平台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流程闭环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现状与问题 · 怎么建 · 怎么治理 · 建成后的变化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能做什么 · 先验证 · 再复制 · 后自建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数据怎么流转 · 闭环 · 一个例子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先做的三件事 · 需要的支持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现状与问题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手里的数据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数据治理八步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治理保障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工具基本齐了，每天的主流程也跑通了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已经花的钱都在用，接下来是在这个基础上补齐，而不是推倒重来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数据加工“车间”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已买：开发 · 调度 · 找数 · 管资产 · 出数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对内对外的数据“窗口”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指标对内对外提供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看报表、做分析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报表展示与 AI 问数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湖仓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存数据的“仓库”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部分模型已建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已经跑通：每天凌晨自动跑一遍的“数据流水线”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供应商 / 游客 / 会员 → 订单 → 维度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原样存一份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去重、补全、纠错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字典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景区、商品等基础信息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DIM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按天、按景区算好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报表、接口直接用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0">
                <a:solidFill>
                  <a:srgbClr val="21816F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还没建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数据质量检查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指标口径管理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数据规范落地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按业务划分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数据按“数据域 → 主题”分门别类，像图书馆分区一样好找、好管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订单、票务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订单数 · 销售额 · 核销次数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商品与资源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产品、库存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售罄率 · 库存余量 · 热销产品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游客、会员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会员等级 · 复购倾向 · 出游偏好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合作方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履约率 · 结算周期 · 供应商等级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已入仓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流量营销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渠道、活动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渠道转化率 · 活动回报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日常运营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房态占用率 · 准点率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应结 / 已结金额 · 对账差异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内部管理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内部系统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任务运行 · 存储计算成本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部分入仓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待补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现场设备、外部数据、AI 产生的数据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难点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节假日高峰、状态多变、离线补传、多景区隔离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动态数据开放 API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DataWorks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离线主流程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湖仓存储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已经有的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要新建 / 升级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工具补齐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七类能力，分清哪些已有、哪些升级、哪些新建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新建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批量同步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埋点采集、设备回传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实时采集、标准连接器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存储计算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离线计算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实时计算、湖仓统一存储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开发运维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开发、运维中心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数据建模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发布卡点、成本治理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数据地图、资产治理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血缘、健康分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质量、标准、分级打码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指标标签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指标中心、标签系统、景区自定义空间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服务分析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开放 API、数据服务、小Q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嵌入式分析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AI 能力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AI 问数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模型网关、知识检索、评测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没有的模块，这样顶上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数据质量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关键任务后加检查节点，不合格就拦住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规范文档 + 发布前检查脚本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安全中心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计算引擎权限 + 打码视图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先做小范围试验，验证后再投入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已有投入全部保留；先用现有工具延伸，验证有效再追加投入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详见“统一规范”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详见“统一标签”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详见“统一权限”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“订单 → 核销 → 结算”公司最核心、问题最多，先在这条线上把八步走通，再按数据域推广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scenic_id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prd_id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channel_id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sup_id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one_id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ODS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DWS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ADS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每天体检，五项检查、强弱两档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关键数据算完立刻自动检查，不合格的数据拦在报表外面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完整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订单号、景区编号不能空；日订单量比近 7 天平均波动超 30% 报警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准确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金额不能为负；核销时间不能早于下单时间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一致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对得上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仓库里的订单金额汇总 = 业务系统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及时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不能晚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核心报表每天 7:00 前算完，晚了报警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唯一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不重复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订单号不重复；同一张票不能重复核销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强规则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核心表、对外接口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拦住下游，通知负责人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当天修好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弱规则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用在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一般表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不过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只提醒，不拦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时限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一周内修好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出了问题怎么办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拦住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修复重跑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登记问题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同类问题出现两次，就补一条规则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写进流程、有人负责、有考核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不另起流程、不搞运动；先治“订单 → 核销 → 结算”主线，做通再推广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事前 · 定规范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需求确认口径；设计做模型评审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事中 · 设卡点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发布自动检查；运行不合格就拦住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事后 · 做治理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健康分、整改、复盘补规则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数据治理小组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拍板口径争议、审批规范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数据负责人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定方案、跨部门协调、对健康分负责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每个业务线一名，确认口径、验收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治理专员 / 开发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维护标准规则；模型落地、问题修复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节奏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两周口径评审 · 每月健康分公示 · 季度复盘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≥ 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老板看板认证指标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先测基线再定目标；看实际使用和业务结果，不看上了多少看板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治理是手段，这六件事是结果；每件都能对比“以前”和“以后”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189576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189576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189576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8925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892555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8925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自助分析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00400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54004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怎么推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147376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统接入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3114172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91565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统建模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4258360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35754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统开发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5402549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579943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统服务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7349" y="5400400"/>
            <a:ext cx="402683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结算”试点；老模型双跑对比再切换，可回退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规矩定清楚，并且卡在流程里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表名、字段、码值全公司一个说法；新的卡住、老的分批改、持续有人管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5809640" cy="3326129"/>
          </a:xfrm>
          <a:prstGeom prst="roundRect">
            <a:avLst>
              <a:gd name="adj" fmla="val 37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10974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44237" y="207427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定什么规矩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60408" y="2500015"/>
            <a:ext cx="635660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dwd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015" y="2925759"/>
            <a:ext cx="990447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加工层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02505" y="2500015"/>
            <a:ext cx="635660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ord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25111" y="2925759"/>
            <a:ext cx="990447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业务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4602" y="2500015"/>
            <a:ext cx="1456598" cy="408005"/>
          </a:xfrm>
          <a:prstGeom prst="roundRect">
            <a:avLst>
              <a:gd name="adj" fmla="val 1739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order_item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7208" y="2925759"/>
            <a:ext cx="181138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内容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07636" y="2500015"/>
            <a:ext cx="518383" cy="408005"/>
          </a:xfrm>
          <a:prstGeom prst="roundRect">
            <a:avLst>
              <a:gd name="adj" fmla="val 1739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di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0243" y="2925759"/>
            <a:ext cx="873170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更新方式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1153" y="2500015"/>
            <a:ext cx="1649759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= 身份证号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89451" y="3253938"/>
            <a:ext cx="5419373" cy="372526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4756" y="3253938"/>
            <a:ext cx="53218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字段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6938" y="3253938"/>
            <a:ext cx="46565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景区 = scenic_id · 金额 = …_amt · 时间 = …_time · 是否 = is_…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89451" y="3697422"/>
            <a:ext cx="5419373" cy="372526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04756" y="3697422"/>
            <a:ext cx="53218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码值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36938" y="3697422"/>
            <a:ext cx="46565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票种、渠道类型、订单状态等建公共码表，不在代码里写死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16060" y="4158645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建表 8 项必填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216060" y="4469084"/>
            <a:ext cx="6888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中文名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67026" y="4469084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94803" y="4469084"/>
            <a:ext cx="6888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345769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安全等级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19925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生命周期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4081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分区字段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16060" y="4797262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字段注释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90216" y="4797262"/>
            <a:ext cx="120134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发生 / 上报时间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25700" y="1985573"/>
            <a:ext cx="3867180" cy="3326129"/>
          </a:xfrm>
          <a:prstGeom prst="roundRect">
            <a:avLst>
              <a:gd name="adj" fmla="val 37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832" y="2109749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575620" y="2074270"/>
            <a:ext cx="324630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怎么让规矩落地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03094" y="2544363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309530" y="2721757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309530" y="2721757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53014" y="2579842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新建 · 卡住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3014" y="2863672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发布前脚本自动检查，不合规直接打回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3094" y="3307156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09530" y="3484549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309530" y="3484549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53014" y="3342634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存量 · 分批改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53014" y="3626464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核心表优先；改名保留兼容视图；AI 补描述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03094" y="4069948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309530" y="4247342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309530" y="424734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53014" y="4105427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持续 · 有人管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53014" y="4389257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资产健康分每月公示，低分限期整改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471358"/>
            <a:ext cx="2904820" cy="443484"/>
          </a:xfrm>
          <a:prstGeom prst="roundRect">
            <a:avLst>
              <a:gd name="adj" fmla="val 16000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规范只写在文档里，没人卡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3987835" y="5604403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298274" y="5471358"/>
            <a:ext cx="2904820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以后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424836" y="5471358"/>
            <a:ext cx="3468044" cy="443484"/>
          </a:xfrm>
          <a:prstGeom prst="roundRect">
            <a:avLst>
              <a:gd name="adj" fmla="val 16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衡量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新表规范符合率 100%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一份存储，离线 + 实时，同一个逻辑只建一次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订单、核销从“第二天才看到”变成“分钟级看到”；离线和湖仓合一，不再出两套结果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19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数据进来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业务库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渠道接口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设备事件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行为日志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统一接入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接入规范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对象编号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负责人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湖仓一体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离线计算 · DataWorks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实时计算 · 订单核销先行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原料 → 成品分层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共用业务定义和质量规则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分析查询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稳定查询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负载隔离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给谁用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离线和湖仓合一：同一个逻辑只建一次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以前　</a:t>
            </a: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离线、湖仓各做一份，结果不一样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35478" bIns="35478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以后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公共层只建一次，改口径只改一处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盘点重叠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定保留版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下游改引用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双跑对比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下线重复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效果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订单、核销：第二天看到 → 分钟级看到；结构变更、补数重算、高峰压测都有预案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一个口径，报表、接口、AI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① 口径说清楚：一个指标拆成四件事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认证过的才能进老板看板、接口和 AI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② 两级体系：集团出标准，景区可以自己加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统一定义 · 版本管理 · 业务认证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全公司一个口径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景区自定义空间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 A / B / C 相互隔离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不能同名覆盖企业标准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← 好用的沉淀为标准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③ 同一个出口，三处数字一致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开放 API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 100%；核销量各出口 0 差异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数据分级，谁能看什么一套规则管到底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越敏感管得越严；谁的数据只服务谁；所有出口用同一套规则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01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先分级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加密打码，明文不进大模型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单景区经营、价格、结算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日志、设备状态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已发布的报告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再定谁能看什么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底线：谁的数据只服务谁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景区数据只给该景区 · 供应商数据只给该供应商 · 对外只给匿名汇总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权限闭环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最小授权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全程留痕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到期回收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数据仓库 · 数据地图 · 开放 API · 小Q · 标签平台 · 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即席自助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业务自己查、自己看，少找人要数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从统一的模型、指标、标签出发；数据团队从临时取数转向建模型、做分析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统一出发点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模型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指标</a:t>
            </a:r>
          </a:p>
          <a:p>
            <a:pPr algn="ctr">
              <a:spcBef>
                <a:spcPts val="582"/>
              </a:spcBef>
            </a:pPr>
            <a:r>
              <a:rPr sz="1250" b="0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即席自助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指标检索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明细探索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可视化计算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自定义看板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报表订阅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总部经营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自定义看板（示意）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××景区 · 本周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共用指标定义和权限，问出来的数和报表一致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从临时取数、对数，转向建模型、做分析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微软雅黑"/>
                <a:ea typeface="微软雅黑"/>
              </a:rPr>
              <a:t>最终产出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企业指标中心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景区专属指标空间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统一标签服务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统一语义服务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自助分析平台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每个人都用上靠谱的数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从管理层到景区，九类角色的变化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01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管理层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驾驶舱全用认证指标，不用先对数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核销口径统一，差异自动定位；节假日实时看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业务与财务逐层对账，差异自动列原因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销量、佣金、返利口径统一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标签圈人、指标看效果，复盘自动完成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运营 / 客户成功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景区经营报告自动生成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产品研发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上线前定好口径，上线即有数据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从取数对数转向建模型、做分析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 / 供应商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直接用标准指标，不够用自己加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现状与底气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能做哪些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建设思路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跑通商业模式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快速占领市场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建自己的平台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风险与底线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Coze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企业合作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系统在现场、数据在手里、客户在用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别人只能做“通用聊天”，我们能做“帮景区和游客办事”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产品积累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多条产品线，系统装在景区现场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景区业态管理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景区运营管理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景区财务管理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景区智慧终端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数据在手里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办事要用的数据，都在我们系统里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交易与客流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售票与分销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年卡与预约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订单与结算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会员与营销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闸机与物联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认证指标与标签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客户在用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大量景区已用我们的票务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接口现成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信任已有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老客户，成交最快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入口现成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小程序、公众号、APP、终端都在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结论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别人做通用聊天，我们做“能办事”的智能体 —— 这是我们的护城河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02  智能体平台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从经营、运营到安全调度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票务、业态、财务、营销、调度的系统都是我们的，扩展有基础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经营问数 · 经营洞察 · 日报周报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经营日报周报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报表解读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团队报名 · 检票核销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分销渠道助手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旅行社报团助手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检票异常解释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窗口售票员助手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 · 停车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发票助手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会员画像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人群圈选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营销文案生成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推广员助手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活动复盘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设备运维诊断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安全调度即“景区 AI 调度中枢”；实心为已有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围绕三个目标，走一条建设流程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先用成熟平台把事做成、把钱赚到，再快速铺开，最后建成自己的平台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建设目标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跑通商业模式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能卖、能赚钱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快速占领市场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铺得快、交付快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建成自己的平台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更省钱、更可控、有壁垒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建设流程：一条线走下来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选场景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借成熟平台搭建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标杆试点验证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定价与交付定型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按业态标准化复制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沉淀知识、接口、数据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时机成熟自建平台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0" rIns="35478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平稳迁移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为了跑通商业模式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为了快速占领市场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为了建成自己的平台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起步依托 Coze · 火山方舟 · 羚羊小Q；自建时以数字大脑作为智能体管理台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贯穿始终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借平台，不交资产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数据从第一天回流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守住安全底线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培养自己的 AI 团队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用成本数据判断自建时机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先回答“能不能卖、能不能赚钱”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五个问题要用真实的景区、真实的钱来回答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智能体平台</a:t>
            </a: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卖给谁</a:t>
            </a: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哪类景区最需要</a:t>
            </a: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卖什么</a:t>
            </a: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哪些组合景区最认</a:t>
            </a: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怎么收钱</a:t>
            </a: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四种方式选哪种</a:t>
            </a: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花多少钱</a:t>
            </a: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平台费 + 交付 + 运营</a:t>
            </a: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值不值</a:t>
            </a: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省人、多卖、更满意</a:t>
            </a: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单个景区算一笔账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一年收入</a:t>
            </a: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平台调用费</a:t>
            </a: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交付成本（摊销）</a:t>
            </a: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微软雅黑"/>
                <a:ea typeface="微软雅黑"/>
              </a:rPr>
              <a:t>运营支持</a:t>
            </a: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50" b="1">
                <a:solidFill>
                  <a:srgbClr val="FFFFFF"/>
                </a:solidFill>
                <a:latin typeface="微软雅黑"/>
                <a:ea typeface="微软雅黑"/>
              </a:rPr>
              <a:t>＞ 0</a:t>
            </a:r>
            <a:r>
              <a:rPr sz="1250" b="0">
                <a:solidFill>
                  <a:srgbClr val="FCE6D2"/>
                </a:solidFill>
                <a:latin typeface="微软雅黑"/>
                <a:ea typeface="微软雅黑"/>
              </a:rPr>
              <a:t>　才算能赚钱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先试两种收费，用数据证明价值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验证期同时试“随票务打包”和“年费订阅”，看哪种成交快、续费稳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随票务打包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作为票务增值模块，提高票务年费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能否提升续约率和客单价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建议先试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微软雅黑"/>
                <a:ea typeface="微软雅黑"/>
              </a:rPr>
              <a:t>年费订阅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按景区规模或智能体数量分档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新客户、单独采购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景区能接受的价位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按效果分成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 AI 带来的购票、二消收入分成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购票、营销类智能体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增量能否算清楚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按用量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按对话量或调用量计费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适合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大客流景区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要验证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能否接受账单波动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景区认的价值，要用数据证明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少用人工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智能体解决咨询的比例、省下的客服人力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多卖票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智能体带来的线上购票、二消订单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游客更满意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满意度、差评率、排队与等待减少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管理更省心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报表、对账、预警的人工时间减少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怎么验证、怎样算跑通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挑标杆、快速搭、跑一个旺季、让数据说话；五条都满足才转入规模复制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智能体平台</a:t>
            </a: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14441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408" y="2163561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3293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挑标杆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666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已用我们票务的景区，覆盖主要业态</a:t>
            </a:r>
          </a:p>
        </p:txBody>
      </p:sp>
      <p:sp>
        <p:nvSpPr>
          <p:cNvPr id="48" name="Chevron 47"/>
          <p:cNvSpPr/>
          <p:nvPr/>
        </p:nvSpPr>
        <p:spPr>
          <a:xfrm>
            <a:off x="3402436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20" y="2163561"/>
            <a:ext cx="283829" cy="28382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18447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快速搭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12875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平台上搭好现有智能体，加高价值新场景</a:t>
            </a:r>
          </a:p>
        </p:txBody>
      </p:sp>
      <p:sp>
        <p:nvSpPr>
          <p:cNvPr id="52" name="Chevron 51"/>
          <p:cNvSpPr/>
          <p:nvPr/>
        </p:nvSpPr>
        <p:spPr>
          <a:xfrm>
            <a:off x="5810554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038" y="2163561"/>
            <a:ext cx="283829" cy="28382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2656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跑一个旺季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0993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节假日最能检验效果和成本</a:t>
            </a:r>
          </a:p>
        </p:txBody>
      </p:sp>
      <p:sp>
        <p:nvSpPr>
          <p:cNvPr id="56" name="Chevron 55"/>
          <p:cNvSpPr/>
          <p:nvPr/>
        </p:nvSpPr>
        <p:spPr>
          <a:xfrm>
            <a:off x="8218672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2156" y="2163561"/>
            <a:ext cx="283829" cy="28382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34683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数据回流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29111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对话、评价、订单第一天就进数据平台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98880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6233" y="3227923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怎样算跑通：五条判断标准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27059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82150" y="3627059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57815" y="3627059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持续在用，问题解决率达标</a:t>
            </a:r>
          </a:p>
        </p:txBody>
      </p:sp>
      <p:pic>
        <p:nvPicPr>
          <p:cNvPr id="67" name="Picture 66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3698016"/>
            <a:ext cx="230611" cy="230611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4318" y="4070543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2150" y="4070543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有价值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57815" y="4070543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景区认可的指标有提升</a:t>
            </a:r>
          </a:p>
        </p:txBody>
      </p:sp>
      <p:pic>
        <p:nvPicPr>
          <p:cNvPr id="73" name="Picture 72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4141500"/>
            <a:ext cx="230611" cy="230611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994318" y="4514027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82150" y="4514027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愿付费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57815" y="4514027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按拟定价格付费或明确续费</a:t>
            </a: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4584984"/>
            <a:ext cx="230611" cy="230611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994318" y="4957511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82150" y="4957511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能赚钱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57815" y="4957511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单景区收入覆盖成本</a:t>
            </a: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5028468"/>
            <a:ext cx="230611" cy="23061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994318" y="5400995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82150" y="5400995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可复制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57815" y="5400995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按标准流程就能上线</a:t>
            </a:r>
          </a:p>
        </p:txBody>
      </p:sp>
      <p:pic>
        <p:nvPicPr>
          <p:cNvPr id="91" name="Picture 90" descr="circle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7961" y="5471952"/>
            <a:ext cx="230611" cy="230611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7646578" y="3627059"/>
            <a:ext cx="3246302" cy="993404"/>
          </a:xfrm>
          <a:prstGeom prst="roundRect">
            <a:avLst>
              <a:gd name="adj" fmla="val 1071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3972" y="3671407"/>
            <a:ext cx="298021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五条都满足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23972" y="4026194"/>
            <a:ext cx="2980212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模板、定价、交付流程定型，转入规模复制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646578" y="4709160"/>
            <a:ext cx="3246302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23972" y="4753508"/>
            <a:ext cx="29802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没过关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23972" y="5090556"/>
            <a:ext cx="2980212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调整场景组合或定价，再验一轮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还不行的场景停掉，不硬推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快速占领市场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先打老客户，再按业态复制，用 AI 撬新客户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从最容易成交的客户开始，用标杆案例带动同类景区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已用我们票务的景区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随票务续约推，开通即用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系统已对接，基本零开发；信任已有，成交最快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其次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同业态景区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用标杆案例按业态复制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场景相同，模板直接复用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同步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新客户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打法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智能体做差异化卖点，带动票务签约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微软雅黑"/>
                <a:ea typeface="微软雅黑"/>
              </a:rPr>
              <a:t>为什么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用 AI 撬动新客户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业态先后：客流大、咨询多、线上购票比例高的先做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第一批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山岳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主题乐园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古镇街区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第二批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博物馆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温泉度假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游船演出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智能体平台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票务团队带单，用效果报告促续费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卖出去只是开始，持续让景区看到效果，才能续费、加购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销售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票务销售团队带单，智能体纳入销售考核；区域渠道伙伴代理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每类业态的标杆做成案例，用数据讲效果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客户成功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上线后定期出效果报告：解决多少咨询、带来多少订单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升级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模板统一升级，所有景区同步受益，增加粘性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景区 AI 效果月报（示意）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××景区 · ××月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解决咨询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带来订单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转人工率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%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游客满意度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微软雅黑"/>
                <a:ea typeface="微软雅黑"/>
              </a:rPr>
              <a:t>××</a:t>
            </a:r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 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趋势与建议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由系统自动生成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六样东西必须留在自己手里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这是将来自建平台能低成本切过去的前提，从第一天就要做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37  ·  AI＋数据平台 · 02  智能体平台</a:t>
            </a: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留在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自己手里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景区知识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按自有结构存一份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直接导入自建平台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业务接口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售票、订单、核销、会员接口自己封装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平台直接复用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模板设计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流程、提示词、配置写成文档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迁入模板库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交互数据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对话、评价、转人工回流数据平台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做测试题、优化效果</a:t>
            </a: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成本数据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按景区、按智能体记录每月平台费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判断何时自建</a:t>
            </a: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需求清单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现在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记录客户要、平台做不了的功能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以后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自建平台的需求来源</a:t>
            </a: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为什么最终要自建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借平台 vs 自建平台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起步时借平台最划算；规模越大，借平台的问题越突出，自建的好处越明显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借平台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自建平台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对公司的影响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按调用、账号计费，随景区数增长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只付模型调用和自身运维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单景区成本下降，规模越大利润越高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交付周期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每个景区在外部平台单独配置、调试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集团建一次，景区开通即用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省交付人天，上线更快，承接更多景区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定制能力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个性需求受平台限制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按需自主扩展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能接大客户和个性项目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数据资产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工作流、知识、对话数据在外部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全部在自己手里，回流数据平台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越用越准，数据成为资产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风险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平台调价、改规则直接影响报价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自主可控，模型可替换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经营稳定，报价有底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竞争力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同平台谁都能做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业务系统 + 数据 + 平台一体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形成壁垒，提高续约和客单价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什么时候启动？看成本交叉点和五个信号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满足任意两条就启动自建；不提前，也不拖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总成本随景区数量变化（示意）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景区数量 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交叉点 = 该自建了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成本交叉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按记录的成本测算，自建总成本已更低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平台费占比上升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平台费占智能体收入的比例持续上升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场景稳定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主力模板已稳定，不再频繁大改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平台限制丢单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个性需求、大客户项目因平台限制接不了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合规要求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景区或管理方要求数据不出域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，就启动自建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钱只花在“壁垒”上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能买的买、能借的借，只自建承载我们业务和数据的部分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不自研 · 调用模型服务，多家可替换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投入大，不是我们的优势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语音 · 图像 · 数字人 · 手语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采购或合作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专业能力，自建不划算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开源框架二次开发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不从零写，缩短周期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管理台 · 能力与知识 · 业务工具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承载我们的业务、数据和交付方式，是壁垒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复用第一部分的数据平台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已经有了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不碰重投入、非优势的部分；把钱和人放在“业务 + 数据 + 交付”上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数字大脑做管理台，底下接数据平台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颜色代表“怎么来”：自建 / 开源改造 / 采购合作 / 复用已有；所有产品线的智能体都在这上面统一管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渠道入口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1635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45851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34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484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智慧终端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34342" y="1954530"/>
            <a:ext cx="1358539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开放 API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智能体应用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02253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景区管理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17650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票务财务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33045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48442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精准营销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7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搭建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模板库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02253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可视化编排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17650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配置化生成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33045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多智能体协同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48442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测试与发布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管理台 · 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多租户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102253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17650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运行监控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533045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计量到景区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48442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效果评估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能力层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业务工具中心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02253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景区知识库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17650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游客记忆与画像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33045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测试用例库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48442" y="3799422"/>
            <a:ext cx="1644438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引擎层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编排引擎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31103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3E6F96"/>
                </a:solidFill>
                <a:latin typeface="微软雅黑"/>
                <a:ea typeface="微软雅黑"/>
              </a:rPr>
              <a:t>检索引擎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75348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模型网关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19593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内容安全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外部能力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大模型 · 可替换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3110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语音 · 图像 · 数字人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67534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81959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数据底座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3110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67534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湖仓与实时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81959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864793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4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自建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3E6F96"/>
                </a:solidFill>
                <a:latin typeface="微软雅黑"/>
                <a:ea typeface="微软雅黑"/>
              </a:rPr>
              <a:t>开源改造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4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采购 / 合作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4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复用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已有入口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4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橙色虚线框 = 数字大脑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五步走，双轨运行、随时可退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不搞一刀切，用同一套测试题对比，达标才切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02  智能体平台</a:t>
            </a: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01  核心先上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核心模块、主力智能体先上</a:t>
            </a: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02  对比验证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同一套测试题，不低于成熟平台才切</a:t>
            </a: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03  新增先上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新签景区直接上自建平台</a:t>
            </a: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04  存量随续约迁移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双轨运行、逐个迁移、可回退</a:t>
            </a: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05  成熟平台转补充</a:t>
            </a: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外部平台变成补充能力</a:t>
            </a: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原则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每一步都可以回退；客户无感知迁移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风险怎么控，底线怎么守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风险提前想好应对；智能体的底线从第一天就守住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02  智能体平台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四个风险，四个应对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投入超预期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小团队先做核心模块，跟着迁移进度分批投入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外部平台调价或停服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资产在自己手里，模型多家可替换，随时能切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团队能力不足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前期就培养自己的 AI 应用团队，自建时延续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需求变化快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→ 模板化、配置化，差异放在配置里不改代码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四条底线，贯穿始终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只用授权数据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数据按景区隔离，景区只看本景区数据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关键动作人工确认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退款、调度等处置要人点确认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不碰敏感信息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手机号、证件号不进对话和知识库，展示打码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不乱承诺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价格、退改以系统为准，答不了就转人工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数据怎么流转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一张门票的例子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湖仓公共模型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开放 API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DataWorks · 数据地图 · 资产治理，治理贯穿全程；智能体前期借平台，后期自建管理台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一张门票的数据旅程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游客买一张票，数据在公司里转一圈，景区和游客都受益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03  AI＋数据平台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买票入园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售票 · 闸机核销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数据进平台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 · 核销 · 客流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算出指标和标签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实时客流 · 游客偏好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智能体办事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客流预警 · 二消推荐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处置结果 · 推荐转化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反哺业务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调预约 · 调营销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结果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游客体验更好 · 景区多卖钱、少出事 · 数据和智能体更准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 · 示意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消息通知预警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【客流预警】东门入园排队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变长，预计 20 分钟后接近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预约上限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建议：增开闸机，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引导游客从西门入园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收到，已派人处理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已记录处置结果，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明天的预约名额会参考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先做三件事，需要您支持四件事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先在一条主线、几家标杆景区上做出结果，再铺开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47  ·  AI＋数据平台 · 接下来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接下来先做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数据：主线试点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“订单 → 核销 → 结算”定口径、上卡点、逐层核对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订单、核销实时链路建起来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智能体：标杆验证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挑老客户做标杆，跑一个完整旺季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同时试“随票务打包”和“年费订阅”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打通：统一取数、数据回流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智能体统一从数据平台取数，交互数据回流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· 知识、接口、模板、成本数据留在手里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微软雅黑"/>
                <a:ea typeface="微软雅黑"/>
              </a:rPr>
              <a:t>需要您支持</a:t>
            </a: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口径谁拍板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成立数据治理小组，口径争议有人定</a:t>
            </a: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规范强制执行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不合规的数据不上线，需公司层面授权</a:t>
            </a: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标杆与销售配合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标杆景区配合试点；智能体纳入销售考核</a:t>
            </a: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自建时点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定期用成本数据评估，由您决策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