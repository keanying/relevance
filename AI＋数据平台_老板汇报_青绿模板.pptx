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>
              <a:solidFill>
                <a:srgbClr val="E39A57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>
              <a:solidFill>
                <a:srgbClr val="21816F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>
            <a:solidFill>
              <a:srgbClr val="CDE9E3"/>
            </a:solidFill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>
              <a:solidFill>
                <a:srgbClr val="E7F2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E777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2CAB93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DF1EC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4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第一部分：数据平台，把数据理清、算准、管住。主要讲：现状与问题、手里的数据、怎么建、治理八件事、数据安全、怎么落地、建成后的变化。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前五个问题放在一起看，根子是同一个：缺少统一的标准、统一的模型、统一的口径和统一的检查。所以单个问题修修补补会反复出现，比如这次把核销量对平了，下次换个指标又对不上。必须体系化地治理，也就是后面要讲的数据治理。第六个“看得慢”不一样，它是能力缺口，要在统一的公共模型上补实时计算，否则实时数据又会变成新的一套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怎么做？核心一句话：不搞一次性运动，而是把规矩写进日常的开发流程，每张表、每个指标从设计到下线都要过检查站。治理分五层来看：最上面是目标，四个词：数字可信、口径统一、安全合规、成本可控。往下是管哪些事，一共八件，下一页细讲。再往下是怎么嵌进去：事前定规范、事中设卡点、事后做治理。然后是用什么工具：大部分用已经买的 DataWorks 模块，没买的用我们自己写的检查脚本和检查节点。最下面是谁来管：治理小组拍板，数据负责人推动，治理专员执行，健康分每月公示。推进顺序上，先治最核心的一条线：订单到核销到结算，做通了再按数据域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具体管八件事，每件都有明确的产出和考核指标。一，定规矩，也就是数据标准：命名、分层、字段、码值，看规范符合率。二，建家谱，就是数据血缘：每张表的含义、负责人、上下游，看注释和负责人覆盖率。三，统一编号，就是主数据：景区、商品、渠道、供应商、游客全公司一个编号，看重复率和映射覆盖率。四，每天体检，就是数据质量：完整、准确、一致、及时、唯一，看规则覆盖率和按时产出率。五，统一口径，就是指标与标签：口径、分类、认证，看认证指标覆盖率。六，管好权限：分级、权属、审批、审计，看敏感字段识别覆盖率。七，定期大扫除，就是资产运营：健康分、成本、下线，看健康分和无用资产占比。八，统一出口，就是数据分发：对内对外只走一个出口，看出口收敛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第一件事，定规矩。最直观的是表名：以前表名随便起，现在每张表都有像身份证号一样的名字。比如 dwd_ord_order_item_di，拆开看：dwd 说明加工到了“洗干净”这一层，ord 说明是订单这块业务，order_item 说明是订单明细，di 说明每天增量更新。一看名字就知道是什么、在哪一层、怎么更新。字段也统一叫法，比如景区全公司都叫 scenic_id，金额都以 amt 结尾。建表时有 8 项必填，缺负责人就发不出去。这些都靠发布前的自动检查脚本卡住：不合规的直接打回，列出哪里不对。老表不一次性改名，新表强制执行，老表按健康分排名分批整改，改名时保留兼容视图，不影响下游。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件事，统一口径，管的是指标和标签。指标就是数一数，比如卖了多少、来了多少人；标签就是贴个签，比如这个游客是年卡用户、喜欢夜游。我们的做法是两级：集团统一出一套标准指标和标准标签，按级别授权下发给景区和供应商，大家用同一套口径；标准的不够用时，景区和供应商可以在自己的空间里自定义，只给自己用，不能和集团标准同名，不影响别人；好用的自定义指标，评审后收回来变成集团标准。一个指标要说清楚四件事：算什么、加什么条件、什么时间、按什么维度，比如“近七天线上渠道成人票支付金额，按景区”。新指标要经过四步认证：数据团队起草、业务负责人确认、治理小组拍板、发布并记录版本。只有认证过的指标和标签，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件事，管好权限，分两页讲。这一页是分级和权属。数据分四级：最高的是高敏，手机号、证件号、人脸、政务核验结果，加密存储、展示打码、最小授权、全程审计，明文不进大模型。第二级敏感，单景区的经营数据、价格、结算、供应商合作数据，按景区和供应商隔离，跨主体只能看汇总。第三级内部，日志、设备状态、运营数据，内部按角色授权。最低一级公开，已发布的报告和规范。再说权属，也就是数据的主人：景区数据只服务这个景区，供应商数据只服务这个供应商，渠道数据不给其他渠道看，游客信息只在授权范围内用，政务数据只用核验结果不留原始数据，外部买的数据按合同用，对外只给匿名汇总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“谁能看什么”。每个人能看到的数据，由三把锁决定：角色决定能用哪些功能，数据范围决定能看哪些景区、哪些供应商，字段等级决定能看哪些字段、是不是打码。左边这张表就是规则：集团管理层能看汇总，看不到个人明细；数据团队敏感数据按项目授权，高敏数据审批后打码使用；业务线只看本业务线；景区只看本景区，游客信息授权后打码；供应商只看本供应商；外部伙伴只能拿匿名汇总；AI 智能体不单独开权限，继承提问人的权限。右边是流程：申请要说明用途和期限，数据负责人审批，高敏数据还要安全负责人审批；按最小范围授权，设到期时间；访问全程留痕；到期、离岗、项目结束自动回收；每季度复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件事，定期大扫除，专业叫资产运营。一是资产目录：所有表、指标、标签、接口都按数据域编好目录，可以搜索，能看口径和来源，按权限申请使用。二是健康分：每月按负责人、按业务给数据资产打分，看五个方面：规范齐不齐，质量好不好，安全措施到不到位，有没有人用，花了多少钱，排名每月公示。三是下线：九十天没人访问、没有下游、重复的模型、临时表，先通知负责人确认，然后停掉调度或改成只读，观察三十天没人反馈再删除，有人反馈就恢复。临时表自动到期清理，重复模型合并到公共层，先双跑对比再切换。这样存储和计算成本能降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第八件事，统一出口。以前要数据，经常是点对点导一份、或者直接连数据库，口径和权限都管不住。以后所有对内对外的数据，都从一个窗口出去，就是动态数据开放 API。它同时提供认证过的指标和标签，统一鉴权、按景区隔离、按调用计量、全程监控。用法有四种：只查指标，比如景区经营看板看销售额、核销量、入园人次；指标加标签一起用，比如按会员等级看复购率；先用标签圈人、再用指标看效果，比如圈出近九十天没复购的年卡用户推活动，活动后看转化；只查标签，比如智能体按游客偏好做个性化推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八件事怎么落到日常？就是把检查站放进开发的每一步，不另起流程。事前定规范：需求阶段先确认口径，优先用已经认证的指标；设计阶段做模型评审，确定数据域、分层和安全等级。由数据架构师和治理专员负责，不过评审，模型就不能进入开发。事中设卡点：开发时按规范写、绑定质量规则；发布时检查脚本自动卡；运行时质量检查，不合格就拦住下游、报警。这一步是平台自动执行，不合规的发不出去，下游也不会跑。事后做治理：健康分公示、存量整改、问题复盘，补规范、补规则。由数据负责人和治理专员负责，健康分低的负责人排名公示、限期整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谁来管？治理不只是数据团队的事。最上面是数据治理小组，负责裁定口径争议、审批规范和指标认证，这里需要公司层面授权。下面是数据负责人，制定治理方案、跨部门协调，对健康分负责。再下面三类角色：业务数据专员，每个业务线出一个人，提业务规则、确认口径、验收数据；数据治理专员，维护标准、指标字典、质量规则和资产目录；数据架构师和开发，负责模型设计、规范落地和问题修复。运转节奏是：两周一次口径评审，每月公示健康分，每季度复盘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算做好了？我们给试点主线定了八个目标，都是可以量化检查的。新建表规范符合率百分之百；核心表的注释和负责人百分之百覆盖；景区、商品、渠道编号映射百分之百覆盖；核心表强规则百分之百覆盖；核心报表按时产出率不低于百分之九十九；管理层看板里认证指标占比百分之百；敏感字段识别打标百分之百；核销量各个出口零差异，或者差异都有原因说明。另外没用的表和任务每季度清理一轮。这些先在订单、核销、结算这条主线上达标，再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落地分四步。第一步统接入：定统一的接入规范和编号，补齐数据源，把订单和核销的实时链路建起来。第二步统建模：划好数据域，首批指标和标签做认证，重复的模型合并。第三步统开发：发布卡点上线、质量规则绑定任务，核销逐层核对做成样板。第四步统服务：开放接口把指标和标签一起提供出去，小Q 的数据集统一，业务可以自助分析。推进原则两条：先在订单、核销、结算这条线试点，做通后推广；老模型先双跑对比再切换，随时可以回退。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建成以后，有六个看得见的变化。一，统一规范：以前规范只写在文档里，以后不合规的表发不出去，老表按优先级整改，还可以用 AI 帮忙补描述。二，统一底座：以前订单和核销第二天才能看到，以后分钟级就能看到。三，统一湖仓：以前离线和湖仓各做一套，同一个指标两个结果，以后公共层只建一次，改口径只改一处。四，统一指标：以前报表、接口、AI 各说各的，以后三处数字一致，景区还有自己的专属空间。五，标签复用：以前各部门各做一套，以后一个游客一个身份，订单、会员、年卡、人脸归并到一起，标签一处加工，营销、分析、AI、景区都来取。六，自助分析：以前要找数据团队要数，以后业务自己查、自己看，数据团队从临时取数转向建模型、做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公司整体，一句话：从找人要数变成数据找人。具体五个方面，每个都有衡量方法。可信：一个指标一个口径，数字可追溯，看认证指标覆盖率和对账差异率。及时：订单核销从第二天变成分钟级，看端到端延迟。效率：公共模型复用，改动影响能预判，看模型复用率和需求交付周期。成本：重复模型、没人用的报表和任务下线，看存储计算成本。安全：敏感数据分级、打码、可审计，看敏感字段识别覆盖率。衡量原则：先把现在的基线测出来再定目标；看实际使用和业务结果，不看上了多少个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第二部分：智能体平台，先借力卖起来，再自己建。主要讲：现状与底气、能做哪些、三步怎么走、先验证、再复制、何时自建、建成什么样、能省什么、怎么切换。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助手，比如游客问几点开园，它能回答，还能直接帮他买票。我们现在一共有 8 个智能体，来自三个地方。第一类是在字节的扣子平台上，用工作流配置出来的，有 5 个：智能助手、智能客服、智能导览、AI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八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旅拍，可以扩展游记与行程总结、点评分享助手、年卡服务助手。一共 17 个，已有 6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再看景区这一端，按景区的业务来看，一共可以做 28 个。经营分析：已有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调度中枢的 8 个，旅游安全、秩序治理、车辆调度、游船调度、森林防火、生态监测、气象服务、设施监测。设备终端：设备运维诊断。这些系统都是我们自己的，扩展有基础。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整体分三步走，回答三个问题：商业模式能不能跑通，市场能不能快速占住，平台要不要、什么时候自己建。第一步借力验证：借扣子、火山方舟、羚羊小Q 这些现成平台，用最小的投入回答卖给谁、卖什么、怎么收钱、能不能赚钱。过了第一关，商业模式跑通了，进入第二步借力复制：还是借平台，把跑通的产品按业态快速铺开，抢市场。规模起来以后看第二关：自己建是不是更划算。划算了进入第三步，以数字大脑作为智能体管理台，自己建平台。为什么先借力？现在还不知道景区愿不愿意买、愿意付多少钱，先自建等于需求没验证就砸钱和时间；借平台，几周就能做出来去试。为什么最终要自建？景区越多平台费越高，交付和定制受限制，数据和资产在别人那里。最关键的一条：借平台，但不交资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验证，要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怎么验证？四步。第一，挑标杆：从已经用我们票务的景区里挑，覆盖两到三类主要业态，有配合意愿，客流有代表性。第二，快速搭：在成熟平台上把现有 8 个智能体搭起来，再挑一到两个价值最高的新场景，比如智能购票。第三，跑一个完整旺季：节假日客流最能检验效果和成本。第四，数据从第一天就回流：对话、转人工、评价、订单都进数据平台，验证结论靠数据说话，不靠感觉。整个过程是：选场景、平台上搭、标杆试点、看效果、定价和交付定型。看五件事：有没有人用、能不能解决问题、景区愿不愿意付费、多久能交付、单景区成本多少。效果不好的回平台调整，没人用的场景及时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关卡一，怎样才算商业模式跑通了？五条标准。用起来：标杆景区持续在用，问题解决率达标。有价值：景区认可的指标有提升。愿付费：有景区按拟定价格付费，或者明确续费。能赚钱：单景区收入覆盖平台费、交付和运营。可复制：不依赖核心研发，按标准流程就能上线。五条都满足，进入第二步。没过关：调整场景组合或者定价，再验证一轮；还不行的场景就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步，借力复制，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第三步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托外部平台的同时，有六样东西必须留在自己手里，这是第三步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借平台在前期很划算，但规模越大，弊端越明显。一，成本越做越高：平台按调用、账号、空间收费，景区越多平台费越高，利润被平台分走。二，交付受限：功能受平台限制，个性需求做不了；多个平台要分别配置、分别维护。三，资产在外部：工作流、知识库、对话数据留在第三方平台，难沉淀、难迁移。四，管理分散：多平台多入口，权限、计量、监控各管各的。五，受制于人：平台一调价、改规则、下线功能，直接影响我们的交付和报价。六，难形成壁垒：同样的平台谁都能用；景区和游客数据出域还有合规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右边是前两步留在手里的资产，分别落到哪：知识进知识库，接口进业务工具中心，模板进模板库，交互数据变成测试用例和游客画像，成本记录变成计量和定价依据，需求清单变成首批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按产品全景来看，四条产品线一共 22 个智能体，已有 8 个，还有 14 个待建，最终都由自建平台统一承载。畅游 AI：已有智能助手、智能客服、智能导览、AI 伴游、AI 旅拍、手语；待建 AI 旅游规划、AI 智能购票。AI 数字大脑：已有 AI 智能问数、AI 智能洞察；待建消息通知预警、工单调度处置。智慧票务：待建票务 AI 运营助手、AI 对账助手。景区 AI 调度中枢：待建旅游安全、秩序治理、车辆调度、游船调度、森林防火、生态监测、气象服务、设施监测。再加上前面梳理的可扩展场景，都在同一个平台上管理、计量和评估。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有四个风险，都有应对。投入超预期：小团队先做核心模块，跟着迁移进度分批投入。效果不如成熟平台：迁移前用同一套测试题对比，达标才切。迁移影响客户：双轨运行、逐个迁移、可以回退。团队能力不足：前两步就开始培养自己的 AI 应用团队，第三步延续。另外，智能体从第一天起就要守住四条底线：只用授权数据，数据按景区隔离，景区只能看到自己的数据；关键动作人工确认，退款、调度这些处置要人点确认；不碰敏感信息，手机号、证件号不进对话和知识库，展示时打码；不乱承诺，价格和退改规则以系统返回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第三部分：AI＋数据平台，数据在公司里转起来，越用越准。主要讲：数据怎么流转、五个环节的闭环、一张门票的例子。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这张图简化成一个圈，五个环节。第一，生产：票务、业态、运营、财务、终端、畅游、会员营销各个产品，产生交易、核销、客流、设备、会员、财务数据。第二，治理：数据团队用第一部分的数据平台，做出公共模型、认证指标、统一标签和景区知识。第三，应用：智能体和各个应用，提供游客服务、经营分析、运营提效、预警调度。第四，回流：智能体和应用自动回传问答记录、评价、转人工、工单结果、使用行为，统一入湖。第五，反哺：业务线用这些指标、标签、洞察去调定价、圈人做营销、优化预约和调度。反哺后的业务又产生新数据，进入下一轮。每转一圈，数据更全、指标更准、智能体更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两三家已经用我们票务的标杆景区，在成熟平台上搭好现有智能体，加一两个高价值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8.png"/><Relationship Id="rId9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29.png"/><Relationship Id="rId7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22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57.png"/><Relationship Id="rId5" Type="http://schemas.openxmlformats.org/officeDocument/2006/relationships/image" Target="../media/image4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png"/><Relationship Id="rId9" Type="http://schemas.openxmlformats.org/officeDocument/2006/relationships/image" Target="../media/image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5.png"/><Relationship Id="rId4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8.png"/><Relationship Id="rId4" Type="http://schemas.openxmlformats.org/officeDocument/2006/relationships/image" Target="../media/image67.png"/><Relationship Id="rId5" Type="http://schemas.openxmlformats.org/officeDocument/2006/relationships/image" Target="../media/image66.png"/><Relationship Id="rId6" Type="http://schemas.openxmlformats.org/officeDocument/2006/relationships/image" Target="../media/image68.png"/><Relationship Id="rId7" Type="http://schemas.openxmlformats.org/officeDocument/2006/relationships/image" Target="../media/image6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Relationship Id="rId4" Type="http://schemas.openxmlformats.org/officeDocument/2006/relationships/image" Target="../media/image42.png"/><Relationship Id="rId5" Type="http://schemas.openxmlformats.org/officeDocument/2006/relationships/image" Target="../media/image63.png"/><Relationship Id="rId6" Type="http://schemas.openxmlformats.org/officeDocument/2006/relationships/image" Target="../media/image68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Relationship Id="rId11" Type="http://schemas.openxmlformats.org/officeDocument/2006/relationships/image" Target="../media/image74.png"/><Relationship Id="rId12" Type="http://schemas.openxmlformats.org/officeDocument/2006/relationships/image" Target="../media/image7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8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0.png"/><Relationship Id="rId4" Type="http://schemas.openxmlformats.org/officeDocument/2006/relationships/image" Target="../media/image58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.png"/><Relationship Id="rId8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47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60.png"/><Relationship Id="rId11" Type="http://schemas.openxmlformats.org/officeDocument/2006/relationships/image" Target="../media/image8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90.png"/><Relationship Id="rId5" Type="http://schemas.openxmlformats.org/officeDocument/2006/relationships/image" Target="../media/image27.png"/><Relationship Id="rId6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9.png"/><Relationship Id="rId4" Type="http://schemas.openxmlformats.org/officeDocument/2006/relationships/image" Target="../media/image38.png"/><Relationship Id="rId5" Type="http://schemas.openxmlformats.org/officeDocument/2006/relationships/image" Target="../media/image90.png"/><Relationship Id="rId6" Type="http://schemas.openxmlformats.org/officeDocument/2006/relationships/image" Target="../media/image43.png"/><Relationship Id="rId7" Type="http://schemas.openxmlformats.org/officeDocument/2006/relationships/image" Target="../media/image54.png"/><Relationship Id="rId8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9.png"/><Relationship Id="rId4" Type="http://schemas.openxmlformats.org/officeDocument/2006/relationships/image" Target="../media/image38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Relationship Id="rId4" Type="http://schemas.openxmlformats.org/officeDocument/2006/relationships/image" Target="../media/image52.png"/><Relationship Id="rId5" Type="http://schemas.openxmlformats.org/officeDocument/2006/relationships/image" Target="../media/image94.png"/><Relationship Id="rId6" Type="http://schemas.openxmlformats.org/officeDocument/2006/relationships/image" Target="../media/image53.png"/><Relationship Id="rId7" Type="http://schemas.openxmlformats.org/officeDocument/2006/relationships/image" Target="../media/image23.png"/><Relationship Id="rId8" Type="http://schemas.openxmlformats.org/officeDocument/2006/relationships/image" Target="../media/image95.png"/><Relationship Id="rId9" Type="http://schemas.openxmlformats.org/officeDocument/2006/relationships/image" Target="../media/image81.png"/><Relationship Id="rId10" Type="http://schemas.openxmlformats.org/officeDocument/2006/relationships/image" Target="../media/image3.png"/><Relationship Id="rId11" Type="http://schemas.openxmlformats.org/officeDocument/2006/relationships/image" Target="../media/image51.png"/><Relationship Id="rId1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png"/><Relationship Id="rId4" Type="http://schemas.openxmlformats.org/officeDocument/2006/relationships/image" Target="../media/image96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4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37.png"/><Relationship Id="rId8" Type="http://schemas.openxmlformats.org/officeDocument/2006/relationships/image" Target="../media/image101.png"/><Relationship Id="rId9" Type="http://schemas.openxmlformats.org/officeDocument/2006/relationships/image" Target="../media/image102.png"/><Relationship Id="rId10" Type="http://schemas.openxmlformats.org/officeDocument/2006/relationships/image" Target="../media/image103.png"/><Relationship Id="rId11" Type="http://schemas.openxmlformats.org/officeDocument/2006/relationships/image" Target="../media/image77.png"/><Relationship Id="rId12" Type="http://schemas.openxmlformats.org/officeDocument/2006/relationships/image" Target="../media/image3.png"/><Relationship Id="rId13" Type="http://schemas.openxmlformats.org/officeDocument/2006/relationships/image" Target="../media/image35.png"/><Relationship Id="rId14" Type="http://schemas.openxmlformats.org/officeDocument/2006/relationships/image" Target="../media/image104.png"/><Relationship Id="rId15" Type="http://schemas.openxmlformats.org/officeDocument/2006/relationships/image" Target="../media/image105.png"/><Relationship Id="rId16" Type="http://schemas.openxmlformats.org/officeDocument/2006/relationships/image" Target="../media/image106.png"/><Relationship Id="rId17" Type="http://schemas.openxmlformats.org/officeDocument/2006/relationships/image" Target="../media/image34.png"/><Relationship Id="rId18" Type="http://schemas.openxmlformats.org/officeDocument/2006/relationships/image" Target="../media/image36.png"/><Relationship Id="rId19" Type="http://schemas.openxmlformats.org/officeDocument/2006/relationships/image" Target="../media/image107.png"/><Relationship Id="rId20" Type="http://schemas.openxmlformats.org/officeDocument/2006/relationships/image" Target="../media/image22.png"/><Relationship Id="rId21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1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64.png"/><Relationship Id="rId7" Type="http://schemas.openxmlformats.org/officeDocument/2006/relationships/image" Target="../media/image112.png"/><Relationship Id="rId8" Type="http://schemas.openxmlformats.org/officeDocument/2006/relationships/image" Target="../media/image77.png"/><Relationship Id="rId9" Type="http://schemas.openxmlformats.org/officeDocument/2006/relationships/image" Target="../media/image113.png"/><Relationship Id="rId10" Type="http://schemas.openxmlformats.org/officeDocument/2006/relationships/image" Target="../media/image1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Relationship Id="rId4" Type="http://schemas.openxmlformats.org/officeDocument/2006/relationships/image" Target="../media/image115.png"/><Relationship Id="rId5" Type="http://schemas.openxmlformats.org/officeDocument/2006/relationships/image" Target="../media/image4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.png"/><Relationship Id="rId4" Type="http://schemas.openxmlformats.org/officeDocument/2006/relationships/image" Target="../media/image97.png"/><Relationship Id="rId5" Type="http://schemas.openxmlformats.org/officeDocument/2006/relationships/image" Target="../media/image70.png"/><Relationship Id="rId6" Type="http://schemas.openxmlformats.org/officeDocument/2006/relationships/image" Target="../media/image94.png"/><Relationship Id="rId7" Type="http://schemas.openxmlformats.org/officeDocument/2006/relationships/image" Target="../media/image1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4.png"/><Relationship Id="rId4" Type="http://schemas.openxmlformats.org/officeDocument/2006/relationships/image" Target="../media/image52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8.png"/><Relationship Id="rId4" Type="http://schemas.openxmlformats.org/officeDocument/2006/relationships/image" Target="../media/image119.png"/><Relationship Id="rId5" Type="http://schemas.openxmlformats.org/officeDocument/2006/relationships/image" Target="../media/image120.png"/><Relationship Id="rId6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Relationship Id="rId4" Type="http://schemas.openxmlformats.org/officeDocument/2006/relationships/image" Target="../media/image121.png"/><Relationship Id="rId5" Type="http://schemas.openxmlformats.org/officeDocument/2006/relationships/image" Target="../media/image6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22.png"/><Relationship Id="rId4" Type="http://schemas.openxmlformats.org/officeDocument/2006/relationships/image" Target="../media/image12.png"/><Relationship Id="rId5" Type="http://schemas.openxmlformats.org/officeDocument/2006/relationships/image" Target="../media/image123.png"/><Relationship Id="rId6" Type="http://schemas.openxmlformats.org/officeDocument/2006/relationships/image" Target="../media/image124.png"/><Relationship Id="rId7" Type="http://schemas.openxmlformats.org/officeDocument/2006/relationships/image" Target="../media/image99.png"/><Relationship Id="rId8" Type="http://schemas.openxmlformats.org/officeDocument/2006/relationships/image" Target="../media/image125.png"/><Relationship Id="rId9" Type="http://schemas.openxmlformats.org/officeDocument/2006/relationships/image" Target="../media/image83.png"/><Relationship Id="rId10" Type="http://schemas.openxmlformats.org/officeDocument/2006/relationships/image" Target="../media/image126.png"/><Relationship Id="rId11" Type="http://schemas.openxmlformats.org/officeDocument/2006/relationships/image" Target="../media/image1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8.png"/><Relationship Id="rId4" Type="http://schemas.openxmlformats.org/officeDocument/2006/relationships/image" Target="../media/image97.png"/><Relationship Id="rId5" Type="http://schemas.openxmlformats.org/officeDocument/2006/relationships/image" Target="../media/image39.png"/><Relationship Id="rId6" Type="http://schemas.openxmlformats.org/officeDocument/2006/relationships/image" Target="../media/image128.png"/><Relationship Id="rId7" Type="http://schemas.openxmlformats.org/officeDocument/2006/relationships/image" Target="../media/image58.png"/><Relationship Id="rId8" Type="http://schemas.openxmlformats.org/officeDocument/2006/relationships/image" Target="../media/image1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0.png"/><Relationship Id="rId4" Type="http://schemas.openxmlformats.org/officeDocument/2006/relationships/image" Target="../media/image129.png"/><Relationship Id="rId5" Type="http://schemas.openxmlformats.org/officeDocument/2006/relationships/image" Target="../media/image95.png"/><Relationship Id="rId6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4.png"/><Relationship Id="rId4" Type="http://schemas.openxmlformats.org/officeDocument/2006/relationships/image" Target="../media/image39.png"/><Relationship Id="rId5" Type="http://schemas.openxmlformats.org/officeDocument/2006/relationships/image" Target="../media/image7.png"/><Relationship Id="rId6" Type="http://schemas.openxmlformats.org/officeDocument/2006/relationships/image" Target="../media/image13.png"/><Relationship Id="rId7" Type="http://schemas.openxmlformats.org/officeDocument/2006/relationships/image" Target="../media/image130.png"/><Relationship Id="rId8" Type="http://schemas.openxmlformats.org/officeDocument/2006/relationships/image" Target="../media/image70.png"/><Relationship Id="rId9" Type="http://schemas.openxmlformats.org/officeDocument/2006/relationships/image" Target="../media/image1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32.png"/><Relationship Id="rId4" Type="http://schemas.openxmlformats.org/officeDocument/2006/relationships/image" Target="../media/image133.png"/><Relationship Id="rId5" Type="http://schemas.openxmlformats.org/officeDocument/2006/relationships/image" Target="../media/image134.png"/><Relationship Id="rId6" Type="http://schemas.openxmlformats.org/officeDocument/2006/relationships/image" Target="../media/image135.png"/><Relationship Id="rId7" Type="http://schemas.openxmlformats.org/officeDocument/2006/relationships/image" Target="../media/image15.png"/><Relationship Id="rId8" Type="http://schemas.openxmlformats.org/officeDocument/2006/relationships/image" Target="../media/image63.png"/><Relationship Id="rId9" Type="http://schemas.openxmlformats.org/officeDocument/2006/relationships/image" Target="../media/image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chart" Target="../charts/chart1.xml"/><Relationship Id="rId4" Type="http://schemas.openxmlformats.org/officeDocument/2006/relationships/image" Target="../media/image70.png"/><Relationship Id="rId5" Type="http://schemas.openxmlformats.org/officeDocument/2006/relationships/image" Target="../media/image132.png"/><Relationship Id="rId6" Type="http://schemas.openxmlformats.org/officeDocument/2006/relationships/image" Target="../media/image29.png"/><Relationship Id="rId7" Type="http://schemas.openxmlformats.org/officeDocument/2006/relationships/image" Target="../media/image136.png"/><Relationship Id="rId8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image" Target="../media/image115.png"/><Relationship Id="rId7" Type="http://schemas.openxmlformats.org/officeDocument/2006/relationships/image" Target="../media/image3.png"/><Relationship Id="rId8" Type="http://schemas.openxmlformats.org/officeDocument/2006/relationships/image" Target="../media/image3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2.xml"/><Relationship Id="rId4" Type="http://schemas.openxmlformats.org/officeDocument/2006/relationships/image" Target="../media/image140.png"/><Relationship Id="rId5" Type="http://schemas.openxmlformats.org/officeDocument/2006/relationships/image" Target="../media/image137.png"/><Relationship Id="rId6" Type="http://schemas.openxmlformats.org/officeDocument/2006/relationships/image" Target="../media/image52.png"/><Relationship Id="rId7" Type="http://schemas.openxmlformats.org/officeDocument/2006/relationships/image" Target="../media/image1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42.png"/><Relationship Id="rId4" Type="http://schemas.openxmlformats.org/officeDocument/2006/relationships/image" Target="../media/image86.png"/><Relationship Id="rId5" Type="http://schemas.openxmlformats.org/officeDocument/2006/relationships/image" Target="../media/image143.png"/><Relationship Id="rId6" Type="http://schemas.openxmlformats.org/officeDocument/2006/relationships/image" Target="../media/image144.png"/><Relationship Id="rId7" Type="http://schemas.openxmlformats.org/officeDocument/2006/relationships/image" Target="../media/image145.png"/><Relationship Id="rId8" Type="http://schemas.openxmlformats.org/officeDocument/2006/relationships/image" Target="../media/image1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47.png"/><Relationship Id="rId4" Type="http://schemas.openxmlformats.org/officeDocument/2006/relationships/image" Target="../media/image87.png"/><Relationship Id="rId5" Type="http://schemas.openxmlformats.org/officeDocument/2006/relationships/image" Target="../media/image148.png"/><Relationship Id="rId6" Type="http://schemas.openxmlformats.org/officeDocument/2006/relationships/image" Target="../media/image149.png"/><Relationship Id="rId7" Type="http://schemas.openxmlformats.org/officeDocument/2006/relationships/image" Target="../media/image150.png"/><Relationship Id="rId8" Type="http://schemas.openxmlformats.org/officeDocument/2006/relationships/image" Target="../media/image2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5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2.png"/><Relationship Id="rId4" Type="http://schemas.openxmlformats.org/officeDocument/2006/relationships/image" Target="../media/image151.png"/><Relationship Id="rId5" Type="http://schemas.openxmlformats.org/officeDocument/2006/relationships/image" Target="../media/image79.png"/><Relationship Id="rId6" Type="http://schemas.openxmlformats.org/officeDocument/2006/relationships/image" Target="../media/image153.png"/><Relationship Id="rId7" Type="http://schemas.openxmlformats.org/officeDocument/2006/relationships/image" Target="../media/image1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98.png"/><Relationship Id="rId4" Type="http://schemas.openxmlformats.org/officeDocument/2006/relationships/image" Target="../media/image144.png"/><Relationship Id="rId5" Type="http://schemas.openxmlformats.org/officeDocument/2006/relationships/image" Target="../media/image111.png"/><Relationship Id="rId6" Type="http://schemas.openxmlformats.org/officeDocument/2006/relationships/image" Target="../media/image79.png"/><Relationship Id="rId7" Type="http://schemas.openxmlformats.org/officeDocument/2006/relationships/image" Target="../media/image153.png"/><Relationship Id="rId8" Type="http://schemas.openxmlformats.org/officeDocument/2006/relationships/image" Target="../media/image132.png"/><Relationship Id="rId9" Type="http://schemas.openxmlformats.org/officeDocument/2006/relationships/image" Target="../media/image5.png"/><Relationship Id="rId10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8.png"/><Relationship Id="rId6" Type="http://schemas.openxmlformats.org/officeDocument/2006/relationships/image" Target="../media/image15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把数据用起来，让 AI 帮我们干活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899979" y="1850427"/>
            <a:ext cx="83920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我们要做的三件事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数据是底子，智能体是抓手，两者打通才能越用越好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02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定规矩、统一编号和口径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每天自动体检，错数拦在报表外</a:t>
            </a: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订单、核销从第二天看到变成分钟级</a:t>
            </a: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先做“订单 → 核销 → 结算”主线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先借力卖起来，再自己建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借现成平台，几周做出来去卖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标杆景区验证能卖、能赚钱</a:t>
            </a: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跑通后按业态快速复制抢市场</a:t>
            </a: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规模起来后自建，省钱、交付快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AI＋数据平台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数据在公司里转起来</a:t>
            </a: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业务产生数据，平台统一整理</a:t>
            </a: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智能体和报表用同一套数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问答、评价、处置结果回流</a:t>
            </a: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rIns="177393" bIns="0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微软雅黑"/>
                <a:ea typeface="微软雅黑"/>
              </a:rPr>
              <a:t>口径由谁拍板 · 规范强制执行 · 标杆景区与销售配合 · 自建时点决策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AI＋数据平台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接下来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现状与问题 · 怎么建 · 怎么治理 · 建成后的变化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能做什么 · 先验证 · 再复制 · 后自建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数据怎么流转 · 闭环 · 一个例子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先做的三件事 · 需要的支持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现状与问题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手里的数据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治理八件事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数据安全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怎么落地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建成后的变化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工具基本齐了，每天的主流程也跑通了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已经花的钱都在用，接下来是在这个基础上补齐，而不是推倒重来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数据加工“车间”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已买：开发 · 调度 · 找数 · 管资产 · 出数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对内对外的数据“窗口”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指标对内对外提供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看报表、做分析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报表展示与 AI 问数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湖仓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存数据的“仓库”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部分模型已建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已经跑通：每天凌晨自动跑一遍的“数据流水线”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供应商 / 游客 / 会员 → 订单 → 维度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原样存一份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去重、补全、纠错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字典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景区、商品等基础信息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DIM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按天、按景区算好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报表、接口直接用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还没建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数据质量检查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指标口径管理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数据规范落地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根因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五个问题看着分散，根子只有一个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数据平台</a:t>
            </a:r>
          </a:p>
        </p:txBody>
      </p:sp>
      <p:grpSp>
        <p:nvGrpSpPr>
          <p:cNvPr id="20800" name="素材 31"/>
          <p:cNvGrpSpPr/>
          <p:nvPr/>
        </p:nvGrpSpPr>
        <p:grpSpPr>
          <a:xfrm>
            <a:off x="994318" y="1684324"/>
            <a:ext cx="6474866" cy="2683020"/>
            <a:chOff x="1728589" y="2236993"/>
            <a:chExt cx="7979490" cy="3306499"/>
          </a:xfrm>
        </p:grpSpPr>
        <p:grpSp>
          <p:nvGrpSpPr>
            <p:cNvPr id="208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08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08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08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08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08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08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0821" name="Picture 20820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380" y="1997085"/>
            <a:ext cx="390265" cy="390265"/>
          </a:xfrm>
          <a:prstGeom prst="rect">
            <a:avLst/>
          </a:prstGeom>
        </p:spPr>
      </p:pic>
      <p:sp>
        <p:nvSpPr>
          <p:cNvPr id="20822" name="TextBox 20821"/>
          <p:cNvSpPr txBox="1"/>
          <p:nvPr/>
        </p:nvSpPr>
        <p:spPr>
          <a:xfrm>
            <a:off x="982242" y="244056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20823" name="TextBox 20822"/>
          <p:cNvSpPr txBox="1"/>
          <p:nvPr/>
        </p:nvSpPr>
        <p:spPr>
          <a:xfrm>
            <a:off x="893545" y="3736134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编号不统一</a:t>
            </a:r>
          </a:p>
        </p:txBody>
      </p:sp>
      <p:pic>
        <p:nvPicPr>
          <p:cNvPr id="20824" name="Picture 20823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9646" y="2709386"/>
            <a:ext cx="390265" cy="390265"/>
          </a:xfrm>
          <a:prstGeom prst="rect">
            <a:avLst/>
          </a:prstGeom>
        </p:spPr>
      </p:pic>
      <p:sp>
        <p:nvSpPr>
          <p:cNvPr id="20825" name="TextBox 20824"/>
          <p:cNvSpPr txBox="1"/>
          <p:nvPr/>
        </p:nvSpPr>
        <p:spPr>
          <a:xfrm>
            <a:off x="2206508" y="315287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口径不一</a:t>
            </a:r>
          </a:p>
        </p:txBody>
      </p:sp>
      <p:sp>
        <p:nvSpPr>
          <p:cNvPr id="20826" name="TextBox 20825"/>
          <p:cNvSpPr txBox="1"/>
          <p:nvPr/>
        </p:nvSpPr>
        <p:spPr>
          <a:xfrm>
            <a:off x="2117811" y="4418755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没有统一定义</a:t>
            </a:r>
          </a:p>
        </p:txBody>
      </p:sp>
      <p:pic>
        <p:nvPicPr>
          <p:cNvPr id="20827" name="Picture 20826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912" y="1997085"/>
            <a:ext cx="390265" cy="390265"/>
          </a:xfrm>
          <a:prstGeom prst="rect">
            <a:avLst/>
          </a:prstGeom>
        </p:spPr>
      </p:pic>
      <p:sp>
        <p:nvSpPr>
          <p:cNvPr id="20828" name="TextBox 20827"/>
          <p:cNvSpPr txBox="1"/>
          <p:nvPr/>
        </p:nvSpPr>
        <p:spPr>
          <a:xfrm>
            <a:off x="3430774" y="244056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20829" name="TextBox 20828"/>
          <p:cNvSpPr txBox="1"/>
          <p:nvPr/>
        </p:nvSpPr>
        <p:spPr>
          <a:xfrm>
            <a:off x="3342077" y="3736134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规范没人卡</a:t>
            </a:r>
          </a:p>
        </p:txBody>
      </p:sp>
      <p:pic>
        <p:nvPicPr>
          <p:cNvPr id="20830" name="Picture 20829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599" y="2709386"/>
            <a:ext cx="390265" cy="390265"/>
          </a:xfrm>
          <a:prstGeom prst="rect">
            <a:avLst/>
          </a:prstGeom>
        </p:spPr>
      </p:pic>
      <p:sp>
        <p:nvSpPr>
          <p:cNvPr id="20831" name="TextBox 20830"/>
          <p:cNvSpPr txBox="1"/>
          <p:nvPr/>
        </p:nvSpPr>
        <p:spPr>
          <a:xfrm>
            <a:off x="4662460" y="315287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20832" name="TextBox 20831"/>
          <p:cNvSpPr txBox="1"/>
          <p:nvPr/>
        </p:nvSpPr>
        <p:spPr>
          <a:xfrm>
            <a:off x="4573764" y="4418755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没有公共层</a:t>
            </a:r>
          </a:p>
        </p:txBody>
      </p:sp>
      <p:pic>
        <p:nvPicPr>
          <p:cNvPr id="20833" name="Picture 20832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54" y="1997085"/>
            <a:ext cx="390265" cy="390265"/>
          </a:xfrm>
          <a:prstGeom prst="rect">
            <a:avLst/>
          </a:prstGeom>
        </p:spPr>
      </p:pic>
      <p:sp>
        <p:nvSpPr>
          <p:cNvPr id="20834" name="TextBox 20833"/>
          <p:cNvSpPr txBox="1"/>
          <p:nvPr/>
        </p:nvSpPr>
        <p:spPr>
          <a:xfrm>
            <a:off x="5883016" y="244056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20835" name="TextBox 20834"/>
          <p:cNvSpPr txBox="1"/>
          <p:nvPr/>
        </p:nvSpPr>
        <p:spPr>
          <a:xfrm>
            <a:off x="5794319" y="3736134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缺逐层核对</a:t>
            </a:r>
          </a:p>
        </p:txBody>
      </p:sp>
      <p:sp>
        <p:nvSpPr>
          <p:cNvPr id="20836" name="Right Arrow 20835"/>
          <p:cNvSpPr/>
          <p:nvPr/>
        </p:nvSpPr>
        <p:spPr>
          <a:xfrm>
            <a:off x="7602230" y="2704338"/>
            <a:ext cx="372526" cy="319308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7" name="Rounded Rectangle 20836"/>
          <p:cNvSpPr/>
          <p:nvPr/>
        </p:nvSpPr>
        <p:spPr>
          <a:xfrm>
            <a:off x="8116671" y="1684324"/>
            <a:ext cx="2776209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8" name="TextBox 20837"/>
          <p:cNvSpPr txBox="1"/>
          <p:nvPr/>
        </p:nvSpPr>
        <p:spPr>
          <a:xfrm>
            <a:off x="8382762" y="1817370"/>
            <a:ext cx="2332725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DDF1EC"/>
                </a:solidFill>
                <a:latin typeface="微软雅黑"/>
                <a:ea typeface="微软雅黑"/>
              </a:rPr>
              <a:t>根子</a:t>
            </a:r>
          </a:p>
        </p:txBody>
      </p:sp>
      <p:sp>
        <p:nvSpPr>
          <p:cNvPr id="20839" name="TextBox 20838"/>
          <p:cNvSpPr txBox="1"/>
          <p:nvPr/>
        </p:nvSpPr>
        <p:spPr>
          <a:xfrm>
            <a:off x="8382762" y="2172157"/>
            <a:ext cx="2332725" cy="14191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2050" b="1">
                <a:solidFill>
                  <a:srgbClr val="FFFFFF"/>
                </a:solidFill>
                <a:latin typeface="微软雅黑"/>
                <a:ea typeface="微软雅黑"/>
              </a:rPr>
              <a:t>缺少统一的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2050" b="1">
                <a:solidFill>
                  <a:srgbClr val="FFFFFF"/>
                </a:solidFill>
                <a:latin typeface="微软雅黑"/>
                <a:ea typeface="微软雅黑"/>
              </a:rPr>
              <a:t>标准、模型、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2050" b="1">
                <a:solidFill>
                  <a:srgbClr val="FFFFFF"/>
                </a:solidFill>
                <a:latin typeface="微软雅黑"/>
                <a:ea typeface="微软雅黑"/>
              </a:rPr>
              <a:t>口径和检查</a:t>
            </a:r>
          </a:p>
        </p:txBody>
      </p:sp>
      <p:sp>
        <p:nvSpPr>
          <p:cNvPr id="20840" name="TextBox 20839"/>
          <p:cNvSpPr txBox="1"/>
          <p:nvPr/>
        </p:nvSpPr>
        <p:spPr>
          <a:xfrm>
            <a:off x="8382762" y="3502609"/>
            <a:ext cx="2332725" cy="4878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→ 要体系化治理，不能修修补补</a:t>
            </a:r>
          </a:p>
        </p:txBody>
      </p:sp>
      <p:sp>
        <p:nvSpPr>
          <p:cNvPr id="20841" name="Rounded Rectangle 20840"/>
          <p:cNvSpPr/>
          <p:nvPr/>
        </p:nvSpPr>
        <p:spPr>
          <a:xfrm>
            <a:off x="8116671" y="4300880"/>
            <a:ext cx="2776209" cy="886968"/>
          </a:xfrm>
          <a:prstGeom prst="roundRect">
            <a:avLst>
              <a:gd name="adj" fmla="val 12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42" name="Picture 20841" descr="hourglass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4064" y="4451664"/>
            <a:ext cx="266090" cy="266090"/>
          </a:xfrm>
          <a:prstGeom prst="rect">
            <a:avLst/>
          </a:prstGeom>
        </p:spPr>
      </p:pic>
      <p:sp>
        <p:nvSpPr>
          <p:cNvPr id="20843" name="TextBox 20842"/>
          <p:cNvSpPr txBox="1"/>
          <p:nvPr/>
        </p:nvSpPr>
        <p:spPr>
          <a:xfrm>
            <a:off x="8648852" y="4362968"/>
            <a:ext cx="215533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“看得慢”另算</a:t>
            </a:r>
          </a:p>
        </p:txBody>
      </p:sp>
      <p:sp>
        <p:nvSpPr>
          <p:cNvPr id="20844" name="TextBox 20843"/>
          <p:cNvSpPr txBox="1"/>
          <p:nvPr/>
        </p:nvSpPr>
        <p:spPr>
          <a:xfrm>
            <a:off x="8648852" y="4682276"/>
            <a:ext cx="21553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是能力缺口：在统一模型上补实时</a:t>
            </a:r>
          </a:p>
        </p:txBody>
      </p:sp>
      <p:sp>
        <p:nvSpPr>
          <p:cNvPr id="20845" name="Rounded Rectangle 20844"/>
          <p:cNvSpPr/>
          <p:nvPr/>
        </p:nvSpPr>
        <p:spPr>
          <a:xfrm>
            <a:off x="994318" y="5453938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46" name="Picture 20845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564809"/>
            <a:ext cx="266090" cy="266090"/>
          </a:xfrm>
          <a:prstGeom prst="rect">
            <a:avLst/>
          </a:prstGeom>
        </p:spPr>
      </p:pic>
      <p:sp>
        <p:nvSpPr>
          <p:cNvPr id="20847" name="TextBox 20846"/>
          <p:cNvSpPr txBox="1"/>
          <p:nvPr/>
        </p:nvSpPr>
        <p:spPr>
          <a:xfrm>
            <a:off x="1570847" y="5453938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所以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单点修补会反复出现：这次对平了核销量，下次换个指标又对不上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按业务分成 8 大块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数据按“数据域 → 主题”分门别类，像图书馆分区一样好找、好管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订单、票务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订单数 · 销售额 · 核销次数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商品与资源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产品、库存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售罄率 · 库存余量 · 热销产品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游客、会员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会员等级 · 复购倾向 · 出游偏好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合作方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履约率 · 结算周期 · 供应商等级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流量营销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渠道、活动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渠道转化率 · 活动回报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日常运营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房态占用率 · 准点率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应结 / 已结金额 · 对账差异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内部管理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内部系统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任务运行 · 存储计算成本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待补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现场设备、外部数据、AI 产生的数据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难点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节假日高峰、状态多变、离线补传、多景区隔离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离线主流程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湖仓存储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定规矩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统一编号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数据家谱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每天体检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管好权限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定期大扫除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已经有的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要新建 / 升级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能不买的先不买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七类能力，分清哪些已有、哪些升级、哪些新建；没买的模块先用省钱的办法顶上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能力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批量同步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埋点采集、设备回传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实时采集、标准连接器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存储计算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离线计算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实时计算、湖仓统一存储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开发运维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开发、运维中心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数据建模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发布卡点、成本治理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数据地图、资产治理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血缘、健康分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质量、标准、分级打码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指标标签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指标中心、标签系统、景区自定义空间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服务分析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开放 API、数据服务、小Q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嵌入式分析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AI 能力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AI 问数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模型网关、知识检索、评测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没买的模块，先这样顶上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数据质量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关键任务后加检查节点，不合格就拦住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规范文档 + 发布前检查脚本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安全中心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计算引擎权限 + 打码视图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先做小范围试验，验证后再投入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已有投入全部保留；先用现有工具延伸，验证有效再追加投入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数据治理怎么做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不搞运动，把规矩写进日常流程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治理不是一次性的大扫除，而是每张表、每个指标从设计到下线都要过“检查站”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52528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52528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目标</a:t>
            </a:r>
          </a:p>
        </p:txBody>
      </p:sp>
      <p:pic>
        <p:nvPicPr>
          <p:cNvPr id="46" name="Picture 45" descr="targ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6512" y="2029922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927908" y="1852528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数字可信 · 口径统一 · 安全合规 · 成本可控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562103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94318" y="2562103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管哪些</a:t>
            </a:r>
          </a:p>
        </p:txBody>
      </p:sp>
      <p:pic>
        <p:nvPicPr>
          <p:cNvPr id="50" name="Picture 49" descr="list-check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512" y="2739496"/>
            <a:ext cx="266090" cy="26609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2927908" y="2562103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标准 · 家谱 · 编号 · 体检 · 口径 · 权限 · 大扫除 · 出口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3271677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94318" y="3271677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3FB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怎么嵌入</a:t>
            </a:r>
          </a:p>
        </p:txBody>
      </p:sp>
      <p:pic>
        <p:nvPicPr>
          <p:cNvPr id="54" name="Picture 53" descr="workflow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6512" y="3449071"/>
            <a:ext cx="266090" cy="26609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927908" y="3271677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事前定规范 · 事中设卡点 · 事后做治理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981251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81251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6CC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用什么</a:t>
            </a:r>
          </a:p>
        </p:txBody>
      </p:sp>
      <p:pic>
        <p:nvPicPr>
          <p:cNvPr id="58" name="Picture 57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6512" y="415864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927908" y="3981251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已买的 DataWorks 模块 + 自写检查脚本和检查节点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690826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94318" y="4690826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9ED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谁来管</a:t>
            </a:r>
          </a:p>
        </p:txBody>
      </p:sp>
      <p:pic>
        <p:nvPicPr>
          <p:cNvPr id="62" name="Picture 61" descr="us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6512" y="4868219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2927908" y="4690826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治理小组拍板 · 数据负责人推动 · 专员执行 · 健康分月度公示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69184" y="1852528"/>
            <a:ext cx="3423696" cy="3459175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35275" y="1994443"/>
            <a:ext cx="298021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先治一条主线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35275" y="2322621"/>
            <a:ext cx="2980212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公司最核心、问题最多的一条线</a:t>
            </a:r>
          </a:p>
        </p:txBody>
      </p:sp>
      <p:sp>
        <p:nvSpPr>
          <p:cNvPr id="67" name="Oval 66"/>
          <p:cNvSpPr/>
          <p:nvPr/>
        </p:nvSpPr>
        <p:spPr>
          <a:xfrm>
            <a:off x="7779622" y="2766105"/>
            <a:ext cx="549920" cy="549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ceip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2668" y="2899150"/>
            <a:ext cx="283829" cy="283829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489198" y="2766105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7965887" y="3351503"/>
            <a:ext cx="177393" cy="150784"/>
          </a:xfrm>
          <a:prstGeom prst="down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79622" y="3520028"/>
            <a:ext cx="549920" cy="549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can-fac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2668" y="3653073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89198" y="3520028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核销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7965887" y="4105427"/>
            <a:ext cx="177393" cy="150784"/>
          </a:xfrm>
          <a:prstGeom prst="down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79622" y="4273951"/>
            <a:ext cx="549920" cy="549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wallet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12668" y="4406996"/>
            <a:ext cx="283829" cy="28382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89198" y="4273951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结算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35275" y="4956916"/>
            <a:ext cx="2980212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做通后按数据域推广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515706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zap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451" y="5648751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515706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关键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规矩不只写在文档里，而是写进开发流程：不合规的表发不出去，有问题的数流不到报表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治理具体管 8 件事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每件都有产出、有考核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用大白话说，就是给数据定规矩、上户口、建家谱、做体检、管权限、搞卫生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25649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929" y="2347607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48240" y="220791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48240" y="2491740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846527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命名、分层、字段、码值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3971" y="3307750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60408" y="3307750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规范符合率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25649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older-tre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920" y="2347607"/>
            <a:ext cx="243916" cy="24391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67230" y="220791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建家谱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30" y="2491740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72961" y="2846527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含义、负责人、上下游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72961" y="3307750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79398" y="3307750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注释 / 负责人覆盖率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25649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d-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909" y="2347607"/>
            <a:ext cx="243916" cy="24391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86219" y="220791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6219" y="2491740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951" y="2846527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1951" y="3307750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8387" y="3307750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编码重复率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25649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tethoscop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2898" y="2347607"/>
            <a:ext cx="243916" cy="243916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305208" y="220791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05208" y="2491740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10940" y="2846527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完整、准确、一致、及时、唯一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10940" y="3307750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17376" y="3307750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按时产出率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3955237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13263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5929" y="4254588"/>
            <a:ext cx="243916" cy="24391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748240" y="411489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240" y="4398721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指标与标签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53971" y="4753508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口径、分类分级、认证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53971" y="5214731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60408" y="5214731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认证指标覆盖率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13307" y="3955237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413263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4920" y="4254588"/>
            <a:ext cx="243916" cy="243916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67230" y="411489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67230" y="4398721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72961" y="4753508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分级、权属、审批、审计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72961" y="5214731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779398" y="5214731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敏感字段识别率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3955237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413263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trash2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3909" y="4254588"/>
            <a:ext cx="243916" cy="24391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86219" y="411489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定期大扫除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86219" y="4398721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91951" y="4753508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健康分、成本、下线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1951" y="5214731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98387" y="5214731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无用资产占比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51285" y="3955237"/>
            <a:ext cx="2341595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413263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2898" y="4254588"/>
            <a:ext cx="243916" cy="243916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305208" y="4114890"/>
            <a:ext cx="1498975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05208" y="4398721"/>
            <a:ext cx="149897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10940" y="4753508"/>
            <a:ext cx="20755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对内对外只走一个出口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710940" y="5214731"/>
            <a:ext cx="2022287" cy="337047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817376" y="5214731"/>
            <a:ext cx="189811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看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出口收敛率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定规矩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每张表都有“身份证号”，一看名字就知道是什么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新表不合规发不出去；老表不一刀切，按优先级分批整改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77136"/>
            <a:ext cx="9898562" cy="1685239"/>
          </a:xfrm>
          <a:prstGeom prst="roundRect">
            <a:avLst>
              <a:gd name="adj" fmla="val 73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d-car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72269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195453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表名就是身份证号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198433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3645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加工到哪一层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3645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“洗干净”层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5662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7404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ord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02617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哪块业务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2617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94634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16376" y="2398014"/>
            <a:ext cx="2192782" cy="514441"/>
          </a:xfrm>
          <a:prstGeom prst="roundRect">
            <a:avLst>
              <a:gd name="adj" fmla="val 1724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order_item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61588" y="2956803"/>
            <a:ext cx="2902356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什么内容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1588" y="3160805"/>
            <a:ext cx="290235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5BBFAE"/>
                </a:solidFill>
                <a:latin typeface="微软雅黑"/>
                <a:ea typeface="微软雅黑"/>
              </a:rPr>
              <a:t>订单明细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9158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30900" y="2398014"/>
            <a:ext cx="757864" cy="514441"/>
          </a:xfrm>
          <a:prstGeom prst="roundRect">
            <a:avLst>
              <a:gd name="adj" fmla="val 1724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di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76112" y="2956803"/>
            <a:ext cx="1467439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怎么更新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6112" y="3160805"/>
            <a:ext cx="1467439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每天增量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1711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字段统一叫法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16060" y="405664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8680" y="405664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16060" y="433160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金额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8680" y="433160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…_amt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6060" y="460656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时间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8680" y="460656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6060" y="48815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日期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8680" y="488152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…_date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6060" y="515648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是否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8680" y="515648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is_…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352970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0364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建表 8 项必填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30364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中文名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08678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描述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57643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3036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安全等级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38028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生命周期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45692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分区字段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30364" y="4819436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字段注释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38028" y="4819436"/>
            <a:ext cx="1245450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发生 / 上报时间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3595420"/>
            <a:ext cx="3181258" cy="1906981"/>
          </a:xfrm>
          <a:prstGeom prst="roundRect">
            <a:avLst>
              <a:gd name="adj" fmla="val 55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89015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发布前自动检查</a:t>
            </a:r>
          </a:p>
        </p:txBody>
      </p:sp>
      <p:pic>
        <p:nvPicPr>
          <p:cNvPr id="86" name="Picture 85" descr="pen-li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6755" y="4136470"/>
            <a:ext cx="248351" cy="24835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243802" y="4083253"/>
            <a:ext cx="251603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开发提交</a:t>
            </a:r>
          </a:p>
        </p:txBody>
      </p:sp>
      <p:pic>
        <p:nvPicPr>
          <p:cNvPr id="88" name="Picture 87" descr="search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755" y="459769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243802" y="4544476"/>
            <a:ext cx="251603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脚本检查：命名 · 分层 · 注释 · 负责人 · 等级</a:t>
            </a:r>
          </a:p>
        </p:txBody>
      </p:sp>
      <p:pic>
        <p:nvPicPr>
          <p:cNvPr id="90" name="Picture 89" descr="circle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6755" y="5058917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243802" y="5005699"/>
            <a:ext cx="251603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通过才上线，不过就打回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563544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histor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746318"/>
            <a:ext cx="266090" cy="26609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570847" y="563544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老表怎么办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不一次性改名：新表强制执行，老表按健康分分批整改，改名时保留兼容视图，下游不受影响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统一编号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prd_id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channel_id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sup_id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one_id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建家谱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专业叫“数据血缘”，从源头一直打通到报表、接口和智能体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每天体检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五项检查，强弱两档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关键数据算完立刻自动检查，不合格的数据拦在报表外面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完整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订单号、景区编号不能空；日订单量比近 7 天平均波动超 30% 报警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准确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金额不能为负；核销时间不能早于下单时间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一致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对得上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仓库里的订单金额汇总 = 业务系统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及时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核心报表每天 7:00 前算完，晚了报警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唯一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不重复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订单号不重复；同一张票不能重复核销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强规则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核心表、对外接口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拦住下游，通知负责人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当天修好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弱规则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一般表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只提醒，不拦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一周内修好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出了问题怎么办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拦住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修复重跑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登记问题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同类问题出现两次，就补一条规则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统一口径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集团出标准，景区可以自己加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26498" y="2029922"/>
            <a:ext cx="3902658" cy="691835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集团标准库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标准指标 · 标准标签 · 版本管理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1689109" y="2792714"/>
            <a:ext cx="177393" cy="230611"/>
          </a:xfrm>
          <a:prstGeom prst="down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3094283"/>
            <a:ext cx="1566976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景区 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626464"/>
            <a:ext cx="156697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自定义空间</a:t>
            </a:r>
          </a:p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只给自己用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3389132" y="2792714"/>
            <a:ext cx="177393" cy="230611"/>
          </a:xfrm>
          <a:prstGeom prst="down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694340" y="3094283"/>
            <a:ext cx="1566976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景区 B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4340" y="3626464"/>
            <a:ext cx="156697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自定义空间</a:t>
            </a:r>
          </a:p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只给自己用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5089153" y="2792714"/>
            <a:ext cx="177393" cy="230611"/>
          </a:xfrm>
          <a:prstGeom prst="down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94361" y="3094283"/>
            <a:ext cx="1566976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94361" y="3626464"/>
            <a:ext cx="156697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自定义空间</a:t>
            </a:r>
          </a:p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只给自己用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4300560"/>
            <a:ext cx="4967020" cy="372526"/>
          </a:xfrm>
          <a:prstGeom prst="roundRect">
            <a:avLst>
              <a:gd name="adj" fmla="val 1904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4380387"/>
            <a:ext cx="212872" cy="21287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37802" y="4300560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好用的自定义指标，评审后收回成集团标准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4318" y="4806132"/>
            <a:ext cx="4967020" cy="7539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只能基于集团标准和已授权的数据派生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不能和集团标准同名，不覆盖、不影响别人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27428" y="2029922"/>
            <a:ext cx="4665451" cy="1906981"/>
          </a:xfrm>
          <a:prstGeom prst="roundRect">
            <a:avLst>
              <a:gd name="adj" fmla="val 55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4822" y="2118619"/>
            <a:ext cx="439936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一个指标要说清四件事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4822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2747" y="2526624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22403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0328" y="2526624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39982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97908" y="2526624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57562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4822" y="3298286"/>
            <a:ext cx="4310664" cy="487832"/>
          </a:xfrm>
          <a:prstGeom prst="roundRect">
            <a:avLst>
              <a:gd name="adj" fmla="val 1454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428" y="4096557"/>
            <a:ext cx="466545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CAB93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27428" y="4477953"/>
            <a:ext cx="966795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7229702" y="4708565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60315" y="4477953"/>
            <a:ext cx="966795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8462588" y="4708565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693200" y="4477953"/>
            <a:ext cx="966795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9695474" y="4708565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926086" y="4477953"/>
            <a:ext cx="966795" cy="638616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27428" y="5382661"/>
            <a:ext cx="4665451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badg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2561" y="5493532"/>
            <a:ext cx="266090" cy="26609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803958" y="5382661"/>
            <a:ext cx="391152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  <a:latin typeface="微软雅黑"/>
                <a:ea typeface="微软雅黑"/>
              </a:rPr>
              <a:t>门槛　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认证过的指标和标签，才能进老板看板、接口和 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管好权限①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数据分四级，各有各的主人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越敏感，管得越严；谁的数据，只服务谁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  <a:p>
            <a:pPr algn="ctr"/>
            <a:r>
              <a:rPr sz="950" b="0">
                <a:solidFill>
                  <a:srgbClr val="FCE6D2"/>
                </a:solidFill>
                <a:latin typeface="微软雅黑"/>
                <a:ea typeface="微软雅黑"/>
              </a:rPr>
              <a:t>L4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53812" y="2048256"/>
            <a:ext cx="48605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31206" y="2048256"/>
            <a:ext cx="452353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手机号、证件号、人脸、政务核验结果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加密、打码、最小授权、全程审计；明文不进大模型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60408" y="2935224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19903" y="2935224"/>
            <a:ext cx="459449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7297" y="2935224"/>
            <a:ext cx="425744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单景区经营数据、价格、结算、供应商合作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供应商隔离；跨主体只看汇总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26498" y="3822191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85993" y="3822191"/>
            <a:ext cx="432840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3387" y="3822191"/>
            <a:ext cx="399135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日志、设备状态、运营数据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92589" y="4709160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052084" y="4709160"/>
            <a:ext cx="406231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29477" y="4709160"/>
            <a:ext cx="3725265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已发布的报告、规范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80488" y="2048256"/>
            <a:ext cx="3512393" cy="3423696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key-rou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230" y="2207910"/>
            <a:ext cx="319308" cy="3193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001364" y="2172431"/>
            <a:ext cx="280281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谁的数据，只服务谁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8" y="269574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景区数据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3985" y="269574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只服务该景区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46578" y="308600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供应商数据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43985" y="308600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只服务该供应商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46578" y="3476274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渠道数据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43985" y="3476274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不给其他渠道看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8" y="3866540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游客信息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43985" y="3866540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在授权范围内用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46578" y="4256806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政务数据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43985" y="4256806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只用核验结果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46578" y="464707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43985" y="464707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按合同约定用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8" y="503733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对外输出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43985" y="503733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只给匿名汇总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管好权限②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谁能看什么，三把锁锁住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角色决定能用哪些功能，范围决定能看哪些景区，等级决定能看哪些字段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69118" y="1958964"/>
            <a:ext cx="1135319" cy="372526"/>
          </a:xfrm>
          <a:prstGeom prst="roundRect">
            <a:avLst>
              <a:gd name="adj" fmla="val 19047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57656" y="1958964"/>
            <a:ext cx="1135319" cy="372526"/>
          </a:xfrm>
          <a:prstGeom prst="roundRect">
            <a:avLst>
              <a:gd name="adj" fmla="val 19047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6193" y="1958964"/>
            <a:ext cx="1135319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34730" y="1958964"/>
            <a:ext cx="1135319" cy="372526"/>
          </a:xfrm>
          <a:prstGeom prst="roundRect">
            <a:avLst>
              <a:gd name="adj" fmla="val 1904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4318" y="2402448"/>
            <a:ext cx="128610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9118" y="2402448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7656" y="2402448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46193" y="2402448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34730" y="2402448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4318" y="2899150"/>
            <a:ext cx="128610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9118" y="2899150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57656" y="2899150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746193" y="2899150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34730" y="2899150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318" y="3395853"/>
            <a:ext cx="128610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9118" y="3395853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557656" y="3395853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46193" y="3395853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34730" y="3395853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318" y="3892555"/>
            <a:ext cx="128610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69118" y="3892555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57656" y="3892555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46193" y="3892555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34730" y="3892555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4318" y="4389257"/>
            <a:ext cx="128610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69118" y="4389257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57656" y="4389257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746193" y="4389257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34730" y="4389257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4318" y="4885959"/>
            <a:ext cx="128610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69118" y="4885959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57656" y="4885959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46193" y="4885959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34730" y="4885959"/>
            <a:ext cx="1135319" cy="443484"/>
          </a:xfrm>
          <a:prstGeom prst="roundRect">
            <a:avLst>
              <a:gd name="adj" fmla="val 16000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382661"/>
            <a:ext cx="6075730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115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80488" y="1958964"/>
            <a:ext cx="351239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CAB93"/>
                </a:solidFill>
                <a:latin typeface="微软雅黑"/>
                <a:ea typeface="微软雅黑"/>
              </a:rPr>
              <a:t>权限怎么申请和收回</a:t>
            </a:r>
          </a:p>
        </p:txBody>
      </p:sp>
      <p:sp>
        <p:nvSpPr>
          <p:cNvPr id="80" name="Oval 79"/>
          <p:cNvSpPr/>
          <p:nvPr/>
        </p:nvSpPr>
        <p:spPr>
          <a:xfrm>
            <a:off x="7380488" y="242018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923" y="2526624"/>
            <a:ext cx="212872" cy="21287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930407" y="2384709"/>
            <a:ext cx="293586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30407" y="2641930"/>
            <a:ext cx="293586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说明用途和期限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593360" y="2863672"/>
            <a:ext cx="0" cy="177393"/>
          </a:xfrm>
          <a:prstGeom prst="line">
            <a:avLst/>
          </a:prstGeom>
          <a:ln w="15875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380488" y="305880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tam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6923" y="3165241"/>
            <a:ext cx="212872" cy="2128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930407" y="3023326"/>
            <a:ext cx="293586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930407" y="3280547"/>
            <a:ext cx="293586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数据负责人；高敏加安全负责人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593360" y="3502289"/>
            <a:ext cx="0" cy="177393"/>
          </a:xfrm>
          <a:prstGeom prst="line">
            <a:avLst/>
          </a:prstGeom>
          <a:ln w="15875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380488" y="369742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key-rou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6923" y="3803858"/>
            <a:ext cx="212872" cy="21287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930407" y="3661943"/>
            <a:ext cx="293586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授权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30407" y="3919164"/>
            <a:ext cx="293586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最小范围，设到期时间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7593360" y="4140906"/>
            <a:ext cx="0" cy="177393"/>
          </a:xfrm>
          <a:prstGeom prst="line">
            <a:avLst/>
          </a:prstGeom>
          <a:ln w="15875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7380488" y="4336039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ey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923" y="4442475"/>
            <a:ext cx="212872" cy="212872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7930407" y="4300560"/>
            <a:ext cx="293586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30407" y="4557781"/>
            <a:ext cx="293586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访问全程留痕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593360" y="4779523"/>
            <a:ext cx="0" cy="177393"/>
          </a:xfrm>
          <a:prstGeom prst="line">
            <a:avLst/>
          </a:prstGeom>
          <a:ln w="15875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380488" y="4974656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archiv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923" y="5081092"/>
            <a:ext cx="212872" cy="212872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930407" y="4939177"/>
            <a:ext cx="293586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回收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30407" y="5196398"/>
            <a:ext cx="293586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到期、离岗、项目结束自动收回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380488" y="5622142"/>
            <a:ext cx="3512393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每季度复核一次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定期大扫除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给数据资产打分，没人用的就下线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像体检报告一样，每月按负责人、按业务给数据资产打“健康分”，公示排名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00930" cy="3947007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6704"/>
            <a:ext cx="4700930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83140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304757" y="2083140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82150" y="2083140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48240" y="1976704"/>
            <a:ext cx="381396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资产健康分 · 月度公示（示意）</a:t>
            </a:r>
          </a:p>
        </p:txBody>
      </p:sp>
      <p:sp>
        <p:nvSpPr>
          <p:cNvPr id="50" name="Oval 49"/>
          <p:cNvSpPr/>
          <p:nvPr/>
        </p:nvSpPr>
        <p:spPr>
          <a:xfrm>
            <a:off x="1216060" y="2491144"/>
            <a:ext cx="399135" cy="39913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844" y="2590928"/>
            <a:ext cx="199567" cy="199567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48240" y="2446797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48240" y="2712886"/>
            <a:ext cx="372526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命名、注释、负责人、等级是否齐全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546512" y="2517754"/>
            <a:ext cx="2882646" cy="141914"/>
          </a:xfrm>
          <a:prstGeom prst="roundRect">
            <a:avLst>
              <a:gd name="adj" fmla="val 50000"/>
            </a:avLst>
          </a:prstGeom>
          <a:solidFill>
            <a:srgbClr val="E7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546512" y="2517754"/>
            <a:ext cx="2363769" cy="14191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16060" y="3156370"/>
            <a:ext cx="399135" cy="39913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tethoscop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844" y="3256155"/>
            <a:ext cx="199567" cy="1995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48240" y="31120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48240" y="3378113"/>
            <a:ext cx="372526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规则覆盖、通过率、按时产出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546512" y="3182980"/>
            <a:ext cx="2882646" cy="141914"/>
          </a:xfrm>
          <a:prstGeom prst="roundRect">
            <a:avLst>
              <a:gd name="adj" fmla="val 50000"/>
            </a:avLst>
          </a:prstGeom>
          <a:solidFill>
            <a:srgbClr val="E7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546512" y="3182980"/>
            <a:ext cx="1960199" cy="14191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216060" y="3821597"/>
            <a:ext cx="399135" cy="39913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844" y="3921381"/>
            <a:ext cx="199567" cy="19956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48240" y="3777249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48240" y="4043339"/>
            <a:ext cx="372526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敏感字段是否打标、是否打码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546512" y="3848206"/>
            <a:ext cx="2882646" cy="141914"/>
          </a:xfrm>
          <a:prstGeom prst="roundRect">
            <a:avLst>
              <a:gd name="adj" fmla="val 50000"/>
            </a:avLst>
          </a:prstGeom>
          <a:solidFill>
            <a:srgbClr val="E7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546512" y="3848206"/>
            <a:ext cx="2594381" cy="14191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216060" y="4486823"/>
            <a:ext cx="399135" cy="39913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ey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844" y="4586607"/>
            <a:ext cx="199567" cy="19956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748240" y="4442475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48240" y="4708565"/>
            <a:ext cx="372526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访问次数、下游引用数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6512" y="4513432"/>
            <a:ext cx="2882646" cy="141914"/>
          </a:xfrm>
          <a:prstGeom prst="roundRect">
            <a:avLst>
              <a:gd name="adj" fmla="val 50000"/>
            </a:avLst>
          </a:prstGeom>
          <a:solidFill>
            <a:srgbClr val="E7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546512" y="4513432"/>
            <a:ext cx="1585455" cy="14191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216060" y="5152049"/>
            <a:ext cx="399135" cy="39913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coin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844" y="5251833"/>
            <a:ext cx="199567" cy="19956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748240" y="5107701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240" y="5373791"/>
            <a:ext cx="372526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存储量、计算耗时、重复计算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546512" y="5178658"/>
            <a:ext cx="2882646" cy="141914"/>
          </a:xfrm>
          <a:prstGeom prst="roundRect">
            <a:avLst>
              <a:gd name="adj" fmla="val 50000"/>
            </a:avLst>
          </a:prstGeom>
          <a:solidFill>
            <a:srgbClr val="E7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546512" y="5178658"/>
            <a:ext cx="1787240" cy="14191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96133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B2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03254" y="1976704"/>
            <a:ext cx="493154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没人用的数据，按步骤下线</a:t>
            </a:r>
          </a:p>
        </p:txBody>
      </p:sp>
      <p:sp>
        <p:nvSpPr>
          <p:cNvPr id="82" name="Oval 81"/>
          <p:cNvSpPr/>
          <p:nvPr/>
        </p:nvSpPr>
        <p:spPr>
          <a:xfrm>
            <a:off x="5961338" y="2420188"/>
            <a:ext cx="408005" cy="408005"/>
          </a:xfrm>
          <a:prstGeom prst="ellipse">
            <a:avLst/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search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58905" y="2517754"/>
            <a:ext cx="212872" cy="21287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493519" y="2420188"/>
            <a:ext cx="1108710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02230" y="2420188"/>
            <a:ext cx="324630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没有下游 · 重复模型 · 临时表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165342" y="2828193"/>
            <a:ext cx="0" cy="141914"/>
          </a:xfrm>
          <a:prstGeom prst="line">
            <a:avLst/>
          </a:prstGeom>
          <a:ln w="15875">
            <a:solidFill>
              <a:srgbClr val="F2D2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5961338" y="2970108"/>
            <a:ext cx="408005" cy="408005"/>
          </a:xfrm>
          <a:prstGeom prst="ellipse">
            <a:avLst/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bell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58905" y="3067674"/>
            <a:ext cx="212872" cy="2128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493519" y="2970108"/>
            <a:ext cx="1108710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02230" y="2970108"/>
            <a:ext cx="324630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165342" y="3378113"/>
            <a:ext cx="0" cy="141914"/>
          </a:xfrm>
          <a:prstGeom prst="line">
            <a:avLst/>
          </a:prstGeom>
          <a:ln w="15875">
            <a:solidFill>
              <a:srgbClr val="F2D2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961338" y="3520028"/>
            <a:ext cx="408005" cy="408005"/>
          </a:xfrm>
          <a:prstGeom prst="ellipse">
            <a:avLst/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lock_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8905" y="3617594"/>
            <a:ext cx="212872" cy="21287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493519" y="3520028"/>
            <a:ext cx="1108710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02230" y="3520028"/>
            <a:ext cx="324630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165342" y="3928033"/>
            <a:ext cx="0" cy="141914"/>
          </a:xfrm>
          <a:prstGeom prst="line">
            <a:avLst/>
          </a:prstGeom>
          <a:ln w="15875">
            <a:solidFill>
              <a:srgbClr val="F2D2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5961338" y="4069948"/>
            <a:ext cx="408005" cy="408005"/>
          </a:xfrm>
          <a:prstGeom prst="ellipse">
            <a:avLst/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clock_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8905" y="4167515"/>
            <a:ext cx="212872" cy="212872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493519" y="4069948"/>
            <a:ext cx="1108710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观察 30 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02230" y="4069948"/>
            <a:ext cx="324630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165342" y="4477953"/>
            <a:ext cx="0" cy="141914"/>
          </a:xfrm>
          <a:prstGeom prst="line">
            <a:avLst/>
          </a:prstGeom>
          <a:ln w="15875">
            <a:solidFill>
              <a:srgbClr val="F2D2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5961338" y="4619868"/>
            <a:ext cx="408005" cy="408005"/>
          </a:xfrm>
          <a:prstGeom prst="ellipse">
            <a:avLst/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trash2_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58905" y="4717435"/>
            <a:ext cx="212872" cy="212872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6493519" y="4619868"/>
            <a:ext cx="1108710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02230" y="4619868"/>
            <a:ext cx="324630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有人反馈就恢复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961338" y="5240746"/>
            <a:ext cx="4931542" cy="682965"/>
          </a:xfrm>
          <a:prstGeom prst="roundRect">
            <a:avLst>
              <a:gd name="adj" fmla="val 1298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38732" y="5240746"/>
            <a:ext cx="4665451" cy="6829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· 临时表到期自动清理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· 重复模型合并到公共层，先双跑对比再切换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统一出口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所有数据只从一个“窗口”出去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不再点对点导数、私接数据库；对内对外都走动态数据开放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31923"/>
            <a:ext cx="2128723" cy="709574"/>
          </a:xfrm>
          <a:prstGeom prst="roundRect">
            <a:avLst>
              <a:gd name="adj" fmla="val 125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认证指标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口径确认过的数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123041" y="2486710"/>
            <a:ext cx="532180" cy="399135"/>
          </a:xfrm>
          <a:prstGeom prst="line">
            <a:avLst/>
          </a:prstGeom>
          <a:ln w="1905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94318" y="2974543"/>
            <a:ext cx="2128723" cy="709574"/>
          </a:xfrm>
          <a:prstGeom prst="roundRect">
            <a:avLst>
              <a:gd name="adj" fmla="val 125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标准 + 自定义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3123041" y="2885846"/>
            <a:ext cx="532180" cy="443484"/>
          </a:xfrm>
          <a:prstGeom prst="line">
            <a:avLst/>
          </a:prstGeom>
          <a:ln w="1905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699569" y="2043226"/>
            <a:ext cx="2926994" cy="1729587"/>
          </a:xfrm>
          <a:prstGeom prst="roundRect">
            <a:avLst>
              <a:gd name="adj" fmla="val 82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935" y="2149662"/>
            <a:ext cx="390265" cy="390265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699569" y="2575407"/>
            <a:ext cx="292699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76964" y="2974543"/>
            <a:ext cx="257220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10000"/>
              </a:lnSpc>
              <a:spcBef>
                <a:spcPts val="194"/>
              </a:spcBef>
            </a:pP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6626564" y="2220620"/>
            <a:ext cx="532180" cy="691835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158745" y="2043226"/>
            <a:ext cx="3734135" cy="37252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ayout-dashbo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1790" y="2114184"/>
            <a:ext cx="230611" cy="23061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602229" y="2043226"/>
            <a:ext cx="320195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景区 SaaS / 经营看板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6626564" y="2664104"/>
            <a:ext cx="532180" cy="24835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7158745" y="2486710"/>
            <a:ext cx="3734135" cy="37252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megaphon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790" y="2557668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02229" y="2486710"/>
            <a:ext cx="320195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营销：圈人 · 触达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626564" y="2912455"/>
            <a:ext cx="532180" cy="19513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158745" y="2930194"/>
            <a:ext cx="3734135" cy="37252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handshak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1790" y="3001152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602229" y="2930194"/>
            <a:ext cx="320195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供应商 / 合作伙伴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26564" y="2912455"/>
            <a:ext cx="532180" cy="638616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7158745" y="3373677"/>
            <a:ext cx="3734135" cy="37252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o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1790" y="3444635"/>
            <a:ext cx="230611" cy="23061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7602229" y="3373677"/>
            <a:ext cx="320195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10986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40389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四种用法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4318" y="4438040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153971" y="45710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53971" y="4571085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97456" y="4553346"/>
            <a:ext cx="167636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71711" y="5041178"/>
            <a:ext cx="2031156" cy="7539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景区经营看板：销售额、核销量、入园人次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13307" y="4438040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72961" y="45710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672961" y="4571085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6445" y="4553346"/>
            <a:ext cx="167636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90701" y="5041178"/>
            <a:ext cx="2031156" cy="7539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按会员等级看复购率；按游客偏好看各票种销量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2296" y="4438040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91951" y="45710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91951" y="4571085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35435" y="4553346"/>
            <a:ext cx="167636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09690" y="5041178"/>
            <a:ext cx="2031156" cy="7539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圈出“近 90 天没复购的年卡用户”推活动，再看转化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551285" y="4438040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10940" y="45710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10940" y="4571085"/>
            <a:ext cx="354787" cy="354787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54424" y="4553346"/>
            <a:ext cx="167636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只查标签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28679" y="5041178"/>
            <a:ext cx="2031156" cy="7539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智能体按游客偏好做个性化推荐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治理写进开发每一步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事前定规范、事中设卡点、事后做治理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不另起流程，而是把检查站放进大家每天都要走的路上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3033430" cy="3947007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6704"/>
            <a:ext cx="3033430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79842"/>
            <a:ext cx="3033430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80706"/>
            <a:ext cx="399135" cy="39913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47661"/>
            <a:ext cx="2146462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E6F6F2"/>
                </a:solidFill>
                <a:latin typeface="微软雅黑"/>
                <a:ea typeface="微软雅黑"/>
              </a:rPr>
              <a:t>事前 · </a:t>
            </a:r>
            <a:r>
              <a:rPr sz="1850" b="1">
                <a:solidFill>
                  <a:srgbClr val="FFFFFF"/>
                </a:solidFill>
                <a:latin typeface="微软雅黑"/>
                <a:ea typeface="微软雅黑"/>
              </a:rPr>
              <a:t>定规范</a:t>
            </a: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094283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3023326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需求：确认口径，复用已认证指标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590984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82150" y="3520027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设计：模型评审，定数据域、分层、等级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9451" y="4575520"/>
            <a:ext cx="267864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谁来做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9451" y="4797262"/>
            <a:ext cx="267864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数据架构师 · 治理专员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71711" y="5196398"/>
            <a:ext cx="2678643" cy="549920"/>
          </a:xfrm>
          <a:prstGeom prst="roundRect">
            <a:avLst>
              <a:gd name="adj" fmla="val 12903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17739" bIns="17739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做不到会怎样</a:t>
            </a:r>
          </a:p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不过评审，不能进入开发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4116444" y="3777249"/>
            <a:ext cx="221742" cy="266090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26884" y="1976704"/>
            <a:ext cx="3033430" cy="3947007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426884" y="1976704"/>
            <a:ext cx="3033430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26884" y="2579842"/>
            <a:ext cx="3033430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626" y="2180706"/>
            <a:ext cx="399135" cy="39913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80807" y="2047661"/>
            <a:ext cx="2146462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E6F6F2"/>
                </a:solidFill>
                <a:latin typeface="微软雅黑"/>
                <a:ea typeface="微软雅黑"/>
              </a:rPr>
              <a:t>事中 · </a:t>
            </a:r>
            <a:r>
              <a:rPr sz="1850" b="1">
                <a:solidFill>
                  <a:srgbClr val="FFFFFF"/>
                </a:solidFill>
                <a:latin typeface="微软雅黑"/>
                <a:ea typeface="微软雅黑"/>
              </a:rPr>
              <a:t>设卡点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017" y="3094283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14717" y="3023326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开发：按规范写，绑定质量规则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017" y="3590984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14717" y="3520027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发布：检查脚本自动卡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017" y="4087688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14717" y="4016730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运行：质量检查，不合格拦下游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22017" y="4575520"/>
            <a:ext cx="267864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谁来做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22017" y="4797262"/>
            <a:ext cx="267864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平台自动执行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04278" y="5196398"/>
            <a:ext cx="2678643" cy="549920"/>
          </a:xfrm>
          <a:prstGeom prst="roundRect">
            <a:avLst>
              <a:gd name="adj" fmla="val 12903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17739" bIns="17739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做不到会怎样</a:t>
            </a:r>
          </a:p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不合规发不出去；下游不运行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7549011" y="3777249"/>
            <a:ext cx="221742" cy="266090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59450" y="1976704"/>
            <a:ext cx="3033430" cy="3947007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859450" y="1976704"/>
            <a:ext cx="3033430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859450" y="2579842"/>
            <a:ext cx="3033430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1192" y="2180706"/>
            <a:ext cx="399135" cy="39913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613373" y="2047661"/>
            <a:ext cx="2146462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E6F6F2"/>
                </a:solidFill>
                <a:latin typeface="微软雅黑"/>
                <a:ea typeface="微软雅黑"/>
              </a:rPr>
              <a:t>事后 · </a:t>
            </a:r>
            <a:r>
              <a:rPr sz="1850" b="1">
                <a:solidFill>
                  <a:srgbClr val="FFFFFF"/>
                </a:solidFill>
                <a:latin typeface="微软雅黑"/>
                <a:ea typeface="微软雅黑"/>
              </a:rPr>
              <a:t>做治理</a:t>
            </a:r>
          </a:p>
        </p:txBody>
      </p:sp>
      <p:pic>
        <p:nvPicPr>
          <p:cNvPr id="77" name="Picture 7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583" y="3094283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47283" y="3023326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运营：健康分、成本、下线</a:t>
            </a: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583" y="3590984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347283" y="3520027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复盘：补规范、补规则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54583" y="4575520"/>
            <a:ext cx="267864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谁来做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54583" y="4797262"/>
            <a:ext cx="267864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数据负责人 · 治理专员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36844" y="5196398"/>
            <a:ext cx="2678643" cy="549920"/>
          </a:xfrm>
          <a:prstGeom prst="roundRect">
            <a:avLst>
              <a:gd name="adj" fmla="val 12903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17739" bIns="17739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做不到会怎样</a:t>
            </a:r>
          </a:p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健康分低的排名公示，限期整改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谁来管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一个小组拍板，各业务线有人对接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治理不是数据团队一家的事，口径要业务来确认，争议要有人拍板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46512" y="1985573"/>
            <a:ext cx="3281781" cy="753922"/>
          </a:xfrm>
          <a:prstGeom prst="roundRect">
            <a:avLst>
              <a:gd name="adj" fmla="val 1411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数据治理小组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裁定口径 · 审批规范和指标认证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187403" y="2739496"/>
            <a:ext cx="0" cy="248351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546512" y="2987847"/>
            <a:ext cx="3281781" cy="753922"/>
          </a:xfrm>
          <a:prstGeom prst="roundRect">
            <a:avLst>
              <a:gd name="adj" fmla="val 1411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数据负责人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 · 跨部门协调 · 对健康分负责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187403" y="3741770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14331" y="3963512"/>
            <a:ext cx="4346143" cy="0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014331" y="3963512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94318" y="4185254"/>
            <a:ext cx="2040026" cy="1729587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240" y="429169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riefc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198" y="441364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3015" y="4850480"/>
            <a:ext cx="1862632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015" y="5116570"/>
            <a:ext cx="1862632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每个业务线一名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3015" y="5382661"/>
            <a:ext cx="18626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提规则 · 确认口径 · 验收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87403" y="3963512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3167390" y="4185254"/>
            <a:ext cx="2040026" cy="1729587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921311" y="429169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clipboar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271" y="4413648"/>
            <a:ext cx="243916" cy="24391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56086" y="4850480"/>
            <a:ext cx="1862632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数据治理专员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56086" y="5382661"/>
            <a:ext cx="18626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标准 · 指标 · 质量 · 资产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360474" y="3963512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5340461" y="4185254"/>
            <a:ext cx="2040026" cy="1729587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94384" y="429169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od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342" y="4413648"/>
            <a:ext cx="243916" cy="243916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429158" y="4850480"/>
            <a:ext cx="1862632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架构师 / 开发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158" y="5382661"/>
            <a:ext cx="18626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模型落地 · 问题修复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690926" y="1985573"/>
            <a:ext cx="3201954" cy="3929267"/>
          </a:xfrm>
          <a:prstGeom prst="roundRect">
            <a:avLst>
              <a:gd name="adj" fmla="val 387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12668" y="2100879"/>
            <a:ext cx="284716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CAB93"/>
                </a:solidFill>
                <a:latin typeface="微软雅黑"/>
                <a:ea typeface="微软雅黑"/>
              </a:rPr>
              <a:t>运转节奏</a:t>
            </a:r>
          </a:p>
        </p:txBody>
      </p:sp>
      <p:sp>
        <p:nvSpPr>
          <p:cNvPr id="70" name="Oval 69"/>
          <p:cNvSpPr/>
          <p:nvPr/>
        </p:nvSpPr>
        <p:spPr>
          <a:xfrm>
            <a:off x="7912668" y="2721757"/>
            <a:ext cx="549920" cy="54992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calendar-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148" y="2859237"/>
            <a:ext cx="274960" cy="274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622243" y="2633060"/>
            <a:ext cx="218194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两周一次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22243" y="2916890"/>
            <a:ext cx="21819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口径评审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22243" y="3271677"/>
            <a:ext cx="218194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新口径、口径争议集中定</a:t>
            </a:r>
          </a:p>
        </p:txBody>
      </p:sp>
      <p:sp>
        <p:nvSpPr>
          <p:cNvPr id="75" name="Oval 74"/>
          <p:cNvSpPr/>
          <p:nvPr/>
        </p:nvSpPr>
        <p:spPr>
          <a:xfrm>
            <a:off x="7912668" y="3786117"/>
            <a:ext cx="549920" cy="549920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0148" y="3923598"/>
            <a:ext cx="274960" cy="27496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622243" y="3697422"/>
            <a:ext cx="218194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每月一次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2243" y="3981251"/>
            <a:ext cx="21819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健康分公示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2243" y="4336039"/>
            <a:ext cx="218194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按负责人、按业务排名</a:t>
            </a:r>
          </a:p>
        </p:txBody>
      </p:sp>
      <p:sp>
        <p:nvSpPr>
          <p:cNvPr id="80" name="Oval 79"/>
          <p:cNvSpPr/>
          <p:nvPr/>
        </p:nvSpPr>
        <p:spPr>
          <a:xfrm>
            <a:off x="7912668" y="4850480"/>
            <a:ext cx="549920" cy="54992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refresh-cw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0148" y="4987960"/>
            <a:ext cx="274960" cy="27496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622243" y="4761783"/>
            <a:ext cx="218194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每季度一次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622243" y="5045613"/>
            <a:ext cx="21819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复盘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22243" y="5400400"/>
            <a:ext cx="218194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补规范、补规则、调整目标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怎么算做好了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试点主线的 8 个目标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先在“订单 → 核销 → 结算”上达标，再按数据域推广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081" y="2096444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89451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9451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13307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older-tre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96444"/>
            <a:ext cx="283829" cy="28382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708440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数据家谱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08440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8440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核心表注释、负责人覆盖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2296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d-car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059" y="2096444"/>
            <a:ext cx="283829" cy="28382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227429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7429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7429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景区、商品、渠道编号映射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51285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5049" y="2096444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746418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6418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6418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核心表强规则覆盖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737335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time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8081" y="3914729"/>
            <a:ext cx="283829" cy="28382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189451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≥99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9451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13307" y="3737335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cal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914729"/>
            <a:ext cx="283829" cy="283829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3708440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08440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8440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老板看板认证指标占比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2296" y="3737335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ock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6059" y="3914729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27429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7429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27429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敏感字段识别打标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51285" y="3737335"/>
            <a:ext cx="2341595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arrow-left-righ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05049" y="3914729"/>
            <a:ext cx="283829" cy="283829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746418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E6F6F2"/>
                </a:solidFill>
                <a:latin typeface="微软雅黑"/>
                <a:ea typeface="微软雅黑"/>
              </a:rPr>
              <a:t>一致性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46418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FFFFFF"/>
                </a:solidFill>
                <a:latin typeface="微软雅黑"/>
                <a:ea typeface="微软雅黑"/>
              </a:rPr>
              <a:t>0</a:t>
            </a:r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 差异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46418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537880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trash2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537880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另外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没用的表和任务，每季度清理一轮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落地四步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统接入 → 统建模 → 统开发 → 统服务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每一步都先在试点主线上做，做通了再铺开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01  数据平台</a:t>
            </a:r>
          </a:p>
        </p:txBody>
      </p:sp>
      <p:grpSp>
        <p:nvGrpSpPr>
          <p:cNvPr id="21000" name="素材 3"/>
          <p:cNvGrpSpPr/>
          <p:nvPr/>
        </p:nvGrpSpPr>
        <p:grpSpPr>
          <a:xfrm>
            <a:off x="1287017" y="2335926"/>
            <a:ext cx="9135770" cy="2122958"/>
            <a:chOff x="742226" y="3016129"/>
            <a:chExt cx="9386508" cy="2181225"/>
          </a:xfrm>
        </p:grpSpPr>
        <p:sp>
          <p:nvSpPr>
            <p:cNvPr id="210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2CAB93">
                <a:shade val="50000"/>
              </a:srgbClr>
            </a:lnRef>
            <a:fillRef idx="1">
              <a:srgbClr val="2CAB93"/>
            </a:fillRef>
            <a:effectRef idx="0">
              <a:srgbClr val="2CAB93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88696" tIns="44348" rIns="88696" bIns="44348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0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2CAB93"/>
            </a:solidFill>
            <a:ln>
              <a:noFill/>
            </a:ln>
          </p:spPr>
          <p:style>
            <a:lnRef idx="2">
              <a:srgbClr val="2CAB93">
                <a:shade val="50000"/>
              </a:srgbClr>
            </a:lnRef>
            <a:fillRef idx="1">
              <a:srgbClr val="2CAB93"/>
            </a:fillRef>
            <a:effectRef idx="0">
              <a:srgbClr val="2CAB93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88696" tIns="44348" rIns="88696" bIns="44348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2CAB93"/>
            </a:solidFill>
            <a:ln>
              <a:noFill/>
            </a:ln>
          </p:spPr>
          <p:style>
            <a:lnRef idx="2">
              <a:srgbClr val="2CAB93">
                <a:shade val="50000"/>
              </a:srgbClr>
            </a:lnRef>
            <a:fillRef idx="1">
              <a:srgbClr val="2CAB93"/>
            </a:fillRef>
            <a:effectRef idx="0">
              <a:srgbClr val="2CAB93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88696" tIns="44348" rIns="88696" bIns="44348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12" name="Picture 21011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696" y="3156867"/>
            <a:ext cx="478962" cy="478962"/>
          </a:xfrm>
          <a:prstGeom prst="rect">
            <a:avLst/>
          </a:prstGeom>
        </p:spPr>
      </p:pic>
      <p:sp>
        <p:nvSpPr>
          <p:cNvPr id="21013" name="TextBox 21012"/>
          <p:cNvSpPr txBox="1"/>
          <p:nvPr/>
        </p:nvSpPr>
        <p:spPr>
          <a:xfrm>
            <a:off x="737771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01  统接入</a:t>
            </a:r>
          </a:p>
        </p:txBody>
      </p:sp>
      <p:sp>
        <p:nvSpPr>
          <p:cNvPr id="21014" name="TextBox 21013"/>
          <p:cNvSpPr txBox="1"/>
          <p:nvPr/>
        </p:nvSpPr>
        <p:spPr>
          <a:xfrm>
            <a:off x="737771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把数据接进来</a:t>
            </a:r>
          </a:p>
        </p:txBody>
      </p:sp>
      <p:sp>
        <p:nvSpPr>
          <p:cNvPr id="21015" name="TextBox 21014"/>
          <p:cNvSpPr txBox="1"/>
          <p:nvPr/>
        </p:nvSpPr>
        <p:spPr>
          <a:xfrm>
            <a:off x="737771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统一接入规范和编号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补齐数据源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订单、核销实时链路</a:t>
            </a:r>
          </a:p>
        </p:txBody>
      </p:sp>
      <p:pic>
        <p:nvPicPr>
          <p:cNvPr id="21016" name="Picture 21015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822" y="3156867"/>
            <a:ext cx="478962" cy="478962"/>
          </a:xfrm>
          <a:prstGeom prst="rect">
            <a:avLst/>
          </a:prstGeom>
        </p:spPr>
      </p:pic>
      <p:sp>
        <p:nvSpPr>
          <p:cNvPr id="21017" name="TextBox 21016"/>
          <p:cNvSpPr txBox="1"/>
          <p:nvPr/>
        </p:nvSpPr>
        <p:spPr>
          <a:xfrm>
            <a:off x="3300897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02  统建模</a:t>
            </a:r>
          </a:p>
        </p:txBody>
      </p:sp>
      <p:sp>
        <p:nvSpPr>
          <p:cNvPr id="21018" name="TextBox 21017"/>
          <p:cNvSpPr txBox="1"/>
          <p:nvPr/>
        </p:nvSpPr>
        <p:spPr>
          <a:xfrm>
            <a:off x="3300897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把数据理清楚</a:t>
            </a:r>
          </a:p>
        </p:txBody>
      </p:sp>
      <p:sp>
        <p:nvSpPr>
          <p:cNvPr id="21019" name="TextBox 21018"/>
          <p:cNvSpPr txBox="1"/>
          <p:nvPr/>
        </p:nvSpPr>
        <p:spPr>
          <a:xfrm>
            <a:off x="3300897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划好数据域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首批指标和标签认证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重复模型合并</a:t>
            </a:r>
          </a:p>
        </p:txBody>
      </p:sp>
      <p:pic>
        <p:nvPicPr>
          <p:cNvPr id="21020" name="Picture 2101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045" y="3156867"/>
            <a:ext cx="478962" cy="478962"/>
          </a:xfrm>
          <a:prstGeom prst="rect">
            <a:avLst/>
          </a:prstGeom>
        </p:spPr>
      </p:pic>
      <p:sp>
        <p:nvSpPr>
          <p:cNvPr id="21021" name="TextBox 21020"/>
          <p:cNvSpPr txBox="1"/>
          <p:nvPr/>
        </p:nvSpPr>
        <p:spPr>
          <a:xfrm>
            <a:off x="5944119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03  统开发</a:t>
            </a:r>
          </a:p>
        </p:txBody>
      </p:sp>
      <p:sp>
        <p:nvSpPr>
          <p:cNvPr id="21022" name="TextBox 21021"/>
          <p:cNvSpPr txBox="1"/>
          <p:nvPr/>
        </p:nvSpPr>
        <p:spPr>
          <a:xfrm>
            <a:off x="5944119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把关口设起来</a:t>
            </a:r>
          </a:p>
        </p:txBody>
      </p:sp>
      <p:sp>
        <p:nvSpPr>
          <p:cNvPr id="21023" name="TextBox 21022"/>
          <p:cNvSpPr txBox="1"/>
          <p:nvPr/>
        </p:nvSpPr>
        <p:spPr>
          <a:xfrm>
            <a:off x="5944119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发布卡点上线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质量规则绑定任务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核销逐层核对</a:t>
            </a:r>
          </a:p>
        </p:txBody>
      </p:sp>
      <p:pic>
        <p:nvPicPr>
          <p:cNvPr id="21024" name="Picture 21023" descr="sen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6368" y="3156867"/>
            <a:ext cx="478962" cy="478962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8578443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04  统服务</a:t>
            </a:r>
          </a:p>
        </p:txBody>
      </p:sp>
      <p:sp>
        <p:nvSpPr>
          <p:cNvPr id="21026" name="TextBox 21025"/>
          <p:cNvSpPr txBox="1"/>
          <p:nvPr/>
        </p:nvSpPr>
        <p:spPr>
          <a:xfrm>
            <a:off x="8578443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把数据用起来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8578443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接口联合提供指标和标签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小Q 数据集统一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业务自助分析</a:t>
            </a:r>
          </a:p>
        </p:txBody>
      </p:sp>
      <p:sp>
        <p:nvSpPr>
          <p:cNvPr id="21028" name="Rounded Rectangle 21027"/>
          <p:cNvSpPr/>
          <p:nvPr/>
        </p:nvSpPr>
        <p:spPr>
          <a:xfrm>
            <a:off x="994318" y="5502402"/>
            <a:ext cx="4860584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试点先行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先做“订单 → 核销 → 结算”</a:t>
            </a:r>
          </a:p>
        </p:txBody>
      </p:sp>
      <p:sp>
        <p:nvSpPr>
          <p:cNvPr id="21029" name="Rounded Rectangle 21028"/>
          <p:cNvSpPr/>
          <p:nvPr/>
        </p:nvSpPr>
        <p:spPr>
          <a:xfrm>
            <a:off x="6032296" y="5502402"/>
            <a:ext cx="4860584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稳妥切换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老模型先双跑对比再切换，可回退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落地效果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建成后看得见的六个变化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每一项都能对比“以前”和“以后”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7"/>
            <a:ext cx="3181258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28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582" y="231375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21632" y="2202881"/>
            <a:ext cx="229429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770541"/>
            <a:ext cx="2826471" cy="443484"/>
          </a:xfrm>
          <a:prstGeom prst="roundRect">
            <a:avLst>
              <a:gd name="adj" fmla="val 16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496251" y="3249503"/>
            <a:ext cx="177393" cy="124175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71711" y="3320461"/>
            <a:ext cx="2826471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970" y="2043227"/>
            <a:ext cx="3181258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30364" y="22028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za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1235" y="2313752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080284" y="2202881"/>
            <a:ext cx="229429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2770541"/>
            <a:ext cx="2826471" cy="443484"/>
          </a:xfrm>
          <a:prstGeom prst="roundRect">
            <a:avLst>
              <a:gd name="adj" fmla="val 16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5854903" y="3249503"/>
            <a:ext cx="177393" cy="124175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30364" y="3320461"/>
            <a:ext cx="2826471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分钟级就能看到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1622" y="2043227"/>
            <a:ext cx="3181258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89015" y="22028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lay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9886" y="2313752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438936" y="2202881"/>
            <a:ext cx="229429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统一湖仓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889015" y="2770541"/>
            <a:ext cx="2826471" cy="443484"/>
          </a:xfrm>
          <a:prstGeom prst="roundRect">
            <a:avLst>
              <a:gd name="adj" fmla="val 16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同一指标两套结果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9213555" y="3249503"/>
            <a:ext cx="177393" cy="124175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889015" y="3320461"/>
            <a:ext cx="2826471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只建一次，改口径只改一处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038905"/>
            <a:ext cx="3181258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71711" y="4198559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ca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2582" y="4309430"/>
            <a:ext cx="221742" cy="22174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21632" y="4198559"/>
            <a:ext cx="229429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统一指标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71711" y="4766219"/>
            <a:ext cx="2826471" cy="443484"/>
          </a:xfrm>
          <a:prstGeom prst="roundRect">
            <a:avLst>
              <a:gd name="adj" fmla="val 16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2496251" y="5245181"/>
            <a:ext cx="177393" cy="124175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171711" y="5316139"/>
            <a:ext cx="2826471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52970" y="4038905"/>
            <a:ext cx="3181258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30364" y="4198559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1235" y="4309430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080284" y="4198559"/>
            <a:ext cx="229429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30364" y="4766219"/>
            <a:ext cx="2826471" cy="443484"/>
          </a:xfrm>
          <a:prstGeom prst="roundRect">
            <a:avLst>
              <a:gd name="adj" fmla="val 16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7" name="Down Arrow 76"/>
          <p:cNvSpPr/>
          <p:nvPr/>
        </p:nvSpPr>
        <p:spPr>
          <a:xfrm>
            <a:off x="5854903" y="5245181"/>
            <a:ext cx="177393" cy="124175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530364" y="5316139"/>
            <a:ext cx="2826471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11622" y="4038905"/>
            <a:ext cx="3181258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889015" y="4198559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earch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9886" y="4309430"/>
            <a:ext cx="221742" cy="22174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438936" y="4198559"/>
            <a:ext cx="229429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自助分析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89015" y="4766219"/>
            <a:ext cx="2826471" cy="443484"/>
          </a:xfrm>
          <a:prstGeom prst="roundRect">
            <a:avLst>
              <a:gd name="adj" fmla="val 16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84" name="Down Arrow 83"/>
          <p:cNvSpPr/>
          <p:nvPr/>
        </p:nvSpPr>
        <p:spPr>
          <a:xfrm>
            <a:off x="9213555" y="5245181"/>
            <a:ext cx="177393" cy="124175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89015" y="5316139"/>
            <a:ext cx="2826471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100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对公司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从“找人要数”变成“数据找人”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五个方面都有可衡量的变化；先建立基线，再定目标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926994" cy="3947007"/>
          </a:xfrm>
          <a:prstGeom prst="roundRect">
            <a:avLst>
              <a:gd name="adj" fmla="val 4242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92010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DB5AF"/>
                </a:solidFill>
                <a:latin typeface="微软雅黑"/>
                <a:ea typeface="微软雅黑"/>
              </a:rPr>
              <a:t>以前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6060" y="2402448"/>
            <a:ext cx="257220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50" b="1">
                <a:solidFill>
                  <a:srgbClr val="5E7772"/>
                </a:solidFill>
                <a:latin typeface="微软雅黑"/>
                <a:ea typeface="微软雅黑"/>
              </a:rPr>
              <a:t>找人要数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3023326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开会先对数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6060" y="3378113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第二天才看到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6060" y="3732900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临时找人取数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4087688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同样的模型做好几遍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3992269" y="3777249"/>
            <a:ext cx="301569" cy="354787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64795" y="1976704"/>
            <a:ext cx="6528084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86538" y="2092010"/>
            <a:ext cx="2660904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以后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86538" y="2402448"/>
            <a:ext cx="354787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数据找人</a:t>
            </a:r>
          </a:p>
        </p:txBody>
      </p:sp>
      <p:sp>
        <p:nvSpPr>
          <p:cNvPr id="55" name="Oval 54"/>
          <p:cNvSpPr/>
          <p:nvPr/>
        </p:nvSpPr>
        <p:spPr>
          <a:xfrm>
            <a:off x="4586538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975" y="3094283"/>
            <a:ext cx="212872" cy="21287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145327" y="2952369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可信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83944" y="2952369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一个指标一个口径，数字可追溯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66591" y="3076544"/>
            <a:ext cx="182395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认证指标覆盖率 · 对账差异率</a:t>
            </a:r>
          </a:p>
        </p:txBody>
      </p:sp>
      <p:sp>
        <p:nvSpPr>
          <p:cNvPr id="60" name="Oval 59"/>
          <p:cNvSpPr/>
          <p:nvPr/>
        </p:nvSpPr>
        <p:spPr>
          <a:xfrm>
            <a:off x="4586538" y="3573246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za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975" y="3679682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45327" y="3537767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时效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83944" y="3537767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订单、核销第二天 → 分钟级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66591" y="3661942"/>
            <a:ext cx="868982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端到端延迟</a:t>
            </a:r>
          </a:p>
        </p:txBody>
      </p:sp>
      <p:sp>
        <p:nvSpPr>
          <p:cNvPr id="65" name="Oval 64"/>
          <p:cNvSpPr/>
          <p:nvPr/>
        </p:nvSpPr>
        <p:spPr>
          <a:xfrm>
            <a:off x="4586538" y="415864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2975" y="426508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45327" y="4123166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效率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83944" y="4123166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公共模型复用，改动影响可预判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66591" y="4247342"/>
            <a:ext cx="147285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模型复用率 · 交付周期</a:t>
            </a:r>
          </a:p>
        </p:txBody>
      </p:sp>
      <p:sp>
        <p:nvSpPr>
          <p:cNvPr id="70" name="Oval 69"/>
          <p:cNvSpPr/>
          <p:nvPr/>
        </p:nvSpPr>
        <p:spPr>
          <a:xfrm>
            <a:off x="4586538" y="474404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iggy-ba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975" y="4850480"/>
            <a:ext cx="212872" cy="21287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145327" y="4708565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83944" y="4708565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重复模型、无用报表和任务下线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66591" y="4832741"/>
            <a:ext cx="98601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存储计算成本</a:t>
            </a:r>
          </a:p>
        </p:txBody>
      </p:sp>
      <p:sp>
        <p:nvSpPr>
          <p:cNvPr id="75" name="Oval 74"/>
          <p:cNvSpPr/>
          <p:nvPr/>
        </p:nvSpPr>
        <p:spPr>
          <a:xfrm>
            <a:off x="4586538" y="5329443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975" y="543587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145327" y="5293964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83944" y="5293964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敏感数据分级、打码、可审计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66591" y="5418140"/>
            <a:ext cx="1337104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敏感字段识别覆盖率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每个人都用上靠谱的数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从管理层到景区，九类角色的变化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管理层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驾驶舱全用认证指标，不用先对数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核销口径统一，差异自动定位；节假日实时看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业务与财务逐层对账，差异自动列原因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销量、佣金、返利口径统一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标签圈人、指标看效果，复盘自动完成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运营 / 客户成功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景区经营报告自动生成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产品研发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上线前定好口径，上线即有数据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从取数对数转向建模型、做分析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 / 供应商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直接用标准指标，不够用自己加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数据可信、有口径、有权限，AI 接上去才能答得准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先借力卖起来，再自己建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现状与底气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能做哪些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三步怎么走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先验证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再复制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何时自建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建成什么样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6752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能省什么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怎么切换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已经有 8 个智能体，来自三个地方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扣子平台上配置的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16126" y="1976704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3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工作流配置成智能体，标准化、配置化输出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和合作企业一起做的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16126" y="330715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300" b="1">
                <a:solidFill>
                  <a:srgbClr val="E39A57"/>
                </a:solidFill>
                <a:latin typeface="微软雅黑"/>
                <a:ea typeface="微软雅黑"/>
              </a:rPr>
              <a:t>1</a:t>
            </a:r>
            <a:r>
              <a:rPr sz="1150" b="1">
                <a:solidFill>
                  <a:srgbClr val="E39A57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 自带的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16126" y="4637608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300" b="1">
                <a:solidFill>
                  <a:srgbClr val="1F3A35"/>
                </a:solidFill>
                <a:latin typeface="微软雅黑"/>
                <a:ea typeface="微软雅黑"/>
              </a:rPr>
              <a:t>2</a:t>
            </a: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系统在现场、数据在手里、客户在用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别人只能做“通用聊天”，我们能做“帮景区和游客办事”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产品积累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8 条产品线，系统装在景区现场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景区业态管理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景区运营管理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景区财务管理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景区智慧终端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数据在手里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办事要用的数据，都在我们系统里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交易与客流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售票与分销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年卡与预约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订单与结算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会员与营销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闸机与物联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认证指标与标签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客户在用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大量景区已用我们的票务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接口现成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信任已有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老客户，成交最快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入口现成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小程序、公众号、APP、终端都在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结论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别人做通用聊天，我们做“能办事”的智能体 —— 这是我们的护城河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游客端能做 17 个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 6 个；其余 11 个基于现有系统和数据都可以扩展，只是先后问题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02  智能体平台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7814" y="2739496"/>
            <a:ext cx="124175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5 个 · 已有 2</a:t>
            </a:r>
          </a:p>
        </p:txBody>
      </p:sp>
      <p:sp>
        <p:nvSpPr>
          <p:cNvPr id="62" name="Oval 61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91085" y="2739496"/>
            <a:ext cx="124175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8 个 · 已有 3</a:t>
            </a:r>
          </a:p>
        </p:txBody>
      </p:sp>
      <p:sp>
        <p:nvSpPr>
          <p:cNvPr id="88" name="Oval 87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90" name="Rounded Rectangle 89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73732" y="2739496"/>
            <a:ext cx="124175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4 个 · 已有 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景区端能做 28 个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从经营、运营到安全调度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 2 个；票务、业态、财务、营销、调度的系统都是我们的，扩展有基础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34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经营问数 · 经营洞察 · 日报周报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经营日报周报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报表解读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团队报名 · 检票核销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分销渠道助手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旅行社报团助手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检票异常解释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窗口售票员助手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 · 停车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发票助手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会员画像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人群圈选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营销文案生成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推广员助手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活动复盘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设备运维诊断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安全调度 8 个即“景区 AI 调度中枢”；实心为已有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先借力，再复制，后自建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三步走，每两步之间设一道关卡，过关才进下一步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579842"/>
            <a:ext cx="2660904" cy="1596542"/>
          </a:xfrm>
          <a:prstGeom prst="roundRect">
            <a:avLst>
              <a:gd name="adj" fmla="val 777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712887"/>
            <a:ext cx="221742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2CAB93"/>
                </a:solidFill>
                <a:latin typeface="微软雅黑"/>
                <a:ea typeface="微软雅黑"/>
              </a:rPr>
              <a:t>① 借力验证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6060" y="3067674"/>
            <a:ext cx="221742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验证商业模式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3395852"/>
            <a:ext cx="2217420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最小投入回答：卖给谁、卖什么、怎么收钱、能不能赚钱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6060" y="3803858"/>
            <a:ext cx="230611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5E7772"/>
                </a:solidFill>
                <a:latin typeface="微软雅黑"/>
                <a:ea typeface="微软雅黑"/>
              </a:rPr>
              <a:t>依托 Coze · 火山方舟 · 羚羊小Q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726180" y="3023326"/>
            <a:ext cx="816010" cy="753922"/>
          </a:xfrm>
          <a:prstGeom prst="roundRect">
            <a:avLst>
              <a:gd name="adj" fmla="val 1411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关卡一</a:t>
            </a:r>
          </a:p>
          <a:p>
            <a:pPr algn="ctr">
              <a:spcBef>
                <a:spcPts val="194"/>
              </a:spcBef>
            </a:pPr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跑通？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13148" y="2225055"/>
            <a:ext cx="2660904" cy="1951329"/>
          </a:xfrm>
          <a:prstGeom prst="roundRect">
            <a:avLst>
              <a:gd name="adj" fmla="val 636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34890" y="2358100"/>
            <a:ext cx="221742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2CAB93"/>
                </a:solidFill>
                <a:latin typeface="微软雅黑"/>
                <a:ea typeface="微软雅黑"/>
              </a:rPr>
              <a:t>② 借力复制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34890" y="2712887"/>
            <a:ext cx="221742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快速占领市场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34890" y="3041065"/>
            <a:ext cx="2217420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仍借平台，把跑通的产品按业态快速复制，抢市场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34890" y="3803858"/>
            <a:ext cx="230611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5E7772"/>
                </a:solidFill>
                <a:latin typeface="微软雅黑"/>
                <a:ea typeface="微软雅黑"/>
              </a:rPr>
              <a:t>依托 Coze · 火山方舟 · 羚羊小Q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45009" y="3023326"/>
            <a:ext cx="816010" cy="753922"/>
          </a:xfrm>
          <a:prstGeom prst="roundRect">
            <a:avLst>
              <a:gd name="adj" fmla="val 1411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关卡二</a:t>
            </a:r>
          </a:p>
          <a:p>
            <a:pPr algn="ctr">
              <a:spcBef>
                <a:spcPts val="194"/>
              </a:spcBef>
            </a:pPr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划算？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31976" y="1870268"/>
            <a:ext cx="2660904" cy="2306116"/>
          </a:xfrm>
          <a:prstGeom prst="roundRect">
            <a:avLst>
              <a:gd name="adj" fmla="val 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53718" y="2003312"/>
            <a:ext cx="221742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③ 能力自给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53718" y="2358099"/>
            <a:ext cx="221742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建自己的平台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53718" y="2686278"/>
            <a:ext cx="2217420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用沉淀的模板、知识、接口、数据建平台，成本和交付自己掌握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3718" y="3803858"/>
            <a:ext cx="230611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E6F6F2"/>
                </a:solidFill>
                <a:latin typeface="微软雅黑"/>
                <a:ea typeface="微软雅黑"/>
              </a:rPr>
              <a:t>数字大脑作为智能体管理台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4353778"/>
            <a:ext cx="4860584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3971" y="451343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za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4624302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4513431"/>
            <a:ext cx="4017965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为什么先借力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89451" y="5045613"/>
            <a:ext cx="4470318" cy="2838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卖不卖得动、景区愿付多少钱，现在还不知道。先自建 = 需求没验证就砸钱；借平台，几周就能做出来去试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4353778"/>
            <a:ext cx="4860584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191951" y="451343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822" y="4624302"/>
            <a:ext cx="221742" cy="22174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741871" y="4513431"/>
            <a:ext cx="4017965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为什么最终要自建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27429" y="5045613"/>
            <a:ext cx="4470318" cy="2838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景区越多平台费越高，交付和定制受平台限制，数据和资产在别人那里。规模起来后，自建更省、更快、更可控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568924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666491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568924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贯穿始终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借平台，不交资产 —— 知识、接口、数据、模板从第一天起就留在自己手里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借力验证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先验证“能不能卖、能不能赚钱”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五个问题要用真实的景区、真实的钱来回答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智能体平台</a:t>
            </a: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卖给谁</a:t>
            </a: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哪类景区最需要</a:t>
            </a: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卖什么</a:t>
            </a: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哪些组合景区最认</a:t>
            </a: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怎么收钱</a:t>
            </a: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四种方式选哪种</a:t>
            </a: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花多少钱</a:t>
            </a: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平台费 + 交付 + 运营</a:t>
            </a: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值不值</a:t>
            </a: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省人、多卖、更满意</a:t>
            </a: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单个景区算一笔账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一年收入</a:t>
            </a: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平台调用费</a:t>
            </a: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交付成本（摊销）</a:t>
            </a: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运营支持</a:t>
            </a: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＞ 0</a:t>
            </a:r>
            <a:r>
              <a:rPr sz="1250" b="0">
                <a:solidFill>
                  <a:srgbClr val="FCE6D2"/>
                </a:solidFill>
                <a:latin typeface="微软雅黑"/>
                <a:ea typeface="微软雅黑"/>
              </a:rPr>
              <a:t>　才算能赚钱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先试两种收费，用数据证明价值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验证期同时试“随票务打包”和“年费订阅”，看哪种成交快、续费稳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37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随票务打包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作为票务增值模块，提高票务年费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能否提升续约率和客单价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年费订阅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按景区规模或智能体数量分档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新客户、单独采购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景区能接受的价位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按效果分成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 AI 带来的购票、二消收入分成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购票、营销类智能体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增量能否算清楚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按用量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按对话量或调用量计费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大客流景区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能否接受账单波动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景区认的价值，要用数据证明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少用人工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智能体解决咨询的比例、省下的客服人力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多卖票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智能体带来的线上购票、二消订单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游客更满意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满意度、差评率、排队与等待减少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管理更省心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报表、对账、预警的人工时间减少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怎么验证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挑标杆、快速搭、跑一个旺季、让数据说话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效果好的定型，效果不好的回平台调，没人用的场景及时停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38  ·  AI＋数据平台 · 02  智能体平台</a:t>
            </a: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49920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172431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3015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挑标杆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015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从已用我们票务的景区里挑，覆盖 2–3 类业态，愿意配合</a:t>
            </a:r>
          </a:p>
        </p:txBody>
      </p:sp>
      <p:sp>
        <p:nvSpPr>
          <p:cNvPr id="49" name="Chevron 48"/>
          <p:cNvSpPr/>
          <p:nvPr/>
        </p:nvSpPr>
        <p:spPr>
          <a:xfrm>
            <a:off x="3402436" y="2048256"/>
            <a:ext cx="2674208" cy="549920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69" y="2172431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4289404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57223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快速搭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57223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平台上搭好现有 8 个，再挑 1–2 个高价值新场景</a:t>
            </a:r>
          </a:p>
        </p:txBody>
      </p:sp>
      <p:sp>
        <p:nvSpPr>
          <p:cNvPr id="54" name="Chevron 53"/>
          <p:cNvSpPr/>
          <p:nvPr/>
        </p:nvSpPr>
        <p:spPr>
          <a:xfrm>
            <a:off x="5810554" y="2048256"/>
            <a:ext cx="2674208" cy="549920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8387" y="2172431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97522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65342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跑一个旺季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5342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节假日客流最能检验效果和成本</a:t>
            </a:r>
          </a:p>
        </p:txBody>
      </p:sp>
      <p:sp>
        <p:nvSpPr>
          <p:cNvPr id="59" name="Chevron 58"/>
          <p:cNvSpPr/>
          <p:nvPr/>
        </p:nvSpPr>
        <p:spPr>
          <a:xfrm>
            <a:off x="8218672" y="2048256"/>
            <a:ext cx="2674208" cy="549920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6505" y="2172431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05640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73460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B26A2C"/>
                </a:solidFill>
                <a:latin typeface="微软雅黑"/>
                <a:ea typeface="微软雅黑"/>
              </a:rPr>
              <a:t>数据回流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73460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对话、转人工、评价、订单从第一天进数据平台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415923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36233" y="4088282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看五件事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7376" y="4132630"/>
            <a:ext cx="992172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有没有人用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45985" y="4132630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能不能解决问题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627930" y="4132630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景区愿不愿付费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09876" y="4132630"/>
            <a:ext cx="992172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多久能交付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08484" y="4132630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单景区成本多少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选场景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780671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037892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平台上搭建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4824246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81466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标杆试点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6867819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125040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看效果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8911394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168615" y="4638202"/>
            <a:ext cx="1724265" cy="487832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定价与交付定型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312298"/>
            <a:ext cx="9898562" cy="372526"/>
          </a:xfrm>
          <a:prstGeom prst="roundRect">
            <a:avLst>
              <a:gd name="adj" fmla="val 1904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迭代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效果不好的回平台调整；没人用的场景及时停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关卡一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怎样才算“商业模式跑通了”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五条都满足，才进入第二步；不满足就调整再试，不硬推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9922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27363" y="2162967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59544" y="2029922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9557" y="2029922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标杆景区持续在用，问题解决率达标</a:t>
            </a:r>
          </a:p>
        </p:txBody>
      </p:sp>
      <p:pic>
        <p:nvPicPr>
          <p:cNvPr id="48" name="Picture 4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2207315"/>
            <a:ext cx="301569" cy="301569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94318" y="2792714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27363" y="2925759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59544" y="2792714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有价值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9557" y="2792714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景区认可的指标有提升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2970108"/>
            <a:ext cx="301569" cy="30156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994318" y="3555507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27363" y="3688552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555507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愿付费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9557" y="3555507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有景区按拟定价格付费或明确续费</a:t>
            </a:r>
          </a:p>
        </p:txBody>
      </p:sp>
      <p:pic>
        <p:nvPicPr>
          <p:cNvPr id="58" name="Picture 5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3732900"/>
            <a:ext cx="301569" cy="301569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994318" y="4318299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27363" y="4451344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59544" y="4318299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能赚钱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79557" y="4318299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单景区收入覆盖平台费、交付和运营</a:t>
            </a: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4495693"/>
            <a:ext cx="301569" cy="301569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994318" y="5081092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27363" y="5214137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59544" y="5081092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可复制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79557" y="5081092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不靠核心研发，按标准流程就能上线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5258485"/>
            <a:ext cx="301569" cy="301569"/>
          </a:xfrm>
          <a:prstGeom prst="rect">
            <a:avLst/>
          </a:prstGeom>
        </p:spPr>
      </p:pic>
      <p:sp>
        <p:nvSpPr>
          <p:cNvPr id="69" name="Right Arrow 68"/>
          <p:cNvSpPr/>
          <p:nvPr/>
        </p:nvSpPr>
        <p:spPr>
          <a:xfrm>
            <a:off x="7203094" y="2721757"/>
            <a:ext cx="266090" cy="266090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557881" y="2029922"/>
            <a:ext cx="3334999" cy="1773936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door-op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9623" y="2189576"/>
            <a:ext cx="372526" cy="37252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267456" y="2171837"/>
            <a:ext cx="253672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五条都满足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79623" y="2721757"/>
            <a:ext cx="2980212" cy="9756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→ 进入第二步：借力复制</a:t>
            </a:r>
          </a:p>
          <a:p>
            <a:pPr algn="l">
              <a:lnSpc>
                <a:spcPct val="115000"/>
              </a:lnSpc>
              <a:spcBef>
                <a:spcPts val="388"/>
              </a:spcBef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模板、定价、交付流程定型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57881" y="4007860"/>
            <a:ext cx="3334999" cy="1862632"/>
          </a:xfrm>
          <a:prstGeom prst="roundRect">
            <a:avLst>
              <a:gd name="adj" fmla="val 666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refresh-cw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9623" y="4167515"/>
            <a:ext cx="354787" cy="35478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267456" y="4140906"/>
            <a:ext cx="253672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B26A2C"/>
                </a:solidFill>
                <a:latin typeface="微软雅黑"/>
                <a:ea typeface="微软雅黑"/>
              </a:rPr>
              <a:t>没过关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79623" y="4673086"/>
            <a:ext cx="2980212" cy="115305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· 调整场景组合或定价，再验一轮</a:t>
            </a:r>
          </a:p>
          <a:p>
            <a:pPr algn="l">
              <a:lnSpc>
                <a:spcPct val="115000"/>
              </a:lnSpc>
              <a:spcBef>
                <a:spcPts val="388"/>
              </a:spcBef>
            </a:pP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· 还不行的场景停掉</a:t>
            </a:r>
          </a:p>
          <a:p>
            <a:pPr algn="l">
              <a:lnSpc>
                <a:spcPct val="115000"/>
              </a:lnSpc>
              <a:spcBef>
                <a:spcPts val="388"/>
              </a:spcBef>
            </a:pP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· 不硬推，不盲目铺开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借力复制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先打老客户，再按业态复制，用 AI 撬新客户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从最容易成交的客户开始，用标杆案例带动同类景区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随票务续约推，开通即用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系统已对接，基本零开发；信任已有，成交最快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其次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同业态景区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用标杆案例按业态复制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场景相同，模板直接复用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同步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新客户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智能体做差异化卖点，带动票务签约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用 AI 撬动新客户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业态先后：客流大、咨询多、线上购票比例高的先做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第一批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山岳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主题乐园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古镇街区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第二批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博物馆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温泉度假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游船演出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02  智能体平台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票务团队带单，用效果报告促续费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卖出去只是开始，持续让景区看到效果，才能续费、加购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销售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票务销售团队带单，智能体纳入销售考核；区域渠道伙伴代理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每类业态的标杆做成案例，用数据讲效果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客户成功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上线后定期出效果报告：解决多少咨询、带来多少订单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模板统一升级，所有景区同步受益，增加粘性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景区 AI 效果月报（示意）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××景区 · ××月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解决咨询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带来订单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转人工率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%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游客满意度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趋势与建议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由系统自动生成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六样东西必须留在自己手里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这是第三步能低成本切过去的前提，从第一天就要做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02  智能体平台</a:t>
            </a: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留在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自己手里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景区知识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按自有结构存一份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直接导入自建平台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业务接口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售票、订单、核销、会员接口自己封装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平台直接复用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模板设计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流程、提示词、配置写成文档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迁入模板库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交互数据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对话、评价、转人工回流数据平台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做测试题、优化效果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成本数据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按景区、按智能体记录每月平台费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判断何时自建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需求清单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记录客户要、平台做不了的功能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自建平台的需求来源</a:t>
            </a: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借平台的代价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景区越多，问题越明显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第二步做得越成功，这些弊端越突出 —— 这正是第三步要解决的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44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207910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成本越做越高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740091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按调用、账号、空间收费，景区越多平台费越高，利润被分走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2048256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wre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62545" y="2207910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交付受限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8103" y="2740091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功能受平台限制，个性需求做不了；多平台分别配置、分别维护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2048256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lou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421197" y="2207910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资产在外部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06755" y="2740091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工作流、知识库、对话数据在第三方，难沉淀、难迁移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662537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pli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703892" y="3822191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管理分散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9451" y="4354372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多平台多入口，权限、计量、监控各管各的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662537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12624" y="382219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3495" y="3933062"/>
            <a:ext cx="221742" cy="22174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62545" y="3822191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受制于人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48103" y="4354372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平台调价、改规则、下线功能，直接影响交付和报价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662537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71276" y="382219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147" y="393306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421197" y="3822191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难形成壁垒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06755" y="4354372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同样的平台谁都能用；数据出域有合规顾虑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5134904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267949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134904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  <a:latin typeface="微软雅黑"/>
                <a:ea typeface="微软雅黑"/>
              </a:rPr>
              <a:t>所以　</a:t>
            </a: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规模起来以后，自己建平台更省钱、更快、更可控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能力自给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什么时候自己建？看成本交叉点和五个信号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满足任意两条就启动自建；不提前，也不拖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总成本随景区数量变化（示意）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景区数量 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交叉点 = 该自建了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成本交叉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按记录的成本测算，自建总成本已更低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平台费占比上升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平台费占智能体收入的比例持续上升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场景稳定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主力模板已稳定，不再频繁大改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平台限制丢单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个性需求、大客户项目因平台限制接不了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合规要求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景区或管理方要求数据不出域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，就启动自建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钱只花在“壁垒”上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能买的买、能借的借，只自建承载我们业务和数据的部分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不自研 · 调用模型服务，多家可替换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投入大，不是我们的优势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语音 · 图像 · 数字人 · 手语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采购或合作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专业能力，自建不划算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开源框架二次开发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不从零写，缩短周期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管理台 · 能力与知识 · 业务工具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承载我们的业务、数据和交付方式，是壁垒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复用第一部分的数据平台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已经有了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不碰重投入、非优势的部分；把钱和人放在“业务 + 数据 + 交付”上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数字大脑做管理台，底下接数据平台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颜色代表“怎么来”：自建 / 开源改造 / 采购合作 / 复用已有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47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渠道入口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96523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06188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15854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25519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智慧终端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35184" y="1954530"/>
            <a:ext cx="93870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智能体应用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98456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景区管理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10054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票务财务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21652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3250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精准营销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搭建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模板库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98456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可视化编排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10054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配置化生成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21652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多智能体协同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3250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测试与发布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多租户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98456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10054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运行监控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21652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计量到景区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33250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效果评估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能力层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业务工具中心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598456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景区知识库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810054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游客记忆与画像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21652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测试用例库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3250" y="3799422"/>
            <a:ext cx="11406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5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引擎层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5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901356" y="4260645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检索引擎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15854" y="4260645"/>
            <a:ext cx="14435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模型网关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930351" y="4260645"/>
            <a:ext cx="14435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内容安全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外部能力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大模型 · 可替换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901356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语音 · 图像 · 数字人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15854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30351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数据底座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01356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415854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湖仓与实时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30351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612894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3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3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3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已有入口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3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橙色虚线框 = 数字大脑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639982" y="1954530"/>
            <a:ext cx="2252898" cy="3991356"/>
          </a:xfrm>
          <a:prstGeom prst="roundRect">
            <a:avLst>
              <a:gd name="adj" fmla="val 55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817376" y="2043226"/>
            <a:ext cx="198680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前两步的积累，直接搬进来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746418" y="2468971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景区知识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580168" y="2610886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757562" y="2468971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景区知识库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746418" y="3036630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业务接口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9580168" y="3178545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757562" y="3036630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业务工具中心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6418" y="3604290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模板设计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9580168" y="3746205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757562" y="3604290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模板库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746418" y="4171950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交互数据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9580168" y="4313864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757562" y="4171950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测试用例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746418" y="4739609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成本记录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9580168" y="4881524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9757562" y="4739609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计量与定价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746418" y="5307269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需求清单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9580168" y="544918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757562" y="5307269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首批功能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最终由自建平台统一承载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全景 22 个智能体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产品全景中已有 8 个、待建 14 个；加上可扩展的场景，都在一个平台上管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48  ·  AI＋数据平台 · 02  智能体平台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83015" y="2074270"/>
          <a:ext cx="3015691" cy="301569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1083015" y="3049935"/>
            <a:ext cx="3015691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21816F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3015" y="3626464"/>
            <a:ext cx="301569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个全景智能体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16060" y="5223007"/>
            <a:ext cx="1286103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 已有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35209" y="5223007"/>
            <a:ext cx="1286103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50" b="1">
                <a:solidFill>
                  <a:srgbClr val="21816F"/>
                </a:solidFill>
                <a:latin typeface="微软雅黑"/>
                <a:ea typeface="微软雅黑"/>
              </a:rPr>
              <a:t>14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待建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64795" y="1958964"/>
            <a:ext cx="6528084" cy="904707"/>
          </a:xfrm>
          <a:prstGeom prst="roundRect">
            <a:avLst>
              <a:gd name="adj" fmla="val 98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97842" y="209201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martpho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278" y="2198446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30022" y="2047661"/>
            <a:ext cx="1951329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30022" y="2331491"/>
            <a:ext cx="1951329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26564" y="2074270"/>
            <a:ext cx="68789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67675" y="2074270"/>
            <a:ext cx="68789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08786" y="2074270"/>
            <a:ext cx="68789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49897" y="2074270"/>
            <a:ext cx="61644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19558" y="2074270"/>
            <a:ext cx="61644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89220" y="2074270"/>
            <a:ext cx="44151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26564" y="2393579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42606" y="2393579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64795" y="2952369"/>
            <a:ext cx="65280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497842" y="308541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4278" y="3191850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5030022" y="3041065"/>
            <a:ext cx="1951329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30022" y="3324895"/>
            <a:ext cx="1951329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626564" y="3067674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542606" y="3067674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58647" y="306767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46138" y="306767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64795" y="3803858"/>
            <a:ext cx="65280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497842" y="3936903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4278" y="4043339"/>
            <a:ext cx="212872" cy="21287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030022" y="3892555"/>
            <a:ext cx="1951329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30022" y="4176384"/>
            <a:ext cx="1951329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26564" y="391916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25942" y="3919164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364795" y="4655347"/>
            <a:ext cx="6528084" cy="904707"/>
          </a:xfrm>
          <a:prstGeom prst="roundRect">
            <a:avLst>
              <a:gd name="adj" fmla="val 98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497842" y="478839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4278" y="4894828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030022" y="4744044"/>
            <a:ext cx="1951329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景区 AI 调度中枢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30022" y="5027874"/>
            <a:ext cx="1951329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626564" y="477065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367675" y="477065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108786" y="477065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849897" y="477065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591008" y="477065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626564" y="508996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367675" y="508996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08786" y="508996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64795" y="5693100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118718" y="5693100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待建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8732" y="5693100"/>
            <a:ext cx="532180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实心为已有，空心为待建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自己建能省什么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成本、交付、定制、数据、风险、竞争力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对比第二步借平台和第三步自建平台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借平台（第二步）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自建平台（第三步）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对公司的影响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按调用、账号计费，随景区数增长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只付模型调用和自身运维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单景区成本下降，规模越大利润越高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交付周期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每个景区在外部平台单独配置、调试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集团建一次，景区开通即用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省交付人天，上线更快，承接更多景区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定制能力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个性需求受平台限制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按需自主扩展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能接大客户和个性项目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数据资产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工作流、知识、对话数据在外部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全部在自己手里，回流数据平台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越用越准，数据成为资产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风险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平台调价、改规则直接影响报价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自主可控，模型可替换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经营稳定，报价有底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竞争力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同平台谁都能做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业务系统 + 数据 + 平台一体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形成壁垒，提高续约和客单价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五步走，双轨运行、随时可退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不搞一刀切，用同一套测试题对比，达标才切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50  ·  AI＋数据平台 · 02  智能体平台</a:t>
            </a: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01  核心先上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核心模块、主力智能体先上</a:t>
            </a: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02  对比验证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同一套测试题，不低于成熟平台才切</a:t>
            </a: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03  新增先上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新签景区直接上自建平台</a:t>
            </a: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04  存量随续约迁移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双轨运行、逐个迁移、可回退</a:t>
            </a: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05  成熟平台转补充</a:t>
            </a: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外部平台变成补充能力</a:t>
            </a: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每一步都可以回退；客户无感知迁移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风险怎么控，底线怎么守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自建有风险，提前想好应对；智能体有底线，从第一天就守住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51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四个风险，四个应对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投入超预期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小团队先做核心模块，跟着迁移进度分批投入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效果不如成熟平台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迁移前用同一套测试题对比，达标才切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迁移影响客户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双轨运行、逐个迁移、可回退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团队能力不足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前两步就培养自己的 AI 应用团队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四条底线，贯穿始终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只用授权数据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数据按景区隔离，景区只看本景区数据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关键动作人工确认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退款、调度等处置要人点确认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不碰敏感信息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手机号、证件号不进对话和知识库，展示打码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不乱承诺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价格、退改以系统为准，答不了就转人工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AI＋数据平台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数据怎么流转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9847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五个环节的闭环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82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一张门票的例子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53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湖仓公共模型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开放 API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DataWorks · 数据地图 · 资产治理，治理贯穿全程；智能体前期借平台，后期自建管理台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五个环节转成一个圈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每转一圈，数据更全、更准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54  ·  AI＋数据平台 · 03  AI＋数据平台</a:t>
            </a:r>
          </a:p>
        </p:txBody>
      </p:sp>
      <p:grpSp>
        <p:nvGrpSpPr>
          <p:cNvPr id="20800" name="素材 30"/>
          <p:cNvGrpSpPr/>
          <p:nvPr/>
        </p:nvGrpSpPr>
        <p:grpSpPr>
          <a:xfrm>
            <a:off x="994318" y="2337681"/>
            <a:ext cx="7627924" cy="2809883"/>
            <a:chOff x="991320" y="2358345"/>
            <a:chExt cx="9455150" cy="3482975"/>
          </a:xfrm>
        </p:grpSpPr>
        <p:sp>
          <p:nvSpPr>
            <p:cNvPr id="208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8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BBFAE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8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1F3A35"/>
                </a:solidFill>
              </a:endParaRPr>
            </a:p>
          </p:txBody>
        </p:sp>
        <p:sp>
          <p:nvSpPr>
            <p:cNvPr id="208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8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8FD3C6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1F3A35"/>
                </a:solidFill>
              </a:endParaRPr>
            </a:p>
          </p:txBody>
        </p:sp>
        <p:grpSp>
          <p:nvGrpSpPr>
            <p:cNvPr id="208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08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08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08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08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08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08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08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08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grpSp>
            <p:nvGrpSpPr>
              <p:cNvPr id="208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08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8FD3C6"/>
                </a:solidFill>
                <a:ln>
                  <a:noFill/>
                </a:ln>
              </p:spPr>
              <p:txBody>
                <a:bodyPr vert="horz" wrap="square" lIns="88696" tIns="44348" rIns="88696" bIns="44348" numCol="1" anchor="t" anchorCtr="0" compatLnSpc="1"/>
                <a:lstStyle/>
                <a:p>
                  <a:endParaRPr lang="en-US">
                    <a:solidFill>
                      <a:srgbClr val="1F3A35"/>
                    </a:solidFill>
                  </a:endParaRPr>
                </a:p>
              </p:txBody>
            </p:sp>
            <p:sp>
              <p:nvSpPr>
                <p:cNvPr id="208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8FD3C6"/>
                </a:solidFill>
                <a:ln>
                  <a:noFill/>
                </a:ln>
              </p:spPr>
              <p:txBody>
                <a:bodyPr vert="horz" wrap="square" lIns="88696" tIns="44348" rIns="88696" bIns="44348" numCol="1" anchor="t" anchorCtr="0" compatLnSpc="1"/>
                <a:lstStyle/>
                <a:p>
                  <a:endParaRPr lang="en-US">
                    <a:solidFill>
                      <a:srgbClr val="1F3A35"/>
                    </a:solidFill>
                  </a:endParaRPr>
                </a:p>
              </p:txBody>
            </p:sp>
          </p:grpSp>
        </p:grpSp>
      </p:grpSp>
      <p:pic>
        <p:nvPicPr>
          <p:cNvPr id="20827" name="Picture 20826" descr="factory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15" y="3534449"/>
            <a:ext cx="425744" cy="425744"/>
          </a:xfrm>
          <a:prstGeom prst="rect">
            <a:avLst/>
          </a:prstGeom>
        </p:spPr>
      </p:pic>
      <p:sp>
        <p:nvSpPr>
          <p:cNvPr id="20828" name="TextBox 20827"/>
          <p:cNvSpPr txBox="1"/>
          <p:nvPr/>
        </p:nvSpPr>
        <p:spPr>
          <a:xfrm>
            <a:off x="1015271" y="5193195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① 生产</a:t>
            </a:r>
          </a:p>
        </p:txBody>
      </p:sp>
      <p:sp>
        <p:nvSpPr>
          <p:cNvPr id="20829" name="TextBox 20828"/>
          <p:cNvSpPr txBox="1"/>
          <p:nvPr/>
        </p:nvSpPr>
        <p:spPr>
          <a:xfrm>
            <a:off x="1015271" y="5406067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各业务系统</a:t>
            </a:r>
          </a:p>
        </p:txBody>
      </p:sp>
      <p:pic>
        <p:nvPicPr>
          <p:cNvPr id="20830" name="Picture 20829" descr="shield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4835" y="3534449"/>
            <a:ext cx="425744" cy="425744"/>
          </a:xfrm>
          <a:prstGeom prst="rect">
            <a:avLst/>
          </a:prstGeom>
        </p:spPr>
      </p:pic>
      <p:sp>
        <p:nvSpPr>
          <p:cNvPr id="20831" name="TextBox 20830"/>
          <p:cNvSpPr txBox="1"/>
          <p:nvPr/>
        </p:nvSpPr>
        <p:spPr>
          <a:xfrm>
            <a:off x="2446391" y="1767151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② 治理</a:t>
            </a:r>
          </a:p>
        </p:txBody>
      </p:sp>
      <p:sp>
        <p:nvSpPr>
          <p:cNvPr id="20832" name="TextBox 20831"/>
          <p:cNvSpPr txBox="1"/>
          <p:nvPr/>
        </p:nvSpPr>
        <p:spPr>
          <a:xfrm>
            <a:off x="2446391" y="1980023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数据团队 · 数据平台</a:t>
            </a:r>
          </a:p>
        </p:txBody>
      </p:sp>
      <p:pic>
        <p:nvPicPr>
          <p:cNvPr id="20833" name="Picture 20832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5954" y="3534449"/>
            <a:ext cx="425744" cy="425744"/>
          </a:xfrm>
          <a:prstGeom prst="rect">
            <a:avLst/>
          </a:prstGeom>
        </p:spPr>
      </p:pic>
      <p:sp>
        <p:nvSpPr>
          <p:cNvPr id="20834" name="TextBox 20833"/>
          <p:cNvSpPr txBox="1"/>
          <p:nvPr/>
        </p:nvSpPr>
        <p:spPr>
          <a:xfrm>
            <a:off x="3877510" y="5193195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③ 应用</a:t>
            </a:r>
          </a:p>
        </p:txBody>
      </p:sp>
      <p:sp>
        <p:nvSpPr>
          <p:cNvPr id="20835" name="TextBox 20834"/>
          <p:cNvSpPr txBox="1"/>
          <p:nvPr/>
        </p:nvSpPr>
        <p:spPr>
          <a:xfrm>
            <a:off x="3877510" y="5406067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智能体与各应用</a:t>
            </a:r>
          </a:p>
        </p:txBody>
      </p:sp>
      <p:pic>
        <p:nvPicPr>
          <p:cNvPr id="20836" name="Picture 20835" descr="refresh-cw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9697" y="3534449"/>
            <a:ext cx="425744" cy="425744"/>
          </a:xfrm>
          <a:prstGeom prst="rect">
            <a:avLst/>
          </a:prstGeom>
        </p:spPr>
      </p:pic>
      <p:sp>
        <p:nvSpPr>
          <p:cNvPr id="20837" name="TextBox 20836"/>
          <p:cNvSpPr txBox="1"/>
          <p:nvPr/>
        </p:nvSpPr>
        <p:spPr>
          <a:xfrm>
            <a:off x="5301253" y="1767151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20838" name="TextBox 20837"/>
          <p:cNvSpPr txBox="1"/>
          <p:nvPr/>
        </p:nvSpPr>
        <p:spPr>
          <a:xfrm>
            <a:off x="5301253" y="1980023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自动回传，统一入湖</a:t>
            </a:r>
          </a:p>
        </p:txBody>
      </p:sp>
      <p:pic>
        <p:nvPicPr>
          <p:cNvPr id="20839" name="Picture 20838" descr="trending-up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0817" y="3534449"/>
            <a:ext cx="425744" cy="425744"/>
          </a:xfrm>
          <a:prstGeom prst="rect">
            <a:avLst/>
          </a:prstGeom>
        </p:spPr>
      </p:pic>
      <p:sp>
        <p:nvSpPr>
          <p:cNvPr id="20840" name="TextBox 20839"/>
          <p:cNvSpPr txBox="1"/>
          <p:nvPr/>
        </p:nvSpPr>
        <p:spPr>
          <a:xfrm>
            <a:off x="6732372" y="5193195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20841" name="TextBox 20840"/>
          <p:cNvSpPr txBox="1"/>
          <p:nvPr/>
        </p:nvSpPr>
        <p:spPr>
          <a:xfrm>
            <a:off x="6732372" y="5406067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20842" name="Rounded Rectangle 20841"/>
          <p:cNvSpPr/>
          <p:nvPr/>
        </p:nvSpPr>
        <p:spPr>
          <a:xfrm>
            <a:off x="8843985" y="1911937"/>
            <a:ext cx="2048896" cy="3947007"/>
          </a:xfrm>
          <a:prstGeom prst="roundRect">
            <a:avLst>
              <a:gd name="adj" fmla="val 606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3" name="TextBox 20842"/>
          <p:cNvSpPr txBox="1"/>
          <p:nvPr/>
        </p:nvSpPr>
        <p:spPr>
          <a:xfrm>
            <a:off x="9021378" y="2000634"/>
            <a:ext cx="17828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每个环节产出什么</a:t>
            </a:r>
          </a:p>
        </p:txBody>
      </p:sp>
      <p:sp>
        <p:nvSpPr>
          <p:cNvPr id="20844" name="TextBox 20843"/>
          <p:cNvSpPr txBox="1"/>
          <p:nvPr/>
        </p:nvSpPr>
        <p:spPr>
          <a:xfrm>
            <a:off x="9021378" y="2408639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① 生产</a:t>
            </a:r>
          </a:p>
        </p:txBody>
      </p:sp>
      <p:sp>
        <p:nvSpPr>
          <p:cNvPr id="20845" name="TextBox 20844"/>
          <p:cNvSpPr txBox="1"/>
          <p:nvPr/>
        </p:nvSpPr>
        <p:spPr>
          <a:xfrm>
            <a:off x="9021378" y="2656990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交易、核销、客流、设备、会员、财务数据</a:t>
            </a:r>
          </a:p>
        </p:txBody>
      </p:sp>
      <p:sp>
        <p:nvSpPr>
          <p:cNvPr id="20846" name="TextBox 20845"/>
          <p:cNvSpPr txBox="1"/>
          <p:nvPr/>
        </p:nvSpPr>
        <p:spPr>
          <a:xfrm>
            <a:off x="9021378" y="3082735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② 治理</a:t>
            </a:r>
          </a:p>
        </p:txBody>
      </p:sp>
      <p:sp>
        <p:nvSpPr>
          <p:cNvPr id="20847" name="TextBox 20846"/>
          <p:cNvSpPr txBox="1"/>
          <p:nvPr/>
        </p:nvSpPr>
        <p:spPr>
          <a:xfrm>
            <a:off x="9021378" y="3331086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公共模型、认证指标、统一标签、景区知识</a:t>
            </a:r>
          </a:p>
        </p:txBody>
      </p:sp>
      <p:sp>
        <p:nvSpPr>
          <p:cNvPr id="20848" name="TextBox 20847"/>
          <p:cNvSpPr txBox="1"/>
          <p:nvPr/>
        </p:nvSpPr>
        <p:spPr>
          <a:xfrm>
            <a:off x="9021378" y="3756830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③ 应用</a:t>
            </a:r>
          </a:p>
        </p:txBody>
      </p:sp>
      <p:sp>
        <p:nvSpPr>
          <p:cNvPr id="20849" name="TextBox 20848"/>
          <p:cNvSpPr txBox="1"/>
          <p:nvPr/>
        </p:nvSpPr>
        <p:spPr>
          <a:xfrm>
            <a:off x="9021378" y="4005181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游客服务、经营分析、运营提效、预警调度</a:t>
            </a:r>
          </a:p>
        </p:txBody>
      </p:sp>
      <p:sp>
        <p:nvSpPr>
          <p:cNvPr id="20850" name="TextBox 20849"/>
          <p:cNvSpPr txBox="1"/>
          <p:nvPr/>
        </p:nvSpPr>
        <p:spPr>
          <a:xfrm>
            <a:off x="9021378" y="4430926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20851" name="TextBox 20850"/>
          <p:cNvSpPr txBox="1"/>
          <p:nvPr/>
        </p:nvSpPr>
        <p:spPr>
          <a:xfrm>
            <a:off x="9021378" y="4679277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问答、评价、转人工、工单结果、使用行为</a:t>
            </a:r>
          </a:p>
        </p:txBody>
      </p:sp>
      <p:sp>
        <p:nvSpPr>
          <p:cNvPr id="20852" name="TextBox 20851"/>
          <p:cNvSpPr txBox="1"/>
          <p:nvPr/>
        </p:nvSpPr>
        <p:spPr>
          <a:xfrm>
            <a:off x="9021378" y="5105022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20853" name="TextBox 20852"/>
          <p:cNvSpPr txBox="1"/>
          <p:nvPr/>
        </p:nvSpPr>
        <p:spPr>
          <a:xfrm>
            <a:off x="9021378" y="5353373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调定价、圈人营销、优化预约与调度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一张门票的数据旅程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游客买一张票，数据在公司里转一圈，景区和游客都受益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55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买票入园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售票 · 闸机核销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数据进平台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 · 核销 · 客流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算出指标和标签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实时客流 · 游客偏好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智能体办事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客流预警 · 二消推荐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 · 推荐转化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反哺业务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调预约 · 调营销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结果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游客体验更好 · 景区多卖钱、少出事 · 数据和智能体更准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 · 示意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消息通知预警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【客流预警】东门入园排队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变长，预计 20 分钟后接近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预约上限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建议：增开闸机，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引导游客从西门入园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收到，已派人处理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已记录处置结果，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明天的预约名额会参考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先做三件事，需要您支持四件事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先在一条主线、几家标杆景区上做出结果，再铺开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56  ·  AI＋数据平台 · 接下来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接下来先做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数据：主线试点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“订单 → 核销 → 结算”定口径、上卡点、逐层核对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订单、核销实时链路建起来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智能体：标杆验证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挑 2–3 家老客户做标杆，跑一个完整旺季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同时试“随票务打包”和“年费订阅”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打通：统一取数、数据回流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智能体统一从数据平台取数，交互数据回流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知识、接口、模板、成本数据留在手里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微软雅黑"/>
                <a:ea typeface="微软雅黑"/>
              </a:rPr>
              <a:t>需要您支持</a:t>
            </a: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口径谁拍板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成立数据治理小组，口径争议有人定</a:t>
            </a: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规范强制执行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不合规的数据不上线，需公司层面授权</a:t>
            </a: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标杆与销售配合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标杆景区配合试点；智能体纳入销售考核</a:t>
            </a: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自建时点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定期用成本数据评估，由您决策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智能体快速落地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