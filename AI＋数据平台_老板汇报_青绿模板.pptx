
<file path=[Content_Types].xml><?xml version="1.0" encoding="utf-8"?>
<Types xmlns="http://schemas.openxmlformats.org/package/2006/content-types">
  <Default Extension="jpeg" ContentType="image/jpeg"/>
  <Default Extension="JPG" ContentType="image/.jpg"/>
  <Default Extension="xlsx" ContentType="application/vnd.openxmlformats-officedocument.spreadsheetml.sheet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5"/>
  </p:handout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0" userDrawn="1">
          <p15:clr>
            <a:srgbClr val="A4A3A4"/>
          </p15:clr>
        </p15:guide>
        <p15:guide id="2" pos="3842" userDrawn="1">
          <p15:clr>
            <a:srgbClr val="A4A3A4"/>
          </p15:clr>
        </p15:guide>
        <p15:guide id="3" pos="597" userDrawn="1">
          <p15:clr>
            <a:srgbClr val="A4A3A4"/>
          </p15:clr>
        </p15:guide>
        <p15:guide id="4" pos="706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0DED4"/>
    <a:srgbClr val="4EB6A0"/>
    <a:srgbClr val="CCC9D5"/>
    <a:srgbClr val="59A132"/>
    <a:srgbClr val="2CAB93"/>
    <a:srgbClr val="21816F"/>
    <a:srgbClr val="1F9BCC"/>
    <a:srgbClr val="9EA0C3"/>
    <a:srgbClr val="F2D2BF"/>
    <a:srgbClr val="E6BF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296" autoAdjust="0"/>
    <p:restoredTop sz="94660"/>
  </p:normalViewPr>
  <p:slideViewPr>
    <p:cSldViewPr snapToGrid="0" showGuides="1">
      <p:cViewPr varScale="1">
        <p:scale>
          <a:sx n="46" d="100"/>
          <a:sy n="46" d="100"/>
        </p:scale>
        <p:origin x="42" y="792"/>
      </p:cViewPr>
      <p:guideLst>
        <p:guide orient="horz" pos="2180"/>
        <p:guide pos="3842"/>
        <p:guide pos="597"/>
        <p:guide pos="7061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Grid="0">
      <p:cViewPr varScale="1">
        <p:scale>
          <a:sx n="105" d="100"/>
          <a:sy n="105" d="100"/>
        </p:scale>
        <p:origin x="2142" y="12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8" Type="http://schemas.openxmlformats.org/officeDocument/2006/relationships/tableStyles" Target="tableStyles.xml"/><Relationship Id="rId57" Type="http://schemas.openxmlformats.org/officeDocument/2006/relationships/viewProps" Target="viewProps.xml"/><Relationship Id="rId56" Type="http://schemas.openxmlformats.org/officeDocument/2006/relationships/presProps" Target="presProps.xml"/><Relationship Id="rId55" Type="http://schemas.openxmlformats.org/officeDocument/2006/relationships/handoutMaster" Target="handoutMasters/handoutMaster1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2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继续用平台</c:v>
                </c:pt>
              </c:strCache>
            </c:strRef>
          </c:tx>
          <c:spPr>
            <a:ln w="38100" cap="rnd" cmpd="sng" algn="ctr">
              <a:solidFill>
                <a:srgbClr val="E39A57"/>
              </a:solidFill>
              <a:prstDash val="solid"/>
              <a:round/>
            </a:ln>
          </c:spPr>
          <c:marker>
            <c:symbol val="none"/>
          </c:marker>
          <c:dLbls>
            <c:delete val="1"/>
          </c:dLbls>
          <c:cat>
            <c:numRef>
              <c:f>Sheet1!$A$2:$A$10</c:f>
              <c:numCache>
                <c:formatCode>General</c:formatCode>
                <c:ptCount val="9"/>
              </c:numCache>
            </c:num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17</c:v>
                </c:pt>
                <c:pt idx="2">
                  <c:v>26</c:v>
                </c:pt>
                <c:pt idx="3">
                  <c:v>35</c:v>
                </c:pt>
                <c:pt idx="4">
                  <c:v>44</c:v>
                </c:pt>
                <c:pt idx="5">
                  <c:v>53</c:v>
                </c:pt>
                <c:pt idx="6">
                  <c:v>62</c:v>
                </c:pt>
                <c:pt idx="7">
                  <c:v>71</c:v>
                </c:pt>
                <c:pt idx="8">
                  <c:v>80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自己建</c:v>
                </c:pt>
              </c:strCache>
            </c:strRef>
          </c:tx>
          <c:spPr>
            <a:ln w="38100" cap="rnd" cmpd="sng" algn="ctr">
              <a:solidFill>
                <a:srgbClr val="21816F"/>
              </a:solidFill>
              <a:prstDash val="solid"/>
              <a:round/>
            </a:ln>
          </c:spPr>
          <c:marker>
            <c:symbol val="none"/>
          </c:marker>
          <c:dLbls>
            <c:delete val="1"/>
          </c:dLbls>
          <c:cat>
            <c:numRef>
              <c:f>Sheet1!$A$2:$A$10</c:f>
              <c:numCache>
                <c:formatCode>General</c:formatCode>
                <c:ptCount val="9"/>
              </c:numCache>
            </c:num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36</c:v>
                </c:pt>
                <c:pt idx="1">
                  <c:v>39</c:v>
                </c:pt>
                <c:pt idx="2">
                  <c:v>42</c:v>
                </c:pt>
                <c:pt idx="3">
                  <c:v>45</c:v>
                </c:pt>
                <c:pt idx="4">
                  <c:v>48</c:v>
                </c:pt>
                <c:pt idx="5">
                  <c:v>51</c:v>
                </c:pt>
                <c:pt idx="6">
                  <c:v>54</c:v>
                </c:pt>
                <c:pt idx="7">
                  <c:v>57</c:v>
                </c:pt>
                <c:pt idx="8">
                  <c:v>60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0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one"/>
        <c:spPr>
          <a:ln w="6350" cap="flat" cmpd="sng" algn="ctr">
            <a:solidFill>
              <a:srgbClr val="CDE9E3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rgbClr val="5E7772"/>
                </a:solidFill>
                <a:latin typeface="+mn-lt"/>
                <a:ea typeface="+mn-ea"/>
                <a:cs typeface="+mn-c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7F2EF"/>
              </a:solidFill>
              <a:prstDash val="solid"/>
              <a:round/>
            </a:ln>
          </c:spPr>
        </c:majorGridlines>
        <c:numFmt formatCode="General" sourceLinked="1"/>
        <c:majorTickMark val="out"/>
        <c:minorTickMark val="none"/>
        <c:tickLblPos val="nextTo"/>
        <c:spPr>
          <a:ln w="6350" cap="flat" cmpd="sng" algn="ctr">
            <a:noFill/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rgbClr val="5E7772"/>
                </a:solidFill>
                <a:latin typeface="+mn-lt"/>
                <a:ea typeface="+mn-ea"/>
                <a:cs typeface="+mn-cs"/>
              </a:defRPr>
            </a:pPr>
          </a:p>
        </c:txPr>
        <c:crossAx val="2118791784"/>
        <c:crosses val="autoZero"/>
        <c:crossBetween val="between"/>
      </c:valAx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1000" b="0" i="0" u="none" strike="noStrike" kern="1200" baseline="0">
              <a:solidFill>
                <a:srgbClr val="5E7772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5a103be-00a0-4dbf-99ce-3504dc7dd596}"/>
      </c:ext>
    </c:extLst>
  </c:chart>
  <c:txPr>
    <a:bodyPr/>
    <a:lstStyle/>
    <a:p>
      <a:pPr>
        <a:defRPr lang="zh-CN" sz="1000">
          <a:solidFill>
            <a:srgbClr val="5E7772"/>
          </a:solidFill>
        </a:defRPr>
      </a:pPr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D22D82-5AC2-4639-BCCB-33DE6BAB06D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486D70-FD59-465F-BBA9-429F91A1AB67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DF7C33-68E8-47E0-ADF8-2CE870572163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17FD74-78BE-4F66-971B-354B57AE6F22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4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5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6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7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8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9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0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今天向您汇报三件事：第一，数据平台要怎么建，让公司的数据理得清、算得准、管得住；第二，智能体，也就是能帮我们干活的 AI 助手，要怎么做、怎么卖、什么时候自己建平台；第三，这两件事打通以后，数据怎么在公司里转起来，越用越准。整体按能落地的思路讲，每一部分都会讲到具体做什么、怎么做、做成什么样。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说结论，一页讲清楚。第一件事，数据平台：把公司的数据理清、算准、管住。具体就是定规矩、统一编号和口径、每天体检、管好权限，先从订单到核销到结算这条主线做起。第二件事，智能体：先借扣子、火山方舟、小Q 这些现成平台，几周就能做出来去卖，验证能赚钱；然后把跑通的产品快速铺到更多景区；规模起来后再自己建平台，更省钱、交付更快。第三件事，两者打通：业务产生的数据经过平台整理，给智能体和报表用，用完的结果再回到平台，数据越用越准。最下面是需要您拍板支持的几件事，最后一页会详细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今天的汇报分四部分：数据平台、智能体平台、两者打通后的 AI＋数据平台，最后是接下来要做的事和需要您支持的地方。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第一部分：数据平台，把数据理清、算准、管住。主要讲：现状与问题、手里的数据、怎么建、数据治理八步、治理保障、六个统一、建成后的变化。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先说现状。工具上：DataWorks 是数据加工的车间，我们已经买了开发、调度、找数、管资产、出数这几个核心模块；动态数据开放 API 是对内对外提供数据的窗口；小Q 用来看报表做分析；湖仓是存数据的仓库，部分模型已经建了。最重要的是每天的主流程已经通了：订单、游客、供应商这些核心数据，每天凌晨自动从原料一路加工成报表能用的成品。还没建的有五块：实时数据、数据质量检查、统一标签、指标口径管理、数据规范落地，这些就是接下来要补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六个问题都是平时真实遇到的，我按“平时什么样、为什么会这样”讲。一，数据散：想看售票加二消加结算的综合情况，要从三个以上系统导数、手工拼表，因为没有统一接入，景区、商品、渠道的编号各系统不一样。二，一个数多个答案：同一天同一个景区，看板、对账、接口三个地方核销量不一样，因为公司层面没有统一定义。三，没规矩：表名随意、字段没说明、没人负责，因为规范只在文档里，上线没人卡。四，重复干活：订单宽表离线和湖仓各做一份，结果不一样，因为没有统一的公共层。五，数字不准：入园、核销和现场对不上，节假日更明显，原因是补传、重复上报、撤销冲正、时间口径混用，又缺少逐层核对。六，看得慢：高峰期订单核销第二天才能看到，预警靠人盯，因为只有每天跑一次的离线链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我们的数据按业务分成八大块，叫数据域，每块里面再分主题。交易：订单、票务，比如订单数、销售额、核销次数；商品与资源：产品和库存，比如售罄率；用户：游客和会员，比如会员等级、复购倾向；合作方：供应商，比如履约率；流量营销：渠道和活动，比如转化率、活动回报；运营：日常运营，比如房态占用率；财务：结算对账；内部管理：系统任务、存储计算成本。每块数据都定了敏感等级，用户明细是最高级。目前订单、用户、供应商已经进了仓库，其他部分进入。现场设备、外部数据、AI 产生的数据后面要新增。难点不在数据量，而在节假日高峰、订单状态多次变化、设备离线补传、多景区之间的数据隔离。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这张图是整个数据平台的样子，从下往上看。最下面是数据从哪来：票务、订单、小程序、供应商、营销、渠道、设备和外部数据。往上是统一底座，就是数据仓库和加工车间，DataWorks 和每天的主流程已经有了，要补实时计算和湖仓存储。再往上是“算好的数”，也就是统一的指标和标签，小Q 用来看。再往上是数据服务，对外给数据的窗口，动态数据开放 API 已经有。再往上是 AI 能力，让 AI 能安全地用这些数据。最上面是谁在用：内部经营、景区运营、合作伙伴、行业报告、数据产品。右边的数据治理贯穿每一层。深色是已经有的，白色是要新建或升级的。整体思路就两句话：统一标准，治理写进研发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具体到工具，分七类能力。数据集成，就是把数据接进来：已有批量同步，要升级埋点采集和现场设备回传，新建实时采集和标准连接器。存储计算：已有离线计算，新建实时计算和湖仓统一存储。开发运维：已有开发和运维中心，新建发布卡点和成本治理。数据治理：已有数据地图和资产治理，升级血缘和健康分，新建质量、标准、分级打码。指标标签：全部新建。服务分析：已有开放 API、数据服务和小Q，要统一出口、新建嵌入式分析。AI 能力：升级 AI 问数，新建模型网关、知识检索和评测。另外有几个阿里云模块我们没买，先用省钱的办法：数据质量用自己加的检查节点，数据标准用规范文档加检查脚本，安全中心先用引擎权限加打码视图，实时计算先做小范围试验，验证了再投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数据治理具体怎么做？按这八步走，前面的是后面的基础。第一步数据标准，就是定规矩，表名、字段、码值全公司一个说法，并且有自动检查。第二步主数据，就是统一编号，景区、商品、渠道、供应商、游客全公司一个编号。第三步数据血缘，就是理清每个数从哪来、到哪去。第四步数据质量，每天自动体检，不合格的数拦在报表外面。第五步统一标签，也就是统一指标口径，一个指标一个算法，集团出标准。第六步权限安全，数据分级，谁的数据只服务谁。第七步资产运营，定期盘点，打健康分，没人用的下线。第八步数据分发，对内对外只走一个出口。这八步都不是单独搞运动，而是写进日常开发流程，有专人负责、有考核。后面几页按顺序挑重点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治理第一步，数据标准，就是定规矩。最直观的是表名：以前表名随便起，现在每张表都有像身份证号一样的名字。比如 dwd_ord_order_item_di，拆开看：dwd 说明加工到了“洗干净”这一层，ord 说明是订单这块业务，order_item 说明是订单明细，di 说明每天增量更新。字段也统一叫法，比如景区全公司都叫 scenic_id，金额都以 amt 结尾。码值也统一，比如票种、渠道类型、订单状态，建一张公共码表，各系统的码值映射过来，不在代码里写死。建表时有 8 项必填，比如负责人、安全等级。这些规矩怎么保证执行，后面“统一规范”那页讲。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二件事，统一编号，专业叫主数据。以前同一个景区在票务、分销、财务系统里各有各的编号，拼数据时对不上。现在六类对象全公司统一编号：景区一个编码，集团、分园区、子景点分级挂靠；商品，票种、套票、二消商品统一编码，挂到景区；渠道，OTA、自营、分销、团队统一分类；供应商，同一个主体只建一个编码，多个账号挂在下面；游客，用手机号、证件号、会员号按规则归并成一个人，叫 OneID；区域直接用国家标准的行政区划码。做法是建一张对照表，把各系统的老编号映射到统一编号，之后所有报表、指标、标签只认统一编号。新建景区、商品、供应商时先查再建，变更要审批，并保留历史，旧报表还能追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第三件事，建家谱，专业叫数据血缘。就是把每个数从哪来、经过了哪些加工、最后去了哪里，全部记下来，从业务系统一直打通到小Q 报表、开放接口和 AI 智能体。家谱有三个用处：第一，查错，报表数字不对，沿着家谱往上查，很快找到哪一层出了问题；第二，改之前先评估，要改一张表或改一个口径，先查下游有哪些报表和接口会受影响，提前通知负责人；第三，清理，没有下游、没人访问的表和任务，进入下线清单。家谱里记三类信息：技术信息，比如表结构、存储量，系统自动采集；业务信息，比如含义、口径、负责人、安全等级，开发填、专员审；运行信息，比如几点产出、跑了多久、多少人在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四件事，每天体检，专业叫数据质量。检查分五项：完整，比如订单号、景区编号不能空，日订单量比近七天平均波动超过三成就报警；准确，比如金额不能是负数，核销时间不能早于下单时间；一致，比如仓库里的订单金额汇总要和业务系统对得上；及时，比如核心报表每天七点前必须算完；唯一，比如同一张票不能重复核销。规则分强弱两档：强规则用在订单、核销、结算和对外接口这些核心表上，不通过就把下游全部拦住，通知负责人，当天修好；弱规则用在一般表上，只提醒不拦，一周内修好。每个问题都登记问题单，同类问题出现两次就补一条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举个最常见的例子：核销量。为什么以前各处对不上？第一个原因是四个数经常混着用：核销次数、有效核销票数、入园人次、去重游客数，其实是四个不同的数，比如一个人一张年卡一天进出三次，核销次数是三，入园人次是三，去重游客数是一。第二步，从闸机、手持机，到业务系统，到仓库明细、汇总，再到报表和接口，每一层都按景区加日期对一次数。第三步，对不上就自动报警，查原因、修复、重算。常见的原因有四个：设备离线后补传、重复上报、撤销冲正、按下单时间还是核销时间统计混用了。核销做通了，就是一个样板，同样的方法复制到销售额、入园人数等其他指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治理第五步，统一标签，这里的标签也包括指标。先说清两个词：指标就是数一数，比如卖了多少、核销多少、来了多少人；标签就是贴个签，比如这个游客是年卡用户、喜欢夜游。治理要做三件事。一是分类分级：指标按交易、核销入园、渠道、结算、会员、业态分类；按开放范围分成集团内部、景区可用、供应商可用、可对外四级。二是把口径说清楚：每个指标拆成算什么、加什么条件、什么时间、按什么看四件事，比如“近七天线上渠道成人票支付金额，按景区”，这样就不会有两种算法。三是认证：数据团队起草、业务负责人确认、治理小组拍板、发布并记录版本。只有认证过的指标和标签，才能进老板看板、对外接口和 AI。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六件事，管好权限，分两页讲。先讲分级和权属，谁能看什么在后面“统一权限”里讲。数据分四级：最高的是高敏，手机号、证件号、人脸、政务核验结果，加密存储、展示打码、最小授权、全程审计，明文不进大模型。第二级敏感，单景区的经营数据、价格、结算、供应商合作数据，按景区和供应商隔离，跨主体只能看汇总。第三级内部，日志、设备状态、运营数据，内部按角色授权。最低一级公开，已发布的报告和规范。再说权属，也就是数据的主人：景区数据只服务这个景区，供应商数据只服务这个供应商，渠道数据不给其他渠道看，游客信息只在授权范围内用，政务数据只用核验结果不留原始数据，外部买的数据按合同用，对外只给匿名汇总的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七步和第八步放在一起讲。资产运营，就是定期盘点：每月按负责人、按业务给数据资产打健康分，看规范、质量、安全、使用、成本五个方面，公示排名。九十天没人访问、没有下游、重复的、临时的表，先通知负责人，先停用观察三十天，没人反馈再删除，有人反馈就恢复。这样存储和计算成本能降下来。数据分发，就是统一出口：以后对内对外的数据都从动态数据开放 API 一个窗口出去，同时提供认证指标和标签，统一鉴权、按景区隔离、按调用计量，不再点对点导数、私接数据库。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八步怎么保证真正落实？靠三样东西。第一，写进流程：事前定规范，需求先确认口径、设计做模型评审；事中设卡点，发布时脚本自动检查、运行时质量检查不合格就拦住；事后做治理，健康分、整改、复盘。第二，有人负责：数据治理小组拍板口径争议和规范；数据负责人制定方案、跨部门协调、对健康分负责；每个业务线有一名业务数据专员确认口径和验收；治理专员维护标准和规则；架构师和开发负责落地。第三，有考核：两周一次口径评审，每月公示健康分，每季度复盘；试点主线定几个硬目标，比如新表规范符合率百分之百、核心报表按时产出不低于百分之九十九、老板看板全用认证指标、核销量各出口零差异。先把现在的基线测出来，再定目标；看实际使用和业务结果，不看上了多少看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前面讲的是怎么治，治理的结果最终落在六个统一上。统一规范：以前规范只写在文档里，以后不合规的表发不出去。统一底座：以前订单核销第二天才能看到，以后分钟级看到。统一标签，也就是统一指标：以前报表、接口、AI 各说各的，以后三处数字一致。统一权限：以前权限各管各的，以后一套规则管住所有出口。标签复用：以前各部门各做一套，以后一个游客一个身份，一处加工到处用。自助分析：以前要找数据团队要数，以后业务自己查、自己看。推进方式是：先在订单、核销、结算主线试点，按统接入、统建模、统开发、统服务的顺序推；老模型先双跑对比再切换，可以回退。后面每个统一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一个统一，统一规范。前面数据标准讲了规矩是什么，这里讲怎么让规矩真正执行。三招：第一，新建的卡住：开发提交后，发布前脚本自动检查命名、分层、注释、负责人、安全等级，不合规直接打回，列出哪里不对。第二，老的分批改：不一次性改名，核心表优先，按健康分排名分批整改；改名时保留兼容视图，下游报表不受影响；表和字段缺描述的，用 AI 先补一版再人工确认。第三，持续有人管：资产健康分每月公示，按负责人排名，低分的限期整改。衡量标准是新表规范符合率百分之百，核心表注释和负责人百分之百覆盖。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第二个统一，统一底座。数据从业务库、渠道接口、设备事件、行为日志、外部数据进来，先经过统一接入，定好接入规范、对象编号和负责人。然后进入湖仓一体的底座：每天算的离线计算用 DataWorks，实时计算订单和核销先做；从原料到成品分层加工，共用同一套业务定义和质量规则。最后通过分析查询，提供给小Q、开放接口和 AI。另外把离线和湖仓合一：以前同一个指标离线做一份、湖仓做一份，结果不一样；以后公共层只建一次，改口径只改一处。合并的做法是：盘点重叠的模型、确定保留哪一版、下游改成引用它、双跑对比没问题再下线重复的。最终效果是订单核销从第二天才能看到变成分钟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三个统一，统一标签，也就是统一指标。从公共模型出发，算出两类指标：一类是企业标准指标，统一定义、版本管理、业务认证，全公司一个口径；另一类是景区自定义指标，每个景区有自己的空间，相互隔离，不能和企业标准同名、不能覆盖标准。景区用得好的指标，评审后沉淀为企业标准。所有指标从同一个出口提供给小Q、动态数据开放 API 和 AI 问数，所以这三个地方看到的数字是一致的，开会不用再先对数。衡量看认证指标覆盖率，老板看板里要百分之百用认证指标。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四个统一，统一权限。每个人能看到什么数据，由三把锁决定：角色、数据范围、字段敏感程度。左边这张表就是规则：集团管理层看汇总，看不到个人明细；数据团队敏感数据按项目授权，高敏数据审批后打码使用；业务线只看本业务线；景区只看本景区，游客信息授权后打码；供应商只看本供应商；外部伙伴只拿匿名汇总；AI 智能体不单独开权限，继承提问人的权限。权限的申请、审批、授权、使用、回收是一个闭环，到期自动收回，每季度复核。而且不管是数据仓库、数据地图、开放接口、小Q、标签平台还是 AI，都用这同一套规则。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第五个，标签复用。第一件事是认清“谁是谁”：同一个游客，可能在订单里是一个手机号，在会员里是一个会员号，在年卡和人脸识别里又是另外的记录，我们按规则把这些归并成同一个游客，叫 OneID。第二件事是标签只在一个地方加工：统一生产，基于公共模型加工；统一管理，有口径、有负责人、有生命周期；统一服务，营销、分析、AI 和景区都从这里取，不再各部门各做一套。标签覆盖游客和会员、供应商、景区、渠道、商品，类型有基础属性、统计类、规则类、模型预测类。边界也要讲清楚：景区只能用本景区的标签，不做敏感个人信息的标签，对外不提供个人层面的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第六个，自助分析。以前业务要看数据，要找数据团队提需求、等取数。以后从统一的模型、指标、标签出发，业务在小Q 上自己分析：搜指标、看明细、做计算、搭自己的看板、订阅报表，总部经营、各业务线、景区都能用。AI 问数和报表用的是同一套指标定义和权限，所以问出来的数和报表一致。数据团队从天天帮人取数、对数，转向建模型、做分析。最终的产出是：企业指标中心、景区专属指标空间、统一标签服务、统一语义服务和自助分析平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对各个业务线，变化很具体。管理层：驾驶舱全部用认证过的指标，不用先对数。票务：核销口径统一，有差异自动定位，节假日实时看数。财务：业务和财务逐层对账，差异自动列出原因。渠道：销量、佣金、返利口径统一。营销：用标签圈人、用指标看效果，活动复盘自动完成。运营和客户成功：景区经营报告自动生成。产品研发：上线前定好埋点和口径，上线就有数据。数据团队：从天天帮人取数对数，转向建模型、做分析。景区和供应商：直接用集团标准的指标和标签，不够用可以在自己的空间里加。这些也为第二部分打基础：数据可信、有口径、有权限，AI 接上去才能答得准。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第二部分：智能体平台，围绕三个目标，一条线建下去。主要讲：现状与底气、能做哪些、建设思路、跑通商业模式、快速占领市场、建自己的平台、风险与底线。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先解释一下智能体：就是能听懂问题、还能帮你办事的 AI 助手，比如游客问几点开园，它能回答，还能直接帮他买票。我们现在已有的智能体来自三个地方。第一类是在字节的扣子平台上，用工作流配置出来的：智能助手、智能客服、智能导览、AI 旅拍、AI 伴游，主要给游客用，已经是标准化产品，可以配置化输出。第二类是和合作企业一起做的手语服务，给听障游客用。第三类是小Q 自带的 AI 能力，智能问数和智能数据解读，给景区和内部管理者用。右边是一个游客对话的示意。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我们做智能体，有三个别人很难复制的底气。第一，产品积累：这么多年做了智慧票务、景区业态管理、运营管理、财务管理、智慧终端、AI 数字大脑、畅游 AI、会员营销多条产品线，系统就装在景区现场。第二，数据在手里：交易和客流、售票分销库存价格、九大业态、年卡预约候补、订单结算发票、会员营销、闸机和物联设备、工单和推送，再加上第一部分治理好的指标和标签。第三，客户在用：大量景区已经在用我们的票务系统，接口现成，基本不用开发就能开通，信任也已经有了，成交最快。所以别人只能做通用聊天，我们能做真正帮景区和游客办事的智能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先看游客这一端，按游客的一次出游来看。游前：游客要咨询、规划行程、买票预约、候补，对应智能客服、智能助手这两个已有的，可以扩展 AI 旅游规划、AI 智能购票、预约与候补提醒。游中：入园核验、导览讲解、陪伴互动、无障碍服务、乐园项目、演出、游船、餐饮购物、停车，对应已有的智能导览、AI 伴游、手语，可以扩展乐园排队与项目推荐、演出选座推荐、餐饮二消推荐、停车引导、自助机语音购票。游后：拍照留念、游记分享、点评反馈、年卡复游、积分权益，对应已有的 AI 旅拍，可以扩展游记与行程总结、点评分享助手、年卡服务助手。这些都要做，只是先后顺序不同。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再看景区这一端，按景区的业务来看。经营分析：已有 AI 智能问数和智能洞察，可以扩展经营日报周报、报表解读。票务运营：票务 AI 运营助手、分销渠道助手、旅行社报团助手、检票异常解释、窗口售票员助手。业态运营：业态经营助手，覆盖乐园、演出、游船、酒店、温泉、餐饮、停车。运营服务：消息通知预警、工单调度处置。财务：AI 对账助手、发票助手。营销：会员画像、人群圈选、营销文案生成、推广员助手、活动复盘。安全调度：也就是景区 AI 调度中枢，旅游安全、秩序治理、车辆调度、游船调度、森林防火、生态监测、气象服务、设施监测。设备终端：设备运维诊断。这些系统都是我们自己的，扩展有基础。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智能体怎么建？我们围绕三个目标来做：第一，跑通商业模式，就是确认能卖、能赚钱；第二，快速占领市场，就是铺得快、交付快；第三，建成自己的平台，就是更省钱、更可控、形成壁垒。建设流程是一条线走下来的：先选价值最高的场景，借扣子、火山方舟、羚羊小Q 这些成熟平台快速搭出来，在标杆景区试点验证，把定价和交付方式定下来，这是为了跑通商业模式；然后按业态把产品做成标准模板快速复制，同时把知识、接口、数据沉淀在自己手里，这是为了快速占领市场；等时机成熟，以数字大脑作为管理台建自己的平台，再把客户平稳迁过来。整个过程中有几件事一直要做：借平台但不交资产，数据从第一天回流，守住安全底线，培养自己的 AI 团队，用成本数据判断什么时候自建。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要跑通商业模式，先回答五个问题。卖给谁：哪类景区最需要、最愿意付钱。卖什么：哪些智能体组合成一个包，景区最认。怎么收钱：随票务打包、年费订阅、按效果分成、按用量，下一页细讲。花多少钱：平台调用费、交付人力、运营支持。值不值：景区看得到价值，少用人工、多卖票、游客更满意。最后归结为右边这一笔账：一个景区一年的收入，减去平台调用费、交付成本的摊销、运营支持，大于零，才算能赚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怎么收钱，有四种方式。随票务打包：作为票务系统的增值模块，提高票务年费，适合已经用我们票务的景区，要验证能不能提升续约率和客单价。年费订阅：按景区规模或智能体数量分档收年费，适合新客户、单独采购，要验证景区能接受的价位。按效果分成：按 AI 带来的购票和二消收入分成，适合购票、营销类智能体，要验证增量能不能算清楚。按用量：按对话量或调用量收费，适合大客流景区，要验证景区能不能接受账单波动。建议验证期同时试前两种。景区认的价值有四个，每个都要能用数据证明：少用人工，看智能体解决咨询的比例和省下的客服人力；多卖票，看智能体带来的线上购票和二消订单；游客更满意，看满意度、差评率、排队等待；管理更省心，看报表、对账、预警的人工时间减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怎么验证？四件事。挑标杆：从已经用我们票务的景区里挑，覆盖主要业态，有配合意愿、客流有代表性。快速搭：在成熟平台上把现有智能体搭起来，再加价值最高的新场景，比如智能购票。跑一个旺季：节假日客流最能检验效果和成本。数据回流：对话、转人工、评价、订单从第一天进数据平台，结论靠数据说话。怎样算跑通？五条：用起来，标杆景区持续在用、问题解决率达标；有价值，景区认可的指标有提升；愿付费，有景区按拟定价格付费或明确续费；能赚钱，单景区收入覆盖平台费、交付和运营；可复制，不靠核心研发、按标准流程就能上线。五条都满足，就把模板、定价、交付流程定型，转入规模复制；没过关就调整场景组合或定价再验一轮，还不行的场景停掉，不硬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商业模式跑通以后，要快速占领市场。先说打哪些客户。第一类，已经用我们票务的景区：随票务续约一起推，开通就能用，因为系统已经对接，基本零开发，信任也有，成交最快。第二类，同业态景区：用标杆案例按业态复制，场景相同，模板直接复用。第三类，新客户：智能体作为差异化卖点，带动票务签约，用 AI 撬动新客户。业态上，先做客流大、咨询多、线上购票比例高的：山岳、主题乐园、古镇街区；再到博物馆、温泉度假、游船演出。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怎么复制得快？关键是标准化。上线流程六步：签约、选已经验证过的模板、配本景区的知识、绑定入口、测试验收、上线运营。右边是五个环节怎么标准化：产品按业态出模板，景区之间的差异全部做成配置；知识采集用统一的采集表，景区填、实施审；系统接入，已用我们票务的景区接口是现成的；实施有手册和培训，实施人员和渠道伙伴都能独立交付；验收有统一测试清单，跑完就上线。同时每做一个景区，都在沉淀场景模板、知识结构、业务接口、交付经验、需求清单和交互数据，为将来自建平台做准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销售和续费怎么做？四个环节。销售：票务销售团队带单，智能体纳入销售考核，区域渠道伙伴代理。案例：每类业态的标杆做成案例，用数据讲效果。客户成功：上线后定期给景区出效果报告，比如解决了多少咨询、带来了多少订单、转人工率多少，促进续费。升级：模板统一升级，所有景区同步受益，增加粘性。右边是效果报告的样子，这是示意，具体数字由系统自动统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依托外部平台的同时，有六样东西必须留在自己手里，这是将来自建平台能低成本切过去的前提。一，景区知识：按我们自己的结构存一份，不只存在外部平台，以后直接导入自建平台。二，业务接口：售票、订单、核销、会员这些接口由我们自己封装成服务，外部平台只是调用，以后平台直接复用。三，模板设计：每个模板的流程、提示词、配置项写成文档，以后迁入模板库。四，交互数据：对话、评价、转人工记录回流到数据平台，用来做测试题、优化效果。五，成本数据：按景区、按智能体记录每月平台费用，用来判断什么时候该自建。六，需求清单：记录客户要、但平台做不了的功能，这就是自建平台的需求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为什么最终要自建？借平台在起步时最划算，但景区越多，平台费越高、交付受平台限制、数据和知识留在别人那里、平台调价改规则直接影响我们。自己建平台，对公司意味着什么？六个方面对比。成本：借平台按调用、账号收费，随景区数增长；自建只付模型调用和自身运维，单景区成本下降，规模越大利润越高。交付周期：借平台每个景区要在外部平台单独配置调试；自建集团建一次，景区开通即用，省交付人天，上线更快，能承接更多景区。定制能力：借平台个性需求受限；自建可以自主扩展，能接大客户和个性项目。数据资产：借平台工作流、知识、对话数据在外部；自建全部在自己手里，回流数据平台，越用越准。风险：借平台调价改规则直接影响报价；自建自主可控，模型可替换，经营稳定。竞争力：借平台谁都能做；自建是业务系统加数据加平台一体，形成壁垒，提高续约和客单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什么时候自己建？看左边这张示意图：继续用成熟平台，平台费随景区数量线性上涨；自己建，前期有一笔建设投入，之后主要是模型调用和运维，涨得慢。两条线交叉的地方，就是该自建的时候。具体看五个信号：成本交叉，用前面记录的成本数据测算，自建总成本已经更低；平台费占比上升，平台费占智能体收入的比例持续上升，压缩利润；场景稳定，主力智能体模板已经稳定，不再频繁大改；平台限制丢单，个性需求或大客户项目因为平台限制接不了；合规要求，景区或管理方要求数据不出域。满足任意两条，就启动自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自建不是什么都自己做。大模型不自研，直接调用模型服务，多家可以替换，因为投入太大，也不是我们的优势。语音、图像、数字人、手语这些专业能力，采购或者合作，自建不划算。编排引擎，就是让智能体按流程干活的引擎，用开源框架二次开发，不从零写，缩短周期。真正要自建的是三样：智能体管理台、能力与知识、业务工具，因为它们承载着我们的业务、数据和交付方式，是壁垒所在。数据服务直接复用第一部分的数据平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自建平台长这样，从上往下看。最上面是渠道入口：畅游小程序、票付通 APP、景数通、公众号小程序、智慧终端都已经有了，再自建开放接口。往下是智能体应用：游客服务、景区管理、票务财务、安全调度、精准营销，按场景模板生成，自建。核心是智能体管理台，就是数字大脑，自建：一半是搭建，模板库、可视化编排、配置化生成、多智能体协同、测试与发布；一半是运营，集团和景区多租户、权限、运行监控、费用计量到景区、效果评估。再往下是能力层：业务工具中心、景区知识库、游客记忆与画像、测试用例库自建，数据服务复用。引擎层：编排和检索用开源改造，模型网关和内容安全自建，模型网关能统一接各家模型、路由、降级、计量。外部能力：大模型多家可替换，语音图像数字人、手语、小Q 采购或合作。最底下数据底座复用第一部分。前期留在手里的知识、接口、模板、交互数据，直接搬进能力层和管理台。四条产品线的智能体，最后都在这个平台上统一搭建、运营、计量和评估。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怎么从借平台切到自建平台？五步，不搞一刀切。第一步，核心先上：先把核心模块和主力智能体放到自建平台。第二步，对比验证：用同一套测试题对比，效果不低于成熟平台才切。第三步，新增先上：新签的景区直接上自建平台。第四步，存量随续约迁移：老景区在续约时逐个迁移，双轨运行，随时可以回退。第五步，成熟平台转为补充：外部平台不是一下子不用，而是变成补充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风险方面主要有四个，都有应对。投入超预期：小团队先做核心模块，跟着迁移进度分批投入。外部平台调价或停服：资产在自己手里，模型多家可替换，随时能切。团队能力不足：前期就开始培养自己的 AI 应用团队，自建时延续。需求变化快：模板化、配置化，景区差异放在配置里，不改代码。另外，智能体从第一天起就要守住四条底线：只用授权数据，数据按景区隔离；退款、调度这些关键动作要人工确认；手机号、证件号不进对话和知识库，展示时打码；价格和退改规则以系统为准，答不了就转人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第三部分：AI＋数据平台，数据在公司里转起来，越用越准。主要讲：数据怎么流转、一张门票的例子。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这张图把前面两部分串起来，从下往上看。最下面是产数：智慧票务、九大业态、景区运营、财务、智慧终端、畅游 AI、会员营销、数字大脑这些业务系统，每天产生交易、核销、客流、设备、会员、财务数据，第一步进入数据平台。第二层是治数，也就是第一部分的数据平台：统一接入，离线加实时；湖仓公共模型；算成认证的指标、标签和景区知识；再通过开放接口和小Q 提供出去，治理贯穿全程。第三层是办事，也就是第二部分的智能体：游客端的客服、导览、伴游、旅拍、规划、购票，景区端的问数、洞察、运营、对账、预警、调度；报表和接口也直接用数。最上面是用数：游客用小程序、公众号、自助终端，景区用景数通、票付通 APP、景区 SaaS，内部是管理层和业务线。最关键是右边：用的过程中产生的问答记录、游客评价、转人工、预警和工单结果、使用行为，回流到数据平台；整理好的指标、标签、洞察再反哺业务系统，调定价、做营销、优化调度。这样数据越用越多、越用越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举个例子，一张门票的数据旅程。第一步，游客买票入园，售票和闸机核销产生数据。第二步，订单、核销、客流进入数据平台。第三步，平台算出实时客流这样的指标，也给游客打上偏好标签。第四步，智能体办事：客流接近预约上限时提前预警，推送给现场工作人员处置；同时根据游客偏好推荐餐饮、演出等二次消费。第五步，处置结果和推荐转化回流到平台。第六步，反哺业务：景区据此调整预约名额、调整营销活动。右边是工作人员在票付通 APP 上收到预警的示意。这一圈下来，游客体验更好，景区多卖钱、少出事，我们的数据和智能体也更准了。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后说接下来。先做三件事。第一，数据：在订单到核销到结算这条主线上试点治理，定口径、上卡点、做逐层核对，先把核销量这些关键数字做准，同时把订单核销的实时链路建起来。第二，智能体：挑已经用我们票务的景区做标杆，在成熟平台上搭好现有智能体，加上高价值的新场景，跑一个完整旺季，同时试随票务打包和年费订阅两种收费。第三，打通：智能体统一从数据平台取数，对话、评价、转人工等数据从第一天回流，知识、接口、模板、成本数据留在自己手里。需要您支持四件事：一，口径谁拍板，建议成立数据治理小组，有争议时有人定；二，规范强制执行，不合规的数据不上线，这需要公司层面授权；三，标杆景区和销售团队的配合，智能体纳入销售考核；四，什么时候自己建平台，我们定期用成本数据评估，由您来决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汇报完毕，请您指示。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hyperlink" Target="http://www.51pptmoban.com/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页 www.51pptmoban.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 descr="D:\51PPT模板网\51pptmoban.com\图片.jpg"/>
          <p:cNvSpPr/>
          <p:nvPr userDrawn="1"/>
        </p:nvSpPr>
        <p:spPr>
          <a:xfrm>
            <a:off x="423596" y="310586"/>
            <a:ext cx="11360684" cy="6248520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7" name="十字形 6" descr="D:\51PPT模板网\51pptmoban.com\图片.jpg"/>
          <p:cNvSpPr/>
          <p:nvPr userDrawn="1"/>
        </p:nvSpPr>
        <p:spPr>
          <a:xfrm>
            <a:off x="11082528" y="5943600"/>
            <a:ext cx="530352" cy="530352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/>
          <p:cNvSpPr/>
          <p:nvPr userDrawn="1"/>
        </p:nvSpPr>
        <p:spPr>
          <a:xfrm>
            <a:off x="11725488" y="6473128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 descr="D:\51PPT模板网\51pptmoban.com\图片.jpg"/>
          <p:cNvSpPr/>
          <p:nvPr userDrawn="1"/>
        </p:nvSpPr>
        <p:spPr>
          <a:xfrm>
            <a:off x="11592982" y="5262342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3" name="十字形 12" descr="D:\51PPT模板网\51pptmoban.com\图片.jpg"/>
          <p:cNvSpPr/>
          <p:nvPr userDrawn="1"/>
        </p:nvSpPr>
        <p:spPr>
          <a:xfrm>
            <a:off x="174032" y="983864"/>
            <a:ext cx="448328" cy="448328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5" name="十字形 14"/>
          <p:cNvSpPr/>
          <p:nvPr userDrawn="1"/>
        </p:nvSpPr>
        <p:spPr>
          <a:xfrm>
            <a:off x="1129787" y="214733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838200" y="5267144"/>
            <a:ext cx="60994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rgbClr val="B0DED4"/>
                </a:solidFill>
              </a:rPr>
              <a:t>51PPT模板网，幻灯片演示模板及素材免费下载！</a:t>
            </a:r>
            <a:endParaRPr lang="zh-CN" altLang="en-US" dirty="0">
              <a:solidFill>
                <a:srgbClr val="B0DED4"/>
              </a:solidFill>
            </a:endParaRPr>
          </a:p>
          <a:p>
            <a:r>
              <a:rPr lang="zh-CN" altLang="en-US" dirty="0">
                <a:solidFill>
                  <a:srgbClr val="B0DED4"/>
                </a:solidFill>
              </a:rPr>
              <a:t>51PPT模板网 唯一访问网址：www.51pptmoban.com。</a:t>
            </a:r>
            <a:endParaRPr lang="zh-CN" altLang="en-US" dirty="0">
              <a:solidFill>
                <a:srgbClr val="B0DED4"/>
              </a:solidFill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1PPT模板网，www.51pptmoban.c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任意多边形: 形状 36"/>
          <p:cNvSpPr/>
          <p:nvPr userDrawn="1"/>
        </p:nvSpPr>
        <p:spPr>
          <a:xfrm>
            <a:off x="2" y="3832097"/>
            <a:ext cx="12195175" cy="3022731"/>
          </a:xfrm>
          <a:custGeom>
            <a:avLst/>
            <a:gdLst>
              <a:gd name="connsiteX0" fmla="*/ 7975600 w 12192000"/>
              <a:gd name="connsiteY0" fmla="*/ 1366 h 3023966"/>
              <a:gd name="connsiteX1" fmla="*/ 11319470 w 12192000"/>
              <a:gd name="connsiteY1" fmla="*/ 330723 h 3023966"/>
              <a:gd name="connsiteX2" fmla="*/ 12192000 w 12192000"/>
              <a:gd name="connsiteY2" fmla="*/ 498201 h 3023966"/>
              <a:gd name="connsiteX3" fmla="*/ 12192000 w 12192000"/>
              <a:gd name="connsiteY3" fmla="*/ 3023966 h 3023966"/>
              <a:gd name="connsiteX4" fmla="*/ 0 w 12192000"/>
              <a:gd name="connsiteY4" fmla="*/ 3023966 h 3023966"/>
              <a:gd name="connsiteX5" fmla="*/ 0 w 12192000"/>
              <a:gd name="connsiteY5" fmla="*/ 376472 h 3023966"/>
              <a:gd name="connsiteX6" fmla="*/ 345926 w 12192000"/>
              <a:gd name="connsiteY6" fmla="*/ 450479 h 3023966"/>
              <a:gd name="connsiteX7" fmla="*/ 2908300 w 12192000"/>
              <a:gd name="connsiteY7" fmla="*/ 674466 h 3023966"/>
              <a:gd name="connsiteX8" fmla="*/ 7975600 w 12192000"/>
              <a:gd name="connsiteY8" fmla="*/ 1366 h 3023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3023966">
                <a:moveTo>
                  <a:pt x="7975600" y="1366"/>
                </a:moveTo>
                <a:cubicBezTo>
                  <a:pt x="9159875" y="-16096"/>
                  <a:pt x="10251281" y="136105"/>
                  <a:pt x="11319470" y="330723"/>
                </a:cubicBezTo>
                <a:lnTo>
                  <a:pt x="12192000" y="498201"/>
                </a:lnTo>
                <a:lnTo>
                  <a:pt x="12192000" y="3023966"/>
                </a:lnTo>
                <a:lnTo>
                  <a:pt x="0" y="3023966"/>
                </a:lnTo>
                <a:lnTo>
                  <a:pt x="0" y="376472"/>
                </a:lnTo>
                <a:lnTo>
                  <a:pt x="345926" y="450479"/>
                </a:lnTo>
                <a:cubicBezTo>
                  <a:pt x="1074142" y="599258"/>
                  <a:pt x="1865313" y="710978"/>
                  <a:pt x="2908300" y="674466"/>
                </a:cubicBezTo>
                <a:cubicBezTo>
                  <a:pt x="4298950" y="625783"/>
                  <a:pt x="6396567" y="24649"/>
                  <a:pt x="7975600" y="1366"/>
                </a:cubicBezTo>
                <a:close/>
              </a:path>
            </a:pathLst>
          </a:custGeom>
          <a:solidFill>
            <a:srgbClr val="003399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1705">
              <a:latin typeface="HarmonyOS Sans SC Light" panose="00000400000000000000" pitchFamily="2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  <a:sym typeface="HarmonyOS Sans SC Light" panose="00000400000000000000" pitchFamily="2" charset="-122"/>
            </a:endParaRPr>
          </a:p>
        </p:txBody>
      </p:sp>
      <p:grpSp>
        <p:nvGrpSpPr>
          <p:cNvPr id="2" name="组合 1"/>
          <p:cNvGrpSpPr/>
          <p:nvPr userDrawn="1"/>
        </p:nvGrpSpPr>
        <p:grpSpPr>
          <a:xfrm>
            <a:off x="807247" y="298818"/>
            <a:ext cx="3513983" cy="1204794"/>
            <a:chOff x="870547" y="7238685"/>
            <a:chExt cx="3333750" cy="1143000"/>
          </a:xfrm>
        </p:grpSpPr>
        <p:grpSp>
          <p:nvGrpSpPr>
            <p:cNvPr id="3" name="组合 2" descr="51PPT模板网，幻灯片演示模板及素材免费下载！&#10;51PPT模板网 唯一访问网址：www.51pptmoban.com"/>
            <p:cNvGrpSpPr/>
            <p:nvPr userDrawn="1"/>
          </p:nvGrpSpPr>
          <p:grpSpPr>
            <a:xfrm>
              <a:off x="1089945" y="7419206"/>
              <a:ext cx="2824283" cy="781959"/>
              <a:chOff x="1086173" y="3300162"/>
              <a:chExt cx="2824283" cy="781959"/>
            </a:xfrm>
          </p:grpSpPr>
          <p:sp>
            <p:nvSpPr>
              <p:cNvPr id="5" name="任意多边形: 形状 4"/>
              <p:cNvSpPr/>
              <p:nvPr userDrawn="1"/>
            </p:nvSpPr>
            <p:spPr>
              <a:xfrm>
                <a:off x="2111882" y="3451828"/>
                <a:ext cx="250109" cy="332432"/>
              </a:xfrm>
              <a:custGeom>
                <a:avLst/>
                <a:gdLst>
                  <a:gd name="connsiteX0" fmla="*/ 79937 w 250109"/>
                  <a:gd name="connsiteY0" fmla="*/ 159025 h 332432"/>
                  <a:gd name="connsiteX1" fmla="*/ 79937 w 250109"/>
                  <a:gd name="connsiteY1" fmla="*/ 62949 h 332432"/>
                  <a:gd name="connsiteX2" fmla="*/ 112574 w 250109"/>
                  <a:gd name="connsiteY2" fmla="*/ 62949 h 332432"/>
                  <a:gd name="connsiteX3" fmla="*/ 156891 w 250109"/>
                  <a:gd name="connsiteY3" fmla="*/ 72996 h 332432"/>
                  <a:gd name="connsiteX4" fmla="*/ 172401 w 250109"/>
                  <a:gd name="connsiteY4" fmla="*/ 108130 h 332432"/>
                  <a:gd name="connsiteX5" fmla="*/ 158257 w 250109"/>
                  <a:gd name="connsiteY5" fmla="*/ 145870 h 332432"/>
                  <a:gd name="connsiteX6" fmla="*/ 114820 w 250109"/>
                  <a:gd name="connsiteY6" fmla="*/ 159025 h 332432"/>
                  <a:gd name="connsiteX7" fmla="*/ 79937 w 250109"/>
                  <a:gd name="connsiteY7" fmla="*/ 159025 h 332432"/>
                  <a:gd name="connsiteX8" fmla="*/ 0 w 250109"/>
                  <a:gd name="connsiteY8" fmla="*/ 332433 h 332432"/>
                  <a:gd name="connsiteX9" fmla="*/ 79937 w 250109"/>
                  <a:gd name="connsiteY9" fmla="*/ 332433 h 332432"/>
                  <a:gd name="connsiteX10" fmla="*/ 79937 w 250109"/>
                  <a:gd name="connsiteY10" fmla="*/ 222087 h 332432"/>
                  <a:gd name="connsiteX11" fmla="*/ 118792 w 250109"/>
                  <a:gd name="connsiteY11" fmla="*/ 222087 h 332432"/>
                  <a:gd name="connsiteX12" fmla="*/ 184082 w 250109"/>
                  <a:gd name="connsiteY12" fmla="*/ 210047 h 332432"/>
                  <a:gd name="connsiteX13" fmla="*/ 231743 w 250109"/>
                  <a:gd name="connsiteY13" fmla="*/ 172810 h 332432"/>
                  <a:gd name="connsiteX14" fmla="*/ 250110 w 250109"/>
                  <a:gd name="connsiteY14" fmla="*/ 108148 h 332432"/>
                  <a:gd name="connsiteX15" fmla="*/ 231869 w 250109"/>
                  <a:gd name="connsiteY15" fmla="*/ 43594 h 332432"/>
                  <a:gd name="connsiteX16" fmla="*/ 183831 w 250109"/>
                  <a:gd name="connsiteY16" fmla="*/ 9700 h 332432"/>
                  <a:gd name="connsiteX17" fmla="*/ 116563 w 250109"/>
                  <a:gd name="connsiteY17" fmla="*/ 13 h 332432"/>
                  <a:gd name="connsiteX18" fmla="*/ 0 w 250109"/>
                  <a:gd name="connsiteY18" fmla="*/ 13 h 332432"/>
                  <a:gd name="connsiteX19" fmla="*/ 0 w 250109"/>
                  <a:gd name="connsiteY19" fmla="*/ 332433 h 332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50109" h="332432">
                    <a:moveTo>
                      <a:pt x="79937" y="159025"/>
                    </a:moveTo>
                    <a:lnTo>
                      <a:pt x="79937" y="62949"/>
                    </a:lnTo>
                    <a:lnTo>
                      <a:pt x="112574" y="62949"/>
                    </a:lnTo>
                    <a:cubicBezTo>
                      <a:pt x="131821" y="62698"/>
                      <a:pt x="146702" y="66059"/>
                      <a:pt x="156891" y="72996"/>
                    </a:cubicBezTo>
                    <a:cubicBezTo>
                      <a:pt x="167189" y="79825"/>
                      <a:pt x="172401" y="91488"/>
                      <a:pt x="172401" y="108130"/>
                    </a:cubicBezTo>
                    <a:cubicBezTo>
                      <a:pt x="172527" y="124520"/>
                      <a:pt x="167692" y="137046"/>
                      <a:pt x="158257" y="145870"/>
                    </a:cubicBezTo>
                    <a:cubicBezTo>
                      <a:pt x="148696" y="154550"/>
                      <a:pt x="134175" y="159025"/>
                      <a:pt x="114820" y="159025"/>
                    </a:cubicBezTo>
                    <a:lnTo>
                      <a:pt x="79937" y="159025"/>
                    </a:lnTo>
                    <a:close/>
                    <a:moveTo>
                      <a:pt x="0" y="332433"/>
                    </a:moveTo>
                    <a:lnTo>
                      <a:pt x="79937" y="332433"/>
                    </a:lnTo>
                    <a:lnTo>
                      <a:pt x="79937" y="222087"/>
                    </a:lnTo>
                    <a:lnTo>
                      <a:pt x="118792" y="222087"/>
                    </a:lnTo>
                    <a:cubicBezTo>
                      <a:pt x="142496" y="222087"/>
                      <a:pt x="164224" y="218116"/>
                      <a:pt x="184082" y="210047"/>
                    </a:cubicBezTo>
                    <a:cubicBezTo>
                      <a:pt x="203815" y="202103"/>
                      <a:pt x="219702" y="189559"/>
                      <a:pt x="231743" y="172810"/>
                    </a:cubicBezTo>
                    <a:cubicBezTo>
                      <a:pt x="243658" y="155934"/>
                      <a:pt x="249858" y="134458"/>
                      <a:pt x="250110" y="108148"/>
                    </a:cubicBezTo>
                    <a:cubicBezTo>
                      <a:pt x="249858" y="80957"/>
                      <a:pt x="243784" y="59373"/>
                      <a:pt x="231869" y="43594"/>
                    </a:cubicBezTo>
                    <a:cubicBezTo>
                      <a:pt x="219828" y="27707"/>
                      <a:pt x="203815" y="16403"/>
                      <a:pt x="183831" y="9700"/>
                    </a:cubicBezTo>
                    <a:cubicBezTo>
                      <a:pt x="163721" y="3122"/>
                      <a:pt x="141256" y="-238"/>
                      <a:pt x="116563" y="13"/>
                    </a:cubicBezTo>
                    <a:lnTo>
                      <a:pt x="0" y="13"/>
                    </a:lnTo>
                    <a:lnTo>
                      <a:pt x="0" y="332433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8" name="任意多边形: 形状 37"/>
              <p:cNvSpPr/>
              <p:nvPr userDrawn="1"/>
            </p:nvSpPr>
            <p:spPr>
              <a:xfrm>
                <a:off x="2426959" y="3451828"/>
                <a:ext cx="250109" cy="332432"/>
              </a:xfrm>
              <a:custGeom>
                <a:avLst/>
                <a:gdLst>
                  <a:gd name="connsiteX0" fmla="*/ 79937 w 250109"/>
                  <a:gd name="connsiteY0" fmla="*/ 159025 h 332432"/>
                  <a:gd name="connsiteX1" fmla="*/ 79937 w 250109"/>
                  <a:gd name="connsiteY1" fmla="*/ 62949 h 332432"/>
                  <a:gd name="connsiteX2" fmla="*/ 112574 w 250109"/>
                  <a:gd name="connsiteY2" fmla="*/ 62949 h 332432"/>
                  <a:gd name="connsiteX3" fmla="*/ 156891 w 250109"/>
                  <a:gd name="connsiteY3" fmla="*/ 72996 h 332432"/>
                  <a:gd name="connsiteX4" fmla="*/ 172401 w 250109"/>
                  <a:gd name="connsiteY4" fmla="*/ 108130 h 332432"/>
                  <a:gd name="connsiteX5" fmla="*/ 158257 w 250109"/>
                  <a:gd name="connsiteY5" fmla="*/ 145870 h 332432"/>
                  <a:gd name="connsiteX6" fmla="*/ 114820 w 250109"/>
                  <a:gd name="connsiteY6" fmla="*/ 159025 h 332432"/>
                  <a:gd name="connsiteX7" fmla="*/ 79937 w 250109"/>
                  <a:gd name="connsiteY7" fmla="*/ 159025 h 332432"/>
                  <a:gd name="connsiteX8" fmla="*/ 0 w 250109"/>
                  <a:gd name="connsiteY8" fmla="*/ 332433 h 332432"/>
                  <a:gd name="connsiteX9" fmla="*/ 79937 w 250109"/>
                  <a:gd name="connsiteY9" fmla="*/ 332433 h 332432"/>
                  <a:gd name="connsiteX10" fmla="*/ 79937 w 250109"/>
                  <a:gd name="connsiteY10" fmla="*/ 222087 h 332432"/>
                  <a:gd name="connsiteX11" fmla="*/ 118792 w 250109"/>
                  <a:gd name="connsiteY11" fmla="*/ 222087 h 332432"/>
                  <a:gd name="connsiteX12" fmla="*/ 184082 w 250109"/>
                  <a:gd name="connsiteY12" fmla="*/ 210047 h 332432"/>
                  <a:gd name="connsiteX13" fmla="*/ 231743 w 250109"/>
                  <a:gd name="connsiteY13" fmla="*/ 172810 h 332432"/>
                  <a:gd name="connsiteX14" fmla="*/ 250110 w 250109"/>
                  <a:gd name="connsiteY14" fmla="*/ 108148 h 332432"/>
                  <a:gd name="connsiteX15" fmla="*/ 231869 w 250109"/>
                  <a:gd name="connsiteY15" fmla="*/ 43594 h 332432"/>
                  <a:gd name="connsiteX16" fmla="*/ 183831 w 250109"/>
                  <a:gd name="connsiteY16" fmla="*/ 9700 h 332432"/>
                  <a:gd name="connsiteX17" fmla="*/ 116563 w 250109"/>
                  <a:gd name="connsiteY17" fmla="*/ 13 h 332432"/>
                  <a:gd name="connsiteX18" fmla="*/ 0 w 250109"/>
                  <a:gd name="connsiteY18" fmla="*/ 13 h 332432"/>
                  <a:gd name="connsiteX19" fmla="*/ 0 w 250109"/>
                  <a:gd name="connsiteY19" fmla="*/ 332433 h 332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50109" h="332432">
                    <a:moveTo>
                      <a:pt x="79937" y="159025"/>
                    </a:moveTo>
                    <a:lnTo>
                      <a:pt x="79937" y="62949"/>
                    </a:lnTo>
                    <a:lnTo>
                      <a:pt x="112574" y="62949"/>
                    </a:lnTo>
                    <a:cubicBezTo>
                      <a:pt x="131821" y="62698"/>
                      <a:pt x="146702" y="66059"/>
                      <a:pt x="156891" y="72996"/>
                    </a:cubicBezTo>
                    <a:cubicBezTo>
                      <a:pt x="167189" y="79825"/>
                      <a:pt x="172401" y="91488"/>
                      <a:pt x="172401" y="108130"/>
                    </a:cubicBezTo>
                    <a:cubicBezTo>
                      <a:pt x="172527" y="124520"/>
                      <a:pt x="167692" y="137046"/>
                      <a:pt x="158257" y="145870"/>
                    </a:cubicBezTo>
                    <a:cubicBezTo>
                      <a:pt x="148696" y="154550"/>
                      <a:pt x="134175" y="159025"/>
                      <a:pt x="114820" y="159025"/>
                    </a:cubicBezTo>
                    <a:lnTo>
                      <a:pt x="79937" y="159025"/>
                    </a:lnTo>
                    <a:close/>
                    <a:moveTo>
                      <a:pt x="0" y="332433"/>
                    </a:moveTo>
                    <a:lnTo>
                      <a:pt x="79937" y="332433"/>
                    </a:lnTo>
                    <a:lnTo>
                      <a:pt x="79937" y="222087"/>
                    </a:lnTo>
                    <a:lnTo>
                      <a:pt x="118792" y="222087"/>
                    </a:lnTo>
                    <a:cubicBezTo>
                      <a:pt x="142496" y="222087"/>
                      <a:pt x="164224" y="218116"/>
                      <a:pt x="184082" y="210047"/>
                    </a:cubicBezTo>
                    <a:cubicBezTo>
                      <a:pt x="203815" y="202103"/>
                      <a:pt x="219702" y="189559"/>
                      <a:pt x="231743" y="172810"/>
                    </a:cubicBezTo>
                    <a:cubicBezTo>
                      <a:pt x="243658" y="155934"/>
                      <a:pt x="249858" y="134458"/>
                      <a:pt x="250110" y="108148"/>
                    </a:cubicBezTo>
                    <a:cubicBezTo>
                      <a:pt x="249858" y="80957"/>
                      <a:pt x="243784" y="59373"/>
                      <a:pt x="231869" y="43594"/>
                    </a:cubicBezTo>
                    <a:cubicBezTo>
                      <a:pt x="219828" y="27707"/>
                      <a:pt x="203815" y="16403"/>
                      <a:pt x="183831" y="9700"/>
                    </a:cubicBezTo>
                    <a:cubicBezTo>
                      <a:pt x="163721" y="3122"/>
                      <a:pt x="141256" y="-238"/>
                      <a:pt x="116563" y="13"/>
                    </a:cubicBezTo>
                    <a:lnTo>
                      <a:pt x="0" y="13"/>
                    </a:lnTo>
                    <a:lnTo>
                      <a:pt x="0" y="332433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9" name="任意多边形: 形状 38"/>
              <p:cNvSpPr/>
              <p:nvPr userDrawn="1"/>
            </p:nvSpPr>
            <p:spPr>
              <a:xfrm>
                <a:off x="2713715" y="3451841"/>
                <a:ext cx="259922" cy="332419"/>
              </a:xfrm>
              <a:custGeom>
                <a:avLst/>
                <a:gdLst>
                  <a:gd name="connsiteX0" fmla="*/ 89732 w 259922"/>
                  <a:gd name="connsiteY0" fmla="*/ 332420 h 332419"/>
                  <a:gd name="connsiteX1" fmla="*/ 169669 w 259922"/>
                  <a:gd name="connsiteY1" fmla="*/ 332420 h 332419"/>
                  <a:gd name="connsiteX2" fmla="*/ 169669 w 259922"/>
                  <a:gd name="connsiteY2" fmla="*/ 66045 h 332419"/>
                  <a:gd name="connsiteX3" fmla="*/ 259922 w 259922"/>
                  <a:gd name="connsiteY3" fmla="*/ 66045 h 332419"/>
                  <a:gd name="connsiteX4" fmla="*/ 259922 w 259922"/>
                  <a:gd name="connsiteY4" fmla="*/ 0 h 332419"/>
                  <a:gd name="connsiteX5" fmla="*/ 0 w 259922"/>
                  <a:gd name="connsiteY5" fmla="*/ 0 h 332419"/>
                  <a:gd name="connsiteX6" fmla="*/ 0 w 259922"/>
                  <a:gd name="connsiteY6" fmla="*/ 66045 h 332419"/>
                  <a:gd name="connsiteX7" fmla="*/ 89732 w 259922"/>
                  <a:gd name="connsiteY7" fmla="*/ 66045 h 332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59922" h="332419">
                    <a:moveTo>
                      <a:pt x="89732" y="332420"/>
                    </a:moveTo>
                    <a:lnTo>
                      <a:pt x="169669" y="332420"/>
                    </a:lnTo>
                    <a:lnTo>
                      <a:pt x="169669" y="66045"/>
                    </a:lnTo>
                    <a:lnTo>
                      <a:pt x="259922" y="66045"/>
                    </a:lnTo>
                    <a:lnTo>
                      <a:pt x="259922" y="0"/>
                    </a:lnTo>
                    <a:lnTo>
                      <a:pt x="0" y="0"/>
                    </a:lnTo>
                    <a:lnTo>
                      <a:pt x="0" y="66045"/>
                    </a:lnTo>
                    <a:lnTo>
                      <a:pt x="89732" y="66045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0" name="任意多边形: 形状 39"/>
              <p:cNvSpPr/>
              <p:nvPr userDrawn="1"/>
            </p:nvSpPr>
            <p:spPr>
              <a:xfrm>
                <a:off x="3026743" y="3420175"/>
                <a:ext cx="399147" cy="388526"/>
              </a:xfrm>
              <a:custGeom>
                <a:avLst/>
                <a:gdLst>
                  <a:gd name="connsiteX0" fmla="*/ 387323 w 399147"/>
                  <a:gd name="connsiteY0" fmla="*/ 305498 h 388526"/>
                  <a:gd name="connsiteX1" fmla="*/ 387323 w 399147"/>
                  <a:gd name="connsiteY1" fmla="*/ 257334 h 388526"/>
                  <a:gd name="connsiteX2" fmla="*/ 291211 w 399147"/>
                  <a:gd name="connsiteY2" fmla="*/ 257334 h 388526"/>
                  <a:gd name="connsiteX3" fmla="*/ 292235 w 399147"/>
                  <a:gd name="connsiteY3" fmla="*/ 248475 h 388526"/>
                  <a:gd name="connsiteX4" fmla="*/ 293260 w 399147"/>
                  <a:gd name="connsiteY4" fmla="*/ 239273 h 388526"/>
                  <a:gd name="connsiteX5" fmla="*/ 367212 w 399147"/>
                  <a:gd name="connsiteY5" fmla="*/ 239273 h 388526"/>
                  <a:gd name="connsiteX6" fmla="*/ 367212 w 399147"/>
                  <a:gd name="connsiteY6" fmla="*/ 98628 h 388526"/>
                  <a:gd name="connsiteX7" fmla="*/ 159084 w 399147"/>
                  <a:gd name="connsiteY7" fmla="*/ 98628 h 388526"/>
                  <a:gd name="connsiteX8" fmla="*/ 159084 w 399147"/>
                  <a:gd name="connsiteY8" fmla="*/ 239273 h 388526"/>
                  <a:gd name="connsiteX9" fmla="*/ 235193 w 399147"/>
                  <a:gd name="connsiteY9" fmla="*/ 239273 h 388526"/>
                  <a:gd name="connsiteX10" fmla="*/ 234061 w 399147"/>
                  <a:gd name="connsiteY10" fmla="*/ 248475 h 388526"/>
                  <a:gd name="connsiteX11" fmla="*/ 232696 w 399147"/>
                  <a:gd name="connsiteY11" fmla="*/ 257334 h 388526"/>
                  <a:gd name="connsiteX12" fmla="*/ 143970 w 399147"/>
                  <a:gd name="connsiteY12" fmla="*/ 257334 h 388526"/>
                  <a:gd name="connsiteX13" fmla="*/ 143970 w 399147"/>
                  <a:gd name="connsiteY13" fmla="*/ 305498 h 388526"/>
                  <a:gd name="connsiteX14" fmla="*/ 211453 w 399147"/>
                  <a:gd name="connsiteY14" fmla="*/ 305498 h 388526"/>
                  <a:gd name="connsiteX15" fmla="*/ 179751 w 399147"/>
                  <a:gd name="connsiteY15" fmla="*/ 326058 h 388526"/>
                  <a:gd name="connsiteX16" fmla="*/ 126358 w 399147"/>
                  <a:gd name="connsiteY16" fmla="*/ 341046 h 388526"/>
                  <a:gd name="connsiteX17" fmla="*/ 143629 w 399147"/>
                  <a:gd name="connsiteY17" fmla="*/ 363762 h 388526"/>
                  <a:gd name="connsiteX18" fmla="*/ 156245 w 399147"/>
                  <a:gd name="connsiteY18" fmla="*/ 388527 h 388526"/>
                  <a:gd name="connsiteX19" fmla="*/ 232480 w 399147"/>
                  <a:gd name="connsiteY19" fmla="*/ 359215 h 388526"/>
                  <a:gd name="connsiteX20" fmla="*/ 273149 w 399147"/>
                  <a:gd name="connsiteY20" fmla="*/ 317755 h 388526"/>
                  <a:gd name="connsiteX21" fmla="*/ 309398 w 399147"/>
                  <a:gd name="connsiteY21" fmla="*/ 360815 h 388526"/>
                  <a:gd name="connsiteX22" fmla="*/ 363133 w 399147"/>
                  <a:gd name="connsiteY22" fmla="*/ 387736 h 388526"/>
                  <a:gd name="connsiteX23" fmla="*/ 379379 w 399147"/>
                  <a:gd name="connsiteY23" fmla="*/ 361713 h 388526"/>
                  <a:gd name="connsiteX24" fmla="*/ 399148 w 399147"/>
                  <a:gd name="connsiteY24" fmla="*/ 338656 h 388526"/>
                  <a:gd name="connsiteX25" fmla="*/ 359161 w 399147"/>
                  <a:gd name="connsiteY25" fmla="*/ 325932 h 388526"/>
                  <a:gd name="connsiteX26" fmla="*/ 329275 w 399147"/>
                  <a:gd name="connsiteY26" fmla="*/ 305480 h 388526"/>
                  <a:gd name="connsiteX27" fmla="*/ 387323 w 399147"/>
                  <a:gd name="connsiteY27" fmla="*/ 305480 h 388526"/>
                  <a:gd name="connsiteX28" fmla="*/ 213843 w 399147"/>
                  <a:gd name="connsiteY28" fmla="*/ 139064 h 388526"/>
                  <a:gd name="connsiteX29" fmla="*/ 309955 w 399147"/>
                  <a:gd name="connsiteY29" fmla="*/ 139064 h 388526"/>
                  <a:gd name="connsiteX30" fmla="*/ 309955 w 399147"/>
                  <a:gd name="connsiteY30" fmla="*/ 150080 h 388526"/>
                  <a:gd name="connsiteX31" fmla="*/ 213843 w 399147"/>
                  <a:gd name="connsiteY31" fmla="*/ 150080 h 388526"/>
                  <a:gd name="connsiteX32" fmla="*/ 213843 w 399147"/>
                  <a:gd name="connsiteY32" fmla="*/ 139064 h 388526"/>
                  <a:gd name="connsiteX33" fmla="*/ 213843 w 399147"/>
                  <a:gd name="connsiteY33" fmla="*/ 187677 h 388526"/>
                  <a:gd name="connsiteX34" fmla="*/ 309955 w 399147"/>
                  <a:gd name="connsiteY34" fmla="*/ 187677 h 388526"/>
                  <a:gd name="connsiteX35" fmla="*/ 309955 w 399147"/>
                  <a:gd name="connsiteY35" fmla="*/ 198819 h 388526"/>
                  <a:gd name="connsiteX36" fmla="*/ 213843 w 399147"/>
                  <a:gd name="connsiteY36" fmla="*/ 198819 h 388526"/>
                  <a:gd name="connsiteX37" fmla="*/ 213843 w 399147"/>
                  <a:gd name="connsiteY37" fmla="*/ 187677 h 388526"/>
                  <a:gd name="connsiteX38" fmla="*/ 158293 w 399147"/>
                  <a:gd name="connsiteY38" fmla="*/ 214724 h 388526"/>
                  <a:gd name="connsiteX39" fmla="*/ 144653 w 399147"/>
                  <a:gd name="connsiteY39" fmla="*/ 194272 h 388526"/>
                  <a:gd name="connsiteX40" fmla="*/ 124651 w 399147"/>
                  <a:gd name="connsiteY40" fmla="*/ 165536 h 388526"/>
                  <a:gd name="connsiteX41" fmla="*/ 107488 w 399147"/>
                  <a:gd name="connsiteY41" fmla="*/ 142353 h 388526"/>
                  <a:gd name="connsiteX42" fmla="*/ 107488 w 399147"/>
                  <a:gd name="connsiteY42" fmla="*/ 129629 h 388526"/>
                  <a:gd name="connsiteX43" fmla="*/ 141903 w 399147"/>
                  <a:gd name="connsiteY43" fmla="*/ 129629 h 388526"/>
                  <a:gd name="connsiteX44" fmla="*/ 141903 w 399147"/>
                  <a:gd name="connsiteY44" fmla="*/ 74869 h 388526"/>
                  <a:gd name="connsiteX45" fmla="*/ 107488 w 399147"/>
                  <a:gd name="connsiteY45" fmla="*/ 74869 h 388526"/>
                  <a:gd name="connsiteX46" fmla="*/ 107488 w 399147"/>
                  <a:gd name="connsiteY46" fmla="*/ 0 h 388526"/>
                  <a:gd name="connsiteX47" fmla="*/ 51470 w 399147"/>
                  <a:gd name="connsiteY47" fmla="*/ 0 h 388526"/>
                  <a:gd name="connsiteX48" fmla="*/ 51470 w 399147"/>
                  <a:gd name="connsiteY48" fmla="*/ 74869 h 388526"/>
                  <a:gd name="connsiteX49" fmla="*/ 11035 w 399147"/>
                  <a:gd name="connsiteY49" fmla="*/ 74869 h 388526"/>
                  <a:gd name="connsiteX50" fmla="*/ 11035 w 399147"/>
                  <a:gd name="connsiteY50" fmla="*/ 129629 h 388526"/>
                  <a:gd name="connsiteX51" fmla="*/ 51470 w 399147"/>
                  <a:gd name="connsiteY51" fmla="*/ 129629 h 388526"/>
                  <a:gd name="connsiteX52" fmla="*/ 51470 w 399147"/>
                  <a:gd name="connsiteY52" fmla="*/ 144401 h 388526"/>
                  <a:gd name="connsiteX53" fmla="*/ 29545 w 399147"/>
                  <a:gd name="connsiteY53" fmla="*/ 207446 h 388526"/>
                  <a:gd name="connsiteX54" fmla="*/ 0 w 399147"/>
                  <a:gd name="connsiteY54" fmla="*/ 259365 h 388526"/>
                  <a:gd name="connsiteX55" fmla="*/ 15222 w 399147"/>
                  <a:gd name="connsiteY55" fmla="*/ 289468 h 388526"/>
                  <a:gd name="connsiteX56" fmla="*/ 27371 w 399147"/>
                  <a:gd name="connsiteY56" fmla="*/ 320253 h 388526"/>
                  <a:gd name="connsiteX57" fmla="*/ 39861 w 399147"/>
                  <a:gd name="connsiteY57" fmla="*/ 298094 h 388526"/>
                  <a:gd name="connsiteX58" fmla="*/ 51453 w 399147"/>
                  <a:gd name="connsiteY58" fmla="*/ 271963 h 388526"/>
                  <a:gd name="connsiteX59" fmla="*/ 51453 w 399147"/>
                  <a:gd name="connsiteY59" fmla="*/ 388527 h 388526"/>
                  <a:gd name="connsiteX60" fmla="*/ 107470 w 399147"/>
                  <a:gd name="connsiteY60" fmla="*/ 388527 h 388526"/>
                  <a:gd name="connsiteX61" fmla="*/ 107470 w 399147"/>
                  <a:gd name="connsiteY61" fmla="*/ 217995 h 388526"/>
                  <a:gd name="connsiteX62" fmla="*/ 116564 w 399147"/>
                  <a:gd name="connsiteY62" fmla="*/ 237997 h 388526"/>
                  <a:gd name="connsiteX63" fmla="*/ 123501 w 399147"/>
                  <a:gd name="connsiteY63" fmla="*/ 255609 h 388526"/>
                  <a:gd name="connsiteX64" fmla="*/ 158293 w 399147"/>
                  <a:gd name="connsiteY64" fmla="*/ 214724 h 388526"/>
                  <a:gd name="connsiteX65" fmla="*/ 192260 w 399147"/>
                  <a:gd name="connsiteY65" fmla="*/ 92032 h 388526"/>
                  <a:gd name="connsiteX66" fmla="*/ 248277 w 399147"/>
                  <a:gd name="connsiteY66" fmla="*/ 92032 h 388526"/>
                  <a:gd name="connsiteX67" fmla="*/ 248277 w 399147"/>
                  <a:gd name="connsiteY67" fmla="*/ 72821 h 388526"/>
                  <a:gd name="connsiteX68" fmla="*/ 287131 w 399147"/>
                  <a:gd name="connsiteY68" fmla="*/ 72821 h 388526"/>
                  <a:gd name="connsiteX69" fmla="*/ 287131 w 399147"/>
                  <a:gd name="connsiteY69" fmla="*/ 92014 h 388526"/>
                  <a:gd name="connsiteX70" fmla="*/ 344730 w 399147"/>
                  <a:gd name="connsiteY70" fmla="*/ 92014 h 388526"/>
                  <a:gd name="connsiteX71" fmla="*/ 344730 w 399147"/>
                  <a:gd name="connsiteY71" fmla="*/ 72821 h 388526"/>
                  <a:gd name="connsiteX72" fmla="*/ 384842 w 399147"/>
                  <a:gd name="connsiteY72" fmla="*/ 72821 h 388526"/>
                  <a:gd name="connsiteX73" fmla="*/ 384842 w 399147"/>
                  <a:gd name="connsiteY73" fmla="*/ 24549 h 388526"/>
                  <a:gd name="connsiteX74" fmla="*/ 344730 w 399147"/>
                  <a:gd name="connsiteY74" fmla="*/ 24549 h 388526"/>
                  <a:gd name="connsiteX75" fmla="*/ 344730 w 399147"/>
                  <a:gd name="connsiteY75" fmla="*/ 0 h 388526"/>
                  <a:gd name="connsiteX76" fmla="*/ 287131 w 399147"/>
                  <a:gd name="connsiteY76" fmla="*/ 0 h 388526"/>
                  <a:gd name="connsiteX77" fmla="*/ 287131 w 399147"/>
                  <a:gd name="connsiteY77" fmla="*/ 24531 h 388526"/>
                  <a:gd name="connsiteX78" fmla="*/ 248277 w 399147"/>
                  <a:gd name="connsiteY78" fmla="*/ 24531 h 388526"/>
                  <a:gd name="connsiteX79" fmla="*/ 248277 w 399147"/>
                  <a:gd name="connsiteY79" fmla="*/ 0 h 388526"/>
                  <a:gd name="connsiteX80" fmla="*/ 192260 w 399147"/>
                  <a:gd name="connsiteY80" fmla="*/ 0 h 388526"/>
                  <a:gd name="connsiteX81" fmla="*/ 192260 w 399147"/>
                  <a:gd name="connsiteY81" fmla="*/ 24531 h 388526"/>
                  <a:gd name="connsiteX82" fmla="*/ 150907 w 399147"/>
                  <a:gd name="connsiteY82" fmla="*/ 24531 h 388526"/>
                  <a:gd name="connsiteX83" fmla="*/ 150907 w 399147"/>
                  <a:gd name="connsiteY83" fmla="*/ 72821 h 388526"/>
                  <a:gd name="connsiteX84" fmla="*/ 192260 w 399147"/>
                  <a:gd name="connsiteY84" fmla="*/ 72821 h 388526"/>
                  <a:gd name="connsiteX85" fmla="*/ 192260 w 399147"/>
                  <a:gd name="connsiteY85" fmla="*/ 92032 h 3885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</a:cxnLst>
                <a:rect l="l" t="t" r="r" b="b"/>
                <a:pathLst>
                  <a:path w="399147" h="388526">
                    <a:moveTo>
                      <a:pt x="387323" y="305498"/>
                    </a:moveTo>
                    <a:lnTo>
                      <a:pt x="387323" y="257334"/>
                    </a:lnTo>
                    <a:lnTo>
                      <a:pt x="291211" y="257334"/>
                    </a:lnTo>
                    <a:cubicBezTo>
                      <a:pt x="291552" y="254387"/>
                      <a:pt x="291894" y="251422"/>
                      <a:pt x="292235" y="248475"/>
                    </a:cubicBezTo>
                    <a:lnTo>
                      <a:pt x="293260" y="239273"/>
                    </a:lnTo>
                    <a:lnTo>
                      <a:pt x="367212" y="239273"/>
                    </a:lnTo>
                    <a:lnTo>
                      <a:pt x="367212" y="98628"/>
                    </a:lnTo>
                    <a:lnTo>
                      <a:pt x="159084" y="98628"/>
                    </a:lnTo>
                    <a:lnTo>
                      <a:pt x="159084" y="239273"/>
                    </a:lnTo>
                    <a:lnTo>
                      <a:pt x="235193" y="239273"/>
                    </a:lnTo>
                    <a:lnTo>
                      <a:pt x="234061" y="248475"/>
                    </a:lnTo>
                    <a:cubicBezTo>
                      <a:pt x="233720" y="251422"/>
                      <a:pt x="233271" y="254387"/>
                      <a:pt x="232696" y="257334"/>
                    </a:cubicBezTo>
                    <a:lnTo>
                      <a:pt x="143970" y="257334"/>
                    </a:lnTo>
                    <a:lnTo>
                      <a:pt x="143970" y="305498"/>
                    </a:lnTo>
                    <a:lnTo>
                      <a:pt x="211453" y="305498"/>
                    </a:lnTo>
                    <a:cubicBezTo>
                      <a:pt x="204067" y="313226"/>
                      <a:pt x="193500" y="320145"/>
                      <a:pt x="179751" y="326058"/>
                    </a:cubicBezTo>
                    <a:cubicBezTo>
                      <a:pt x="166111" y="331970"/>
                      <a:pt x="148283" y="336966"/>
                      <a:pt x="126358" y="341046"/>
                    </a:cubicBezTo>
                    <a:cubicBezTo>
                      <a:pt x="132145" y="347174"/>
                      <a:pt x="137824" y="354686"/>
                      <a:pt x="143629" y="363762"/>
                    </a:cubicBezTo>
                    <a:cubicBezTo>
                      <a:pt x="149308" y="372730"/>
                      <a:pt x="153513" y="381033"/>
                      <a:pt x="156245" y="388527"/>
                    </a:cubicBezTo>
                    <a:cubicBezTo>
                      <a:pt x="188629" y="380799"/>
                      <a:pt x="214077" y="371022"/>
                      <a:pt x="232480" y="359215"/>
                    </a:cubicBezTo>
                    <a:cubicBezTo>
                      <a:pt x="250990" y="347516"/>
                      <a:pt x="264523" y="333660"/>
                      <a:pt x="273149" y="317755"/>
                    </a:cubicBezTo>
                    <a:cubicBezTo>
                      <a:pt x="282692" y="334792"/>
                      <a:pt x="294733" y="349115"/>
                      <a:pt x="309398" y="360815"/>
                    </a:cubicBezTo>
                    <a:cubicBezTo>
                      <a:pt x="324171" y="372622"/>
                      <a:pt x="341998" y="381500"/>
                      <a:pt x="363133" y="387736"/>
                    </a:cubicBezTo>
                    <a:cubicBezTo>
                      <a:pt x="367105" y="379775"/>
                      <a:pt x="372568" y="371148"/>
                      <a:pt x="379379" y="361713"/>
                    </a:cubicBezTo>
                    <a:cubicBezTo>
                      <a:pt x="386190" y="352404"/>
                      <a:pt x="392786" y="344676"/>
                      <a:pt x="399148" y="338656"/>
                    </a:cubicBezTo>
                    <a:cubicBezTo>
                      <a:pt x="384034" y="335708"/>
                      <a:pt x="370753" y="331503"/>
                      <a:pt x="359161" y="325932"/>
                    </a:cubicBezTo>
                    <a:cubicBezTo>
                      <a:pt x="347569" y="320253"/>
                      <a:pt x="337577" y="313442"/>
                      <a:pt x="329275" y="305480"/>
                    </a:cubicBezTo>
                    <a:lnTo>
                      <a:pt x="387323" y="305480"/>
                    </a:lnTo>
                    <a:close/>
                    <a:moveTo>
                      <a:pt x="213843" y="139064"/>
                    </a:moveTo>
                    <a:lnTo>
                      <a:pt x="309955" y="139064"/>
                    </a:lnTo>
                    <a:lnTo>
                      <a:pt x="309955" y="150080"/>
                    </a:lnTo>
                    <a:lnTo>
                      <a:pt x="213843" y="150080"/>
                    </a:lnTo>
                    <a:lnTo>
                      <a:pt x="213843" y="139064"/>
                    </a:lnTo>
                    <a:close/>
                    <a:moveTo>
                      <a:pt x="213843" y="187677"/>
                    </a:moveTo>
                    <a:lnTo>
                      <a:pt x="309955" y="187677"/>
                    </a:lnTo>
                    <a:lnTo>
                      <a:pt x="309955" y="198819"/>
                    </a:lnTo>
                    <a:lnTo>
                      <a:pt x="213843" y="198819"/>
                    </a:lnTo>
                    <a:lnTo>
                      <a:pt x="213843" y="187677"/>
                    </a:lnTo>
                    <a:close/>
                    <a:moveTo>
                      <a:pt x="158293" y="214724"/>
                    </a:moveTo>
                    <a:cubicBezTo>
                      <a:pt x="155562" y="210411"/>
                      <a:pt x="151015" y="203582"/>
                      <a:pt x="144653" y="194272"/>
                    </a:cubicBezTo>
                    <a:cubicBezTo>
                      <a:pt x="138291" y="184963"/>
                      <a:pt x="131695" y="175294"/>
                      <a:pt x="124651" y="165536"/>
                    </a:cubicBezTo>
                    <a:cubicBezTo>
                      <a:pt x="117714" y="155759"/>
                      <a:pt x="112035" y="148032"/>
                      <a:pt x="107488" y="142353"/>
                    </a:cubicBezTo>
                    <a:lnTo>
                      <a:pt x="107488" y="129629"/>
                    </a:lnTo>
                    <a:lnTo>
                      <a:pt x="141903" y="129629"/>
                    </a:lnTo>
                    <a:lnTo>
                      <a:pt x="141903" y="74869"/>
                    </a:lnTo>
                    <a:lnTo>
                      <a:pt x="107488" y="74869"/>
                    </a:lnTo>
                    <a:lnTo>
                      <a:pt x="107488" y="0"/>
                    </a:lnTo>
                    <a:lnTo>
                      <a:pt x="51470" y="0"/>
                    </a:lnTo>
                    <a:lnTo>
                      <a:pt x="51470" y="74869"/>
                    </a:lnTo>
                    <a:lnTo>
                      <a:pt x="11035" y="74869"/>
                    </a:lnTo>
                    <a:lnTo>
                      <a:pt x="11035" y="129629"/>
                    </a:lnTo>
                    <a:lnTo>
                      <a:pt x="51470" y="129629"/>
                    </a:lnTo>
                    <a:lnTo>
                      <a:pt x="51470" y="144401"/>
                    </a:lnTo>
                    <a:cubicBezTo>
                      <a:pt x="45684" y="165877"/>
                      <a:pt x="38405" y="186886"/>
                      <a:pt x="29545" y="207446"/>
                    </a:cubicBezTo>
                    <a:cubicBezTo>
                      <a:pt x="20793" y="228005"/>
                      <a:pt x="10909" y="245383"/>
                      <a:pt x="0" y="259365"/>
                    </a:cubicBezTo>
                    <a:cubicBezTo>
                      <a:pt x="4888" y="267884"/>
                      <a:pt x="9992" y="278002"/>
                      <a:pt x="15222" y="289468"/>
                    </a:cubicBezTo>
                    <a:cubicBezTo>
                      <a:pt x="20452" y="300933"/>
                      <a:pt x="24423" y="311159"/>
                      <a:pt x="27371" y="320253"/>
                    </a:cubicBezTo>
                    <a:cubicBezTo>
                      <a:pt x="31684" y="313657"/>
                      <a:pt x="35781" y="306271"/>
                      <a:pt x="39861" y="298094"/>
                    </a:cubicBezTo>
                    <a:cubicBezTo>
                      <a:pt x="43959" y="289917"/>
                      <a:pt x="47822" y="281165"/>
                      <a:pt x="51453" y="271963"/>
                    </a:cubicBezTo>
                    <a:lnTo>
                      <a:pt x="51453" y="388527"/>
                    </a:lnTo>
                    <a:lnTo>
                      <a:pt x="107470" y="388527"/>
                    </a:lnTo>
                    <a:lnTo>
                      <a:pt x="107470" y="217995"/>
                    </a:lnTo>
                    <a:cubicBezTo>
                      <a:pt x="110759" y="224932"/>
                      <a:pt x="113832" y="231635"/>
                      <a:pt x="116564" y="237997"/>
                    </a:cubicBezTo>
                    <a:cubicBezTo>
                      <a:pt x="119295" y="244359"/>
                      <a:pt x="121559" y="250272"/>
                      <a:pt x="123501" y="255609"/>
                    </a:cubicBezTo>
                    <a:lnTo>
                      <a:pt x="158293" y="214724"/>
                    </a:lnTo>
                    <a:close/>
                    <a:moveTo>
                      <a:pt x="192260" y="92032"/>
                    </a:moveTo>
                    <a:lnTo>
                      <a:pt x="248277" y="92032"/>
                    </a:lnTo>
                    <a:lnTo>
                      <a:pt x="248277" y="72821"/>
                    </a:lnTo>
                    <a:lnTo>
                      <a:pt x="287131" y="72821"/>
                    </a:lnTo>
                    <a:lnTo>
                      <a:pt x="287131" y="92014"/>
                    </a:lnTo>
                    <a:lnTo>
                      <a:pt x="344730" y="92014"/>
                    </a:lnTo>
                    <a:lnTo>
                      <a:pt x="344730" y="72821"/>
                    </a:lnTo>
                    <a:lnTo>
                      <a:pt x="384842" y="72821"/>
                    </a:lnTo>
                    <a:lnTo>
                      <a:pt x="384842" y="24549"/>
                    </a:lnTo>
                    <a:lnTo>
                      <a:pt x="344730" y="24549"/>
                    </a:lnTo>
                    <a:lnTo>
                      <a:pt x="344730" y="0"/>
                    </a:lnTo>
                    <a:lnTo>
                      <a:pt x="287131" y="0"/>
                    </a:lnTo>
                    <a:lnTo>
                      <a:pt x="287131" y="24531"/>
                    </a:lnTo>
                    <a:lnTo>
                      <a:pt x="248277" y="24531"/>
                    </a:lnTo>
                    <a:lnTo>
                      <a:pt x="248277" y="0"/>
                    </a:lnTo>
                    <a:lnTo>
                      <a:pt x="192260" y="0"/>
                    </a:lnTo>
                    <a:lnTo>
                      <a:pt x="192260" y="24531"/>
                    </a:lnTo>
                    <a:lnTo>
                      <a:pt x="150907" y="24531"/>
                    </a:lnTo>
                    <a:lnTo>
                      <a:pt x="150907" y="72821"/>
                    </a:lnTo>
                    <a:lnTo>
                      <a:pt x="192260" y="72821"/>
                    </a:lnTo>
                    <a:lnTo>
                      <a:pt x="192260" y="92032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1" name="任意多边形: 形状 40"/>
              <p:cNvSpPr/>
              <p:nvPr userDrawn="1"/>
            </p:nvSpPr>
            <p:spPr>
              <a:xfrm>
                <a:off x="3480148" y="3420876"/>
                <a:ext cx="396829" cy="390287"/>
              </a:xfrm>
              <a:custGeom>
                <a:avLst/>
                <a:gdLst>
                  <a:gd name="connsiteX0" fmla="*/ 340992 w 396829"/>
                  <a:gd name="connsiteY0" fmla="*/ 106823 h 390287"/>
                  <a:gd name="connsiteX1" fmla="*/ 330802 w 396829"/>
                  <a:gd name="connsiteY1" fmla="*/ 108530 h 390287"/>
                  <a:gd name="connsiteX2" fmla="*/ 221930 w 396829"/>
                  <a:gd name="connsiteY2" fmla="*/ 108530 h 390287"/>
                  <a:gd name="connsiteX3" fmla="*/ 221930 w 396829"/>
                  <a:gd name="connsiteY3" fmla="*/ 76253 h 390287"/>
                  <a:gd name="connsiteX4" fmla="*/ 308931 w 396829"/>
                  <a:gd name="connsiteY4" fmla="*/ 66962 h 390287"/>
                  <a:gd name="connsiteX5" fmla="*/ 388347 w 396829"/>
                  <a:gd name="connsiteY5" fmla="*/ 47355 h 390287"/>
                  <a:gd name="connsiteX6" fmla="*/ 347911 w 396829"/>
                  <a:gd name="connsiteY6" fmla="*/ 0 h 390287"/>
                  <a:gd name="connsiteX7" fmla="*/ 264307 w 396829"/>
                  <a:gd name="connsiteY7" fmla="*/ 19265 h 390287"/>
                  <a:gd name="connsiteX8" fmla="*/ 164386 w 396829"/>
                  <a:gd name="connsiteY8" fmla="*/ 27766 h 390287"/>
                  <a:gd name="connsiteX9" fmla="*/ 164386 w 396829"/>
                  <a:gd name="connsiteY9" fmla="*/ 123608 h 390287"/>
                  <a:gd name="connsiteX10" fmla="*/ 161780 w 396829"/>
                  <a:gd name="connsiteY10" fmla="*/ 198945 h 390287"/>
                  <a:gd name="connsiteX11" fmla="*/ 147960 w 396829"/>
                  <a:gd name="connsiteY11" fmla="*/ 281416 h 390287"/>
                  <a:gd name="connsiteX12" fmla="*/ 114209 w 396829"/>
                  <a:gd name="connsiteY12" fmla="*/ 356412 h 390287"/>
                  <a:gd name="connsiteX13" fmla="*/ 139926 w 396829"/>
                  <a:gd name="connsiteY13" fmla="*/ 371705 h 390287"/>
                  <a:gd name="connsiteX14" fmla="*/ 163146 w 396829"/>
                  <a:gd name="connsiteY14" fmla="*/ 390288 h 390287"/>
                  <a:gd name="connsiteX15" fmla="*/ 176283 w 396829"/>
                  <a:gd name="connsiteY15" fmla="*/ 368758 h 390287"/>
                  <a:gd name="connsiteX16" fmla="*/ 187264 w 396829"/>
                  <a:gd name="connsiteY16" fmla="*/ 345090 h 390287"/>
                  <a:gd name="connsiteX17" fmla="*/ 203456 w 396829"/>
                  <a:gd name="connsiteY17" fmla="*/ 366494 h 390287"/>
                  <a:gd name="connsiteX18" fmla="*/ 216593 w 396829"/>
                  <a:gd name="connsiteY18" fmla="*/ 387898 h 390287"/>
                  <a:gd name="connsiteX19" fmla="*/ 255340 w 396829"/>
                  <a:gd name="connsiteY19" fmla="*/ 364553 h 390287"/>
                  <a:gd name="connsiteX20" fmla="*/ 288767 w 396829"/>
                  <a:gd name="connsiteY20" fmla="*/ 336014 h 390287"/>
                  <a:gd name="connsiteX21" fmla="*/ 357759 w 396829"/>
                  <a:gd name="connsiteY21" fmla="*/ 389479 h 390287"/>
                  <a:gd name="connsiteX22" fmla="*/ 375425 w 396829"/>
                  <a:gd name="connsiteY22" fmla="*/ 362288 h 390287"/>
                  <a:gd name="connsiteX23" fmla="*/ 396830 w 396829"/>
                  <a:gd name="connsiteY23" fmla="*/ 338494 h 390287"/>
                  <a:gd name="connsiteX24" fmla="*/ 357526 w 396829"/>
                  <a:gd name="connsiteY24" fmla="*/ 316856 h 390287"/>
                  <a:gd name="connsiteX25" fmla="*/ 325914 w 396829"/>
                  <a:gd name="connsiteY25" fmla="*/ 287509 h 390287"/>
                  <a:gd name="connsiteX26" fmla="*/ 358766 w 396829"/>
                  <a:gd name="connsiteY26" fmla="*/ 212172 h 390287"/>
                  <a:gd name="connsiteX27" fmla="*/ 378139 w 396829"/>
                  <a:gd name="connsiteY27" fmla="*/ 117013 h 390287"/>
                  <a:gd name="connsiteX28" fmla="*/ 340992 w 396829"/>
                  <a:gd name="connsiteY28" fmla="*/ 106823 h 390287"/>
                  <a:gd name="connsiteX29" fmla="*/ 313693 w 396829"/>
                  <a:gd name="connsiteY29" fmla="*/ 161079 h 390287"/>
                  <a:gd name="connsiteX30" fmla="*/ 290474 w 396829"/>
                  <a:gd name="connsiteY30" fmla="*/ 230862 h 390287"/>
                  <a:gd name="connsiteX31" fmla="*/ 277445 w 396829"/>
                  <a:gd name="connsiteY31" fmla="*/ 197220 h 390287"/>
                  <a:gd name="connsiteX32" fmla="*/ 267596 w 396829"/>
                  <a:gd name="connsiteY32" fmla="*/ 161079 h 390287"/>
                  <a:gd name="connsiteX33" fmla="*/ 313693 w 396829"/>
                  <a:gd name="connsiteY33" fmla="*/ 161079 h 390287"/>
                  <a:gd name="connsiteX34" fmla="*/ 191343 w 396829"/>
                  <a:gd name="connsiteY34" fmla="*/ 334414 h 390287"/>
                  <a:gd name="connsiteX35" fmla="*/ 210950 w 396829"/>
                  <a:gd name="connsiteY35" fmla="*/ 259994 h 390287"/>
                  <a:gd name="connsiteX36" fmla="*/ 219900 w 396829"/>
                  <a:gd name="connsiteY36" fmla="*/ 184765 h 390287"/>
                  <a:gd name="connsiteX37" fmla="*/ 235301 w 396829"/>
                  <a:gd name="connsiteY37" fmla="*/ 238123 h 390287"/>
                  <a:gd name="connsiteX38" fmla="*/ 255358 w 396829"/>
                  <a:gd name="connsiteY38" fmla="*/ 285478 h 390287"/>
                  <a:gd name="connsiteX39" fmla="*/ 225794 w 396829"/>
                  <a:gd name="connsiteY39" fmla="*/ 313352 h 390287"/>
                  <a:gd name="connsiteX40" fmla="*/ 191343 w 396829"/>
                  <a:gd name="connsiteY40" fmla="*/ 334414 h 390287"/>
                  <a:gd name="connsiteX41" fmla="*/ 159965 w 396829"/>
                  <a:gd name="connsiteY41" fmla="*/ 207535 h 390287"/>
                  <a:gd name="connsiteX42" fmla="*/ 146486 w 396829"/>
                  <a:gd name="connsiteY42" fmla="*/ 185898 h 390287"/>
                  <a:gd name="connsiteX43" fmla="*/ 127005 w 396829"/>
                  <a:gd name="connsiteY43" fmla="*/ 155885 h 390287"/>
                  <a:gd name="connsiteX44" fmla="*/ 111370 w 396829"/>
                  <a:gd name="connsiteY44" fmla="*/ 133349 h 390287"/>
                  <a:gd name="connsiteX45" fmla="*/ 111370 w 396829"/>
                  <a:gd name="connsiteY45" fmla="*/ 129269 h 390287"/>
                  <a:gd name="connsiteX46" fmla="*/ 152147 w 396829"/>
                  <a:gd name="connsiteY46" fmla="*/ 129269 h 390287"/>
                  <a:gd name="connsiteX47" fmla="*/ 152147 w 396829"/>
                  <a:gd name="connsiteY47" fmla="*/ 74672 h 390287"/>
                  <a:gd name="connsiteX48" fmla="*/ 111370 w 396829"/>
                  <a:gd name="connsiteY48" fmla="*/ 74672 h 390287"/>
                  <a:gd name="connsiteX49" fmla="*/ 111370 w 396829"/>
                  <a:gd name="connsiteY49" fmla="*/ 0 h 390287"/>
                  <a:gd name="connsiteX50" fmla="*/ 56305 w 396829"/>
                  <a:gd name="connsiteY50" fmla="*/ 0 h 390287"/>
                  <a:gd name="connsiteX51" fmla="*/ 56305 w 396829"/>
                  <a:gd name="connsiteY51" fmla="*/ 74654 h 390287"/>
                  <a:gd name="connsiteX52" fmla="*/ 10657 w 396829"/>
                  <a:gd name="connsiteY52" fmla="*/ 74654 h 390287"/>
                  <a:gd name="connsiteX53" fmla="*/ 10657 w 396829"/>
                  <a:gd name="connsiteY53" fmla="*/ 129251 h 390287"/>
                  <a:gd name="connsiteX54" fmla="*/ 54723 w 396829"/>
                  <a:gd name="connsiteY54" fmla="*/ 129251 h 390287"/>
                  <a:gd name="connsiteX55" fmla="*/ 41011 w 396829"/>
                  <a:gd name="connsiteY55" fmla="*/ 177163 h 390287"/>
                  <a:gd name="connsiteX56" fmla="*/ 22428 w 396829"/>
                  <a:gd name="connsiteY56" fmla="*/ 222811 h 390287"/>
                  <a:gd name="connsiteX57" fmla="*/ 0 w 396829"/>
                  <a:gd name="connsiteY57" fmla="*/ 258503 h 390287"/>
                  <a:gd name="connsiteX58" fmla="*/ 14054 w 396829"/>
                  <a:gd name="connsiteY58" fmla="*/ 288515 h 390287"/>
                  <a:gd name="connsiteX59" fmla="*/ 25376 w 396829"/>
                  <a:gd name="connsiteY59" fmla="*/ 318869 h 390287"/>
                  <a:gd name="connsiteX60" fmla="*/ 41694 w 396829"/>
                  <a:gd name="connsiteY60" fmla="*/ 286125 h 390287"/>
                  <a:gd name="connsiteX61" fmla="*/ 56305 w 396829"/>
                  <a:gd name="connsiteY61" fmla="*/ 245455 h 390287"/>
                  <a:gd name="connsiteX62" fmla="*/ 56305 w 396829"/>
                  <a:gd name="connsiteY62" fmla="*/ 387395 h 390287"/>
                  <a:gd name="connsiteX63" fmla="*/ 111370 w 396829"/>
                  <a:gd name="connsiteY63" fmla="*/ 387395 h 390287"/>
                  <a:gd name="connsiteX64" fmla="*/ 111370 w 396829"/>
                  <a:gd name="connsiteY64" fmla="*/ 208739 h 390287"/>
                  <a:gd name="connsiteX65" fmla="*/ 119744 w 396829"/>
                  <a:gd name="connsiteY65" fmla="*/ 231402 h 390287"/>
                  <a:gd name="connsiteX66" fmla="*/ 126088 w 396829"/>
                  <a:gd name="connsiteY66" fmla="*/ 251224 h 390287"/>
                  <a:gd name="connsiteX67" fmla="*/ 159965 w 396829"/>
                  <a:gd name="connsiteY67" fmla="*/ 207535 h 3902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</a:cxnLst>
                <a:rect l="l" t="t" r="r" b="b"/>
                <a:pathLst>
                  <a:path w="396829" h="390287">
                    <a:moveTo>
                      <a:pt x="340992" y="106823"/>
                    </a:moveTo>
                    <a:lnTo>
                      <a:pt x="330802" y="108530"/>
                    </a:lnTo>
                    <a:lnTo>
                      <a:pt x="221930" y="108530"/>
                    </a:lnTo>
                    <a:lnTo>
                      <a:pt x="221930" y="76253"/>
                    </a:lnTo>
                    <a:cubicBezTo>
                      <a:pt x="251152" y="74672"/>
                      <a:pt x="280158" y="71617"/>
                      <a:pt x="308931" y="66962"/>
                    </a:cubicBezTo>
                    <a:cubicBezTo>
                      <a:pt x="337703" y="62433"/>
                      <a:pt x="364103" y="55856"/>
                      <a:pt x="388347" y="47355"/>
                    </a:cubicBezTo>
                    <a:lnTo>
                      <a:pt x="347911" y="0"/>
                    </a:lnTo>
                    <a:cubicBezTo>
                      <a:pt x="324692" y="8267"/>
                      <a:pt x="296818" y="14719"/>
                      <a:pt x="264307" y="19265"/>
                    </a:cubicBezTo>
                    <a:cubicBezTo>
                      <a:pt x="231797" y="23686"/>
                      <a:pt x="198496" y="26508"/>
                      <a:pt x="164386" y="27766"/>
                    </a:cubicBezTo>
                    <a:lnTo>
                      <a:pt x="164386" y="123608"/>
                    </a:lnTo>
                    <a:cubicBezTo>
                      <a:pt x="164619" y="146270"/>
                      <a:pt x="163703" y="171413"/>
                      <a:pt x="161780" y="198945"/>
                    </a:cubicBezTo>
                    <a:cubicBezTo>
                      <a:pt x="159749" y="226477"/>
                      <a:pt x="155094" y="253884"/>
                      <a:pt x="147960" y="281416"/>
                    </a:cubicBezTo>
                    <a:cubicBezTo>
                      <a:pt x="140717" y="308823"/>
                      <a:pt x="129503" y="333875"/>
                      <a:pt x="114209" y="356412"/>
                    </a:cubicBezTo>
                    <a:cubicBezTo>
                      <a:pt x="121577" y="359700"/>
                      <a:pt x="130060" y="364786"/>
                      <a:pt x="139926" y="371705"/>
                    </a:cubicBezTo>
                    <a:cubicBezTo>
                      <a:pt x="149793" y="378624"/>
                      <a:pt x="157485" y="384843"/>
                      <a:pt x="163146" y="390288"/>
                    </a:cubicBezTo>
                    <a:cubicBezTo>
                      <a:pt x="167908" y="383603"/>
                      <a:pt x="172203" y="376360"/>
                      <a:pt x="176283" y="368758"/>
                    </a:cubicBezTo>
                    <a:cubicBezTo>
                      <a:pt x="180362" y="361156"/>
                      <a:pt x="183993" y="353231"/>
                      <a:pt x="187264" y="345090"/>
                    </a:cubicBezTo>
                    <a:cubicBezTo>
                      <a:pt x="192709" y="351433"/>
                      <a:pt x="198136" y="358568"/>
                      <a:pt x="203456" y="366494"/>
                    </a:cubicBezTo>
                    <a:cubicBezTo>
                      <a:pt x="208775" y="374311"/>
                      <a:pt x="213196" y="381446"/>
                      <a:pt x="216593" y="387898"/>
                    </a:cubicBezTo>
                    <a:cubicBezTo>
                      <a:pt x="230413" y="380871"/>
                      <a:pt x="243335" y="373179"/>
                      <a:pt x="255340" y="364553"/>
                    </a:cubicBezTo>
                    <a:cubicBezTo>
                      <a:pt x="267237" y="355944"/>
                      <a:pt x="278451" y="346419"/>
                      <a:pt x="288767" y="336014"/>
                    </a:cubicBezTo>
                    <a:cubicBezTo>
                      <a:pt x="307116" y="357759"/>
                      <a:pt x="329993" y="375551"/>
                      <a:pt x="357759" y="389479"/>
                    </a:cubicBezTo>
                    <a:cubicBezTo>
                      <a:pt x="362073" y="381105"/>
                      <a:pt x="367949" y="372029"/>
                      <a:pt x="375425" y="362288"/>
                    </a:cubicBezTo>
                    <a:cubicBezTo>
                      <a:pt x="382902" y="352548"/>
                      <a:pt x="390036" y="344622"/>
                      <a:pt x="396830" y="338494"/>
                    </a:cubicBezTo>
                    <a:cubicBezTo>
                      <a:pt x="382434" y="332599"/>
                      <a:pt x="369297" y="325357"/>
                      <a:pt x="357526" y="316856"/>
                    </a:cubicBezTo>
                    <a:cubicBezTo>
                      <a:pt x="345862" y="308356"/>
                      <a:pt x="335205" y="298507"/>
                      <a:pt x="325914" y="287509"/>
                    </a:cubicBezTo>
                    <a:cubicBezTo>
                      <a:pt x="339177" y="265530"/>
                      <a:pt x="350050" y="240495"/>
                      <a:pt x="358766" y="212172"/>
                    </a:cubicBezTo>
                    <a:cubicBezTo>
                      <a:pt x="367374" y="183957"/>
                      <a:pt x="373826" y="152237"/>
                      <a:pt x="378139" y="117013"/>
                    </a:cubicBezTo>
                    <a:lnTo>
                      <a:pt x="340992" y="106823"/>
                    </a:lnTo>
                    <a:close/>
                    <a:moveTo>
                      <a:pt x="313693" y="161079"/>
                    </a:moveTo>
                    <a:cubicBezTo>
                      <a:pt x="307924" y="186347"/>
                      <a:pt x="300215" y="209566"/>
                      <a:pt x="290474" y="230862"/>
                    </a:cubicBezTo>
                    <a:cubicBezTo>
                      <a:pt x="285604" y="219990"/>
                      <a:pt x="281183" y="208775"/>
                      <a:pt x="277445" y="197220"/>
                    </a:cubicBezTo>
                    <a:cubicBezTo>
                      <a:pt x="273707" y="185556"/>
                      <a:pt x="270418" y="173551"/>
                      <a:pt x="267596" y="161079"/>
                    </a:cubicBezTo>
                    <a:lnTo>
                      <a:pt x="313693" y="161079"/>
                    </a:lnTo>
                    <a:close/>
                    <a:moveTo>
                      <a:pt x="191343" y="334414"/>
                    </a:moveTo>
                    <a:cubicBezTo>
                      <a:pt x="199951" y="310620"/>
                      <a:pt x="206529" y="285927"/>
                      <a:pt x="210950" y="259994"/>
                    </a:cubicBezTo>
                    <a:cubicBezTo>
                      <a:pt x="215371" y="234169"/>
                      <a:pt x="218318" y="209135"/>
                      <a:pt x="219900" y="184765"/>
                    </a:cubicBezTo>
                    <a:cubicBezTo>
                      <a:pt x="224321" y="203564"/>
                      <a:pt x="229533" y="221355"/>
                      <a:pt x="235301" y="238123"/>
                    </a:cubicBezTo>
                    <a:cubicBezTo>
                      <a:pt x="241196" y="254998"/>
                      <a:pt x="247881" y="270741"/>
                      <a:pt x="255358" y="285478"/>
                    </a:cubicBezTo>
                    <a:cubicBezTo>
                      <a:pt x="246408" y="295901"/>
                      <a:pt x="236559" y="305193"/>
                      <a:pt x="225794" y="313352"/>
                    </a:cubicBezTo>
                    <a:cubicBezTo>
                      <a:pt x="215029" y="321493"/>
                      <a:pt x="203582" y="328520"/>
                      <a:pt x="191343" y="334414"/>
                    </a:cubicBezTo>
                    <a:close/>
                    <a:moveTo>
                      <a:pt x="159965" y="207535"/>
                    </a:moveTo>
                    <a:cubicBezTo>
                      <a:pt x="157359" y="203114"/>
                      <a:pt x="152830" y="195872"/>
                      <a:pt x="146486" y="185898"/>
                    </a:cubicBezTo>
                    <a:cubicBezTo>
                      <a:pt x="140142" y="175923"/>
                      <a:pt x="133690" y="165967"/>
                      <a:pt x="127005" y="155885"/>
                    </a:cubicBezTo>
                    <a:cubicBezTo>
                      <a:pt x="120320" y="145803"/>
                      <a:pt x="115108" y="138327"/>
                      <a:pt x="111370" y="133349"/>
                    </a:cubicBezTo>
                    <a:lnTo>
                      <a:pt x="111370" y="129269"/>
                    </a:lnTo>
                    <a:lnTo>
                      <a:pt x="152147" y="129269"/>
                    </a:lnTo>
                    <a:lnTo>
                      <a:pt x="152147" y="74672"/>
                    </a:lnTo>
                    <a:lnTo>
                      <a:pt x="111370" y="74672"/>
                    </a:lnTo>
                    <a:lnTo>
                      <a:pt x="111370" y="0"/>
                    </a:lnTo>
                    <a:lnTo>
                      <a:pt x="56305" y="0"/>
                    </a:lnTo>
                    <a:lnTo>
                      <a:pt x="56305" y="74654"/>
                    </a:lnTo>
                    <a:lnTo>
                      <a:pt x="10657" y="74654"/>
                    </a:lnTo>
                    <a:lnTo>
                      <a:pt x="10657" y="129251"/>
                    </a:lnTo>
                    <a:lnTo>
                      <a:pt x="54723" y="129251"/>
                    </a:lnTo>
                    <a:cubicBezTo>
                      <a:pt x="50985" y="144994"/>
                      <a:pt x="46456" y="160971"/>
                      <a:pt x="41011" y="177163"/>
                    </a:cubicBezTo>
                    <a:cubicBezTo>
                      <a:pt x="35566" y="193482"/>
                      <a:pt x="29348" y="208650"/>
                      <a:pt x="22428" y="222811"/>
                    </a:cubicBezTo>
                    <a:cubicBezTo>
                      <a:pt x="15509" y="237081"/>
                      <a:pt x="8033" y="248978"/>
                      <a:pt x="0" y="258503"/>
                    </a:cubicBezTo>
                    <a:cubicBezTo>
                      <a:pt x="4529" y="267003"/>
                      <a:pt x="9183" y="276959"/>
                      <a:pt x="14054" y="288515"/>
                    </a:cubicBezTo>
                    <a:cubicBezTo>
                      <a:pt x="18924" y="300179"/>
                      <a:pt x="22662" y="310261"/>
                      <a:pt x="25376" y="318869"/>
                    </a:cubicBezTo>
                    <a:cubicBezTo>
                      <a:pt x="31037" y="309578"/>
                      <a:pt x="36482" y="298705"/>
                      <a:pt x="41694" y="286125"/>
                    </a:cubicBezTo>
                    <a:cubicBezTo>
                      <a:pt x="47014" y="273671"/>
                      <a:pt x="51776" y="260066"/>
                      <a:pt x="56305" y="245455"/>
                    </a:cubicBezTo>
                    <a:lnTo>
                      <a:pt x="56305" y="387395"/>
                    </a:lnTo>
                    <a:lnTo>
                      <a:pt x="111370" y="387395"/>
                    </a:lnTo>
                    <a:lnTo>
                      <a:pt x="111370" y="208739"/>
                    </a:lnTo>
                    <a:cubicBezTo>
                      <a:pt x="114425" y="216557"/>
                      <a:pt x="117264" y="224141"/>
                      <a:pt x="119744" y="231402"/>
                    </a:cubicBezTo>
                    <a:cubicBezTo>
                      <a:pt x="122350" y="238644"/>
                      <a:pt x="124381" y="245222"/>
                      <a:pt x="126088" y="251224"/>
                    </a:cubicBezTo>
                    <a:lnTo>
                      <a:pt x="159965" y="207535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grpSp>
            <p:nvGrpSpPr>
              <p:cNvPr id="42" name="组合 41"/>
              <p:cNvGrpSpPr/>
              <p:nvPr userDrawn="1"/>
            </p:nvGrpSpPr>
            <p:grpSpPr>
              <a:xfrm>
                <a:off x="2038610" y="3870398"/>
                <a:ext cx="413489" cy="89750"/>
                <a:chOff x="8686551" y="964247"/>
                <a:chExt cx="413489" cy="89750"/>
              </a:xfrm>
            </p:grpSpPr>
            <p:sp>
              <p:nvSpPr>
                <p:cNvPr id="61" name="任意多边形: 形状 60"/>
                <p:cNvSpPr/>
                <p:nvPr/>
              </p:nvSpPr>
              <p:spPr>
                <a:xfrm>
                  <a:off x="8686551" y="964247"/>
                  <a:ext cx="120678" cy="87629"/>
                </a:xfrm>
                <a:custGeom>
                  <a:avLst/>
                  <a:gdLst>
                    <a:gd name="connsiteX0" fmla="*/ 24351 w 120678"/>
                    <a:gd name="connsiteY0" fmla="*/ 87629 h 87629"/>
                    <a:gd name="connsiteX1" fmla="*/ 41730 w 120678"/>
                    <a:gd name="connsiteY1" fmla="*/ 87629 h 87629"/>
                    <a:gd name="connsiteX2" fmla="*/ 53897 w 120678"/>
                    <a:gd name="connsiteY2" fmla="*/ 40706 h 87629"/>
                    <a:gd name="connsiteX3" fmla="*/ 57006 w 120678"/>
                    <a:gd name="connsiteY3" fmla="*/ 28054 h 87629"/>
                    <a:gd name="connsiteX4" fmla="*/ 59863 w 120678"/>
                    <a:gd name="connsiteY4" fmla="*/ 15150 h 87629"/>
                    <a:gd name="connsiteX5" fmla="*/ 60726 w 120678"/>
                    <a:gd name="connsiteY5" fmla="*/ 15150 h 87629"/>
                    <a:gd name="connsiteX6" fmla="*/ 63583 w 120678"/>
                    <a:gd name="connsiteY6" fmla="*/ 28054 h 87629"/>
                    <a:gd name="connsiteX7" fmla="*/ 66692 w 120678"/>
                    <a:gd name="connsiteY7" fmla="*/ 40346 h 87629"/>
                    <a:gd name="connsiteX8" fmla="*/ 79470 w 120678"/>
                    <a:gd name="connsiteY8" fmla="*/ 87629 h 87629"/>
                    <a:gd name="connsiteX9" fmla="*/ 97226 w 120678"/>
                    <a:gd name="connsiteY9" fmla="*/ 87629 h 87629"/>
                    <a:gd name="connsiteX10" fmla="*/ 120679 w 120678"/>
                    <a:gd name="connsiteY10" fmla="*/ 0 h 87629"/>
                    <a:gd name="connsiteX11" fmla="*/ 106895 w 120678"/>
                    <a:gd name="connsiteY11" fmla="*/ 0 h 87629"/>
                    <a:gd name="connsiteX12" fmla="*/ 93991 w 120678"/>
                    <a:gd name="connsiteY12" fmla="*/ 50644 h 87629"/>
                    <a:gd name="connsiteX13" fmla="*/ 91259 w 120678"/>
                    <a:gd name="connsiteY13" fmla="*/ 63062 h 87629"/>
                    <a:gd name="connsiteX14" fmla="*/ 88402 w 120678"/>
                    <a:gd name="connsiteY14" fmla="*/ 75229 h 87629"/>
                    <a:gd name="connsiteX15" fmla="*/ 87773 w 120678"/>
                    <a:gd name="connsiteY15" fmla="*/ 75229 h 87629"/>
                    <a:gd name="connsiteX16" fmla="*/ 84790 w 120678"/>
                    <a:gd name="connsiteY16" fmla="*/ 63062 h 87629"/>
                    <a:gd name="connsiteX17" fmla="*/ 81681 w 120678"/>
                    <a:gd name="connsiteY17" fmla="*/ 50644 h 87629"/>
                    <a:gd name="connsiteX18" fmla="*/ 67896 w 120678"/>
                    <a:gd name="connsiteY18" fmla="*/ 0 h 87629"/>
                    <a:gd name="connsiteX19" fmla="*/ 53627 w 120678"/>
                    <a:gd name="connsiteY19" fmla="*/ 0 h 87629"/>
                    <a:gd name="connsiteX20" fmla="*/ 40094 w 120678"/>
                    <a:gd name="connsiteY20" fmla="*/ 50644 h 87629"/>
                    <a:gd name="connsiteX21" fmla="*/ 36985 w 120678"/>
                    <a:gd name="connsiteY21" fmla="*/ 62936 h 87629"/>
                    <a:gd name="connsiteX22" fmla="*/ 34002 w 120678"/>
                    <a:gd name="connsiteY22" fmla="*/ 75229 h 87629"/>
                    <a:gd name="connsiteX23" fmla="*/ 33265 w 120678"/>
                    <a:gd name="connsiteY23" fmla="*/ 75229 h 87629"/>
                    <a:gd name="connsiteX24" fmla="*/ 30785 w 120678"/>
                    <a:gd name="connsiteY24" fmla="*/ 63062 h 87629"/>
                    <a:gd name="connsiteX25" fmla="*/ 28054 w 120678"/>
                    <a:gd name="connsiteY25" fmla="*/ 50644 h 87629"/>
                    <a:gd name="connsiteX26" fmla="*/ 15024 w 120678"/>
                    <a:gd name="connsiteY26" fmla="*/ 0 h 87629"/>
                    <a:gd name="connsiteX27" fmla="*/ 0 w 120678"/>
                    <a:gd name="connsiteY27" fmla="*/ 0 h 87629"/>
                    <a:gd name="connsiteX28" fmla="*/ 24351 w 120678"/>
                    <a:gd name="connsiteY28" fmla="*/ 87629 h 87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678" h="87629">
                      <a:moveTo>
                        <a:pt x="24351" y="87629"/>
                      </a:moveTo>
                      <a:lnTo>
                        <a:pt x="41730" y="87629"/>
                      </a:lnTo>
                      <a:lnTo>
                        <a:pt x="53897" y="40706"/>
                      </a:lnTo>
                      <a:cubicBezTo>
                        <a:pt x="55011" y="36482"/>
                        <a:pt x="56125" y="32259"/>
                        <a:pt x="57006" y="28054"/>
                      </a:cubicBezTo>
                      <a:lnTo>
                        <a:pt x="59863" y="15150"/>
                      </a:lnTo>
                      <a:lnTo>
                        <a:pt x="60726" y="15150"/>
                      </a:lnTo>
                      <a:lnTo>
                        <a:pt x="63583" y="28054"/>
                      </a:lnTo>
                      <a:cubicBezTo>
                        <a:pt x="64572" y="32151"/>
                        <a:pt x="65578" y="36249"/>
                        <a:pt x="66692" y="40346"/>
                      </a:cubicBezTo>
                      <a:lnTo>
                        <a:pt x="79470" y="87629"/>
                      </a:lnTo>
                      <a:lnTo>
                        <a:pt x="97226" y="87629"/>
                      </a:lnTo>
                      <a:lnTo>
                        <a:pt x="120679" y="0"/>
                      </a:lnTo>
                      <a:lnTo>
                        <a:pt x="106895" y="0"/>
                      </a:lnTo>
                      <a:lnTo>
                        <a:pt x="93991" y="50644"/>
                      </a:lnTo>
                      <a:lnTo>
                        <a:pt x="91259" y="63062"/>
                      </a:lnTo>
                      <a:lnTo>
                        <a:pt x="88402" y="75229"/>
                      </a:lnTo>
                      <a:lnTo>
                        <a:pt x="87773" y="75229"/>
                      </a:lnTo>
                      <a:lnTo>
                        <a:pt x="84790" y="63062"/>
                      </a:lnTo>
                      <a:lnTo>
                        <a:pt x="81681" y="50644"/>
                      </a:lnTo>
                      <a:lnTo>
                        <a:pt x="67896" y="0"/>
                      </a:lnTo>
                      <a:lnTo>
                        <a:pt x="53627" y="0"/>
                      </a:lnTo>
                      <a:lnTo>
                        <a:pt x="40094" y="50644"/>
                      </a:lnTo>
                      <a:cubicBezTo>
                        <a:pt x="38980" y="54741"/>
                        <a:pt x="37866" y="58839"/>
                        <a:pt x="36985" y="62936"/>
                      </a:cubicBezTo>
                      <a:lnTo>
                        <a:pt x="34002" y="75229"/>
                      </a:lnTo>
                      <a:lnTo>
                        <a:pt x="33265" y="75229"/>
                      </a:lnTo>
                      <a:lnTo>
                        <a:pt x="30785" y="63062"/>
                      </a:lnTo>
                      <a:lnTo>
                        <a:pt x="28054" y="50644"/>
                      </a:lnTo>
                      <a:lnTo>
                        <a:pt x="15024" y="0"/>
                      </a:lnTo>
                      <a:lnTo>
                        <a:pt x="0" y="0"/>
                      </a:lnTo>
                      <a:lnTo>
                        <a:pt x="24351" y="87629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2" name="任意多边形: 形状 61"/>
                <p:cNvSpPr/>
                <p:nvPr/>
              </p:nvSpPr>
              <p:spPr>
                <a:xfrm>
                  <a:off x="8810681" y="964247"/>
                  <a:ext cx="120678" cy="87629"/>
                </a:xfrm>
                <a:custGeom>
                  <a:avLst/>
                  <a:gdLst>
                    <a:gd name="connsiteX0" fmla="*/ 24351 w 120678"/>
                    <a:gd name="connsiteY0" fmla="*/ 87629 h 87629"/>
                    <a:gd name="connsiteX1" fmla="*/ 41730 w 120678"/>
                    <a:gd name="connsiteY1" fmla="*/ 87629 h 87629"/>
                    <a:gd name="connsiteX2" fmla="*/ 53897 w 120678"/>
                    <a:gd name="connsiteY2" fmla="*/ 40706 h 87629"/>
                    <a:gd name="connsiteX3" fmla="*/ 57006 w 120678"/>
                    <a:gd name="connsiteY3" fmla="*/ 28054 h 87629"/>
                    <a:gd name="connsiteX4" fmla="*/ 59863 w 120678"/>
                    <a:gd name="connsiteY4" fmla="*/ 15150 h 87629"/>
                    <a:gd name="connsiteX5" fmla="*/ 60726 w 120678"/>
                    <a:gd name="connsiteY5" fmla="*/ 15150 h 87629"/>
                    <a:gd name="connsiteX6" fmla="*/ 63583 w 120678"/>
                    <a:gd name="connsiteY6" fmla="*/ 28054 h 87629"/>
                    <a:gd name="connsiteX7" fmla="*/ 66692 w 120678"/>
                    <a:gd name="connsiteY7" fmla="*/ 40346 h 87629"/>
                    <a:gd name="connsiteX8" fmla="*/ 79470 w 120678"/>
                    <a:gd name="connsiteY8" fmla="*/ 87629 h 87629"/>
                    <a:gd name="connsiteX9" fmla="*/ 97226 w 120678"/>
                    <a:gd name="connsiteY9" fmla="*/ 87629 h 87629"/>
                    <a:gd name="connsiteX10" fmla="*/ 120679 w 120678"/>
                    <a:gd name="connsiteY10" fmla="*/ 0 h 87629"/>
                    <a:gd name="connsiteX11" fmla="*/ 106895 w 120678"/>
                    <a:gd name="connsiteY11" fmla="*/ 0 h 87629"/>
                    <a:gd name="connsiteX12" fmla="*/ 93991 w 120678"/>
                    <a:gd name="connsiteY12" fmla="*/ 50644 h 87629"/>
                    <a:gd name="connsiteX13" fmla="*/ 91259 w 120678"/>
                    <a:gd name="connsiteY13" fmla="*/ 63062 h 87629"/>
                    <a:gd name="connsiteX14" fmla="*/ 88402 w 120678"/>
                    <a:gd name="connsiteY14" fmla="*/ 75229 h 87629"/>
                    <a:gd name="connsiteX15" fmla="*/ 87773 w 120678"/>
                    <a:gd name="connsiteY15" fmla="*/ 75229 h 87629"/>
                    <a:gd name="connsiteX16" fmla="*/ 84790 w 120678"/>
                    <a:gd name="connsiteY16" fmla="*/ 63062 h 87629"/>
                    <a:gd name="connsiteX17" fmla="*/ 81681 w 120678"/>
                    <a:gd name="connsiteY17" fmla="*/ 50644 h 87629"/>
                    <a:gd name="connsiteX18" fmla="*/ 67896 w 120678"/>
                    <a:gd name="connsiteY18" fmla="*/ 0 h 87629"/>
                    <a:gd name="connsiteX19" fmla="*/ 53627 w 120678"/>
                    <a:gd name="connsiteY19" fmla="*/ 0 h 87629"/>
                    <a:gd name="connsiteX20" fmla="*/ 40094 w 120678"/>
                    <a:gd name="connsiteY20" fmla="*/ 50644 h 87629"/>
                    <a:gd name="connsiteX21" fmla="*/ 36985 w 120678"/>
                    <a:gd name="connsiteY21" fmla="*/ 62936 h 87629"/>
                    <a:gd name="connsiteX22" fmla="*/ 34002 w 120678"/>
                    <a:gd name="connsiteY22" fmla="*/ 75229 h 87629"/>
                    <a:gd name="connsiteX23" fmla="*/ 33265 w 120678"/>
                    <a:gd name="connsiteY23" fmla="*/ 75229 h 87629"/>
                    <a:gd name="connsiteX24" fmla="*/ 30785 w 120678"/>
                    <a:gd name="connsiteY24" fmla="*/ 63062 h 87629"/>
                    <a:gd name="connsiteX25" fmla="*/ 28054 w 120678"/>
                    <a:gd name="connsiteY25" fmla="*/ 50644 h 87629"/>
                    <a:gd name="connsiteX26" fmla="*/ 15024 w 120678"/>
                    <a:gd name="connsiteY26" fmla="*/ 0 h 87629"/>
                    <a:gd name="connsiteX27" fmla="*/ 0 w 120678"/>
                    <a:gd name="connsiteY27" fmla="*/ 0 h 87629"/>
                    <a:gd name="connsiteX28" fmla="*/ 24351 w 120678"/>
                    <a:gd name="connsiteY28" fmla="*/ 87629 h 87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678" h="87629">
                      <a:moveTo>
                        <a:pt x="24351" y="87629"/>
                      </a:moveTo>
                      <a:lnTo>
                        <a:pt x="41730" y="87629"/>
                      </a:lnTo>
                      <a:lnTo>
                        <a:pt x="53897" y="40706"/>
                      </a:lnTo>
                      <a:cubicBezTo>
                        <a:pt x="55011" y="36482"/>
                        <a:pt x="56125" y="32259"/>
                        <a:pt x="57006" y="28054"/>
                      </a:cubicBezTo>
                      <a:lnTo>
                        <a:pt x="59863" y="15150"/>
                      </a:lnTo>
                      <a:lnTo>
                        <a:pt x="60726" y="15150"/>
                      </a:lnTo>
                      <a:lnTo>
                        <a:pt x="63583" y="28054"/>
                      </a:lnTo>
                      <a:cubicBezTo>
                        <a:pt x="64572" y="32151"/>
                        <a:pt x="65578" y="36249"/>
                        <a:pt x="66692" y="40346"/>
                      </a:cubicBezTo>
                      <a:lnTo>
                        <a:pt x="79470" y="87629"/>
                      </a:lnTo>
                      <a:lnTo>
                        <a:pt x="97226" y="87629"/>
                      </a:lnTo>
                      <a:lnTo>
                        <a:pt x="120679" y="0"/>
                      </a:lnTo>
                      <a:lnTo>
                        <a:pt x="106895" y="0"/>
                      </a:lnTo>
                      <a:lnTo>
                        <a:pt x="93991" y="50644"/>
                      </a:lnTo>
                      <a:lnTo>
                        <a:pt x="91259" y="63062"/>
                      </a:lnTo>
                      <a:lnTo>
                        <a:pt x="88402" y="75229"/>
                      </a:lnTo>
                      <a:lnTo>
                        <a:pt x="87773" y="75229"/>
                      </a:lnTo>
                      <a:lnTo>
                        <a:pt x="84790" y="63062"/>
                      </a:lnTo>
                      <a:lnTo>
                        <a:pt x="81681" y="50644"/>
                      </a:lnTo>
                      <a:lnTo>
                        <a:pt x="67896" y="0"/>
                      </a:lnTo>
                      <a:lnTo>
                        <a:pt x="53627" y="0"/>
                      </a:lnTo>
                      <a:lnTo>
                        <a:pt x="40094" y="50644"/>
                      </a:lnTo>
                      <a:cubicBezTo>
                        <a:pt x="38980" y="54741"/>
                        <a:pt x="37866" y="58839"/>
                        <a:pt x="36985" y="62936"/>
                      </a:cubicBezTo>
                      <a:lnTo>
                        <a:pt x="34002" y="75229"/>
                      </a:lnTo>
                      <a:lnTo>
                        <a:pt x="33265" y="75229"/>
                      </a:lnTo>
                      <a:lnTo>
                        <a:pt x="30785" y="63062"/>
                      </a:lnTo>
                      <a:lnTo>
                        <a:pt x="28054" y="50644"/>
                      </a:lnTo>
                      <a:lnTo>
                        <a:pt x="15024" y="0"/>
                      </a:lnTo>
                      <a:lnTo>
                        <a:pt x="0" y="0"/>
                      </a:lnTo>
                      <a:lnTo>
                        <a:pt x="24351" y="87629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3" name="任意多边形: 形状 62"/>
                <p:cNvSpPr/>
                <p:nvPr/>
              </p:nvSpPr>
              <p:spPr>
                <a:xfrm>
                  <a:off x="8947228" y="964247"/>
                  <a:ext cx="120678" cy="87629"/>
                </a:xfrm>
                <a:custGeom>
                  <a:avLst/>
                  <a:gdLst>
                    <a:gd name="connsiteX0" fmla="*/ 24351 w 120678"/>
                    <a:gd name="connsiteY0" fmla="*/ 87629 h 87629"/>
                    <a:gd name="connsiteX1" fmla="*/ 41730 w 120678"/>
                    <a:gd name="connsiteY1" fmla="*/ 87629 h 87629"/>
                    <a:gd name="connsiteX2" fmla="*/ 53897 w 120678"/>
                    <a:gd name="connsiteY2" fmla="*/ 40706 h 87629"/>
                    <a:gd name="connsiteX3" fmla="*/ 57006 w 120678"/>
                    <a:gd name="connsiteY3" fmla="*/ 28054 h 87629"/>
                    <a:gd name="connsiteX4" fmla="*/ 59863 w 120678"/>
                    <a:gd name="connsiteY4" fmla="*/ 15150 h 87629"/>
                    <a:gd name="connsiteX5" fmla="*/ 60726 w 120678"/>
                    <a:gd name="connsiteY5" fmla="*/ 15150 h 87629"/>
                    <a:gd name="connsiteX6" fmla="*/ 63583 w 120678"/>
                    <a:gd name="connsiteY6" fmla="*/ 28054 h 87629"/>
                    <a:gd name="connsiteX7" fmla="*/ 66692 w 120678"/>
                    <a:gd name="connsiteY7" fmla="*/ 40346 h 87629"/>
                    <a:gd name="connsiteX8" fmla="*/ 79470 w 120678"/>
                    <a:gd name="connsiteY8" fmla="*/ 87629 h 87629"/>
                    <a:gd name="connsiteX9" fmla="*/ 97226 w 120678"/>
                    <a:gd name="connsiteY9" fmla="*/ 87629 h 87629"/>
                    <a:gd name="connsiteX10" fmla="*/ 120679 w 120678"/>
                    <a:gd name="connsiteY10" fmla="*/ 0 h 87629"/>
                    <a:gd name="connsiteX11" fmla="*/ 106895 w 120678"/>
                    <a:gd name="connsiteY11" fmla="*/ 0 h 87629"/>
                    <a:gd name="connsiteX12" fmla="*/ 93991 w 120678"/>
                    <a:gd name="connsiteY12" fmla="*/ 50644 h 87629"/>
                    <a:gd name="connsiteX13" fmla="*/ 91259 w 120678"/>
                    <a:gd name="connsiteY13" fmla="*/ 63062 h 87629"/>
                    <a:gd name="connsiteX14" fmla="*/ 88402 w 120678"/>
                    <a:gd name="connsiteY14" fmla="*/ 75229 h 87629"/>
                    <a:gd name="connsiteX15" fmla="*/ 87773 w 120678"/>
                    <a:gd name="connsiteY15" fmla="*/ 75229 h 87629"/>
                    <a:gd name="connsiteX16" fmla="*/ 84790 w 120678"/>
                    <a:gd name="connsiteY16" fmla="*/ 63062 h 87629"/>
                    <a:gd name="connsiteX17" fmla="*/ 81681 w 120678"/>
                    <a:gd name="connsiteY17" fmla="*/ 50644 h 87629"/>
                    <a:gd name="connsiteX18" fmla="*/ 67897 w 120678"/>
                    <a:gd name="connsiteY18" fmla="*/ 0 h 87629"/>
                    <a:gd name="connsiteX19" fmla="*/ 53627 w 120678"/>
                    <a:gd name="connsiteY19" fmla="*/ 0 h 87629"/>
                    <a:gd name="connsiteX20" fmla="*/ 40094 w 120678"/>
                    <a:gd name="connsiteY20" fmla="*/ 50644 h 87629"/>
                    <a:gd name="connsiteX21" fmla="*/ 36985 w 120678"/>
                    <a:gd name="connsiteY21" fmla="*/ 62936 h 87629"/>
                    <a:gd name="connsiteX22" fmla="*/ 34002 w 120678"/>
                    <a:gd name="connsiteY22" fmla="*/ 75229 h 87629"/>
                    <a:gd name="connsiteX23" fmla="*/ 33265 w 120678"/>
                    <a:gd name="connsiteY23" fmla="*/ 75229 h 87629"/>
                    <a:gd name="connsiteX24" fmla="*/ 30785 w 120678"/>
                    <a:gd name="connsiteY24" fmla="*/ 63062 h 87629"/>
                    <a:gd name="connsiteX25" fmla="*/ 28054 w 120678"/>
                    <a:gd name="connsiteY25" fmla="*/ 50644 h 87629"/>
                    <a:gd name="connsiteX26" fmla="*/ 15024 w 120678"/>
                    <a:gd name="connsiteY26" fmla="*/ 0 h 87629"/>
                    <a:gd name="connsiteX27" fmla="*/ 0 w 120678"/>
                    <a:gd name="connsiteY27" fmla="*/ 0 h 87629"/>
                    <a:gd name="connsiteX28" fmla="*/ 24351 w 120678"/>
                    <a:gd name="connsiteY28" fmla="*/ 87629 h 87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678" h="87629">
                      <a:moveTo>
                        <a:pt x="24351" y="87629"/>
                      </a:moveTo>
                      <a:lnTo>
                        <a:pt x="41730" y="87629"/>
                      </a:lnTo>
                      <a:lnTo>
                        <a:pt x="53897" y="40706"/>
                      </a:lnTo>
                      <a:cubicBezTo>
                        <a:pt x="55011" y="36482"/>
                        <a:pt x="56125" y="32259"/>
                        <a:pt x="57006" y="28054"/>
                      </a:cubicBezTo>
                      <a:lnTo>
                        <a:pt x="59863" y="15150"/>
                      </a:lnTo>
                      <a:lnTo>
                        <a:pt x="60726" y="15150"/>
                      </a:lnTo>
                      <a:lnTo>
                        <a:pt x="63583" y="28054"/>
                      </a:lnTo>
                      <a:cubicBezTo>
                        <a:pt x="64572" y="32151"/>
                        <a:pt x="65578" y="36249"/>
                        <a:pt x="66692" y="40346"/>
                      </a:cubicBezTo>
                      <a:lnTo>
                        <a:pt x="79470" y="87629"/>
                      </a:lnTo>
                      <a:lnTo>
                        <a:pt x="97226" y="87629"/>
                      </a:lnTo>
                      <a:lnTo>
                        <a:pt x="120679" y="0"/>
                      </a:lnTo>
                      <a:lnTo>
                        <a:pt x="106895" y="0"/>
                      </a:lnTo>
                      <a:lnTo>
                        <a:pt x="93991" y="50644"/>
                      </a:lnTo>
                      <a:lnTo>
                        <a:pt x="91259" y="63062"/>
                      </a:lnTo>
                      <a:lnTo>
                        <a:pt x="88402" y="75229"/>
                      </a:lnTo>
                      <a:lnTo>
                        <a:pt x="87773" y="75229"/>
                      </a:lnTo>
                      <a:lnTo>
                        <a:pt x="84790" y="63062"/>
                      </a:lnTo>
                      <a:lnTo>
                        <a:pt x="81681" y="50644"/>
                      </a:lnTo>
                      <a:lnTo>
                        <a:pt x="67897" y="0"/>
                      </a:lnTo>
                      <a:lnTo>
                        <a:pt x="53627" y="0"/>
                      </a:lnTo>
                      <a:lnTo>
                        <a:pt x="40094" y="50644"/>
                      </a:lnTo>
                      <a:cubicBezTo>
                        <a:pt x="38980" y="54741"/>
                        <a:pt x="37866" y="58839"/>
                        <a:pt x="36985" y="62936"/>
                      </a:cubicBezTo>
                      <a:lnTo>
                        <a:pt x="34002" y="75229"/>
                      </a:lnTo>
                      <a:lnTo>
                        <a:pt x="33265" y="75229"/>
                      </a:lnTo>
                      <a:lnTo>
                        <a:pt x="30785" y="63062"/>
                      </a:lnTo>
                      <a:lnTo>
                        <a:pt x="28054" y="50644"/>
                      </a:lnTo>
                      <a:lnTo>
                        <a:pt x="15024" y="0"/>
                      </a:lnTo>
                      <a:lnTo>
                        <a:pt x="0" y="0"/>
                      </a:lnTo>
                      <a:lnTo>
                        <a:pt x="24351" y="87629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4" name="任意多边形: 形状 63"/>
                <p:cNvSpPr/>
                <p:nvPr/>
              </p:nvSpPr>
              <p:spPr>
                <a:xfrm>
                  <a:off x="9078816" y="1031389"/>
                  <a:ext cx="21224" cy="22608"/>
                </a:xfrm>
                <a:custGeom>
                  <a:avLst/>
                  <a:gdLst>
                    <a:gd name="connsiteX0" fmla="*/ 10675 w 21224"/>
                    <a:gd name="connsiteY0" fmla="*/ 22608 h 22608"/>
                    <a:gd name="connsiteX1" fmla="*/ 18115 w 21224"/>
                    <a:gd name="connsiteY1" fmla="*/ 19499 h 22608"/>
                    <a:gd name="connsiteX2" fmla="*/ 21224 w 21224"/>
                    <a:gd name="connsiteY2" fmla="*/ 11430 h 22608"/>
                    <a:gd name="connsiteX3" fmla="*/ 18115 w 21224"/>
                    <a:gd name="connsiteY3" fmla="*/ 3235 h 22608"/>
                    <a:gd name="connsiteX4" fmla="*/ 10675 w 21224"/>
                    <a:gd name="connsiteY4" fmla="*/ 0 h 22608"/>
                    <a:gd name="connsiteX5" fmla="*/ 3109 w 21224"/>
                    <a:gd name="connsiteY5" fmla="*/ 3235 h 22608"/>
                    <a:gd name="connsiteX6" fmla="*/ 0 w 21224"/>
                    <a:gd name="connsiteY6" fmla="*/ 11430 h 22608"/>
                    <a:gd name="connsiteX7" fmla="*/ 3109 w 21224"/>
                    <a:gd name="connsiteY7" fmla="*/ 19499 h 22608"/>
                    <a:gd name="connsiteX8" fmla="*/ 10675 w 21224"/>
                    <a:gd name="connsiteY8" fmla="*/ 22608 h 226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1224" h="22608">
                      <a:moveTo>
                        <a:pt x="10675" y="22608"/>
                      </a:moveTo>
                      <a:cubicBezTo>
                        <a:pt x="13658" y="22482"/>
                        <a:pt x="16138" y="21494"/>
                        <a:pt x="18115" y="19499"/>
                      </a:cubicBezTo>
                      <a:cubicBezTo>
                        <a:pt x="20110" y="17504"/>
                        <a:pt x="21224" y="14791"/>
                        <a:pt x="21224" y="11430"/>
                      </a:cubicBezTo>
                      <a:cubicBezTo>
                        <a:pt x="21224" y="8069"/>
                        <a:pt x="20110" y="5356"/>
                        <a:pt x="18115" y="3235"/>
                      </a:cubicBezTo>
                      <a:cubicBezTo>
                        <a:pt x="16120" y="1132"/>
                        <a:pt x="13640" y="0"/>
                        <a:pt x="10675" y="0"/>
                      </a:cubicBezTo>
                      <a:cubicBezTo>
                        <a:pt x="7692" y="0"/>
                        <a:pt x="5212" y="1114"/>
                        <a:pt x="3109" y="3235"/>
                      </a:cubicBezTo>
                      <a:cubicBezTo>
                        <a:pt x="1114" y="5338"/>
                        <a:pt x="126" y="8069"/>
                        <a:pt x="0" y="11430"/>
                      </a:cubicBezTo>
                      <a:cubicBezTo>
                        <a:pt x="126" y="14773"/>
                        <a:pt x="1114" y="17504"/>
                        <a:pt x="3109" y="19499"/>
                      </a:cubicBezTo>
                      <a:cubicBezTo>
                        <a:pt x="5212" y="21476"/>
                        <a:pt x="7692" y="22482"/>
                        <a:pt x="10675" y="22608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3" name="组合 42"/>
              <p:cNvGrpSpPr/>
              <p:nvPr userDrawn="1"/>
            </p:nvGrpSpPr>
            <p:grpSpPr>
              <a:xfrm>
                <a:off x="2487485" y="3830214"/>
                <a:ext cx="173892" cy="129934"/>
                <a:chOff x="9130663" y="924063"/>
                <a:chExt cx="173892" cy="129934"/>
              </a:xfrm>
            </p:grpSpPr>
            <p:sp>
              <p:nvSpPr>
                <p:cNvPr id="59" name="任意多边形: 形状 58"/>
                <p:cNvSpPr/>
                <p:nvPr/>
              </p:nvSpPr>
              <p:spPr>
                <a:xfrm>
                  <a:off x="9130663" y="933588"/>
                  <a:ext cx="76343" cy="120409"/>
                </a:xfrm>
                <a:custGeom>
                  <a:avLst/>
                  <a:gdLst>
                    <a:gd name="connsiteX0" fmla="*/ 37614 w 76343"/>
                    <a:gd name="connsiteY0" fmla="*/ 120409 h 120409"/>
                    <a:gd name="connsiteX1" fmla="*/ 56610 w 76343"/>
                    <a:gd name="connsiteY1" fmla="*/ 115575 h 120409"/>
                    <a:gd name="connsiteX2" fmla="*/ 70754 w 76343"/>
                    <a:gd name="connsiteY2" fmla="*/ 101791 h 120409"/>
                    <a:gd name="connsiteX3" fmla="*/ 76343 w 76343"/>
                    <a:gd name="connsiteY3" fmla="*/ 79704 h 120409"/>
                    <a:gd name="connsiteX4" fmla="*/ 65920 w 76343"/>
                    <a:gd name="connsiteY4" fmla="*/ 51147 h 120409"/>
                    <a:gd name="connsiteX5" fmla="*/ 40723 w 76343"/>
                    <a:gd name="connsiteY5" fmla="*/ 42089 h 120409"/>
                    <a:gd name="connsiteX6" fmla="*/ 31163 w 76343"/>
                    <a:gd name="connsiteY6" fmla="*/ 43455 h 120409"/>
                    <a:gd name="connsiteX7" fmla="*/ 23093 w 76343"/>
                    <a:gd name="connsiteY7" fmla="*/ 46798 h 120409"/>
                    <a:gd name="connsiteX8" fmla="*/ 26077 w 76343"/>
                    <a:gd name="connsiteY8" fmla="*/ 12544 h 120409"/>
                    <a:gd name="connsiteX9" fmla="*/ 70754 w 76343"/>
                    <a:gd name="connsiteY9" fmla="*/ 12544 h 120409"/>
                    <a:gd name="connsiteX10" fmla="*/ 70754 w 76343"/>
                    <a:gd name="connsiteY10" fmla="*/ 0 h 120409"/>
                    <a:gd name="connsiteX11" fmla="*/ 13155 w 76343"/>
                    <a:gd name="connsiteY11" fmla="*/ 0 h 120409"/>
                    <a:gd name="connsiteX12" fmla="*/ 9435 w 76343"/>
                    <a:gd name="connsiteY12" fmla="*/ 55352 h 120409"/>
                    <a:gd name="connsiteX13" fmla="*/ 17378 w 76343"/>
                    <a:gd name="connsiteY13" fmla="*/ 60187 h 120409"/>
                    <a:gd name="connsiteX14" fmla="*/ 26688 w 76343"/>
                    <a:gd name="connsiteY14" fmla="*/ 54975 h 120409"/>
                    <a:gd name="connsiteX15" fmla="*/ 36985 w 76343"/>
                    <a:gd name="connsiteY15" fmla="*/ 53232 h 120409"/>
                    <a:gd name="connsiteX16" fmla="*/ 54867 w 76343"/>
                    <a:gd name="connsiteY16" fmla="*/ 60312 h 120409"/>
                    <a:gd name="connsiteX17" fmla="*/ 61570 w 76343"/>
                    <a:gd name="connsiteY17" fmla="*/ 80171 h 120409"/>
                    <a:gd name="connsiteX18" fmla="*/ 54130 w 76343"/>
                    <a:gd name="connsiteY18" fmla="*/ 100659 h 120409"/>
                    <a:gd name="connsiteX19" fmla="*/ 36374 w 76343"/>
                    <a:gd name="connsiteY19" fmla="*/ 108099 h 120409"/>
                    <a:gd name="connsiteX20" fmla="*/ 19247 w 76343"/>
                    <a:gd name="connsiteY20" fmla="*/ 104127 h 120409"/>
                    <a:gd name="connsiteX21" fmla="*/ 7332 w 76343"/>
                    <a:gd name="connsiteY21" fmla="*/ 95069 h 120409"/>
                    <a:gd name="connsiteX22" fmla="*/ 0 w 76343"/>
                    <a:gd name="connsiteY22" fmla="*/ 104756 h 120409"/>
                    <a:gd name="connsiteX23" fmla="*/ 14898 w 76343"/>
                    <a:gd name="connsiteY23" fmla="*/ 115557 h 120409"/>
                    <a:gd name="connsiteX24" fmla="*/ 37614 w 76343"/>
                    <a:gd name="connsiteY24" fmla="*/ 120409 h 1204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76343" h="120409">
                      <a:moveTo>
                        <a:pt x="37614" y="120409"/>
                      </a:moveTo>
                      <a:cubicBezTo>
                        <a:pt x="44444" y="120409"/>
                        <a:pt x="50770" y="118792"/>
                        <a:pt x="56610" y="115575"/>
                      </a:cubicBezTo>
                      <a:cubicBezTo>
                        <a:pt x="62451" y="112466"/>
                        <a:pt x="67160" y="107883"/>
                        <a:pt x="70754" y="101791"/>
                      </a:cubicBezTo>
                      <a:cubicBezTo>
                        <a:pt x="74348" y="95824"/>
                        <a:pt x="76217" y="88384"/>
                        <a:pt x="76343" y="79704"/>
                      </a:cubicBezTo>
                      <a:cubicBezTo>
                        <a:pt x="76091" y="66800"/>
                        <a:pt x="72623" y="57239"/>
                        <a:pt x="65920" y="51147"/>
                      </a:cubicBezTo>
                      <a:cubicBezTo>
                        <a:pt x="59216" y="45055"/>
                        <a:pt x="50770" y="42089"/>
                        <a:pt x="40723" y="42089"/>
                      </a:cubicBezTo>
                      <a:cubicBezTo>
                        <a:pt x="37255" y="42215"/>
                        <a:pt x="34020" y="42593"/>
                        <a:pt x="31163" y="43455"/>
                      </a:cubicBezTo>
                      <a:cubicBezTo>
                        <a:pt x="28431" y="44192"/>
                        <a:pt x="25699" y="45324"/>
                        <a:pt x="23093" y="46798"/>
                      </a:cubicBezTo>
                      <a:lnTo>
                        <a:pt x="26077" y="12544"/>
                      </a:lnTo>
                      <a:lnTo>
                        <a:pt x="70754" y="12544"/>
                      </a:lnTo>
                      <a:lnTo>
                        <a:pt x="70754" y="0"/>
                      </a:lnTo>
                      <a:lnTo>
                        <a:pt x="13155" y="0"/>
                      </a:lnTo>
                      <a:lnTo>
                        <a:pt x="9435" y="55352"/>
                      </a:lnTo>
                      <a:lnTo>
                        <a:pt x="17378" y="60187"/>
                      </a:lnTo>
                      <a:cubicBezTo>
                        <a:pt x="20613" y="57958"/>
                        <a:pt x="23704" y="56215"/>
                        <a:pt x="26688" y="54975"/>
                      </a:cubicBezTo>
                      <a:cubicBezTo>
                        <a:pt x="29797" y="53861"/>
                        <a:pt x="33140" y="53232"/>
                        <a:pt x="36985" y="53232"/>
                      </a:cubicBezTo>
                      <a:cubicBezTo>
                        <a:pt x="44551" y="53358"/>
                        <a:pt x="50518" y="55712"/>
                        <a:pt x="54867" y="60312"/>
                      </a:cubicBezTo>
                      <a:cubicBezTo>
                        <a:pt x="59216" y="65021"/>
                        <a:pt x="61445" y="71617"/>
                        <a:pt x="61570" y="80171"/>
                      </a:cubicBezTo>
                      <a:cubicBezTo>
                        <a:pt x="61319" y="88851"/>
                        <a:pt x="58839" y="95681"/>
                        <a:pt x="54130" y="100659"/>
                      </a:cubicBezTo>
                      <a:cubicBezTo>
                        <a:pt x="49422" y="105493"/>
                        <a:pt x="43455" y="108099"/>
                        <a:pt x="36374" y="108099"/>
                      </a:cubicBezTo>
                      <a:cubicBezTo>
                        <a:pt x="29545" y="107973"/>
                        <a:pt x="23830" y="106607"/>
                        <a:pt x="19247" y="104127"/>
                      </a:cubicBezTo>
                      <a:cubicBezTo>
                        <a:pt x="14647" y="101647"/>
                        <a:pt x="10675" y="98538"/>
                        <a:pt x="7332" y="95069"/>
                      </a:cubicBezTo>
                      <a:lnTo>
                        <a:pt x="0" y="104756"/>
                      </a:lnTo>
                      <a:cubicBezTo>
                        <a:pt x="3972" y="108854"/>
                        <a:pt x="8932" y="112448"/>
                        <a:pt x="14898" y="115557"/>
                      </a:cubicBezTo>
                      <a:cubicBezTo>
                        <a:pt x="20991" y="118666"/>
                        <a:pt x="28557" y="120284"/>
                        <a:pt x="37614" y="120409"/>
                      </a:cubicBezTo>
                      <a:close/>
                    </a:path>
                  </a:pathLst>
                </a:custGeom>
                <a:solidFill>
                  <a:srgbClr val="FF5200"/>
                </a:solidFill>
                <a:ln w="6350" cap="flat">
                  <a:solidFill>
                    <a:srgbClr val="FF52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0" name="任意多边形: 形状 59"/>
                <p:cNvSpPr/>
                <p:nvPr/>
              </p:nvSpPr>
              <p:spPr>
                <a:xfrm>
                  <a:off x="9239624" y="924063"/>
                  <a:ext cx="64931" cy="126897"/>
                </a:xfrm>
                <a:custGeom>
                  <a:avLst/>
                  <a:gdLst>
                    <a:gd name="connsiteX0" fmla="*/ 18 w 64931"/>
                    <a:gd name="connsiteY0" fmla="*/ 118289 h 118288"/>
                    <a:gd name="connsiteX1" fmla="*/ 64931 w 64931"/>
                    <a:gd name="connsiteY1" fmla="*/ 118289 h 118288"/>
                    <a:gd name="connsiteX2" fmla="*/ 64931 w 64931"/>
                    <a:gd name="connsiteY2" fmla="*/ 105996 h 118288"/>
                    <a:gd name="connsiteX3" fmla="*/ 41227 w 64931"/>
                    <a:gd name="connsiteY3" fmla="*/ 105996 h 118288"/>
                    <a:gd name="connsiteX4" fmla="*/ 41227 w 64931"/>
                    <a:gd name="connsiteY4" fmla="*/ 0 h 118288"/>
                    <a:gd name="connsiteX5" fmla="*/ 29923 w 64931"/>
                    <a:gd name="connsiteY5" fmla="*/ 0 h 118288"/>
                    <a:gd name="connsiteX6" fmla="*/ 19122 w 64931"/>
                    <a:gd name="connsiteY6" fmla="*/ 4834 h 118288"/>
                    <a:gd name="connsiteX7" fmla="*/ 5337 w 64931"/>
                    <a:gd name="connsiteY7" fmla="*/ 8429 h 118288"/>
                    <a:gd name="connsiteX8" fmla="*/ 5337 w 64931"/>
                    <a:gd name="connsiteY8" fmla="*/ 17738 h 118288"/>
                    <a:gd name="connsiteX9" fmla="*/ 26310 w 64931"/>
                    <a:gd name="connsiteY9" fmla="*/ 17738 h 118288"/>
                    <a:gd name="connsiteX10" fmla="*/ 26310 w 64931"/>
                    <a:gd name="connsiteY10" fmla="*/ 105996 h 118288"/>
                    <a:gd name="connsiteX11" fmla="*/ 0 w 64931"/>
                    <a:gd name="connsiteY11" fmla="*/ 105996 h 118288"/>
                    <a:gd name="connsiteX12" fmla="*/ 0 w 64931"/>
                    <a:gd name="connsiteY12" fmla="*/ 118289 h 1182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64931" h="118288">
                      <a:moveTo>
                        <a:pt x="18" y="118289"/>
                      </a:moveTo>
                      <a:lnTo>
                        <a:pt x="64931" y="118289"/>
                      </a:lnTo>
                      <a:lnTo>
                        <a:pt x="64931" y="105996"/>
                      </a:lnTo>
                      <a:lnTo>
                        <a:pt x="41227" y="105996"/>
                      </a:lnTo>
                      <a:lnTo>
                        <a:pt x="41227" y="0"/>
                      </a:lnTo>
                      <a:lnTo>
                        <a:pt x="29923" y="0"/>
                      </a:lnTo>
                      <a:cubicBezTo>
                        <a:pt x="26688" y="1869"/>
                        <a:pt x="23093" y="3469"/>
                        <a:pt x="19122" y="4834"/>
                      </a:cubicBezTo>
                      <a:cubicBezTo>
                        <a:pt x="15150" y="6200"/>
                        <a:pt x="10549" y="7440"/>
                        <a:pt x="5337" y="8429"/>
                      </a:cubicBezTo>
                      <a:lnTo>
                        <a:pt x="5337" y="17738"/>
                      </a:lnTo>
                      <a:lnTo>
                        <a:pt x="26310" y="17738"/>
                      </a:lnTo>
                      <a:lnTo>
                        <a:pt x="26310" y="105996"/>
                      </a:lnTo>
                      <a:lnTo>
                        <a:pt x="0" y="105996"/>
                      </a:lnTo>
                      <a:lnTo>
                        <a:pt x="0" y="118289"/>
                      </a:lnTo>
                      <a:close/>
                    </a:path>
                  </a:pathLst>
                </a:custGeom>
                <a:solidFill>
                  <a:srgbClr val="FF5200"/>
                </a:solidFill>
                <a:ln w="6350" cap="flat">
                  <a:solidFill>
                    <a:srgbClr val="FF52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 userDrawn="1"/>
            </p:nvGrpSpPr>
            <p:grpSpPr>
              <a:xfrm>
                <a:off x="2698897" y="3829531"/>
                <a:ext cx="804243" cy="165482"/>
                <a:chOff x="9323023" y="923380"/>
                <a:chExt cx="804243" cy="165482"/>
              </a:xfrm>
            </p:grpSpPr>
            <p:sp>
              <p:nvSpPr>
                <p:cNvPr id="51" name="任意多边形: 形状 50"/>
                <p:cNvSpPr/>
                <p:nvPr/>
              </p:nvSpPr>
              <p:spPr>
                <a:xfrm>
                  <a:off x="9323023" y="961965"/>
                  <a:ext cx="76594" cy="126897"/>
                </a:xfrm>
                <a:custGeom>
                  <a:avLst/>
                  <a:gdLst>
                    <a:gd name="connsiteX0" fmla="*/ 36123 w 76594"/>
                    <a:gd name="connsiteY0" fmla="*/ 79740 h 126897"/>
                    <a:gd name="connsiteX1" fmla="*/ 26185 w 76594"/>
                    <a:gd name="connsiteY1" fmla="*/ 77745 h 126897"/>
                    <a:gd name="connsiteX2" fmla="*/ 14647 w 76594"/>
                    <a:gd name="connsiteY2" fmla="*/ 70538 h 126897"/>
                    <a:gd name="connsiteX3" fmla="*/ 14647 w 76594"/>
                    <a:gd name="connsiteY3" fmla="*/ 24495 h 126897"/>
                    <a:gd name="connsiteX4" fmla="*/ 26813 w 76594"/>
                    <a:gd name="connsiteY4" fmla="*/ 15563 h 126897"/>
                    <a:gd name="connsiteX5" fmla="*/ 38225 w 76594"/>
                    <a:gd name="connsiteY5" fmla="*/ 12454 h 126897"/>
                    <a:gd name="connsiteX6" fmla="*/ 55981 w 76594"/>
                    <a:gd name="connsiteY6" fmla="*/ 21386 h 126897"/>
                    <a:gd name="connsiteX7" fmla="*/ 61319 w 76594"/>
                    <a:gd name="connsiteY7" fmla="*/ 44839 h 126897"/>
                    <a:gd name="connsiteX8" fmla="*/ 54112 w 76594"/>
                    <a:gd name="connsiteY8" fmla="*/ 70538 h 126897"/>
                    <a:gd name="connsiteX9" fmla="*/ 36123 w 76594"/>
                    <a:gd name="connsiteY9" fmla="*/ 79740 h 126897"/>
                    <a:gd name="connsiteX10" fmla="*/ 0 w 76594"/>
                    <a:gd name="connsiteY10" fmla="*/ 126897 h 126897"/>
                    <a:gd name="connsiteX11" fmla="*/ 14647 w 76594"/>
                    <a:gd name="connsiteY11" fmla="*/ 126897 h 126897"/>
                    <a:gd name="connsiteX12" fmla="*/ 14647 w 76594"/>
                    <a:gd name="connsiteY12" fmla="*/ 97100 h 126897"/>
                    <a:gd name="connsiteX13" fmla="*/ 14269 w 76594"/>
                    <a:gd name="connsiteY13" fmla="*/ 81824 h 126897"/>
                    <a:gd name="connsiteX14" fmla="*/ 26436 w 76594"/>
                    <a:gd name="connsiteY14" fmla="*/ 89265 h 126897"/>
                    <a:gd name="connsiteX15" fmla="*/ 38477 w 76594"/>
                    <a:gd name="connsiteY15" fmla="*/ 91996 h 126897"/>
                    <a:gd name="connsiteX16" fmla="*/ 57347 w 76594"/>
                    <a:gd name="connsiteY16" fmla="*/ 86407 h 126897"/>
                    <a:gd name="connsiteX17" fmla="*/ 71257 w 76594"/>
                    <a:gd name="connsiteY17" fmla="*/ 70269 h 126897"/>
                    <a:gd name="connsiteX18" fmla="*/ 76595 w 76594"/>
                    <a:gd name="connsiteY18" fmla="*/ 44695 h 126897"/>
                    <a:gd name="connsiteX19" fmla="*/ 67663 w 76594"/>
                    <a:gd name="connsiteY19" fmla="*/ 12293 h 126897"/>
                    <a:gd name="connsiteX20" fmla="*/ 41712 w 76594"/>
                    <a:gd name="connsiteY20" fmla="*/ 0 h 126897"/>
                    <a:gd name="connsiteX21" fmla="*/ 26939 w 76594"/>
                    <a:gd name="connsiteY21" fmla="*/ 3720 h 126897"/>
                    <a:gd name="connsiteX22" fmla="*/ 13784 w 76594"/>
                    <a:gd name="connsiteY22" fmla="*/ 12293 h 126897"/>
                    <a:gd name="connsiteX23" fmla="*/ 13281 w 76594"/>
                    <a:gd name="connsiteY23" fmla="*/ 12293 h 126897"/>
                    <a:gd name="connsiteX24" fmla="*/ 12041 w 76594"/>
                    <a:gd name="connsiteY24" fmla="*/ 2246 h 126897"/>
                    <a:gd name="connsiteX25" fmla="*/ 0 w 76594"/>
                    <a:gd name="connsiteY25" fmla="*/ 2246 h 126897"/>
                    <a:gd name="connsiteX26" fmla="*/ 0 w 76594"/>
                    <a:gd name="connsiteY26" fmla="*/ 126897 h 12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76594" h="126897">
                      <a:moveTo>
                        <a:pt x="36123" y="79740"/>
                      </a:moveTo>
                      <a:cubicBezTo>
                        <a:pt x="33140" y="79866"/>
                        <a:pt x="29797" y="79111"/>
                        <a:pt x="26185" y="77745"/>
                      </a:cubicBezTo>
                      <a:cubicBezTo>
                        <a:pt x="22464" y="76253"/>
                        <a:pt x="18618" y="73899"/>
                        <a:pt x="14647" y="70538"/>
                      </a:cubicBezTo>
                      <a:lnTo>
                        <a:pt x="14647" y="24495"/>
                      </a:lnTo>
                      <a:cubicBezTo>
                        <a:pt x="18870" y="20649"/>
                        <a:pt x="22968" y="17540"/>
                        <a:pt x="26813" y="15563"/>
                      </a:cubicBezTo>
                      <a:cubicBezTo>
                        <a:pt x="30659" y="13461"/>
                        <a:pt x="34505" y="12454"/>
                        <a:pt x="38225" y="12454"/>
                      </a:cubicBezTo>
                      <a:cubicBezTo>
                        <a:pt x="46421" y="12580"/>
                        <a:pt x="52369" y="15563"/>
                        <a:pt x="55981" y="21386"/>
                      </a:cubicBezTo>
                      <a:cubicBezTo>
                        <a:pt x="59576" y="27227"/>
                        <a:pt x="61319" y="35045"/>
                        <a:pt x="61319" y="44839"/>
                      </a:cubicBezTo>
                      <a:cubicBezTo>
                        <a:pt x="61193" y="55892"/>
                        <a:pt x="58713" y="64446"/>
                        <a:pt x="54112" y="70538"/>
                      </a:cubicBezTo>
                      <a:cubicBezTo>
                        <a:pt x="49512" y="76631"/>
                        <a:pt x="43455" y="79614"/>
                        <a:pt x="36123" y="79740"/>
                      </a:cubicBezTo>
                      <a:close/>
                      <a:moveTo>
                        <a:pt x="0" y="126897"/>
                      </a:moveTo>
                      <a:lnTo>
                        <a:pt x="14647" y="126897"/>
                      </a:lnTo>
                      <a:lnTo>
                        <a:pt x="14647" y="97100"/>
                      </a:lnTo>
                      <a:lnTo>
                        <a:pt x="14269" y="81824"/>
                      </a:lnTo>
                      <a:cubicBezTo>
                        <a:pt x="18241" y="85059"/>
                        <a:pt x="22339" y="87539"/>
                        <a:pt x="26436" y="89265"/>
                      </a:cubicBezTo>
                      <a:cubicBezTo>
                        <a:pt x="30534" y="91134"/>
                        <a:pt x="34505" y="91996"/>
                        <a:pt x="38477" y="91996"/>
                      </a:cubicBezTo>
                      <a:cubicBezTo>
                        <a:pt x="45306" y="91996"/>
                        <a:pt x="51632" y="90127"/>
                        <a:pt x="57347" y="86407"/>
                      </a:cubicBezTo>
                      <a:cubicBezTo>
                        <a:pt x="63062" y="82687"/>
                        <a:pt x="67645" y="77350"/>
                        <a:pt x="71257" y="70269"/>
                      </a:cubicBezTo>
                      <a:cubicBezTo>
                        <a:pt x="74726" y="63314"/>
                        <a:pt x="76469" y="54759"/>
                        <a:pt x="76595" y="44695"/>
                      </a:cubicBezTo>
                      <a:cubicBezTo>
                        <a:pt x="76595" y="31037"/>
                        <a:pt x="73611" y="20236"/>
                        <a:pt x="67663" y="12293"/>
                      </a:cubicBezTo>
                      <a:cubicBezTo>
                        <a:pt x="61696" y="4223"/>
                        <a:pt x="53142" y="126"/>
                        <a:pt x="41712" y="0"/>
                      </a:cubicBezTo>
                      <a:cubicBezTo>
                        <a:pt x="36626" y="126"/>
                        <a:pt x="31666" y="1366"/>
                        <a:pt x="26939" y="3720"/>
                      </a:cubicBezTo>
                      <a:cubicBezTo>
                        <a:pt x="22231" y="6074"/>
                        <a:pt x="17756" y="8932"/>
                        <a:pt x="13784" y="12293"/>
                      </a:cubicBezTo>
                      <a:lnTo>
                        <a:pt x="13281" y="12293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126897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2" name="任意多边形: 形状 51"/>
                <p:cNvSpPr/>
                <p:nvPr/>
              </p:nvSpPr>
              <p:spPr>
                <a:xfrm>
                  <a:off x="9429477" y="961965"/>
                  <a:ext cx="76594" cy="126897"/>
                </a:xfrm>
                <a:custGeom>
                  <a:avLst/>
                  <a:gdLst>
                    <a:gd name="connsiteX0" fmla="*/ 36123 w 76594"/>
                    <a:gd name="connsiteY0" fmla="*/ 79740 h 126897"/>
                    <a:gd name="connsiteX1" fmla="*/ 26185 w 76594"/>
                    <a:gd name="connsiteY1" fmla="*/ 77745 h 126897"/>
                    <a:gd name="connsiteX2" fmla="*/ 14647 w 76594"/>
                    <a:gd name="connsiteY2" fmla="*/ 70538 h 126897"/>
                    <a:gd name="connsiteX3" fmla="*/ 14647 w 76594"/>
                    <a:gd name="connsiteY3" fmla="*/ 24495 h 126897"/>
                    <a:gd name="connsiteX4" fmla="*/ 26813 w 76594"/>
                    <a:gd name="connsiteY4" fmla="*/ 15563 h 126897"/>
                    <a:gd name="connsiteX5" fmla="*/ 38225 w 76594"/>
                    <a:gd name="connsiteY5" fmla="*/ 12454 h 126897"/>
                    <a:gd name="connsiteX6" fmla="*/ 55981 w 76594"/>
                    <a:gd name="connsiteY6" fmla="*/ 21386 h 126897"/>
                    <a:gd name="connsiteX7" fmla="*/ 61319 w 76594"/>
                    <a:gd name="connsiteY7" fmla="*/ 44839 h 126897"/>
                    <a:gd name="connsiteX8" fmla="*/ 54112 w 76594"/>
                    <a:gd name="connsiteY8" fmla="*/ 70538 h 126897"/>
                    <a:gd name="connsiteX9" fmla="*/ 36123 w 76594"/>
                    <a:gd name="connsiteY9" fmla="*/ 79740 h 126897"/>
                    <a:gd name="connsiteX10" fmla="*/ 0 w 76594"/>
                    <a:gd name="connsiteY10" fmla="*/ 126897 h 126897"/>
                    <a:gd name="connsiteX11" fmla="*/ 14647 w 76594"/>
                    <a:gd name="connsiteY11" fmla="*/ 126897 h 126897"/>
                    <a:gd name="connsiteX12" fmla="*/ 14647 w 76594"/>
                    <a:gd name="connsiteY12" fmla="*/ 97100 h 126897"/>
                    <a:gd name="connsiteX13" fmla="*/ 14269 w 76594"/>
                    <a:gd name="connsiteY13" fmla="*/ 81824 h 126897"/>
                    <a:gd name="connsiteX14" fmla="*/ 26436 w 76594"/>
                    <a:gd name="connsiteY14" fmla="*/ 89265 h 126897"/>
                    <a:gd name="connsiteX15" fmla="*/ 38477 w 76594"/>
                    <a:gd name="connsiteY15" fmla="*/ 91996 h 126897"/>
                    <a:gd name="connsiteX16" fmla="*/ 57347 w 76594"/>
                    <a:gd name="connsiteY16" fmla="*/ 86407 h 126897"/>
                    <a:gd name="connsiteX17" fmla="*/ 71257 w 76594"/>
                    <a:gd name="connsiteY17" fmla="*/ 70269 h 126897"/>
                    <a:gd name="connsiteX18" fmla="*/ 76595 w 76594"/>
                    <a:gd name="connsiteY18" fmla="*/ 44695 h 126897"/>
                    <a:gd name="connsiteX19" fmla="*/ 67663 w 76594"/>
                    <a:gd name="connsiteY19" fmla="*/ 12293 h 126897"/>
                    <a:gd name="connsiteX20" fmla="*/ 41712 w 76594"/>
                    <a:gd name="connsiteY20" fmla="*/ 0 h 126897"/>
                    <a:gd name="connsiteX21" fmla="*/ 26939 w 76594"/>
                    <a:gd name="connsiteY21" fmla="*/ 3720 h 126897"/>
                    <a:gd name="connsiteX22" fmla="*/ 13784 w 76594"/>
                    <a:gd name="connsiteY22" fmla="*/ 12293 h 126897"/>
                    <a:gd name="connsiteX23" fmla="*/ 13281 w 76594"/>
                    <a:gd name="connsiteY23" fmla="*/ 12293 h 126897"/>
                    <a:gd name="connsiteX24" fmla="*/ 12041 w 76594"/>
                    <a:gd name="connsiteY24" fmla="*/ 2246 h 126897"/>
                    <a:gd name="connsiteX25" fmla="*/ 0 w 76594"/>
                    <a:gd name="connsiteY25" fmla="*/ 2246 h 126897"/>
                    <a:gd name="connsiteX26" fmla="*/ 0 w 76594"/>
                    <a:gd name="connsiteY26" fmla="*/ 126897 h 12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76594" h="126897">
                      <a:moveTo>
                        <a:pt x="36123" y="79740"/>
                      </a:moveTo>
                      <a:cubicBezTo>
                        <a:pt x="33140" y="79866"/>
                        <a:pt x="29797" y="79111"/>
                        <a:pt x="26185" y="77745"/>
                      </a:cubicBezTo>
                      <a:cubicBezTo>
                        <a:pt x="22464" y="76253"/>
                        <a:pt x="18618" y="73899"/>
                        <a:pt x="14647" y="70538"/>
                      </a:cubicBezTo>
                      <a:lnTo>
                        <a:pt x="14647" y="24495"/>
                      </a:lnTo>
                      <a:cubicBezTo>
                        <a:pt x="18870" y="20649"/>
                        <a:pt x="22968" y="17540"/>
                        <a:pt x="26813" y="15563"/>
                      </a:cubicBezTo>
                      <a:cubicBezTo>
                        <a:pt x="30659" y="13461"/>
                        <a:pt x="34505" y="12454"/>
                        <a:pt x="38225" y="12454"/>
                      </a:cubicBezTo>
                      <a:cubicBezTo>
                        <a:pt x="46420" y="12580"/>
                        <a:pt x="52369" y="15563"/>
                        <a:pt x="55981" y="21386"/>
                      </a:cubicBezTo>
                      <a:cubicBezTo>
                        <a:pt x="59576" y="27227"/>
                        <a:pt x="61319" y="35045"/>
                        <a:pt x="61319" y="44839"/>
                      </a:cubicBezTo>
                      <a:cubicBezTo>
                        <a:pt x="61193" y="55892"/>
                        <a:pt x="58713" y="64446"/>
                        <a:pt x="54112" y="70538"/>
                      </a:cubicBezTo>
                      <a:cubicBezTo>
                        <a:pt x="49530" y="76631"/>
                        <a:pt x="43437" y="79614"/>
                        <a:pt x="36123" y="79740"/>
                      </a:cubicBezTo>
                      <a:close/>
                      <a:moveTo>
                        <a:pt x="0" y="126897"/>
                      </a:moveTo>
                      <a:lnTo>
                        <a:pt x="14647" y="126897"/>
                      </a:lnTo>
                      <a:lnTo>
                        <a:pt x="14647" y="97100"/>
                      </a:lnTo>
                      <a:lnTo>
                        <a:pt x="14269" y="81824"/>
                      </a:lnTo>
                      <a:cubicBezTo>
                        <a:pt x="18241" y="85059"/>
                        <a:pt x="22339" y="87539"/>
                        <a:pt x="26436" y="89265"/>
                      </a:cubicBezTo>
                      <a:cubicBezTo>
                        <a:pt x="30534" y="91134"/>
                        <a:pt x="34505" y="91996"/>
                        <a:pt x="38477" y="91996"/>
                      </a:cubicBezTo>
                      <a:cubicBezTo>
                        <a:pt x="45306" y="91996"/>
                        <a:pt x="51632" y="90127"/>
                        <a:pt x="57347" y="86407"/>
                      </a:cubicBezTo>
                      <a:cubicBezTo>
                        <a:pt x="63062" y="82687"/>
                        <a:pt x="67645" y="77350"/>
                        <a:pt x="71257" y="70269"/>
                      </a:cubicBezTo>
                      <a:cubicBezTo>
                        <a:pt x="74726" y="63314"/>
                        <a:pt x="76469" y="54759"/>
                        <a:pt x="76595" y="44695"/>
                      </a:cubicBezTo>
                      <a:cubicBezTo>
                        <a:pt x="76595" y="31037"/>
                        <a:pt x="73611" y="20236"/>
                        <a:pt x="67663" y="12293"/>
                      </a:cubicBezTo>
                      <a:cubicBezTo>
                        <a:pt x="61696" y="4223"/>
                        <a:pt x="53142" y="126"/>
                        <a:pt x="41712" y="0"/>
                      </a:cubicBezTo>
                      <a:cubicBezTo>
                        <a:pt x="36626" y="126"/>
                        <a:pt x="31666" y="1366"/>
                        <a:pt x="26939" y="3720"/>
                      </a:cubicBezTo>
                      <a:cubicBezTo>
                        <a:pt x="22231" y="6074"/>
                        <a:pt x="17756" y="8932"/>
                        <a:pt x="13784" y="12293"/>
                      </a:cubicBezTo>
                      <a:lnTo>
                        <a:pt x="13281" y="12293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126897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3" name="任意多边形: 形状 52"/>
                <p:cNvSpPr/>
                <p:nvPr/>
              </p:nvSpPr>
              <p:spPr>
                <a:xfrm>
                  <a:off x="9527744" y="939788"/>
                  <a:ext cx="54256" cy="114209"/>
                </a:xfrm>
                <a:custGeom>
                  <a:avLst/>
                  <a:gdLst>
                    <a:gd name="connsiteX0" fmla="*/ 38118 w 54256"/>
                    <a:gd name="connsiteY0" fmla="*/ 114209 h 114209"/>
                    <a:gd name="connsiteX1" fmla="*/ 46313 w 54256"/>
                    <a:gd name="connsiteY1" fmla="*/ 113221 h 114209"/>
                    <a:gd name="connsiteX2" fmla="*/ 54256 w 54256"/>
                    <a:gd name="connsiteY2" fmla="*/ 110992 h 114209"/>
                    <a:gd name="connsiteX3" fmla="*/ 51273 w 54256"/>
                    <a:gd name="connsiteY3" fmla="*/ 100066 h 114209"/>
                    <a:gd name="connsiteX4" fmla="*/ 46438 w 54256"/>
                    <a:gd name="connsiteY4" fmla="*/ 101557 h 114209"/>
                    <a:gd name="connsiteX5" fmla="*/ 41352 w 54256"/>
                    <a:gd name="connsiteY5" fmla="*/ 102294 h 114209"/>
                    <a:gd name="connsiteX6" fmla="*/ 30803 w 54256"/>
                    <a:gd name="connsiteY6" fmla="*/ 97819 h 114209"/>
                    <a:gd name="connsiteX7" fmla="*/ 27820 w 54256"/>
                    <a:gd name="connsiteY7" fmla="*/ 85275 h 114209"/>
                    <a:gd name="connsiteX8" fmla="*/ 27820 w 54256"/>
                    <a:gd name="connsiteY8" fmla="*/ 36374 h 114209"/>
                    <a:gd name="connsiteX9" fmla="*/ 51524 w 54256"/>
                    <a:gd name="connsiteY9" fmla="*/ 36374 h 114209"/>
                    <a:gd name="connsiteX10" fmla="*/ 51524 w 54256"/>
                    <a:gd name="connsiteY10" fmla="*/ 24459 h 114209"/>
                    <a:gd name="connsiteX11" fmla="*/ 27820 w 54256"/>
                    <a:gd name="connsiteY11" fmla="*/ 24459 h 114209"/>
                    <a:gd name="connsiteX12" fmla="*/ 27820 w 54256"/>
                    <a:gd name="connsiteY12" fmla="*/ 0 h 114209"/>
                    <a:gd name="connsiteX13" fmla="*/ 15527 w 54256"/>
                    <a:gd name="connsiteY13" fmla="*/ 0 h 114209"/>
                    <a:gd name="connsiteX14" fmla="*/ 13784 w 54256"/>
                    <a:gd name="connsiteY14" fmla="*/ 24459 h 114209"/>
                    <a:gd name="connsiteX15" fmla="*/ 0 w 54256"/>
                    <a:gd name="connsiteY15" fmla="*/ 25322 h 114209"/>
                    <a:gd name="connsiteX16" fmla="*/ 0 w 54256"/>
                    <a:gd name="connsiteY16" fmla="*/ 36374 h 114209"/>
                    <a:gd name="connsiteX17" fmla="*/ 13029 w 54256"/>
                    <a:gd name="connsiteY17" fmla="*/ 36374 h 114209"/>
                    <a:gd name="connsiteX18" fmla="*/ 13029 w 54256"/>
                    <a:gd name="connsiteY18" fmla="*/ 85023 h 114209"/>
                    <a:gd name="connsiteX19" fmla="*/ 18618 w 54256"/>
                    <a:gd name="connsiteY19" fmla="*/ 106122 h 114209"/>
                    <a:gd name="connsiteX20" fmla="*/ 38118 w 54256"/>
                    <a:gd name="connsiteY20" fmla="*/ 114209 h 1142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54256" h="114209">
                      <a:moveTo>
                        <a:pt x="38118" y="114209"/>
                      </a:moveTo>
                      <a:cubicBezTo>
                        <a:pt x="40723" y="114209"/>
                        <a:pt x="43455" y="113832"/>
                        <a:pt x="46313" y="113221"/>
                      </a:cubicBezTo>
                      <a:cubicBezTo>
                        <a:pt x="49044" y="112592"/>
                        <a:pt x="51650" y="111855"/>
                        <a:pt x="54256" y="110992"/>
                      </a:cubicBezTo>
                      <a:lnTo>
                        <a:pt x="51273" y="100066"/>
                      </a:lnTo>
                      <a:cubicBezTo>
                        <a:pt x="49781" y="100569"/>
                        <a:pt x="48164" y="101054"/>
                        <a:pt x="46438" y="101557"/>
                      </a:cubicBezTo>
                      <a:cubicBezTo>
                        <a:pt x="44569" y="102060"/>
                        <a:pt x="42970" y="102294"/>
                        <a:pt x="41352" y="102294"/>
                      </a:cubicBezTo>
                      <a:cubicBezTo>
                        <a:pt x="36267" y="102294"/>
                        <a:pt x="32780" y="100802"/>
                        <a:pt x="30803" y="97819"/>
                      </a:cubicBezTo>
                      <a:cubicBezTo>
                        <a:pt x="28700" y="94962"/>
                        <a:pt x="27694" y="90738"/>
                        <a:pt x="27820" y="85275"/>
                      </a:cubicBezTo>
                      <a:lnTo>
                        <a:pt x="27820" y="36374"/>
                      </a:lnTo>
                      <a:lnTo>
                        <a:pt x="51524" y="36374"/>
                      </a:lnTo>
                      <a:lnTo>
                        <a:pt x="51524" y="24459"/>
                      </a:lnTo>
                      <a:lnTo>
                        <a:pt x="27820" y="24459"/>
                      </a:lnTo>
                      <a:lnTo>
                        <a:pt x="27820" y="0"/>
                      </a:lnTo>
                      <a:lnTo>
                        <a:pt x="15527" y="0"/>
                      </a:lnTo>
                      <a:lnTo>
                        <a:pt x="13784" y="24459"/>
                      </a:lnTo>
                      <a:lnTo>
                        <a:pt x="0" y="25322"/>
                      </a:lnTo>
                      <a:lnTo>
                        <a:pt x="0" y="36374"/>
                      </a:lnTo>
                      <a:lnTo>
                        <a:pt x="13029" y="36374"/>
                      </a:lnTo>
                      <a:lnTo>
                        <a:pt x="13029" y="85023"/>
                      </a:lnTo>
                      <a:cubicBezTo>
                        <a:pt x="12904" y="93829"/>
                        <a:pt x="14773" y="100910"/>
                        <a:pt x="18618" y="106122"/>
                      </a:cubicBezTo>
                      <a:cubicBezTo>
                        <a:pt x="22339" y="111352"/>
                        <a:pt x="28808" y="114083"/>
                        <a:pt x="38118" y="114209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4" name="任意多边形: 形状 53"/>
                <p:cNvSpPr/>
                <p:nvPr/>
              </p:nvSpPr>
              <p:spPr>
                <a:xfrm>
                  <a:off x="9607474" y="962019"/>
                  <a:ext cx="120804" cy="89875"/>
                </a:xfrm>
                <a:custGeom>
                  <a:avLst/>
                  <a:gdLst>
                    <a:gd name="connsiteX0" fmla="*/ 36 w 120804"/>
                    <a:gd name="connsiteY0" fmla="*/ 89858 h 89875"/>
                    <a:gd name="connsiteX1" fmla="*/ 14683 w 120804"/>
                    <a:gd name="connsiteY1" fmla="*/ 89858 h 89875"/>
                    <a:gd name="connsiteX2" fmla="*/ 14683 w 120804"/>
                    <a:gd name="connsiteY2" fmla="*/ 26310 h 89875"/>
                    <a:gd name="connsiteX3" fmla="*/ 26220 w 120804"/>
                    <a:gd name="connsiteY3" fmla="*/ 16138 h 89875"/>
                    <a:gd name="connsiteX4" fmla="*/ 36770 w 120804"/>
                    <a:gd name="connsiteY4" fmla="*/ 12904 h 89875"/>
                    <a:gd name="connsiteX5" fmla="*/ 49062 w 120804"/>
                    <a:gd name="connsiteY5" fmla="*/ 18367 h 89875"/>
                    <a:gd name="connsiteX6" fmla="*/ 53034 w 120804"/>
                    <a:gd name="connsiteY6" fmla="*/ 36249 h 89875"/>
                    <a:gd name="connsiteX7" fmla="*/ 53034 w 120804"/>
                    <a:gd name="connsiteY7" fmla="*/ 89876 h 89875"/>
                    <a:gd name="connsiteX8" fmla="*/ 67807 w 120804"/>
                    <a:gd name="connsiteY8" fmla="*/ 89876 h 89875"/>
                    <a:gd name="connsiteX9" fmla="*/ 67807 w 120804"/>
                    <a:gd name="connsiteY9" fmla="*/ 26310 h 89875"/>
                    <a:gd name="connsiteX10" fmla="*/ 79344 w 120804"/>
                    <a:gd name="connsiteY10" fmla="*/ 16138 h 89875"/>
                    <a:gd name="connsiteX11" fmla="*/ 89894 w 120804"/>
                    <a:gd name="connsiteY11" fmla="*/ 12904 h 89875"/>
                    <a:gd name="connsiteX12" fmla="*/ 102186 w 120804"/>
                    <a:gd name="connsiteY12" fmla="*/ 18367 h 89875"/>
                    <a:gd name="connsiteX13" fmla="*/ 106158 w 120804"/>
                    <a:gd name="connsiteY13" fmla="*/ 36249 h 89875"/>
                    <a:gd name="connsiteX14" fmla="*/ 106158 w 120804"/>
                    <a:gd name="connsiteY14" fmla="*/ 89876 h 89875"/>
                    <a:gd name="connsiteX15" fmla="*/ 120805 w 120804"/>
                    <a:gd name="connsiteY15" fmla="*/ 89876 h 89875"/>
                    <a:gd name="connsiteX16" fmla="*/ 120805 w 120804"/>
                    <a:gd name="connsiteY16" fmla="*/ 34398 h 89875"/>
                    <a:gd name="connsiteX17" fmla="*/ 114353 w 120804"/>
                    <a:gd name="connsiteY17" fmla="*/ 8824 h 89875"/>
                    <a:gd name="connsiteX18" fmla="*/ 94243 w 120804"/>
                    <a:gd name="connsiteY18" fmla="*/ 18 h 89875"/>
                    <a:gd name="connsiteX19" fmla="*/ 79219 w 120804"/>
                    <a:gd name="connsiteY19" fmla="*/ 4727 h 89875"/>
                    <a:gd name="connsiteX20" fmla="*/ 65308 w 120804"/>
                    <a:gd name="connsiteY20" fmla="*/ 16767 h 89875"/>
                    <a:gd name="connsiteX21" fmla="*/ 56862 w 120804"/>
                    <a:gd name="connsiteY21" fmla="*/ 4475 h 89875"/>
                    <a:gd name="connsiteX22" fmla="*/ 41101 w 120804"/>
                    <a:gd name="connsiteY22" fmla="*/ 0 h 89875"/>
                    <a:gd name="connsiteX23" fmla="*/ 26328 w 120804"/>
                    <a:gd name="connsiteY23" fmla="*/ 4349 h 89875"/>
                    <a:gd name="connsiteX24" fmla="*/ 13784 w 120804"/>
                    <a:gd name="connsiteY24" fmla="*/ 15024 h 89875"/>
                    <a:gd name="connsiteX25" fmla="*/ 13281 w 120804"/>
                    <a:gd name="connsiteY25" fmla="*/ 15024 h 89875"/>
                    <a:gd name="connsiteX26" fmla="*/ 12041 w 120804"/>
                    <a:gd name="connsiteY26" fmla="*/ 2246 h 89875"/>
                    <a:gd name="connsiteX27" fmla="*/ 0 w 120804"/>
                    <a:gd name="connsiteY27" fmla="*/ 2246 h 89875"/>
                    <a:gd name="connsiteX28" fmla="*/ 0 w 120804"/>
                    <a:gd name="connsiteY28" fmla="*/ 89858 h 89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804" h="89875">
                      <a:moveTo>
                        <a:pt x="36" y="89858"/>
                      </a:moveTo>
                      <a:lnTo>
                        <a:pt x="14683" y="89858"/>
                      </a:lnTo>
                      <a:lnTo>
                        <a:pt x="14683" y="26310"/>
                      </a:lnTo>
                      <a:cubicBezTo>
                        <a:pt x="18654" y="21710"/>
                        <a:pt x="22626" y="18367"/>
                        <a:pt x="26220" y="16138"/>
                      </a:cubicBezTo>
                      <a:cubicBezTo>
                        <a:pt x="29941" y="14036"/>
                        <a:pt x="33427" y="12904"/>
                        <a:pt x="36770" y="12904"/>
                      </a:cubicBezTo>
                      <a:cubicBezTo>
                        <a:pt x="42359" y="12778"/>
                        <a:pt x="46456" y="14647"/>
                        <a:pt x="49062" y="18367"/>
                      </a:cubicBezTo>
                      <a:cubicBezTo>
                        <a:pt x="51794" y="22087"/>
                        <a:pt x="53160" y="28054"/>
                        <a:pt x="53034" y="36249"/>
                      </a:cubicBezTo>
                      <a:lnTo>
                        <a:pt x="53034" y="89876"/>
                      </a:lnTo>
                      <a:lnTo>
                        <a:pt x="67807" y="89876"/>
                      </a:lnTo>
                      <a:lnTo>
                        <a:pt x="67807" y="26310"/>
                      </a:lnTo>
                      <a:cubicBezTo>
                        <a:pt x="71904" y="21710"/>
                        <a:pt x="75750" y="18367"/>
                        <a:pt x="79344" y="16138"/>
                      </a:cubicBezTo>
                      <a:cubicBezTo>
                        <a:pt x="82939" y="14036"/>
                        <a:pt x="86551" y="12904"/>
                        <a:pt x="89894" y="12904"/>
                      </a:cubicBezTo>
                      <a:cubicBezTo>
                        <a:pt x="95357" y="12778"/>
                        <a:pt x="99580" y="14647"/>
                        <a:pt x="102186" y="18367"/>
                      </a:cubicBezTo>
                      <a:cubicBezTo>
                        <a:pt x="104918" y="22087"/>
                        <a:pt x="106158" y="28054"/>
                        <a:pt x="106158" y="36249"/>
                      </a:cubicBezTo>
                      <a:lnTo>
                        <a:pt x="106158" y="89876"/>
                      </a:lnTo>
                      <a:lnTo>
                        <a:pt x="120805" y="89876"/>
                      </a:lnTo>
                      <a:lnTo>
                        <a:pt x="120805" y="34398"/>
                      </a:lnTo>
                      <a:cubicBezTo>
                        <a:pt x="120805" y="23093"/>
                        <a:pt x="118702" y="14539"/>
                        <a:pt x="114353" y="8824"/>
                      </a:cubicBezTo>
                      <a:cubicBezTo>
                        <a:pt x="109878" y="2983"/>
                        <a:pt x="103175" y="18"/>
                        <a:pt x="94243" y="18"/>
                      </a:cubicBezTo>
                      <a:cubicBezTo>
                        <a:pt x="88905" y="144"/>
                        <a:pt x="83945" y="1635"/>
                        <a:pt x="79219" y="4727"/>
                      </a:cubicBezTo>
                      <a:cubicBezTo>
                        <a:pt x="74384" y="7710"/>
                        <a:pt x="69784" y="11807"/>
                        <a:pt x="65308" y="16767"/>
                      </a:cubicBezTo>
                      <a:cubicBezTo>
                        <a:pt x="63565" y="11556"/>
                        <a:pt x="60834" y="7458"/>
                        <a:pt x="56862" y="4475"/>
                      </a:cubicBezTo>
                      <a:cubicBezTo>
                        <a:pt x="53016" y="1617"/>
                        <a:pt x="47804" y="0"/>
                        <a:pt x="41101" y="0"/>
                      </a:cubicBezTo>
                      <a:cubicBezTo>
                        <a:pt x="35889" y="126"/>
                        <a:pt x="30929" y="1492"/>
                        <a:pt x="26328" y="4349"/>
                      </a:cubicBezTo>
                      <a:cubicBezTo>
                        <a:pt x="21853" y="7207"/>
                        <a:pt x="17648" y="10675"/>
                        <a:pt x="13784" y="15024"/>
                      </a:cubicBezTo>
                      <a:lnTo>
                        <a:pt x="13281" y="15024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89858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5" name="任意多边形: 形状 54"/>
                <p:cNvSpPr/>
                <p:nvPr/>
              </p:nvSpPr>
              <p:spPr>
                <a:xfrm>
                  <a:off x="9755012" y="962037"/>
                  <a:ext cx="81321" cy="91960"/>
                </a:xfrm>
                <a:custGeom>
                  <a:avLst/>
                  <a:gdLst>
                    <a:gd name="connsiteX0" fmla="*/ 40723 w 81321"/>
                    <a:gd name="connsiteY0" fmla="*/ 79668 h 91960"/>
                    <a:gd name="connsiteX1" fmla="*/ 22356 w 81321"/>
                    <a:gd name="connsiteY1" fmla="*/ 70484 h 91960"/>
                    <a:gd name="connsiteX2" fmla="*/ 15402 w 81321"/>
                    <a:gd name="connsiteY2" fmla="*/ 46151 h 91960"/>
                    <a:gd name="connsiteX3" fmla="*/ 22356 w 81321"/>
                    <a:gd name="connsiteY3" fmla="*/ 21566 h 91960"/>
                    <a:gd name="connsiteX4" fmla="*/ 40723 w 81321"/>
                    <a:gd name="connsiteY4" fmla="*/ 12257 h 91960"/>
                    <a:gd name="connsiteX5" fmla="*/ 59090 w 81321"/>
                    <a:gd name="connsiteY5" fmla="*/ 21566 h 91960"/>
                    <a:gd name="connsiteX6" fmla="*/ 66171 w 81321"/>
                    <a:gd name="connsiteY6" fmla="*/ 46151 h 91960"/>
                    <a:gd name="connsiteX7" fmla="*/ 59090 w 81321"/>
                    <a:gd name="connsiteY7" fmla="*/ 70484 h 91960"/>
                    <a:gd name="connsiteX8" fmla="*/ 40723 w 81321"/>
                    <a:gd name="connsiteY8" fmla="*/ 79668 h 91960"/>
                    <a:gd name="connsiteX9" fmla="*/ 40723 w 81321"/>
                    <a:gd name="connsiteY9" fmla="*/ 91960 h 91960"/>
                    <a:gd name="connsiteX10" fmla="*/ 60834 w 81321"/>
                    <a:gd name="connsiteY10" fmla="*/ 86497 h 91960"/>
                    <a:gd name="connsiteX11" fmla="*/ 75606 w 81321"/>
                    <a:gd name="connsiteY11" fmla="*/ 70862 h 91960"/>
                    <a:gd name="connsiteX12" fmla="*/ 81321 w 81321"/>
                    <a:gd name="connsiteY12" fmla="*/ 46169 h 91960"/>
                    <a:gd name="connsiteX13" fmla="*/ 75606 w 81321"/>
                    <a:gd name="connsiteY13" fmla="*/ 21224 h 91960"/>
                    <a:gd name="connsiteX14" fmla="*/ 60834 w 81321"/>
                    <a:gd name="connsiteY14" fmla="*/ 5463 h 91960"/>
                    <a:gd name="connsiteX15" fmla="*/ 40723 w 81321"/>
                    <a:gd name="connsiteY15" fmla="*/ 0 h 91960"/>
                    <a:gd name="connsiteX16" fmla="*/ 20613 w 81321"/>
                    <a:gd name="connsiteY16" fmla="*/ 5463 h 91960"/>
                    <a:gd name="connsiteX17" fmla="*/ 5841 w 81321"/>
                    <a:gd name="connsiteY17" fmla="*/ 21224 h 91960"/>
                    <a:gd name="connsiteX18" fmla="*/ 0 w 81321"/>
                    <a:gd name="connsiteY18" fmla="*/ 46169 h 91960"/>
                    <a:gd name="connsiteX19" fmla="*/ 5841 w 81321"/>
                    <a:gd name="connsiteY19" fmla="*/ 70862 h 91960"/>
                    <a:gd name="connsiteX20" fmla="*/ 20613 w 81321"/>
                    <a:gd name="connsiteY20" fmla="*/ 86497 h 91960"/>
                    <a:gd name="connsiteX21" fmla="*/ 40723 w 81321"/>
                    <a:gd name="connsiteY21" fmla="*/ 91960 h 91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81321" h="91960">
                      <a:moveTo>
                        <a:pt x="40723" y="79668"/>
                      </a:moveTo>
                      <a:cubicBezTo>
                        <a:pt x="33032" y="79542"/>
                        <a:pt x="26939" y="76433"/>
                        <a:pt x="22356" y="70484"/>
                      </a:cubicBezTo>
                      <a:cubicBezTo>
                        <a:pt x="17756" y="64410"/>
                        <a:pt x="15527" y="56341"/>
                        <a:pt x="15402" y="46151"/>
                      </a:cubicBezTo>
                      <a:cubicBezTo>
                        <a:pt x="15527" y="35853"/>
                        <a:pt x="17756" y="27658"/>
                        <a:pt x="22356" y="21566"/>
                      </a:cubicBezTo>
                      <a:cubicBezTo>
                        <a:pt x="26957" y="15473"/>
                        <a:pt x="33032" y="12382"/>
                        <a:pt x="40723" y="12257"/>
                      </a:cubicBezTo>
                      <a:cubicBezTo>
                        <a:pt x="48415" y="12382"/>
                        <a:pt x="54508" y="15491"/>
                        <a:pt x="59090" y="21566"/>
                      </a:cubicBezTo>
                      <a:cubicBezTo>
                        <a:pt x="63691" y="27640"/>
                        <a:pt x="66045" y="35835"/>
                        <a:pt x="66171" y="46151"/>
                      </a:cubicBezTo>
                      <a:cubicBezTo>
                        <a:pt x="66045" y="56323"/>
                        <a:pt x="63691" y="64392"/>
                        <a:pt x="59090" y="70484"/>
                      </a:cubicBezTo>
                      <a:cubicBezTo>
                        <a:pt x="54508" y="76433"/>
                        <a:pt x="48415" y="79542"/>
                        <a:pt x="40723" y="79668"/>
                      </a:cubicBezTo>
                      <a:close/>
                      <a:moveTo>
                        <a:pt x="40723" y="91960"/>
                      </a:moveTo>
                      <a:cubicBezTo>
                        <a:pt x="47930" y="91960"/>
                        <a:pt x="54633" y="90091"/>
                        <a:pt x="60834" y="86497"/>
                      </a:cubicBezTo>
                      <a:cubicBezTo>
                        <a:pt x="66908" y="82903"/>
                        <a:pt x="71886" y="77691"/>
                        <a:pt x="75606" y="70862"/>
                      </a:cubicBezTo>
                      <a:cubicBezTo>
                        <a:pt x="79326" y="64158"/>
                        <a:pt x="81321" y="55838"/>
                        <a:pt x="81321" y="46169"/>
                      </a:cubicBezTo>
                      <a:cubicBezTo>
                        <a:pt x="81321" y="36356"/>
                        <a:pt x="79326" y="28054"/>
                        <a:pt x="75606" y="21224"/>
                      </a:cubicBezTo>
                      <a:cubicBezTo>
                        <a:pt x="71886" y="14269"/>
                        <a:pt x="66926" y="9058"/>
                        <a:pt x="60834" y="5463"/>
                      </a:cubicBezTo>
                      <a:cubicBezTo>
                        <a:pt x="54633" y="1869"/>
                        <a:pt x="47930" y="0"/>
                        <a:pt x="40723" y="0"/>
                      </a:cubicBezTo>
                      <a:cubicBezTo>
                        <a:pt x="33409" y="0"/>
                        <a:pt x="26706" y="1869"/>
                        <a:pt x="20613" y="5463"/>
                      </a:cubicBezTo>
                      <a:cubicBezTo>
                        <a:pt x="14539" y="9058"/>
                        <a:pt x="9561" y="14269"/>
                        <a:pt x="5841" y="21224"/>
                      </a:cubicBezTo>
                      <a:cubicBezTo>
                        <a:pt x="2121" y="28054"/>
                        <a:pt x="126" y="36374"/>
                        <a:pt x="0" y="46169"/>
                      </a:cubicBezTo>
                      <a:cubicBezTo>
                        <a:pt x="126" y="55856"/>
                        <a:pt x="2103" y="64158"/>
                        <a:pt x="5841" y="70862"/>
                      </a:cubicBezTo>
                      <a:cubicBezTo>
                        <a:pt x="9561" y="77691"/>
                        <a:pt x="14521" y="82903"/>
                        <a:pt x="20613" y="86497"/>
                      </a:cubicBezTo>
                      <a:cubicBezTo>
                        <a:pt x="26706" y="90091"/>
                        <a:pt x="33409" y="91960"/>
                        <a:pt x="40723" y="91960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6" name="任意多边形: 形状 55"/>
                <p:cNvSpPr/>
                <p:nvPr/>
              </p:nvSpPr>
              <p:spPr>
                <a:xfrm>
                  <a:off x="9863443" y="923380"/>
                  <a:ext cx="76558" cy="130617"/>
                </a:xfrm>
                <a:custGeom>
                  <a:avLst/>
                  <a:gdLst>
                    <a:gd name="connsiteX0" fmla="*/ 36087 w 76558"/>
                    <a:gd name="connsiteY0" fmla="*/ 118325 h 130617"/>
                    <a:gd name="connsiteX1" fmla="*/ 26041 w 76558"/>
                    <a:gd name="connsiteY1" fmla="*/ 116330 h 130617"/>
                    <a:gd name="connsiteX2" fmla="*/ 14629 w 76558"/>
                    <a:gd name="connsiteY2" fmla="*/ 109123 h 130617"/>
                    <a:gd name="connsiteX3" fmla="*/ 14629 w 76558"/>
                    <a:gd name="connsiteY3" fmla="*/ 63080 h 130617"/>
                    <a:gd name="connsiteX4" fmla="*/ 26795 w 76558"/>
                    <a:gd name="connsiteY4" fmla="*/ 54148 h 130617"/>
                    <a:gd name="connsiteX5" fmla="*/ 38207 w 76558"/>
                    <a:gd name="connsiteY5" fmla="*/ 51039 h 130617"/>
                    <a:gd name="connsiteX6" fmla="*/ 55963 w 76558"/>
                    <a:gd name="connsiteY6" fmla="*/ 59971 h 130617"/>
                    <a:gd name="connsiteX7" fmla="*/ 61301 w 76558"/>
                    <a:gd name="connsiteY7" fmla="*/ 83424 h 130617"/>
                    <a:gd name="connsiteX8" fmla="*/ 54094 w 76558"/>
                    <a:gd name="connsiteY8" fmla="*/ 109123 h 130617"/>
                    <a:gd name="connsiteX9" fmla="*/ 36087 w 76558"/>
                    <a:gd name="connsiteY9" fmla="*/ 118325 h 130617"/>
                    <a:gd name="connsiteX10" fmla="*/ 38441 w 76558"/>
                    <a:gd name="connsiteY10" fmla="*/ 130617 h 130617"/>
                    <a:gd name="connsiteX11" fmla="*/ 57311 w 76558"/>
                    <a:gd name="connsiteY11" fmla="*/ 125028 h 130617"/>
                    <a:gd name="connsiteX12" fmla="*/ 71221 w 76558"/>
                    <a:gd name="connsiteY12" fmla="*/ 108890 h 130617"/>
                    <a:gd name="connsiteX13" fmla="*/ 76559 w 76558"/>
                    <a:gd name="connsiteY13" fmla="*/ 83190 h 130617"/>
                    <a:gd name="connsiteX14" fmla="*/ 67627 w 76558"/>
                    <a:gd name="connsiteY14" fmla="*/ 50788 h 130617"/>
                    <a:gd name="connsiteX15" fmla="*/ 41568 w 76558"/>
                    <a:gd name="connsiteY15" fmla="*/ 38621 h 130617"/>
                    <a:gd name="connsiteX16" fmla="*/ 27173 w 76558"/>
                    <a:gd name="connsiteY16" fmla="*/ 42215 h 130617"/>
                    <a:gd name="connsiteX17" fmla="*/ 14144 w 76558"/>
                    <a:gd name="connsiteY17" fmla="*/ 51021 h 130617"/>
                    <a:gd name="connsiteX18" fmla="*/ 14647 w 76558"/>
                    <a:gd name="connsiteY18" fmla="*/ 35260 h 130617"/>
                    <a:gd name="connsiteX19" fmla="*/ 14647 w 76558"/>
                    <a:gd name="connsiteY19" fmla="*/ 0 h 130617"/>
                    <a:gd name="connsiteX20" fmla="*/ 0 w 76558"/>
                    <a:gd name="connsiteY20" fmla="*/ 0 h 130617"/>
                    <a:gd name="connsiteX21" fmla="*/ 0 w 76558"/>
                    <a:gd name="connsiteY21" fmla="*/ 128479 h 130617"/>
                    <a:gd name="connsiteX22" fmla="*/ 11664 w 76558"/>
                    <a:gd name="connsiteY22" fmla="*/ 128479 h 130617"/>
                    <a:gd name="connsiteX23" fmla="*/ 13029 w 76558"/>
                    <a:gd name="connsiteY23" fmla="*/ 119421 h 130617"/>
                    <a:gd name="connsiteX24" fmla="*/ 13532 w 76558"/>
                    <a:gd name="connsiteY24" fmla="*/ 119421 h 130617"/>
                    <a:gd name="connsiteX25" fmla="*/ 25951 w 76558"/>
                    <a:gd name="connsiteY25" fmla="*/ 127616 h 130617"/>
                    <a:gd name="connsiteX26" fmla="*/ 38441 w 76558"/>
                    <a:gd name="connsiteY26" fmla="*/ 130617 h 1306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76558" h="130617">
                      <a:moveTo>
                        <a:pt x="36087" y="118325"/>
                      </a:moveTo>
                      <a:cubicBezTo>
                        <a:pt x="33103" y="118450"/>
                        <a:pt x="29761" y="117696"/>
                        <a:pt x="26041" y="116330"/>
                      </a:cubicBezTo>
                      <a:cubicBezTo>
                        <a:pt x="22321" y="114838"/>
                        <a:pt x="18475" y="112484"/>
                        <a:pt x="14629" y="109123"/>
                      </a:cubicBezTo>
                      <a:lnTo>
                        <a:pt x="14629" y="63080"/>
                      </a:lnTo>
                      <a:cubicBezTo>
                        <a:pt x="18852" y="59234"/>
                        <a:pt x="22824" y="56125"/>
                        <a:pt x="26795" y="54148"/>
                      </a:cubicBezTo>
                      <a:cubicBezTo>
                        <a:pt x="30641" y="52046"/>
                        <a:pt x="34487" y="51039"/>
                        <a:pt x="38207" y="51039"/>
                      </a:cubicBezTo>
                      <a:cubicBezTo>
                        <a:pt x="46402" y="51165"/>
                        <a:pt x="52351" y="54148"/>
                        <a:pt x="55963" y="59971"/>
                      </a:cubicBezTo>
                      <a:cubicBezTo>
                        <a:pt x="59557" y="65812"/>
                        <a:pt x="61301" y="73629"/>
                        <a:pt x="61301" y="83424"/>
                      </a:cubicBezTo>
                      <a:cubicBezTo>
                        <a:pt x="61175" y="94476"/>
                        <a:pt x="58695" y="103031"/>
                        <a:pt x="54094" y="109123"/>
                      </a:cubicBezTo>
                      <a:cubicBezTo>
                        <a:pt x="49493" y="115216"/>
                        <a:pt x="43401" y="118199"/>
                        <a:pt x="36087" y="118325"/>
                      </a:cubicBezTo>
                      <a:close/>
                      <a:moveTo>
                        <a:pt x="38441" y="130617"/>
                      </a:moveTo>
                      <a:cubicBezTo>
                        <a:pt x="45270" y="130617"/>
                        <a:pt x="51596" y="128748"/>
                        <a:pt x="57311" y="125028"/>
                      </a:cubicBezTo>
                      <a:cubicBezTo>
                        <a:pt x="63026" y="121308"/>
                        <a:pt x="67609" y="115970"/>
                        <a:pt x="71221" y="108890"/>
                      </a:cubicBezTo>
                      <a:cubicBezTo>
                        <a:pt x="74690" y="101809"/>
                        <a:pt x="76433" y="93254"/>
                        <a:pt x="76559" y="83190"/>
                      </a:cubicBezTo>
                      <a:cubicBezTo>
                        <a:pt x="76559" y="69532"/>
                        <a:pt x="73575" y="58857"/>
                        <a:pt x="67627" y="50788"/>
                      </a:cubicBezTo>
                      <a:cubicBezTo>
                        <a:pt x="61660" y="42844"/>
                        <a:pt x="52980" y="38747"/>
                        <a:pt x="41568" y="38621"/>
                      </a:cubicBezTo>
                      <a:cubicBezTo>
                        <a:pt x="36734" y="38747"/>
                        <a:pt x="31881" y="39861"/>
                        <a:pt x="27173" y="42215"/>
                      </a:cubicBezTo>
                      <a:cubicBezTo>
                        <a:pt x="22464" y="44569"/>
                        <a:pt x="18115" y="47427"/>
                        <a:pt x="14144" y="51021"/>
                      </a:cubicBezTo>
                      <a:lnTo>
                        <a:pt x="14647" y="35260"/>
                      </a:lnTo>
                      <a:lnTo>
                        <a:pt x="14647" y="0"/>
                      </a:lnTo>
                      <a:lnTo>
                        <a:pt x="0" y="0"/>
                      </a:lnTo>
                      <a:lnTo>
                        <a:pt x="0" y="128479"/>
                      </a:lnTo>
                      <a:lnTo>
                        <a:pt x="11664" y="128479"/>
                      </a:lnTo>
                      <a:lnTo>
                        <a:pt x="13029" y="119421"/>
                      </a:lnTo>
                      <a:lnTo>
                        <a:pt x="13532" y="119421"/>
                      </a:lnTo>
                      <a:cubicBezTo>
                        <a:pt x="17378" y="123015"/>
                        <a:pt x="21602" y="125747"/>
                        <a:pt x="25951" y="127616"/>
                      </a:cubicBezTo>
                      <a:cubicBezTo>
                        <a:pt x="30120" y="129611"/>
                        <a:pt x="34344" y="130617"/>
                        <a:pt x="38441" y="130617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7" name="任意多边形: 形状 56"/>
                <p:cNvSpPr/>
                <p:nvPr/>
              </p:nvSpPr>
              <p:spPr>
                <a:xfrm>
                  <a:off x="9959492" y="962019"/>
                  <a:ext cx="68651" cy="91978"/>
                </a:xfrm>
                <a:custGeom>
                  <a:avLst/>
                  <a:gdLst>
                    <a:gd name="connsiteX0" fmla="*/ 29922 w 68651"/>
                    <a:gd name="connsiteY0" fmla="*/ 80171 h 91978"/>
                    <a:gd name="connsiteX1" fmla="*/ 18870 w 68651"/>
                    <a:gd name="connsiteY1" fmla="*/ 76936 h 91978"/>
                    <a:gd name="connsiteX2" fmla="*/ 14395 w 68651"/>
                    <a:gd name="connsiteY2" fmla="*/ 66135 h 91978"/>
                    <a:gd name="connsiteX3" fmla="*/ 23075 w 68651"/>
                    <a:gd name="connsiteY3" fmla="*/ 52117 h 91978"/>
                    <a:gd name="connsiteX4" fmla="*/ 53986 w 68651"/>
                    <a:gd name="connsiteY4" fmla="*/ 44048 h 91978"/>
                    <a:gd name="connsiteX5" fmla="*/ 53986 w 68651"/>
                    <a:gd name="connsiteY5" fmla="*/ 68508 h 91978"/>
                    <a:gd name="connsiteX6" fmla="*/ 41945 w 68651"/>
                    <a:gd name="connsiteY6" fmla="*/ 77188 h 91978"/>
                    <a:gd name="connsiteX7" fmla="*/ 29922 w 68651"/>
                    <a:gd name="connsiteY7" fmla="*/ 80171 h 91978"/>
                    <a:gd name="connsiteX8" fmla="*/ 25699 w 68651"/>
                    <a:gd name="connsiteY8" fmla="*/ 91978 h 91978"/>
                    <a:gd name="connsiteX9" fmla="*/ 41083 w 68651"/>
                    <a:gd name="connsiteY9" fmla="*/ 88258 h 91978"/>
                    <a:gd name="connsiteX10" fmla="*/ 54741 w 68651"/>
                    <a:gd name="connsiteY10" fmla="*/ 79452 h 91978"/>
                    <a:gd name="connsiteX11" fmla="*/ 55244 w 68651"/>
                    <a:gd name="connsiteY11" fmla="*/ 79452 h 91978"/>
                    <a:gd name="connsiteX12" fmla="*/ 56484 w 68651"/>
                    <a:gd name="connsiteY12" fmla="*/ 89876 h 91978"/>
                    <a:gd name="connsiteX13" fmla="*/ 68651 w 68651"/>
                    <a:gd name="connsiteY13" fmla="*/ 89876 h 91978"/>
                    <a:gd name="connsiteX14" fmla="*/ 68651 w 68651"/>
                    <a:gd name="connsiteY14" fmla="*/ 35997 h 91978"/>
                    <a:gd name="connsiteX15" fmla="*/ 61445 w 68651"/>
                    <a:gd name="connsiteY15" fmla="*/ 9938 h 91978"/>
                    <a:gd name="connsiteX16" fmla="*/ 38351 w 68651"/>
                    <a:gd name="connsiteY16" fmla="*/ 0 h 91978"/>
                    <a:gd name="connsiteX17" fmla="*/ 18744 w 68651"/>
                    <a:gd name="connsiteY17" fmla="*/ 3720 h 91978"/>
                    <a:gd name="connsiteX18" fmla="*/ 3720 w 68651"/>
                    <a:gd name="connsiteY18" fmla="*/ 11412 h 91978"/>
                    <a:gd name="connsiteX19" fmla="*/ 9561 w 68651"/>
                    <a:gd name="connsiteY19" fmla="*/ 21584 h 91978"/>
                    <a:gd name="connsiteX20" fmla="*/ 21476 w 68651"/>
                    <a:gd name="connsiteY20" fmla="*/ 15132 h 91978"/>
                    <a:gd name="connsiteX21" fmla="*/ 35871 w 68651"/>
                    <a:gd name="connsiteY21" fmla="*/ 12275 h 91978"/>
                    <a:gd name="connsiteX22" fmla="*/ 50266 w 68651"/>
                    <a:gd name="connsiteY22" fmla="*/ 19104 h 91978"/>
                    <a:gd name="connsiteX23" fmla="*/ 53986 w 68651"/>
                    <a:gd name="connsiteY23" fmla="*/ 34380 h 91978"/>
                    <a:gd name="connsiteX24" fmla="*/ 13029 w 68651"/>
                    <a:gd name="connsiteY24" fmla="*/ 45180 h 91978"/>
                    <a:gd name="connsiteX25" fmla="*/ 0 w 68651"/>
                    <a:gd name="connsiteY25" fmla="*/ 67160 h 91978"/>
                    <a:gd name="connsiteX26" fmla="*/ 7332 w 68651"/>
                    <a:gd name="connsiteY26" fmla="*/ 85527 h 91978"/>
                    <a:gd name="connsiteX27" fmla="*/ 25699 w 68651"/>
                    <a:gd name="connsiteY27" fmla="*/ 91978 h 919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68651" h="91978">
                      <a:moveTo>
                        <a:pt x="29922" y="80171"/>
                      </a:moveTo>
                      <a:cubicBezTo>
                        <a:pt x="25448" y="80171"/>
                        <a:pt x="21728" y="79183"/>
                        <a:pt x="18870" y="76936"/>
                      </a:cubicBezTo>
                      <a:cubicBezTo>
                        <a:pt x="16012" y="74708"/>
                        <a:pt x="14521" y="71095"/>
                        <a:pt x="14395" y="66135"/>
                      </a:cubicBezTo>
                      <a:cubicBezTo>
                        <a:pt x="14144" y="60420"/>
                        <a:pt x="17127" y="55838"/>
                        <a:pt x="23075" y="52117"/>
                      </a:cubicBezTo>
                      <a:cubicBezTo>
                        <a:pt x="29042" y="48523"/>
                        <a:pt x="39339" y="45792"/>
                        <a:pt x="53986" y="44048"/>
                      </a:cubicBezTo>
                      <a:lnTo>
                        <a:pt x="53986" y="68508"/>
                      </a:lnTo>
                      <a:cubicBezTo>
                        <a:pt x="49763" y="72353"/>
                        <a:pt x="45666" y="75211"/>
                        <a:pt x="41945" y="77188"/>
                      </a:cubicBezTo>
                      <a:cubicBezTo>
                        <a:pt x="38118" y="79183"/>
                        <a:pt x="34146" y="80171"/>
                        <a:pt x="29922" y="80171"/>
                      </a:cubicBezTo>
                      <a:close/>
                      <a:moveTo>
                        <a:pt x="25699" y="91978"/>
                      </a:moveTo>
                      <a:cubicBezTo>
                        <a:pt x="31163" y="91853"/>
                        <a:pt x="36248" y="90613"/>
                        <a:pt x="41083" y="88258"/>
                      </a:cubicBezTo>
                      <a:cubicBezTo>
                        <a:pt x="46043" y="85904"/>
                        <a:pt x="50518" y="82921"/>
                        <a:pt x="54741" y="79452"/>
                      </a:cubicBezTo>
                      <a:lnTo>
                        <a:pt x="55244" y="79452"/>
                      </a:lnTo>
                      <a:lnTo>
                        <a:pt x="56484" y="89876"/>
                      </a:lnTo>
                      <a:lnTo>
                        <a:pt x="68651" y="89876"/>
                      </a:lnTo>
                      <a:lnTo>
                        <a:pt x="68651" y="35997"/>
                      </a:lnTo>
                      <a:cubicBezTo>
                        <a:pt x="68651" y="24945"/>
                        <a:pt x="66297" y="16264"/>
                        <a:pt x="61445" y="9938"/>
                      </a:cubicBezTo>
                      <a:cubicBezTo>
                        <a:pt x="56610" y="3486"/>
                        <a:pt x="48900" y="126"/>
                        <a:pt x="38351" y="0"/>
                      </a:cubicBezTo>
                      <a:cubicBezTo>
                        <a:pt x="31145" y="126"/>
                        <a:pt x="24693" y="1366"/>
                        <a:pt x="18744" y="3720"/>
                      </a:cubicBezTo>
                      <a:cubicBezTo>
                        <a:pt x="12903" y="6200"/>
                        <a:pt x="7818" y="8680"/>
                        <a:pt x="3720" y="11412"/>
                      </a:cubicBezTo>
                      <a:lnTo>
                        <a:pt x="9561" y="21584"/>
                      </a:lnTo>
                      <a:cubicBezTo>
                        <a:pt x="13029" y="19104"/>
                        <a:pt x="17001" y="16983"/>
                        <a:pt x="21476" y="15132"/>
                      </a:cubicBezTo>
                      <a:cubicBezTo>
                        <a:pt x="25951" y="13263"/>
                        <a:pt x="30785" y="12275"/>
                        <a:pt x="35871" y="12275"/>
                      </a:cubicBezTo>
                      <a:cubicBezTo>
                        <a:pt x="42952" y="12400"/>
                        <a:pt x="47660" y="14755"/>
                        <a:pt x="50266" y="19104"/>
                      </a:cubicBezTo>
                      <a:cubicBezTo>
                        <a:pt x="52872" y="23327"/>
                        <a:pt x="54112" y="28413"/>
                        <a:pt x="53986" y="34380"/>
                      </a:cubicBezTo>
                      <a:cubicBezTo>
                        <a:pt x="35368" y="36374"/>
                        <a:pt x="21710" y="39969"/>
                        <a:pt x="13029" y="45180"/>
                      </a:cubicBezTo>
                      <a:cubicBezTo>
                        <a:pt x="4349" y="50392"/>
                        <a:pt x="0" y="57725"/>
                        <a:pt x="0" y="67160"/>
                      </a:cubicBezTo>
                      <a:cubicBezTo>
                        <a:pt x="251" y="75103"/>
                        <a:pt x="2606" y="81177"/>
                        <a:pt x="7332" y="85527"/>
                      </a:cubicBezTo>
                      <a:cubicBezTo>
                        <a:pt x="12059" y="89732"/>
                        <a:pt x="18259" y="91853"/>
                        <a:pt x="25699" y="91978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8" name="任意多边形: 形状 57"/>
                <p:cNvSpPr/>
                <p:nvPr/>
              </p:nvSpPr>
              <p:spPr>
                <a:xfrm>
                  <a:off x="10057249" y="962055"/>
                  <a:ext cx="70017" cy="89857"/>
                </a:xfrm>
                <a:custGeom>
                  <a:avLst/>
                  <a:gdLst>
                    <a:gd name="connsiteX0" fmla="*/ 0 w 70017"/>
                    <a:gd name="connsiteY0" fmla="*/ 89822 h 89857"/>
                    <a:gd name="connsiteX1" fmla="*/ 14647 w 70017"/>
                    <a:gd name="connsiteY1" fmla="*/ 89822 h 89857"/>
                    <a:gd name="connsiteX2" fmla="*/ 14647 w 70017"/>
                    <a:gd name="connsiteY2" fmla="*/ 26274 h 89857"/>
                    <a:gd name="connsiteX3" fmla="*/ 26562 w 70017"/>
                    <a:gd name="connsiteY3" fmla="*/ 16228 h 89857"/>
                    <a:gd name="connsiteX4" fmla="*/ 38729 w 70017"/>
                    <a:gd name="connsiteY4" fmla="*/ 12886 h 89857"/>
                    <a:gd name="connsiteX5" fmla="*/ 51399 w 70017"/>
                    <a:gd name="connsiteY5" fmla="*/ 18349 h 89857"/>
                    <a:gd name="connsiteX6" fmla="*/ 55370 w 70017"/>
                    <a:gd name="connsiteY6" fmla="*/ 36231 h 89857"/>
                    <a:gd name="connsiteX7" fmla="*/ 55370 w 70017"/>
                    <a:gd name="connsiteY7" fmla="*/ 89858 h 89857"/>
                    <a:gd name="connsiteX8" fmla="*/ 70017 w 70017"/>
                    <a:gd name="connsiteY8" fmla="*/ 89858 h 89857"/>
                    <a:gd name="connsiteX9" fmla="*/ 70017 w 70017"/>
                    <a:gd name="connsiteY9" fmla="*/ 34380 h 89857"/>
                    <a:gd name="connsiteX10" fmla="*/ 63439 w 70017"/>
                    <a:gd name="connsiteY10" fmla="*/ 8806 h 89857"/>
                    <a:gd name="connsiteX11" fmla="*/ 43203 w 70017"/>
                    <a:gd name="connsiteY11" fmla="*/ 0 h 89857"/>
                    <a:gd name="connsiteX12" fmla="*/ 27191 w 70017"/>
                    <a:gd name="connsiteY12" fmla="*/ 4349 h 89857"/>
                    <a:gd name="connsiteX13" fmla="*/ 13784 w 70017"/>
                    <a:gd name="connsiteY13" fmla="*/ 14773 h 89857"/>
                    <a:gd name="connsiteX14" fmla="*/ 13281 w 70017"/>
                    <a:gd name="connsiteY14" fmla="*/ 14773 h 89857"/>
                    <a:gd name="connsiteX15" fmla="*/ 12041 w 70017"/>
                    <a:gd name="connsiteY15" fmla="*/ 2229 h 89857"/>
                    <a:gd name="connsiteX16" fmla="*/ 0 w 70017"/>
                    <a:gd name="connsiteY16" fmla="*/ 2229 h 89857"/>
                    <a:gd name="connsiteX17" fmla="*/ 0 w 70017"/>
                    <a:gd name="connsiteY17" fmla="*/ 89822 h 89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70017" h="89857">
                      <a:moveTo>
                        <a:pt x="0" y="89822"/>
                      </a:moveTo>
                      <a:lnTo>
                        <a:pt x="14647" y="89822"/>
                      </a:lnTo>
                      <a:lnTo>
                        <a:pt x="14647" y="26274"/>
                      </a:lnTo>
                      <a:cubicBezTo>
                        <a:pt x="18996" y="21799"/>
                        <a:pt x="22967" y="18457"/>
                        <a:pt x="26562" y="16228"/>
                      </a:cubicBezTo>
                      <a:cubicBezTo>
                        <a:pt x="30282" y="14000"/>
                        <a:pt x="34254" y="12886"/>
                        <a:pt x="38729" y="12886"/>
                      </a:cubicBezTo>
                      <a:cubicBezTo>
                        <a:pt x="44444" y="12760"/>
                        <a:pt x="48667" y="14629"/>
                        <a:pt x="51399" y="18349"/>
                      </a:cubicBezTo>
                      <a:cubicBezTo>
                        <a:pt x="54004" y="22069"/>
                        <a:pt x="55370" y="28036"/>
                        <a:pt x="55370" y="36231"/>
                      </a:cubicBezTo>
                      <a:lnTo>
                        <a:pt x="55370" y="89858"/>
                      </a:lnTo>
                      <a:lnTo>
                        <a:pt x="70017" y="89858"/>
                      </a:lnTo>
                      <a:lnTo>
                        <a:pt x="70017" y="34380"/>
                      </a:lnTo>
                      <a:cubicBezTo>
                        <a:pt x="70017" y="23076"/>
                        <a:pt x="67914" y="14521"/>
                        <a:pt x="63439" y="8806"/>
                      </a:cubicBezTo>
                      <a:cubicBezTo>
                        <a:pt x="59090" y="2965"/>
                        <a:pt x="52387" y="0"/>
                        <a:pt x="43203" y="0"/>
                      </a:cubicBezTo>
                      <a:cubicBezTo>
                        <a:pt x="37237" y="126"/>
                        <a:pt x="31899" y="1492"/>
                        <a:pt x="27191" y="4349"/>
                      </a:cubicBezTo>
                      <a:cubicBezTo>
                        <a:pt x="22482" y="7081"/>
                        <a:pt x="18007" y="10549"/>
                        <a:pt x="13784" y="14773"/>
                      </a:cubicBezTo>
                      <a:lnTo>
                        <a:pt x="13281" y="14773"/>
                      </a:lnTo>
                      <a:lnTo>
                        <a:pt x="12041" y="2229"/>
                      </a:lnTo>
                      <a:lnTo>
                        <a:pt x="0" y="2229"/>
                      </a:lnTo>
                      <a:lnTo>
                        <a:pt x="0" y="89822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dirty="0"/>
                </a:p>
              </p:txBody>
            </p:sp>
          </p:grpSp>
          <p:grpSp>
            <p:nvGrpSpPr>
              <p:cNvPr id="45" name="组合 44"/>
              <p:cNvGrpSpPr/>
              <p:nvPr userDrawn="1"/>
            </p:nvGrpSpPr>
            <p:grpSpPr>
              <a:xfrm>
                <a:off x="3550756" y="3868116"/>
                <a:ext cx="359700" cy="92032"/>
                <a:chOff x="10146307" y="961965"/>
                <a:chExt cx="359700" cy="92032"/>
              </a:xfrm>
            </p:grpSpPr>
            <p:sp>
              <p:nvSpPr>
                <p:cNvPr id="47" name="任意多边形: 形状 46"/>
                <p:cNvSpPr/>
                <p:nvPr/>
              </p:nvSpPr>
              <p:spPr>
                <a:xfrm>
                  <a:off x="10146307" y="1031389"/>
                  <a:ext cx="21224" cy="22608"/>
                </a:xfrm>
                <a:custGeom>
                  <a:avLst/>
                  <a:gdLst>
                    <a:gd name="connsiteX0" fmla="*/ 10675 w 21224"/>
                    <a:gd name="connsiteY0" fmla="*/ 22608 h 22608"/>
                    <a:gd name="connsiteX1" fmla="*/ 18115 w 21224"/>
                    <a:gd name="connsiteY1" fmla="*/ 19499 h 22608"/>
                    <a:gd name="connsiteX2" fmla="*/ 21224 w 21224"/>
                    <a:gd name="connsiteY2" fmla="*/ 11430 h 22608"/>
                    <a:gd name="connsiteX3" fmla="*/ 18115 w 21224"/>
                    <a:gd name="connsiteY3" fmla="*/ 3235 h 22608"/>
                    <a:gd name="connsiteX4" fmla="*/ 10675 w 21224"/>
                    <a:gd name="connsiteY4" fmla="*/ 0 h 22608"/>
                    <a:gd name="connsiteX5" fmla="*/ 3109 w 21224"/>
                    <a:gd name="connsiteY5" fmla="*/ 3235 h 22608"/>
                    <a:gd name="connsiteX6" fmla="*/ 0 w 21224"/>
                    <a:gd name="connsiteY6" fmla="*/ 11430 h 22608"/>
                    <a:gd name="connsiteX7" fmla="*/ 3109 w 21224"/>
                    <a:gd name="connsiteY7" fmla="*/ 19499 h 22608"/>
                    <a:gd name="connsiteX8" fmla="*/ 10675 w 21224"/>
                    <a:gd name="connsiteY8" fmla="*/ 22608 h 226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1224" h="22608">
                      <a:moveTo>
                        <a:pt x="10675" y="22608"/>
                      </a:moveTo>
                      <a:cubicBezTo>
                        <a:pt x="13659" y="22482"/>
                        <a:pt x="16139" y="21494"/>
                        <a:pt x="18115" y="19499"/>
                      </a:cubicBezTo>
                      <a:cubicBezTo>
                        <a:pt x="20110" y="17504"/>
                        <a:pt x="21224" y="14791"/>
                        <a:pt x="21224" y="11430"/>
                      </a:cubicBezTo>
                      <a:cubicBezTo>
                        <a:pt x="21224" y="8069"/>
                        <a:pt x="20110" y="5356"/>
                        <a:pt x="18115" y="3235"/>
                      </a:cubicBezTo>
                      <a:cubicBezTo>
                        <a:pt x="16139" y="1132"/>
                        <a:pt x="13641" y="0"/>
                        <a:pt x="10675" y="0"/>
                      </a:cubicBezTo>
                      <a:cubicBezTo>
                        <a:pt x="7710" y="0"/>
                        <a:pt x="5212" y="1114"/>
                        <a:pt x="3109" y="3235"/>
                      </a:cubicBezTo>
                      <a:cubicBezTo>
                        <a:pt x="1114" y="5338"/>
                        <a:pt x="126" y="8069"/>
                        <a:pt x="0" y="11430"/>
                      </a:cubicBezTo>
                      <a:cubicBezTo>
                        <a:pt x="126" y="14773"/>
                        <a:pt x="1114" y="17504"/>
                        <a:pt x="3109" y="19499"/>
                      </a:cubicBezTo>
                      <a:cubicBezTo>
                        <a:pt x="5212" y="21476"/>
                        <a:pt x="7692" y="22482"/>
                        <a:pt x="10675" y="22608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48" name="任意多边形: 形状 47"/>
                <p:cNvSpPr/>
                <p:nvPr/>
              </p:nvSpPr>
              <p:spPr>
                <a:xfrm>
                  <a:off x="10192350" y="961965"/>
                  <a:ext cx="69388" cy="92032"/>
                </a:xfrm>
                <a:custGeom>
                  <a:avLst/>
                  <a:gdLst>
                    <a:gd name="connsiteX0" fmla="*/ 41209 w 69388"/>
                    <a:gd name="connsiteY0" fmla="*/ 92032 h 92032"/>
                    <a:gd name="connsiteX1" fmla="*/ 56359 w 69388"/>
                    <a:gd name="connsiteY1" fmla="*/ 89049 h 92032"/>
                    <a:gd name="connsiteX2" fmla="*/ 69388 w 69388"/>
                    <a:gd name="connsiteY2" fmla="*/ 80854 h 92032"/>
                    <a:gd name="connsiteX3" fmla="*/ 63188 w 69388"/>
                    <a:gd name="connsiteY3" fmla="*/ 71042 h 92032"/>
                    <a:gd name="connsiteX4" fmla="*/ 53753 w 69388"/>
                    <a:gd name="connsiteY4" fmla="*/ 77242 h 92032"/>
                    <a:gd name="connsiteX5" fmla="*/ 42449 w 69388"/>
                    <a:gd name="connsiteY5" fmla="*/ 79722 h 92032"/>
                    <a:gd name="connsiteX6" fmla="*/ 22842 w 69388"/>
                    <a:gd name="connsiteY6" fmla="*/ 70538 h 92032"/>
                    <a:gd name="connsiteX7" fmla="*/ 15402 w 69388"/>
                    <a:gd name="connsiteY7" fmla="*/ 46205 h 92032"/>
                    <a:gd name="connsiteX8" fmla="*/ 23094 w 69388"/>
                    <a:gd name="connsiteY8" fmla="*/ 21620 h 92032"/>
                    <a:gd name="connsiteX9" fmla="*/ 42826 w 69388"/>
                    <a:gd name="connsiteY9" fmla="*/ 12311 h 92032"/>
                    <a:gd name="connsiteX10" fmla="*/ 52261 w 69388"/>
                    <a:gd name="connsiteY10" fmla="*/ 14413 h 92032"/>
                    <a:gd name="connsiteX11" fmla="*/ 60331 w 69388"/>
                    <a:gd name="connsiteY11" fmla="*/ 20128 h 92032"/>
                    <a:gd name="connsiteX12" fmla="*/ 68022 w 69388"/>
                    <a:gd name="connsiteY12" fmla="*/ 10316 h 92032"/>
                    <a:gd name="connsiteX13" fmla="*/ 57096 w 69388"/>
                    <a:gd name="connsiteY13" fmla="*/ 3109 h 92032"/>
                    <a:gd name="connsiteX14" fmla="*/ 42323 w 69388"/>
                    <a:gd name="connsiteY14" fmla="*/ 0 h 92032"/>
                    <a:gd name="connsiteX15" fmla="*/ 21350 w 69388"/>
                    <a:gd name="connsiteY15" fmla="*/ 5463 h 92032"/>
                    <a:gd name="connsiteX16" fmla="*/ 5967 w 69388"/>
                    <a:gd name="connsiteY16" fmla="*/ 21224 h 92032"/>
                    <a:gd name="connsiteX17" fmla="*/ 0 w 69388"/>
                    <a:gd name="connsiteY17" fmla="*/ 46169 h 92032"/>
                    <a:gd name="connsiteX18" fmla="*/ 11915 w 69388"/>
                    <a:gd name="connsiteY18" fmla="*/ 79937 h 92032"/>
                    <a:gd name="connsiteX19" fmla="*/ 41209 w 69388"/>
                    <a:gd name="connsiteY19" fmla="*/ 92032 h 920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9388" h="92032">
                      <a:moveTo>
                        <a:pt x="41209" y="92032"/>
                      </a:moveTo>
                      <a:cubicBezTo>
                        <a:pt x="46421" y="92032"/>
                        <a:pt x="51506" y="91044"/>
                        <a:pt x="56359" y="89049"/>
                      </a:cubicBezTo>
                      <a:cubicBezTo>
                        <a:pt x="61193" y="87180"/>
                        <a:pt x="65542" y="84448"/>
                        <a:pt x="69388" y="80854"/>
                      </a:cubicBezTo>
                      <a:lnTo>
                        <a:pt x="63188" y="71042"/>
                      </a:lnTo>
                      <a:cubicBezTo>
                        <a:pt x="60331" y="73647"/>
                        <a:pt x="57222" y="75642"/>
                        <a:pt x="53753" y="77242"/>
                      </a:cubicBezTo>
                      <a:cubicBezTo>
                        <a:pt x="50285" y="78859"/>
                        <a:pt x="46546" y="79722"/>
                        <a:pt x="42449" y="79722"/>
                      </a:cubicBezTo>
                      <a:cubicBezTo>
                        <a:pt x="34254" y="79596"/>
                        <a:pt x="27676" y="76487"/>
                        <a:pt x="22842" y="70538"/>
                      </a:cubicBezTo>
                      <a:cubicBezTo>
                        <a:pt x="18008" y="64464"/>
                        <a:pt x="15527" y="56395"/>
                        <a:pt x="15402" y="46205"/>
                      </a:cubicBezTo>
                      <a:cubicBezTo>
                        <a:pt x="15527" y="35907"/>
                        <a:pt x="18133" y="27712"/>
                        <a:pt x="23094" y="21620"/>
                      </a:cubicBezTo>
                      <a:cubicBezTo>
                        <a:pt x="28179" y="15545"/>
                        <a:pt x="34757" y="12436"/>
                        <a:pt x="42826" y="12311"/>
                      </a:cubicBezTo>
                      <a:cubicBezTo>
                        <a:pt x="46295" y="12311"/>
                        <a:pt x="49530" y="13047"/>
                        <a:pt x="52261" y="14413"/>
                      </a:cubicBezTo>
                      <a:cubicBezTo>
                        <a:pt x="55119" y="15905"/>
                        <a:pt x="57850" y="17756"/>
                        <a:pt x="60331" y="20128"/>
                      </a:cubicBezTo>
                      <a:lnTo>
                        <a:pt x="68022" y="10316"/>
                      </a:lnTo>
                      <a:cubicBezTo>
                        <a:pt x="64787" y="7458"/>
                        <a:pt x="61193" y="5104"/>
                        <a:pt x="57096" y="3109"/>
                      </a:cubicBezTo>
                      <a:cubicBezTo>
                        <a:pt x="52872" y="1114"/>
                        <a:pt x="48038" y="126"/>
                        <a:pt x="42323" y="0"/>
                      </a:cubicBezTo>
                      <a:cubicBezTo>
                        <a:pt x="34757" y="0"/>
                        <a:pt x="27802" y="1869"/>
                        <a:pt x="21350" y="5463"/>
                      </a:cubicBezTo>
                      <a:cubicBezTo>
                        <a:pt x="15024" y="9058"/>
                        <a:pt x="9938" y="14269"/>
                        <a:pt x="5967" y="21224"/>
                      </a:cubicBezTo>
                      <a:cubicBezTo>
                        <a:pt x="2121" y="28054"/>
                        <a:pt x="126" y="36374"/>
                        <a:pt x="0" y="46169"/>
                      </a:cubicBezTo>
                      <a:cubicBezTo>
                        <a:pt x="252" y="60690"/>
                        <a:pt x="4223" y="71994"/>
                        <a:pt x="11915" y="79937"/>
                      </a:cubicBezTo>
                      <a:cubicBezTo>
                        <a:pt x="19499" y="87935"/>
                        <a:pt x="29294" y="91906"/>
                        <a:pt x="41209" y="92032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49" name="任意多边形: 形状 48"/>
                <p:cNvSpPr/>
                <p:nvPr/>
              </p:nvSpPr>
              <p:spPr>
                <a:xfrm>
                  <a:off x="10279225" y="962037"/>
                  <a:ext cx="81321" cy="91960"/>
                </a:xfrm>
                <a:custGeom>
                  <a:avLst/>
                  <a:gdLst>
                    <a:gd name="connsiteX0" fmla="*/ 40723 w 81321"/>
                    <a:gd name="connsiteY0" fmla="*/ 79668 h 91960"/>
                    <a:gd name="connsiteX1" fmla="*/ 22356 w 81321"/>
                    <a:gd name="connsiteY1" fmla="*/ 70484 h 91960"/>
                    <a:gd name="connsiteX2" fmla="*/ 15402 w 81321"/>
                    <a:gd name="connsiteY2" fmla="*/ 46151 h 91960"/>
                    <a:gd name="connsiteX3" fmla="*/ 22356 w 81321"/>
                    <a:gd name="connsiteY3" fmla="*/ 21566 h 91960"/>
                    <a:gd name="connsiteX4" fmla="*/ 40723 w 81321"/>
                    <a:gd name="connsiteY4" fmla="*/ 12257 h 91960"/>
                    <a:gd name="connsiteX5" fmla="*/ 59090 w 81321"/>
                    <a:gd name="connsiteY5" fmla="*/ 21566 h 91960"/>
                    <a:gd name="connsiteX6" fmla="*/ 66171 w 81321"/>
                    <a:gd name="connsiteY6" fmla="*/ 46151 h 91960"/>
                    <a:gd name="connsiteX7" fmla="*/ 59090 w 81321"/>
                    <a:gd name="connsiteY7" fmla="*/ 70484 h 91960"/>
                    <a:gd name="connsiteX8" fmla="*/ 40723 w 81321"/>
                    <a:gd name="connsiteY8" fmla="*/ 79668 h 91960"/>
                    <a:gd name="connsiteX9" fmla="*/ 40723 w 81321"/>
                    <a:gd name="connsiteY9" fmla="*/ 91960 h 91960"/>
                    <a:gd name="connsiteX10" fmla="*/ 60834 w 81321"/>
                    <a:gd name="connsiteY10" fmla="*/ 86497 h 91960"/>
                    <a:gd name="connsiteX11" fmla="*/ 75606 w 81321"/>
                    <a:gd name="connsiteY11" fmla="*/ 70862 h 91960"/>
                    <a:gd name="connsiteX12" fmla="*/ 81321 w 81321"/>
                    <a:gd name="connsiteY12" fmla="*/ 46169 h 91960"/>
                    <a:gd name="connsiteX13" fmla="*/ 75606 w 81321"/>
                    <a:gd name="connsiteY13" fmla="*/ 21224 h 91960"/>
                    <a:gd name="connsiteX14" fmla="*/ 60834 w 81321"/>
                    <a:gd name="connsiteY14" fmla="*/ 5463 h 91960"/>
                    <a:gd name="connsiteX15" fmla="*/ 40723 w 81321"/>
                    <a:gd name="connsiteY15" fmla="*/ 0 h 91960"/>
                    <a:gd name="connsiteX16" fmla="*/ 20613 w 81321"/>
                    <a:gd name="connsiteY16" fmla="*/ 5463 h 91960"/>
                    <a:gd name="connsiteX17" fmla="*/ 5841 w 81321"/>
                    <a:gd name="connsiteY17" fmla="*/ 21224 h 91960"/>
                    <a:gd name="connsiteX18" fmla="*/ 0 w 81321"/>
                    <a:gd name="connsiteY18" fmla="*/ 46169 h 91960"/>
                    <a:gd name="connsiteX19" fmla="*/ 5841 w 81321"/>
                    <a:gd name="connsiteY19" fmla="*/ 70862 h 91960"/>
                    <a:gd name="connsiteX20" fmla="*/ 20613 w 81321"/>
                    <a:gd name="connsiteY20" fmla="*/ 86497 h 91960"/>
                    <a:gd name="connsiteX21" fmla="*/ 40723 w 81321"/>
                    <a:gd name="connsiteY21" fmla="*/ 91960 h 91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81321" h="91960">
                      <a:moveTo>
                        <a:pt x="40723" y="79668"/>
                      </a:moveTo>
                      <a:cubicBezTo>
                        <a:pt x="33032" y="79542"/>
                        <a:pt x="26939" y="76433"/>
                        <a:pt x="22356" y="70484"/>
                      </a:cubicBezTo>
                      <a:cubicBezTo>
                        <a:pt x="17756" y="64410"/>
                        <a:pt x="15527" y="56341"/>
                        <a:pt x="15402" y="46151"/>
                      </a:cubicBezTo>
                      <a:cubicBezTo>
                        <a:pt x="15527" y="35853"/>
                        <a:pt x="17756" y="27658"/>
                        <a:pt x="22356" y="21566"/>
                      </a:cubicBezTo>
                      <a:cubicBezTo>
                        <a:pt x="26957" y="15491"/>
                        <a:pt x="33032" y="12382"/>
                        <a:pt x="40723" y="12257"/>
                      </a:cubicBezTo>
                      <a:cubicBezTo>
                        <a:pt x="48415" y="12382"/>
                        <a:pt x="54508" y="15491"/>
                        <a:pt x="59090" y="21566"/>
                      </a:cubicBezTo>
                      <a:cubicBezTo>
                        <a:pt x="63673" y="27640"/>
                        <a:pt x="66045" y="35835"/>
                        <a:pt x="66171" y="46151"/>
                      </a:cubicBezTo>
                      <a:cubicBezTo>
                        <a:pt x="66045" y="56323"/>
                        <a:pt x="63691" y="64392"/>
                        <a:pt x="59090" y="70484"/>
                      </a:cubicBezTo>
                      <a:cubicBezTo>
                        <a:pt x="54508" y="76433"/>
                        <a:pt x="48433" y="79542"/>
                        <a:pt x="40723" y="79668"/>
                      </a:cubicBezTo>
                      <a:close/>
                      <a:moveTo>
                        <a:pt x="40723" y="91960"/>
                      </a:moveTo>
                      <a:cubicBezTo>
                        <a:pt x="47930" y="91960"/>
                        <a:pt x="54633" y="90091"/>
                        <a:pt x="60834" y="86497"/>
                      </a:cubicBezTo>
                      <a:cubicBezTo>
                        <a:pt x="66908" y="82903"/>
                        <a:pt x="71886" y="77691"/>
                        <a:pt x="75606" y="70862"/>
                      </a:cubicBezTo>
                      <a:cubicBezTo>
                        <a:pt x="79326" y="64158"/>
                        <a:pt x="81321" y="55838"/>
                        <a:pt x="81321" y="46169"/>
                      </a:cubicBezTo>
                      <a:cubicBezTo>
                        <a:pt x="81321" y="36356"/>
                        <a:pt x="79326" y="28054"/>
                        <a:pt x="75606" y="21224"/>
                      </a:cubicBezTo>
                      <a:cubicBezTo>
                        <a:pt x="71886" y="14269"/>
                        <a:pt x="66926" y="9058"/>
                        <a:pt x="60834" y="5463"/>
                      </a:cubicBezTo>
                      <a:cubicBezTo>
                        <a:pt x="54633" y="1869"/>
                        <a:pt x="47930" y="0"/>
                        <a:pt x="40723" y="0"/>
                      </a:cubicBezTo>
                      <a:cubicBezTo>
                        <a:pt x="33391" y="0"/>
                        <a:pt x="26706" y="1869"/>
                        <a:pt x="20613" y="5463"/>
                      </a:cubicBezTo>
                      <a:cubicBezTo>
                        <a:pt x="14539" y="9058"/>
                        <a:pt x="9561" y="14269"/>
                        <a:pt x="5841" y="21224"/>
                      </a:cubicBezTo>
                      <a:cubicBezTo>
                        <a:pt x="2121" y="28054"/>
                        <a:pt x="126" y="36374"/>
                        <a:pt x="0" y="46169"/>
                      </a:cubicBezTo>
                      <a:cubicBezTo>
                        <a:pt x="126" y="55856"/>
                        <a:pt x="2103" y="64158"/>
                        <a:pt x="5841" y="70862"/>
                      </a:cubicBezTo>
                      <a:cubicBezTo>
                        <a:pt x="9561" y="77691"/>
                        <a:pt x="14521" y="82903"/>
                        <a:pt x="20613" y="86497"/>
                      </a:cubicBezTo>
                      <a:cubicBezTo>
                        <a:pt x="26706" y="90091"/>
                        <a:pt x="33409" y="91960"/>
                        <a:pt x="40723" y="91960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50" name="任意多边形: 形状 49"/>
                <p:cNvSpPr/>
                <p:nvPr/>
              </p:nvSpPr>
              <p:spPr>
                <a:xfrm>
                  <a:off x="10385203" y="962019"/>
                  <a:ext cx="120804" cy="89875"/>
                </a:xfrm>
                <a:custGeom>
                  <a:avLst/>
                  <a:gdLst>
                    <a:gd name="connsiteX0" fmla="*/ 36 w 120804"/>
                    <a:gd name="connsiteY0" fmla="*/ 89858 h 89875"/>
                    <a:gd name="connsiteX1" fmla="*/ 14683 w 120804"/>
                    <a:gd name="connsiteY1" fmla="*/ 89858 h 89875"/>
                    <a:gd name="connsiteX2" fmla="*/ 14683 w 120804"/>
                    <a:gd name="connsiteY2" fmla="*/ 26310 h 89875"/>
                    <a:gd name="connsiteX3" fmla="*/ 26220 w 120804"/>
                    <a:gd name="connsiteY3" fmla="*/ 16138 h 89875"/>
                    <a:gd name="connsiteX4" fmla="*/ 36770 w 120804"/>
                    <a:gd name="connsiteY4" fmla="*/ 12904 h 89875"/>
                    <a:gd name="connsiteX5" fmla="*/ 49062 w 120804"/>
                    <a:gd name="connsiteY5" fmla="*/ 18367 h 89875"/>
                    <a:gd name="connsiteX6" fmla="*/ 53034 w 120804"/>
                    <a:gd name="connsiteY6" fmla="*/ 36249 h 89875"/>
                    <a:gd name="connsiteX7" fmla="*/ 53034 w 120804"/>
                    <a:gd name="connsiteY7" fmla="*/ 89876 h 89875"/>
                    <a:gd name="connsiteX8" fmla="*/ 67807 w 120804"/>
                    <a:gd name="connsiteY8" fmla="*/ 89876 h 89875"/>
                    <a:gd name="connsiteX9" fmla="*/ 67807 w 120804"/>
                    <a:gd name="connsiteY9" fmla="*/ 26310 h 89875"/>
                    <a:gd name="connsiteX10" fmla="*/ 79344 w 120804"/>
                    <a:gd name="connsiteY10" fmla="*/ 16138 h 89875"/>
                    <a:gd name="connsiteX11" fmla="*/ 89894 w 120804"/>
                    <a:gd name="connsiteY11" fmla="*/ 12904 h 89875"/>
                    <a:gd name="connsiteX12" fmla="*/ 102186 w 120804"/>
                    <a:gd name="connsiteY12" fmla="*/ 18367 h 89875"/>
                    <a:gd name="connsiteX13" fmla="*/ 106158 w 120804"/>
                    <a:gd name="connsiteY13" fmla="*/ 36249 h 89875"/>
                    <a:gd name="connsiteX14" fmla="*/ 106158 w 120804"/>
                    <a:gd name="connsiteY14" fmla="*/ 89876 h 89875"/>
                    <a:gd name="connsiteX15" fmla="*/ 120805 w 120804"/>
                    <a:gd name="connsiteY15" fmla="*/ 89876 h 89875"/>
                    <a:gd name="connsiteX16" fmla="*/ 120805 w 120804"/>
                    <a:gd name="connsiteY16" fmla="*/ 34398 h 89875"/>
                    <a:gd name="connsiteX17" fmla="*/ 114353 w 120804"/>
                    <a:gd name="connsiteY17" fmla="*/ 8824 h 89875"/>
                    <a:gd name="connsiteX18" fmla="*/ 94243 w 120804"/>
                    <a:gd name="connsiteY18" fmla="*/ 18 h 89875"/>
                    <a:gd name="connsiteX19" fmla="*/ 79218 w 120804"/>
                    <a:gd name="connsiteY19" fmla="*/ 4727 h 89875"/>
                    <a:gd name="connsiteX20" fmla="*/ 65308 w 120804"/>
                    <a:gd name="connsiteY20" fmla="*/ 16767 h 89875"/>
                    <a:gd name="connsiteX21" fmla="*/ 56862 w 120804"/>
                    <a:gd name="connsiteY21" fmla="*/ 4475 h 89875"/>
                    <a:gd name="connsiteX22" fmla="*/ 41101 w 120804"/>
                    <a:gd name="connsiteY22" fmla="*/ 0 h 89875"/>
                    <a:gd name="connsiteX23" fmla="*/ 26328 w 120804"/>
                    <a:gd name="connsiteY23" fmla="*/ 4349 h 89875"/>
                    <a:gd name="connsiteX24" fmla="*/ 13784 w 120804"/>
                    <a:gd name="connsiteY24" fmla="*/ 15024 h 89875"/>
                    <a:gd name="connsiteX25" fmla="*/ 13281 w 120804"/>
                    <a:gd name="connsiteY25" fmla="*/ 15024 h 89875"/>
                    <a:gd name="connsiteX26" fmla="*/ 12041 w 120804"/>
                    <a:gd name="connsiteY26" fmla="*/ 2246 h 89875"/>
                    <a:gd name="connsiteX27" fmla="*/ 0 w 120804"/>
                    <a:gd name="connsiteY27" fmla="*/ 2246 h 89875"/>
                    <a:gd name="connsiteX28" fmla="*/ 0 w 120804"/>
                    <a:gd name="connsiteY28" fmla="*/ 89858 h 89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804" h="89875">
                      <a:moveTo>
                        <a:pt x="36" y="89858"/>
                      </a:moveTo>
                      <a:lnTo>
                        <a:pt x="14683" y="89858"/>
                      </a:lnTo>
                      <a:lnTo>
                        <a:pt x="14683" y="26310"/>
                      </a:lnTo>
                      <a:cubicBezTo>
                        <a:pt x="18654" y="21710"/>
                        <a:pt x="22626" y="18367"/>
                        <a:pt x="26220" y="16138"/>
                      </a:cubicBezTo>
                      <a:cubicBezTo>
                        <a:pt x="29941" y="14036"/>
                        <a:pt x="33427" y="12904"/>
                        <a:pt x="36770" y="12904"/>
                      </a:cubicBezTo>
                      <a:cubicBezTo>
                        <a:pt x="42359" y="12778"/>
                        <a:pt x="46456" y="14647"/>
                        <a:pt x="49062" y="18367"/>
                      </a:cubicBezTo>
                      <a:cubicBezTo>
                        <a:pt x="51794" y="22087"/>
                        <a:pt x="53160" y="28054"/>
                        <a:pt x="53034" y="36249"/>
                      </a:cubicBezTo>
                      <a:lnTo>
                        <a:pt x="53034" y="89876"/>
                      </a:lnTo>
                      <a:lnTo>
                        <a:pt x="67807" y="89876"/>
                      </a:lnTo>
                      <a:lnTo>
                        <a:pt x="67807" y="26310"/>
                      </a:lnTo>
                      <a:cubicBezTo>
                        <a:pt x="71904" y="21710"/>
                        <a:pt x="75750" y="18367"/>
                        <a:pt x="79344" y="16138"/>
                      </a:cubicBezTo>
                      <a:cubicBezTo>
                        <a:pt x="82939" y="14036"/>
                        <a:pt x="86551" y="12904"/>
                        <a:pt x="89894" y="12904"/>
                      </a:cubicBezTo>
                      <a:cubicBezTo>
                        <a:pt x="95357" y="12778"/>
                        <a:pt x="99580" y="14647"/>
                        <a:pt x="102186" y="18367"/>
                      </a:cubicBezTo>
                      <a:cubicBezTo>
                        <a:pt x="104918" y="22087"/>
                        <a:pt x="106158" y="28054"/>
                        <a:pt x="106158" y="36249"/>
                      </a:cubicBezTo>
                      <a:lnTo>
                        <a:pt x="106158" y="89876"/>
                      </a:lnTo>
                      <a:lnTo>
                        <a:pt x="120805" y="89876"/>
                      </a:lnTo>
                      <a:lnTo>
                        <a:pt x="120805" y="34398"/>
                      </a:lnTo>
                      <a:cubicBezTo>
                        <a:pt x="120805" y="23093"/>
                        <a:pt x="118702" y="14539"/>
                        <a:pt x="114353" y="8824"/>
                      </a:cubicBezTo>
                      <a:cubicBezTo>
                        <a:pt x="109878" y="2983"/>
                        <a:pt x="103175" y="18"/>
                        <a:pt x="94243" y="18"/>
                      </a:cubicBezTo>
                      <a:cubicBezTo>
                        <a:pt x="88905" y="144"/>
                        <a:pt x="83945" y="1635"/>
                        <a:pt x="79218" y="4727"/>
                      </a:cubicBezTo>
                      <a:cubicBezTo>
                        <a:pt x="74384" y="7710"/>
                        <a:pt x="69783" y="11807"/>
                        <a:pt x="65308" y="16767"/>
                      </a:cubicBezTo>
                      <a:cubicBezTo>
                        <a:pt x="63565" y="11556"/>
                        <a:pt x="60834" y="7458"/>
                        <a:pt x="56862" y="4475"/>
                      </a:cubicBezTo>
                      <a:cubicBezTo>
                        <a:pt x="53016" y="1617"/>
                        <a:pt x="47804" y="0"/>
                        <a:pt x="41101" y="0"/>
                      </a:cubicBezTo>
                      <a:cubicBezTo>
                        <a:pt x="35889" y="126"/>
                        <a:pt x="30929" y="1492"/>
                        <a:pt x="26328" y="4349"/>
                      </a:cubicBezTo>
                      <a:cubicBezTo>
                        <a:pt x="21853" y="7207"/>
                        <a:pt x="17648" y="10675"/>
                        <a:pt x="13784" y="15024"/>
                      </a:cubicBezTo>
                      <a:lnTo>
                        <a:pt x="13281" y="15024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89858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</p:grpSp>
          <p:sp>
            <p:nvSpPr>
              <p:cNvPr id="46" name="任意多边形: 形状 45"/>
              <p:cNvSpPr/>
              <p:nvPr userDrawn="1"/>
            </p:nvSpPr>
            <p:spPr>
              <a:xfrm>
                <a:off x="1086173" y="3300162"/>
                <a:ext cx="781977" cy="781959"/>
              </a:xfrm>
              <a:custGeom>
                <a:avLst/>
                <a:gdLst>
                  <a:gd name="connsiteX0" fmla="*/ 0 w 781977"/>
                  <a:gd name="connsiteY0" fmla="*/ 390989 h 781959"/>
                  <a:gd name="connsiteX1" fmla="*/ 34757 w 781977"/>
                  <a:gd name="connsiteY1" fmla="*/ 552355 h 781959"/>
                  <a:gd name="connsiteX2" fmla="*/ 114820 w 781977"/>
                  <a:gd name="connsiteY2" fmla="*/ 552355 h 781959"/>
                  <a:gd name="connsiteX3" fmla="*/ 266877 w 781977"/>
                  <a:gd name="connsiteY3" fmla="*/ 552355 h 781959"/>
                  <a:gd name="connsiteX4" fmla="*/ 341351 w 781977"/>
                  <a:gd name="connsiteY4" fmla="*/ 465463 h 781959"/>
                  <a:gd name="connsiteX5" fmla="*/ 179985 w 781977"/>
                  <a:gd name="connsiteY5" fmla="*/ 378570 h 781959"/>
                  <a:gd name="connsiteX6" fmla="*/ 179985 w 781977"/>
                  <a:gd name="connsiteY6" fmla="*/ 204786 h 781959"/>
                  <a:gd name="connsiteX7" fmla="*/ 440644 w 781977"/>
                  <a:gd name="connsiteY7" fmla="*/ 204786 h 781959"/>
                  <a:gd name="connsiteX8" fmla="*/ 440644 w 781977"/>
                  <a:gd name="connsiteY8" fmla="*/ 242023 h 781959"/>
                  <a:gd name="connsiteX9" fmla="*/ 217222 w 781977"/>
                  <a:gd name="connsiteY9" fmla="*/ 242023 h 781959"/>
                  <a:gd name="connsiteX10" fmla="*/ 217222 w 781977"/>
                  <a:gd name="connsiteY10" fmla="*/ 341316 h 781959"/>
                  <a:gd name="connsiteX11" fmla="*/ 378588 w 781977"/>
                  <a:gd name="connsiteY11" fmla="*/ 465445 h 781959"/>
                  <a:gd name="connsiteX12" fmla="*/ 126484 w 781977"/>
                  <a:gd name="connsiteY12" fmla="*/ 597140 h 781959"/>
                  <a:gd name="connsiteX13" fmla="*/ 58461 w 781977"/>
                  <a:gd name="connsiteY13" fmla="*/ 596763 h 781959"/>
                  <a:gd name="connsiteX14" fmla="*/ 390989 w 781977"/>
                  <a:gd name="connsiteY14" fmla="*/ 781960 h 781959"/>
                  <a:gd name="connsiteX15" fmla="*/ 722150 w 781977"/>
                  <a:gd name="connsiteY15" fmla="*/ 598758 h 781959"/>
                  <a:gd name="connsiteX16" fmla="*/ 692731 w 781977"/>
                  <a:gd name="connsiteY16" fmla="*/ 599387 h 781959"/>
                  <a:gd name="connsiteX17" fmla="*/ 539937 w 781977"/>
                  <a:gd name="connsiteY17" fmla="*/ 539937 h 781959"/>
                  <a:gd name="connsiteX18" fmla="*/ 539937 w 781977"/>
                  <a:gd name="connsiteY18" fmla="*/ 229640 h 781959"/>
                  <a:gd name="connsiteX19" fmla="*/ 465463 w 781977"/>
                  <a:gd name="connsiteY19" fmla="*/ 242059 h 781959"/>
                  <a:gd name="connsiteX20" fmla="*/ 465463 w 781977"/>
                  <a:gd name="connsiteY20" fmla="*/ 204822 h 781959"/>
                  <a:gd name="connsiteX21" fmla="*/ 589592 w 781977"/>
                  <a:gd name="connsiteY21" fmla="*/ 167585 h 781959"/>
                  <a:gd name="connsiteX22" fmla="*/ 589592 w 781977"/>
                  <a:gd name="connsiteY22" fmla="*/ 530771 h 781959"/>
                  <a:gd name="connsiteX23" fmla="*/ 618634 w 781977"/>
                  <a:gd name="connsiteY23" fmla="*/ 552373 h 781959"/>
                  <a:gd name="connsiteX24" fmla="*/ 705149 w 781977"/>
                  <a:gd name="connsiteY24" fmla="*/ 552373 h 781959"/>
                  <a:gd name="connsiteX25" fmla="*/ 747220 w 781977"/>
                  <a:gd name="connsiteY25" fmla="*/ 552373 h 781959"/>
                  <a:gd name="connsiteX26" fmla="*/ 781977 w 781977"/>
                  <a:gd name="connsiteY26" fmla="*/ 391007 h 781959"/>
                  <a:gd name="connsiteX27" fmla="*/ 390989 w 781977"/>
                  <a:gd name="connsiteY27" fmla="*/ 0 h 781959"/>
                  <a:gd name="connsiteX28" fmla="*/ 0 w 781977"/>
                  <a:gd name="connsiteY28" fmla="*/ 390989 h 7819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781977" h="781959">
                    <a:moveTo>
                      <a:pt x="0" y="390989"/>
                    </a:moveTo>
                    <a:cubicBezTo>
                      <a:pt x="0" y="448588"/>
                      <a:pt x="12418" y="503203"/>
                      <a:pt x="34757" y="552355"/>
                    </a:cubicBezTo>
                    <a:lnTo>
                      <a:pt x="114820" y="552355"/>
                    </a:lnTo>
                    <a:lnTo>
                      <a:pt x="266877" y="552355"/>
                    </a:lnTo>
                    <a:cubicBezTo>
                      <a:pt x="336769" y="530628"/>
                      <a:pt x="341351" y="490300"/>
                      <a:pt x="341351" y="465463"/>
                    </a:cubicBezTo>
                    <a:cubicBezTo>
                      <a:pt x="341351" y="378570"/>
                      <a:pt x="254459" y="366170"/>
                      <a:pt x="179985" y="378570"/>
                    </a:cubicBezTo>
                    <a:lnTo>
                      <a:pt x="179985" y="204786"/>
                    </a:lnTo>
                    <a:lnTo>
                      <a:pt x="440644" y="204786"/>
                    </a:lnTo>
                    <a:lnTo>
                      <a:pt x="440644" y="242023"/>
                    </a:lnTo>
                    <a:lnTo>
                      <a:pt x="217222" y="242023"/>
                    </a:lnTo>
                    <a:lnTo>
                      <a:pt x="217222" y="341316"/>
                    </a:lnTo>
                    <a:cubicBezTo>
                      <a:pt x="339860" y="342807"/>
                      <a:pt x="377097" y="383153"/>
                      <a:pt x="378588" y="465445"/>
                    </a:cubicBezTo>
                    <a:cubicBezTo>
                      <a:pt x="381320" y="608444"/>
                      <a:pt x="235589" y="599369"/>
                      <a:pt x="126484" y="597140"/>
                    </a:cubicBezTo>
                    <a:cubicBezTo>
                      <a:pt x="120032" y="597015"/>
                      <a:pt x="82795" y="596889"/>
                      <a:pt x="58461" y="596763"/>
                    </a:cubicBezTo>
                    <a:cubicBezTo>
                      <a:pt x="127472" y="707989"/>
                      <a:pt x="250613" y="781960"/>
                      <a:pt x="390989" y="781960"/>
                    </a:cubicBezTo>
                    <a:cubicBezTo>
                      <a:pt x="530502" y="781960"/>
                      <a:pt x="653014" y="708851"/>
                      <a:pt x="722150" y="598758"/>
                    </a:cubicBezTo>
                    <a:cubicBezTo>
                      <a:pt x="712463" y="599135"/>
                      <a:pt x="702669" y="599261"/>
                      <a:pt x="692731" y="599387"/>
                    </a:cubicBezTo>
                    <a:cubicBezTo>
                      <a:pt x="616765" y="599513"/>
                      <a:pt x="539937" y="588838"/>
                      <a:pt x="539937" y="539937"/>
                    </a:cubicBezTo>
                    <a:lnTo>
                      <a:pt x="539937" y="229640"/>
                    </a:lnTo>
                    <a:cubicBezTo>
                      <a:pt x="511632" y="234241"/>
                      <a:pt x="499968" y="237332"/>
                      <a:pt x="465463" y="242059"/>
                    </a:cubicBezTo>
                    <a:lnTo>
                      <a:pt x="465463" y="204822"/>
                    </a:lnTo>
                    <a:cubicBezTo>
                      <a:pt x="500345" y="192781"/>
                      <a:pt x="527518" y="183094"/>
                      <a:pt x="589592" y="167585"/>
                    </a:cubicBezTo>
                    <a:lnTo>
                      <a:pt x="589592" y="530771"/>
                    </a:lnTo>
                    <a:cubicBezTo>
                      <a:pt x="594552" y="542812"/>
                      <a:pt x="596547" y="550756"/>
                      <a:pt x="618634" y="552373"/>
                    </a:cubicBezTo>
                    <a:lnTo>
                      <a:pt x="705149" y="552373"/>
                    </a:lnTo>
                    <a:lnTo>
                      <a:pt x="747220" y="552373"/>
                    </a:lnTo>
                    <a:cubicBezTo>
                      <a:pt x="769559" y="503221"/>
                      <a:pt x="781977" y="448480"/>
                      <a:pt x="781977" y="391007"/>
                    </a:cubicBezTo>
                    <a:cubicBezTo>
                      <a:pt x="781995" y="175025"/>
                      <a:pt x="606971" y="0"/>
                      <a:pt x="390989" y="0"/>
                    </a:cubicBezTo>
                    <a:cubicBezTo>
                      <a:pt x="175007" y="0"/>
                      <a:pt x="0" y="175025"/>
                      <a:pt x="0" y="390989"/>
                    </a:cubicBezTo>
                    <a:close/>
                  </a:path>
                </a:pathLst>
              </a:custGeom>
              <a:solidFill>
                <a:srgbClr val="FF52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sp>
          <p:nvSpPr>
            <p:cNvPr id="4" name="矩形 3">
              <a:hlinkClick r:id="rId2"/>
            </p:cNvPr>
            <p:cNvSpPr/>
            <p:nvPr userDrawn="1"/>
          </p:nvSpPr>
          <p:spPr>
            <a:xfrm>
              <a:off x="870547" y="7238685"/>
              <a:ext cx="3333750" cy="1143000"/>
            </a:xfrm>
            <a:prstGeom prst="rect">
              <a:avLst/>
            </a:pr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0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9" Type="http://schemas.openxmlformats.org/officeDocument/2006/relationships/image" Target="../media/image2.jpeg"/><Relationship Id="rId18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9" Type="http://schemas.openxmlformats.org/officeDocument/2006/relationships/notesSlide" Target="../notesSlides/notesSlide3.xml"/><Relationship Id="rId28" Type="http://schemas.openxmlformats.org/officeDocument/2006/relationships/slideLayout" Target="../slideLayouts/slideLayout1.xml"/><Relationship Id="rId27" Type="http://schemas.openxmlformats.org/officeDocument/2006/relationships/tags" Target="../tags/tag26.xml"/><Relationship Id="rId26" Type="http://schemas.openxmlformats.org/officeDocument/2006/relationships/tags" Target="../tags/tag25.xml"/><Relationship Id="rId25" Type="http://schemas.openxmlformats.org/officeDocument/2006/relationships/tags" Target="../tags/tag24.xml"/><Relationship Id="rId24" Type="http://schemas.openxmlformats.org/officeDocument/2006/relationships/tags" Target="../tags/tag23.xml"/><Relationship Id="rId23" Type="http://schemas.openxmlformats.org/officeDocument/2006/relationships/tags" Target="../tags/tag22.xml"/><Relationship Id="rId22" Type="http://schemas.openxmlformats.org/officeDocument/2006/relationships/tags" Target="../tags/tag21.xml"/><Relationship Id="rId21" Type="http://schemas.openxmlformats.org/officeDocument/2006/relationships/tags" Target="../tags/tag20.xml"/><Relationship Id="rId20" Type="http://schemas.openxmlformats.org/officeDocument/2006/relationships/tags" Target="../tags/tag19.xml"/><Relationship Id="rId2" Type="http://schemas.openxmlformats.org/officeDocument/2006/relationships/tags" Target="../tags/tag1.xml"/><Relationship Id="rId19" Type="http://schemas.openxmlformats.org/officeDocument/2006/relationships/tags" Target="../tags/tag18.xml"/><Relationship Id="rId18" Type="http://schemas.openxmlformats.org/officeDocument/2006/relationships/tags" Target="../tags/tag17.xml"/><Relationship Id="rId17" Type="http://schemas.openxmlformats.org/officeDocument/2006/relationships/tags" Target="../tags/tag16.xml"/><Relationship Id="rId16" Type="http://schemas.openxmlformats.org/officeDocument/2006/relationships/tags" Target="../tags/tag15.xml"/><Relationship Id="rId15" Type="http://schemas.openxmlformats.org/officeDocument/2006/relationships/tags" Target="../tags/tag14.xml"/><Relationship Id="rId14" Type="http://schemas.openxmlformats.org/officeDocument/2006/relationships/tags" Target="../tags/tag13.xml"/><Relationship Id="rId13" Type="http://schemas.openxmlformats.org/officeDocument/2006/relationships/tags" Target="../tags/tag12.xml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5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6.xml"/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17.png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25.png"/><Relationship Id="rId7" Type="http://schemas.openxmlformats.org/officeDocument/2006/relationships/image" Target="../media/image24.png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0" Type="http://schemas.openxmlformats.org/officeDocument/2006/relationships/notesSlide" Target="../notesSlides/notesSlide7.xml"/><Relationship Id="rId1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8.png"/><Relationship Id="rId1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36.png"/><Relationship Id="rId7" Type="http://schemas.openxmlformats.org/officeDocument/2006/relationships/image" Target="../media/image35.png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0" Type="http://schemas.openxmlformats.org/officeDocument/2006/relationships/notesSlide" Target="../notesSlides/notesSlide10.xml"/><Relationship Id="rId1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7.png"/><Relationship Id="rId1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44.png"/><Relationship Id="rId7" Type="http://schemas.openxmlformats.org/officeDocument/2006/relationships/image" Target="../media/image43.png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21.png"/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0" Type="http://schemas.openxmlformats.org/officeDocument/2006/relationships/notesSlide" Target="../notesSlides/notesSlide12.xml"/><Relationship Id="rId1" Type="http://schemas.openxmlformats.org/officeDocument/2006/relationships/image" Target="../media/image38.png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3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4.xml"/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53.png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image" Target="../media/image4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6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48.png"/><Relationship Id="rId2" Type="http://schemas.openxmlformats.org/officeDocument/2006/relationships/image" Target="../media/image54.png"/><Relationship Id="rId1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5.png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8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6.png"/><Relationship Id="rId1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9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37.png"/><Relationship Id="rId3" Type="http://schemas.openxmlformats.org/officeDocument/2006/relationships/image" Target="../media/image57.png"/><Relationship Id="rId2" Type="http://schemas.openxmlformats.org/officeDocument/2006/relationships/image" Target="../media/image20.png"/><Relationship Id="rId1" Type="http://schemas.openxmlformats.org/officeDocument/2006/relationships/image" Target="../media/image56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0.xml"/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41.png"/><Relationship Id="rId4" Type="http://schemas.openxmlformats.org/officeDocument/2006/relationships/image" Target="../media/image60.png"/><Relationship Id="rId3" Type="http://schemas.openxmlformats.org/officeDocument/2006/relationships/image" Target="../media/image59.png"/><Relationship Id="rId2" Type="http://schemas.openxmlformats.org/officeDocument/2006/relationships/image" Target="../media/image3.png"/><Relationship Id="rId1" Type="http://schemas.openxmlformats.org/officeDocument/2006/relationships/image" Target="../media/image58.png"/></Relationships>
</file>

<file path=ppt/slides/_rels/slide21.xml.rels><?xml version="1.0" encoding="UTF-8" standalone="yes"?>
<Relationships xmlns="http://schemas.openxmlformats.org/package/2006/relationships"><Relationship Id="rId9" Type="http://schemas.openxmlformats.org/officeDocument/2006/relationships/image" Target="../media/image6.png"/><Relationship Id="rId8" Type="http://schemas.openxmlformats.org/officeDocument/2006/relationships/image" Target="../media/image67.png"/><Relationship Id="rId7" Type="http://schemas.openxmlformats.org/officeDocument/2006/relationships/image" Target="../media/image66.png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4" Type="http://schemas.openxmlformats.org/officeDocument/2006/relationships/notesSlide" Target="../notesSlides/notesSlide21.xml"/><Relationship Id="rId13" Type="http://schemas.openxmlformats.org/officeDocument/2006/relationships/slideLayout" Target="../slideLayouts/slideLayout2.xml"/><Relationship Id="rId12" Type="http://schemas.openxmlformats.org/officeDocument/2006/relationships/image" Target="../media/image50.png"/><Relationship Id="rId11" Type="http://schemas.openxmlformats.org/officeDocument/2006/relationships/image" Target="../media/image20.png"/><Relationship Id="rId10" Type="http://schemas.openxmlformats.org/officeDocument/2006/relationships/image" Target="../media/image8.png"/><Relationship Id="rId1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2.xml"/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36.png"/><Relationship Id="rId4" Type="http://schemas.openxmlformats.org/officeDocument/2006/relationships/image" Target="../media/image43.png"/><Relationship Id="rId3" Type="http://schemas.openxmlformats.org/officeDocument/2006/relationships/image" Target="../media/image3.png"/><Relationship Id="rId2" Type="http://schemas.openxmlformats.org/officeDocument/2006/relationships/image" Target="../media/image69.png"/><Relationship Id="rId1" Type="http://schemas.openxmlformats.org/officeDocument/2006/relationships/image" Target="../media/image68.png"/></Relationships>
</file>

<file path=ppt/slides/_rels/slide2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3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37.png"/><Relationship Id="rId3" Type="http://schemas.openxmlformats.org/officeDocument/2006/relationships/image" Target="../media/image72.png"/><Relationship Id="rId2" Type="http://schemas.openxmlformats.org/officeDocument/2006/relationships/image" Target="../media/image68.png"/><Relationship Id="rId1" Type="http://schemas.openxmlformats.org/officeDocument/2006/relationships/image" Target="../media/image71.png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4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75.png"/><Relationship Id="rId4" Type="http://schemas.openxmlformats.org/officeDocument/2006/relationships/image" Target="../media/image74.png"/><Relationship Id="rId3" Type="http://schemas.openxmlformats.org/officeDocument/2006/relationships/image" Target="../media/image55.png"/><Relationship Id="rId2" Type="http://schemas.openxmlformats.org/officeDocument/2006/relationships/image" Target="../media/image73.png"/><Relationship Id="rId1" Type="http://schemas.openxmlformats.org/officeDocument/2006/relationships/image" Target="../media/image61.png"/></Relationships>
</file>

<file path=ppt/slides/_rels/slide2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5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79.png"/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image" Target="../media/image76.png"/></Relationships>
</file>

<file path=ppt/slides/_rels/slide2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6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82.png"/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image" Target="../media/image8.png"/></Relationships>
</file>

<file path=ppt/slides/_rels/slide27.xml.rels><?xml version="1.0" encoding="UTF-8" standalone="yes"?>
<Relationships xmlns="http://schemas.openxmlformats.org/package/2006/relationships"><Relationship Id="rId9" Type="http://schemas.openxmlformats.org/officeDocument/2006/relationships/image" Target="../media/image38.png"/><Relationship Id="rId8" Type="http://schemas.openxmlformats.org/officeDocument/2006/relationships/image" Target="../media/image3.png"/><Relationship Id="rId7" Type="http://schemas.openxmlformats.org/officeDocument/2006/relationships/image" Target="../media/image86.png"/><Relationship Id="rId6" Type="http://schemas.openxmlformats.org/officeDocument/2006/relationships/image" Target="../media/image85.png"/><Relationship Id="rId5" Type="http://schemas.openxmlformats.org/officeDocument/2006/relationships/image" Target="../media/image22.png"/><Relationship Id="rId4" Type="http://schemas.openxmlformats.org/officeDocument/2006/relationships/image" Target="../media/image40.png"/><Relationship Id="rId3" Type="http://schemas.openxmlformats.org/officeDocument/2006/relationships/image" Target="../media/image84.png"/><Relationship Id="rId2" Type="http://schemas.openxmlformats.org/officeDocument/2006/relationships/image" Target="../media/image39.png"/><Relationship Id="rId12" Type="http://schemas.openxmlformats.org/officeDocument/2006/relationships/notesSlide" Target="../notesSlides/notesSlide27.xml"/><Relationship Id="rId11" Type="http://schemas.openxmlformats.org/officeDocument/2006/relationships/slideLayout" Target="../slideLayouts/slideLayout2.xml"/><Relationship Id="rId10" Type="http://schemas.openxmlformats.org/officeDocument/2006/relationships/image" Target="../media/image70.png"/><Relationship Id="rId1" Type="http://schemas.openxmlformats.org/officeDocument/2006/relationships/image" Target="../media/image8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9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88.png"/><Relationship Id="rId4" Type="http://schemas.openxmlformats.org/officeDocument/2006/relationships/image" Target="../media/image5.png"/><Relationship Id="rId3" Type="http://schemas.openxmlformats.org/officeDocument/2006/relationships/image" Target="../media/image8.png"/><Relationship Id="rId2" Type="http://schemas.openxmlformats.org/officeDocument/2006/relationships/image" Target="../media/image87.png"/><Relationship Id="rId1" Type="http://schemas.openxmlformats.org/officeDocument/2006/relationships/image" Target="../media/image20.png"/></Relationships>
</file>

<file path=ppt/slides/_rels/slide30.xml.rels><?xml version="1.0" encoding="UTF-8" standalone="yes"?>
<Relationships xmlns="http://schemas.openxmlformats.org/package/2006/relationships"><Relationship Id="rId9" Type="http://schemas.openxmlformats.org/officeDocument/2006/relationships/image" Target="../media/image96.png"/><Relationship Id="rId8" Type="http://schemas.openxmlformats.org/officeDocument/2006/relationships/image" Target="../media/image95.png"/><Relationship Id="rId7" Type="http://schemas.openxmlformats.org/officeDocument/2006/relationships/image" Target="../media/image94.png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91.png"/><Relationship Id="rId3" Type="http://schemas.openxmlformats.org/officeDocument/2006/relationships/image" Target="../media/image90.png"/><Relationship Id="rId21" Type="http://schemas.openxmlformats.org/officeDocument/2006/relationships/notesSlide" Target="../notesSlides/notesSlide30.xml"/><Relationship Id="rId20" Type="http://schemas.openxmlformats.org/officeDocument/2006/relationships/slideLayout" Target="../slideLayouts/slideLayout2.xml"/><Relationship Id="rId2" Type="http://schemas.openxmlformats.org/officeDocument/2006/relationships/image" Target="../media/image78.png"/><Relationship Id="rId19" Type="http://schemas.openxmlformats.org/officeDocument/2006/relationships/image" Target="../media/image26.png"/><Relationship Id="rId18" Type="http://schemas.openxmlformats.org/officeDocument/2006/relationships/image" Target="../media/image21.png"/><Relationship Id="rId17" Type="http://schemas.openxmlformats.org/officeDocument/2006/relationships/image" Target="../media/image100.png"/><Relationship Id="rId16" Type="http://schemas.openxmlformats.org/officeDocument/2006/relationships/image" Target="../media/image79.png"/><Relationship Id="rId15" Type="http://schemas.openxmlformats.org/officeDocument/2006/relationships/image" Target="../media/image77.png"/><Relationship Id="rId14" Type="http://schemas.openxmlformats.org/officeDocument/2006/relationships/image" Target="../media/image99.png"/><Relationship Id="rId13" Type="http://schemas.openxmlformats.org/officeDocument/2006/relationships/image" Target="../media/image98.png"/><Relationship Id="rId12" Type="http://schemas.openxmlformats.org/officeDocument/2006/relationships/image" Target="../media/image97.png"/><Relationship Id="rId11" Type="http://schemas.openxmlformats.org/officeDocument/2006/relationships/image" Target="../media/image76.png"/><Relationship Id="rId10" Type="http://schemas.openxmlformats.org/officeDocument/2006/relationships/image" Target="../media/image3.png"/><Relationship Id="rId1" Type="http://schemas.openxmlformats.org/officeDocument/2006/relationships/image" Target="../media/image89.png"/></Relationships>
</file>

<file path=ppt/slides/_rels/slide3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1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image" Target="../media/image101.png"/></Relationships>
</file>

<file path=ppt/slides/_rels/slide3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107.png"/><Relationship Id="rId7" Type="http://schemas.openxmlformats.org/officeDocument/2006/relationships/image" Target="../media/image106.png"/><Relationship Id="rId6" Type="http://schemas.openxmlformats.org/officeDocument/2006/relationships/image" Target="../media/image96.png"/><Relationship Id="rId5" Type="http://schemas.openxmlformats.org/officeDocument/2006/relationships/image" Target="../media/image105.png"/><Relationship Id="rId4" Type="http://schemas.openxmlformats.org/officeDocument/2006/relationships/image" Target="../media/image53.png"/><Relationship Id="rId3" Type="http://schemas.openxmlformats.org/officeDocument/2006/relationships/image" Target="../media/image90.png"/><Relationship Id="rId2" Type="http://schemas.openxmlformats.org/officeDocument/2006/relationships/image" Target="../media/image78.png"/><Relationship Id="rId10" Type="http://schemas.openxmlformats.org/officeDocument/2006/relationships/notesSlide" Target="../notesSlides/notesSlide32.xml"/><Relationship Id="rId1" Type="http://schemas.openxmlformats.org/officeDocument/2006/relationships/image" Target="../media/image104.png"/></Relationships>
</file>

<file path=ppt/slides/_rels/slide3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3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image" Target="../media/image108.png"/></Relationships>
</file>

<file path=ppt/slides/_rels/slide3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34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12.png"/><Relationship Id="rId4" Type="http://schemas.openxmlformats.org/officeDocument/2006/relationships/image" Target="../media/image84.png"/><Relationship Id="rId3" Type="http://schemas.openxmlformats.org/officeDocument/2006/relationships/image" Target="../media/image111.png"/><Relationship Id="rId2" Type="http://schemas.openxmlformats.org/officeDocument/2006/relationships/image" Target="../media/image89.png"/><Relationship Id="rId1" Type="http://schemas.openxmlformats.org/officeDocument/2006/relationships/image" Target="../media/image20.png"/></Relationships>
</file>

<file path=ppt/slides/_rels/slide3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5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13.png"/><Relationship Id="rId3" Type="http://schemas.openxmlformats.org/officeDocument/2006/relationships/image" Target="../media/image112.png"/><Relationship Id="rId2" Type="http://schemas.openxmlformats.org/officeDocument/2006/relationships/image" Target="../media/image39.png"/><Relationship Id="rId1" Type="http://schemas.openxmlformats.org/officeDocument/2006/relationships/image" Target="../media/image41.png"/></Relationships>
</file>

<file path=ppt/slides/_rels/slide36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36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6.png"/><Relationship Id="rId3" Type="http://schemas.openxmlformats.org/officeDocument/2006/relationships/image" Target="../media/image115.png"/><Relationship Id="rId2" Type="http://schemas.openxmlformats.org/officeDocument/2006/relationships/image" Target="../media/image109.png"/><Relationship Id="rId1" Type="http://schemas.openxmlformats.org/officeDocument/2006/relationships/image" Target="../media/image114.png"/></Relationships>
</file>

<file path=ppt/slides/_rels/slide37.xml.rels><?xml version="1.0" encoding="UTF-8" standalone="yes"?>
<Relationships xmlns="http://schemas.openxmlformats.org/package/2006/relationships"><Relationship Id="rId9" Type="http://schemas.openxmlformats.org/officeDocument/2006/relationships/image" Target="../media/image120.png"/><Relationship Id="rId8" Type="http://schemas.openxmlformats.org/officeDocument/2006/relationships/image" Target="../media/image119.png"/><Relationship Id="rId7" Type="http://schemas.openxmlformats.org/officeDocument/2006/relationships/image" Target="../media/image29.png"/><Relationship Id="rId6" Type="http://schemas.openxmlformats.org/officeDocument/2006/relationships/image" Target="../media/image82.png"/><Relationship Id="rId5" Type="http://schemas.openxmlformats.org/officeDocument/2006/relationships/image" Target="../media/image90.png"/><Relationship Id="rId4" Type="http://schemas.openxmlformats.org/officeDocument/2006/relationships/image" Target="../media/image118.png"/><Relationship Id="rId3" Type="http://schemas.openxmlformats.org/officeDocument/2006/relationships/image" Target="../media/image117.png"/><Relationship Id="rId2" Type="http://schemas.openxmlformats.org/officeDocument/2006/relationships/image" Target="../media/image12.png"/><Relationship Id="rId11" Type="http://schemas.openxmlformats.org/officeDocument/2006/relationships/notesSlide" Target="../notesSlides/notesSlide37.xml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116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8.xml"/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109.png"/><Relationship Id="rId5" Type="http://schemas.openxmlformats.org/officeDocument/2006/relationships/image" Target="../media/image47.png"/><Relationship Id="rId4" Type="http://schemas.openxmlformats.org/officeDocument/2006/relationships/image" Target="../media/image121.png"/><Relationship Id="rId3" Type="http://schemas.openxmlformats.org/officeDocument/2006/relationships/image" Target="../media/image58.png"/><Relationship Id="rId2" Type="http://schemas.openxmlformats.org/officeDocument/2006/relationships/image" Target="../media/image89.png"/><Relationship Id="rId1" Type="http://schemas.openxmlformats.org/officeDocument/2006/relationships/image" Target="../media/image61.png"/></Relationships>
</file>

<file path=ppt/slides/_rels/slide39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9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6.png"/><Relationship Id="rId3" Type="http://schemas.openxmlformats.org/officeDocument/2006/relationships/image" Target="../media/image85.png"/><Relationship Id="rId2" Type="http://schemas.openxmlformats.org/officeDocument/2006/relationships/image" Target="../media/image123.png"/><Relationship Id="rId1" Type="http://schemas.openxmlformats.org/officeDocument/2006/relationships/image" Target="../media/image122.png"/></Relationships>
</file>

<file path=ppt/slides/_rels/slide40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40.xml"/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65.png"/><Relationship Id="rId6" Type="http://schemas.openxmlformats.org/officeDocument/2006/relationships/image" Target="../media/image111.png"/><Relationship Id="rId5" Type="http://schemas.openxmlformats.org/officeDocument/2006/relationships/image" Target="../media/image124.png"/><Relationship Id="rId4" Type="http://schemas.openxmlformats.org/officeDocument/2006/relationships/image" Target="../media/image13.png"/><Relationship Id="rId3" Type="http://schemas.openxmlformats.org/officeDocument/2006/relationships/image" Target="../media/image7.png"/><Relationship Id="rId2" Type="http://schemas.openxmlformats.org/officeDocument/2006/relationships/image" Target="../media/image58.png"/><Relationship Id="rId1" Type="http://schemas.openxmlformats.org/officeDocument/2006/relationships/image" Target="../media/image60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41.xml"/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5" Type="http://schemas.openxmlformats.org/officeDocument/2006/relationships/image" Target="../media/image129.png"/><Relationship Id="rId4" Type="http://schemas.openxmlformats.org/officeDocument/2006/relationships/image" Target="../media/image128.png"/><Relationship Id="rId3" Type="http://schemas.openxmlformats.org/officeDocument/2006/relationships/image" Target="../media/image127.png"/><Relationship Id="rId2" Type="http://schemas.openxmlformats.org/officeDocument/2006/relationships/image" Target="../media/image126.png"/><Relationship Id="rId1" Type="http://schemas.openxmlformats.org/officeDocument/2006/relationships/image" Target="../media/image125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42.xml"/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63.png"/><Relationship Id="rId4" Type="http://schemas.openxmlformats.org/officeDocument/2006/relationships/image" Target="../media/image28.png"/><Relationship Id="rId3" Type="http://schemas.openxmlformats.org/officeDocument/2006/relationships/image" Target="../media/image130.png"/><Relationship Id="rId2" Type="http://schemas.openxmlformats.org/officeDocument/2006/relationships/image" Target="../media/image111.png"/><Relationship Id="rId1" Type="http://schemas.openxmlformats.org/officeDocument/2006/relationships/chart" Target="../charts/chart1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43.xml"/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.png"/><Relationship Id="rId4" Type="http://schemas.openxmlformats.org/officeDocument/2006/relationships/image" Target="../media/image110.png"/><Relationship Id="rId3" Type="http://schemas.openxmlformats.org/officeDocument/2006/relationships/image" Target="../media/image56.png"/><Relationship Id="rId2" Type="http://schemas.openxmlformats.org/officeDocument/2006/relationships/image" Target="../media/image132.png"/><Relationship Id="rId1" Type="http://schemas.openxmlformats.org/officeDocument/2006/relationships/image" Target="../media/image131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45.xml"/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136.png"/><Relationship Id="rId4" Type="http://schemas.openxmlformats.org/officeDocument/2006/relationships/image" Target="../media/image135.png"/><Relationship Id="rId3" Type="http://schemas.openxmlformats.org/officeDocument/2006/relationships/image" Target="../media/image134.png"/><Relationship Id="rId2" Type="http://schemas.openxmlformats.org/officeDocument/2006/relationships/image" Target="../media/image33.png"/><Relationship Id="rId1" Type="http://schemas.openxmlformats.org/officeDocument/2006/relationships/image" Target="../media/image133.png"/></Relationships>
</file>

<file path=ppt/slides/_rels/slide4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6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6.png"/><Relationship Id="rId1" Type="http://schemas.openxmlformats.org/officeDocument/2006/relationships/image" Target="../media/image1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7.png"/></Relationships>
</file>

<file path=ppt/slides/_rels/slide49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88.png"/><Relationship Id="rId7" Type="http://schemas.openxmlformats.org/officeDocument/2006/relationships/image" Target="../media/image5.png"/><Relationship Id="rId6" Type="http://schemas.openxmlformats.org/officeDocument/2006/relationships/image" Target="../media/image130.png"/><Relationship Id="rId5" Type="http://schemas.openxmlformats.org/officeDocument/2006/relationships/image" Target="../media/image138.png"/><Relationship Id="rId4" Type="http://schemas.openxmlformats.org/officeDocument/2006/relationships/image" Target="../media/image72.png"/><Relationship Id="rId3" Type="http://schemas.openxmlformats.org/officeDocument/2006/relationships/image" Target="../media/image104.png"/><Relationship Id="rId2" Type="http://schemas.openxmlformats.org/officeDocument/2006/relationships/image" Target="../media/image128.png"/><Relationship Id="rId10" Type="http://schemas.openxmlformats.org/officeDocument/2006/relationships/notesSlide" Target="../notesSlides/notesSlide49.xml"/><Relationship Id="rId1" Type="http://schemas.openxmlformats.org/officeDocument/2006/relationships/image" Target="../media/image78.png"/></Relationships>
</file>

<file path=ppt/slides/_rels/slide50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50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39.png"/><Relationship Id="rId3" Type="http://schemas.openxmlformats.org/officeDocument/2006/relationships/image" Target="../media/image121.png"/><Relationship Id="rId2" Type="http://schemas.openxmlformats.org/officeDocument/2006/relationships/image" Target="../media/image5.png"/><Relationship Id="rId1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1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3656329" y="1850427"/>
            <a:ext cx="4879340" cy="9220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5400" b="1" dirty="0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AI＋</a:t>
            </a:r>
            <a:r>
              <a:rPr lang="zh-CN" altLang="en-US" sz="5400" b="1" dirty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数据</a:t>
            </a:r>
            <a:r>
              <a:rPr lang="en-US" altLang="zh-CN" sz="5400" b="1" dirty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+</a:t>
            </a:r>
            <a:r>
              <a:rPr lang="zh-CN" altLang="en-US" sz="5400" b="1" dirty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平台</a:t>
            </a:r>
            <a:endParaRPr lang="zh-CN" altLang="en-US" sz="8000" dirty="0">
              <a:latin typeface="Alimama ShuHeiTi Bold" pitchFamily="2" charset="-122"/>
              <a:ea typeface="Alimama ShuHeiTi Bold" pitchFamily="2" charset="-122"/>
            </a:endParaRPr>
          </a:p>
        </p:txBody>
      </p:sp>
      <p:grpSp>
        <p:nvGrpSpPr>
          <p:cNvPr id="43" name="组合 42"/>
          <p:cNvGrpSpPr/>
          <p:nvPr/>
        </p:nvGrpSpPr>
        <p:grpSpPr>
          <a:xfrm>
            <a:off x="3939028" y="5924580"/>
            <a:ext cx="4313944" cy="315056"/>
            <a:chOff x="1253246" y="4118390"/>
            <a:chExt cx="4313944" cy="315056"/>
          </a:xfrm>
        </p:grpSpPr>
        <p:sp>
          <p:nvSpPr>
            <p:cNvPr id="44" name="文本框 43"/>
            <p:cNvSpPr txBox="1"/>
            <p:nvPr/>
          </p:nvSpPr>
          <p:spPr>
            <a:xfrm>
              <a:off x="1561022" y="4125669"/>
              <a:ext cx="20271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Microsoft YaHei" panose="020B0503020204020204" charset="-122"/>
                  <a:ea typeface="Microsoft YaHei" panose="020B0503020204020204" charset="-122"/>
                  <a:cs typeface="+mn-ea"/>
                  <a:sym typeface="+mn-lt"/>
                </a:rPr>
                <a:t>汇报：票付通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5" name="iconfont-10019-4889788"/>
            <p:cNvSpPr/>
            <p:nvPr/>
          </p:nvSpPr>
          <p:spPr>
            <a:xfrm>
              <a:off x="1253246" y="4118392"/>
              <a:ext cx="307776" cy="307776"/>
            </a:xfrm>
            <a:custGeom>
              <a:avLst/>
              <a:gdLst>
                <a:gd name="T0" fmla="*/ 6383 w 12767"/>
                <a:gd name="T1" fmla="*/ 0 h 12767"/>
                <a:gd name="T2" fmla="*/ 0 w 12767"/>
                <a:gd name="T3" fmla="*/ 6383 h 12767"/>
                <a:gd name="T4" fmla="*/ 6383 w 12767"/>
                <a:gd name="T5" fmla="*/ 12767 h 12767"/>
                <a:gd name="T6" fmla="*/ 12767 w 12767"/>
                <a:gd name="T7" fmla="*/ 6383 h 12767"/>
                <a:gd name="T8" fmla="*/ 6383 w 12767"/>
                <a:gd name="T9" fmla="*/ 0 h 12767"/>
                <a:gd name="T10" fmla="*/ 6383 w 12767"/>
                <a:gd name="T11" fmla="*/ 870 h 12767"/>
                <a:gd name="T12" fmla="*/ 11897 w 12767"/>
                <a:gd name="T13" fmla="*/ 6383 h 12767"/>
                <a:gd name="T14" fmla="*/ 11032 w 12767"/>
                <a:gd name="T15" fmla="*/ 9349 h 12767"/>
                <a:gd name="T16" fmla="*/ 7524 w 12767"/>
                <a:gd name="T17" fmla="*/ 7451 h 12767"/>
                <a:gd name="T18" fmla="*/ 9004 w 12767"/>
                <a:gd name="T19" fmla="*/ 5101 h 12767"/>
                <a:gd name="T20" fmla="*/ 6393 w 12767"/>
                <a:gd name="T21" fmla="*/ 2489 h 12767"/>
                <a:gd name="T22" fmla="*/ 3781 w 12767"/>
                <a:gd name="T23" fmla="*/ 5101 h 12767"/>
                <a:gd name="T24" fmla="*/ 5261 w 12767"/>
                <a:gd name="T25" fmla="*/ 7451 h 12767"/>
                <a:gd name="T26" fmla="*/ 1743 w 12767"/>
                <a:gd name="T27" fmla="*/ 9361 h 12767"/>
                <a:gd name="T28" fmla="*/ 870 w 12767"/>
                <a:gd name="T29" fmla="*/ 6383 h 12767"/>
                <a:gd name="T30" fmla="*/ 6383 w 12767"/>
                <a:gd name="T31" fmla="*/ 870 h 127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2767" h="12767">
                  <a:moveTo>
                    <a:pt x="6383" y="0"/>
                  </a:moveTo>
                  <a:cubicBezTo>
                    <a:pt x="2858" y="0"/>
                    <a:pt x="0" y="2858"/>
                    <a:pt x="0" y="6383"/>
                  </a:cubicBezTo>
                  <a:cubicBezTo>
                    <a:pt x="0" y="9909"/>
                    <a:pt x="2858" y="12767"/>
                    <a:pt x="6383" y="12767"/>
                  </a:cubicBezTo>
                  <a:cubicBezTo>
                    <a:pt x="9909" y="12767"/>
                    <a:pt x="12767" y="9909"/>
                    <a:pt x="12767" y="6383"/>
                  </a:cubicBezTo>
                  <a:cubicBezTo>
                    <a:pt x="12767" y="2858"/>
                    <a:pt x="9909" y="0"/>
                    <a:pt x="6383" y="0"/>
                  </a:cubicBezTo>
                  <a:close/>
                  <a:moveTo>
                    <a:pt x="6383" y="870"/>
                  </a:moveTo>
                  <a:cubicBezTo>
                    <a:pt x="9428" y="870"/>
                    <a:pt x="11897" y="3339"/>
                    <a:pt x="11897" y="6383"/>
                  </a:cubicBezTo>
                  <a:cubicBezTo>
                    <a:pt x="11897" y="7475"/>
                    <a:pt x="11579" y="8493"/>
                    <a:pt x="11032" y="9349"/>
                  </a:cubicBezTo>
                  <a:cubicBezTo>
                    <a:pt x="10114" y="8379"/>
                    <a:pt x="8895" y="7697"/>
                    <a:pt x="7524" y="7451"/>
                  </a:cubicBezTo>
                  <a:cubicBezTo>
                    <a:pt x="8399" y="7030"/>
                    <a:pt x="9004" y="6137"/>
                    <a:pt x="9004" y="5101"/>
                  </a:cubicBezTo>
                  <a:cubicBezTo>
                    <a:pt x="9004" y="3658"/>
                    <a:pt x="7835" y="2489"/>
                    <a:pt x="6393" y="2489"/>
                  </a:cubicBezTo>
                  <a:cubicBezTo>
                    <a:pt x="4950" y="2489"/>
                    <a:pt x="3781" y="3658"/>
                    <a:pt x="3781" y="5101"/>
                  </a:cubicBezTo>
                  <a:cubicBezTo>
                    <a:pt x="3781" y="6137"/>
                    <a:pt x="4386" y="7030"/>
                    <a:pt x="5261" y="7451"/>
                  </a:cubicBezTo>
                  <a:cubicBezTo>
                    <a:pt x="3885" y="7698"/>
                    <a:pt x="2662" y="8385"/>
                    <a:pt x="1743" y="9361"/>
                  </a:cubicBezTo>
                  <a:cubicBezTo>
                    <a:pt x="1190" y="8502"/>
                    <a:pt x="870" y="7480"/>
                    <a:pt x="870" y="6383"/>
                  </a:cubicBezTo>
                  <a:cubicBezTo>
                    <a:pt x="870" y="3339"/>
                    <a:pt x="3339" y="870"/>
                    <a:pt x="6383" y="870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3898985" y="4118390"/>
              <a:ext cx="1668205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bg1"/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Microsoft YaHei" panose="020B0503020204020204" charset="-122"/>
                  <a:ea typeface="Microsoft YaHei" panose="020B0503020204020204" charset="-122"/>
                  <a:cs typeface="+mn-ea"/>
                  <a:sym typeface="+mn-lt"/>
                </a:rPr>
                <a:t>时间：2026.10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7" name="iconfont-11899-5651509"/>
            <p:cNvSpPr/>
            <p:nvPr/>
          </p:nvSpPr>
          <p:spPr>
            <a:xfrm>
              <a:off x="3588150" y="4118394"/>
              <a:ext cx="307836" cy="307774"/>
            </a:xfrm>
            <a:custGeom>
              <a:avLst/>
              <a:gdLst>
                <a:gd name="T0" fmla="*/ 5872 w 10378"/>
                <a:gd name="T1" fmla="*/ 5277 h 10377"/>
                <a:gd name="T2" fmla="*/ 5872 w 10378"/>
                <a:gd name="T3" fmla="*/ 2783 h 10377"/>
                <a:gd name="T4" fmla="*/ 5223 w 10378"/>
                <a:gd name="T5" fmla="*/ 2135 h 10377"/>
                <a:gd name="T6" fmla="*/ 4574 w 10378"/>
                <a:gd name="T7" fmla="*/ 2783 h 10377"/>
                <a:gd name="T8" fmla="*/ 4574 w 10378"/>
                <a:gd name="T9" fmla="*/ 6026 h 10377"/>
                <a:gd name="T10" fmla="*/ 7383 w 10378"/>
                <a:gd name="T11" fmla="*/ 7647 h 10377"/>
                <a:gd name="T12" fmla="*/ 8267 w 10378"/>
                <a:gd name="T13" fmla="*/ 7403 h 10377"/>
                <a:gd name="T14" fmla="*/ 8031 w 10378"/>
                <a:gd name="T15" fmla="*/ 6523 h 10377"/>
                <a:gd name="T16" fmla="*/ 5872 w 10378"/>
                <a:gd name="T17" fmla="*/ 5277 h 10377"/>
                <a:gd name="T18" fmla="*/ 5189 w 10378"/>
                <a:gd name="T19" fmla="*/ 10377 h 10377"/>
                <a:gd name="T20" fmla="*/ 0 w 10378"/>
                <a:gd name="T21" fmla="*/ 5188 h 10377"/>
                <a:gd name="T22" fmla="*/ 5189 w 10378"/>
                <a:gd name="T23" fmla="*/ 0 h 10377"/>
                <a:gd name="T24" fmla="*/ 10378 w 10378"/>
                <a:gd name="T25" fmla="*/ 5188 h 10377"/>
                <a:gd name="T26" fmla="*/ 5189 w 10378"/>
                <a:gd name="T27" fmla="*/ 10377 h 103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378" h="10377">
                  <a:moveTo>
                    <a:pt x="5872" y="5277"/>
                  </a:moveTo>
                  <a:lnTo>
                    <a:pt x="5872" y="2783"/>
                  </a:lnTo>
                  <a:cubicBezTo>
                    <a:pt x="5872" y="2425"/>
                    <a:pt x="5582" y="2135"/>
                    <a:pt x="5223" y="2135"/>
                  </a:cubicBezTo>
                  <a:cubicBezTo>
                    <a:pt x="4864" y="2135"/>
                    <a:pt x="4574" y="2425"/>
                    <a:pt x="4574" y="2783"/>
                  </a:cubicBezTo>
                  <a:lnTo>
                    <a:pt x="4574" y="6026"/>
                  </a:lnTo>
                  <a:lnTo>
                    <a:pt x="7383" y="7647"/>
                  </a:lnTo>
                  <a:cubicBezTo>
                    <a:pt x="7694" y="7825"/>
                    <a:pt x="8091" y="7716"/>
                    <a:pt x="8267" y="7403"/>
                  </a:cubicBezTo>
                  <a:cubicBezTo>
                    <a:pt x="8442" y="7095"/>
                    <a:pt x="8337" y="6703"/>
                    <a:pt x="8031" y="6523"/>
                  </a:cubicBezTo>
                  <a:lnTo>
                    <a:pt x="5872" y="5277"/>
                  </a:lnTo>
                  <a:close/>
                  <a:moveTo>
                    <a:pt x="5189" y="10377"/>
                  </a:moveTo>
                  <a:cubicBezTo>
                    <a:pt x="2324" y="10377"/>
                    <a:pt x="0" y="8054"/>
                    <a:pt x="0" y="5188"/>
                  </a:cubicBezTo>
                  <a:cubicBezTo>
                    <a:pt x="0" y="2322"/>
                    <a:pt x="2324" y="0"/>
                    <a:pt x="5189" y="0"/>
                  </a:cubicBezTo>
                  <a:cubicBezTo>
                    <a:pt x="8054" y="0"/>
                    <a:pt x="10378" y="2322"/>
                    <a:pt x="10378" y="5188"/>
                  </a:cubicBezTo>
                  <a:cubicBezTo>
                    <a:pt x="10378" y="8054"/>
                    <a:pt x="8056" y="10377"/>
                    <a:pt x="5189" y="10377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3759200" y="3672508"/>
            <a:ext cx="4673600" cy="471552"/>
            <a:chOff x="3759200" y="3558828"/>
            <a:chExt cx="4673600" cy="471552"/>
          </a:xfrm>
        </p:grpSpPr>
        <p:sp>
          <p:nvSpPr>
            <p:cNvPr id="28" name="矩形: 圆角 27"/>
            <p:cNvSpPr/>
            <p:nvPr/>
          </p:nvSpPr>
          <p:spPr>
            <a:xfrm>
              <a:off x="3759200" y="3558828"/>
              <a:ext cx="4673600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4300855" y="3644286"/>
              <a:ext cx="3590290" cy="3067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chemeClr val="bg1"/>
                  </a:solidFill>
                  <a:latin typeface="Microsoft YaHei" panose="020B0503020204020204" charset="-122"/>
                  <a:ea typeface="Microsoft YaHei" panose="020B0503020204020204" charset="-122"/>
                </a:rPr>
                <a:t>数据平台  /  智能体平台  /  AI＋数据</a:t>
              </a:r>
              <a:r>
                <a:rPr lang="en-US" altLang="zh-CN" sz="1400" b="1" dirty="0">
                  <a:solidFill>
                    <a:schemeClr val="bg1"/>
                  </a:solidFill>
                  <a:latin typeface="Microsoft YaHei" panose="020B0503020204020204" charset="-122"/>
                  <a:ea typeface="Microsoft YaHei" panose="020B0503020204020204" charset="-122"/>
                </a:rPr>
                <a:t>+</a:t>
              </a:r>
              <a:r>
                <a:rPr lang="zh-CN" altLang="en-US" sz="1400" b="1" dirty="0">
                  <a:solidFill>
                    <a:schemeClr val="bg1"/>
                  </a:solidFill>
                  <a:latin typeface="Microsoft YaHei" panose="020B0503020204020204" charset="-122"/>
                  <a:ea typeface="Microsoft YaHei" panose="020B0503020204020204" charset="-122"/>
                </a:rPr>
                <a:t>平台</a:t>
              </a:r>
              <a:endParaRPr lang="zh-CN" altLang="en-US" sz="14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9" name="十字形 18" descr="D:\51PPT模板网\51pptmoban.com\图片.jpg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 descr="D:\51PPT模板网\51pptmoban.com\图片.jpg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00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一页说清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我们要做的三件事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数据是底子，智能体是抓手，两者打通才能越用越好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02  ·  AI＋数据平台 · 汇报要点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67834"/>
            <a:ext cx="3181258" cy="3237433"/>
          </a:xfrm>
          <a:prstGeom prst="roundRect">
            <a:avLst>
              <a:gd name="adj" fmla="val 390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94318" y="1967834"/>
            <a:ext cx="3181258" cy="1020013"/>
          </a:xfrm>
          <a:prstGeom prst="roundRect">
            <a:avLst>
              <a:gd name="adj" fmla="val 1217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4318" y="2766105"/>
            <a:ext cx="3181258" cy="22174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16060" y="2074270"/>
            <a:ext cx="1064361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7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01</a:t>
            </a:r>
            <a:endParaRPr sz="27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48" name="Picture 47" descr="databas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10351" y="2145228"/>
            <a:ext cx="443484" cy="44348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216060" y="2553233"/>
            <a:ext cx="273777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数据平台</a:t>
            </a:r>
            <a:endParaRPr sz="16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216060" y="3120892"/>
            <a:ext cx="273777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把数据理清、算准、管住</a:t>
            </a:r>
            <a:endParaRPr sz="13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51" name="Picture 50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060" y="3617595"/>
            <a:ext cx="195132" cy="19513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499890" y="3564376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定规矩、统一编号和口径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53" name="Picture 52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060" y="4016730"/>
            <a:ext cx="195132" cy="19513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499890" y="3963512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每天自动体检，错数拦在报表外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55" name="Picture 54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060" y="4415866"/>
            <a:ext cx="195132" cy="195132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499890" y="4362648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订单、核销从第二天看到变成分钟级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57" name="Picture 56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060" y="4815001"/>
            <a:ext cx="195132" cy="19513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499890" y="4761783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先做“订单 → 核销 → 结算”主线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4352970" y="1967834"/>
            <a:ext cx="3181258" cy="3237433"/>
          </a:xfrm>
          <a:prstGeom prst="roundRect">
            <a:avLst>
              <a:gd name="adj" fmla="val 390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352970" y="1967834"/>
            <a:ext cx="3181258" cy="1020013"/>
          </a:xfrm>
          <a:prstGeom prst="roundRect">
            <a:avLst>
              <a:gd name="adj" fmla="val 1217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4352970" y="2766105"/>
            <a:ext cx="3181258" cy="22174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74712" y="2074270"/>
            <a:ext cx="1064361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7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02</a:t>
            </a:r>
            <a:endParaRPr sz="27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63" name="Picture 62" descr="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003" y="2145228"/>
            <a:ext cx="443484" cy="443484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4574712" y="2553233"/>
            <a:ext cx="273777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智能体平台</a:t>
            </a:r>
            <a:endParaRPr sz="16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4574712" y="3120892"/>
            <a:ext cx="273777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先借力卖起来，再自己建</a:t>
            </a:r>
            <a:endParaRPr sz="13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66" name="Picture 65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712" y="3617595"/>
            <a:ext cx="195132" cy="19513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4858542" y="3564376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借现成平台，几周做出来去卖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68" name="Picture 67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712" y="4016730"/>
            <a:ext cx="195132" cy="195132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4858542" y="3963512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标杆景区验证能卖、能赚钱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70" name="Picture 69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712" y="4415866"/>
            <a:ext cx="195132" cy="19513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4858542" y="4362648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跑通后按业态快速复制抢市场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72" name="Picture 71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712" y="4815001"/>
            <a:ext cx="195132" cy="195132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4858542" y="4761783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规模起来后自建，省钱、交付快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7711622" y="1967834"/>
            <a:ext cx="3181258" cy="3237433"/>
          </a:xfrm>
          <a:prstGeom prst="roundRect">
            <a:avLst>
              <a:gd name="adj" fmla="val 390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7711622" y="1967834"/>
            <a:ext cx="3181258" cy="1020013"/>
          </a:xfrm>
          <a:prstGeom prst="roundRect">
            <a:avLst>
              <a:gd name="adj" fmla="val 1217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711622" y="2766105"/>
            <a:ext cx="3181258" cy="22174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933364" y="2074270"/>
            <a:ext cx="1064361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7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03</a:t>
            </a:r>
            <a:endParaRPr sz="27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78" name="Picture 77" descr="refresh-cw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27655" y="2145228"/>
            <a:ext cx="443484" cy="443484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7933364" y="2553233"/>
            <a:ext cx="273777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AI＋数据平台</a:t>
            </a:r>
            <a:endParaRPr sz="16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7933364" y="3120892"/>
            <a:ext cx="273777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数据在公司里转起来</a:t>
            </a:r>
            <a:endParaRPr sz="13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81" name="Picture 80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3364" y="3617595"/>
            <a:ext cx="195132" cy="195132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8217194" y="3564376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业务产生数据，平台统一整理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83" name="Picture 82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3364" y="4016730"/>
            <a:ext cx="195132" cy="195132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8217194" y="3963512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智能体和报表用同一套数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85" name="Picture 84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3364" y="4415866"/>
            <a:ext cx="195132" cy="195132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8217194" y="4362648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问答、评价、处置结果回流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87" name="Picture 86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3364" y="4815001"/>
            <a:ext cx="195132" cy="195132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8217194" y="4761783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反哺定价、营销、调度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994318" y="5382661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090" tIns="0" rIns="177393" bIns="0" rtlCol="0" anchor="ctr"/>
          <a:lstStyle/>
          <a:p>
            <a:pPr algn="l"/>
            <a:r>
              <a:rPr sz="13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需要您支持　</a:t>
            </a:r>
            <a:r>
              <a:rPr sz="13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口径由谁拍板 · 规范强制执行 · 标杆景区与销售配合 · 自建时点决策</a:t>
            </a:r>
            <a:endParaRPr sz="13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1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 descr="D:\51PPT模板网\51pptmoban.com\图片.jpg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783191" y="316763"/>
            <a:ext cx="1843847" cy="1040376"/>
            <a:chOff x="815747" y="507302"/>
            <a:chExt cx="1843847" cy="1040376"/>
          </a:xfrm>
        </p:grpSpPr>
        <p:sp>
          <p:nvSpPr>
            <p:cNvPr id="5" name="文本框 4"/>
            <p:cNvSpPr txBox="1"/>
            <p:nvPr/>
          </p:nvSpPr>
          <p:spPr>
            <a:xfrm>
              <a:off x="815747" y="507302"/>
              <a:ext cx="1415772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 algn="ctr">
                <a:defRPr sz="8000">
                  <a:solidFill>
                    <a:srgbClr val="2CAB93"/>
                  </a:solidFill>
                  <a:latin typeface="Alimama ShuHeiTi Bold" pitchFamily="2" charset="-122"/>
                  <a:ea typeface="Alimama ShuHeiTi Bold" pitchFamily="2" charset="-122"/>
                </a:defRPr>
              </a:lvl1pPr>
            </a:lstStyle>
            <a:p>
              <a:r>
                <a:rPr lang="zh-CN" altLang="en-US" sz="4800" dirty="0">
                  <a:solidFill>
                    <a:schemeClr val="tx1"/>
                  </a:solidFill>
                </a:rPr>
                <a:t>目录</a:t>
              </a:r>
              <a:endParaRPr lang="zh-CN" altLang="en-US" sz="4800" dirty="0">
                <a:solidFill>
                  <a:schemeClr val="tx1"/>
                </a:solidFill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893577" y="1286068"/>
              <a:ext cx="176601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050" dirty="0"/>
                <a:t>CONTENTS</a:t>
              </a:r>
              <a:endParaRPr lang="zh-CN" altLang="en-US" sz="1050" dirty="0"/>
            </a:p>
          </p:txBody>
        </p:sp>
      </p:grpSp>
      <p:sp>
        <p:nvSpPr>
          <p:cNvPr id="9" name="十字形 8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grpSp>
        <p:nvGrpSpPr>
          <p:cNvPr id="55" name="组合 54"/>
          <p:cNvGrpSpPr/>
          <p:nvPr>
            <p:custDataLst>
              <p:tags r:id="rId2"/>
            </p:custDataLst>
          </p:nvPr>
        </p:nvGrpSpPr>
        <p:grpSpPr>
          <a:xfrm>
            <a:off x="2099340" y="2281514"/>
            <a:ext cx="7993319" cy="562935"/>
            <a:chOff x="1778000" y="2361285"/>
            <a:chExt cx="7993319" cy="562935"/>
          </a:xfrm>
        </p:grpSpPr>
        <p:grpSp>
          <p:nvGrpSpPr>
            <p:cNvPr id="40" name="组合 39"/>
            <p:cNvGrpSpPr/>
            <p:nvPr/>
          </p:nvGrpSpPr>
          <p:grpSpPr>
            <a:xfrm>
              <a:off x="1778000" y="2361285"/>
              <a:ext cx="3889375" cy="562935"/>
              <a:chOff x="1778000" y="2361285"/>
              <a:chExt cx="3889375" cy="562935"/>
            </a:xfrm>
          </p:grpSpPr>
          <p:sp>
            <p:nvSpPr>
              <p:cNvPr id="20" name="椭圆 19"/>
              <p:cNvSpPr/>
              <p:nvPr>
                <p:custDataLst>
                  <p:tags r:id="rId3"/>
                </p:custDataLst>
              </p:nvPr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28" name="矩形: 圆角 27"/>
              <p:cNvSpPr/>
              <p:nvPr>
                <p:custDataLst>
                  <p:tags r:id="rId4"/>
                </p:custDataLst>
              </p:nvPr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31" name="任意多边形: 形状 30"/>
              <p:cNvSpPr/>
              <p:nvPr>
                <p:custDataLst>
                  <p:tags r:id="rId5"/>
                </p:custDataLst>
              </p:nvPr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39" name="组合 38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36" name="文本框 35"/>
                <p:cNvSpPr txBox="1"/>
                <p:nvPr>
                  <p:custDataLst>
                    <p:tags r:id="rId6"/>
                  </p:custDataLst>
                </p:nvPr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01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8" name="文本框 37"/>
                <p:cNvSpPr txBox="1"/>
                <p:nvPr>
                  <p:custDataLst>
                    <p:tags r:id="rId7"/>
                  </p:custDataLst>
                </p:nvPr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Microsoft YaHei" panose="020B0503020204020204" charset="-122"/>
                      <a:ea typeface="Microsoft YaHei" panose="020B0503020204020204" charset="-122"/>
                    </a:rPr>
                    <a:t>数据平台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  <p:grpSp>
          <p:nvGrpSpPr>
            <p:cNvPr id="41" name="组合 40"/>
            <p:cNvGrpSpPr/>
            <p:nvPr/>
          </p:nvGrpSpPr>
          <p:grpSpPr>
            <a:xfrm>
              <a:off x="5881944" y="2361285"/>
              <a:ext cx="3889375" cy="562935"/>
              <a:chOff x="1778000" y="2361285"/>
              <a:chExt cx="3889375" cy="562935"/>
            </a:xfrm>
          </p:grpSpPr>
          <p:sp>
            <p:nvSpPr>
              <p:cNvPr id="42" name="椭圆 41"/>
              <p:cNvSpPr/>
              <p:nvPr>
                <p:custDataLst>
                  <p:tags r:id="rId8"/>
                </p:custDataLst>
              </p:nvPr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48" name="矩形: 圆角 47"/>
              <p:cNvSpPr/>
              <p:nvPr>
                <p:custDataLst>
                  <p:tags r:id="rId9"/>
                </p:custDataLst>
              </p:nvPr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51" name="任意多边形: 形状 50"/>
              <p:cNvSpPr/>
              <p:nvPr>
                <p:custDataLst>
                  <p:tags r:id="rId10"/>
                </p:custDataLst>
              </p:nvPr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52" name="组合 51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53" name="文本框 52"/>
                <p:cNvSpPr txBox="1"/>
                <p:nvPr>
                  <p:custDataLst>
                    <p:tags r:id="rId11"/>
                  </p:custDataLst>
                </p:nvPr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02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4" name="文本框 53"/>
                <p:cNvSpPr txBox="1"/>
                <p:nvPr>
                  <p:custDataLst>
                    <p:tags r:id="rId12"/>
                  </p:custDataLst>
                </p:nvPr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Microsoft YaHei" panose="020B0503020204020204" charset="-122"/>
                      <a:ea typeface="Microsoft YaHei" panose="020B0503020204020204" charset="-122"/>
                    </a:rPr>
                    <a:t>智能体平台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</p:grpSp>
      <p:grpSp>
        <p:nvGrpSpPr>
          <p:cNvPr id="56" name="组合 55"/>
          <p:cNvGrpSpPr/>
          <p:nvPr>
            <p:custDataLst>
              <p:tags r:id="rId13"/>
            </p:custDataLst>
          </p:nvPr>
        </p:nvGrpSpPr>
        <p:grpSpPr>
          <a:xfrm>
            <a:off x="2099340" y="4093229"/>
            <a:ext cx="7993319" cy="562935"/>
            <a:chOff x="1778000" y="2361285"/>
            <a:chExt cx="7993319" cy="562935"/>
          </a:xfrm>
        </p:grpSpPr>
        <p:grpSp>
          <p:nvGrpSpPr>
            <p:cNvPr id="57" name="组合 56"/>
            <p:cNvGrpSpPr/>
            <p:nvPr/>
          </p:nvGrpSpPr>
          <p:grpSpPr>
            <a:xfrm>
              <a:off x="1778000" y="2361285"/>
              <a:ext cx="3889375" cy="562935"/>
              <a:chOff x="1778000" y="2361285"/>
              <a:chExt cx="3889375" cy="562935"/>
            </a:xfrm>
          </p:grpSpPr>
          <p:sp>
            <p:nvSpPr>
              <p:cNvPr id="65" name="椭圆 64"/>
              <p:cNvSpPr/>
              <p:nvPr>
                <p:custDataLst>
                  <p:tags r:id="rId14"/>
                </p:custDataLst>
              </p:nvPr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6" name="矩形: 圆角 65"/>
              <p:cNvSpPr/>
              <p:nvPr>
                <p:custDataLst>
                  <p:tags r:id="rId15"/>
                </p:custDataLst>
              </p:nvPr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7" name="任意多边形: 形状 66"/>
              <p:cNvSpPr/>
              <p:nvPr>
                <p:custDataLst>
                  <p:tags r:id="rId16"/>
                </p:custDataLst>
              </p:nvPr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68" name="组合 67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82" name="文本框 81"/>
                <p:cNvSpPr txBox="1"/>
                <p:nvPr>
                  <p:custDataLst>
                    <p:tags r:id="rId17"/>
                  </p:custDataLst>
                </p:nvPr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03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3" name="文本框 82"/>
                <p:cNvSpPr txBox="1"/>
                <p:nvPr>
                  <p:custDataLst>
                    <p:tags r:id="rId18"/>
                  </p:custDataLst>
                </p:nvPr>
              </p:nvSpPr>
              <p:spPr>
                <a:xfrm>
                  <a:off x="1965746" y="2122247"/>
                  <a:ext cx="2080066" cy="306705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Microsoft YaHei" panose="020B0503020204020204" charset="-122"/>
                      <a:ea typeface="Microsoft YaHei" panose="020B0503020204020204" charset="-122"/>
                    </a:rPr>
                    <a:t>AI＋数据</a:t>
                  </a:r>
                  <a:r>
                    <a:rPr lang="en-US" altLang="zh-CN" sz="1400" b="1" dirty="0">
                      <a:solidFill>
                        <a:schemeClr val="bg1"/>
                      </a:solidFill>
                      <a:latin typeface="Microsoft YaHei" panose="020B0503020204020204" charset="-122"/>
                      <a:ea typeface="Microsoft YaHei" panose="020B0503020204020204" charset="-122"/>
                    </a:rPr>
                    <a:t>+</a:t>
                  </a:r>
                  <a:r>
                    <a:rPr lang="zh-CN" altLang="en-US" sz="1400" b="1" dirty="0">
                      <a:solidFill>
                        <a:schemeClr val="bg1"/>
                      </a:solidFill>
                      <a:latin typeface="Microsoft YaHei" panose="020B0503020204020204" charset="-122"/>
                      <a:ea typeface="Microsoft YaHei" panose="020B0503020204020204" charset="-122"/>
                    </a:rPr>
                    <a:t>平台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  <p:grpSp>
          <p:nvGrpSpPr>
            <p:cNvPr id="58" name="组合 57"/>
            <p:cNvGrpSpPr/>
            <p:nvPr/>
          </p:nvGrpSpPr>
          <p:grpSpPr>
            <a:xfrm>
              <a:off x="5881944" y="2361285"/>
              <a:ext cx="3889375" cy="562935"/>
              <a:chOff x="1778000" y="2361285"/>
              <a:chExt cx="3889375" cy="562935"/>
            </a:xfrm>
          </p:grpSpPr>
          <p:sp>
            <p:nvSpPr>
              <p:cNvPr id="59" name="椭圆 58"/>
              <p:cNvSpPr/>
              <p:nvPr>
                <p:custDataLst>
                  <p:tags r:id="rId19"/>
                </p:custDataLst>
              </p:nvPr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0" name="矩形: 圆角 59"/>
              <p:cNvSpPr/>
              <p:nvPr>
                <p:custDataLst>
                  <p:tags r:id="rId20"/>
                </p:custDataLst>
              </p:nvPr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1" name="任意多边形: 形状 60"/>
              <p:cNvSpPr/>
              <p:nvPr>
                <p:custDataLst>
                  <p:tags r:id="rId21"/>
                </p:custDataLst>
              </p:nvPr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62" name="组合 61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63" name="文本框 62"/>
                <p:cNvSpPr txBox="1"/>
                <p:nvPr>
                  <p:custDataLst>
                    <p:tags r:id="rId22"/>
                  </p:custDataLst>
                </p:nvPr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04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4" name="文本框 63"/>
                <p:cNvSpPr txBox="1"/>
                <p:nvPr>
                  <p:custDataLst>
                    <p:tags r:id="rId23"/>
                  </p:custDataLst>
                </p:nvPr>
              </p:nvSpPr>
              <p:spPr>
                <a:xfrm>
                  <a:off x="1965746" y="2122247"/>
                  <a:ext cx="2080066" cy="306705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</a:rPr>
                    <a:t>流程</a:t>
                  </a:r>
                  <a:r>
                    <a:rPr lang="zh-CN" altLang="en-US" sz="1400" b="1" dirty="0">
                      <a:solidFill>
                        <a:schemeClr val="bg1"/>
                      </a:solidFill>
                    </a:rPr>
                    <a:t>闭环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</p:grpSp>
      <p:sp>
        <p:nvSpPr>
          <p:cNvPr id="84" name="TextBox 83"/>
          <p:cNvSpPr txBox="1"/>
          <p:nvPr>
            <p:custDataLst>
              <p:tags r:id="rId24"/>
            </p:custDataLst>
          </p:nvPr>
        </p:nvSpPr>
        <p:spPr>
          <a:xfrm>
            <a:off x="2514600" y="2944368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现状与问题 · 怎么建 · 怎么治理 · 建成后的变化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5" name="TextBox 84"/>
          <p:cNvSpPr txBox="1"/>
          <p:nvPr>
            <p:custDataLst>
              <p:tags r:id="rId25"/>
            </p:custDataLst>
          </p:nvPr>
        </p:nvSpPr>
        <p:spPr>
          <a:xfrm>
            <a:off x="6620256" y="2944368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能做什么 · 先验证 · 再复制 · 后自建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6" name="TextBox 85"/>
          <p:cNvSpPr txBox="1"/>
          <p:nvPr>
            <p:custDataLst>
              <p:tags r:id="rId26"/>
            </p:custDataLst>
          </p:nvPr>
        </p:nvSpPr>
        <p:spPr>
          <a:xfrm>
            <a:off x="2514600" y="475488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数据怎么流转 · 闭环 · 一个例子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7" name="TextBox 86"/>
          <p:cNvSpPr txBox="1"/>
          <p:nvPr>
            <p:custDataLst>
              <p:tags r:id="rId27"/>
            </p:custDataLst>
          </p:nvPr>
        </p:nvSpPr>
        <p:spPr>
          <a:xfrm>
            <a:off x="6620256" y="475488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先做的三件事 · 需要的支持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1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把数据理清、算准、管住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数据平台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这一部分讲</a:t>
            </a:r>
            <a:endParaRPr sz="12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现状与问题</a:t>
            </a:r>
            <a:endParaRPr sz="13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3904487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手里的数据</a:t>
            </a:r>
            <a:endParaRPr sz="13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536752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怎么建</a:t>
            </a:r>
            <a:endParaRPr sz="13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83056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数据治理八步</a:t>
            </a:r>
            <a:endParaRPr sz="13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829360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治理保障</a:t>
            </a:r>
            <a:endParaRPr sz="13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2479675" y="4873625"/>
            <a:ext cx="1231265" cy="3111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六个统一</a:t>
            </a:r>
            <a:endParaRPr sz="13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3971797" y="4873752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建成后的变化</a:t>
            </a:r>
            <a:endParaRPr sz="13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现状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工具基本齐了，每天的主流程也跑通了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已经花的钱都在用，接下来是在这个基础上补齐，而不是推倒重来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05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2341595" cy="1419148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2079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databas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3669" y="2329868"/>
            <a:ext cx="243916" cy="24391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74850" y="2190170"/>
            <a:ext cx="1498975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DataWorks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774850" y="2474000"/>
            <a:ext cx="149897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数据加工“车间”</a:t>
            </a:r>
            <a:endParaRPr sz="11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171711" y="2828787"/>
            <a:ext cx="1986808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已买：开发 · 调度 · 找数 · 管资产 · 出数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3513307" y="2048256"/>
            <a:ext cx="2341595" cy="1419148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690701" y="22079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plug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2659" y="2329868"/>
            <a:ext cx="243916" cy="243916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293839" y="2190170"/>
            <a:ext cx="1498975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动态数据开放 API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4293839" y="2474000"/>
            <a:ext cx="149897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对内对外的数据“窗口”</a:t>
            </a:r>
            <a:endParaRPr sz="11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3690701" y="2828787"/>
            <a:ext cx="1986808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指标对内对外提供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6032296" y="2048256"/>
            <a:ext cx="2341595" cy="1419148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209690" y="22079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chart-colum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1648" y="2329868"/>
            <a:ext cx="243916" cy="243916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6812828" y="2190170"/>
            <a:ext cx="1498975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小Q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6812828" y="2474000"/>
            <a:ext cx="149897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看报表、做分析</a:t>
            </a:r>
            <a:endParaRPr sz="11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6209690" y="2828787"/>
            <a:ext cx="1986808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报表展示与 AI 问数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8551285" y="2048256"/>
            <a:ext cx="2341595" cy="1419148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728679" y="22079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warehous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0637" y="2329868"/>
            <a:ext cx="243916" cy="24391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9331817" y="2190170"/>
            <a:ext cx="1498975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湖仓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9331817" y="2474000"/>
            <a:ext cx="149897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存数据的“仓库”</a:t>
            </a:r>
            <a:endParaRPr sz="11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8728679" y="2828787"/>
            <a:ext cx="1986808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部分模型已建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994318" y="3742364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36233" y="3671407"/>
            <a:ext cx="798271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已经跑通：每天凌晨自动跑一遍的“数据流水线”</a:t>
            </a:r>
            <a:endParaRPr sz="13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7699796" y="3671407"/>
            <a:ext cx="319308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供应商 / 游客 / 会员 → 订单 → 维度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994318" y="4114891"/>
            <a:ext cx="1738457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原料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195"/>
              </a:spcBef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原样存一份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2173986" y="3999585"/>
            <a:ext cx="470093" cy="212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ODS</a:t>
            </a:r>
            <a:endParaRPr sz="8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Right Arrow 72"/>
          <p:cNvSpPr/>
          <p:nvPr/>
        </p:nvSpPr>
        <p:spPr>
          <a:xfrm>
            <a:off x="2785993" y="4469678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034344" y="4114891"/>
            <a:ext cx="1738457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洗干净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195"/>
              </a:spcBef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去重、补全、纠错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4214012" y="3999585"/>
            <a:ext cx="470093" cy="212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DWD</a:t>
            </a:r>
            <a:endParaRPr sz="8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Right Arrow 75"/>
          <p:cNvSpPr/>
          <p:nvPr/>
        </p:nvSpPr>
        <p:spPr>
          <a:xfrm>
            <a:off x="4826020" y="4469678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5074371" y="4114891"/>
            <a:ext cx="1738457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字典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195"/>
              </a:spcBef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景区、商品等基础信息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6254038" y="3999585"/>
            <a:ext cx="470093" cy="212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DIM</a:t>
            </a:r>
            <a:endParaRPr sz="8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Right Arrow 78"/>
          <p:cNvSpPr/>
          <p:nvPr/>
        </p:nvSpPr>
        <p:spPr>
          <a:xfrm>
            <a:off x="6866046" y="4469678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7114397" y="4114891"/>
            <a:ext cx="1738457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汇总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195"/>
              </a:spcBef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按天、按景区算好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8294064" y="3999585"/>
            <a:ext cx="470093" cy="212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DWS</a:t>
            </a:r>
            <a:endParaRPr sz="8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2" name="Right Arrow 81"/>
          <p:cNvSpPr/>
          <p:nvPr/>
        </p:nvSpPr>
        <p:spPr>
          <a:xfrm>
            <a:off x="8906073" y="4469678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9154424" y="4114891"/>
            <a:ext cx="1738457" cy="886968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成品</a:t>
            </a:r>
            <a:endParaRPr sz="14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195"/>
              </a:spcBef>
            </a:pPr>
            <a:r>
              <a:rPr sz="10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报表、接口直接用</a:t>
            </a:r>
            <a:endParaRPr sz="10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10334091" y="3999585"/>
            <a:ext cx="470093" cy="212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ADS</a:t>
            </a:r>
            <a:endParaRPr sz="8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994318" y="5223601"/>
            <a:ext cx="9898562" cy="585398"/>
          </a:xfrm>
          <a:prstGeom prst="roundRect">
            <a:avLst>
              <a:gd name="adj" fmla="val 15151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triangle-alert_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1711" y="5383255"/>
            <a:ext cx="266090" cy="266090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1544237" y="5223601"/>
            <a:ext cx="1064361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还没建</a:t>
            </a:r>
            <a:endParaRPr sz="12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2413467" y="5383255"/>
            <a:ext cx="850503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实时数据</a:t>
            </a:r>
            <a:endParaRPr sz="1100" b="0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3370407" y="5383255"/>
            <a:ext cx="1133840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数据质量检查</a:t>
            </a:r>
            <a:endParaRPr sz="1100" b="0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0" name="Rounded Rectangle 89"/>
          <p:cNvSpPr/>
          <p:nvPr/>
        </p:nvSpPr>
        <p:spPr>
          <a:xfrm>
            <a:off x="4610684" y="5383255"/>
            <a:ext cx="850503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统一标签</a:t>
            </a:r>
            <a:endParaRPr sz="1100" b="0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1" name="Rounded Rectangle 90"/>
          <p:cNvSpPr/>
          <p:nvPr/>
        </p:nvSpPr>
        <p:spPr>
          <a:xfrm>
            <a:off x="5567624" y="5383255"/>
            <a:ext cx="1133840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指标口径管理</a:t>
            </a:r>
            <a:endParaRPr sz="1100" b="0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6807901" y="5383255"/>
            <a:ext cx="1133840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数据规范落地</a:t>
            </a:r>
            <a:endParaRPr sz="1100" b="0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问题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六个平时真实遇到的麻烦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每一条都能在日常工作里找到例子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06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719483"/>
            <a:ext cx="9898562" cy="354787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71711" y="1719483"/>
            <a:ext cx="199567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问题</a:t>
            </a:r>
            <a:endParaRPr sz="11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3433480" y="1719483"/>
            <a:ext cx="3947007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平时是什么样</a:t>
            </a:r>
            <a:endParaRPr sz="11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7646577" y="1719483"/>
            <a:ext cx="315760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为什么会这样</a:t>
            </a:r>
            <a:endParaRPr sz="11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994318" y="2127488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27363" y="2216185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search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6060" y="2304882"/>
            <a:ext cx="177393" cy="177393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597456" y="2127488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数据散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433480" y="2127488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想看“售票 + 二消 + 结算”，要从 3 个以上系统导数、手工拼表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7646577" y="2127488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没有统一接入；景区、商品、渠道编号各系统不一样</a:t>
            </a:r>
            <a:endParaRPr sz="11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994318" y="2704017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27363" y="2792714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copy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060" y="2881411"/>
            <a:ext cx="177393" cy="177393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597456" y="2704017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一个数多个答案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433480" y="2704017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同一天同一景区，看板、对账、接口三处“核销量”不一样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7646577" y="2704017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公司层面没有统一的指标定义</a:t>
            </a:r>
            <a:endParaRPr sz="11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994318" y="3280547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27363" y="3369242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ile-tex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3457939"/>
            <a:ext cx="177393" cy="177393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597456" y="3280547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没规矩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3433480" y="3280547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表名随意、字段没说明、出了问题找不到负责人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7646577" y="3280547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规范只写在文档里，上线没有人卡</a:t>
            </a:r>
            <a:endParaRPr sz="11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994318" y="3857076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127363" y="3945773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repea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4034469"/>
            <a:ext cx="177393" cy="17739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597456" y="3857076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重复干活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3433480" y="3857076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订单宽表离线、湖仓各做一份，结果还对不上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7646577" y="3857076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没有统一的公共层，各做各的</a:t>
            </a:r>
            <a:endParaRPr sz="11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994318" y="4433605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27363" y="4522302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triangle-aler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6060" y="4610999"/>
            <a:ext cx="177393" cy="177393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597456" y="4433605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数字不准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3433480" y="4433605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入园、核销和现场对不上，节假日更明显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7646577" y="4433605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补传、重复上报、撤销冲正、时间口径混用，缺逐层核对</a:t>
            </a:r>
            <a:endParaRPr sz="11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994318" y="5010134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FD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27363" y="5098831"/>
            <a:ext cx="354787" cy="354787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hourglass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6060" y="5187528"/>
            <a:ext cx="177393" cy="177393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597456" y="5010134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看得慢</a:t>
            </a:r>
            <a:endParaRPr sz="130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3433480" y="5010134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高峰期订单、核销第二天才看到，预警靠人盯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7646577" y="5010134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只有每天跑一次的离线链路</a:t>
            </a:r>
            <a:endParaRPr sz="1100" b="0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994318" y="5693100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lightbulb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9451" y="5803971"/>
            <a:ext cx="266090" cy="266090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1570847" y="5693100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Microsoft YaHei" panose="020B0503020204020204" charset="-122"/>
                <a:ea typeface="Microsoft YaHei" panose="020B0503020204020204" charset="-122"/>
              </a:rPr>
              <a:t>一句话　</a:t>
            </a:r>
            <a:r>
              <a:rPr sz="125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前五个是“管理问题”，要系统治理；第六个是“能力缺口”，要补实时</a:t>
            </a:r>
            <a:endParaRPr sz="125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我们手里有什么数据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按业务分成 8 大块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数据按“数据域 → 主题”分门别类，像图书馆分区一样好找、好管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07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397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receipt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4842" y="2318781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686153" y="2190170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交易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686153" y="2447391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订单、票务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153971" y="2775569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订单数 · 销售额 · 核销次数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1153971" y="3112617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敏感</a:t>
            </a:r>
            <a:endParaRPr sz="9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1792589" y="3112617"/>
            <a:ext cx="634921" cy="230611"/>
          </a:xfrm>
          <a:prstGeom prst="roundRect">
            <a:avLst>
              <a:gd name="adj" fmla="val 50000"/>
            </a:avLst>
          </a:prstGeom>
          <a:solidFill>
            <a:srgbClr val="2CAB93"/>
          </a:solidFill>
          <a:ln w="952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已入仓</a:t>
            </a:r>
            <a:endParaRPr sz="9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3513307" y="2048256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67296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packag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3832" y="2318781"/>
            <a:ext cx="221742" cy="22174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4205142" y="2190170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商品与资源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205142" y="2447391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产品、库存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3672961" y="2775569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售罄率 · 库存余量 · 热销产品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3672961" y="3112617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内部</a:t>
            </a:r>
            <a:endParaRPr sz="9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4311578" y="3112617"/>
            <a:ext cx="751951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部分入仓</a:t>
            </a:r>
            <a:endParaRPr sz="900" b="0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6032296" y="2048256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19195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2822" y="2318781"/>
            <a:ext cx="221742" cy="221742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6724131" y="2190170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用户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724131" y="2447391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游客、会员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6191951" y="2775569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会员等级 · 复购倾向 · 出游偏好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6191951" y="3112617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高敏</a:t>
            </a:r>
            <a:endParaRPr sz="9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6830568" y="3112617"/>
            <a:ext cx="634921" cy="230611"/>
          </a:xfrm>
          <a:prstGeom prst="roundRect">
            <a:avLst>
              <a:gd name="adj" fmla="val 50000"/>
            </a:avLst>
          </a:prstGeom>
          <a:solidFill>
            <a:srgbClr val="2CAB93"/>
          </a:solidFill>
          <a:ln w="952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已入仓</a:t>
            </a:r>
            <a:endParaRPr sz="9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8551285" y="2048256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710940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handshak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1811" y="2318781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9243120" y="2190170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合作方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9243120" y="2447391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供应商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8710940" y="2775569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履约率 · 结算周期 · 供应商等级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8710940" y="3112617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敏感</a:t>
            </a:r>
            <a:endParaRPr sz="9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9349557" y="3112617"/>
            <a:ext cx="634921" cy="230611"/>
          </a:xfrm>
          <a:prstGeom prst="roundRect">
            <a:avLst>
              <a:gd name="adj" fmla="val 50000"/>
            </a:avLst>
          </a:prstGeom>
          <a:solidFill>
            <a:srgbClr val="2CAB93"/>
          </a:solidFill>
          <a:ln w="952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已入仓</a:t>
            </a:r>
            <a:endParaRPr sz="9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994318" y="3662537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153971" y="382219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megaphon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4842" y="3933062"/>
            <a:ext cx="221742" cy="221742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686153" y="3804452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流量营销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1686153" y="4061673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渠道、活动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1153971" y="4389851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渠道转化率 · 活动回报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1153971" y="4726899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敏感</a:t>
            </a:r>
            <a:endParaRPr sz="9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1792589" y="4726899"/>
            <a:ext cx="751951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部分入仓</a:t>
            </a:r>
            <a:endParaRPr sz="900" b="0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3513307" y="3662537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3672961" y="382219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activity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83832" y="3933062"/>
            <a:ext cx="221742" cy="221742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4205142" y="3804452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运营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4205142" y="4061673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日常运营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3672961" y="4389851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房态占用率 · 准点率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0" name="Rounded Rectangle 89"/>
          <p:cNvSpPr/>
          <p:nvPr/>
        </p:nvSpPr>
        <p:spPr>
          <a:xfrm>
            <a:off x="3672961" y="4726899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内部</a:t>
            </a:r>
            <a:endParaRPr sz="9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1" name="Rounded Rectangle 90"/>
          <p:cNvSpPr/>
          <p:nvPr/>
        </p:nvSpPr>
        <p:spPr>
          <a:xfrm>
            <a:off x="4311578" y="4726899"/>
            <a:ext cx="751951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部分入仓</a:t>
            </a:r>
            <a:endParaRPr sz="900" b="0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6032296" y="3662537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191951" y="382219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walle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822" y="3933062"/>
            <a:ext cx="221742" cy="221742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6724131" y="3804452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财务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6724131" y="4061673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结算、对账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6191951" y="4389851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应结 / 已结金额 · 对账差异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8" name="Rounded Rectangle 97"/>
          <p:cNvSpPr/>
          <p:nvPr/>
        </p:nvSpPr>
        <p:spPr>
          <a:xfrm>
            <a:off x="6191951" y="4726899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敏感</a:t>
            </a:r>
            <a:endParaRPr sz="9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6830568" y="4726899"/>
            <a:ext cx="751951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部分入仓</a:t>
            </a:r>
            <a:endParaRPr sz="900" b="0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" name="Rounded Rectangle 99"/>
          <p:cNvSpPr/>
          <p:nvPr/>
        </p:nvSpPr>
        <p:spPr>
          <a:xfrm>
            <a:off x="8551285" y="3662537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8710940" y="382219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2" name="Picture 101" descr="settings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1811" y="3933062"/>
            <a:ext cx="221742" cy="221742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9243120" y="3804452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内部管理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9243120" y="4061673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内部系统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8710940" y="4389851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任务运行 · 存储计算成本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8710940" y="4726899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内部</a:t>
            </a:r>
            <a:endParaRPr sz="9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7" name="Rounded Rectangle 106"/>
          <p:cNvSpPr/>
          <p:nvPr/>
        </p:nvSpPr>
        <p:spPr>
          <a:xfrm>
            <a:off x="9349557" y="4726899"/>
            <a:ext cx="751951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部分入仓</a:t>
            </a:r>
            <a:endParaRPr sz="900" b="0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8" name="Rounded Rectangle 107"/>
          <p:cNvSpPr/>
          <p:nvPr/>
        </p:nvSpPr>
        <p:spPr>
          <a:xfrm>
            <a:off x="994318" y="5259080"/>
            <a:ext cx="4860584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1742" tIns="0" bIns="0" rtlCol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待补　</a:t>
            </a:r>
            <a:r>
              <a:rPr sz="12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现场设备、外部数据、AI 产生的数据</a:t>
            </a:r>
            <a:endParaRPr sz="12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9" name="Rounded Rectangle 108"/>
          <p:cNvSpPr/>
          <p:nvPr/>
        </p:nvSpPr>
        <p:spPr>
          <a:xfrm>
            <a:off x="6032296" y="5259080"/>
            <a:ext cx="4860584" cy="549920"/>
          </a:xfrm>
          <a:prstGeom prst="roundRect">
            <a:avLst>
              <a:gd name="adj" fmla="val 16129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1742" tIns="0" bIns="0" rtlCol="0" anchor="ctr"/>
          <a:lstStyle/>
          <a:p>
            <a:pPr algn="l"/>
            <a:r>
              <a:rPr sz="12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难点　</a:t>
            </a:r>
            <a:r>
              <a:rPr sz="12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节假日高峰、状态多变、离线补传、多景区隔离</a:t>
            </a:r>
            <a:endParaRPr sz="12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怎么建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六层搭起来，治理管全程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从下往上：数据从哪来 → 存到哪 → 算成什么 → 怎么给出去 → AI 怎么用 → 谁在用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08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843659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应用与服务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谁在用</a:t>
            </a:r>
            <a:endParaRPr sz="10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2901298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内部经营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4187403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景区运营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5473506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伙伴接入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6759610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行业报告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8045714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数据产品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994318" y="2491146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AI 能力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让 AI 能用数据</a:t>
            </a:r>
            <a:endParaRPr sz="10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2901298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模型服务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4508929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知识服务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6116558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工具服务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7724188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评测运营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994318" y="3138632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数据服务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对外的窗口</a:t>
            </a:r>
            <a:endParaRPr sz="10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2901298" y="3138632"/>
            <a:ext cx="1518932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动态数据开放 API</a:t>
            </a:r>
            <a:endParaRPr sz="11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4508929" y="3138632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指标服务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6116558" y="3138632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标签服务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7724188" y="3138632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一键接入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994318" y="3786119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指标与分析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算好的数</a:t>
            </a:r>
            <a:endParaRPr sz="10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2901298" y="3786119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企业标准指标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4508929" y="3786119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景区自定义指标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6116558" y="3786119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统一标签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7724188" y="3786119"/>
            <a:ext cx="1518932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小Q</a:t>
            </a:r>
            <a:endParaRPr sz="11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994318" y="4433606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统一底座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仓库与车间</a:t>
            </a:r>
            <a:endParaRPr sz="10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2901298" y="4433606"/>
            <a:ext cx="1197406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DataWorks</a:t>
            </a:r>
            <a:endParaRPr sz="11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4187403" y="4433606"/>
            <a:ext cx="1197406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离线主流程</a:t>
            </a:r>
            <a:endParaRPr sz="11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5473506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实时计算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6759610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湖仓存储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8045714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公共模型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994318" y="5081092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数据来源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数据从哪来</a:t>
            </a:r>
            <a:endParaRPr sz="10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2901298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票务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3705113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订单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4508928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小程序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5312743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供应商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6116557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营销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6920372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渠道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7724187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设备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8528003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外部数据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9420513" y="1843659"/>
            <a:ext cx="1472366" cy="3787352"/>
          </a:xfrm>
          <a:prstGeom prst="roundRect">
            <a:avLst>
              <a:gd name="adj" fmla="val 84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shield-check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5647" y="2021053"/>
            <a:ext cx="372526" cy="372526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9615647" y="2464537"/>
            <a:ext cx="1117579" cy="70957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数据治理</a:t>
            </a:r>
            <a:endParaRPr sz="15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/>
            <a:r>
              <a:rPr sz="1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贯穿每一层</a:t>
            </a:r>
            <a:endParaRPr sz="15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9615647" y="3218459"/>
            <a:ext cx="1117579" cy="248351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数据标准</a:t>
            </a:r>
            <a:endParaRPr sz="12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lnSpc>
                <a:spcPct val="110000"/>
              </a:lnSpc>
              <a:spcBef>
                <a:spcPts val="390"/>
              </a:spcBef>
            </a:pPr>
            <a:r>
              <a:rPr sz="12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主数据</a:t>
            </a:r>
            <a:endParaRPr sz="12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lnSpc>
                <a:spcPct val="110000"/>
              </a:lnSpc>
              <a:spcBef>
                <a:spcPts val="390"/>
              </a:spcBef>
            </a:pPr>
            <a:r>
              <a:rPr sz="12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数据血缘</a:t>
            </a:r>
            <a:endParaRPr sz="12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lnSpc>
                <a:spcPct val="110000"/>
              </a:lnSpc>
              <a:spcBef>
                <a:spcPts val="390"/>
              </a:spcBef>
            </a:pPr>
            <a:r>
              <a:rPr sz="12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数据质量</a:t>
            </a:r>
            <a:endParaRPr sz="12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lnSpc>
                <a:spcPct val="110000"/>
              </a:lnSpc>
              <a:spcBef>
                <a:spcPts val="390"/>
              </a:spcBef>
            </a:pPr>
            <a:r>
              <a:rPr sz="12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统一口径</a:t>
            </a:r>
            <a:endParaRPr sz="12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lnSpc>
                <a:spcPct val="110000"/>
              </a:lnSpc>
              <a:spcBef>
                <a:spcPts val="390"/>
              </a:spcBef>
            </a:pPr>
            <a:r>
              <a:rPr sz="12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权限安全</a:t>
            </a:r>
            <a:endParaRPr sz="12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lnSpc>
                <a:spcPct val="110000"/>
              </a:lnSpc>
              <a:spcBef>
                <a:spcPts val="390"/>
              </a:spcBef>
            </a:pPr>
            <a:r>
              <a:rPr sz="12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资产运营</a:t>
            </a:r>
            <a:endParaRPr sz="12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994318" y="5790666"/>
            <a:ext cx="896823" cy="26609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已经有的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1997577" y="5790666"/>
            <a:ext cx="118952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要新建 / 升级</a:t>
            </a:r>
            <a:endParaRPr sz="10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3470930" y="5790666"/>
            <a:ext cx="532180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思路：统一标准，治理写进研发流程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在已有工具上补齐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能不买的先不买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七类能力，分清哪些已有、哪些升级、哪些新建；没买的模块先用省钱的办法顶上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09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768266"/>
            <a:ext cx="6519214" cy="372526"/>
          </a:xfrm>
          <a:prstGeom prst="roundRect">
            <a:avLst>
              <a:gd name="adj" fmla="val 1904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27363" y="1768266"/>
            <a:ext cx="88696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能力</a:t>
            </a:r>
            <a:endParaRPr sz="11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2191724" y="1768266"/>
            <a:ext cx="1818283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已有</a:t>
            </a:r>
            <a:endParaRPr sz="11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4187403" y="1768266"/>
            <a:ext cx="1197406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升级</a:t>
            </a:r>
            <a:endParaRPr sz="11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5562203" y="1768266"/>
            <a:ext cx="1906981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新建</a:t>
            </a:r>
            <a:endParaRPr sz="11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994318" y="2185141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27363" y="2185141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数据集成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2191724" y="2185141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批量同步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4187403" y="2185141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埋点采集、设备回传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5562203" y="2185141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实时采集、标准连接器</a:t>
            </a:r>
            <a:endParaRPr sz="1000" b="0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994318" y="2664104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27363" y="2664104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存储计算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191724" y="2664104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离线计算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4187403" y="2664104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—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5562203" y="2664104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实时计算、湖仓统一存储</a:t>
            </a:r>
            <a:endParaRPr sz="1000" b="0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994318" y="3143067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27363" y="3143067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开发运维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2191724" y="3143067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开发、运维中心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4187403" y="3143067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数据建模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5562203" y="3143067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发布卡点、成本治理</a:t>
            </a:r>
            <a:endParaRPr sz="1000" b="0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994318" y="3622029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27363" y="3622029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数据治理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2191724" y="3622029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数据地图、资产治理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4187403" y="3622029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血缘、健康分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5562203" y="3622029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质量、标准、分级打码</a:t>
            </a:r>
            <a:endParaRPr sz="1000" b="0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994318" y="4100992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27363" y="4100992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指标标签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191724" y="4100992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—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4187403" y="4100992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—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562203" y="4100992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指标中心、标签系统、景区自定义空间</a:t>
            </a:r>
            <a:endParaRPr sz="1000" b="0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994318" y="4579955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27363" y="4579955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服务分析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2191724" y="4579955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开放 API、数据服务、小Q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4187403" y="4579955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统一出口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5562203" y="4579955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嵌入式分析</a:t>
            </a:r>
            <a:endParaRPr sz="1000" b="0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994318" y="5058918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27363" y="5058918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AI 能力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2191724" y="5058918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—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4187403" y="5058918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AI 问数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5562203" y="5058918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模型网关、知识检索、评测</a:t>
            </a:r>
            <a:endParaRPr sz="1000" b="0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7735275" y="1768266"/>
            <a:ext cx="3157606" cy="3734135"/>
          </a:xfrm>
          <a:prstGeom prst="roundRect">
            <a:avLst>
              <a:gd name="adj" fmla="val 337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piggy-bank_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2668" y="1910181"/>
            <a:ext cx="337047" cy="337047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8338413" y="1874702"/>
            <a:ext cx="2448031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没买的模块，先这样顶上</a:t>
            </a:r>
            <a:endParaRPr sz="130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7" name="Rounded Rectangle 86"/>
          <p:cNvSpPr/>
          <p:nvPr/>
        </p:nvSpPr>
        <p:spPr>
          <a:xfrm>
            <a:off x="7894929" y="2415753"/>
            <a:ext cx="2838297" cy="60313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019105" y="2460101"/>
            <a:ext cx="262542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数据质量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8019105" y="2708452"/>
            <a:ext cx="2625425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关键任务后加检查节点，不合格就拦住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0" name="Rounded Rectangle 89"/>
          <p:cNvSpPr/>
          <p:nvPr/>
        </p:nvSpPr>
        <p:spPr>
          <a:xfrm>
            <a:off x="7894929" y="3107588"/>
            <a:ext cx="2838297" cy="60313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019105" y="3151935"/>
            <a:ext cx="262542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数据标准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8019105" y="3400287"/>
            <a:ext cx="2625425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规范文档 + 发布前检查脚本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7894929" y="3799423"/>
            <a:ext cx="2838297" cy="60313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019105" y="3843771"/>
            <a:ext cx="262542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安全中心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8019105" y="4092122"/>
            <a:ext cx="2625425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计算引擎权限 + 打码视图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7894929" y="4491258"/>
            <a:ext cx="2838297" cy="60313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19105" y="4535605"/>
            <a:ext cx="262542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实时计算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8019105" y="4783957"/>
            <a:ext cx="2625425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先做小范围试验，验证后再投入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994318" y="5644316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0" name="Picture 99" descr="circle-check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9451" y="5755187"/>
            <a:ext cx="266090" cy="266090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1570847" y="5644316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Microsoft YaHei" panose="020B0503020204020204" charset="-122"/>
                <a:ea typeface="Microsoft YaHei" panose="020B0503020204020204" charset="-122"/>
              </a:rPr>
              <a:t>原则　</a:t>
            </a:r>
            <a:r>
              <a:rPr sz="125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已有投入全部保留；先用现有工具延伸，验证有效再追加投入</a:t>
            </a:r>
            <a:endParaRPr sz="125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治理流程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八步走，一步一步落地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按顺序推进：先定规矩、统一编号，再管质量和口径，最后管好权限、盘点和出口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10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27363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1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570847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定规矩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570847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数据标准</a:t>
            </a:r>
            <a:endParaRPr sz="9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49" name="Picture 48" descr="book-open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25907" y="2052096"/>
            <a:ext cx="301569" cy="301569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153971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表名、字段、码值全公司一个说法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1127363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242669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产出　</a:t>
            </a: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规范 + 自动检查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Right Arrow 52"/>
          <p:cNvSpPr/>
          <p:nvPr/>
        </p:nvSpPr>
        <p:spPr>
          <a:xfrm>
            <a:off x="3313739" y="2588712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3535481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668527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668527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2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4112011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统一编号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112011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主数据</a:t>
            </a:r>
            <a:endParaRPr sz="9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59" name="Picture 58" descr="id-card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7070" y="2052096"/>
            <a:ext cx="301569" cy="301569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3695136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景区、商品、渠道、供应商、游客一个编号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3668527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783832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产出　</a:t>
            </a: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编号对照表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Right Arrow 62"/>
          <p:cNvSpPr/>
          <p:nvPr/>
        </p:nvSpPr>
        <p:spPr>
          <a:xfrm>
            <a:off x="5854903" y="2588712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076644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209690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209690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3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6653174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理清来龙去脉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6653174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数据血缘</a:t>
            </a:r>
            <a:endParaRPr sz="9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69" name="Picture 68" descr="folder-tree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8233" y="2052096"/>
            <a:ext cx="301569" cy="301569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236298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每个数从哪来、到哪去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6209690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24996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产出　</a:t>
            </a: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资产目录、血缘图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Right Arrow 72"/>
          <p:cNvSpPr/>
          <p:nvPr/>
        </p:nvSpPr>
        <p:spPr>
          <a:xfrm>
            <a:off x="8396066" y="2588712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8617808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750853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50853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4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9194337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每天体检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9194337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数据质量</a:t>
            </a:r>
            <a:endParaRPr sz="9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79" name="Picture 78" descr="stethoscope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9397" y="2052096"/>
            <a:ext cx="301569" cy="301569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8777462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算完自动检查，不合格就拦住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8750853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866158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产出　</a:t>
            </a: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质量规则、问题单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994318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127363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127363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5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1570847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统一口径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1570847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统一标签（指标）</a:t>
            </a:r>
            <a:endParaRPr sz="9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88" name="Picture 87" descr="scale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25907" y="3888119"/>
            <a:ext cx="301569" cy="301569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153971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一个指标一个算法，集团出标准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0" name="Rounded Rectangle 89"/>
          <p:cNvSpPr/>
          <p:nvPr/>
        </p:nvSpPr>
        <p:spPr>
          <a:xfrm>
            <a:off x="1127363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242669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产出　</a:t>
            </a: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指标字典、标签目录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2" name="Right Arrow 91"/>
          <p:cNvSpPr/>
          <p:nvPr/>
        </p:nvSpPr>
        <p:spPr>
          <a:xfrm>
            <a:off x="3313739" y="4424735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3535481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3668527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3668527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6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4112011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管好权限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4112011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权限安全</a:t>
            </a:r>
            <a:endParaRPr sz="9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98" name="Picture 97" descr="lock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7070" y="3888119"/>
            <a:ext cx="301569" cy="301569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3695136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数据分级，谁的数据只服务谁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" name="Rounded Rectangle 99"/>
          <p:cNvSpPr/>
          <p:nvPr/>
        </p:nvSpPr>
        <p:spPr>
          <a:xfrm>
            <a:off x="3668527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783832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产出　</a:t>
            </a: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分级清单、权限台账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" name="Right Arrow 101"/>
          <p:cNvSpPr/>
          <p:nvPr/>
        </p:nvSpPr>
        <p:spPr>
          <a:xfrm>
            <a:off x="5854903" y="4424735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6076644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6209690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209690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7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6653174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定期盘点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6653174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资产运营</a:t>
            </a:r>
            <a:endParaRPr sz="9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108" name="Picture 107" descr="archive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8233" y="3888119"/>
            <a:ext cx="301569" cy="301569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6236298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打健康分，没人用的就下线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6209690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324996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产出　</a:t>
            </a: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健康分榜、下线清单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12" name="Right Arrow 111"/>
          <p:cNvSpPr/>
          <p:nvPr/>
        </p:nvSpPr>
        <p:spPr>
          <a:xfrm>
            <a:off x="8396066" y="4424735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8617808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750853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750853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8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16" name="TextBox 115"/>
          <p:cNvSpPr txBox="1"/>
          <p:nvPr/>
        </p:nvSpPr>
        <p:spPr>
          <a:xfrm>
            <a:off x="9194337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统一出口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9194337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数据分发</a:t>
            </a:r>
            <a:endParaRPr sz="9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118" name="Picture 117" descr="send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49397" y="3888119"/>
            <a:ext cx="301569" cy="301569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8777462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对内对外只走一个“窗口”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8750853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866158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产出　</a:t>
            </a: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接口目录、调用台账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2" name="Rounded Rectangle 121"/>
          <p:cNvSpPr/>
          <p:nvPr/>
        </p:nvSpPr>
        <p:spPr>
          <a:xfrm>
            <a:off x="994318" y="5484662"/>
            <a:ext cx="9898562" cy="514441"/>
          </a:xfrm>
          <a:prstGeom prst="roundRect">
            <a:avLst>
              <a:gd name="adj" fmla="val 1724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090" tIns="0" bIns="0" rtlCol="0" anchor="ctr"/>
          <a:lstStyle/>
          <a:p>
            <a:pPr algn="l"/>
            <a:r>
              <a:rPr sz="1200" b="1">
                <a:solidFill>
                  <a:srgbClr val="FFE7CF"/>
                </a:solidFill>
                <a:latin typeface="Microsoft YaHei" panose="020B0503020204020204" charset="-122"/>
                <a:ea typeface="Microsoft YaHei" panose="020B0503020204020204" charset="-122"/>
              </a:rPr>
              <a:t>先治一条主线　</a:t>
            </a:r>
            <a:r>
              <a:rPr sz="12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“订单 → 核销 → 结算”公司最核心、问题最多，先在这条线上把八步走通，再按数据域推广</a:t>
            </a:r>
            <a:endParaRPr sz="12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① 数据标准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表名、字段、码值，全公司一个说法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像给每张表发“身份证”：一看名字就知道是什么、在哪一层、谁负责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11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777136"/>
            <a:ext cx="9898562" cy="1685239"/>
          </a:xfrm>
          <a:prstGeom prst="roundRect">
            <a:avLst>
              <a:gd name="adj" fmla="val 736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id-card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6060" y="1972269"/>
            <a:ext cx="354787" cy="35478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59544" y="1954530"/>
            <a:ext cx="3547872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表名就是身份证号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3198433" y="2398014"/>
            <a:ext cx="937229" cy="514441"/>
          </a:xfrm>
          <a:prstGeom prst="roundRect">
            <a:avLst>
              <a:gd name="adj" fmla="val 1724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dwd</a:t>
            </a:r>
            <a:endParaRPr sz="2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2843645" y="2956803"/>
            <a:ext cx="1646803" cy="23061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加工到哪一层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2843645" y="3160805"/>
            <a:ext cx="1646803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“洗干净”层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135662" y="2398014"/>
            <a:ext cx="221742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_</a:t>
            </a:r>
            <a:endParaRPr sz="2350" b="1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4357404" y="2398014"/>
            <a:ext cx="937229" cy="514441"/>
          </a:xfrm>
          <a:prstGeom prst="roundRect">
            <a:avLst>
              <a:gd name="adj" fmla="val 17241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ord</a:t>
            </a:r>
            <a:endParaRPr sz="2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4002617" y="2956803"/>
            <a:ext cx="1646803" cy="23061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哪块业务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002617" y="3160805"/>
            <a:ext cx="1646803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订单</a:t>
            </a:r>
            <a:endParaRPr sz="11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5294634" y="2398014"/>
            <a:ext cx="221742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_</a:t>
            </a:r>
            <a:endParaRPr sz="2350" b="1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5516376" y="2398014"/>
            <a:ext cx="2192782" cy="514441"/>
          </a:xfrm>
          <a:prstGeom prst="roundRect">
            <a:avLst>
              <a:gd name="adj" fmla="val 17241"/>
            </a:avLst>
          </a:prstGeom>
          <a:solidFill>
            <a:srgbClr val="5BB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order_item</a:t>
            </a:r>
            <a:endParaRPr sz="2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5161588" y="2956803"/>
            <a:ext cx="2902356" cy="23061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什么内容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5161588" y="3160805"/>
            <a:ext cx="290235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1">
                <a:solidFill>
                  <a:srgbClr val="5BBFAE"/>
                </a:solidFill>
                <a:latin typeface="Microsoft YaHei" panose="020B0503020204020204" charset="-122"/>
                <a:ea typeface="Microsoft YaHei" panose="020B0503020204020204" charset="-122"/>
              </a:rPr>
              <a:t>订单明细</a:t>
            </a:r>
            <a:endParaRPr sz="1150" b="1">
              <a:solidFill>
                <a:srgbClr val="5BBFAE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7709158" y="2398014"/>
            <a:ext cx="221742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_</a:t>
            </a:r>
            <a:endParaRPr sz="2350" b="1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7930900" y="2398014"/>
            <a:ext cx="757864" cy="514441"/>
          </a:xfrm>
          <a:prstGeom prst="roundRect">
            <a:avLst>
              <a:gd name="adj" fmla="val 1724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di</a:t>
            </a:r>
            <a:endParaRPr sz="2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7576112" y="2956803"/>
            <a:ext cx="1467439" cy="23061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怎么更新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7576112" y="3160805"/>
            <a:ext cx="1467439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每天增量</a:t>
            </a:r>
            <a:endParaRPr sz="11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994318" y="3595420"/>
            <a:ext cx="3181258" cy="1906981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71711" y="3701856"/>
            <a:ext cx="2915168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字段统一叫法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1216060" y="4056644"/>
            <a:ext cx="88696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景区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058680" y="4056644"/>
            <a:ext cx="193950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scenic_id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1216060" y="4331603"/>
            <a:ext cx="88696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金额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2058680" y="4331603"/>
            <a:ext cx="193950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…_amt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1216060" y="4606564"/>
            <a:ext cx="88696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时间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2058680" y="4606564"/>
            <a:ext cx="193950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…_time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1216060" y="4881523"/>
            <a:ext cx="88696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日期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058680" y="4881523"/>
            <a:ext cx="193950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…_date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1216060" y="5156484"/>
            <a:ext cx="88696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是否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2058680" y="5156484"/>
            <a:ext cx="193950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is_…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4352970" y="3595420"/>
            <a:ext cx="3181258" cy="1906981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30364" y="3701856"/>
            <a:ext cx="2915168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码值统一：建公共码表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4530364" y="4109862"/>
            <a:ext cx="578007" cy="283829"/>
          </a:xfrm>
          <a:prstGeom prst="roundRect">
            <a:avLst>
              <a:gd name="adj" fmla="val 500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票种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5179329" y="4109862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渠道类型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6086993" y="4109862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订单状态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4530364" y="4464649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核销方式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5438028" y="4464649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景区等级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4530364" y="4837176"/>
            <a:ext cx="2826471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各系统的码值映射到公共码表，不在代码里写死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7711622" y="3595420"/>
            <a:ext cx="3181258" cy="1906981"/>
          </a:xfrm>
          <a:prstGeom prst="roundRect">
            <a:avLst>
              <a:gd name="adj" fmla="val 55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889015" y="3701856"/>
            <a:ext cx="2915168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建表 8 项必填</a:t>
            </a:r>
            <a:endParaRPr sz="13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7889015" y="4109862"/>
            <a:ext cx="70735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中文名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8667329" y="4109862"/>
            <a:ext cx="578007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描述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6" name="Rounded Rectangle 85"/>
          <p:cNvSpPr/>
          <p:nvPr/>
        </p:nvSpPr>
        <p:spPr>
          <a:xfrm>
            <a:off x="9316295" y="4109862"/>
            <a:ext cx="70735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负责人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7" name="Rounded Rectangle 86"/>
          <p:cNvSpPr/>
          <p:nvPr/>
        </p:nvSpPr>
        <p:spPr>
          <a:xfrm>
            <a:off x="7889015" y="4464649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安全等级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8796680" y="4464649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生命周期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9704344" y="4464649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分区字段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0" name="Rounded Rectangle 89"/>
          <p:cNvSpPr/>
          <p:nvPr/>
        </p:nvSpPr>
        <p:spPr>
          <a:xfrm>
            <a:off x="7889015" y="4819436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字段注释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1" name="Rounded Rectangle 90"/>
          <p:cNvSpPr/>
          <p:nvPr/>
        </p:nvSpPr>
        <p:spPr>
          <a:xfrm>
            <a:off x="8796680" y="4819436"/>
            <a:ext cx="124545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发生 / 上报时间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994318" y="5635447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target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9451" y="5746318"/>
            <a:ext cx="266090" cy="266090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570847" y="5635447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目的　</a:t>
            </a:r>
            <a:r>
              <a:rPr sz="12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同一个东西全公司一个叫法；出了问题，一看就知道是哪张表、找谁负责</a:t>
            </a:r>
            <a:endParaRPr sz="12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② 主数据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一个景区只有一个“身份证”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以前同一个景区在票务、分销、财务里各有各的编号，拼数时对不上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12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397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landmark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4842" y="2318781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2190170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景区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2206508" y="2234519"/>
            <a:ext cx="904707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scenic_id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171711" y="2686872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集团、分园区、子景点分级挂靠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4054358" y="2048256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1401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ticke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4882" y="2318781"/>
            <a:ext cx="221742" cy="22174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763932" y="2190170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商品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5266547" y="2234519"/>
            <a:ext cx="697748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prd_id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4231751" y="2686872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票种、套票、二消商品统一编码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994318" y="3236793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53971" y="3396446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rout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842" y="3507317"/>
            <a:ext cx="221742" cy="22174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703892" y="3378708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渠道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2206508" y="3423056"/>
            <a:ext cx="973693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channel_id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1171711" y="3875410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OTA、自营、分销、团队统一分类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4054358" y="3236793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14011" y="3396446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handshak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4882" y="3507317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4763932" y="3378708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供应商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5451332" y="3423056"/>
            <a:ext cx="697748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sup_id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4231751" y="3875410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同一主体只建一个编码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994318" y="4425330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53971" y="4584984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user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4842" y="4695855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703892" y="4567245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游客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2206508" y="4611593"/>
            <a:ext cx="697748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one_id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1171711" y="5063947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手机号、证件号、会员号归并为一人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4054358" y="4425330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4214011" y="4584984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map-p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4882" y="4695855"/>
            <a:ext cx="221742" cy="22174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4763932" y="4567245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区域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5266547" y="4611593"/>
            <a:ext cx="899779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行政区划码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4231751" y="5063947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采用国家标准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7158746" y="2048256"/>
            <a:ext cx="1773936" cy="425744"/>
          </a:xfrm>
          <a:prstGeom prst="roundRect">
            <a:avLst>
              <a:gd name="adj" fmla="val 16666"/>
            </a:avLst>
          </a:prstGeom>
          <a:solidFill>
            <a:srgbClr val="EE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票务系统编号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81" name="Connector 80"/>
          <p:cNvCxnSpPr/>
          <p:nvPr/>
        </p:nvCxnSpPr>
        <p:spPr>
          <a:xfrm>
            <a:off x="8932682" y="2261128"/>
            <a:ext cx="399135" cy="514441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/>
          <p:cNvSpPr/>
          <p:nvPr/>
        </p:nvSpPr>
        <p:spPr>
          <a:xfrm>
            <a:off x="7158746" y="2562697"/>
            <a:ext cx="1773936" cy="425744"/>
          </a:xfrm>
          <a:prstGeom prst="roundRect">
            <a:avLst>
              <a:gd name="adj" fmla="val 16666"/>
            </a:avLst>
          </a:prstGeom>
          <a:solidFill>
            <a:srgbClr val="EE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分销系统编号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83" name="Connector 82"/>
          <p:cNvCxnSpPr/>
          <p:nvPr/>
        </p:nvCxnSpPr>
        <p:spPr>
          <a:xfrm>
            <a:off x="8932682" y="2775569"/>
            <a:ext cx="399135" cy="0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unded Rectangle 83"/>
          <p:cNvSpPr/>
          <p:nvPr/>
        </p:nvSpPr>
        <p:spPr>
          <a:xfrm>
            <a:off x="7158746" y="3077138"/>
            <a:ext cx="1773936" cy="425744"/>
          </a:xfrm>
          <a:prstGeom prst="roundRect">
            <a:avLst>
              <a:gd name="adj" fmla="val 16666"/>
            </a:avLst>
          </a:prstGeom>
          <a:solidFill>
            <a:srgbClr val="EE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财务系统编号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85" name="Connector 84"/>
          <p:cNvCxnSpPr/>
          <p:nvPr/>
        </p:nvCxnSpPr>
        <p:spPr>
          <a:xfrm flipV="1">
            <a:off x="8932682" y="2775569"/>
            <a:ext cx="399135" cy="514440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9376166" y="2474000"/>
            <a:ext cx="1516715" cy="603138"/>
          </a:xfrm>
          <a:prstGeom prst="roundRect">
            <a:avLst>
              <a:gd name="adj" fmla="val 1470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对照表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5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老编号 → 新编号</a:t>
            </a:r>
            <a:endParaRPr sz="95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7" name="Down Arrow 86"/>
          <p:cNvSpPr/>
          <p:nvPr/>
        </p:nvSpPr>
        <p:spPr>
          <a:xfrm>
            <a:off x="10028087" y="3148096"/>
            <a:ext cx="212872" cy="266090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7158746" y="3494013"/>
            <a:ext cx="3734135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统一编号</a:t>
            </a:r>
            <a:r>
              <a:rPr sz="105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　所有报表、指标、标签只认它</a:t>
            </a:r>
            <a:endParaRPr sz="105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7158746" y="4203588"/>
            <a:ext cx="3734135" cy="603138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search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8400" y="4380981"/>
            <a:ext cx="248351" cy="248351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7673187" y="4239066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先查再建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7673187" y="4505157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新建景区、商品、供应商时先查，有就复用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7158746" y="4895423"/>
            <a:ext cx="3734135" cy="603138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history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8400" y="5072816"/>
            <a:ext cx="248351" cy="248351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7673187" y="4930902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变更有记录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7673187" y="5196992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改编号要审批，保留历史，旧报表能追溯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③ 数据血缘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每个数从哪来、到哪去，一查就清楚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像家谱一样，从源头一直打通到报表、接口和智能体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13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17739" rIns="35478" bIns="17739" rtlCol="0" anchor="ctr"/>
          <a:lstStyle/>
          <a:p>
            <a:pPr algn="ctr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业务系统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源头</a:t>
            </a:r>
            <a:endParaRPr sz="9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5" name="Right Arrow 44"/>
          <p:cNvSpPr/>
          <p:nvPr/>
        </p:nvSpPr>
        <p:spPr>
          <a:xfrm>
            <a:off x="2040940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244943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17739" rIns="35478" bIns="17739" rtlCol="0" anchor="ctr"/>
          <a:lstStyle/>
          <a:p>
            <a:pPr algn="ctr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原料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ODS</a:t>
            </a:r>
            <a:endParaRPr sz="9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Right Arrow 46"/>
          <p:cNvSpPr/>
          <p:nvPr/>
        </p:nvSpPr>
        <p:spPr>
          <a:xfrm>
            <a:off x="3291564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3495568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17739" rIns="35478" bIns="17739" rtlCol="0" anchor="ctr"/>
          <a:lstStyle/>
          <a:p>
            <a:pPr algn="ctr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洗干净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DWD</a:t>
            </a:r>
            <a:endParaRPr sz="9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ight Arrow 48"/>
          <p:cNvSpPr/>
          <p:nvPr/>
        </p:nvSpPr>
        <p:spPr>
          <a:xfrm>
            <a:off x="4542190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746192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17739" rIns="35478" bIns="17739" rtlCol="0" anchor="ctr"/>
          <a:lstStyle/>
          <a:p>
            <a:pPr algn="ctr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汇总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DWS</a:t>
            </a:r>
            <a:endParaRPr sz="9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Right Arrow 50"/>
          <p:cNvSpPr/>
          <p:nvPr/>
        </p:nvSpPr>
        <p:spPr>
          <a:xfrm>
            <a:off x="5792815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996817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17739" rIns="35478" bIns="17739" rtlCol="0" anchor="ctr"/>
          <a:lstStyle/>
          <a:p>
            <a:pPr algn="ctr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成品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ADS</a:t>
            </a:r>
            <a:endParaRPr sz="9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Right Arrow 52"/>
          <p:cNvSpPr/>
          <p:nvPr/>
        </p:nvSpPr>
        <p:spPr>
          <a:xfrm>
            <a:off x="7043440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7247442" y="2154097"/>
            <a:ext cx="1020013" cy="753922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17739" rIns="35478" bIns="17739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指标 / 标签</a:t>
            </a:r>
            <a:endParaRPr sz="12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口径认证过</a:t>
            </a:r>
            <a:endParaRPr sz="9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55" name="Connector 54"/>
          <p:cNvCxnSpPr/>
          <p:nvPr/>
        </p:nvCxnSpPr>
        <p:spPr>
          <a:xfrm flipV="1">
            <a:off x="8356152" y="2065401"/>
            <a:ext cx="399134" cy="461223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8799636" y="1888007"/>
            <a:ext cx="2093244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小Q 报表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57" name="Connector 56"/>
          <p:cNvCxnSpPr/>
          <p:nvPr/>
        </p:nvCxnSpPr>
        <p:spPr>
          <a:xfrm flipV="1">
            <a:off x="8356152" y="2508885"/>
            <a:ext cx="399134" cy="17739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8799636" y="2331491"/>
            <a:ext cx="2093244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开放接口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59" name="Connector 58"/>
          <p:cNvCxnSpPr/>
          <p:nvPr/>
        </p:nvCxnSpPr>
        <p:spPr>
          <a:xfrm>
            <a:off x="8356152" y="2526624"/>
            <a:ext cx="399134" cy="425744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8799636" y="2774975"/>
            <a:ext cx="2093244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AI 智能体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994318" y="3129762"/>
            <a:ext cx="9898562" cy="17739"/>
          </a:xfrm>
          <a:prstGeom prst="roundRect">
            <a:avLst>
              <a:gd name="adj" fmla="val 0"/>
            </a:avLst>
          </a:prstGeom>
          <a:solidFill>
            <a:srgbClr val="CD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94318" y="3245068"/>
            <a:ext cx="4434840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家谱的三个用处</a:t>
            </a:r>
            <a:endParaRPr sz="13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994318" y="3661943"/>
            <a:ext cx="3181258" cy="110871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153971" y="3821597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search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4842" y="3932468"/>
            <a:ext cx="221742" cy="221742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703892" y="3821597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查错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1189451" y="4353778"/>
            <a:ext cx="2790992" cy="3281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报表数字不对，沿家谱往上查，快速找到出错的那一层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4352970" y="3661943"/>
            <a:ext cx="3181258" cy="110871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512624" y="3821597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git-branch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3495" y="3932468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5062545" y="3821597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改之前先评估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4548103" y="4353778"/>
            <a:ext cx="2790992" cy="3281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改表、改口径前，先查哪些报表、接口受影响，通知负责人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7711622" y="3661943"/>
            <a:ext cx="3181258" cy="110871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871276" y="3821597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trash2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2147" y="3932468"/>
            <a:ext cx="221742" cy="221742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8421197" y="3821597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清理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7906755" y="4353778"/>
            <a:ext cx="2790992" cy="3281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没有下游、没人访问的表和任务，进入下线清单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994318" y="4948047"/>
            <a:ext cx="4434840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家谱里记三类信息</a:t>
            </a:r>
            <a:endParaRPr sz="13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994318" y="5347182"/>
            <a:ext cx="3181258" cy="665226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3" tIns="26609" bIns="26609" rtlCol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技术信息　</a:t>
            </a: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表结构、字段类型、存储量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spcBef>
                <a:spcPts val="95"/>
              </a:spcBef>
            </a:pPr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系统自动采集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4352970" y="5347182"/>
            <a:ext cx="3181258" cy="665226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3" tIns="26609" bIns="26609" rtlCol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业务信息　</a:t>
            </a: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含义、口径、负责人、安全等级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spcBef>
                <a:spcPts val="95"/>
              </a:spcBef>
            </a:pPr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开发填写，专员审核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7711622" y="5347182"/>
            <a:ext cx="3181258" cy="665226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3" tIns="26609" bIns="26609" rtlCol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运行信息　</a:t>
            </a: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几点产出、跑多久、多少人在用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spcBef>
                <a:spcPts val="95"/>
              </a:spcBef>
            </a:pPr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系统自动采集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④ 数据质量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每天体检，五项检查、强弱两档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关键数据算完立刻自动检查，不合格的数据拦在报表外面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14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5853988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27363" y="2154692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clipboard-check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8234" y="2265563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686153" y="2101474"/>
            <a:ext cx="88696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完整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686153" y="2385303"/>
            <a:ext cx="88696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不能缺</a:t>
            </a:r>
            <a:endParaRPr sz="10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2590860" y="2048256"/>
            <a:ext cx="4124400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订单号、景区编号不能空；日订单量比近 7 天平均波动超 30% 报警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994318" y="2793309"/>
            <a:ext cx="5853988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27363" y="2899745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badge-check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234" y="3010616"/>
            <a:ext cx="221742" cy="22174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686153" y="2846527"/>
            <a:ext cx="88696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准确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1686153" y="3130356"/>
            <a:ext cx="88696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不能错</a:t>
            </a:r>
            <a:endParaRPr sz="10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2590860" y="2793309"/>
            <a:ext cx="4124400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金额不能为负；核销时间不能早于下单时间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994318" y="3538362"/>
            <a:ext cx="5853988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27363" y="3644798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arrow-left-righ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234" y="3755669"/>
            <a:ext cx="221742" cy="22174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686153" y="3591579"/>
            <a:ext cx="88696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一致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1686153" y="3875410"/>
            <a:ext cx="88696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对得上</a:t>
            </a:r>
            <a:endParaRPr sz="10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2590860" y="3538362"/>
            <a:ext cx="4124400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仓库里的订单金额汇总 = 业务系统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994318" y="4283415"/>
            <a:ext cx="5853988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27363" y="438985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time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8234" y="4500722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686153" y="4336633"/>
            <a:ext cx="88696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及时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1686153" y="4620463"/>
            <a:ext cx="88696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不能晚</a:t>
            </a:r>
            <a:endParaRPr sz="10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2590860" y="4283415"/>
            <a:ext cx="4124400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核心报表每天 7:00 前算完，晚了报警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994318" y="5028468"/>
            <a:ext cx="5853988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27363" y="5134904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fingerprin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8234" y="5245775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86153" y="5081686"/>
            <a:ext cx="88696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唯一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1686153" y="5365516"/>
            <a:ext cx="88696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不重复</a:t>
            </a:r>
            <a:endParaRPr sz="10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2590860" y="5028468"/>
            <a:ext cx="4124400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订单号不重复；同一张票不能重复核销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7070048" y="2048256"/>
            <a:ext cx="1844893" cy="2261768"/>
          </a:xfrm>
          <a:prstGeom prst="roundRect">
            <a:avLst>
              <a:gd name="adj" fmla="val 576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shield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7442" y="2190170"/>
            <a:ext cx="319308" cy="319308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7646577" y="2163561"/>
            <a:ext cx="122401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强规则</a:t>
            </a:r>
            <a:endParaRPr sz="15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7247442" y="2695742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FFE7CF"/>
                </a:solidFill>
                <a:latin typeface="Microsoft YaHei" panose="020B0503020204020204" charset="-122"/>
                <a:ea typeface="Microsoft YaHei" panose="020B0503020204020204" charset="-122"/>
              </a:rPr>
              <a:t>用在</a:t>
            </a:r>
            <a:endParaRPr sz="950" b="1">
              <a:solidFill>
                <a:srgbClr val="FFE7C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7247442" y="2908614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核心表、对外接口</a:t>
            </a:r>
            <a:endParaRPr sz="11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7247442" y="3227923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FFE7CF"/>
                </a:solidFill>
                <a:latin typeface="Microsoft YaHei" panose="020B0503020204020204" charset="-122"/>
                <a:ea typeface="Microsoft YaHei" panose="020B0503020204020204" charset="-122"/>
              </a:rPr>
              <a:t>不过</a:t>
            </a:r>
            <a:endParaRPr sz="950" b="1">
              <a:solidFill>
                <a:srgbClr val="FFE7C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7247442" y="3440795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拦住下游，通知负责人</a:t>
            </a:r>
            <a:endParaRPr sz="11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7247442" y="3760104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FFE7CF"/>
                </a:solidFill>
                <a:latin typeface="Microsoft YaHei" panose="020B0503020204020204" charset="-122"/>
                <a:ea typeface="Microsoft YaHei" panose="020B0503020204020204" charset="-122"/>
              </a:rPr>
              <a:t>时限</a:t>
            </a:r>
            <a:endParaRPr sz="950" b="1">
              <a:solidFill>
                <a:srgbClr val="FFE7C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7247442" y="3972976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当天修好</a:t>
            </a:r>
            <a:endParaRPr sz="11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9047988" y="2048256"/>
            <a:ext cx="1844893" cy="2261768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bell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381" y="2190170"/>
            <a:ext cx="319308" cy="319308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9624517" y="2163561"/>
            <a:ext cx="122401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弱规则</a:t>
            </a:r>
            <a:endParaRPr sz="15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9225381" y="2695742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用在</a:t>
            </a:r>
            <a:endParaRPr sz="9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9225381" y="2908614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一般表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9225381" y="3227923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不过</a:t>
            </a:r>
            <a:endParaRPr sz="9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9225381" y="3440795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只提醒，不拦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9225381" y="3760104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时限</a:t>
            </a:r>
            <a:endParaRPr sz="9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9225381" y="3972976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一周内修好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7070048" y="4443069"/>
            <a:ext cx="3822832" cy="1330452"/>
          </a:xfrm>
          <a:prstGeom prst="roundRect">
            <a:avLst>
              <a:gd name="adj" fmla="val 8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247442" y="4514027"/>
            <a:ext cx="355674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出了问题怎么办</a:t>
            </a:r>
            <a:endParaRPr sz="12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4" name="Rounded Rectangle 93"/>
          <p:cNvSpPr/>
          <p:nvPr/>
        </p:nvSpPr>
        <p:spPr>
          <a:xfrm>
            <a:off x="7247442" y="4886553"/>
            <a:ext cx="733966" cy="372526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发现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5" name="Right Arrow 94"/>
          <p:cNvSpPr/>
          <p:nvPr/>
        </p:nvSpPr>
        <p:spPr>
          <a:xfrm>
            <a:off x="8008018" y="4992989"/>
            <a:ext cx="124175" cy="150784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8158801" y="4886553"/>
            <a:ext cx="733966" cy="372526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拦住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7" name="Right Arrow 96"/>
          <p:cNvSpPr/>
          <p:nvPr/>
        </p:nvSpPr>
        <p:spPr>
          <a:xfrm>
            <a:off x="8919377" y="4992989"/>
            <a:ext cx="124175" cy="150784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9070162" y="4886553"/>
            <a:ext cx="733966" cy="372526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修复重跑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9" name="Right Arrow 98"/>
          <p:cNvSpPr/>
          <p:nvPr/>
        </p:nvSpPr>
        <p:spPr>
          <a:xfrm>
            <a:off x="9830737" y="4992989"/>
            <a:ext cx="124175" cy="150784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9981521" y="4886553"/>
            <a:ext cx="733966" cy="372526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登记问题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7247442" y="5330037"/>
            <a:ext cx="355674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同类问题出现两次，就补一条规则</a:t>
            </a:r>
            <a:endParaRPr sz="10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④ 数据质量 · 举例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“核销量”怎么做到各处一致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这是数据治理的样板：核销做通了，同样的方法复制到其他指标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15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78705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36233" y="2007748"/>
            <a:ext cx="709574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第一步：先把四个容易混的数分开</a:t>
            </a:r>
            <a:endParaRPr sz="13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994318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核销次数</a:t>
            </a:r>
            <a:endParaRPr sz="14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刷了几次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136346" y="2415753"/>
            <a:ext cx="443484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E39A57"/>
                </a:solidFill>
                <a:latin typeface="Microsoft YaHei" panose="020B0503020204020204" charset="-122"/>
                <a:ea typeface="Microsoft YaHei" panose="020B0503020204020204" charset="-122"/>
              </a:rPr>
              <a:t>≠</a:t>
            </a:r>
            <a:endParaRPr sz="2350" b="1">
              <a:solidFill>
                <a:srgbClr val="E39A57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3579830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有效核销票数</a:t>
            </a:r>
            <a:endParaRPr sz="14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有效的票几张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5721858" y="2415753"/>
            <a:ext cx="443484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E39A57"/>
                </a:solidFill>
                <a:latin typeface="Microsoft YaHei" panose="020B0503020204020204" charset="-122"/>
                <a:ea typeface="Microsoft YaHei" panose="020B0503020204020204" charset="-122"/>
              </a:rPr>
              <a:t>≠</a:t>
            </a:r>
            <a:endParaRPr sz="2350" b="1">
              <a:solidFill>
                <a:srgbClr val="E39A57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6165342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入园人次</a:t>
            </a:r>
            <a:endParaRPr sz="14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进了几人次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8307369" y="2415753"/>
            <a:ext cx="443484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E39A57"/>
                </a:solidFill>
                <a:latin typeface="Microsoft YaHei" panose="020B0503020204020204" charset="-122"/>
                <a:ea typeface="Microsoft YaHei" panose="020B0503020204020204" charset="-122"/>
              </a:rPr>
              <a:t>≠</a:t>
            </a:r>
            <a:endParaRPr sz="2350" b="1">
              <a:solidFill>
                <a:srgbClr val="E39A57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8750853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去重游客数</a:t>
            </a:r>
            <a:endParaRPr sz="14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实际来了几个人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994318" y="3214024"/>
            <a:ext cx="9898562" cy="390265"/>
          </a:xfrm>
          <a:prstGeom prst="roundRect">
            <a:avLst>
              <a:gd name="adj" fmla="val 18181"/>
            </a:avLst>
          </a:prstGeom>
          <a:solidFill>
            <a:srgbClr val="F7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3" tIns="0" bIns="0" rtlCol="0" anchor="ctr"/>
          <a:lstStyle/>
          <a:p>
            <a:pPr algn="l"/>
            <a:r>
              <a:rPr sz="11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比如　</a:t>
            </a: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一位年卡游客一天进出 3 次：核销次数 3，入园人次 3，去重游客数 1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994318" y="3852641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36233" y="3781684"/>
            <a:ext cx="798271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第二步：从现场到报表，每一层按“景区 + 日期”对一次数</a:t>
            </a:r>
            <a:endParaRPr sz="13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994318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闸机 / 手持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现场记录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Right Arrow 56"/>
          <p:cNvSpPr/>
          <p:nvPr/>
        </p:nvSpPr>
        <p:spPr>
          <a:xfrm>
            <a:off x="2780671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3037892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业务系统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订单与核销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Right Arrow 58"/>
          <p:cNvSpPr/>
          <p:nvPr/>
        </p:nvSpPr>
        <p:spPr>
          <a:xfrm>
            <a:off x="4824246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081466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仓库明细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洗干净的数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Right Arrow 60"/>
          <p:cNvSpPr/>
          <p:nvPr/>
        </p:nvSpPr>
        <p:spPr>
          <a:xfrm>
            <a:off x="6867819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125040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仓库汇总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按天按景区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Right Arrow 62"/>
          <p:cNvSpPr/>
          <p:nvPr/>
        </p:nvSpPr>
        <p:spPr>
          <a:xfrm>
            <a:off x="8911394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168615" y="4189689"/>
            <a:ext cx="1724265" cy="753922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报表 / 接口</a:t>
            </a:r>
            <a:endParaRPr sz="13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105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大家看到的数</a:t>
            </a:r>
            <a:endParaRPr sz="105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994318" y="5138745"/>
            <a:ext cx="4860584" cy="753922"/>
          </a:xfrm>
          <a:prstGeom prst="roundRect">
            <a:avLst>
              <a:gd name="adj" fmla="val 11764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1742" tIns="0" bIns="0" rtlCol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第三步　</a:t>
            </a:r>
            <a:r>
              <a:rPr sz="12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对不上就自动报警</a:t>
            </a:r>
            <a:endParaRPr sz="12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spcBef>
                <a:spcPts val="195"/>
              </a:spcBef>
            </a:pPr>
            <a:r>
              <a:rPr sz="12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→ 查原因 → 修复 → 重算</a:t>
            </a:r>
            <a:endParaRPr sz="12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6032296" y="5138745"/>
            <a:ext cx="4860584" cy="753922"/>
          </a:xfrm>
          <a:prstGeom prst="roundRect">
            <a:avLst>
              <a:gd name="adj" fmla="val 11764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1742" tIns="0" bIns="0" rtlCol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常见原因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spcBef>
                <a:spcPts val="195"/>
              </a:spcBef>
            </a:pPr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设备离线补传 · 重复上报 · 撤销冲正 · 时间口径混用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1840710" cy="461665"/>
              <a:chOff x="1249621" y="2030985"/>
              <a:chExt cx="1840710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1124585" cy="306705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⑤ 统一标签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每个指标说清口径，认证过才能用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指标 = 数一数（卖了多少、来了多少）；标签 = 贴个签（年卡用户、喜欢夜游）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16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76704"/>
            <a:ext cx="2306116" cy="1153058"/>
          </a:xfrm>
          <a:prstGeom prst="roundRect">
            <a:avLst>
              <a:gd name="adj" fmla="val 923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3971" y="2136358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chart-column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4842" y="2247229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2136358"/>
            <a:ext cx="146349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指标 = 数一数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189451" y="2668539"/>
            <a:ext cx="1915850" cy="37252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卖了多少、核销多少、来了多少人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3477828" y="1976704"/>
            <a:ext cx="2306116" cy="1153058"/>
          </a:xfrm>
          <a:prstGeom prst="roundRect">
            <a:avLst>
              <a:gd name="adj" fmla="val 923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637483" y="2136358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tag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8354" y="2247229"/>
            <a:ext cx="221742" cy="22174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187403" y="2136358"/>
            <a:ext cx="146349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标签 = 贴个签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3672961" y="2668539"/>
            <a:ext cx="1915850" cy="37252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年卡用户、高频复购、喜欢夜游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994318" y="3289415"/>
            <a:ext cx="4789627" cy="1995678"/>
          </a:xfrm>
          <a:prstGeom prst="roundRect">
            <a:avLst>
              <a:gd name="adj" fmla="val 533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71711" y="3360373"/>
            <a:ext cx="45235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分类分级</a:t>
            </a:r>
            <a:endParaRPr sz="13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1171711" y="3732900"/>
            <a:ext cx="88696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指标分类</a:t>
            </a:r>
            <a:endParaRPr sz="1050" b="1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2058680" y="3732900"/>
            <a:ext cx="578007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交易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2698775" y="3732900"/>
            <a:ext cx="836706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核销入园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3597569" y="3732900"/>
            <a:ext cx="578007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渠道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4237664" y="3732900"/>
            <a:ext cx="578007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结算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4877760" y="3732900"/>
            <a:ext cx="578007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会员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2058680" y="4061078"/>
            <a:ext cx="578007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业态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1171711" y="4486823"/>
            <a:ext cx="88696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开放范围</a:t>
            </a:r>
            <a:endParaRPr sz="1050" b="1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2058680" y="4460214"/>
            <a:ext cx="840402" cy="319308"/>
          </a:xfrm>
          <a:prstGeom prst="roundRect">
            <a:avLst>
              <a:gd name="adj" fmla="val 22222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集团内部</a:t>
            </a:r>
            <a:endParaRPr sz="9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2961170" y="4460214"/>
            <a:ext cx="840402" cy="319308"/>
          </a:xfrm>
          <a:prstGeom prst="roundRect">
            <a:avLst>
              <a:gd name="adj" fmla="val 22222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景区可用</a:t>
            </a:r>
            <a:endParaRPr sz="9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3863660" y="4460214"/>
            <a:ext cx="840402" cy="319308"/>
          </a:xfrm>
          <a:prstGeom prst="roundRect">
            <a:avLst>
              <a:gd name="adj" fmla="val 22222"/>
            </a:avLst>
          </a:prstGeom>
          <a:solidFill>
            <a:srgbClr val="5BB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供应商可用</a:t>
            </a:r>
            <a:endParaRPr sz="9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4766149" y="4460214"/>
            <a:ext cx="840402" cy="319308"/>
          </a:xfrm>
          <a:prstGeom prst="roundRect">
            <a:avLst>
              <a:gd name="adj" fmla="val 22222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可对外</a:t>
            </a:r>
            <a:endParaRPr sz="9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2058680" y="4841610"/>
            <a:ext cx="354787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高敏标签不下发、不对外</a:t>
            </a:r>
            <a:endParaRPr sz="1000" b="0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6050036" y="1976704"/>
            <a:ext cx="4842845" cy="1906981"/>
          </a:xfrm>
          <a:prstGeom prst="roundRect">
            <a:avLst>
              <a:gd name="adj" fmla="val 558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227429" y="2065400"/>
            <a:ext cx="457675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口径说清楚：一个指标拆成四件事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6227429" y="2473406"/>
            <a:ext cx="1002273" cy="63861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9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算什么</a:t>
            </a:r>
            <a:endParaRPr sz="9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支付金额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7229703" y="2473406"/>
            <a:ext cx="159654" cy="6386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+</a:t>
            </a:r>
            <a:endParaRPr sz="13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7389357" y="2473406"/>
            <a:ext cx="1002273" cy="63861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9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加条件</a:t>
            </a:r>
            <a:endParaRPr sz="9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线上成人票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8391631" y="2473406"/>
            <a:ext cx="159654" cy="6386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+</a:t>
            </a:r>
            <a:endParaRPr sz="13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8551285" y="2473406"/>
            <a:ext cx="1002273" cy="63861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9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什么时间</a:t>
            </a:r>
            <a:endParaRPr sz="9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近 7 天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9553559" y="2473406"/>
            <a:ext cx="159654" cy="6386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+</a:t>
            </a:r>
            <a:endParaRPr sz="13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9713214" y="2473406"/>
            <a:ext cx="1002273" cy="63861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9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按什么看</a:t>
            </a:r>
            <a:endParaRPr sz="9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按景区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6227429" y="3245068"/>
            <a:ext cx="4488058" cy="487832"/>
          </a:xfrm>
          <a:prstGeom prst="roundRect">
            <a:avLst>
              <a:gd name="adj" fmla="val 1454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= 近 7 天线上渠道成人票支付金额（按景区）</a:t>
            </a:r>
            <a:endParaRPr sz="11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6050036" y="4043339"/>
            <a:ext cx="484284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新指标四步认证</a:t>
            </a:r>
            <a:endParaRPr sz="13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6050036" y="4424735"/>
            <a:ext cx="1011143" cy="638616"/>
          </a:xfrm>
          <a:prstGeom prst="roundRect">
            <a:avLst>
              <a:gd name="adj" fmla="val 13888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起草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数据团队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1" name="Right Arrow 80"/>
          <p:cNvSpPr/>
          <p:nvPr/>
        </p:nvSpPr>
        <p:spPr>
          <a:xfrm>
            <a:off x="7096658" y="4655347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7327270" y="4424735"/>
            <a:ext cx="1011143" cy="638616"/>
          </a:xfrm>
          <a:prstGeom prst="roundRect">
            <a:avLst>
              <a:gd name="adj" fmla="val 13888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确认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业务负责人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3" name="Right Arrow 82"/>
          <p:cNvSpPr/>
          <p:nvPr/>
        </p:nvSpPr>
        <p:spPr>
          <a:xfrm>
            <a:off x="8373891" y="4655347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8604504" y="4424735"/>
            <a:ext cx="1011143" cy="638616"/>
          </a:xfrm>
          <a:prstGeom prst="roundRect">
            <a:avLst>
              <a:gd name="adj" fmla="val 13888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拍板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治理小组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5" name="Right Arrow 84"/>
          <p:cNvSpPr/>
          <p:nvPr/>
        </p:nvSpPr>
        <p:spPr>
          <a:xfrm>
            <a:off x="9651126" y="4655347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9881737" y="4424735"/>
            <a:ext cx="1011143" cy="638616"/>
          </a:xfrm>
          <a:prstGeom prst="roundRect">
            <a:avLst>
              <a:gd name="adj" fmla="val 13888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发布</a:t>
            </a:r>
            <a:endParaRPr sz="12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95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记录版本</a:t>
            </a:r>
            <a:endParaRPr sz="95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7" name="Rounded Rectangle 86"/>
          <p:cNvSpPr/>
          <p:nvPr/>
        </p:nvSpPr>
        <p:spPr>
          <a:xfrm>
            <a:off x="994318" y="5462488"/>
            <a:ext cx="9898562" cy="461223"/>
          </a:xfrm>
          <a:prstGeom prst="roundRect">
            <a:avLst>
              <a:gd name="adj" fmla="val 1923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badge-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451" y="5560054"/>
            <a:ext cx="266090" cy="266090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570847" y="5462488"/>
            <a:ext cx="9144640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Microsoft YaHei" panose="020B0503020204020204" charset="-122"/>
                <a:ea typeface="Microsoft YaHei" panose="020B0503020204020204" charset="-122"/>
              </a:rPr>
              <a:t>门槛　</a:t>
            </a:r>
            <a:r>
              <a:rPr sz="12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只有认证过的指标和标签，才能进老板看板、对外接口和 AI</a:t>
            </a:r>
            <a:endParaRPr sz="12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⑥ 权限安全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数据分四级，各有各的主人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越敏感，管得越严；谁的数据，只服务谁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17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1153058" cy="762792"/>
          </a:xfrm>
          <a:prstGeom prst="roundRect">
            <a:avLst>
              <a:gd name="adj" fmla="val 11627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高敏</a:t>
            </a:r>
            <a:endParaRPr sz="16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/>
            <a:r>
              <a:rPr sz="950" b="0">
                <a:solidFill>
                  <a:srgbClr val="FCE6D2"/>
                </a:solidFill>
                <a:latin typeface="Microsoft YaHei" panose="020B0503020204020204" charset="-122"/>
                <a:ea typeface="Microsoft YaHei" panose="020B0503020204020204" charset="-122"/>
              </a:rPr>
              <a:t>L4</a:t>
            </a:r>
            <a:endParaRPr sz="950" b="0">
              <a:solidFill>
                <a:srgbClr val="FCE6D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2253812" y="2048256"/>
            <a:ext cx="4860584" cy="762792"/>
          </a:xfrm>
          <a:prstGeom prst="roundRect">
            <a:avLst>
              <a:gd name="adj" fmla="val 1162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31206" y="2048256"/>
            <a:ext cx="4523536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手机号、证件号、人脸、政务核验结果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spcBef>
                <a:spcPts val="195"/>
              </a:spcBef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加密、打码、最小授权、全程审计；明文不进大模型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1260408" y="2935224"/>
            <a:ext cx="1153058" cy="762792"/>
          </a:xfrm>
          <a:prstGeom prst="roundRect">
            <a:avLst>
              <a:gd name="adj" fmla="val 1162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敏感</a:t>
            </a:r>
            <a:endParaRPr sz="16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/>
            <a:r>
              <a:rPr sz="950" b="0">
                <a:solidFill>
                  <a:srgbClr val="DDF1EC"/>
                </a:solidFill>
                <a:latin typeface="Microsoft YaHei" panose="020B0503020204020204" charset="-122"/>
                <a:ea typeface="Microsoft YaHei" panose="020B0503020204020204" charset="-122"/>
              </a:rPr>
              <a:t>L3</a:t>
            </a:r>
            <a:endParaRPr sz="950" b="0">
              <a:solidFill>
                <a:srgbClr val="DDF1E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2519903" y="2935224"/>
            <a:ext cx="4594494" cy="762792"/>
          </a:xfrm>
          <a:prstGeom prst="roundRect">
            <a:avLst>
              <a:gd name="adj" fmla="val 1162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97297" y="2935224"/>
            <a:ext cx="4257446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单景区经营数据、价格、结算、供应商合作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spcBef>
                <a:spcPts val="195"/>
              </a:spcBef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按景区 / 供应商隔离；跨主体只看汇总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1526498" y="3822191"/>
            <a:ext cx="1153058" cy="762792"/>
          </a:xfrm>
          <a:prstGeom prst="roundRect">
            <a:avLst>
              <a:gd name="adj" fmla="val 11627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内部</a:t>
            </a:r>
            <a:endParaRPr sz="16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/>
            <a:r>
              <a:rPr sz="950" b="0">
                <a:solidFill>
                  <a:srgbClr val="DDF1EC"/>
                </a:solidFill>
                <a:latin typeface="Microsoft YaHei" panose="020B0503020204020204" charset="-122"/>
                <a:ea typeface="Microsoft YaHei" panose="020B0503020204020204" charset="-122"/>
              </a:rPr>
              <a:t>L2</a:t>
            </a:r>
            <a:endParaRPr sz="950" b="0">
              <a:solidFill>
                <a:srgbClr val="DDF1E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2785993" y="3822191"/>
            <a:ext cx="4328403" cy="762792"/>
          </a:xfrm>
          <a:prstGeom prst="roundRect">
            <a:avLst>
              <a:gd name="adj" fmla="val 1162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963387" y="3822191"/>
            <a:ext cx="3991356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日志、设备状态、运营数据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spcBef>
                <a:spcPts val="195"/>
              </a:spcBef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内部按角色授权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1792589" y="4709160"/>
            <a:ext cx="1153058" cy="762792"/>
          </a:xfrm>
          <a:prstGeom prst="roundRect">
            <a:avLst>
              <a:gd name="adj" fmla="val 11627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公开</a:t>
            </a:r>
            <a:endParaRPr sz="16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/>
            <a:r>
              <a:rPr sz="950" b="0">
                <a:solidFill>
                  <a:srgbClr val="DDF1EC"/>
                </a:solidFill>
                <a:latin typeface="Microsoft YaHei" panose="020B0503020204020204" charset="-122"/>
                <a:ea typeface="Microsoft YaHei" panose="020B0503020204020204" charset="-122"/>
              </a:rPr>
              <a:t>L1</a:t>
            </a:r>
            <a:endParaRPr sz="950" b="0">
              <a:solidFill>
                <a:srgbClr val="DDF1E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3052084" y="4709160"/>
            <a:ext cx="4062313" cy="762792"/>
          </a:xfrm>
          <a:prstGeom prst="roundRect">
            <a:avLst>
              <a:gd name="adj" fmla="val 1162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29477" y="4709160"/>
            <a:ext cx="3725265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已发布的报告、规范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spcBef>
                <a:spcPts val="195"/>
              </a:spcBef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可以公开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7380488" y="2048256"/>
            <a:ext cx="3512393" cy="3423696"/>
          </a:xfrm>
          <a:prstGeom prst="roundRect">
            <a:avLst>
              <a:gd name="adj" fmla="val 362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key-round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2230" y="2207910"/>
            <a:ext cx="319308" cy="319308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8001364" y="2172431"/>
            <a:ext cx="2802818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谁的数据，只服务谁</a:t>
            </a:r>
            <a:endParaRPr sz="14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7646578" y="2695742"/>
            <a:ext cx="124175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E7CF"/>
                </a:solidFill>
                <a:latin typeface="Microsoft YaHei" panose="020B0503020204020204" charset="-122"/>
                <a:ea typeface="Microsoft YaHei" panose="020B0503020204020204" charset="-122"/>
              </a:rPr>
              <a:t>景区数据</a:t>
            </a:r>
            <a:endParaRPr sz="1100" b="1">
              <a:solidFill>
                <a:srgbClr val="FFE7C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8843985" y="2695742"/>
            <a:ext cx="191585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只服务该景区</a:t>
            </a:r>
            <a:endParaRPr sz="115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7646578" y="3086008"/>
            <a:ext cx="124175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E7CF"/>
                </a:solidFill>
                <a:latin typeface="Microsoft YaHei" panose="020B0503020204020204" charset="-122"/>
                <a:ea typeface="Microsoft YaHei" panose="020B0503020204020204" charset="-122"/>
              </a:rPr>
              <a:t>供应商数据</a:t>
            </a:r>
            <a:endParaRPr sz="1100" b="1">
              <a:solidFill>
                <a:srgbClr val="FFE7C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8843985" y="3086008"/>
            <a:ext cx="191585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只服务该供应商</a:t>
            </a:r>
            <a:endParaRPr sz="115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646578" y="3476274"/>
            <a:ext cx="124175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E7CF"/>
                </a:solidFill>
                <a:latin typeface="Microsoft YaHei" panose="020B0503020204020204" charset="-122"/>
                <a:ea typeface="Microsoft YaHei" panose="020B0503020204020204" charset="-122"/>
              </a:rPr>
              <a:t>渠道数据</a:t>
            </a:r>
            <a:endParaRPr sz="1100" b="1">
              <a:solidFill>
                <a:srgbClr val="FFE7C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8843985" y="3476274"/>
            <a:ext cx="191585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不给其他渠道看</a:t>
            </a:r>
            <a:endParaRPr sz="115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7646578" y="3866540"/>
            <a:ext cx="124175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E7CF"/>
                </a:solidFill>
                <a:latin typeface="Microsoft YaHei" panose="020B0503020204020204" charset="-122"/>
                <a:ea typeface="Microsoft YaHei" panose="020B0503020204020204" charset="-122"/>
              </a:rPr>
              <a:t>游客信息</a:t>
            </a:r>
            <a:endParaRPr sz="1100" b="1">
              <a:solidFill>
                <a:srgbClr val="FFE7C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8843985" y="3866540"/>
            <a:ext cx="191585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在授权范围内用</a:t>
            </a:r>
            <a:endParaRPr sz="115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7646578" y="4256806"/>
            <a:ext cx="124175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E7CF"/>
                </a:solidFill>
                <a:latin typeface="Microsoft YaHei" panose="020B0503020204020204" charset="-122"/>
                <a:ea typeface="Microsoft YaHei" panose="020B0503020204020204" charset="-122"/>
              </a:rPr>
              <a:t>政务数据</a:t>
            </a:r>
            <a:endParaRPr sz="1100" b="1">
              <a:solidFill>
                <a:srgbClr val="FFE7C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8843985" y="4256806"/>
            <a:ext cx="191585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只用核验结果</a:t>
            </a:r>
            <a:endParaRPr sz="115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7646578" y="4647072"/>
            <a:ext cx="124175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E7CF"/>
                </a:solidFill>
                <a:latin typeface="Microsoft YaHei" panose="020B0503020204020204" charset="-122"/>
                <a:ea typeface="Microsoft YaHei" panose="020B0503020204020204" charset="-122"/>
              </a:rPr>
              <a:t>外部数据</a:t>
            </a:r>
            <a:endParaRPr sz="1100" b="1">
              <a:solidFill>
                <a:srgbClr val="FFE7C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8843985" y="4647072"/>
            <a:ext cx="191585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按合同约定用</a:t>
            </a:r>
            <a:endParaRPr sz="115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7646578" y="5037338"/>
            <a:ext cx="124175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E7CF"/>
                </a:solidFill>
                <a:latin typeface="Microsoft YaHei" panose="020B0503020204020204" charset="-122"/>
                <a:ea typeface="Microsoft YaHei" panose="020B0503020204020204" charset="-122"/>
              </a:rPr>
              <a:t>对外输出</a:t>
            </a:r>
            <a:endParaRPr sz="1100" b="1">
              <a:solidFill>
                <a:srgbClr val="FFE7C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8843985" y="5037338"/>
            <a:ext cx="191585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只给匿名汇总</a:t>
            </a:r>
            <a:endParaRPr sz="115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053587" y="104775"/>
            <a:ext cx="4084519" cy="562935"/>
            <a:chOff x="1778000" y="2361285"/>
            <a:chExt cx="4084519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4084519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991335" cy="461665"/>
              <a:chOff x="1249621" y="2030985"/>
              <a:chExt cx="2991335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275210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⑦⑧ 资产运营与数据分发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定期盘点，统一出口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没人用的数据按步骤下线，省存储和计算；所有数据只从一个“窗口”出去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18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98878"/>
            <a:ext cx="4833975" cy="3902659"/>
          </a:xfrm>
          <a:prstGeom prst="roundRect">
            <a:avLst>
              <a:gd name="adj" fmla="val 318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archive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6060" y="2140793"/>
            <a:ext cx="337047" cy="33704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59544" y="2105314"/>
            <a:ext cx="4035704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⑦ 资产运营：定期盘点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216060" y="2602016"/>
            <a:ext cx="447918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每月打“健康分”，按负责人公示排名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1216060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规范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1889663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质量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2563266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安全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3236869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使用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3910472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成本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216060" y="3444636"/>
            <a:ext cx="447918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没人用的，按步骤下线</a:t>
            </a:r>
            <a:endParaRPr sz="12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Oval 53"/>
          <p:cNvSpPr/>
          <p:nvPr/>
        </p:nvSpPr>
        <p:spPr>
          <a:xfrm>
            <a:off x="1216060" y="3834902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216060" y="3834902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1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1659544" y="3799423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发现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2324769" y="3799423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90 天没人访问 · 没下游 · 重复 · 临时表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Oval 57"/>
          <p:cNvSpPr/>
          <p:nvPr/>
        </p:nvSpPr>
        <p:spPr>
          <a:xfrm>
            <a:off x="1216060" y="4331604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216060" y="4331604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2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1659544" y="4296125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通知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2324769" y="4296125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负责人确认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Oval 61"/>
          <p:cNvSpPr/>
          <p:nvPr/>
        </p:nvSpPr>
        <p:spPr>
          <a:xfrm>
            <a:off x="1216060" y="4828306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216060" y="4828306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3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1659544" y="4792827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先停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24769" y="4792827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停调度或改只读，观察 30 天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Oval 65"/>
          <p:cNvSpPr/>
          <p:nvPr/>
        </p:nvSpPr>
        <p:spPr>
          <a:xfrm>
            <a:off x="1216060" y="5325008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216060" y="5325008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4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1659544" y="5289529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删除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2324769" y="5289529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没人反馈再删；有人反馈就恢复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6058905" y="1998878"/>
            <a:ext cx="4833975" cy="3902659"/>
          </a:xfrm>
          <a:prstGeom prst="roundRect">
            <a:avLst>
              <a:gd name="adj" fmla="val 3181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send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647" y="2140793"/>
            <a:ext cx="337047" cy="337047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6724131" y="2105314"/>
            <a:ext cx="4035704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⑧ 数据分发：统一出口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6280647" y="2602016"/>
            <a:ext cx="447918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不再点对点导数、私接数据库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6280647" y="3001152"/>
            <a:ext cx="1197406" cy="496702"/>
          </a:xfrm>
          <a:prstGeom prst="roundRect">
            <a:avLst>
              <a:gd name="adj" fmla="val 14285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认证指标</a:t>
            </a:r>
            <a:endParaRPr sz="12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75" name="Connector 74"/>
          <p:cNvCxnSpPr/>
          <p:nvPr/>
        </p:nvCxnSpPr>
        <p:spPr>
          <a:xfrm>
            <a:off x="7478053" y="3249503"/>
            <a:ext cx="266091" cy="31043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6280647" y="3622029"/>
            <a:ext cx="1197406" cy="496702"/>
          </a:xfrm>
          <a:prstGeom prst="roundRect">
            <a:avLst>
              <a:gd name="adj" fmla="val 14285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统一标签</a:t>
            </a:r>
            <a:endParaRPr sz="12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77" name="Connector 76"/>
          <p:cNvCxnSpPr/>
          <p:nvPr/>
        </p:nvCxnSpPr>
        <p:spPr>
          <a:xfrm flipV="1">
            <a:off x="7478053" y="3559942"/>
            <a:ext cx="266091" cy="31043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/>
          <p:cNvSpPr/>
          <p:nvPr/>
        </p:nvSpPr>
        <p:spPr>
          <a:xfrm>
            <a:off x="7788492" y="3001152"/>
            <a:ext cx="1818283" cy="1117579"/>
          </a:xfrm>
          <a:prstGeom prst="roundRect">
            <a:avLst>
              <a:gd name="adj" fmla="val 952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788492" y="3045500"/>
            <a:ext cx="1818283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数据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开放</a:t>
            </a:r>
            <a:r>
              <a:rPr lang="zh-CN"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平台</a:t>
            </a:r>
            <a:endParaRPr lang="zh-CN"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7877189" y="3595420"/>
            <a:ext cx="1640890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统一鉴权 · 按景区隔离</a:t>
            </a:r>
            <a:endParaRPr sz="9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lnSpc>
                <a:spcPct val="100000"/>
              </a:lnSpc>
            </a:pPr>
            <a:r>
              <a:rPr sz="9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调用计量 · 全程监控</a:t>
            </a:r>
            <a:endParaRPr sz="9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81" name="Connector 80"/>
          <p:cNvCxnSpPr/>
          <p:nvPr/>
        </p:nvCxnSpPr>
        <p:spPr>
          <a:xfrm flipV="1">
            <a:off x="9606777" y="3098718"/>
            <a:ext cx="221742" cy="461223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/>
          <p:cNvSpPr/>
          <p:nvPr/>
        </p:nvSpPr>
        <p:spPr>
          <a:xfrm>
            <a:off x="9828519" y="2974543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景区看板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83" name="Connector 82"/>
          <p:cNvCxnSpPr/>
          <p:nvPr/>
        </p:nvCxnSpPr>
        <p:spPr>
          <a:xfrm flipV="1">
            <a:off x="9606777" y="3400287"/>
            <a:ext cx="221742" cy="159654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unded Rectangle 83"/>
          <p:cNvSpPr/>
          <p:nvPr/>
        </p:nvSpPr>
        <p:spPr>
          <a:xfrm>
            <a:off x="9828519" y="3276112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营销圈人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85" name="Connector 84"/>
          <p:cNvCxnSpPr/>
          <p:nvPr/>
        </p:nvCxnSpPr>
        <p:spPr>
          <a:xfrm>
            <a:off x="9606777" y="3559942"/>
            <a:ext cx="221742" cy="141914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9828519" y="3577681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合作伙伴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87" name="Connector 86"/>
          <p:cNvCxnSpPr/>
          <p:nvPr/>
        </p:nvCxnSpPr>
        <p:spPr>
          <a:xfrm>
            <a:off x="9606777" y="3559942"/>
            <a:ext cx="221742" cy="443484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9828519" y="3879250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AI 智能体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6236299" y="4375952"/>
            <a:ext cx="4479188" cy="425744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69343" y="4375952"/>
            <a:ext cx="1685239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只查指标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8010234" y="4375952"/>
            <a:ext cx="2616555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经营看板：销售额、核销量、入园人次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6236299" y="4872653"/>
            <a:ext cx="4479188" cy="425744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369343" y="4872653"/>
            <a:ext cx="1685239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指标 + 标签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8010234" y="4872653"/>
            <a:ext cx="2616555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按会员等级看复购率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5" name="Rounded Rectangle 94"/>
          <p:cNvSpPr/>
          <p:nvPr/>
        </p:nvSpPr>
        <p:spPr>
          <a:xfrm>
            <a:off x="6236299" y="5369356"/>
            <a:ext cx="4479188" cy="425744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369343" y="5369356"/>
            <a:ext cx="1685239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标签圈人 + 指标看效果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8010234" y="5369356"/>
            <a:ext cx="2616555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圈出近 90 天没复购的年卡用户，推活动后看转化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治理怎么保证落实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写进流程、有人负责、有考核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不另起流程、不搞运动；先治“订单 → 核销 → 结算”主线，做通再推广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19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883572"/>
            <a:ext cx="3151692" cy="3547872"/>
          </a:xfrm>
          <a:prstGeom prst="roundRect">
            <a:avLst>
              <a:gd name="adj" fmla="val 393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94318" y="1883572"/>
            <a:ext cx="3151692" cy="709574"/>
          </a:xfrm>
          <a:prstGeom prst="roundRect">
            <a:avLst>
              <a:gd name="adj" fmla="val 175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4318" y="2398014"/>
            <a:ext cx="3151692" cy="19513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workflow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6060" y="2043226"/>
            <a:ext cx="372526" cy="37252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748240" y="1883572"/>
            <a:ext cx="226472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写进流程</a:t>
            </a:r>
            <a:endParaRPr sz="16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1153971" y="2708452"/>
            <a:ext cx="2832384" cy="798271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78148" y="2743931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事前 · 定规范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278148" y="3001152"/>
            <a:ext cx="2619512" cy="47009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需求确认口径；设计做模型评审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1153971" y="3595420"/>
            <a:ext cx="2832384" cy="798271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278148" y="3630899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事中 · 设卡点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1278148" y="3888120"/>
            <a:ext cx="2619512" cy="47009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发布自动检查；运行不合格就拦住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1153971" y="4482388"/>
            <a:ext cx="2832384" cy="798271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78148" y="4517867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事后 · 做治理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278148" y="4775088"/>
            <a:ext cx="2619512" cy="47009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健康分、整改、复盘补规则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4367753" y="1883572"/>
            <a:ext cx="3151692" cy="3547872"/>
          </a:xfrm>
          <a:prstGeom prst="roundRect">
            <a:avLst>
              <a:gd name="adj" fmla="val 393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367753" y="1883572"/>
            <a:ext cx="3151692" cy="709574"/>
          </a:xfrm>
          <a:prstGeom prst="roundRect">
            <a:avLst>
              <a:gd name="adj" fmla="val 175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367753" y="2398014"/>
            <a:ext cx="3151692" cy="19513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users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9495" y="2043226"/>
            <a:ext cx="372526" cy="372526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5121676" y="1883572"/>
            <a:ext cx="226472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有人负责</a:t>
            </a:r>
            <a:endParaRPr sz="16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527407" y="2708452"/>
            <a:ext cx="2832384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651583" y="2743931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数据治理小组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4651583" y="3001152"/>
            <a:ext cx="2619512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拍板口径争议、审批规范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4527407" y="3373678"/>
            <a:ext cx="2832384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651583" y="3409157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数据负责人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4651583" y="3666378"/>
            <a:ext cx="2619512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定方案、跨部门协调、对健康分负责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4527407" y="4038904"/>
            <a:ext cx="2832384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651583" y="4074383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业务数据专员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4651583" y="4331604"/>
            <a:ext cx="2619512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每个业务线一名，确认口径、验收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4527407" y="4704130"/>
            <a:ext cx="2832384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651583" y="4739609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治理专员 / 开发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4651583" y="4996830"/>
            <a:ext cx="2619512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维护标准规则；模型落地、问题修复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7741188" y="1883572"/>
            <a:ext cx="3151692" cy="3547872"/>
          </a:xfrm>
          <a:prstGeom prst="roundRect">
            <a:avLst>
              <a:gd name="adj" fmla="val 393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741188" y="1883572"/>
            <a:ext cx="3151692" cy="709574"/>
          </a:xfrm>
          <a:prstGeom prst="roundRect">
            <a:avLst>
              <a:gd name="adj" fmla="val 175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7741188" y="2398014"/>
            <a:ext cx="3151692" cy="19513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gaug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2930" y="2043226"/>
            <a:ext cx="372526" cy="372526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8495111" y="1883572"/>
            <a:ext cx="226472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有考核</a:t>
            </a:r>
            <a:endParaRPr sz="16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7900841" y="2708452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025018" y="2743931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节奏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8025018" y="3001152"/>
            <a:ext cx="2619512" cy="11530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两周口径评审 · 每月健康分公示 · 季度复盘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7900841" y="3240632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025018" y="3240632"/>
            <a:ext cx="173254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新表规范符合率</a:t>
            </a:r>
            <a:endParaRPr sz="11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9695474" y="3240632"/>
            <a:ext cx="93131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6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100%</a:t>
            </a:r>
            <a:endParaRPr sz="16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6" name="Rounded Rectangle 85"/>
          <p:cNvSpPr/>
          <p:nvPr/>
        </p:nvSpPr>
        <p:spPr>
          <a:xfrm>
            <a:off x="7900841" y="3772814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025018" y="3772814"/>
            <a:ext cx="173254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核心报表按时产出</a:t>
            </a:r>
            <a:endParaRPr sz="11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9695474" y="3772814"/>
            <a:ext cx="93131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6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≥ 99%</a:t>
            </a:r>
            <a:endParaRPr sz="16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7900841" y="4304995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025018" y="4304995"/>
            <a:ext cx="173254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老板看板认证指标</a:t>
            </a:r>
            <a:endParaRPr sz="11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9695474" y="4304995"/>
            <a:ext cx="93131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6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100%</a:t>
            </a:r>
            <a:endParaRPr sz="16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7900841" y="4837175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025018" y="4837175"/>
            <a:ext cx="173254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核销量各出口差异</a:t>
            </a:r>
            <a:endParaRPr sz="11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9695474" y="4837175"/>
            <a:ext cx="93131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6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0</a:t>
            </a:r>
            <a:endParaRPr sz="16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5" name="Rounded Rectangle 94"/>
          <p:cNvSpPr/>
          <p:nvPr/>
        </p:nvSpPr>
        <p:spPr>
          <a:xfrm>
            <a:off x="994318" y="5573359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target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451" y="5662056"/>
            <a:ext cx="266090" cy="26609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570847" y="5573359"/>
            <a:ext cx="914464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原则　</a:t>
            </a:r>
            <a:r>
              <a:rPr sz="12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先测基线再定目标；看实际使用和业务结果，不看上了多少看板</a:t>
            </a:r>
            <a:endParaRPr sz="12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建设落地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最终形成“六个统一”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治理是手段，这六件事是结果；每件都能对比“以前”和“以后”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20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50095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083140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ook-open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8148" y="2189576"/>
            <a:ext cx="212872" cy="21287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2083140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统一规范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1171711" y="2615321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9DB5AF"/>
                </a:solidFill>
                <a:latin typeface="Microsoft YaHei" panose="020B0503020204020204" charset="-122"/>
                <a:ea typeface="Microsoft YaHei" panose="020B0503020204020204" charset="-122"/>
              </a:rPr>
              <a:t>以前　</a:t>
            </a: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规范只写在文档里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1171711" y="3014456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DDF1EC"/>
                </a:solidFill>
                <a:latin typeface="Microsoft YaHei" panose="020B0503020204020204" charset="-122"/>
                <a:ea typeface="Microsoft YaHei" panose="020B0503020204020204" charset="-122"/>
              </a:rPr>
              <a:t>以后　</a:t>
            </a:r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不合规的表发不出去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4352970" y="1950095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530364" y="2083140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databas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800" y="2189576"/>
            <a:ext cx="212872" cy="21287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5062545" y="2083140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统一底座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4530364" y="2615321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9DB5AF"/>
                </a:solidFill>
                <a:latin typeface="Microsoft YaHei" panose="020B0503020204020204" charset="-122"/>
                <a:ea typeface="Microsoft YaHei" panose="020B0503020204020204" charset="-122"/>
              </a:rPr>
              <a:t>以前　</a:t>
            </a: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订单、核销第二天才看到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4530364" y="3014456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DDF1EC"/>
                </a:solidFill>
                <a:latin typeface="Microsoft YaHei" panose="020B0503020204020204" charset="-122"/>
                <a:ea typeface="Microsoft YaHei" panose="020B0503020204020204" charset="-122"/>
              </a:rPr>
              <a:t>以后　</a:t>
            </a:r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分钟级看到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7711622" y="1950095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889015" y="2083140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scal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5451" y="2189576"/>
            <a:ext cx="212872" cy="21287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8421197" y="2083140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统一标签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7889015" y="2615321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9DB5AF"/>
                </a:solidFill>
                <a:latin typeface="Microsoft YaHei" panose="020B0503020204020204" charset="-122"/>
                <a:ea typeface="Microsoft YaHei" panose="020B0503020204020204" charset="-122"/>
              </a:rPr>
              <a:t>以前　</a:t>
            </a: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报表、接口、AI 各说各的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7889015" y="3014456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DDF1EC"/>
                </a:solidFill>
                <a:latin typeface="Microsoft YaHei" panose="020B0503020204020204" charset="-122"/>
                <a:ea typeface="Microsoft YaHei" panose="020B0503020204020204" charset="-122"/>
              </a:rPr>
              <a:t>以后　</a:t>
            </a:r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三处数字一致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994318" y="3653073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71711" y="3786118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lo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8148" y="3892555"/>
            <a:ext cx="212872" cy="21287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703892" y="3786118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统一权限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1171711" y="4318299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9DB5AF"/>
                </a:solidFill>
                <a:latin typeface="Microsoft YaHei" panose="020B0503020204020204" charset="-122"/>
                <a:ea typeface="Microsoft YaHei" panose="020B0503020204020204" charset="-122"/>
              </a:rPr>
              <a:t>以前　</a:t>
            </a: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各系统各管各的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1171711" y="4717435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DDF1EC"/>
                </a:solidFill>
                <a:latin typeface="Microsoft YaHei" panose="020B0503020204020204" charset="-122"/>
                <a:ea typeface="Microsoft YaHei" panose="020B0503020204020204" charset="-122"/>
              </a:rPr>
              <a:t>以后　</a:t>
            </a:r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一套规则管住所有出口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4352970" y="3653073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530364" y="3786118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user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6800" y="3892555"/>
            <a:ext cx="212872" cy="21287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5062545" y="3786118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标签复用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4530364" y="4318299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9DB5AF"/>
                </a:solidFill>
                <a:latin typeface="Microsoft YaHei" panose="020B0503020204020204" charset="-122"/>
                <a:ea typeface="Microsoft YaHei" panose="020B0503020204020204" charset="-122"/>
              </a:rPr>
              <a:t>以前　</a:t>
            </a: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各部门各做一套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4530364" y="4717435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DDF1EC"/>
                </a:solidFill>
                <a:latin typeface="Microsoft YaHei" panose="020B0503020204020204" charset="-122"/>
                <a:ea typeface="Microsoft YaHei" panose="020B0503020204020204" charset="-122"/>
              </a:rPr>
              <a:t>以后　</a:t>
            </a:r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一个游客一个身份，到处能用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7711622" y="3653073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889015" y="3786118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chart-colum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5451" y="3892555"/>
            <a:ext cx="212872" cy="21287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8421197" y="3786118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自助分析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7889015" y="4318299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9DB5AF"/>
                </a:solidFill>
                <a:latin typeface="Microsoft YaHei" panose="020B0503020204020204" charset="-122"/>
                <a:ea typeface="Microsoft YaHei" panose="020B0503020204020204" charset="-122"/>
              </a:rPr>
              <a:t>以前　</a:t>
            </a: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找数据团队要数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7889015" y="4717435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DDF1EC"/>
                </a:solidFill>
                <a:latin typeface="Microsoft YaHei" panose="020B0503020204020204" charset="-122"/>
                <a:ea typeface="Microsoft YaHei" panose="020B0503020204020204" charset="-122"/>
              </a:rPr>
              <a:t>以后　</a:t>
            </a:r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业务自己查、自己看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994318" y="5400400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216060" y="5400400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怎么推</a:t>
            </a:r>
            <a:endParaRPr sz="12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2147376" y="5524575"/>
            <a:ext cx="931316" cy="301569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统接入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3" name="Right Arrow 82"/>
          <p:cNvSpPr/>
          <p:nvPr/>
        </p:nvSpPr>
        <p:spPr>
          <a:xfrm>
            <a:off x="3114172" y="5595533"/>
            <a:ext cx="141914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291565" y="5524575"/>
            <a:ext cx="931316" cy="301569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统建模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5" name="Right Arrow 84"/>
          <p:cNvSpPr/>
          <p:nvPr/>
        </p:nvSpPr>
        <p:spPr>
          <a:xfrm>
            <a:off x="4258360" y="5595533"/>
            <a:ext cx="141914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4435754" y="5524575"/>
            <a:ext cx="931316" cy="301569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统开发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7" name="Right Arrow 86"/>
          <p:cNvSpPr/>
          <p:nvPr/>
        </p:nvSpPr>
        <p:spPr>
          <a:xfrm>
            <a:off x="5402549" y="5595533"/>
            <a:ext cx="141914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5579943" y="5524575"/>
            <a:ext cx="931316" cy="301569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统服务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6777349" y="5400400"/>
            <a:ext cx="4026834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先在“订单 → 核销 → 结算”试点；老模型双跑对比再切换，可回退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统一规范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规矩不再停留在文档里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新的卡住、老的分批改、持续有人管 —— 前面定的标准靠这三招落地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21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3033430" cy="3148736"/>
          </a:xfrm>
          <a:prstGeom prst="roundRect">
            <a:avLst>
              <a:gd name="adj" fmla="val 4093"/>
            </a:avLst>
          </a:prstGeom>
          <a:solidFill>
            <a:srgbClr val="FFFFFF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94318" y="2048256"/>
            <a:ext cx="3033430" cy="753922"/>
          </a:xfrm>
          <a:prstGeom prst="roundRect">
            <a:avLst>
              <a:gd name="adj" fmla="val 1647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4318" y="2607045"/>
            <a:ext cx="3033430" cy="19513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shield-check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6060" y="2225649"/>
            <a:ext cx="372526" cy="37252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748240" y="2048256"/>
            <a:ext cx="2146462" cy="7539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新建 · 卡住</a:t>
            </a:r>
            <a:endParaRPr sz="16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Oval 48"/>
          <p:cNvSpPr/>
          <p:nvPr/>
        </p:nvSpPr>
        <p:spPr>
          <a:xfrm>
            <a:off x="1171711" y="3015051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pen-lin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9278" y="3112617"/>
            <a:ext cx="195132" cy="195132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686153" y="2961833"/>
            <a:ext cx="2190810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开发提交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Oval 51"/>
          <p:cNvSpPr/>
          <p:nvPr/>
        </p:nvSpPr>
        <p:spPr>
          <a:xfrm>
            <a:off x="1171711" y="3724625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search-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9278" y="3822191"/>
            <a:ext cx="195132" cy="19513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686153" y="3671407"/>
            <a:ext cx="2190810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发布前脚本自动检查：命名 · 分层 · 注释 · 负责人 · 等级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Oval 54"/>
          <p:cNvSpPr/>
          <p:nvPr/>
        </p:nvSpPr>
        <p:spPr>
          <a:xfrm>
            <a:off x="1171711" y="4434199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circle-x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9278" y="4531766"/>
            <a:ext cx="195132" cy="19513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686153" y="4380981"/>
            <a:ext cx="2190810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不合规直接打回，列出哪里不对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Right Arrow 57"/>
          <p:cNvSpPr/>
          <p:nvPr/>
        </p:nvSpPr>
        <p:spPr>
          <a:xfrm>
            <a:off x="4116444" y="3494013"/>
            <a:ext cx="221742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426884" y="2048256"/>
            <a:ext cx="3033430" cy="3148736"/>
          </a:xfrm>
          <a:prstGeom prst="roundRect">
            <a:avLst>
              <a:gd name="adj" fmla="val 4093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426884" y="2048256"/>
            <a:ext cx="3033430" cy="753922"/>
          </a:xfrm>
          <a:prstGeom prst="roundRect">
            <a:avLst>
              <a:gd name="adj" fmla="val 1647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4426884" y="2607045"/>
            <a:ext cx="3033430" cy="19513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wrench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626" y="2225649"/>
            <a:ext cx="372526" cy="372526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5180807" y="2048256"/>
            <a:ext cx="2146462" cy="7539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存量 · 分批改</a:t>
            </a:r>
            <a:endParaRPr sz="16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Oval 63"/>
          <p:cNvSpPr/>
          <p:nvPr/>
        </p:nvSpPr>
        <p:spPr>
          <a:xfrm>
            <a:off x="4604278" y="3015051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list-checks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1844" y="3112617"/>
            <a:ext cx="195132" cy="195132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5118719" y="2961833"/>
            <a:ext cx="2190810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核心表优先，按健康分排名分批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Oval 66"/>
          <p:cNvSpPr/>
          <p:nvPr/>
        </p:nvSpPr>
        <p:spPr>
          <a:xfrm>
            <a:off x="4604278" y="3724625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history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1844" y="3822191"/>
            <a:ext cx="195132" cy="195132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118719" y="3671407"/>
            <a:ext cx="2190810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改名保留兼容视图，下游不受影响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Oval 69"/>
          <p:cNvSpPr/>
          <p:nvPr/>
        </p:nvSpPr>
        <p:spPr>
          <a:xfrm>
            <a:off x="4604278" y="4434199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sparkles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01844" y="4531766"/>
            <a:ext cx="195132" cy="19513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5118719" y="4380981"/>
            <a:ext cx="2190810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缺描述的，AI 先补一版再人工确认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Right Arrow 72"/>
          <p:cNvSpPr/>
          <p:nvPr/>
        </p:nvSpPr>
        <p:spPr>
          <a:xfrm>
            <a:off x="7549011" y="3494013"/>
            <a:ext cx="221742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7859450" y="2048256"/>
            <a:ext cx="3033430" cy="3148736"/>
          </a:xfrm>
          <a:prstGeom prst="roundRect">
            <a:avLst>
              <a:gd name="adj" fmla="val 4093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7859450" y="2048256"/>
            <a:ext cx="3033430" cy="753922"/>
          </a:xfrm>
          <a:prstGeom prst="roundRect">
            <a:avLst>
              <a:gd name="adj" fmla="val 1647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859450" y="2607045"/>
            <a:ext cx="3033430" cy="19513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refresh-cw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81192" y="2225649"/>
            <a:ext cx="372526" cy="372526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8613373" y="2048256"/>
            <a:ext cx="2146462" cy="75392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持续 · 有人管</a:t>
            </a:r>
            <a:endParaRPr sz="16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Oval 78"/>
          <p:cNvSpPr/>
          <p:nvPr/>
        </p:nvSpPr>
        <p:spPr>
          <a:xfrm>
            <a:off x="8036844" y="3015051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chart-column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34410" y="3112617"/>
            <a:ext cx="195132" cy="195132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8551285" y="2961833"/>
            <a:ext cx="2190810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资产健康分每月公示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2" name="Oval 81"/>
          <p:cNvSpPr/>
          <p:nvPr/>
        </p:nvSpPr>
        <p:spPr>
          <a:xfrm>
            <a:off x="8036844" y="3724625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users_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34410" y="3822191"/>
            <a:ext cx="195132" cy="195132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8551285" y="3671407"/>
            <a:ext cx="2190810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按负责人排名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5" name="Oval 84"/>
          <p:cNvSpPr/>
          <p:nvPr/>
        </p:nvSpPr>
        <p:spPr>
          <a:xfrm>
            <a:off x="8036844" y="4434199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timer_w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34410" y="4531766"/>
            <a:ext cx="195132" cy="195132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8551285" y="4380981"/>
            <a:ext cx="2190810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低分限期整改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994318" y="5356646"/>
            <a:ext cx="2860471" cy="487832"/>
          </a:xfrm>
          <a:prstGeom prst="roundRect">
            <a:avLst>
              <a:gd name="adj" fmla="val 14545"/>
            </a:avLst>
          </a:prstGeom>
          <a:solidFill>
            <a:srgbClr val="F3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35478" bIns="35478" rtlCol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以前　</a:t>
            </a:r>
            <a:r>
              <a:rPr sz="11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规范只写在文档里，没人卡</a:t>
            </a:r>
            <a:endParaRPr sz="11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9" name="Right Arrow 88"/>
          <p:cNvSpPr/>
          <p:nvPr/>
        </p:nvSpPr>
        <p:spPr>
          <a:xfrm>
            <a:off x="3943487" y="5511866"/>
            <a:ext cx="22174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4253925" y="5356646"/>
            <a:ext cx="2860471" cy="487832"/>
          </a:xfrm>
          <a:prstGeom prst="roundRect">
            <a:avLst>
              <a:gd name="adj" fmla="val 14545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35478" bIns="35478" rtlCol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以后　</a:t>
            </a:r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不合规的表发不出去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1" name="Rounded Rectangle 90"/>
          <p:cNvSpPr/>
          <p:nvPr/>
        </p:nvSpPr>
        <p:spPr>
          <a:xfrm>
            <a:off x="7336139" y="5356646"/>
            <a:ext cx="3556741" cy="487832"/>
          </a:xfrm>
          <a:prstGeom prst="roundRect">
            <a:avLst>
              <a:gd name="adj" fmla="val 14545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3" tIns="0" bIns="0" rtlCol="0" anchor="ctr"/>
          <a:lstStyle/>
          <a:p>
            <a:pPr algn="l"/>
            <a:r>
              <a:rPr sz="11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衡量　</a:t>
            </a:r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新表规范符合率 100%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统一底座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一份存储，离线 + 实时，同一个逻辑只建一次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订单、核销从“第二天才看到”变成“分钟级看到”；离线和湖仓合一，不再出两套结果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22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10181"/>
            <a:ext cx="1729587" cy="2306116"/>
          </a:xfrm>
          <a:prstGeom prst="roundRect">
            <a:avLst>
              <a:gd name="adj" fmla="val 615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plug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3971" y="2052096"/>
            <a:ext cx="283829" cy="28382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508759" y="2016617"/>
            <a:ext cx="119740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数据进来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1127363" y="2495580"/>
            <a:ext cx="1463497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业务库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1127363" y="2823758"/>
            <a:ext cx="1463497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渠道接口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1127363" y="3151935"/>
            <a:ext cx="1463497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设备事件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1127363" y="3480113"/>
            <a:ext cx="1463497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行为日志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1127363" y="3808293"/>
            <a:ext cx="1463497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外部数据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Right Arrow 51"/>
          <p:cNvSpPr/>
          <p:nvPr/>
        </p:nvSpPr>
        <p:spPr>
          <a:xfrm>
            <a:off x="2741645" y="2974543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2936778" y="1910181"/>
            <a:ext cx="1552194" cy="2306116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lin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6432" y="2052096"/>
            <a:ext cx="283829" cy="28382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3451219" y="2016617"/>
            <a:ext cx="1020013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统一接入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3069823" y="2495580"/>
            <a:ext cx="1286103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接入规范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3069823" y="2823758"/>
            <a:ext cx="1286103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对象编号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3069823" y="3151935"/>
            <a:ext cx="1286103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负责人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Right Arrow 58"/>
          <p:cNvSpPr/>
          <p:nvPr/>
        </p:nvSpPr>
        <p:spPr>
          <a:xfrm>
            <a:off x="4506711" y="2974543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701844" y="1910181"/>
            <a:ext cx="2971342" cy="2306116"/>
          </a:xfrm>
          <a:prstGeom prst="roundRect">
            <a:avLst>
              <a:gd name="adj" fmla="val 461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databas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1499" y="2052096"/>
            <a:ext cx="283829" cy="283829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5216286" y="2016617"/>
            <a:ext cx="243916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湖仓一体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834890" y="2495580"/>
            <a:ext cx="2705252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离线计算 · DataWorks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4834890" y="2823758"/>
            <a:ext cx="2705252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实时计算 · 订单核销先行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4834890" y="3151935"/>
            <a:ext cx="2705252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原料 → 成品分层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4834890" y="3480113"/>
            <a:ext cx="2705252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共用业务定义和质量规则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Right Arrow 66"/>
          <p:cNvSpPr/>
          <p:nvPr/>
        </p:nvSpPr>
        <p:spPr>
          <a:xfrm>
            <a:off x="7690926" y="2974543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886059" y="1910181"/>
            <a:ext cx="1507845" cy="2306116"/>
          </a:xfrm>
          <a:prstGeom prst="roundRect">
            <a:avLst>
              <a:gd name="adj" fmla="val 705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search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5714" y="2052096"/>
            <a:ext cx="283829" cy="283829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8400501" y="2016617"/>
            <a:ext cx="97566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分析查询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8019105" y="2495580"/>
            <a:ext cx="1241755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稳定查询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8019105" y="2823758"/>
            <a:ext cx="1241755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负载隔离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Right Arrow 72"/>
          <p:cNvSpPr/>
          <p:nvPr/>
        </p:nvSpPr>
        <p:spPr>
          <a:xfrm>
            <a:off x="9411644" y="2974543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9606777" y="1910181"/>
            <a:ext cx="1286103" cy="2306116"/>
          </a:xfrm>
          <a:prstGeom prst="roundRect">
            <a:avLst>
              <a:gd name="adj" fmla="val 8275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send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66432" y="2052096"/>
            <a:ext cx="283829" cy="283829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0121219" y="2016617"/>
            <a:ext cx="75392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给谁用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9739823" y="2495580"/>
            <a:ext cx="1020013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小Q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9739823" y="2823758"/>
            <a:ext cx="1020013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开放 API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9739823" y="3151935"/>
            <a:ext cx="1020013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AI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994318" y="4464649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136233" y="4393692"/>
            <a:ext cx="620877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离线和湖仓合一：同一个逻辑只建一次</a:t>
            </a:r>
            <a:endParaRPr sz="13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994318" y="4801697"/>
            <a:ext cx="2550033" cy="549920"/>
          </a:xfrm>
          <a:prstGeom prst="roundRect">
            <a:avLst>
              <a:gd name="adj" fmla="val 12903"/>
            </a:avLst>
          </a:prstGeom>
          <a:solidFill>
            <a:srgbClr val="F3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35478" bIns="35478" rtlCol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以前　</a:t>
            </a:r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离线、湖仓各做一份，结果不一样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3" name="Right Arrow 82"/>
          <p:cNvSpPr/>
          <p:nvPr/>
        </p:nvSpPr>
        <p:spPr>
          <a:xfrm>
            <a:off x="3633048" y="4987960"/>
            <a:ext cx="22174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943487" y="4801697"/>
            <a:ext cx="2550033" cy="549920"/>
          </a:xfrm>
          <a:prstGeom prst="roundRect">
            <a:avLst>
              <a:gd name="adj" fmla="val 12903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35478" bIns="35478" rtlCol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以后　</a:t>
            </a: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公共层只建一次，改口径只改一处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6715262" y="4801697"/>
            <a:ext cx="693608" cy="549920"/>
          </a:xfrm>
          <a:prstGeom prst="roundRect">
            <a:avLst>
              <a:gd name="adj" fmla="val 12903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盘点重叠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6" name="Right Arrow 85"/>
          <p:cNvSpPr/>
          <p:nvPr/>
        </p:nvSpPr>
        <p:spPr>
          <a:xfrm>
            <a:off x="7435479" y="4996830"/>
            <a:ext cx="124175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7586263" y="4801697"/>
            <a:ext cx="693608" cy="549920"/>
          </a:xfrm>
          <a:prstGeom prst="roundRect">
            <a:avLst>
              <a:gd name="adj" fmla="val 12903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定保留版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8" name="Right Arrow 87"/>
          <p:cNvSpPr/>
          <p:nvPr/>
        </p:nvSpPr>
        <p:spPr>
          <a:xfrm>
            <a:off x="8306482" y="4996830"/>
            <a:ext cx="124175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8457266" y="4801697"/>
            <a:ext cx="693608" cy="549920"/>
          </a:xfrm>
          <a:prstGeom prst="roundRect">
            <a:avLst>
              <a:gd name="adj" fmla="val 12903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下游改引用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0" name="Right Arrow 89"/>
          <p:cNvSpPr/>
          <p:nvPr/>
        </p:nvSpPr>
        <p:spPr>
          <a:xfrm>
            <a:off x="9177484" y="4996830"/>
            <a:ext cx="124175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9328269" y="4801697"/>
            <a:ext cx="693608" cy="549920"/>
          </a:xfrm>
          <a:prstGeom prst="roundRect">
            <a:avLst>
              <a:gd name="adj" fmla="val 12903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双跑对比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2" name="Right Arrow 91"/>
          <p:cNvSpPr/>
          <p:nvPr/>
        </p:nvSpPr>
        <p:spPr>
          <a:xfrm>
            <a:off x="10048487" y="4996830"/>
            <a:ext cx="124175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10199272" y="4801697"/>
            <a:ext cx="693608" cy="549920"/>
          </a:xfrm>
          <a:prstGeom prst="roundRect">
            <a:avLst>
              <a:gd name="adj" fmla="val 12903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下线重复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4" name="Rounded Rectangle 93"/>
          <p:cNvSpPr/>
          <p:nvPr/>
        </p:nvSpPr>
        <p:spPr>
          <a:xfrm>
            <a:off x="994318" y="5529011"/>
            <a:ext cx="9898562" cy="461223"/>
          </a:xfrm>
          <a:prstGeom prst="roundRect">
            <a:avLst>
              <a:gd name="adj" fmla="val 1923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zap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626577"/>
            <a:ext cx="266090" cy="266090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570847" y="5529011"/>
            <a:ext cx="9144640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Microsoft YaHei" panose="020B0503020204020204" charset="-122"/>
                <a:ea typeface="Microsoft YaHei" panose="020B0503020204020204" charset="-122"/>
              </a:rPr>
              <a:t>效果　</a:t>
            </a:r>
            <a:r>
              <a:rPr sz="12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订单、核销：第二天看到 → 分钟级看到；结构变更、补数重算、高峰压测都有预案</a:t>
            </a:r>
            <a:endParaRPr sz="12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1610205" cy="461665"/>
              <a:chOff x="1249621" y="2030985"/>
              <a:chExt cx="1610205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894080" cy="306705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统一标签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同一个数，报表、接口、AI 三处一致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企业出标准口径，景区有自己的专属空间；同一个出口，按景区隔离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23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21052"/>
            <a:ext cx="1951329" cy="3193084"/>
          </a:xfrm>
          <a:prstGeom prst="roundRect">
            <a:avLst>
              <a:gd name="adj" fmla="val 54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公共模型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390"/>
              </a:spcBef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明细 · 维度 · 汇总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5" name="Right Arrow 44"/>
          <p:cNvSpPr/>
          <p:nvPr/>
        </p:nvSpPr>
        <p:spPr>
          <a:xfrm>
            <a:off x="3034343" y="2712887"/>
            <a:ext cx="266090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ight Arrow 45"/>
          <p:cNvSpPr/>
          <p:nvPr/>
        </p:nvSpPr>
        <p:spPr>
          <a:xfrm>
            <a:off x="3034343" y="4220733"/>
            <a:ext cx="266090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433480" y="2021052"/>
            <a:ext cx="4080052" cy="1419148"/>
          </a:xfrm>
          <a:prstGeom prst="roundRect">
            <a:avLst>
              <a:gd name="adj" fmla="val 75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5222" y="2109749"/>
            <a:ext cx="372526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企业标准指标</a:t>
            </a:r>
            <a:endParaRPr sz="15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3655222" y="2579842"/>
            <a:ext cx="82586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统一定义</a:t>
            </a:r>
            <a:endParaRPr sz="10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4569785" y="2579842"/>
            <a:ext cx="82586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版本管理</a:t>
            </a:r>
            <a:endParaRPr sz="10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5484347" y="2579842"/>
            <a:ext cx="82586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业务认证</a:t>
            </a:r>
            <a:endParaRPr sz="10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655222" y="2978978"/>
            <a:ext cx="372526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全公司一个口径，老板看板只用它</a:t>
            </a:r>
            <a:endParaRPr sz="105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3433480" y="3794988"/>
            <a:ext cx="4080052" cy="1419148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A9DD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5222" y="3883685"/>
            <a:ext cx="372526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景区自定义指标空间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3655222" y="4327169"/>
            <a:ext cx="1153058" cy="372526"/>
          </a:xfrm>
          <a:prstGeom prst="roundRect">
            <a:avLst>
              <a:gd name="adj" fmla="val 19047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景区 A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4914717" y="4327169"/>
            <a:ext cx="1153058" cy="372526"/>
          </a:xfrm>
          <a:prstGeom prst="roundRect">
            <a:avLst>
              <a:gd name="adj" fmla="val 19047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景区 B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6174211" y="4327169"/>
            <a:ext cx="1153058" cy="372526"/>
          </a:xfrm>
          <a:prstGeom prst="roundRect">
            <a:avLst>
              <a:gd name="adj" fmla="val 19047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景区 C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655222" y="4770653"/>
            <a:ext cx="372526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相互隔离；不能同名覆盖企业标准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4409144" y="3484548"/>
            <a:ext cx="2128723" cy="266090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↑ 好用的评审后沉淀为标准</a:t>
            </a:r>
            <a:endParaRPr sz="9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Right Arrow 59"/>
          <p:cNvSpPr/>
          <p:nvPr/>
        </p:nvSpPr>
        <p:spPr>
          <a:xfrm>
            <a:off x="7566751" y="2624190"/>
            <a:ext cx="212872" cy="19513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ight Arrow 60"/>
          <p:cNvSpPr/>
          <p:nvPr/>
        </p:nvSpPr>
        <p:spPr>
          <a:xfrm>
            <a:off x="7566751" y="4398126"/>
            <a:ext cx="212872" cy="19513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823972" y="2021052"/>
            <a:ext cx="3068909" cy="3193084"/>
          </a:xfrm>
          <a:prstGeom prst="roundRect">
            <a:avLst>
              <a:gd name="adj" fmla="val 346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001364" y="2109749"/>
            <a:ext cx="280281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同一个出口统一提供</a:t>
            </a:r>
            <a:endParaRPr sz="12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8001364" y="2579842"/>
            <a:ext cx="271412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chart-column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7801" y="2677408"/>
            <a:ext cx="248351" cy="248351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8444848" y="2579842"/>
            <a:ext cx="2226289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小Q 报表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8001364" y="3129762"/>
            <a:ext cx="271412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plug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7801" y="3227329"/>
            <a:ext cx="248351" cy="248351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8444848" y="3129762"/>
            <a:ext cx="2226289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动态数据开放 API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8001364" y="3679682"/>
            <a:ext cx="271412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bot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7801" y="3777249"/>
            <a:ext cx="248351" cy="248351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444848" y="3679682"/>
            <a:ext cx="2226289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AI 问数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8001364" y="4309430"/>
            <a:ext cx="2714122" cy="727313"/>
          </a:xfrm>
          <a:prstGeom prst="roundRect">
            <a:avLst>
              <a:gd name="adj" fmla="val 12195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三处数字一致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开会不用先对数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994318" y="5418140"/>
            <a:ext cx="9898562" cy="461223"/>
          </a:xfrm>
          <a:prstGeom prst="roundRect">
            <a:avLst>
              <a:gd name="adj" fmla="val 1923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target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451" y="5515706"/>
            <a:ext cx="266090" cy="26609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570847" y="5418140"/>
            <a:ext cx="9144640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衡量　</a:t>
            </a:r>
            <a:r>
              <a:rPr sz="12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认证指标覆盖率；老板看板认证指标占比 100%；核销量各出口 0 差异</a:t>
            </a:r>
            <a:endParaRPr sz="12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统一权限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一套规则管到底，谁能看什么分清楚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角色决定能用哪些功能，范围决定能看哪些景区，敏感程度决定能看哪些字段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24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2324769" y="1963399"/>
            <a:ext cx="1082100" cy="354787"/>
          </a:xfrm>
          <a:prstGeom prst="roundRect">
            <a:avLst>
              <a:gd name="adj" fmla="val 20000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公开</a:t>
            </a:r>
            <a:endParaRPr sz="11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3460089" y="1963399"/>
            <a:ext cx="1082100" cy="354787"/>
          </a:xfrm>
          <a:prstGeom prst="roundRect">
            <a:avLst>
              <a:gd name="adj" fmla="val 2000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内部</a:t>
            </a:r>
            <a:endParaRPr sz="11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4595407" y="1963399"/>
            <a:ext cx="1082100" cy="354787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敏感</a:t>
            </a:r>
            <a:endParaRPr sz="11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5730727" y="1963399"/>
            <a:ext cx="1082100" cy="354787"/>
          </a:xfrm>
          <a:prstGeom prst="roundRect">
            <a:avLst>
              <a:gd name="adj" fmla="val 2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高敏</a:t>
            </a:r>
            <a:endParaRPr sz="11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994318" y="2371404"/>
            <a:ext cx="124175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集团管理层</a:t>
            </a:r>
            <a:endParaRPr sz="11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2324769" y="2371404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可看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3460089" y="2371404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可看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4595407" y="2371404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看汇总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5730727" y="2371404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9DB5AF"/>
                </a:solidFill>
                <a:latin typeface="Microsoft YaHei" panose="020B0503020204020204" charset="-122"/>
                <a:ea typeface="Microsoft YaHei" panose="020B0503020204020204" charset="-122"/>
              </a:rPr>
              <a:t>不可看</a:t>
            </a:r>
            <a:endParaRPr sz="1000" b="1">
              <a:solidFill>
                <a:srgbClr val="9DB5A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994318" y="2823758"/>
            <a:ext cx="124175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数据团队</a:t>
            </a:r>
            <a:endParaRPr sz="11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2324769" y="2823758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可看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3460089" y="2823758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可看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4595407" y="2823758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按项目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5730727" y="2823758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审批打码</a:t>
            </a:r>
            <a:endParaRPr sz="100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994318" y="3276111"/>
            <a:ext cx="124175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业务线</a:t>
            </a:r>
            <a:endParaRPr sz="11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2324769" y="3276111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可看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3460089" y="3276111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可看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4595407" y="3276111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本业务线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5730727" y="3276111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9DB5AF"/>
                </a:solidFill>
                <a:latin typeface="Microsoft YaHei" panose="020B0503020204020204" charset="-122"/>
                <a:ea typeface="Microsoft YaHei" panose="020B0503020204020204" charset="-122"/>
              </a:rPr>
              <a:t>不可看</a:t>
            </a:r>
            <a:endParaRPr sz="1000" b="1">
              <a:solidFill>
                <a:srgbClr val="9DB5A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994318" y="3728466"/>
            <a:ext cx="124175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景区</a:t>
            </a:r>
            <a:endParaRPr sz="11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2324769" y="3728466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可看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3460089" y="3728466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本景区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4595407" y="3728466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本景区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5730727" y="3728466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授权打码</a:t>
            </a:r>
            <a:endParaRPr sz="100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994318" y="4180819"/>
            <a:ext cx="124175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供应商</a:t>
            </a:r>
            <a:endParaRPr sz="11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2324769" y="4180819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可看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3460089" y="4180819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本供应商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4595407" y="4180819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本供应商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5730727" y="4180819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9DB5AF"/>
                </a:solidFill>
                <a:latin typeface="Microsoft YaHei" panose="020B0503020204020204" charset="-122"/>
                <a:ea typeface="Microsoft YaHei" panose="020B0503020204020204" charset="-122"/>
              </a:rPr>
              <a:t>不可看</a:t>
            </a:r>
            <a:endParaRPr sz="1000" b="1">
              <a:solidFill>
                <a:srgbClr val="9DB5A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994318" y="4633173"/>
            <a:ext cx="124175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外部伙伴</a:t>
            </a:r>
            <a:endParaRPr sz="11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2324769" y="4633173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可看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3460089" y="4633173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9DB5AF"/>
                </a:solidFill>
                <a:latin typeface="Microsoft YaHei" panose="020B0503020204020204" charset="-122"/>
                <a:ea typeface="Microsoft YaHei" panose="020B0503020204020204" charset="-122"/>
              </a:rPr>
              <a:t>不可看</a:t>
            </a:r>
            <a:endParaRPr sz="1000" b="1">
              <a:solidFill>
                <a:srgbClr val="9DB5A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4595407" y="4633173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匿名汇总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5730727" y="4633173"/>
            <a:ext cx="1082100" cy="408005"/>
          </a:xfrm>
          <a:prstGeom prst="roundRect">
            <a:avLst>
              <a:gd name="adj" fmla="val 17391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9DB5AF"/>
                </a:solidFill>
                <a:latin typeface="Microsoft YaHei" panose="020B0503020204020204" charset="-122"/>
                <a:ea typeface="Microsoft YaHei" panose="020B0503020204020204" charset="-122"/>
              </a:rPr>
              <a:t>不可看</a:t>
            </a:r>
            <a:endParaRPr sz="1000" b="1">
              <a:solidFill>
                <a:srgbClr val="9DB5A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994318" y="5085527"/>
            <a:ext cx="5818510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AI 智能体　</a:t>
            </a:r>
            <a:r>
              <a:rPr sz="11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不单独开权限，继承提问人的权限</a:t>
            </a:r>
            <a:endParaRPr sz="11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7123266" y="1963399"/>
            <a:ext cx="3769613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申请到回收，一个闭环</a:t>
            </a:r>
            <a:endParaRPr sz="12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Oval 79"/>
          <p:cNvSpPr/>
          <p:nvPr/>
        </p:nvSpPr>
        <p:spPr>
          <a:xfrm>
            <a:off x="7123266" y="2380274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pen-lin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0832" y="2477840"/>
            <a:ext cx="195132" cy="195132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7619969" y="2344795"/>
            <a:ext cx="323743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申请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7619969" y="2584277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说明用途和期限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4" name="Oval 83"/>
          <p:cNvSpPr/>
          <p:nvPr/>
        </p:nvSpPr>
        <p:spPr>
          <a:xfrm>
            <a:off x="7123266" y="2965673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stamp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0832" y="3063240"/>
            <a:ext cx="195132" cy="195132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7619969" y="2930194"/>
            <a:ext cx="323743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审批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7619969" y="3169676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数据负责人；高敏加安全负责人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8" name="Oval 87"/>
          <p:cNvSpPr/>
          <p:nvPr/>
        </p:nvSpPr>
        <p:spPr>
          <a:xfrm>
            <a:off x="7123266" y="3551072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key-round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0832" y="3648638"/>
            <a:ext cx="195132" cy="195132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7619969" y="3515593"/>
            <a:ext cx="323743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授权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7619969" y="3755075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最小范围，设到期时间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2" name="Oval 91"/>
          <p:cNvSpPr/>
          <p:nvPr/>
        </p:nvSpPr>
        <p:spPr>
          <a:xfrm>
            <a:off x="7123266" y="4136470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ey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0832" y="4234037"/>
            <a:ext cx="195132" cy="195132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7619969" y="4100991"/>
            <a:ext cx="323743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使用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7619969" y="4340472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访问全程留痕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6" name="Oval 95"/>
          <p:cNvSpPr/>
          <p:nvPr/>
        </p:nvSpPr>
        <p:spPr>
          <a:xfrm>
            <a:off x="7123266" y="4721870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7" name="Picture 96" descr="archiv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0832" y="4819436"/>
            <a:ext cx="195132" cy="195132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7619969" y="4686391"/>
            <a:ext cx="323743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回收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7619969" y="4925871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到期、离岗自动收回；每季度复核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" name="Rounded Rectangle 99"/>
          <p:cNvSpPr/>
          <p:nvPr/>
        </p:nvSpPr>
        <p:spPr>
          <a:xfrm>
            <a:off x="994318" y="5449183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216060" y="5449183"/>
            <a:ext cx="2306116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同一套规则，管住每个出口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" name="Rounded Rectangle 101"/>
          <p:cNvSpPr/>
          <p:nvPr/>
        </p:nvSpPr>
        <p:spPr>
          <a:xfrm>
            <a:off x="3610874" y="5555620"/>
            <a:ext cx="82586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数据仓库</a:t>
            </a:r>
            <a:endParaRPr sz="10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3" name="Rounded Rectangle 102"/>
          <p:cNvSpPr/>
          <p:nvPr/>
        </p:nvSpPr>
        <p:spPr>
          <a:xfrm>
            <a:off x="4543176" y="5555620"/>
            <a:ext cx="82586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数据地图</a:t>
            </a:r>
            <a:endParaRPr sz="10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4" name="Rounded Rectangle 103"/>
          <p:cNvSpPr/>
          <p:nvPr/>
        </p:nvSpPr>
        <p:spPr>
          <a:xfrm>
            <a:off x="5475478" y="5555620"/>
            <a:ext cx="82315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开放 API</a:t>
            </a:r>
            <a:endParaRPr sz="10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5" name="Rounded Rectangle 104"/>
          <p:cNvSpPr/>
          <p:nvPr/>
        </p:nvSpPr>
        <p:spPr>
          <a:xfrm>
            <a:off x="6405068" y="5555620"/>
            <a:ext cx="495223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小Q</a:t>
            </a:r>
            <a:endParaRPr sz="10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7006729" y="5555620"/>
            <a:ext cx="82586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标签平台</a:t>
            </a:r>
            <a:endParaRPr sz="10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7" name="Rounded Rectangle 106"/>
          <p:cNvSpPr/>
          <p:nvPr/>
        </p:nvSpPr>
        <p:spPr>
          <a:xfrm>
            <a:off x="7939031" y="5555620"/>
            <a:ext cx="88277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AI 智能体</a:t>
            </a:r>
            <a:endParaRPr sz="10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标签复用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一个游客一个身份，一处加工、到处能用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订单、会员、年卡、人脸归并成同一个游客；营销、分析、AI、景区都从同一处取标签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25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receipt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7363" y="2145822"/>
            <a:ext cx="248351" cy="248351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82150" y="204825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订单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47" name="Connector 46"/>
          <p:cNvCxnSpPr/>
          <p:nvPr/>
        </p:nvCxnSpPr>
        <p:spPr>
          <a:xfrm>
            <a:off x="2590860" y="2269998"/>
            <a:ext cx="399135" cy="60313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994318" y="259817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users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363" y="2695742"/>
            <a:ext cx="248351" cy="248351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482150" y="259817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会员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51" name="Connector 50"/>
          <p:cNvCxnSpPr/>
          <p:nvPr/>
        </p:nvCxnSpPr>
        <p:spPr>
          <a:xfrm>
            <a:off x="2590860" y="2819918"/>
            <a:ext cx="399135" cy="5321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994318" y="314809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ticket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363" y="3245662"/>
            <a:ext cx="248351" cy="248351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482150" y="314809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年卡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55" name="Connector 54"/>
          <p:cNvCxnSpPr/>
          <p:nvPr/>
        </p:nvCxnSpPr>
        <p:spPr>
          <a:xfrm flipV="1">
            <a:off x="2590860" y="2873136"/>
            <a:ext cx="399135" cy="496702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994318" y="369801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scan-face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363" y="3795582"/>
            <a:ext cx="248351" cy="248351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482150" y="369801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人脸识别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59" name="Connector 58"/>
          <p:cNvCxnSpPr/>
          <p:nvPr/>
        </p:nvCxnSpPr>
        <p:spPr>
          <a:xfrm flipV="1">
            <a:off x="2590860" y="2873136"/>
            <a:ext cx="399135" cy="1046622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3034343" y="2429652"/>
            <a:ext cx="1596542" cy="886968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同一个游客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105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OneID</a:t>
            </a:r>
            <a:endParaRPr sz="105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Right Arrow 60"/>
          <p:cNvSpPr/>
          <p:nvPr/>
        </p:nvSpPr>
        <p:spPr>
          <a:xfrm>
            <a:off x="4719584" y="2766700"/>
            <a:ext cx="248351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5074370" y="2429652"/>
            <a:ext cx="1552194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17739" rIns="44348" bIns="17739" rtlCol="0" anchor="ctr"/>
          <a:lstStyle/>
          <a:p>
            <a:pPr algn="ctr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统一生产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195"/>
              </a:spcBef>
            </a:pPr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基于公共模型加工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Right Arrow 62"/>
          <p:cNvSpPr/>
          <p:nvPr/>
        </p:nvSpPr>
        <p:spPr>
          <a:xfrm>
            <a:off x="6670912" y="2784439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892654" y="2429652"/>
            <a:ext cx="1552194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17739" rIns="44348" bIns="17739" rtlCol="0" anchor="ctr"/>
          <a:lstStyle/>
          <a:p>
            <a:pPr algn="ctr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统一管理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195"/>
              </a:spcBef>
            </a:pPr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口径 · 负责人 · 生命周期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Right Arrow 64"/>
          <p:cNvSpPr/>
          <p:nvPr/>
        </p:nvSpPr>
        <p:spPr>
          <a:xfrm>
            <a:off x="8489198" y="2784439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8710939" y="2429652"/>
            <a:ext cx="1552194" cy="886968"/>
          </a:xfrm>
          <a:prstGeom prst="roundRect">
            <a:avLst>
              <a:gd name="adj" fmla="val 1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17739" rIns="44348" bIns="17739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统一服务</a:t>
            </a:r>
            <a:endParaRPr sz="13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195"/>
              </a:spcBef>
            </a:pPr>
            <a:r>
              <a:rPr sz="95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一个出口提供</a:t>
            </a:r>
            <a:endParaRPr sz="95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7025699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营销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7841710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分析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8657721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AI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9473731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景区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6050035" y="3582709"/>
            <a:ext cx="88696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谁来用 →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994318" y="4292285"/>
            <a:ext cx="4838410" cy="10643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71711" y="4363242"/>
            <a:ext cx="97566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给谁打标签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2191725" y="4363242"/>
            <a:ext cx="350795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游客 / 会员 · 供应商 · 景区 · 渠道 · 商品</a:t>
            </a:r>
            <a:endParaRPr sz="10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1171711" y="4842205"/>
            <a:ext cx="97566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标签类型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2191725" y="4842205"/>
            <a:ext cx="350795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基础属性 · 统计类 · 规则类 · 模型预测类</a:t>
            </a:r>
            <a:endParaRPr sz="10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6054471" y="4292285"/>
            <a:ext cx="4838410" cy="1064361"/>
          </a:xfrm>
          <a:prstGeom prst="roundRect">
            <a:avLst>
              <a:gd name="adj" fmla="val 10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1864" y="4363242"/>
            <a:ext cx="4572320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边界</a:t>
            </a:r>
            <a:endParaRPr sz="11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6231864" y="4664811"/>
            <a:ext cx="4572320" cy="66522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景区只用本景区的标签</a:t>
            </a:r>
            <a:endParaRPr sz="10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lnSpc>
                <a:spcPct val="110000"/>
              </a:lnSpc>
              <a:spcBef>
                <a:spcPts val="1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不做敏感个人信息标签；对外不提供个人层面标签</a:t>
            </a:r>
            <a:endParaRPr sz="10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1615285" cy="461665"/>
              <a:chOff x="1249621" y="2030985"/>
              <a:chExt cx="1615285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899160" cy="306705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</a:rPr>
                  <a:t>即席</a:t>
                </a:r>
                <a:r>
                  <a:rPr lang="zh-CN" altLang="en-US" sz="1400" b="1" dirty="0">
                    <a:solidFill>
                      <a:schemeClr val="bg1"/>
                    </a:solidFill>
                  </a:rPr>
                  <a:t>自助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业务自己查、自己看，少找人要数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从统一的模型、指标、标签出发；数据团队从临时取数转向建模型、做分析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26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43226"/>
            <a:ext cx="1862632" cy="2394813"/>
          </a:xfrm>
          <a:prstGeom prst="roundRect">
            <a:avLst>
              <a:gd name="adj" fmla="val 571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统一出发点</a:t>
            </a:r>
            <a:endParaRPr sz="13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580"/>
              </a:spcBef>
            </a:pPr>
            <a:r>
              <a:rPr sz="12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模型</a:t>
            </a:r>
            <a:endParaRPr sz="12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580"/>
              </a:spcBef>
            </a:pPr>
            <a:r>
              <a:rPr sz="12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指标</a:t>
            </a:r>
            <a:endParaRPr sz="12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580"/>
              </a:spcBef>
            </a:pPr>
            <a:r>
              <a:rPr sz="12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标签</a:t>
            </a:r>
            <a:endParaRPr sz="12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5" name="Right Arrow 44"/>
          <p:cNvSpPr/>
          <p:nvPr/>
        </p:nvSpPr>
        <p:spPr>
          <a:xfrm>
            <a:off x="2945648" y="3134197"/>
            <a:ext cx="248351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300435" y="2043226"/>
            <a:ext cx="3015691" cy="2394813"/>
          </a:xfrm>
          <a:prstGeom prst="roundRect">
            <a:avLst>
              <a:gd name="adj" fmla="val 444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chart-column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5568" y="2185141"/>
            <a:ext cx="319308" cy="31930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3903573" y="2149662"/>
            <a:ext cx="2306115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zh-CN" sz="14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即席</a:t>
            </a:r>
            <a:r>
              <a:rPr lang="zh-CN" sz="14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自助</a:t>
            </a:r>
            <a:endParaRPr lang="zh-CN" sz="14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3477828" y="2690713"/>
            <a:ext cx="1286103" cy="42574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指标检索</a:t>
            </a:r>
            <a:endParaRPr sz="10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4852629" y="2690713"/>
            <a:ext cx="1286103" cy="42574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明细探索</a:t>
            </a:r>
            <a:endParaRPr sz="10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3477828" y="3222894"/>
            <a:ext cx="1286103" cy="42574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可视化计算</a:t>
            </a:r>
            <a:endParaRPr sz="10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4852629" y="3222894"/>
            <a:ext cx="1286103" cy="42574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自定义看板</a:t>
            </a:r>
            <a:endParaRPr sz="10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3477828" y="3755075"/>
            <a:ext cx="1286103" cy="42574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报表订阅</a:t>
            </a:r>
            <a:endParaRPr sz="10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Right Arrow 53"/>
          <p:cNvSpPr/>
          <p:nvPr/>
        </p:nvSpPr>
        <p:spPr>
          <a:xfrm>
            <a:off x="6404823" y="3134197"/>
            <a:ext cx="248351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759610" y="2043226"/>
            <a:ext cx="1552194" cy="709574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crown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2655" y="2247229"/>
            <a:ext cx="301569" cy="301569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274052" y="2043226"/>
            <a:ext cx="97566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总部经营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6759610" y="2859237"/>
            <a:ext cx="1552194" cy="709574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briefcase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2655" y="3063240"/>
            <a:ext cx="301569" cy="301569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7274052" y="2859237"/>
            <a:ext cx="97566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业务线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6759610" y="3675247"/>
            <a:ext cx="1552194" cy="709574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landmar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2655" y="3879250"/>
            <a:ext cx="301569" cy="301569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7274052" y="3675247"/>
            <a:ext cx="97566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景区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8533546" y="2043226"/>
            <a:ext cx="2359334" cy="2394813"/>
          </a:xfrm>
          <a:prstGeom prst="roundRect">
            <a:avLst>
              <a:gd name="adj" fmla="val 4511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533546" y="2043226"/>
            <a:ext cx="2359334" cy="319308"/>
          </a:xfrm>
          <a:prstGeom prst="roundRect">
            <a:avLst>
              <a:gd name="adj" fmla="val 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666591" y="2149662"/>
            <a:ext cx="106436" cy="106436"/>
          </a:xfrm>
          <a:prstGeom prst="ellipse">
            <a:avLst/>
          </a:prstGeom>
          <a:solidFill>
            <a:srgbClr val="E07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843985" y="2149662"/>
            <a:ext cx="106436" cy="106436"/>
          </a:xfrm>
          <a:prstGeom prst="ellipse">
            <a:avLst/>
          </a:prstGeom>
          <a:solidFill>
            <a:srgbClr val="D9B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021378" y="2149662"/>
            <a:ext cx="106436" cy="106436"/>
          </a:xfrm>
          <a:prstGeom prst="ellipse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287469" y="2043226"/>
            <a:ext cx="147236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自定义看板（示意）</a:t>
            </a:r>
            <a:endParaRPr sz="1000" b="1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8799636" y="3577681"/>
            <a:ext cx="248351" cy="532180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172163" y="3267242"/>
            <a:ext cx="248351" cy="842619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9544690" y="3444636"/>
            <a:ext cx="248351" cy="665226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9917216" y="3045500"/>
            <a:ext cx="248351" cy="1064361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10289743" y="3222894"/>
            <a:ext cx="248351" cy="886968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755288" y="2468971"/>
            <a:ext cx="200454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××景区 · 本周</a:t>
            </a:r>
            <a:endParaRPr sz="10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994318" y="4642043"/>
            <a:ext cx="4838410" cy="549920"/>
          </a:xfrm>
          <a:prstGeom prst="roundRect">
            <a:avLst>
              <a:gd name="adj" fmla="val 16129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1742" tIns="0" bIns="0" rtlCol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AI 问数与报表同源　</a:t>
            </a: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共用指标定义和权限，问出来的数和报表一致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6054471" y="4642043"/>
            <a:ext cx="4838410" cy="549920"/>
          </a:xfrm>
          <a:prstGeom prst="roundRect">
            <a:avLst>
              <a:gd name="adj" fmla="val 16129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1742" tIns="0" bIns="0" rtlCol="0" anchor="ctr"/>
          <a:lstStyle/>
          <a:p>
            <a:pPr algn="l"/>
            <a:r>
              <a:rPr sz="11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数据团队　</a:t>
            </a: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从临时取数、对数，转向建模型、做分析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994318" y="5369356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216060" y="5369356"/>
            <a:ext cx="1153058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E7CF"/>
                </a:solidFill>
                <a:latin typeface="Microsoft YaHei" panose="020B0503020204020204" charset="-122"/>
                <a:ea typeface="Microsoft YaHei" panose="020B0503020204020204" charset="-122"/>
              </a:rPr>
              <a:t>最终产出</a:t>
            </a:r>
            <a:endParaRPr sz="1150" b="1">
              <a:solidFill>
                <a:srgbClr val="FFE7C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2324769" y="5475792"/>
            <a:ext cx="1059926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企业指标中心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3491132" y="5475792"/>
            <a:ext cx="131862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景区专属指标空间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4916195" y="5475792"/>
            <a:ext cx="1059926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统一标签服务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6082558" y="5475792"/>
            <a:ext cx="1059926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统一语义服务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7248921" y="5475792"/>
            <a:ext cx="1059926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自助分析平台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对各业务线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每个人都用上靠谱的数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从管理层到景区，九类角色的变化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27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90008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211750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crown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0322" y="2340361"/>
            <a:ext cx="257220" cy="25722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836938" y="2096444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管理层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836938" y="2415753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驾驶舱全用认证指标，不用先对数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4352970" y="1990008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530364" y="2211750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ticke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8974" y="2340361"/>
            <a:ext cx="257220" cy="2572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5195590" y="2096444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票务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5195590" y="2415753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核销口径统一，差异自动定位；节假日实时看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7711622" y="1990008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889015" y="2211750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calculator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7625" y="2340361"/>
            <a:ext cx="257220" cy="25722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8554241" y="2096444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财务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8554241" y="2415753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业务与财务逐层对账，差异自动列原因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994318" y="3125327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71711" y="3347069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rout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0322" y="3475680"/>
            <a:ext cx="257220" cy="25722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836938" y="3231763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渠道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1836938" y="3551072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销量、佣金、返利口径统一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4352970" y="3125327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530364" y="3347069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megaphon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8974" y="3475680"/>
            <a:ext cx="257220" cy="25722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195590" y="3231763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营销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5195590" y="3551072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标签圈人、指标看效果，复盘自动完成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7711622" y="3125327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889015" y="3347069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heads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7625" y="3475680"/>
            <a:ext cx="257220" cy="25722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554241" y="3231763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运营 / 客户成功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8554241" y="3551072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景区经营报告自动生成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994318" y="4260646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171711" y="4482388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cod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00322" y="4610998"/>
            <a:ext cx="257220" cy="25722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836938" y="4367082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产品研发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1836938" y="4686391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上线前定好口径，上线即有数据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4352970" y="4260646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4530364" y="4482388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database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58974" y="4610998"/>
            <a:ext cx="257220" cy="2572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195590" y="4367082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数据团队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5195590" y="4686391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从取数对数转向建模型、做分析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7711622" y="4260646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889015" y="4482388"/>
            <a:ext cx="514441" cy="514441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landmark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17625" y="4610998"/>
            <a:ext cx="257220" cy="257220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8554241" y="4367082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景区 / 供应商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8554241" y="4686391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直接用标准指标，不够用自己加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994318" y="5395965"/>
            <a:ext cx="9898562" cy="514441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zap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9451" y="5520141"/>
            <a:ext cx="266090" cy="266090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1570847" y="5395965"/>
            <a:ext cx="9144640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为第二部分打基础　</a:t>
            </a:r>
            <a:r>
              <a:rPr sz="125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数据可信、有口径、有权限，AI 接上去才能答得准</a:t>
            </a:r>
            <a:endParaRPr sz="125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1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围绕三个目标，一条线建下去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智能体平台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这一部分讲</a:t>
            </a:r>
            <a:endParaRPr sz="12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现状与底气</a:t>
            </a:r>
            <a:endParaRPr sz="13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3904487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能做哪些</a:t>
            </a:r>
            <a:endParaRPr sz="13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536752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建设思路</a:t>
            </a:r>
            <a:endParaRPr sz="13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83056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跑通商业模式</a:t>
            </a:r>
            <a:endParaRPr sz="13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829360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快速占领市场</a:t>
            </a:r>
            <a:endParaRPr sz="13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2492248" y="4873752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建自己的平台</a:t>
            </a:r>
            <a:endParaRPr sz="13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3904487" y="4873752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风险与底线</a:t>
            </a:r>
            <a:endParaRPr sz="13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现状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已有智能体，来自三个地方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智能体 = 能听懂问题、还能帮你办事的 AI 助手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29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05746"/>
            <a:ext cx="6474866" cy="1197406"/>
          </a:xfrm>
          <a:prstGeom prst="roundRect">
            <a:avLst>
              <a:gd name="adj" fmla="val 1037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9451" y="2100879"/>
            <a:ext cx="443484" cy="443484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users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5887" y="2207315"/>
            <a:ext cx="230611" cy="23061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92589" y="2083140"/>
            <a:ext cx="3547872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Coze</a:t>
            </a:r>
            <a:endParaRPr lang="en-US" sz="14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6281386" y="2127488"/>
            <a:ext cx="96605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工作流配置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1792589" y="2508885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智能助手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2791907" y="2508885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智能客服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3791224" y="2508885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智能导览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4790541" y="2508885"/>
            <a:ext cx="82488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AI 旅拍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5704118" y="2508885"/>
            <a:ext cx="82488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AI 伴游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1792589" y="2845932"/>
            <a:ext cx="5587898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给游客用 · 标准化、配置化输出</a:t>
            </a:r>
            <a:endParaRPr sz="10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994318" y="3236198"/>
            <a:ext cx="6474866" cy="1197406"/>
          </a:xfrm>
          <a:prstGeom prst="roundRect">
            <a:avLst>
              <a:gd name="adj" fmla="val 10370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89451" y="3431331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hand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322" y="3542202"/>
            <a:ext cx="221742" cy="22174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792589" y="3413592"/>
            <a:ext cx="3547872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企业</a:t>
            </a:r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合作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6410736" y="3457940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合作接入</a:t>
            </a:r>
            <a:endParaRPr sz="100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1792589" y="3839337"/>
            <a:ext cx="61496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手语</a:t>
            </a:r>
            <a:endParaRPr sz="11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1792589" y="4176384"/>
            <a:ext cx="5587898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给听障游客用 · 接入合作方的专业能力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994318" y="4566650"/>
            <a:ext cx="6474866" cy="1197406"/>
          </a:xfrm>
          <a:prstGeom prst="roundRect">
            <a:avLst>
              <a:gd name="adj" fmla="val 1037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89451" y="4761783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chart-colum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322" y="4872654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792589" y="4744044"/>
            <a:ext cx="3547872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小Q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6410736" y="4788392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平台自带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1792589" y="5169789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智能问数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2791907" y="5169789"/>
            <a:ext cx="1206276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智能数据解读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1792589" y="5506836"/>
            <a:ext cx="5587898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给景区和内部管理者用 · 直接用小Q 的 AI 能力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8001364" y="1843659"/>
            <a:ext cx="2838297" cy="4213098"/>
          </a:xfrm>
          <a:prstGeom prst="roundRect">
            <a:avLst>
              <a:gd name="adj" fmla="val 10000"/>
            </a:avLst>
          </a:prstGeom>
          <a:solidFill>
            <a:srgbClr val="1F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8090061" y="1932355"/>
            <a:ext cx="2660904" cy="4035704"/>
          </a:xfrm>
          <a:prstGeom prst="roundRect">
            <a:avLst>
              <a:gd name="adj" fmla="val 8333"/>
            </a:avLst>
          </a:prstGeom>
          <a:solidFill>
            <a:srgbClr val="F7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9021378" y="1958963"/>
            <a:ext cx="798271" cy="106436"/>
          </a:xfrm>
          <a:prstGeom prst="roundRect">
            <a:avLst>
              <a:gd name="adj" fmla="val 50000"/>
            </a:avLst>
          </a:prstGeom>
          <a:solidFill>
            <a:srgbClr val="1F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8090061" y="2154097"/>
            <a:ext cx="2660904" cy="5499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223106" y="2225055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bo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0673" y="2322621"/>
            <a:ext cx="195132" cy="195132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8710939" y="2198445"/>
            <a:ext cx="1951329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智能客服 · 示意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8710939" y="2446797"/>
            <a:ext cx="1951329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850" b="0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● 在线</a:t>
            </a:r>
            <a:endParaRPr sz="850" b="0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8626862" y="2863672"/>
            <a:ext cx="1991057" cy="319308"/>
          </a:xfrm>
          <a:prstGeom prst="roundRect">
            <a:avLst>
              <a:gd name="adj" fmla="val 333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4175" tIns="53218" bIns="53218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明天上午去，几点开园？</a:t>
            </a:r>
            <a:endParaRPr sz="10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8223106" y="3307156"/>
            <a:ext cx="2139809" cy="674095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4175" tIns="53218" bIns="53218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明天 8:00 开园。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刷身份证或人脸就能入园，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不用换票。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9073117" y="4105427"/>
            <a:ext cx="1544802" cy="319308"/>
          </a:xfrm>
          <a:prstGeom prst="roundRect">
            <a:avLst>
              <a:gd name="adj" fmla="val 333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4175" tIns="53218" bIns="53218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帮我买两张成人票</a:t>
            </a:r>
            <a:endParaRPr sz="10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8223106" y="4548911"/>
            <a:ext cx="2014857" cy="496702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4175" tIns="53218" bIns="53218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已选好明天成人票 2 张，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点这里去支付 →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8223106" y="5480226"/>
            <a:ext cx="2394813" cy="33704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400500" y="5480226"/>
            <a:ext cx="17739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9DB5AF"/>
                </a:solidFill>
                <a:latin typeface="Microsoft YaHei" panose="020B0503020204020204" charset="-122"/>
                <a:ea typeface="Microsoft YaHei" panose="020B0503020204020204" charset="-122"/>
              </a:rPr>
              <a:t>有问题尽管问我…</a:t>
            </a:r>
            <a:endParaRPr sz="900" b="0">
              <a:solidFill>
                <a:srgbClr val="9DB5A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4" name="Oval 83"/>
          <p:cNvSpPr/>
          <p:nvPr/>
        </p:nvSpPr>
        <p:spPr>
          <a:xfrm>
            <a:off x="10307481" y="5506836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sen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0700" y="5560053"/>
            <a:ext cx="177393" cy="177393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我们凭什么能做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系统在现场、数据在手里、客户在用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别人只能做“通用聊天”，我们能做“帮景区和游客办事”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30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786006"/>
            <a:ext cx="3547872" cy="3680917"/>
          </a:xfrm>
          <a:prstGeom prst="roundRect">
            <a:avLst>
              <a:gd name="adj" fmla="val 3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9451" y="194566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oxes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1408" y="2067618"/>
            <a:ext cx="243916" cy="24391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92589" y="1927920"/>
            <a:ext cx="266090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产品积累</a:t>
            </a:r>
            <a:endParaRPr sz="15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792589" y="2211750"/>
            <a:ext cx="266090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多条产品线，系统装在景区现场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1171711" y="2655234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ticket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8148" y="2814888"/>
            <a:ext cx="248351" cy="248351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597456" y="2655234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智慧票务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2812602" y="2655234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ferris-wheel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9039" y="2814888"/>
            <a:ext cx="248351" cy="248351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3238347" y="2655234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景区业态管理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1171711" y="3329330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activity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8148" y="3488984"/>
            <a:ext cx="248351" cy="248351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597456" y="3329330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景区运营管理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2812602" y="3329330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wallet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19039" y="3488984"/>
            <a:ext cx="248351" cy="248351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3238347" y="3329330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景区财务管理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1171711" y="4003426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monitor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8148" y="4163080"/>
            <a:ext cx="248351" cy="248351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597456" y="4003426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景区智慧终端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2812602" y="4003426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brain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19039" y="4163080"/>
            <a:ext cx="248351" cy="248351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3238347" y="4003426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AI 数字大脑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1171711" y="4677521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smartphone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8148" y="4837175"/>
            <a:ext cx="248351" cy="248351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597456" y="4677521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畅游 AI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2812602" y="4677521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megaphone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19039" y="4837175"/>
            <a:ext cx="248351" cy="248351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3238347" y="4677521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会员营销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4719584" y="1786006"/>
            <a:ext cx="3547872" cy="3680917"/>
          </a:xfrm>
          <a:prstGeom prst="roundRect">
            <a:avLst>
              <a:gd name="adj" fmla="val 3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4914717" y="194566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database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36675" y="2067618"/>
            <a:ext cx="243916" cy="243916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5517855" y="1927920"/>
            <a:ext cx="266090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数据在手里</a:t>
            </a:r>
            <a:endParaRPr sz="15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5517855" y="2211750"/>
            <a:ext cx="266090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办事要用的数据，都在我们系统里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4896977" y="2655234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receipt_p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03413" y="2814888"/>
            <a:ext cx="248351" cy="248351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5322722" y="2655234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交易与客流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6537868" y="2655234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tag_p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44304" y="2814888"/>
            <a:ext cx="248351" cy="248351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6963613" y="2655234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售票与分销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4896977" y="3329330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ferris-wheel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3413" y="3488984"/>
            <a:ext cx="248351" cy="248351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5322722" y="3329330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九大业态系统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7" name="Rounded Rectangle 86"/>
          <p:cNvSpPr/>
          <p:nvPr/>
        </p:nvSpPr>
        <p:spPr>
          <a:xfrm>
            <a:off x="6537868" y="3329330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calendar-check_p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44304" y="3488984"/>
            <a:ext cx="248351" cy="248351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6963613" y="3329330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年卡与预约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0" name="Rounded Rectangle 89"/>
          <p:cNvSpPr/>
          <p:nvPr/>
        </p:nvSpPr>
        <p:spPr>
          <a:xfrm>
            <a:off x="4896977" y="4003426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file-text_p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03413" y="4163080"/>
            <a:ext cx="248351" cy="248351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5322722" y="4003426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订单与结算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6537868" y="4003426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users_p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44304" y="4163080"/>
            <a:ext cx="248351" cy="248351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6963613" y="4003426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会员与营销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4896977" y="4677521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7" name="Picture 96" descr="scan-face_p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003413" y="4837175"/>
            <a:ext cx="248351" cy="248351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5322722" y="4677521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闸机与物联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6537868" y="4677521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0" name="Picture 99" descr="badge-check_p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44304" y="4837175"/>
            <a:ext cx="248351" cy="248351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6963613" y="4677521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认证指标与标签</a:t>
            </a:r>
            <a:endParaRPr sz="1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" name="Rounded Rectangle 101"/>
          <p:cNvSpPr/>
          <p:nvPr/>
        </p:nvSpPr>
        <p:spPr>
          <a:xfrm>
            <a:off x="8444849" y="1786006"/>
            <a:ext cx="2448031" cy="3680917"/>
          </a:xfrm>
          <a:prstGeom prst="roundRect">
            <a:avLst>
              <a:gd name="adj" fmla="val 5072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8639982" y="1945660"/>
            <a:ext cx="487832" cy="4878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handshake_w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755288" y="2060966"/>
            <a:ext cx="257220" cy="25722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9243120" y="1927920"/>
            <a:ext cx="1561062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客户在用</a:t>
            </a:r>
            <a:endParaRPr sz="15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9243120" y="2211750"/>
            <a:ext cx="15610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大量景区已用我们的票务</a:t>
            </a:r>
            <a:endParaRPr sz="10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7" name="Rounded Rectangle 106"/>
          <p:cNvSpPr/>
          <p:nvPr/>
        </p:nvSpPr>
        <p:spPr>
          <a:xfrm>
            <a:off x="8622243" y="2655234"/>
            <a:ext cx="2093244" cy="780531"/>
          </a:xfrm>
          <a:prstGeom prst="roundRect">
            <a:avLst>
              <a:gd name="adj" fmla="val 11363"/>
            </a:avLst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799636" y="2726192"/>
            <a:ext cx="1827153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接口现成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8799636" y="3054370"/>
            <a:ext cx="182715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系统已对接，基本零开发</a:t>
            </a:r>
            <a:endParaRPr sz="105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8622243" y="3542202"/>
            <a:ext cx="2093244" cy="780531"/>
          </a:xfrm>
          <a:prstGeom prst="roundRect">
            <a:avLst>
              <a:gd name="adj" fmla="val 11363"/>
            </a:avLst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799636" y="3613160"/>
            <a:ext cx="1827153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信任已有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8799636" y="3941338"/>
            <a:ext cx="182715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老客户，成交最快</a:t>
            </a:r>
            <a:endParaRPr sz="105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13" name="Rounded Rectangle 112"/>
          <p:cNvSpPr/>
          <p:nvPr/>
        </p:nvSpPr>
        <p:spPr>
          <a:xfrm>
            <a:off x="8622243" y="4429170"/>
            <a:ext cx="2093244" cy="780531"/>
          </a:xfrm>
          <a:prstGeom prst="roundRect">
            <a:avLst>
              <a:gd name="adj" fmla="val 11363"/>
            </a:avLst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799636" y="4500128"/>
            <a:ext cx="1827153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入口现成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8799636" y="4828306"/>
            <a:ext cx="182715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小程序、公众号、APP、终端都在</a:t>
            </a:r>
            <a:endParaRPr sz="105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16" name="Rounded Rectangle 115"/>
          <p:cNvSpPr/>
          <p:nvPr/>
        </p:nvSpPr>
        <p:spPr>
          <a:xfrm>
            <a:off x="994318" y="5626577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shield-check_w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89451" y="5737448"/>
            <a:ext cx="266090" cy="266090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570847" y="5626577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Microsoft YaHei" panose="020B0503020204020204" charset="-122"/>
                <a:ea typeface="Microsoft YaHei" panose="020B0503020204020204" charset="-122"/>
              </a:rPr>
              <a:t>结论　</a:t>
            </a:r>
            <a:r>
              <a:rPr sz="125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别人做通用聊天，我们做“能办事”的智能体 —— 这是我们的护城河</a:t>
            </a:r>
            <a:endParaRPr sz="125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游客端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覆盖游前、游中、游后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实心为已有，空心为基于现有系统和数据可以扩展的 —— 都要做，只是先后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31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44" name="Connector 43"/>
          <p:cNvCxnSpPr/>
          <p:nvPr/>
        </p:nvCxnSpPr>
        <p:spPr>
          <a:xfrm>
            <a:off x="1260408" y="2180706"/>
            <a:ext cx="9366382" cy="0"/>
          </a:xfrm>
          <a:prstGeom prst="line">
            <a:avLst/>
          </a:prstGeom>
          <a:ln w="381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1083015" y="1896877"/>
            <a:ext cx="567659" cy="56765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compass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4930" y="2038791"/>
            <a:ext cx="283829" cy="283829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1748240" y="1985573"/>
            <a:ext cx="724357" cy="390265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游前</a:t>
            </a:r>
            <a:endParaRPr sz="14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2561294" y="2003313"/>
            <a:ext cx="1393525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想去 · 了解 · 买票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994318" y="2650799"/>
            <a:ext cx="2882646" cy="2971342"/>
          </a:xfrm>
          <a:prstGeom prst="roundRect">
            <a:avLst>
              <a:gd name="adj" fmla="val 3692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71711" y="2739496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场景</a:t>
            </a:r>
            <a:endParaRPr sz="1000" b="1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1171711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景区咨询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2036998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行程规划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1171711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购票预约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2036998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门票候补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171711" y="3732900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智能体</a:t>
            </a:r>
            <a:endParaRPr sz="10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1171711" y="4043339"/>
            <a:ext cx="772647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智能客服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2006447" y="4043339"/>
            <a:ext cx="772647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智能助手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1171711" y="4406996"/>
            <a:ext cx="96507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AI 旅游规划</a:t>
            </a:r>
            <a:endParaRPr sz="10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2198869" y="4406996"/>
            <a:ext cx="96507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AI 智能购票</a:t>
            </a:r>
            <a:endParaRPr sz="10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1171711" y="4770653"/>
            <a:ext cx="117917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预约与候补提醒</a:t>
            </a:r>
            <a:endParaRPr sz="10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Oval 60"/>
          <p:cNvSpPr/>
          <p:nvPr/>
        </p:nvSpPr>
        <p:spPr>
          <a:xfrm>
            <a:off x="4143053" y="1896877"/>
            <a:ext cx="567659" cy="56765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erris-wheel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4968" y="2038791"/>
            <a:ext cx="283829" cy="283829"/>
          </a:xfrm>
          <a:prstGeom prst="rect">
            <a:avLst/>
          </a:prstGeom>
        </p:spPr>
      </p:pic>
      <p:sp>
        <p:nvSpPr>
          <p:cNvPr id="63" name="Rounded Rectangle 62"/>
          <p:cNvSpPr/>
          <p:nvPr/>
        </p:nvSpPr>
        <p:spPr>
          <a:xfrm>
            <a:off x="4808280" y="1985573"/>
            <a:ext cx="724357" cy="390265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游中</a:t>
            </a:r>
            <a:endParaRPr sz="14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5621334" y="2003313"/>
            <a:ext cx="1393525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入园 · 游玩 · 消费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4054358" y="2650799"/>
            <a:ext cx="3955877" cy="2971342"/>
          </a:xfrm>
          <a:prstGeom prst="roundRect">
            <a:avLst>
              <a:gd name="adj" fmla="val 3582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31751" y="2739496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场景</a:t>
            </a:r>
            <a:endParaRPr sz="1000" b="1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4231751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入园核验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5097038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导览讲解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5962324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陪伴互动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6827610" y="3049935"/>
            <a:ext cx="93525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无障碍服务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4231751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乐园项目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5097038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演出观看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5962324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游船乘坐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6827610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餐饮购物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4231751" y="365307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停车租赁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5097038" y="365307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酒店温泉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4231751" y="403446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智能体</a:t>
            </a:r>
            <a:endParaRPr sz="10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4231751" y="4344908"/>
            <a:ext cx="772647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智能导览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5066487" y="4344908"/>
            <a:ext cx="694052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AI 伴游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5822627" y="4344908"/>
            <a:ext cx="501629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手语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6386344" y="4344908"/>
            <a:ext cx="1450192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乐园排队与项目推荐</a:t>
            </a:r>
            <a:endParaRPr sz="10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4231751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演出选座推荐</a:t>
            </a:r>
            <a:endParaRPr sz="10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5337505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餐饮二消推荐</a:t>
            </a:r>
            <a:endParaRPr sz="10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6443258" y="4708565"/>
            <a:ext cx="772647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停车引导</a:t>
            </a:r>
            <a:endParaRPr sz="10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4231751" y="5072222"/>
            <a:ext cx="117917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自助机语音购票</a:t>
            </a:r>
            <a:endParaRPr sz="10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6" name="Oval 85"/>
          <p:cNvSpPr/>
          <p:nvPr/>
        </p:nvSpPr>
        <p:spPr>
          <a:xfrm>
            <a:off x="8276325" y="1896877"/>
            <a:ext cx="567659" cy="56765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camera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8240" y="2038791"/>
            <a:ext cx="283829" cy="283829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8941551" y="1985573"/>
            <a:ext cx="724357" cy="390265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游后</a:t>
            </a:r>
            <a:endParaRPr sz="14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9754605" y="2003313"/>
            <a:ext cx="1393525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回味 · 分享 · 再来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0" name="Rounded Rectangle 89"/>
          <p:cNvSpPr/>
          <p:nvPr/>
        </p:nvSpPr>
        <p:spPr>
          <a:xfrm>
            <a:off x="8187629" y="2650799"/>
            <a:ext cx="2705252" cy="2971342"/>
          </a:xfrm>
          <a:prstGeom prst="roundRect">
            <a:avLst>
              <a:gd name="adj" fmla="val 3934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365021" y="2739496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场景</a:t>
            </a:r>
            <a:endParaRPr sz="1000" b="1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8365021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拍照留念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9230309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游记分享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4" name="Rounded Rectangle 93"/>
          <p:cNvSpPr/>
          <p:nvPr/>
        </p:nvSpPr>
        <p:spPr>
          <a:xfrm>
            <a:off x="8365021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点评反馈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5" name="Rounded Rectangle 94"/>
          <p:cNvSpPr/>
          <p:nvPr/>
        </p:nvSpPr>
        <p:spPr>
          <a:xfrm>
            <a:off x="9230309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年卡复游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8365021" y="365307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积分权益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8365021" y="403446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智能体</a:t>
            </a:r>
            <a:endParaRPr sz="10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8" name="Rounded Rectangle 97"/>
          <p:cNvSpPr/>
          <p:nvPr/>
        </p:nvSpPr>
        <p:spPr>
          <a:xfrm>
            <a:off x="8365021" y="4344908"/>
            <a:ext cx="694052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AI 旅拍</a:t>
            </a:r>
            <a:endParaRPr sz="10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9121162" y="4344908"/>
            <a:ext cx="117917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游记与行程总结</a:t>
            </a:r>
            <a:endParaRPr sz="10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" name="Rounded Rectangle 99"/>
          <p:cNvSpPr/>
          <p:nvPr/>
        </p:nvSpPr>
        <p:spPr>
          <a:xfrm>
            <a:off x="8365021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点评分享助手</a:t>
            </a:r>
            <a:endParaRPr sz="10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1" name="Rounded Rectangle 100"/>
          <p:cNvSpPr/>
          <p:nvPr/>
        </p:nvSpPr>
        <p:spPr>
          <a:xfrm>
            <a:off x="9470775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年卡服务助手</a:t>
            </a:r>
            <a:endParaRPr sz="10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" name="Rounded Rectangle 101"/>
          <p:cNvSpPr/>
          <p:nvPr/>
        </p:nvSpPr>
        <p:spPr>
          <a:xfrm>
            <a:off x="994318" y="5755187"/>
            <a:ext cx="665226" cy="24835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已有</a:t>
            </a:r>
            <a:endParaRPr sz="9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3" name="Rounded Rectangle 102"/>
          <p:cNvSpPr/>
          <p:nvPr/>
        </p:nvSpPr>
        <p:spPr>
          <a:xfrm>
            <a:off x="1748240" y="5755187"/>
            <a:ext cx="842619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可扩展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2768254" y="5755187"/>
            <a:ext cx="709574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实心为已有，空心为基于积累可扩展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景区端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从经营、运营到安全调度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票务、业态、财务、营销、调度的系统都是我们的，扩展有基础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32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786006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chart-line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7363" y="1892442"/>
            <a:ext cx="230611" cy="230611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55541" y="1786006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经营分析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2324769" y="1786006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经营问数 · 经营洞察 · 日报周报</a:t>
            </a:r>
            <a:endParaRPr sz="9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4453493" y="1874702"/>
            <a:ext cx="862822" cy="26609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AI 智能问数</a:t>
            </a:r>
            <a:endParaRPr sz="9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5369534" y="1874702"/>
            <a:ext cx="862822" cy="26609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AI 智能洞察</a:t>
            </a:r>
            <a:endParaRPr sz="9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6285575" y="1874702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经营日报周报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7273066" y="1874702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报表解读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994318" y="2282708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ticket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363" y="2389144"/>
            <a:ext cx="230611" cy="230611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455541" y="2282708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票务运营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2324769" y="2282708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定价库存 · 分销渠道 · 团队报名 · 检票核销</a:t>
            </a:r>
            <a:endParaRPr sz="9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4453493" y="2371404"/>
            <a:ext cx="1146159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票务 AI 运营助手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5652871" y="2371404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分销渠道助手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6640362" y="2371404"/>
            <a:ext cx="105746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旅行社报团助手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7751043" y="2371404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检票异常解释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8738534" y="2371404"/>
            <a:ext cx="105746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窗口售票员助手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994318" y="2779410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erris-wheel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363" y="2885846"/>
            <a:ext cx="230611" cy="230611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455541" y="2779410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业态运营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2324769" y="2779410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乐园 · 演出 · 游船 · 酒店 · 温泉 · 餐饮 · 停车</a:t>
            </a:r>
            <a:endParaRPr sz="9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4453493" y="2868107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业态经营助手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994318" y="3276112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bell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363" y="3382548"/>
            <a:ext cx="230611" cy="230611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455541" y="3276112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运营服务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2324769" y="3276112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年卡 · 分时预约 · 候补 · 免证 · 一卡通</a:t>
            </a:r>
            <a:endParaRPr sz="9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4453493" y="3364809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消息通知预警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5440984" y="3364809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工单调度处置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994318" y="3772814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calculator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363" y="3879250"/>
            <a:ext cx="230611" cy="230611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1455541" y="3772814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财务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2324769" y="3772814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对账 · 发票 · 报表</a:t>
            </a:r>
            <a:endParaRPr sz="9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4453493" y="3861511"/>
            <a:ext cx="86282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AI 对账助手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5369534" y="3861511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发票助手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994318" y="4269516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megaphone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7363" y="4375952"/>
            <a:ext cx="230611" cy="230611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455541" y="4269516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营销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2324769" y="4269516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会员 · 人群 · 全民营销 · 活动</a:t>
            </a:r>
            <a:endParaRPr sz="9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4453493" y="4358213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会员画像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5194604" y="4358213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人群圈选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5935715" y="4358213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营销文案生成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6923206" y="4358213"/>
            <a:ext cx="81108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推广员助手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6" name="Rounded Rectangle 85"/>
          <p:cNvSpPr/>
          <p:nvPr/>
        </p:nvSpPr>
        <p:spPr>
          <a:xfrm>
            <a:off x="7787507" y="4358213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活动复盘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7" name="Rounded Rectangle 86"/>
          <p:cNvSpPr/>
          <p:nvPr/>
        </p:nvSpPr>
        <p:spPr>
          <a:xfrm>
            <a:off x="994318" y="4766218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siren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7363" y="4872654"/>
            <a:ext cx="230611" cy="230611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455541" y="4766218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安全调度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2324769" y="4766218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客流秩序 · 车船调度 · 防火生态 · 气象设施</a:t>
            </a:r>
            <a:endParaRPr sz="9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1" name="Rounded Rectangle 90"/>
          <p:cNvSpPr/>
          <p:nvPr/>
        </p:nvSpPr>
        <p:spPr>
          <a:xfrm>
            <a:off x="4453493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旅游安全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5194604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秩序治理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935715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车辆调度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4" name="Rounded Rectangle 93"/>
          <p:cNvSpPr/>
          <p:nvPr/>
        </p:nvSpPr>
        <p:spPr>
          <a:xfrm>
            <a:off x="6676826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游船调度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5" name="Rounded Rectangle 94"/>
          <p:cNvSpPr/>
          <p:nvPr/>
        </p:nvSpPr>
        <p:spPr>
          <a:xfrm>
            <a:off x="7417937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森林防火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8159048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生态监测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7" name="Rounded Rectangle 96"/>
          <p:cNvSpPr/>
          <p:nvPr/>
        </p:nvSpPr>
        <p:spPr>
          <a:xfrm>
            <a:off x="8900160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气象服务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8" name="Rounded Rectangle 97"/>
          <p:cNvSpPr/>
          <p:nvPr/>
        </p:nvSpPr>
        <p:spPr>
          <a:xfrm>
            <a:off x="9641270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设施监测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994318" y="5262920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0" name="Picture 99" descr="cpu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27363" y="5369356"/>
            <a:ext cx="230611" cy="230611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1455541" y="5262920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设备终端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2324769" y="5262920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闸机 · 自助机 · 窗口 · 边云网关</a:t>
            </a:r>
            <a:endParaRPr sz="9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3" name="Rounded Rectangle 102"/>
          <p:cNvSpPr/>
          <p:nvPr/>
        </p:nvSpPr>
        <p:spPr>
          <a:xfrm>
            <a:off x="4453493" y="5351617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设备运维诊断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4" name="Rounded Rectangle 103"/>
          <p:cNvSpPr/>
          <p:nvPr/>
        </p:nvSpPr>
        <p:spPr>
          <a:xfrm>
            <a:off x="994318" y="5866058"/>
            <a:ext cx="665226" cy="24835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已有</a:t>
            </a:r>
            <a:endParaRPr sz="9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5" name="Rounded Rectangle 104"/>
          <p:cNvSpPr/>
          <p:nvPr/>
        </p:nvSpPr>
        <p:spPr>
          <a:xfrm>
            <a:off x="1748240" y="5866058"/>
            <a:ext cx="842619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可扩展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2768254" y="5866058"/>
            <a:ext cx="709574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安全调度即“景区 AI 调度中枢”；实心为已有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建设思路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围绕三个目标，走一条建设流程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先用成熟平台把事做成、把钱赚到，再快速铺开，最后建成自己的平台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33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69835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36233" y="1998878"/>
            <a:ext cx="266090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建设目标</a:t>
            </a:r>
            <a:endParaRPr sz="13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994318" y="2380274"/>
            <a:ext cx="3151692" cy="842619"/>
          </a:xfrm>
          <a:prstGeom prst="roundRect">
            <a:avLst>
              <a:gd name="adj" fmla="val 1263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71711" y="2513319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target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4756" y="2646365"/>
            <a:ext cx="266090" cy="26609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836938" y="2442362"/>
            <a:ext cx="222037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跑通商业模式</a:t>
            </a:r>
            <a:endParaRPr sz="15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836938" y="2797149"/>
            <a:ext cx="222037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能卖、能赚钱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4367753" y="2380274"/>
            <a:ext cx="3151692" cy="842619"/>
          </a:xfrm>
          <a:prstGeom prst="roundRect">
            <a:avLst>
              <a:gd name="adj" fmla="val 1263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545147" y="2513319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rocke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8192" y="2646365"/>
            <a:ext cx="266090" cy="26609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210373" y="2442362"/>
            <a:ext cx="222037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快速占领市场</a:t>
            </a:r>
            <a:endParaRPr sz="15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210373" y="2797149"/>
            <a:ext cx="222037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铺得快、交付快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7741188" y="2380274"/>
            <a:ext cx="3151692" cy="842619"/>
          </a:xfrm>
          <a:prstGeom prst="roundRect">
            <a:avLst>
              <a:gd name="adj" fmla="val 1263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918581" y="2513319"/>
            <a:ext cx="532180" cy="532180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building2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1626" y="2646365"/>
            <a:ext cx="266090" cy="26609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8583807" y="2442362"/>
            <a:ext cx="222037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建成自己的平台</a:t>
            </a:r>
            <a:endParaRPr sz="15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8583807" y="2797149"/>
            <a:ext cx="222037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更省钱、更可控、有壁垒</a:t>
            </a:r>
            <a:endParaRPr sz="11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994318" y="3515593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36233" y="3444636"/>
            <a:ext cx="443484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建设流程：一条线走下来</a:t>
            </a:r>
            <a:endParaRPr sz="13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994318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0" rIns="35478" bIns="0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选场景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Right Arrow 63"/>
          <p:cNvSpPr/>
          <p:nvPr/>
        </p:nvSpPr>
        <p:spPr>
          <a:xfrm>
            <a:off x="2100811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2251595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0" rIns="35478" bIns="0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借成熟平台搭建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Right Arrow 65"/>
          <p:cNvSpPr/>
          <p:nvPr/>
        </p:nvSpPr>
        <p:spPr>
          <a:xfrm>
            <a:off x="3358088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3508871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0" rIns="35478" bIns="0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标杆试点验证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Right Arrow 67"/>
          <p:cNvSpPr/>
          <p:nvPr/>
        </p:nvSpPr>
        <p:spPr>
          <a:xfrm>
            <a:off x="4615364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4766149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0" rIns="35478" bIns="0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定价与交付定型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Right Arrow 69"/>
          <p:cNvSpPr/>
          <p:nvPr/>
        </p:nvSpPr>
        <p:spPr>
          <a:xfrm>
            <a:off x="5872641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6023427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0" rIns="35478" bIns="0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按业态标准化复制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Right Arrow 71"/>
          <p:cNvSpPr/>
          <p:nvPr/>
        </p:nvSpPr>
        <p:spPr>
          <a:xfrm>
            <a:off x="7129918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280704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0" rIns="35478" bIns="0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沉淀知识、接口、数据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ight Arrow 73"/>
          <p:cNvSpPr/>
          <p:nvPr/>
        </p:nvSpPr>
        <p:spPr>
          <a:xfrm>
            <a:off x="8387196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8537981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0" rIns="35478" bIns="0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时机成熟自建平台</a:t>
            </a:r>
            <a:endParaRPr sz="11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Right Arrow 75"/>
          <p:cNvSpPr/>
          <p:nvPr/>
        </p:nvSpPr>
        <p:spPr>
          <a:xfrm>
            <a:off x="9644473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795258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0" rIns="35478" bIns="0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平稳迁移</a:t>
            </a:r>
            <a:endParaRPr sz="11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994318" y="4642043"/>
            <a:ext cx="4869453" cy="44348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94318" y="4713000"/>
            <a:ext cx="4869453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为了跑通商业模式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6023427" y="4642043"/>
            <a:ext cx="2354900" cy="44348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23427" y="4713000"/>
            <a:ext cx="2354900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为了快速占领市场</a:t>
            </a:r>
            <a:endParaRPr sz="10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8537981" y="4642043"/>
            <a:ext cx="2354900" cy="44348"/>
          </a:xfrm>
          <a:prstGeom prst="roundRect">
            <a:avLst>
              <a:gd name="adj" fmla="val 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537981" y="4713000"/>
            <a:ext cx="2354900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为了建成自己的平台</a:t>
            </a:r>
            <a:endParaRPr sz="100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994318" y="4996830"/>
            <a:ext cx="989856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起步依托 Coze · 火山方舟 · 羚羊小Q；自建时以数字大脑作为智能体管理台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994318" y="5351617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216060" y="5351617"/>
            <a:ext cx="1419148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贯穿始终</a:t>
            </a:r>
            <a:endParaRPr sz="12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7" name="Rounded Rectangle 86"/>
          <p:cNvSpPr/>
          <p:nvPr/>
        </p:nvSpPr>
        <p:spPr>
          <a:xfrm>
            <a:off x="2502164" y="5493532"/>
            <a:ext cx="1367901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借平台，不交资产</a:t>
            </a:r>
            <a:endParaRPr sz="10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976502" y="5493532"/>
            <a:ext cx="1367901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数据从第一天回流</a:t>
            </a:r>
            <a:endParaRPr sz="10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5450840" y="5493532"/>
            <a:ext cx="1096883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守住安全底线</a:t>
            </a:r>
            <a:endParaRPr sz="10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0" name="Rounded Rectangle 89"/>
          <p:cNvSpPr/>
          <p:nvPr/>
        </p:nvSpPr>
        <p:spPr>
          <a:xfrm>
            <a:off x="6654159" y="5493532"/>
            <a:ext cx="1465467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培养自己的 AI 团队</a:t>
            </a:r>
            <a:endParaRPr sz="10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1" name="Rounded Rectangle 90"/>
          <p:cNvSpPr/>
          <p:nvPr/>
        </p:nvSpPr>
        <p:spPr>
          <a:xfrm>
            <a:off x="8226064" y="5493532"/>
            <a:ext cx="177442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用成本数据判断自建时机</a:t>
            </a:r>
            <a:endParaRPr sz="10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跑通商业模式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先回答“能不能卖、能不能赚钱”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五个问题要用真实的景区、真实的钱来回答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34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grpSp>
        <p:nvGrpSpPr>
          <p:cNvPr id="21000" name="素材 31"/>
          <p:cNvGrpSpPr/>
          <p:nvPr/>
        </p:nvGrpSpPr>
        <p:grpSpPr>
          <a:xfrm>
            <a:off x="994318" y="2114184"/>
            <a:ext cx="6474866" cy="2683020"/>
            <a:chOff x="1728589" y="2236993"/>
            <a:chExt cx="7979490" cy="3306499"/>
          </a:xfrm>
        </p:grpSpPr>
        <p:grpSp>
          <p:nvGrpSpPr>
            <p:cNvPr id="21001" name="Group 20"/>
            <p:cNvGrpSpPr/>
            <p:nvPr/>
          </p:nvGrpSpPr>
          <p:grpSpPr>
            <a:xfrm>
              <a:off x="3240697" y="3115126"/>
              <a:ext cx="1942157" cy="1682741"/>
              <a:chOff x="3259138" y="2860907"/>
              <a:chExt cx="2222500" cy="1925638"/>
            </a:xfrm>
          </p:grpSpPr>
          <p:sp>
            <p:nvSpPr>
              <p:cNvPr id="21002" name="Freeform 6"/>
              <p:cNvSpPr/>
              <p:nvPr/>
            </p:nvSpPr>
            <p:spPr bwMode="auto">
              <a:xfrm>
                <a:off x="3259138" y="2860907"/>
                <a:ext cx="2222500" cy="1925638"/>
              </a:xfrm>
              <a:custGeom>
                <a:avLst/>
                <a:gdLst>
                  <a:gd name="T0" fmla="*/ 0 w 1400"/>
                  <a:gd name="T1" fmla="*/ 606 h 1213"/>
                  <a:gd name="T2" fmla="*/ 350 w 1400"/>
                  <a:gd name="T3" fmla="*/ 1213 h 1213"/>
                  <a:gd name="T4" fmla="*/ 1050 w 1400"/>
                  <a:gd name="T5" fmla="*/ 1213 h 1213"/>
                  <a:gd name="T6" fmla="*/ 1400 w 1400"/>
                  <a:gd name="T7" fmla="*/ 606 h 1213"/>
                  <a:gd name="T8" fmla="*/ 1050 w 1400"/>
                  <a:gd name="T9" fmla="*/ 0 h 1213"/>
                  <a:gd name="T10" fmla="*/ 350 w 1400"/>
                  <a:gd name="T11" fmla="*/ 0 h 1213"/>
                  <a:gd name="T12" fmla="*/ 0 w 1400"/>
                  <a:gd name="T13" fmla="*/ 606 h 1213"/>
                  <a:gd name="T14" fmla="*/ 0 w 1400"/>
                  <a:gd name="T15" fmla="*/ 606 h 1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3">
                    <a:moveTo>
                      <a:pt x="0" y="606"/>
                    </a:moveTo>
                    <a:lnTo>
                      <a:pt x="350" y="1213"/>
                    </a:lnTo>
                    <a:lnTo>
                      <a:pt x="1050" y="1213"/>
                    </a:lnTo>
                    <a:lnTo>
                      <a:pt x="1400" y="606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6"/>
                    </a:lnTo>
                    <a:lnTo>
                      <a:pt x="0" y="606"/>
                    </a:lnTo>
                    <a:close/>
                  </a:path>
                </a:pathLst>
              </a:custGeom>
              <a:solidFill>
                <a:srgbClr val="5BBFAE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03" name="Freeform 15"/>
              <p:cNvSpPr>
                <a:spLocks noEditPoints="1"/>
              </p:cNvSpPr>
              <p:nvPr/>
            </p:nvSpPr>
            <p:spPr bwMode="auto">
              <a:xfrm>
                <a:off x="3387726" y="2970444"/>
                <a:ext cx="1966913" cy="1706563"/>
              </a:xfrm>
              <a:custGeom>
                <a:avLst/>
                <a:gdLst>
                  <a:gd name="T0" fmla="*/ 11 w 1239"/>
                  <a:gd name="T1" fmla="*/ 537 h 1075"/>
                  <a:gd name="T2" fmla="*/ 317 w 1239"/>
                  <a:gd name="T3" fmla="*/ 1066 h 1075"/>
                  <a:gd name="T4" fmla="*/ 924 w 1239"/>
                  <a:gd name="T5" fmla="*/ 1066 h 1075"/>
                  <a:gd name="T6" fmla="*/ 1227 w 1239"/>
                  <a:gd name="T7" fmla="*/ 537 h 1075"/>
                  <a:gd name="T8" fmla="*/ 924 w 1239"/>
                  <a:gd name="T9" fmla="*/ 9 h 1075"/>
                  <a:gd name="T10" fmla="*/ 317 w 1239"/>
                  <a:gd name="T11" fmla="*/ 9 h 1075"/>
                  <a:gd name="T12" fmla="*/ 11 w 1239"/>
                  <a:gd name="T13" fmla="*/ 537 h 1075"/>
                  <a:gd name="T14" fmla="*/ 11 w 1239"/>
                  <a:gd name="T15" fmla="*/ 537 h 1075"/>
                  <a:gd name="T16" fmla="*/ 0 w 1239"/>
                  <a:gd name="T17" fmla="*/ 537 h 1075"/>
                  <a:gd name="T18" fmla="*/ 309 w 1239"/>
                  <a:gd name="T19" fmla="*/ 0 h 1075"/>
                  <a:gd name="T20" fmla="*/ 929 w 1239"/>
                  <a:gd name="T21" fmla="*/ 0 h 1075"/>
                  <a:gd name="T22" fmla="*/ 1239 w 1239"/>
                  <a:gd name="T23" fmla="*/ 537 h 1075"/>
                  <a:gd name="T24" fmla="*/ 929 w 1239"/>
                  <a:gd name="T25" fmla="*/ 1075 h 1075"/>
                  <a:gd name="T26" fmla="*/ 309 w 1239"/>
                  <a:gd name="T27" fmla="*/ 1075 h 1075"/>
                  <a:gd name="T28" fmla="*/ 0 w 1239"/>
                  <a:gd name="T29" fmla="*/ 537 h 1075"/>
                  <a:gd name="T30" fmla="*/ 0 w 1239"/>
                  <a:gd name="T31" fmla="*/ 537 h 10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9" h="1075">
                    <a:moveTo>
                      <a:pt x="11" y="537"/>
                    </a:moveTo>
                    <a:lnTo>
                      <a:pt x="317" y="1066"/>
                    </a:lnTo>
                    <a:lnTo>
                      <a:pt x="924" y="1066"/>
                    </a:lnTo>
                    <a:lnTo>
                      <a:pt x="1227" y="537"/>
                    </a:lnTo>
                    <a:lnTo>
                      <a:pt x="924" y="9"/>
                    </a:lnTo>
                    <a:lnTo>
                      <a:pt x="317" y="9"/>
                    </a:lnTo>
                    <a:lnTo>
                      <a:pt x="11" y="537"/>
                    </a:lnTo>
                    <a:lnTo>
                      <a:pt x="11" y="537"/>
                    </a:lnTo>
                    <a:close/>
                    <a:moveTo>
                      <a:pt x="0" y="537"/>
                    </a:moveTo>
                    <a:lnTo>
                      <a:pt x="309" y="0"/>
                    </a:lnTo>
                    <a:lnTo>
                      <a:pt x="929" y="0"/>
                    </a:lnTo>
                    <a:lnTo>
                      <a:pt x="1239" y="537"/>
                    </a:lnTo>
                    <a:lnTo>
                      <a:pt x="929" y="1075"/>
                    </a:lnTo>
                    <a:lnTo>
                      <a:pt x="309" y="1075"/>
                    </a:lnTo>
                    <a:lnTo>
                      <a:pt x="0" y="537"/>
                    </a:lnTo>
                    <a:lnTo>
                      <a:pt x="0" y="537"/>
                    </a:lnTo>
                    <a:close/>
                  </a:path>
                </a:pathLst>
              </a:custGeom>
              <a:solidFill>
                <a:srgbClr val="5BBFAE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004" name="Group 19"/>
            <p:cNvGrpSpPr/>
            <p:nvPr/>
          </p:nvGrpSpPr>
          <p:grpSpPr>
            <a:xfrm>
              <a:off x="1728589" y="2236993"/>
              <a:ext cx="1942157" cy="1686902"/>
              <a:chOff x="1528763" y="1856019"/>
              <a:chExt cx="2222500" cy="1930400"/>
            </a:xfrm>
          </p:grpSpPr>
          <p:sp>
            <p:nvSpPr>
              <p:cNvPr id="21005" name="Freeform 5"/>
              <p:cNvSpPr/>
              <p:nvPr/>
            </p:nvSpPr>
            <p:spPr bwMode="auto">
              <a:xfrm>
                <a:off x="1528763" y="1856019"/>
                <a:ext cx="2222500" cy="1930400"/>
              </a:xfrm>
              <a:custGeom>
                <a:avLst/>
                <a:gdLst>
                  <a:gd name="T0" fmla="*/ 0 w 1400"/>
                  <a:gd name="T1" fmla="*/ 609 h 1216"/>
                  <a:gd name="T2" fmla="*/ 350 w 1400"/>
                  <a:gd name="T3" fmla="*/ 1216 h 1216"/>
                  <a:gd name="T4" fmla="*/ 1050 w 1400"/>
                  <a:gd name="T5" fmla="*/ 1216 h 1216"/>
                  <a:gd name="T6" fmla="*/ 1400 w 1400"/>
                  <a:gd name="T7" fmla="*/ 609 h 1216"/>
                  <a:gd name="T8" fmla="*/ 1050 w 1400"/>
                  <a:gd name="T9" fmla="*/ 0 h 1216"/>
                  <a:gd name="T10" fmla="*/ 350 w 1400"/>
                  <a:gd name="T11" fmla="*/ 0 h 1216"/>
                  <a:gd name="T12" fmla="*/ 0 w 1400"/>
                  <a:gd name="T13" fmla="*/ 609 h 1216"/>
                  <a:gd name="T14" fmla="*/ 0 w 1400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6">
                    <a:moveTo>
                      <a:pt x="0" y="609"/>
                    </a:moveTo>
                    <a:lnTo>
                      <a:pt x="350" y="1216"/>
                    </a:lnTo>
                    <a:lnTo>
                      <a:pt x="1050" y="1216"/>
                    </a:lnTo>
                    <a:lnTo>
                      <a:pt x="1400" y="609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2CAB93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06" name="Freeform 16"/>
              <p:cNvSpPr>
                <a:spLocks noEditPoints="1"/>
              </p:cNvSpPr>
              <p:nvPr/>
            </p:nvSpPr>
            <p:spPr bwMode="auto">
              <a:xfrm>
                <a:off x="1660526" y="1968732"/>
                <a:ext cx="1963738" cy="1704975"/>
              </a:xfrm>
              <a:custGeom>
                <a:avLst/>
                <a:gdLst>
                  <a:gd name="T0" fmla="*/ 9 w 1237"/>
                  <a:gd name="T1" fmla="*/ 538 h 1074"/>
                  <a:gd name="T2" fmla="*/ 314 w 1237"/>
                  <a:gd name="T3" fmla="*/ 1064 h 1074"/>
                  <a:gd name="T4" fmla="*/ 922 w 1237"/>
                  <a:gd name="T5" fmla="*/ 1064 h 1074"/>
                  <a:gd name="T6" fmla="*/ 1225 w 1237"/>
                  <a:gd name="T7" fmla="*/ 538 h 1074"/>
                  <a:gd name="T8" fmla="*/ 922 w 1237"/>
                  <a:gd name="T9" fmla="*/ 10 h 1074"/>
                  <a:gd name="T10" fmla="*/ 314 w 1237"/>
                  <a:gd name="T11" fmla="*/ 10 h 1074"/>
                  <a:gd name="T12" fmla="*/ 9 w 1237"/>
                  <a:gd name="T13" fmla="*/ 538 h 1074"/>
                  <a:gd name="T14" fmla="*/ 9 w 1237"/>
                  <a:gd name="T15" fmla="*/ 538 h 1074"/>
                  <a:gd name="T16" fmla="*/ 0 w 1237"/>
                  <a:gd name="T17" fmla="*/ 538 h 1074"/>
                  <a:gd name="T18" fmla="*/ 307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07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9" y="538"/>
                    </a:moveTo>
                    <a:lnTo>
                      <a:pt x="314" y="1064"/>
                    </a:lnTo>
                    <a:lnTo>
                      <a:pt x="922" y="1064"/>
                    </a:lnTo>
                    <a:lnTo>
                      <a:pt x="1225" y="538"/>
                    </a:lnTo>
                    <a:lnTo>
                      <a:pt x="922" y="10"/>
                    </a:lnTo>
                    <a:lnTo>
                      <a:pt x="314" y="10"/>
                    </a:lnTo>
                    <a:lnTo>
                      <a:pt x="9" y="538"/>
                    </a:lnTo>
                    <a:lnTo>
                      <a:pt x="9" y="538"/>
                    </a:lnTo>
                    <a:close/>
                    <a:moveTo>
                      <a:pt x="0" y="538"/>
                    </a:moveTo>
                    <a:lnTo>
                      <a:pt x="307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07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2CAB93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007" name="Group 22"/>
            <p:cNvGrpSpPr/>
            <p:nvPr/>
          </p:nvGrpSpPr>
          <p:grpSpPr>
            <a:xfrm>
              <a:off x="6262137" y="3115126"/>
              <a:ext cx="1942157" cy="1682741"/>
              <a:chOff x="6716713" y="2860907"/>
              <a:chExt cx="2222500" cy="1925638"/>
            </a:xfrm>
          </p:grpSpPr>
          <p:sp>
            <p:nvSpPr>
              <p:cNvPr id="21008" name="Freeform 8"/>
              <p:cNvSpPr/>
              <p:nvPr/>
            </p:nvSpPr>
            <p:spPr bwMode="auto">
              <a:xfrm>
                <a:off x="6716713" y="2860907"/>
                <a:ext cx="2222500" cy="1925638"/>
              </a:xfrm>
              <a:custGeom>
                <a:avLst/>
                <a:gdLst>
                  <a:gd name="T0" fmla="*/ 0 w 1400"/>
                  <a:gd name="T1" fmla="*/ 606 h 1213"/>
                  <a:gd name="T2" fmla="*/ 350 w 1400"/>
                  <a:gd name="T3" fmla="*/ 1213 h 1213"/>
                  <a:gd name="T4" fmla="*/ 1050 w 1400"/>
                  <a:gd name="T5" fmla="*/ 1213 h 1213"/>
                  <a:gd name="T6" fmla="*/ 1400 w 1400"/>
                  <a:gd name="T7" fmla="*/ 606 h 1213"/>
                  <a:gd name="T8" fmla="*/ 1050 w 1400"/>
                  <a:gd name="T9" fmla="*/ 0 h 1213"/>
                  <a:gd name="T10" fmla="*/ 350 w 1400"/>
                  <a:gd name="T11" fmla="*/ 0 h 1213"/>
                  <a:gd name="T12" fmla="*/ 0 w 1400"/>
                  <a:gd name="T13" fmla="*/ 606 h 1213"/>
                  <a:gd name="T14" fmla="*/ 0 w 1400"/>
                  <a:gd name="T15" fmla="*/ 606 h 1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3">
                    <a:moveTo>
                      <a:pt x="0" y="606"/>
                    </a:moveTo>
                    <a:lnTo>
                      <a:pt x="350" y="1213"/>
                    </a:lnTo>
                    <a:lnTo>
                      <a:pt x="1050" y="1213"/>
                    </a:lnTo>
                    <a:lnTo>
                      <a:pt x="1400" y="606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6"/>
                    </a:lnTo>
                    <a:lnTo>
                      <a:pt x="0" y="606"/>
                    </a:lnTo>
                    <a:close/>
                  </a:path>
                </a:pathLst>
              </a:custGeom>
              <a:solidFill>
                <a:srgbClr val="E39A57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09" name="Freeform 17"/>
              <p:cNvSpPr>
                <a:spLocks noEditPoints="1"/>
              </p:cNvSpPr>
              <p:nvPr/>
            </p:nvSpPr>
            <p:spPr bwMode="auto">
              <a:xfrm>
                <a:off x="6845301" y="2970444"/>
                <a:ext cx="1966913" cy="1706563"/>
              </a:xfrm>
              <a:custGeom>
                <a:avLst/>
                <a:gdLst>
                  <a:gd name="T0" fmla="*/ 12 w 1239"/>
                  <a:gd name="T1" fmla="*/ 537 h 1075"/>
                  <a:gd name="T2" fmla="*/ 314 w 1239"/>
                  <a:gd name="T3" fmla="*/ 1066 h 1075"/>
                  <a:gd name="T4" fmla="*/ 922 w 1239"/>
                  <a:gd name="T5" fmla="*/ 1066 h 1075"/>
                  <a:gd name="T6" fmla="*/ 1227 w 1239"/>
                  <a:gd name="T7" fmla="*/ 537 h 1075"/>
                  <a:gd name="T8" fmla="*/ 922 w 1239"/>
                  <a:gd name="T9" fmla="*/ 9 h 1075"/>
                  <a:gd name="T10" fmla="*/ 314 w 1239"/>
                  <a:gd name="T11" fmla="*/ 9 h 1075"/>
                  <a:gd name="T12" fmla="*/ 12 w 1239"/>
                  <a:gd name="T13" fmla="*/ 537 h 1075"/>
                  <a:gd name="T14" fmla="*/ 12 w 1239"/>
                  <a:gd name="T15" fmla="*/ 537 h 1075"/>
                  <a:gd name="T16" fmla="*/ 0 w 1239"/>
                  <a:gd name="T17" fmla="*/ 537 h 1075"/>
                  <a:gd name="T18" fmla="*/ 310 w 1239"/>
                  <a:gd name="T19" fmla="*/ 0 h 1075"/>
                  <a:gd name="T20" fmla="*/ 929 w 1239"/>
                  <a:gd name="T21" fmla="*/ 0 h 1075"/>
                  <a:gd name="T22" fmla="*/ 1239 w 1239"/>
                  <a:gd name="T23" fmla="*/ 537 h 1075"/>
                  <a:gd name="T24" fmla="*/ 929 w 1239"/>
                  <a:gd name="T25" fmla="*/ 1075 h 1075"/>
                  <a:gd name="T26" fmla="*/ 310 w 1239"/>
                  <a:gd name="T27" fmla="*/ 1075 h 1075"/>
                  <a:gd name="T28" fmla="*/ 0 w 1239"/>
                  <a:gd name="T29" fmla="*/ 537 h 1075"/>
                  <a:gd name="T30" fmla="*/ 0 w 1239"/>
                  <a:gd name="T31" fmla="*/ 537 h 10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9" h="1075">
                    <a:moveTo>
                      <a:pt x="12" y="537"/>
                    </a:moveTo>
                    <a:lnTo>
                      <a:pt x="314" y="1066"/>
                    </a:lnTo>
                    <a:lnTo>
                      <a:pt x="922" y="1066"/>
                    </a:lnTo>
                    <a:lnTo>
                      <a:pt x="1227" y="537"/>
                    </a:lnTo>
                    <a:lnTo>
                      <a:pt x="922" y="9"/>
                    </a:lnTo>
                    <a:lnTo>
                      <a:pt x="314" y="9"/>
                    </a:lnTo>
                    <a:lnTo>
                      <a:pt x="12" y="537"/>
                    </a:lnTo>
                    <a:lnTo>
                      <a:pt x="12" y="537"/>
                    </a:lnTo>
                    <a:close/>
                    <a:moveTo>
                      <a:pt x="0" y="537"/>
                    </a:moveTo>
                    <a:lnTo>
                      <a:pt x="310" y="0"/>
                    </a:lnTo>
                    <a:lnTo>
                      <a:pt x="929" y="0"/>
                    </a:lnTo>
                    <a:lnTo>
                      <a:pt x="1239" y="537"/>
                    </a:lnTo>
                    <a:lnTo>
                      <a:pt x="929" y="1075"/>
                    </a:lnTo>
                    <a:lnTo>
                      <a:pt x="310" y="1075"/>
                    </a:lnTo>
                    <a:lnTo>
                      <a:pt x="0" y="537"/>
                    </a:lnTo>
                    <a:lnTo>
                      <a:pt x="0" y="537"/>
                    </a:lnTo>
                    <a:close/>
                  </a:path>
                </a:pathLst>
              </a:custGeom>
              <a:solidFill>
                <a:srgbClr val="E39A57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010" name="Group 21"/>
            <p:cNvGrpSpPr/>
            <p:nvPr/>
          </p:nvGrpSpPr>
          <p:grpSpPr>
            <a:xfrm>
              <a:off x="4750030" y="2236993"/>
              <a:ext cx="1942157" cy="1686902"/>
              <a:chOff x="4986338" y="1856019"/>
              <a:chExt cx="2222500" cy="1930400"/>
            </a:xfrm>
          </p:grpSpPr>
          <p:sp>
            <p:nvSpPr>
              <p:cNvPr id="21011" name="Freeform 7"/>
              <p:cNvSpPr/>
              <p:nvPr/>
            </p:nvSpPr>
            <p:spPr bwMode="auto">
              <a:xfrm>
                <a:off x="4986338" y="1856019"/>
                <a:ext cx="2222500" cy="1930400"/>
              </a:xfrm>
              <a:custGeom>
                <a:avLst/>
                <a:gdLst>
                  <a:gd name="T0" fmla="*/ 0 w 1400"/>
                  <a:gd name="T1" fmla="*/ 609 h 1216"/>
                  <a:gd name="T2" fmla="*/ 350 w 1400"/>
                  <a:gd name="T3" fmla="*/ 1216 h 1216"/>
                  <a:gd name="T4" fmla="*/ 1050 w 1400"/>
                  <a:gd name="T5" fmla="*/ 1216 h 1216"/>
                  <a:gd name="T6" fmla="*/ 1400 w 1400"/>
                  <a:gd name="T7" fmla="*/ 609 h 1216"/>
                  <a:gd name="T8" fmla="*/ 1050 w 1400"/>
                  <a:gd name="T9" fmla="*/ 0 h 1216"/>
                  <a:gd name="T10" fmla="*/ 350 w 1400"/>
                  <a:gd name="T11" fmla="*/ 0 h 1216"/>
                  <a:gd name="T12" fmla="*/ 0 w 1400"/>
                  <a:gd name="T13" fmla="*/ 609 h 1216"/>
                  <a:gd name="T14" fmla="*/ 0 w 1400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6">
                    <a:moveTo>
                      <a:pt x="0" y="609"/>
                    </a:moveTo>
                    <a:lnTo>
                      <a:pt x="350" y="1216"/>
                    </a:lnTo>
                    <a:lnTo>
                      <a:pt x="1050" y="1216"/>
                    </a:lnTo>
                    <a:lnTo>
                      <a:pt x="1400" y="609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21816F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12" name="Freeform 18"/>
              <p:cNvSpPr>
                <a:spLocks noEditPoints="1"/>
              </p:cNvSpPr>
              <p:nvPr/>
            </p:nvSpPr>
            <p:spPr bwMode="auto">
              <a:xfrm>
                <a:off x="5118101" y="1968732"/>
                <a:ext cx="1963738" cy="1704975"/>
              </a:xfrm>
              <a:custGeom>
                <a:avLst/>
                <a:gdLst>
                  <a:gd name="T0" fmla="*/ 9 w 1237"/>
                  <a:gd name="T1" fmla="*/ 538 h 1074"/>
                  <a:gd name="T2" fmla="*/ 314 w 1237"/>
                  <a:gd name="T3" fmla="*/ 1064 h 1074"/>
                  <a:gd name="T4" fmla="*/ 922 w 1237"/>
                  <a:gd name="T5" fmla="*/ 1064 h 1074"/>
                  <a:gd name="T6" fmla="*/ 1225 w 1237"/>
                  <a:gd name="T7" fmla="*/ 538 h 1074"/>
                  <a:gd name="T8" fmla="*/ 922 w 1237"/>
                  <a:gd name="T9" fmla="*/ 10 h 1074"/>
                  <a:gd name="T10" fmla="*/ 314 w 1237"/>
                  <a:gd name="T11" fmla="*/ 10 h 1074"/>
                  <a:gd name="T12" fmla="*/ 9 w 1237"/>
                  <a:gd name="T13" fmla="*/ 538 h 1074"/>
                  <a:gd name="T14" fmla="*/ 9 w 1237"/>
                  <a:gd name="T15" fmla="*/ 538 h 1074"/>
                  <a:gd name="T16" fmla="*/ 0 w 1237"/>
                  <a:gd name="T17" fmla="*/ 538 h 1074"/>
                  <a:gd name="T18" fmla="*/ 307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07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9" y="538"/>
                    </a:moveTo>
                    <a:lnTo>
                      <a:pt x="314" y="1064"/>
                    </a:lnTo>
                    <a:lnTo>
                      <a:pt x="922" y="1064"/>
                    </a:lnTo>
                    <a:lnTo>
                      <a:pt x="1225" y="538"/>
                    </a:lnTo>
                    <a:lnTo>
                      <a:pt x="922" y="10"/>
                    </a:lnTo>
                    <a:lnTo>
                      <a:pt x="314" y="10"/>
                    </a:lnTo>
                    <a:lnTo>
                      <a:pt x="9" y="538"/>
                    </a:lnTo>
                    <a:lnTo>
                      <a:pt x="9" y="538"/>
                    </a:lnTo>
                    <a:close/>
                    <a:moveTo>
                      <a:pt x="0" y="538"/>
                    </a:moveTo>
                    <a:lnTo>
                      <a:pt x="307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07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21816F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013" name="Group 23"/>
            <p:cNvGrpSpPr/>
            <p:nvPr/>
          </p:nvGrpSpPr>
          <p:grpSpPr>
            <a:xfrm>
              <a:off x="7764535" y="2236993"/>
              <a:ext cx="1943544" cy="1686902"/>
              <a:chOff x="8435976" y="1856019"/>
              <a:chExt cx="2224088" cy="1930400"/>
            </a:xfrm>
          </p:grpSpPr>
          <p:sp>
            <p:nvSpPr>
              <p:cNvPr id="21014" name="Freeform 9"/>
              <p:cNvSpPr/>
              <p:nvPr/>
            </p:nvSpPr>
            <p:spPr bwMode="auto">
              <a:xfrm>
                <a:off x="8435976" y="1856019"/>
                <a:ext cx="2224088" cy="1930400"/>
              </a:xfrm>
              <a:custGeom>
                <a:avLst/>
                <a:gdLst>
                  <a:gd name="T0" fmla="*/ 0 w 1401"/>
                  <a:gd name="T1" fmla="*/ 609 h 1216"/>
                  <a:gd name="T2" fmla="*/ 351 w 1401"/>
                  <a:gd name="T3" fmla="*/ 1216 h 1216"/>
                  <a:gd name="T4" fmla="*/ 1051 w 1401"/>
                  <a:gd name="T5" fmla="*/ 1216 h 1216"/>
                  <a:gd name="T6" fmla="*/ 1401 w 1401"/>
                  <a:gd name="T7" fmla="*/ 609 h 1216"/>
                  <a:gd name="T8" fmla="*/ 1051 w 1401"/>
                  <a:gd name="T9" fmla="*/ 0 h 1216"/>
                  <a:gd name="T10" fmla="*/ 351 w 1401"/>
                  <a:gd name="T11" fmla="*/ 0 h 1216"/>
                  <a:gd name="T12" fmla="*/ 0 w 1401"/>
                  <a:gd name="T13" fmla="*/ 609 h 1216"/>
                  <a:gd name="T14" fmla="*/ 0 w 1401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1" h="1216">
                    <a:moveTo>
                      <a:pt x="0" y="609"/>
                    </a:moveTo>
                    <a:lnTo>
                      <a:pt x="351" y="1216"/>
                    </a:lnTo>
                    <a:lnTo>
                      <a:pt x="1051" y="1216"/>
                    </a:lnTo>
                    <a:lnTo>
                      <a:pt x="1401" y="609"/>
                    </a:lnTo>
                    <a:lnTo>
                      <a:pt x="1051" y="0"/>
                    </a:lnTo>
                    <a:lnTo>
                      <a:pt x="351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8FD3C6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15" name="Freeform 19"/>
              <p:cNvSpPr>
                <a:spLocks noEditPoints="1"/>
              </p:cNvSpPr>
              <p:nvPr/>
            </p:nvSpPr>
            <p:spPr bwMode="auto">
              <a:xfrm>
                <a:off x="8567738" y="1968732"/>
                <a:ext cx="1963738" cy="1704975"/>
              </a:xfrm>
              <a:custGeom>
                <a:avLst/>
                <a:gdLst>
                  <a:gd name="T0" fmla="*/ 10 w 1237"/>
                  <a:gd name="T1" fmla="*/ 538 h 1074"/>
                  <a:gd name="T2" fmla="*/ 315 w 1237"/>
                  <a:gd name="T3" fmla="*/ 1064 h 1074"/>
                  <a:gd name="T4" fmla="*/ 923 w 1237"/>
                  <a:gd name="T5" fmla="*/ 1064 h 1074"/>
                  <a:gd name="T6" fmla="*/ 1225 w 1237"/>
                  <a:gd name="T7" fmla="*/ 538 h 1074"/>
                  <a:gd name="T8" fmla="*/ 923 w 1237"/>
                  <a:gd name="T9" fmla="*/ 10 h 1074"/>
                  <a:gd name="T10" fmla="*/ 315 w 1237"/>
                  <a:gd name="T11" fmla="*/ 10 h 1074"/>
                  <a:gd name="T12" fmla="*/ 10 w 1237"/>
                  <a:gd name="T13" fmla="*/ 538 h 1074"/>
                  <a:gd name="T14" fmla="*/ 10 w 1237"/>
                  <a:gd name="T15" fmla="*/ 538 h 1074"/>
                  <a:gd name="T16" fmla="*/ 0 w 1237"/>
                  <a:gd name="T17" fmla="*/ 538 h 1074"/>
                  <a:gd name="T18" fmla="*/ 310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10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10" y="538"/>
                    </a:moveTo>
                    <a:lnTo>
                      <a:pt x="315" y="1064"/>
                    </a:lnTo>
                    <a:lnTo>
                      <a:pt x="923" y="1064"/>
                    </a:lnTo>
                    <a:lnTo>
                      <a:pt x="1225" y="538"/>
                    </a:lnTo>
                    <a:lnTo>
                      <a:pt x="923" y="10"/>
                    </a:lnTo>
                    <a:lnTo>
                      <a:pt x="315" y="10"/>
                    </a:lnTo>
                    <a:lnTo>
                      <a:pt x="10" y="538"/>
                    </a:lnTo>
                    <a:lnTo>
                      <a:pt x="10" y="538"/>
                    </a:lnTo>
                    <a:close/>
                    <a:moveTo>
                      <a:pt x="0" y="538"/>
                    </a:moveTo>
                    <a:lnTo>
                      <a:pt x="310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10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8FD3C6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cxnSp>
          <p:nvCxnSpPr>
            <p:cNvPr id="21016" name="Straight Connector 31"/>
            <p:cNvCxnSpPr/>
            <p:nvPr/>
          </p:nvCxnSpPr>
          <p:spPr>
            <a:xfrm>
              <a:off x="2699430" y="4160210"/>
              <a:ext cx="0" cy="541936"/>
            </a:xfrm>
            <a:prstGeom prst="line">
              <a:avLst/>
            </a:prstGeom>
            <a:ln w="28575">
              <a:solidFill>
                <a:srgbClr val="2CAB93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  <p:cxnSp>
          <p:nvCxnSpPr>
            <p:cNvPr id="21017" name="Straight Connector 34"/>
            <p:cNvCxnSpPr/>
            <p:nvPr/>
          </p:nvCxnSpPr>
          <p:spPr>
            <a:xfrm>
              <a:off x="5710829" y="4160210"/>
              <a:ext cx="0" cy="541936"/>
            </a:xfrm>
            <a:prstGeom prst="line">
              <a:avLst/>
            </a:prstGeom>
            <a:ln w="28575">
              <a:solidFill>
                <a:srgbClr val="21816F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  <p:cxnSp>
          <p:nvCxnSpPr>
            <p:cNvPr id="21018" name="Straight Connector 35"/>
            <p:cNvCxnSpPr/>
            <p:nvPr/>
          </p:nvCxnSpPr>
          <p:spPr>
            <a:xfrm>
              <a:off x="8736307" y="4160210"/>
              <a:ext cx="0" cy="541936"/>
            </a:xfrm>
            <a:prstGeom prst="line">
              <a:avLst/>
            </a:prstGeom>
            <a:ln w="28575">
              <a:solidFill>
                <a:srgbClr val="8FD3C6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  <p:cxnSp>
          <p:nvCxnSpPr>
            <p:cNvPr id="21019" name="Straight Connector 36"/>
            <p:cNvCxnSpPr/>
            <p:nvPr/>
          </p:nvCxnSpPr>
          <p:spPr>
            <a:xfrm>
              <a:off x="4208750" y="5001556"/>
              <a:ext cx="0" cy="541936"/>
            </a:xfrm>
            <a:prstGeom prst="line">
              <a:avLst/>
            </a:prstGeom>
            <a:ln w="28575">
              <a:solidFill>
                <a:srgbClr val="5BBFAE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  <p:cxnSp>
          <p:nvCxnSpPr>
            <p:cNvPr id="21020" name="Straight Connector 37"/>
            <p:cNvCxnSpPr/>
            <p:nvPr/>
          </p:nvCxnSpPr>
          <p:spPr>
            <a:xfrm>
              <a:off x="7233909" y="5001556"/>
              <a:ext cx="0" cy="541936"/>
            </a:xfrm>
            <a:prstGeom prst="line">
              <a:avLst/>
            </a:prstGeom>
            <a:ln w="28575">
              <a:solidFill>
                <a:srgbClr val="E39A57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</p:grpSp>
      <p:pic>
        <p:nvPicPr>
          <p:cNvPr id="21021" name="Picture 21020" descr="users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5380" y="2426945"/>
            <a:ext cx="390265" cy="390265"/>
          </a:xfrm>
          <a:prstGeom prst="rect">
            <a:avLst/>
          </a:prstGeom>
        </p:spPr>
      </p:pic>
      <p:sp>
        <p:nvSpPr>
          <p:cNvPr id="21022" name="TextBox 21021"/>
          <p:cNvSpPr txBox="1"/>
          <p:nvPr/>
        </p:nvSpPr>
        <p:spPr>
          <a:xfrm>
            <a:off x="982242" y="2870429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卖给谁</a:t>
            </a:r>
            <a:endParaRPr sz="14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23" name="TextBox 21022"/>
          <p:cNvSpPr txBox="1"/>
          <p:nvPr/>
        </p:nvSpPr>
        <p:spPr>
          <a:xfrm>
            <a:off x="804848" y="4165994"/>
            <a:ext cx="1951329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哪类景区最需要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21024" name="Picture 21023" descr="boxes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9646" y="3139246"/>
            <a:ext cx="390265" cy="390265"/>
          </a:xfrm>
          <a:prstGeom prst="rect">
            <a:avLst/>
          </a:prstGeom>
        </p:spPr>
      </p:pic>
      <p:sp>
        <p:nvSpPr>
          <p:cNvPr id="21025" name="TextBox 21024"/>
          <p:cNvSpPr txBox="1"/>
          <p:nvPr/>
        </p:nvSpPr>
        <p:spPr>
          <a:xfrm>
            <a:off x="2206508" y="3582730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卖什么</a:t>
            </a:r>
            <a:endParaRPr sz="14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26" name="TextBox 21025"/>
          <p:cNvSpPr txBox="1"/>
          <p:nvPr/>
        </p:nvSpPr>
        <p:spPr>
          <a:xfrm>
            <a:off x="2029114" y="4848615"/>
            <a:ext cx="1951329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哪些组合景区最认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21027" name="Picture 21026" descr="coin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3912" y="2426945"/>
            <a:ext cx="390265" cy="390265"/>
          </a:xfrm>
          <a:prstGeom prst="rect">
            <a:avLst/>
          </a:prstGeom>
        </p:spPr>
      </p:pic>
      <p:sp>
        <p:nvSpPr>
          <p:cNvPr id="21028" name="TextBox 21027"/>
          <p:cNvSpPr txBox="1"/>
          <p:nvPr/>
        </p:nvSpPr>
        <p:spPr>
          <a:xfrm>
            <a:off x="3430774" y="2870429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怎么收钱</a:t>
            </a:r>
            <a:endParaRPr sz="14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29" name="TextBox 21028"/>
          <p:cNvSpPr txBox="1"/>
          <p:nvPr/>
        </p:nvSpPr>
        <p:spPr>
          <a:xfrm>
            <a:off x="3253380" y="4165994"/>
            <a:ext cx="1951329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四种方式选哪种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21030" name="Picture 21029" descr="calculato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5599" y="3139246"/>
            <a:ext cx="390265" cy="390265"/>
          </a:xfrm>
          <a:prstGeom prst="rect">
            <a:avLst/>
          </a:prstGeom>
        </p:spPr>
      </p:pic>
      <p:sp>
        <p:nvSpPr>
          <p:cNvPr id="21031" name="TextBox 21030"/>
          <p:cNvSpPr txBox="1"/>
          <p:nvPr/>
        </p:nvSpPr>
        <p:spPr>
          <a:xfrm>
            <a:off x="4662460" y="3582730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花多少钱</a:t>
            </a:r>
            <a:endParaRPr sz="14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32" name="TextBox 21031"/>
          <p:cNvSpPr txBox="1"/>
          <p:nvPr/>
        </p:nvSpPr>
        <p:spPr>
          <a:xfrm>
            <a:off x="4485067" y="4848615"/>
            <a:ext cx="1951329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平台费 + 交付 + 运营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21033" name="Picture 21032" descr="thumbs-up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6154" y="2426945"/>
            <a:ext cx="390265" cy="390265"/>
          </a:xfrm>
          <a:prstGeom prst="rect">
            <a:avLst/>
          </a:prstGeom>
        </p:spPr>
      </p:pic>
      <p:sp>
        <p:nvSpPr>
          <p:cNvPr id="21034" name="TextBox 21033"/>
          <p:cNvSpPr txBox="1"/>
          <p:nvPr/>
        </p:nvSpPr>
        <p:spPr>
          <a:xfrm>
            <a:off x="5883016" y="2870429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值不值</a:t>
            </a:r>
            <a:endParaRPr sz="14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35" name="TextBox 21034"/>
          <p:cNvSpPr txBox="1"/>
          <p:nvPr/>
        </p:nvSpPr>
        <p:spPr>
          <a:xfrm>
            <a:off x="5705623" y="4165994"/>
            <a:ext cx="1951329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省人、多卖、更满意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36" name="Rounded Rectangle 21035"/>
          <p:cNvSpPr/>
          <p:nvPr/>
        </p:nvSpPr>
        <p:spPr>
          <a:xfrm>
            <a:off x="7983626" y="1998878"/>
            <a:ext cx="2909255" cy="3902659"/>
          </a:xfrm>
          <a:prstGeom prst="roundRect">
            <a:avLst>
              <a:gd name="adj" fmla="val 4268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37" name="Rounded Rectangle 21036"/>
          <p:cNvSpPr/>
          <p:nvPr/>
        </p:nvSpPr>
        <p:spPr>
          <a:xfrm>
            <a:off x="7983626" y="1998878"/>
            <a:ext cx="2909255" cy="549920"/>
          </a:xfrm>
          <a:prstGeom prst="roundRect">
            <a:avLst>
              <a:gd name="adj" fmla="val 2258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38" name="Rounded Rectangle 21037"/>
          <p:cNvSpPr/>
          <p:nvPr/>
        </p:nvSpPr>
        <p:spPr>
          <a:xfrm>
            <a:off x="7983626" y="2335926"/>
            <a:ext cx="2909255" cy="21287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039" name="Picture 21038" descr="calculato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1019" y="2114184"/>
            <a:ext cx="301569" cy="301569"/>
          </a:xfrm>
          <a:prstGeom prst="rect">
            <a:avLst/>
          </a:prstGeom>
        </p:spPr>
      </p:pic>
      <p:sp>
        <p:nvSpPr>
          <p:cNvPr id="21040" name="TextBox 21039"/>
          <p:cNvSpPr txBox="1"/>
          <p:nvPr/>
        </p:nvSpPr>
        <p:spPr>
          <a:xfrm>
            <a:off x="8560155" y="1998878"/>
            <a:ext cx="2288377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单个景区算一笔账</a:t>
            </a:r>
            <a:endParaRPr sz="14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41" name="TextBox 21040"/>
          <p:cNvSpPr txBox="1"/>
          <p:nvPr/>
        </p:nvSpPr>
        <p:spPr>
          <a:xfrm>
            <a:off x="8205368" y="2735061"/>
            <a:ext cx="35478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endParaRPr sz="1750" b="1">
              <a:solidFill>
                <a:srgbClr val="E39A57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42" name="TextBox 21041"/>
          <p:cNvSpPr txBox="1"/>
          <p:nvPr/>
        </p:nvSpPr>
        <p:spPr>
          <a:xfrm>
            <a:off x="8604503" y="2735061"/>
            <a:ext cx="21109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一年收入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21043" name="Connector 21042"/>
          <p:cNvCxnSpPr/>
          <p:nvPr/>
        </p:nvCxnSpPr>
        <p:spPr>
          <a:xfrm>
            <a:off x="8205368" y="3231763"/>
            <a:ext cx="2465771" cy="0"/>
          </a:xfrm>
          <a:prstGeom prst="line">
            <a:avLst/>
          </a:prstGeom>
          <a:ln w="9525">
            <a:solidFill>
              <a:srgbClr val="D9EDE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44" name="TextBox 21043"/>
          <p:cNvSpPr txBox="1"/>
          <p:nvPr/>
        </p:nvSpPr>
        <p:spPr>
          <a:xfrm>
            <a:off x="8205368" y="3284982"/>
            <a:ext cx="35478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750" b="1">
                <a:solidFill>
                  <a:srgbClr val="E39A57"/>
                </a:solidFill>
                <a:latin typeface="Microsoft YaHei" panose="020B0503020204020204" charset="-122"/>
                <a:ea typeface="Microsoft YaHei" panose="020B0503020204020204" charset="-122"/>
              </a:rPr>
              <a:t>−</a:t>
            </a:r>
            <a:endParaRPr sz="1750" b="1">
              <a:solidFill>
                <a:srgbClr val="E39A57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45" name="TextBox 21044"/>
          <p:cNvSpPr txBox="1"/>
          <p:nvPr/>
        </p:nvSpPr>
        <p:spPr>
          <a:xfrm>
            <a:off x="8604503" y="3284982"/>
            <a:ext cx="21109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平台调用费</a:t>
            </a:r>
            <a:endParaRPr sz="13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21046" name="Connector 21045"/>
          <p:cNvCxnSpPr/>
          <p:nvPr/>
        </p:nvCxnSpPr>
        <p:spPr>
          <a:xfrm>
            <a:off x="8205368" y="3781684"/>
            <a:ext cx="2465771" cy="0"/>
          </a:xfrm>
          <a:prstGeom prst="line">
            <a:avLst/>
          </a:prstGeom>
          <a:ln w="9525">
            <a:solidFill>
              <a:srgbClr val="D9EDE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47" name="TextBox 21046"/>
          <p:cNvSpPr txBox="1"/>
          <p:nvPr/>
        </p:nvSpPr>
        <p:spPr>
          <a:xfrm>
            <a:off x="8205368" y="3834902"/>
            <a:ext cx="35478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750" b="1">
                <a:solidFill>
                  <a:srgbClr val="E39A57"/>
                </a:solidFill>
                <a:latin typeface="Microsoft YaHei" panose="020B0503020204020204" charset="-122"/>
                <a:ea typeface="Microsoft YaHei" panose="020B0503020204020204" charset="-122"/>
              </a:rPr>
              <a:t>−</a:t>
            </a:r>
            <a:endParaRPr sz="1750" b="1">
              <a:solidFill>
                <a:srgbClr val="E39A57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48" name="TextBox 21047"/>
          <p:cNvSpPr txBox="1"/>
          <p:nvPr/>
        </p:nvSpPr>
        <p:spPr>
          <a:xfrm>
            <a:off x="8604503" y="3834902"/>
            <a:ext cx="21109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交付成本（摊销）</a:t>
            </a:r>
            <a:endParaRPr sz="13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21049" name="Connector 21048"/>
          <p:cNvCxnSpPr/>
          <p:nvPr/>
        </p:nvCxnSpPr>
        <p:spPr>
          <a:xfrm>
            <a:off x="8205368" y="4331604"/>
            <a:ext cx="2465771" cy="0"/>
          </a:xfrm>
          <a:prstGeom prst="line">
            <a:avLst/>
          </a:prstGeom>
          <a:ln w="9525">
            <a:solidFill>
              <a:srgbClr val="D9EDE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50" name="TextBox 21049"/>
          <p:cNvSpPr txBox="1"/>
          <p:nvPr/>
        </p:nvSpPr>
        <p:spPr>
          <a:xfrm>
            <a:off x="8205368" y="4384822"/>
            <a:ext cx="35478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750" b="1">
                <a:solidFill>
                  <a:srgbClr val="E39A57"/>
                </a:solidFill>
                <a:latin typeface="Microsoft YaHei" panose="020B0503020204020204" charset="-122"/>
                <a:ea typeface="Microsoft YaHei" panose="020B0503020204020204" charset="-122"/>
              </a:rPr>
              <a:t>−</a:t>
            </a:r>
            <a:endParaRPr sz="1750" b="1">
              <a:solidFill>
                <a:srgbClr val="E39A57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51" name="TextBox 21050"/>
          <p:cNvSpPr txBox="1"/>
          <p:nvPr/>
        </p:nvSpPr>
        <p:spPr>
          <a:xfrm>
            <a:off x="8604503" y="4384822"/>
            <a:ext cx="21109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运营支持</a:t>
            </a:r>
            <a:endParaRPr sz="13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21052" name="Connector 21051"/>
          <p:cNvCxnSpPr/>
          <p:nvPr/>
        </p:nvCxnSpPr>
        <p:spPr>
          <a:xfrm>
            <a:off x="8205368" y="4881524"/>
            <a:ext cx="2465771" cy="0"/>
          </a:xfrm>
          <a:prstGeom prst="line">
            <a:avLst/>
          </a:prstGeom>
          <a:ln w="9525">
            <a:solidFill>
              <a:srgbClr val="D9EDE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53" name="Rounded Rectangle 21052"/>
          <p:cNvSpPr/>
          <p:nvPr/>
        </p:nvSpPr>
        <p:spPr>
          <a:xfrm>
            <a:off x="8161019" y="4996830"/>
            <a:ext cx="2554467" cy="709574"/>
          </a:xfrm>
          <a:prstGeom prst="roundRect">
            <a:avLst>
              <a:gd name="adj" fmla="val 125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＞ 0</a:t>
            </a:r>
            <a:r>
              <a:rPr sz="1250" b="0">
                <a:solidFill>
                  <a:srgbClr val="FCE6D2"/>
                </a:solidFill>
                <a:latin typeface="Microsoft YaHei" panose="020B0503020204020204" charset="-122"/>
                <a:ea typeface="Microsoft YaHei" panose="020B0503020204020204" charset="-122"/>
              </a:rPr>
              <a:t>　才算能赚钱</a:t>
            </a:r>
            <a:endParaRPr sz="1250" b="0">
              <a:solidFill>
                <a:srgbClr val="FCE6D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093912" y="104775"/>
            <a:ext cx="4003869" cy="562935"/>
            <a:chOff x="1778000" y="2361285"/>
            <a:chExt cx="4003869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4003869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910685" cy="461665"/>
              <a:chOff x="1249621" y="2030985"/>
              <a:chExt cx="2910685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194560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怎么收钱、景区认什么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先试两种收费，用数据证明价值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验证期同时试“随票务打包”和“年费订阅”，看哪种成交快、续费稳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35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92010"/>
            <a:ext cx="2341595" cy="2084374"/>
          </a:xfrm>
          <a:prstGeom prst="roundRect">
            <a:avLst>
              <a:gd name="adj" fmla="val 5106"/>
            </a:avLst>
          </a:prstGeom>
          <a:solidFill>
            <a:srgbClr val="EFF8F6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404597" y="1967834"/>
            <a:ext cx="816010" cy="248351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建议先试</a:t>
            </a:r>
            <a:endParaRPr sz="9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171711" y="2207315"/>
            <a:ext cx="198680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随票务打包</a:t>
            </a:r>
            <a:endParaRPr sz="15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171711" y="2606451"/>
            <a:ext cx="198680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作为票务增值模块，提高票务年费</a:t>
            </a:r>
            <a:endParaRPr sz="10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171711" y="3138632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适合</a:t>
            </a:r>
            <a:endParaRPr sz="9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171711" y="3342634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已用我们票务的景区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171711" y="3635334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要验证</a:t>
            </a:r>
            <a:endParaRPr sz="90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171711" y="3839337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能否提升续约率和客单价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3513307" y="2092010"/>
            <a:ext cx="2341595" cy="2084374"/>
          </a:xfrm>
          <a:prstGeom prst="roundRect">
            <a:avLst>
              <a:gd name="adj" fmla="val 5106"/>
            </a:avLst>
          </a:prstGeom>
          <a:solidFill>
            <a:srgbClr val="EFF8F6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923586" y="1967834"/>
            <a:ext cx="816010" cy="248351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建议先试</a:t>
            </a:r>
            <a:endParaRPr sz="9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3690701" y="2207315"/>
            <a:ext cx="198680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年费订阅</a:t>
            </a:r>
            <a:endParaRPr sz="15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3690701" y="2606451"/>
            <a:ext cx="198680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按景区规模或智能体数量分档</a:t>
            </a:r>
            <a:endParaRPr sz="10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3690701" y="3138632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适合</a:t>
            </a:r>
            <a:endParaRPr sz="9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3690701" y="3342634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新客户、单独采购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690701" y="3635334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要验证</a:t>
            </a:r>
            <a:endParaRPr sz="90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690701" y="3839337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景区能接受的价位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6032296" y="2092010"/>
            <a:ext cx="2341595" cy="2084374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09690" y="2207315"/>
            <a:ext cx="198680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按效果分成</a:t>
            </a:r>
            <a:endParaRPr sz="15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6209690" y="2606451"/>
            <a:ext cx="198680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按 AI 带来的购票、二消收入分成</a:t>
            </a:r>
            <a:endParaRPr sz="10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6209690" y="3138632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适合</a:t>
            </a:r>
            <a:endParaRPr sz="9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209690" y="3342634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购票、营销类智能体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6209690" y="3635334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要验证</a:t>
            </a:r>
            <a:endParaRPr sz="90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6209690" y="3839337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增量能否算清楚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8551285" y="2092010"/>
            <a:ext cx="2341595" cy="2084374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728679" y="2207315"/>
            <a:ext cx="198680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按用量</a:t>
            </a:r>
            <a:endParaRPr sz="15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8728679" y="2606451"/>
            <a:ext cx="198680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按对话量或调用量计费</a:t>
            </a:r>
            <a:endParaRPr sz="10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8728679" y="3138632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适合</a:t>
            </a:r>
            <a:endParaRPr sz="9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8728679" y="3342634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大客流景区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8728679" y="3635334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要验证</a:t>
            </a:r>
            <a:endParaRPr sz="90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8728679" y="3839337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能否接受账单波动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994318" y="4406996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36233" y="4336039"/>
            <a:ext cx="532180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景区认的价值，要用数据证明</a:t>
            </a:r>
            <a:endParaRPr sz="13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994318" y="4735174"/>
            <a:ext cx="2341595" cy="1197406"/>
          </a:xfrm>
          <a:prstGeom prst="roundRect">
            <a:avLst>
              <a:gd name="adj" fmla="val 8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153971" y="4868219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user-check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5973" y="4970221"/>
            <a:ext cx="204002" cy="204002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659544" y="4868219"/>
            <a:ext cx="158767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少用人工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1153971" y="5356052"/>
            <a:ext cx="2075505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智能体解决咨询的比例、省下的客服人力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3513307" y="4735174"/>
            <a:ext cx="2341595" cy="1197406"/>
          </a:xfrm>
          <a:prstGeom prst="roundRect">
            <a:avLst>
              <a:gd name="adj" fmla="val 8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672961" y="4868219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ticke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4963" y="4970221"/>
            <a:ext cx="204002" cy="204002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4178533" y="4868219"/>
            <a:ext cx="158767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多卖票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3672961" y="5356052"/>
            <a:ext cx="2075505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智能体带来的线上购票、二消订单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6" name="Rounded Rectangle 85"/>
          <p:cNvSpPr/>
          <p:nvPr/>
        </p:nvSpPr>
        <p:spPr>
          <a:xfrm>
            <a:off x="6032296" y="4735174"/>
            <a:ext cx="2341595" cy="1197406"/>
          </a:xfrm>
          <a:prstGeom prst="roundRect">
            <a:avLst>
              <a:gd name="adj" fmla="val 8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191951" y="4868219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thumbs-up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3952" y="4970221"/>
            <a:ext cx="204002" cy="204002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6697522" y="4868219"/>
            <a:ext cx="158767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游客更满意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6191951" y="5356052"/>
            <a:ext cx="2075505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满意度、差评率、排队与等待减少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1" name="Rounded Rectangle 90"/>
          <p:cNvSpPr/>
          <p:nvPr/>
        </p:nvSpPr>
        <p:spPr>
          <a:xfrm>
            <a:off x="8551285" y="4735174"/>
            <a:ext cx="2341595" cy="1197406"/>
          </a:xfrm>
          <a:prstGeom prst="roundRect">
            <a:avLst>
              <a:gd name="adj" fmla="val 8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8710940" y="4868219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clo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2941" y="4970221"/>
            <a:ext cx="204002" cy="204002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9216511" y="4868219"/>
            <a:ext cx="158767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管理更省心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8710940" y="5356052"/>
            <a:ext cx="2075505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报表、对账、预警的人工时间减少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跑通商业模式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怎么验证、怎样算跑通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挑标杆、快速搭、跑一个旺季、让数据说话；五条都满足才转入规模复制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36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Pentagon 43"/>
          <p:cNvSpPr/>
          <p:nvPr/>
        </p:nvSpPr>
        <p:spPr>
          <a:xfrm>
            <a:off x="994318" y="2048256"/>
            <a:ext cx="2674208" cy="514441"/>
          </a:xfrm>
          <a:prstGeom prst="homePlate">
            <a:avLst>
              <a:gd name="adj" fmla="val 3500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flag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0408" y="2163561"/>
            <a:ext cx="283829" cy="28382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32935" y="2048256"/>
            <a:ext cx="1609846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挑标杆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038666" y="2633654"/>
            <a:ext cx="2142027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已用我们票务的景区，覆盖主要业态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Chevron 47"/>
          <p:cNvSpPr/>
          <p:nvPr/>
        </p:nvSpPr>
        <p:spPr>
          <a:xfrm>
            <a:off x="3402436" y="2048256"/>
            <a:ext cx="2674208" cy="514441"/>
          </a:xfrm>
          <a:prstGeom prst="chevron">
            <a:avLst>
              <a:gd name="adj" fmla="val 35000"/>
            </a:avLst>
          </a:prstGeom>
          <a:solidFill>
            <a:srgbClr val="5BB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rocke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5920" y="2163561"/>
            <a:ext cx="283829" cy="283829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4218447" y="2048256"/>
            <a:ext cx="1609846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快速搭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712875" y="2633654"/>
            <a:ext cx="2142027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平台上搭好现有智能体，加高价值新场景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Chevron 51"/>
          <p:cNvSpPr/>
          <p:nvPr/>
        </p:nvSpPr>
        <p:spPr>
          <a:xfrm>
            <a:off x="5810554" y="2048256"/>
            <a:ext cx="2674208" cy="514441"/>
          </a:xfrm>
          <a:prstGeom prst="chevron">
            <a:avLst>
              <a:gd name="adj" fmla="val 35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su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038" y="2163561"/>
            <a:ext cx="283829" cy="283829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6626565" y="2048256"/>
            <a:ext cx="1609846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跑一个旺季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6120993" y="2633654"/>
            <a:ext cx="2142027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节假日最能检验效果和成本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Chevron 55"/>
          <p:cNvSpPr/>
          <p:nvPr/>
        </p:nvSpPr>
        <p:spPr>
          <a:xfrm>
            <a:off x="8218672" y="2048256"/>
            <a:ext cx="2674208" cy="514441"/>
          </a:xfrm>
          <a:prstGeom prst="chevron">
            <a:avLst>
              <a:gd name="adj" fmla="val 35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refresh-cw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56" y="2163561"/>
            <a:ext cx="283829" cy="283829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9034683" y="2048256"/>
            <a:ext cx="1609846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数据回流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8529111" y="2633654"/>
            <a:ext cx="2142027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对话、评价、订单第一天就进数据平台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994318" y="3298880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36233" y="3227923"/>
            <a:ext cx="443484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怎样算跑通：五条判断标准</a:t>
            </a:r>
            <a:endParaRPr sz="13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994318" y="3627059"/>
            <a:ext cx="6386169" cy="372526"/>
          </a:xfrm>
          <a:prstGeom prst="roundRect">
            <a:avLst>
              <a:gd name="adj" fmla="val 1904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083015" y="3671407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083015" y="3671407"/>
            <a:ext cx="283829" cy="283829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1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1482150" y="3627059"/>
            <a:ext cx="97566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用起来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2457815" y="3627059"/>
            <a:ext cx="443484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持续在用，问题解决率达标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67" name="Picture 66" descr="circle-check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7961" y="3698016"/>
            <a:ext cx="230611" cy="230611"/>
          </a:xfrm>
          <a:prstGeom prst="rect">
            <a:avLst/>
          </a:prstGeom>
        </p:spPr>
      </p:pic>
      <p:sp>
        <p:nvSpPr>
          <p:cNvPr id="68" name="Rounded Rectangle 67"/>
          <p:cNvSpPr/>
          <p:nvPr/>
        </p:nvSpPr>
        <p:spPr>
          <a:xfrm>
            <a:off x="994318" y="4070543"/>
            <a:ext cx="6386169" cy="372526"/>
          </a:xfrm>
          <a:prstGeom prst="roundRect">
            <a:avLst>
              <a:gd name="adj" fmla="val 1904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083015" y="4114891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083015" y="4114891"/>
            <a:ext cx="283829" cy="283829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2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1482150" y="4070543"/>
            <a:ext cx="97566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有价值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457815" y="4070543"/>
            <a:ext cx="443484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景区认可的指标有提升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73" name="Picture 72" descr="circle-check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7961" y="4141500"/>
            <a:ext cx="230611" cy="230611"/>
          </a:xfrm>
          <a:prstGeom prst="rect">
            <a:avLst/>
          </a:prstGeom>
        </p:spPr>
      </p:pic>
      <p:sp>
        <p:nvSpPr>
          <p:cNvPr id="74" name="Rounded Rectangle 73"/>
          <p:cNvSpPr/>
          <p:nvPr/>
        </p:nvSpPr>
        <p:spPr>
          <a:xfrm>
            <a:off x="994318" y="4514027"/>
            <a:ext cx="6386169" cy="372526"/>
          </a:xfrm>
          <a:prstGeom prst="roundRect">
            <a:avLst>
              <a:gd name="adj" fmla="val 1904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083015" y="4558375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083015" y="4558375"/>
            <a:ext cx="283829" cy="283829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3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1482150" y="4514027"/>
            <a:ext cx="97566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愿付费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2457815" y="4514027"/>
            <a:ext cx="443484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按拟定价格付费或明确续费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79" name="Picture 78" descr="circle-check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7961" y="4584984"/>
            <a:ext cx="230611" cy="230611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994318" y="4957511"/>
            <a:ext cx="6386169" cy="372526"/>
          </a:xfrm>
          <a:prstGeom prst="roundRect">
            <a:avLst>
              <a:gd name="adj" fmla="val 1904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83015" y="5001859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083015" y="5001859"/>
            <a:ext cx="283829" cy="283829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4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1482150" y="4957511"/>
            <a:ext cx="97566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能赚钱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2457815" y="4957511"/>
            <a:ext cx="443484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单景区收入覆盖成本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85" name="Picture 84" descr="circle-check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7961" y="5028468"/>
            <a:ext cx="230611" cy="230611"/>
          </a:xfrm>
          <a:prstGeom prst="rect">
            <a:avLst/>
          </a:prstGeom>
        </p:spPr>
      </p:pic>
      <p:sp>
        <p:nvSpPr>
          <p:cNvPr id="86" name="Rounded Rectangle 85"/>
          <p:cNvSpPr/>
          <p:nvPr/>
        </p:nvSpPr>
        <p:spPr>
          <a:xfrm>
            <a:off x="994318" y="5400995"/>
            <a:ext cx="6386169" cy="372526"/>
          </a:xfrm>
          <a:prstGeom prst="roundRect">
            <a:avLst>
              <a:gd name="adj" fmla="val 1904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083015" y="5445343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083015" y="5445343"/>
            <a:ext cx="283829" cy="283829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5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482150" y="5400995"/>
            <a:ext cx="97566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可复制</a:t>
            </a:r>
            <a:endParaRPr sz="12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2457815" y="5400995"/>
            <a:ext cx="443484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按标准流程就能上线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91" name="Picture 90" descr="circle-check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7961" y="5471952"/>
            <a:ext cx="230611" cy="230611"/>
          </a:xfrm>
          <a:prstGeom prst="rect">
            <a:avLst/>
          </a:prstGeom>
        </p:spPr>
      </p:pic>
      <p:sp>
        <p:nvSpPr>
          <p:cNvPr id="92" name="Rounded Rectangle 91"/>
          <p:cNvSpPr/>
          <p:nvPr/>
        </p:nvSpPr>
        <p:spPr>
          <a:xfrm>
            <a:off x="7646578" y="3627059"/>
            <a:ext cx="3246302" cy="993404"/>
          </a:xfrm>
          <a:prstGeom prst="roundRect">
            <a:avLst>
              <a:gd name="adj" fmla="val 1071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823972" y="3671407"/>
            <a:ext cx="298021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五条都满足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7823972" y="4026194"/>
            <a:ext cx="2980212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模板、定价、交付流程定型，转入规模复制</a:t>
            </a:r>
            <a:endParaRPr sz="105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5" name="Rounded Rectangle 94"/>
          <p:cNvSpPr/>
          <p:nvPr/>
        </p:nvSpPr>
        <p:spPr>
          <a:xfrm>
            <a:off x="7646578" y="4709160"/>
            <a:ext cx="3246302" cy="1064361"/>
          </a:xfrm>
          <a:prstGeom prst="roundRect">
            <a:avLst>
              <a:gd name="adj" fmla="val 10000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823972" y="4753508"/>
            <a:ext cx="298021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没过关</a:t>
            </a:r>
            <a:endParaRPr sz="13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7823972" y="5090556"/>
            <a:ext cx="2980212" cy="66522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调整场景组合或定价，再验一轮</a:t>
            </a:r>
            <a:endParaRPr sz="10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还不行的场景停掉，不硬推</a:t>
            </a:r>
            <a:endParaRPr sz="10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快速占领市场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先打老客户，再按业态复制，用 AI 撬新客户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从最容易成交的客户开始，用标杆案例带动同类景区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37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07748"/>
            <a:ext cx="3181258" cy="2084374"/>
          </a:xfrm>
          <a:prstGeom prst="roundRect">
            <a:avLst>
              <a:gd name="adj" fmla="val 595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9451" y="2167402"/>
            <a:ext cx="487832" cy="4878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hous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4756" y="2282708"/>
            <a:ext cx="257220" cy="257220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3421654" y="2167402"/>
            <a:ext cx="576529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最先</a:t>
            </a:r>
            <a:endParaRPr sz="9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189451" y="2743931"/>
            <a:ext cx="2826471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已用我们票务的景区</a:t>
            </a:r>
            <a:endParaRPr sz="15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189451" y="3143067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FFE7CF"/>
                </a:solidFill>
                <a:latin typeface="Microsoft YaHei" panose="020B0503020204020204" charset="-122"/>
                <a:ea typeface="Microsoft YaHei" panose="020B0503020204020204" charset="-122"/>
              </a:rPr>
              <a:t>打法</a:t>
            </a:r>
            <a:endParaRPr sz="900" b="1">
              <a:solidFill>
                <a:srgbClr val="FFE7C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189451" y="3338200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随票务续约推，开通即用</a:t>
            </a:r>
            <a:endParaRPr sz="11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189451" y="3604290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FFE7CF"/>
                </a:solidFill>
                <a:latin typeface="Microsoft YaHei" panose="020B0503020204020204" charset="-122"/>
                <a:ea typeface="Microsoft YaHei" panose="020B0503020204020204" charset="-122"/>
              </a:rPr>
              <a:t>为什么</a:t>
            </a:r>
            <a:endParaRPr sz="900" b="1">
              <a:solidFill>
                <a:srgbClr val="FFE7C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189451" y="3799423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系统已对接，基本零开发；信任已有，成交最快</a:t>
            </a:r>
            <a:endParaRPr sz="10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4352970" y="2007748"/>
            <a:ext cx="3181258" cy="2084374"/>
          </a:xfrm>
          <a:prstGeom prst="roundRect">
            <a:avLst>
              <a:gd name="adj" fmla="val 59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548103" y="2167402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copy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0061" y="2289360"/>
            <a:ext cx="243916" cy="243916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6780306" y="2167402"/>
            <a:ext cx="576529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其次</a:t>
            </a:r>
            <a:endParaRPr sz="9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4548103" y="2743931"/>
            <a:ext cx="2826471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同业态景区</a:t>
            </a:r>
            <a:endParaRPr sz="15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548103" y="3143067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打法</a:t>
            </a:r>
            <a:endParaRPr sz="9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4548103" y="3338200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用标杆案例按业态复制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4548103" y="3604290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为什么</a:t>
            </a:r>
            <a:endParaRPr sz="9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4548103" y="3799423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场景相同，模板直接复用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7711622" y="2007748"/>
            <a:ext cx="3181258" cy="2084374"/>
          </a:xfrm>
          <a:prstGeom prst="roundRect">
            <a:avLst>
              <a:gd name="adj" fmla="val 59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906755" y="2167402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user-plu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713" y="2289360"/>
            <a:ext cx="243916" cy="243916"/>
          </a:xfrm>
          <a:prstGeom prst="rect">
            <a:avLst/>
          </a:prstGeom>
        </p:spPr>
      </p:pic>
      <p:sp>
        <p:nvSpPr>
          <p:cNvPr id="65" name="Rounded Rectangle 64"/>
          <p:cNvSpPr/>
          <p:nvPr/>
        </p:nvSpPr>
        <p:spPr>
          <a:xfrm>
            <a:off x="10138958" y="2167402"/>
            <a:ext cx="576529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同步</a:t>
            </a:r>
            <a:endParaRPr sz="9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7906755" y="2743931"/>
            <a:ext cx="2826471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新客户</a:t>
            </a:r>
            <a:endParaRPr sz="15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7906755" y="3143067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打法</a:t>
            </a:r>
            <a:endParaRPr sz="9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7906755" y="3338200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智能体做差异化卖点，带动票务签约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7906755" y="3604290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为什么</a:t>
            </a:r>
            <a:endParaRPr sz="9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7906755" y="3799423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用 AI 撬动新客户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994318" y="4367082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36233" y="4296125"/>
            <a:ext cx="798271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业态先后：客流大、咨询多、线上购票比例高的先做</a:t>
            </a:r>
            <a:endParaRPr sz="13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994318" y="4695261"/>
            <a:ext cx="798271" cy="1197406"/>
          </a:xfrm>
          <a:prstGeom prst="roundRect">
            <a:avLst>
              <a:gd name="adj" fmla="val 1111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第一批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1881286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mountain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9290" y="4828306"/>
            <a:ext cx="390265" cy="390265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881286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山岳</a:t>
            </a:r>
            <a:endParaRPr sz="12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3176259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ferris-wheel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4265" y="4828306"/>
            <a:ext cx="390265" cy="390265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3176259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主题乐园</a:t>
            </a:r>
            <a:endParaRPr sz="12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4471233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landmark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9238" y="4828306"/>
            <a:ext cx="390265" cy="390265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4471233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古镇街区</a:t>
            </a:r>
            <a:endParaRPr sz="12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3" name="Right Arrow 82"/>
          <p:cNvSpPr/>
          <p:nvPr/>
        </p:nvSpPr>
        <p:spPr>
          <a:xfrm>
            <a:off x="5810554" y="5183093"/>
            <a:ext cx="266090" cy="230611"/>
          </a:xfrm>
          <a:prstGeom prst="rightArrow">
            <a:avLst/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6209690" y="4695261"/>
            <a:ext cx="798271" cy="1197406"/>
          </a:xfrm>
          <a:prstGeom prst="roundRect">
            <a:avLst>
              <a:gd name="adj" fmla="val 11111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第二批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7096658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book-open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04662" y="4828306"/>
            <a:ext cx="390265" cy="390265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7096658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博物馆</a:t>
            </a:r>
            <a:endParaRPr sz="12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8391631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waves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99636" y="4828306"/>
            <a:ext cx="390265" cy="390265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8391631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温泉度假</a:t>
            </a:r>
            <a:endParaRPr sz="12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1" name="Rounded Rectangle 90"/>
          <p:cNvSpPr/>
          <p:nvPr/>
        </p:nvSpPr>
        <p:spPr>
          <a:xfrm>
            <a:off x="9686604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ship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94609" y="4828306"/>
            <a:ext cx="390265" cy="390265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9686604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游船演出</a:t>
            </a:r>
            <a:endParaRPr sz="12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怎么复制得快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六步上线，差异全部做成配置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实施人员和渠道伙伴按手册就能独立交付，不占核心研发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38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grpSp>
        <p:nvGrpSpPr>
          <p:cNvPr id="21000" name="素材 24"/>
          <p:cNvGrpSpPr/>
          <p:nvPr/>
        </p:nvGrpSpPr>
        <p:grpSpPr>
          <a:xfrm>
            <a:off x="994318" y="2504655"/>
            <a:ext cx="6740956" cy="1976135"/>
            <a:chOff x="936501" y="2932416"/>
            <a:chExt cx="9757504" cy="2860448"/>
          </a:xfrm>
        </p:grpSpPr>
        <p:sp>
          <p:nvSpPr>
            <p:cNvPr id="21001" name="Freeform 5"/>
            <p:cNvSpPr/>
            <p:nvPr/>
          </p:nvSpPr>
          <p:spPr bwMode="auto">
            <a:xfrm>
              <a:off x="7976709" y="3617221"/>
              <a:ext cx="2717296" cy="2175642"/>
            </a:xfrm>
            <a:custGeom>
              <a:avLst/>
              <a:gdLst>
                <a:gd name="T0" fmla="*/ 488 w 891"/>
                <a:gd name="T1" fmla="*/ 244 h 712"/>
                <a:gd name="T2" fmla="*/ 488 w 891"/>
                <a:gd name="T3" fmla="*/ 469 h 712"/>
                <a:gd name="T4" fmla="*/ 341 w 891"/>
                <a:gd name="T5" fmla="*/ 693 h 712"/>
                <a:gd name="T6" fmla="*/ 244 w 891"/>
                <a:gd name="T7" fmla="*/ 712 h 712"/>
                <a:gd name="T8" fmla="*/ 146 w 891"/>
                <a:gd name="T9" fmla="*/ 693 h 712"/>
                <a:gd name="T10" fmla="*/ 0 w 891"/>
                <a:gd name="T11" fmla="*/ 469 h 712"/>
                <a:gd name="T12" fmla="*/ 0 w 891"/>
                <a:gd name="T13" fmla="*/ 244 h 712"/>
                <a:gd name="T14" fmla="*/ 107 w 891"/>
                <a:gd name="T15" fmla="*/ 244 h 712"/>
                <a:gd name="T16" fmla="*/ 107 w 891"/>
                <a:gd name="T17" fmla="*/ 469 h 712"/>
                <a:gd name="T18" fmla="*/ 185 w 891"/>
                <a:gd name="T19" fmla="*/ 594 h 712"/>
                <a:gd name="T20" fmla="*/ 244 w 891"/>
                <a:gd name="T21" fmla="*/ 605 h 712"/>
                <a:gd name="T22" fmla="*/ 302 w 891"/>
                <a:gd name="T23" fmla="*/ 594 h 712"/>
                <a:gd name="T24" fmla="*/ 381 w 891"/>
                <a:gd name="T25" fmla="*/ 469 h 712"/>
                <a:gd name="T26" fmla="*/ 381 w 891"/>
                <a:gd name="T27" fmla="*/ 244 h 712"/>
                <a:gd name="T28" fmla="*/ 381 w 891"/>
                <a:gd name="T29" fmla="*/ 244 h 712"/>
                <a:gd name="T30" fmla="*/ 450 w 891"/>
                <a:gd name="T31" fmla="*/ 68 h 712"/>
                <a:gd name="T32" fmla="*/ 623 w 891"/>
                <a:gd name="T33" fmla="*/ 0 h 712"/>
                <a:gd name="T34" fmla="*/ 891 w 891"/>
                <a:gd name="T35" fmla="*/ 0 h 712"/>
                <a:gd name="T36" fmla="*/ 891 w 891"/>
                <a:gd name="T37" fmla="*/ 107 h 712"/>
                <a:gd name="T38" fmla="*/ 623 w 891"/>
                <a:gd name="T39" fmla="*/ 107 h 712"/>
                <a:gd name="T40" fmla="*/ 526 w 891"/>
                <a:gd name="T41" fmla="*/ 143 h 712"/>
                <a:gd name="T42" fmla="*/ 488 w 891"/>
                <a:gd name="T43" fmla="*/ 244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891" h="712">
                  <a:moveTo>
                    <a:pt x="488" y="244"/>
                  </a:moveTo>
                  <a:cubicBezTo>
                    <a:pt x="488" y="469"/>
                    <a:pt x="488" y="469"/>
                    <a:pt x="488" y="469"/>
                  </a:cubicBezTo>
                  <a:cubicBezTo>
                    <a:pt x="488" y="585"/>
                    <a:pt x="423" y="660"/>
                    <a:pt x="341" y="693"/>
                  </a:cubicBezTo>
                  <a:cubicBezTo>
                    <a:pt x="310" y="705"/>
                    <a:pt x="277" y="712"/>
                    <a:pt x="244" y="712"/>
                  </a:cubicBezTo>
                  <a:cubicBezTo>
                    <a:pt x="210" y="712"/>
                    <a:pt x="177" y="705"/>
                    <a:pt x="146" y="693"/>
                  </a:cubicBezTo>
                  <a:cubicBezTo>
                    <a:pt x="64" y="660"/>
                    <a:pt x="0" y="585"/>
                    <a:pt x="0" y="469"/>
                  </a:cubicBezTo>
                  <a:cubicBezTo>
                    <a:pt x="0" y="244"/>
                    <a:pt x="0" y="244"/>
                    <a:pt x="0" y="244"/>
                  </a:cubicBezTo>
                  <a:cubicBezTo>
                    <a:pt x="107" y="244"/>
                    <a:pt x="107" y="244"/>
                    <a:pt x="107" y="244"/>
                  </a:cubicBezTo>
                  <a:cubicBezTo>
                    <a:pt x="107" y="469"/>
                    <a:pt x="107" y="469"/>
                    <a:pt x="107" y="469"/>
                  </a:cubicBezTo>
                  <a:cubicBezTo>
                    <a:pt x="107" y="535"/>
                    <a:pt x="141" y="576"/>
                    <a:pt x="185" y="594"/>
                  </a:cubicBezTo>
                  <a:cubicBezTo>
                    <a:pt x="203" y="601"/>
                    <a:pt x="223" y="605"/>
                    <a:pt x="244" y="605"/>
                  </a:cubicBezTo>
                  <a:cubicBezTo>
                    <a:pt x="264" y="605"/>
                    <a:pt x="284" y="601"/>
                    <a:pt x="302" y="594"/>
                  </a:cubicBezTo>
                  <a:cubicBezTo>
                    <a:pt x="346" y="576"/>
                    <a:pt x="381" y="535"/>
                    <a:pt x="381" y="469"/>
                  </a:cubicBezTo>
                  <a:cubicBezTo>
                    <a:pt x="381" y="244"/>
                    <a:pt x="381" y="244"/>
                    <a:pt x="381" y="244"/>
                  </a:cubicBezTo>
                  <a:cubicBezTo>
                    <a:pt x="381" y="244"/>
                    <a:pt x="381" y="244"/>
                    <a:pt x="381" y="244"/>
                  </a:cubicBezTo>
                  <a:cubicBezTo>
                    <a:pt x="381" y="179"/>
                    <a:pt x="404" y="115"/>
                    <a:pt x="450" y="68"/>
                  </a:cubicBezTo>
                  <a:cubicBezTo>
                    <a:pt x="491" y="27"/>
                    <a:pt x="549" y="0"/>
                    <a:pt x="623" y="0"/>
                  </a:cubicBezTo>
                  <a:cubicBezTo>
                    <a:pt x="891" y="0"/>
                    <a:pt x="891" y="0"/>
                    <a:pt x="891" y="0"/>
                  </a:cubicBezTo>
                  <a:cubicBezTo>
                    <a:pt x="891" y="107"/>
                    <a:pt x="891" y="107"/>
                    <a:pt x="891" y="107"/>
                  </a:cubicBezTo>
                  <a:cubicBezTo>
                    <a:pt x="623" y="107"/>
                    <a:pt x="623" y="107"/>
                    <a:pt x="623" y="107"/>
                  </a:cubicBezTo>
                  <a:cubicBezTo>
                    <a:pt x="580" y="107"/>
                    <a:pt x="548" y="121"/>
                    <a:pt x="526" y="143"/>
                  </a:cubicBezTo>
                  <a:cubicBezTo>
                    <a:pt x="500" y="169"/>
                    <a:pt x="488" y="206"/>
                    <a:pt x="488" y="244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2" name="Freeform 6"/>
            <p:cNvSpPr/>
            <p:nvPr/>
          </p:nvSpPr>
          <p:spPr bwMode="auto">
            <a:xfrm>
              <a:off x="936501" y="2932416"/>
              <a:ext cx="2717296" cy="2175642"/>
            </a:xfrm>
            <a:custGeom>
              <a:avLst/>
              <a:gdLst>
                <a:gd name="T0" fmla="*/ 510 w 891"/>
                <a:gd name="T1" fmla="*/ 468 h 712"/>
                <a:gd name="T2" fmla="*/ 440 w 891"/>
                <a:gd name="T3" fmla="*/ 644 h 712"/>
                <a:gd name="T4" fmla="*/ 268 w 891"/>
                <a:gd name="T5" fmla="*/ 712 h 712"/>
                <a:gd name="T6" fmla="*/ 0 w 891"/>
                <a:gd name="T7" fmla="*/ 712 h 712"/>
                <a:gd name="T8" fmla="*/ 0 w 891"/>
                <a:gd name="T9" fmla="*/ 605 h 712"/>
                <a:gd name="T10" fmla="*/ 268 w 891"/>
                <a:gd name="T11" fmla="*/ 605 h 712"/>
                <a:gd name="T12" fmla="*/ 365 w 891"/>
                <a:gd name="T13" fmla="*/ 569 h 712"/>
                <a:gd name="T14" fmla="*/ 403 w 891"/>
                <a:gd name="T15" fmla="*/ 468 h 712"/>
                <a:gd name="T16" fmla="*/ 403 w 891"/>
                <a:gd name="T17" fmla="*/ 242 h 712"/>
                <a:gd name="T18" fmla="*/ 549 w 891"/>
                <a:gd name="T19" fmla="*/ 19 h 712"/>
                <a:gd name="T20" fmla="*/ 647 w 891"/>
                <a:gd name="T21" fmla="*/ 0 h 712"/>
                <a:gd name="T22" fmla="*/ 745 w 891"/>
                <a:gd name="T23" fmla="*/ 19 h 712"/>
                <a:gd name="T24" fmla="*/ 891 w 891"/>
                <a:gd name="T25" fmla="*/ 242 h 712"/>
                <a:gd name="T26" fmla="*/ 891 w 891"/>
                <a:gd name="T27" fmla="*/ 468 h 712"/>
                <a:gd name="T28" fmla="*/ 784 w 891"/>
                <a:gd name="T29" fmla="*/ 468 h 712"/>
                <a:gd name="T30" fmla="*/ 784 w 891"/>
                <a:gd name="T31" fmla="*/ 242 h 712"/>
                <a:gd name="T32" fmla="*/ 705 w 891"/>
                <a:gd name="T33" fmla="*/ 118 h 712"/>
                <a:gd name="T34" fmla="*/ 647 w 891"/>
                <a:gd name="T35" fmla="*/ 107 h 712"/>
                <a:gd name="T36" fmla="*/ 589 w 891"/>
                <a:gd name="T37" fmla="*/ 118 h 712"/>
                <a:gd name="T38" fmla="*/ 510 w 891"/>
                <a:gd name="T39" fmla="*/ 242 h 712"/>
                <a:gd name="T40" fmla="*/ 510 w 891"/>
                <a:gd name="T41" fmla="*/ 468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891" h="712">
                  <a:moveTo>
                    <a:pt x="510" y="468"/>
                  </a:moveTo>
                  <a:cubicBezTo>
                    <a:pt x="510" y="532"/>
                    <a:pt x="487" y="597"/>
                    <a:pt x="440" y="644"/>
                  </a:cubicBezTo>
                  <a:cubicBezTo>
                    <a:pt x="399" y="685"/>
                    <a:pt x="342" y="712"/>
                    <a:pt x="268" y="712"/>
                  </a:cubicBezTo>
                  <a:cubicBezTo>
                    <a:pt x="0" y="712"/>
                    <a:pt x="0" y="712"/>
                    <a:pt x="0" y="712"/>
                  </a:cubicBezTo>
                  <a:cubicBezTo>
                    <a:pt x="0" y="605"/>
                    <a:pt x="0" y="605"/>
                    <a:pt x="0" y="605"/>
                  </a:cubicBezTo>
                  <a:cubicBezTo>
                    <a:pt x="268" y="605"/>
                    <a:pt x="268" y="605"/>
                    <a:pt x="268" y="605"/>
                  </a:cubicBezTo>
                  <a:cubicBezTo>
                    <a:pt x="311" y="605"/>
                    <a:pt x="343" y="590"/>
                    <a:pt x="365" y="569"/>
                  </a:cubicBezTo>
                  <a:cubicBezTo>
                    <a:pt x="390" y="543"/>
                    <a:pt x="403" y="505"/>
                    <a:pt x="403" y="468"/>
                  </a:cubicBezTo>
                  <a:cubicBezTo>
                    <a:pt x="403" y="242"/>
                    <a:pt x="403" y="242"/>
                    <a:pt x="403" y="242"/>
                  </a:cubicBezTo>
                  <a:cubicBezTo>
                    <a:pt x="403" y="126"/>
                    <a:pt x="467" y="52"/>
                    <a:pt x="549" y="19"/>
                  </a:cubicBezTo>
                  <a:cubicBezTo>
                    <a:pt x="581" y="6"/>
                    <a:pt x="614" y="0"/>
                    <a:pt x="647" y="0"/>
                  </a:cubicBezTo>
                  <a:cubicBezTo>
                    <a:pt x="680" y="0"/>
                    <a:pt x="714" y="6"/>
                    <a:pt x="745" y="19"/>
                  </a:cubicBezTo>
                  <a:cubicBezTo>
                    <a:pt x="827" y="52"/>
                    <a:pt x="891" y="126"/>
                    <a:pt x="891" y="242"/>
                  </a:cubicBezTo>
                  <a:cubicBezTo>
                    <a:pt x="891" y="468"/>
                    <a:pt x="891" y="468"/>
                    <a:pt x="891" y="468"/>
                  </a:cubicBezTo>
                  <a:cubicBezTo>
                    <a:pt x="784" y="468"/>
                    <a:pt x="784" y="468"/>
                    <a:pt x="784" y="468"/>
                  </a:cubicBezTo>
                  <a:cubicBezTo>
                    <a:pt x="784" y="242"/>
                    <a:pt x="784" y="242"/>
                    <a:pt x="784" y="242"/>
                  </a:cubicBezTo>
                  <a:cubicBezTo>
                    <a:pt x="784" y="177"/>
                    <a:pt x="750" y="135"/>
                    <a:pt x="705" y="118"/>
                  </a:cubicBezTo>
                  <a:cubicBezTo>
                    <a:pt x="687" y="110"/>
                    <a:pt x="667" y="107"/>
                    <a:pt x="647" y="107"/>
                  </a:cubicBezTo>
                  <a:cubicBezTo>
                    <a:pt x="627" y="107"/>
                    <a:pt x="607" y="110"/>
                    <a:pt x="589" y="118"/>
                  </a:cubicBezTo>
                  <a:cubicBezTo>
                    <a:pt x="545" y="135"/>
                    <a:pt x="510" y="177"/>
                    <a:pt x="510" y="242"/>
                  </a:cubicBezTo>
                  <a:lnTo>
                    <a:pt x="510" y="468"/>
                  </a:ln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3" name="Freeform 7"/>
            <p:cNvSpPr/>
            <p:nvPr/>
          </p:nvSpPr>
          <p:spPr bwMode="auto">
            <a:xfrm>
              <a:off x="3327515" y="4362640"/>
              <a:ext cx="1486969" cy="1430224"/>
            </a:xfrm>
            <a:custGeom>
              <a:avLst/>
              <a:gdLst>
                <a:gd name="T0" fmla="*/ 488 w 488"/>
                <a:gd name="T1" fmla="*/ 0 h 468"/>
                <a:gd name="T2" fmla="*/ 488 w 488"/>
                <a:gd name="T3" fmla="*/ 225 h 468"/>
                <a:gd name="T4" fmla="*/ 342 w 488"/>
                <a:gd name="T5" fmla="*/ 449 h 468"/>
                <a:gd name="T6" fmla="*/ 244 w 488"/>
                <a:gd name="T7" fmla="*/ 468 h 468"/>
                <a:gd name="T8" fmla="*/ 146 w 488"/>
                <a:gd name="T9" fmla="*/ 449 h 468"/>
                <a:gd name="T10" fmla="*/ 0 w 488"/>
                <a:gd name="T11" fmla="*/ 225 h 468"/>
                <a:gd name="T12" fmla="*/ 0 w 488"/>
                <a:gd name="T13" fmla="*/ 0 h 468"/>
                <a:gd name="T14" fmla="*/ 107 w 488"/>
                <a:gd name="T15" fmla="*/ 0 h 468"/>
                <a:gd name="T16" fmla="*/ 107 w 488"/>
                <a:gd name="T17" fmla="*/ 225 h 468"/>
                <a:gd name="T18" fmla="*/ 186 w 488"/>
                <a:gd name="T19" fmla="*/ 350 h 468"/>
                <a:gd name="T20" fmla="*/ 244 w 488"/>
                <a:gd name="T21" fmla="*/ 361 h 468"/>
                <a:gd name="T22" fmla="*/ 302 w 488"/>
                <a:gd name="T23" fmla="*/ 350 h 468"/>
                <a:gd name="T24" fmla="*/ 381 w 488"/>
                <a:gd name="T25" fmla="*/ 225 h 468"/>
                <a:gd name="T26" fmla="*/ 381 w 488"/>
                <a:gd name="T27" fmla="*/ 0 h 468"/>
                <a:gd name="T28" fmla="*/ 488 w 488"/>
                <a:gd name="T29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488" y="0"/>
                  </a:moveTo>
                  <a:cubicBezTo>
                    <a:pt x="488" y="225"/>
                    <a:pt x="488" y="225"/>
                    <a:pt x="488" y="225"/>
                  </a:cubicBezTo>
                  <a:cubicBezTo>
                    <a:pt x="488" y="341"/>
                    <a:pt x="424" y="416"/>
                    <a:pt x="342" y="449"/>
                  </a:cubicBezTo>
                  <a:cubicBezTo>
                    <a:pt x="311" y="461"/>
                    <a:pt x="277" y="468"/>
                    <a:pt x="244" y="468"/>
                  </a:cubicBezTo>
                  <a:cubicBezTo>
                    <a:pt x="211" y="468"/>
                    <a:pt x="178" y="461"/>
                    <a:pt x="146" y="449"/>
                  </a:cubicBezTo>
                  <a:cubicBezTo>
                    <a:pt x="64" y="416"/>
                    <a:pt x="0" y="341"/>
                    <a:pt x="0" y="22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225"/>
                    <a:pt x="107" y="225"/>
                    <a:pt x="107" y="225"/>
                  </a:cubicBezTo>
                  <a:cubicBezTo>
                    <a:pt x="107" y="291"/>
                    <a:pt x="142" y="332"/>
                    <a:pt x="186" y="350"/>
                  </a:cubicBezTo>
                  <a:cubicBezTo>
                    <a:pt x="204" y="357"/>
                    <a:pt x="224" y="361"/>
                    <a:pt x="244" y="361"/>
                  </a:cubicBezTo>
                  <a:cubicBezTo>
                    <a:pt x="264" y="361"/>
                    <a:pt x="284" y="357"/>
                    <a:pt x="302" y="350"/>
                  </a:cubicBezTo>
                  <a:cubicBezTo>
                    <a:pt x="347" y="332"/>
                    <a:pt x="381" y="291"/>
                    <a:pt x="381" y="225"/>
                  </a:cubicBezTo>
                  <a:cubicBezTo>
                    <a:pt x="381" y="0"/>
                    <a:pt x="381" y="0"/>
                    <a:pt x="381" y="0"/>
                  </a:cubicBezTo>
                  <a:lnTo>
                    <a:pt x="488" y="0"/>
                  </a:ln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4" name="Freeform 8"/>
            <p:cNvSpPr/>
            <p:nvPr/>
          </p:nvSpPr>
          <p:spPr bwMode="auto">
            <a:xfrm>
              <a:off x="4488201" y="2932416"/>
              <a:ext cx="1488257" cy="1430224"/>
            </a:xfrm>
            <a:custGeom>
              <a:avLst/>
              <a:gdLst>
                <a:gd name="T0" fmla="*/ 0 w 488"/>
                <a:gd name="T1" fmla="*/ 468 h 468"/>
                <a:gd name="T2" fmla="*/ 0 w 488"/>
                <a:gd name="T3" fmla="*/ 242 h 468"/>
                <a:gd name="T4" fmla="*/ 147 w 488"/>
                <a:gd name="T5" fmla="*/ 19 h 468"/>
                <a:gd name="T6" fmla="*/ 244 w 488"/>
                <a:gd name="T7" fmla="*/ 0 h 468"/>
                <a:gd name="T8" fmla="*/ 342 w 488"/>
                <a:gd name="T9" fmla="*/ 19 h 468"/>
                <a:gd name="T10" fmla="*/ 488 w 488"/>
                <a:gd name="T11" fmla="*/ 242 h 468"/>
                <a:gd name="T12" fmla="*/ 488 w 488"/>
                <a:gd name="T13" fmla="*/ 468 h 468"/>
                <a:gd name="T14" fmla="*/ 381 w 488"/>
                <a:gd name="T15" fmla="*/ 468 h 468"/>
                <a:gd name="T16" fmla="*/ 381 w 488"/>
                <a:gd name="T17" fmla="*/ 242 h 468"/>
                <a:gd name="T18" fmla="*/ 302 w 488"/>
                <a:gd name="T19" fmla="*/ 118 h 468"/>
                <a:gd name="T20" fmla="*/ 244 w 488"/>
                <a:gd name="T21" fmla="*/ 107 h 468"/>
                <a:gd name="T22" fmla="*/ 186 w 488"/>
                <a:gd name="T23" fmla="*/ 118 h 468"/>
                <a:gd name="T24" fmla="*/ 107 w 488"/>
                <a:gd name="T25" fmla="*/ 242 h 468"/>
                <a:gd name="T26" fmla="*/ 107 w 488"/>
                <a:gd name="T27" fmla="*/ 468 h 468"/>
                <a:gd name="T28" fmla="*/ 0 w 488"/>
                <a:gd name="T29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0" y="468"/>
                  </a:moveTo>
                  <a:cubicBezTo>
                    <a:pt x="0" y="242"/>
                    <a:pt x="0" y="242"/>
                    <a:pt x="0" y="242"/>
                  </a:cubicBezTo>
                  <a:cubicBezTo>
                    <a:pt x="0" y="126"/>
                    <a:pt x="64" y="52"/>
                    <a:pt x="147" y="19"/>
                  </a:cubicBezTo>
                  <a:cubicBezTo>
                    <a:pt x="178" y="6"/>
                    <a:pt x="211" y="0"/>
                    <a:pt x="244" y="0"/>
                  </a:cubicBezTo>
                  <a:cubicBezTo>
                    <a:pt x="277" y="0"/>
                    <a:pt x="311" y="6"/>
                    <a:pt x="342" y="19"/>
                  </a:cubicBezTo>
                  <a:cubicBezTo>
                    <a:pt x="424" y="52"/>
                    <a:pt x="488" y="126"/>
                    <a:pt x="488" y="242"/>
                  </a:cubicBezTo>
                  <a:cubicBezTo>
                    <a:pt x="488" y="468"/>
                    <a:pt x="488" y="468"/>
                    <a:pt x="488" y="468"/>
                  </a:cubicBezTo>
                  <a:cubicBezTo>
                    <a:pt x="381" y="468"/>
                    <a:pt x="381" y="468"/>
                    <a:pt x="381" y="468"/>
                  </a:cubicBezTo>
                  <a:cubicBezTo>
                    <a:pt x="381" y="242"/>
                    <a:pt x="381" y="242"/>
                    <a:pt x="381" y="242"/>
                  </a:cubicBezTo>
                  <a:cubicBezTo>
                    <a:pt x="381" y="177"/>
                    <a:pt x="347" y="135"/>
                    <a:pt x="302" y="118"/>
                  </a:cubicBezTo>
                  <a:cubicBezTo>
                    <a:pt x="284" y="110"/>
                    <a:pt x="264" y="107"/>
                    <a:pt x="244" y="107"/>
                  </a:cubicBezTo>
                  <a:cubicBezTo>
                    <a:pt x="224" y="107"/>
                    <a:pt x="204" y="110"/>
                    <a:pt x="186" y="118"/>
                  </a:cubicBezTo>
                  <a:cubicBezTo>
                    <a:pt x="142" y="135"/>
                    <a:pt x="107" y="177"/>
                    <a:pt x="107" y="242"/>
                  </a:cubicBezTo>
                  <a:cubicBezTo>
                    <a:pt x="107" y="468"/>
                    <a:pt x="107" y="468"/>
                    <a:pt x="107" y="468"/>
                  </a:cubicBezTo>
                  <a:lnTo>
                    <a:pt x="0" y="468"/>
                  </a:lnTo>
                  <a:close/>
                </a:path>
              </a:pathLst>
            </a:custGeom>
            <a:solidFill>
              <a:srgbClr val="E39A57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5" name="Freeform 9"/>
            <p:cNvSpPr/>
            <p:nvPr/>
          </p:nvSpPr>
          <p:spPr bwMode="auto">
            <a:xfrm>
              <a:off x="5650177" y="4362640"/>
              <a:ext cx="1488257" cy="1430224"/>
            </a:xfrm>
            <a:custGeom>
              <a:avLst/>
              <a:gdLst>
                <a:gd name="T0" fmla="*/ 488 w 488"/>
                <a:gd name="T1" fmla="*/ 0 h 468"/>
                <a:gd name="T2" fmla="*/ 488 w 488"/>
                <a:gd name="T3" fmla="*/ 225 h 468"/>
                <a:gd name="T4" fmla="*/ 342 w 488"/>
                <a:gd name="T5" fmla="*/ 449 h 468"/>
                <a:gd name="T6" fmla="*/ 244 w 488"/>
                <a:gd name="T7" fmla="*/ 468 h 468"/>
                <a:gd name="T8" fmla="*/ 147 w 488"/>
                <a:gd name="T9" fmla="*/ 449 h 468"/>
                <a:gd name="T10" fmla="*/ 0 w 488"/>
                <a:gd name="T11" fmla="*/ 225 h 468"/>
                <a:gd name="T12" fmla="*/ 0 w 488"/>
                <a:gd name="T13" fmla="*/ 0 h 468"/>
                <a:gd name="T14" fmla="*/ 107 w 488"/>
                <a:gd name="T15" fmla="*/ 0 h 468"/>
                <a:gd name="T16" fmla="*/ 107 w 488"/>
                <a:gd name="T17" fmla="*/ 225 h 468"/>
                <a:gd name="T18" fmla="*/ 186 w 488"/>
                <a:gd name="T19" fmla="*/ 350 h 468"/>
                <a:gd name="T20" fmla="*/ 244 w 488"/>
                <a:gd name="T21" fmla="*/ 361 h 468"/>
                <a:gd name="T22" fmla="*/ 302 w 488"/>
                <a:gd name="T23" fmla="*/ 350 h 468"/>
                <a:gd name="T24" fmla="*/ 381 w 488"/>
                <a:gd name="T25" fmla="*/ 225 h 468"/>
                <a:gd name="T26" fmla="*/ 381 w 488"/>
                <a:gd name="T27" fmla="*/ 0 h 468"/>
                <a:gd name="T28" fmla="*/ 488 w 488"/>
                <a:gd name="T29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488" y="0"/>
                  </a:moveTo>
                  <a:cubicBezTo>
                    <a:pt x="488" y="225"/>
                    <a:pt x="488" y="225"/>
                    <a:pt x="488" y="225"/>
                  </a:cubicBezTo>
                  <a:cubicBezTo>
                    <a:pt x="488" y="341"/>
                    <a:pt x="424" y="416"/>
                    <a:pt x="342" y="449"/>
                  </a:cubicBezTo>
                  <a:cubicBezTo>
                    <a:pt x="311" y="461"/>
                    <a:pt x="278" y="468"/>
                    <a:pt x="244" y="468"/>
                  </a:cubicBezTo>
                  <a:cubicBezTo>
                    <a:pt x="211" y="468"/>
                    <a:pt x="178" y="461"/>
                    <a:pt x="147" y="449"/>
                  </a:cubicBezTo>
                  <a:cubicBezTo>
                    <a:pt x="64" y="416"/>
                    <a:pt x="0" y="341"/>
                    <a:pt x="0" y="22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225"/>
                    <a:pt x="107" y="225"/>
                    <a:pt x="107" y="225"/>
                  </a:cubicBezTo>
                  <a:cubicBezTo>
                    <a:pt x="107" y="291"/>
                    <a:pt x="142" y="332"/>
                    <a:pt x="186" y="350"/>
                  </a:cubicBezTo>
                  <a:cubicBezTo>
                    <a:pt x="204" y="357"/>
                    <a:pt x="224" y="361"/>
                    <a:pt x="244" y="361"/>
                  </a:cubicBezTo>
                  <a:cubicBezTo>
                    <a:pt x="265" y="361"/>
                    <a:pt x="284" y="357"/>
                    <a:pt x="302" y="350"/>
                  </a:cubicBezTo>
                  <a:cubicBezTo>
                    <a:pt x="347" y="332"/>
                    <a:pt x="381" y="291"/>
                    <a:pt x="381" y="225"/>
                  </a:cubicBezTo>
                  <a:cubicBezTo>
                    <a:pt x="381" y="0"/>
                    <a:pt x="381" y="0"/>
                    <a:pt x="381" y="0"/>
                  </a:cubicBezTo>
                  <a:lnTo>
                    <a:pt x="488" y="0"/>
                  </a:lnTo>
                  <a:close/>
                </a:path>
              </a:pathLst>
            </a:custGeom>
            <a:solidFill>
              <a:srgbClr val="21816F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6" name="Freeform 10"/>
            <p:cNvSpPr/>
            <p:nvPr/>
          </p:nvSpPr>
          <p:spPr bwMode="auto">
            <a:xfrm>
              <a:off x="6812153" y="2932416"/>
              <a:ext cx="1490837" cy="1430224"/>
            </a:xfrm>
            <a:custGeom>
              <a:avLst/>
              <a:gdLst>
                <a:gd name="T0" fmla="*/ 0 w 489"/>
                <a:gd name="T1" fmla="*/ 468 h 468"/>
                <a:gd name="T2" fmla="*/ 0 w 489"/>
                <a:gd name="T3" fmla="*/ 242 h 468"/>
                <a:gd name="T4" fmla="*/ 147 w 489"/>
                <a:gd name="T5" fmla="*/ 19 h 468"/>
                <a:gd name="T6" fmla="*/ 244 w 489"/>
                <a:gd name="T7" fmla="*/ 0 h 468"/>
                <a:gd name="T8" fmla="*/ 342 w 489"/>
                <a:gd name="T9" fmla="*/ 19 h 468"/>
                <a:gd name="T10" fmla="*/ 489 w 489"/>
                <a:gd name="T11" fmla="*/ 242 h 468"/>
                <a:gd name="T12" fmla="*/ 489 w 489"/>
                <a:gd name="T13" fmla="*/ 468 h 468"/>
                <a:gd name="T14" fmla="*/ 382 w 489"/>
                <a:gd name="T15" fmla="*/ 468 h 468"/>
                <a:gd name="T16" fmla="*/ 382 w 489"/>
                <a:gd name="T17" fmla="*/ 242 h 468"/>
                <a:gd name="T18" fmla="*/ 303 w 489"/>
                <a:gd name="T19" fmla="*/ 118 h 468"/>
                <a:gd name="T20" fmla="*/ 244 w 489"/>
                <a:gd name="T21" fmla="*/ 107 h 468"/>
                <a:gd name="T22" fmla="*/ 186 w 489"/>
                <a:gd name="T23" fmla="*/ 118 h 468"/>
                <a:gd name="T24" fmla="*/ 107 w 489"/>
                <a:gd name="T25" fmla="*/ 242 h 468"/>
                <a:gd name="T26" fmla="*/ 107 w 489"/>
                <a:gd name="T27" fmla="*/ 468 h 468"/>
                <a:gd name="T28" fmla="*/ 0 w 489"/>
                <a:gd name="T29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9" h="468">
                  <a:moveTo>
                    <a:pt x="0" y="468"/>
                  </a:moveTo>
                  <a:cubicBezTo>
                    <a:pt x="0" y="242"/>
                    <a:pt x="0" y="242"/>
                    <a:pt x="0" y="242"/>
                  </a:cubicBezTo>
                  <a:cubicBezTo>
                    <a:pt x="0" y="126"/>
                    <a:pt x="65" y="52"/>
                    <a:pt x="147" y="19"/>
                  </a:cubicBezTo>
                  <a:cubicBezTo>
                    <a:pt x="178" y="6"/>
                    <a:pt x="211" y="0"/>
                    <a:pt x="244" y="0"/>
                  </a:cubicBezTo>
                  <a:cubicBezTo>
                    <a:pt x="278" y="0"/>
                    <a:pt x="311" y="6"/>
                    <a:pt x="342" y="19"/>
                  </a:cubicBezTo>
                  <a:cubicBezTo>
                    <a:pt x="424" y="52"/>
                    <a:pt x="489" y="126"/>
                    <a:pt x="489" y="242"/>
                  </a:cubicBezTo>
                  <a:cubicBezTo>
                    <a:pt x="489" y="468"/>
                    <a:pt x="489" y="468"/>
                    <a:pt x="489" y="468"/>
                  </a:cubicBezTo>
                  <a:cubicBezTo>
                    <a:pt x="382" y="468"/>
                    <a:pt x="382" y="468"/>
                    <a:pt x="382" y="468"/>
                  </a:cubicBezTo>
                  <a:cubicBezTo>
                    <a:pt x="382" y="242"/>
                    <a:pt x="382" y="242"/>
                    <a:pt x="382" y="242"/>
                  </a:cubicBezTo>
                  <a:cubicBezTo>
                    <a:pt x="382" y="177"/>
                    <a:pt x="347" y="135"/>
                    <a:pt x="303" y="118"/>
                  </a:cubicBezTo>
                  <a:cubicBezTo>
                    <a:pt x="285" y="110"/>
                    <a:pt x="265" y="107"/>
                    <a:pt x="244" y="107"/>
                  </a:cubicBezTo>
                  <a:cubicBezTo>
                    <a:pt x="224" y="107"/>
                    <a:pt x="204" y="110"/>
                    <a:pt x="186" y="118"/>
                  </a:cubicBezTo>
                  <a:cubicBezTo>
                    <a:pt x="142" y="135"/>
                    <a:pt x="107" y="177"/>
                    <a:pt x="107" y="242"/>
                  </a:cubicBezTo>
                  <a:cubicBezTo>
                    <a:pt x="107" y="468"/>
                    <a:pt x="107" y="468"/>
                    <a:pt x="107" y="468"/>
                  </a:cubicBezTo>
                  <a:lnTo>
                    <a:pt x="0" y="468"/>
                  </a:lnTo>
                  <a:close/>
                </a:path>
              </a:pathLst>
            </a:custGeom>
            <a:solidFill>
              <a:srgbClr val="E39A57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7" name="Oval 11"/>
            <p:cNvSpPr>
              <a:spLocks noChangeArrowheads="1"/>
            </p:cNvSpPr>
            <p:nvPr/>
          </p:nvSpPr>
          <p:spPr bwMode="auto">
            <a:xfrm>
              <a:off x="2400242" y="3173581"/>
              <a:ext cx="1018825" cy="1021404"/>
            </a:xfrm>
            <a:prstGeom prst="ellipse">
              <a:avLst/>
            </a:prstGeom>
            <a:solidFill>
              <a:srgbClr val="5BBFAE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8" name="Oval 12"/>
            <p:cNvSpPr>
              <a:spLocks noChangeArrowheads="1"/>
            </p:cNvSpPr>
            <p:nvPr/>
          </p:nvSpPr>
          <p:spPr bwMode="auto">
            <a:xfrm>
              <a:off x="3553204" y="4536742"/>
              <a:ext cx="1017535" cy="1021404"/>
            </a:xfrm>
            <a:prstGeom prst="ellipse">
              <a:avLst/>
            </a:prstGeom>
            <a:solidFill>
              <a:srgbClr val="2CAB93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9" name="Oval 13"/>
            <p:cNvSpPr>
              <a:spLocks noChangeArrowheads="1"/>
            </p:cNvSpPr>
            <p:nvPr/>
          </p:nvSpPr>
          <p:spPr bwMode="auto">
            <a:xfrm>
              <a:off x="4713891" y="3168423"/>
              <a:ext cx="1021404" cy="1020115"/>
            </a:xfrm>
            <a:prstGeom prst="ellipse">
              <a:avLst/>
            </a:prstGeom>
            <a:solidFill>
              <a:srgbClr val="E39A57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0" name="Oval 14"/>
            <p:cNvSpPr>
              <a:spLocks noChangeArrowheads="1"/>
            </p:cNvSpPr>
            <p:nvPr/>
          </p:nvSpPr>
          <p:spPr bwMode="auto">
            <a:xfrm>
              <a:off x="5878446" y="4536742"/>
              <a:ext cx="1021404" cy="1021404"/>
            </a:xfrm>
            <a:prstGeom prst="ellipse">
              <a:avLst/>
            </a:prstGeom>
            <a:solidFill>
              <a:srgbClr val="21816F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1" name="Oval 15"/>
            <p:cNvSpPr>
              <a:spLocks noChangeArrowheads="1"/>
            </p:cNvSpPr>
            <p:nvPr/>
          </p:nvSpPr>
          <p:spPr bwMode="auto">
            <a:xfrm>
              <a:off x="7044290" y="3168423"/>
              <a:ext cx="1017535" cy="1020115"/>
            </a:xfrm>
            <a:prstGeom prst="ellipse">
              <a:avLst/>
            </a:prstGeom>
            <a:solidFill>
              <a:srgbClr val="E39A57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2" name="Oval 16"/>
            <p:cNvSpPr>
              <a:spLocks noChangeArrowheads="1"/>
            </p:cNvSpPr>
            <p:nvPr/>
          </p:nvSpPr>
          <p:spPr bwMode="auto">
            <a:xfrm>
              <a:off x="8208846" y="4536742"/>
              <a:ext cx="1017535" cy="1021404"/>
            </a:xfrm>
            <a:prstGeom prst="ellipse">
              <a:avLst/>
            </a:prstGeom>
            <a:solidFill>
              <a:srgbClr val="8FD3C6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3" name="Inhaltsplatzhalter 4"/>
            <p:cNvSpPr txBox="1"/>
            <p:nvPr/>
          </p:nvSpPr>
          <p:spPr>
            <a:xfrm rot="16200000">
              <a:off x="2334396" y="4605130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5"/>
                </a:spcAft>
                <a:buNone/>
              </a:pPr>
              <a:r>
                <a:rPr lang="en-US" sz="1750" b="1" dirty="0">
                  <a:solidFill>
                    <a:srgbClr val="2CAB93"/>
                  </a:solidFill>
                  <a:latin typeface="Microsoft YaHei" panose="020B0503020204020204" charset="-122"/>
                </a:rPr>
                <a:t>步骤 01</a:t>
              </a:r>
              <a:endParaRPr lang="en-US" sz="1750" b="1" dirty="0">
                <a:solidFill>
                  <a:srgbClr val="2CAB93"/>
                </a:solidFill>
                <a:latin typeface="Microsoft YaHei" panose="020B0503020204020204" charset="-122"/>
              </a:endParaRPr>
            </a:p>
          </p:txBody>
        </p:sp>
        <p:sp>
          <p:nvSpPr>
            <p:cNvPr id="21014" name="Inhaltsplatzhalter 4"/>
            <p:cNvSpPr txBox="1"/>
            <p:nvPr/>
          </p:nvSpPr>
          <p:spPr>
            <a:xfrm rot="16200000">
              <a:off x="4645938" y="4605131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5"/>
                </a:spcAft>
                <a:buNone/>
              </a:pPr>
              <a:r>
                <a:rPr lang="en-US" sz="1750" b="1" dirty="0">
                  <a:solidFill>
                    <a:srgbClr val="21816F"/>
                  </a:solidFill>
                  <a:latin typeface="Microsoft YaHei" panose="020B0503020204020204" charset="-122"/>
                </a:rPr>
                <a:t>步骤 03</a:t>
              </a:r>
              <a:endParaRPr lang="en-US" sz="1350" dirty="0">
                <a:solidFill>
                  <a:srgbClr val="21816F"/>
                </a:solidFill>
                <a:latin typeface="Microsoft YaHei" panose="020B0503020204020204" charset="-122"/>
              </a:endParaRPr>
            </a:p>
          </p:txBody>
        </p:sp>
        <p:sp>
          <p:nvSpPr>
            <p:cNvPr id="21015" name="Inhaltsplatzhalter 4"/>
            <p:cNvSpPr txBox="1"/>
            <p:nvPr/>
          </p:nvSpPr>
          <p:spPr>
            <a:xfrm rot="16200000">
              <a:off x="6977784" y="4605131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5"/>
                </a:spcAft>
                <a:buNone/>
              </a:pPr>
              <a:r>
                <a:rPr lang="en-US" sz="1750" b="1" dirty="0">
                  <a:solidFill>
                    <a:srgbClr val="8FD3C6"/>
                  </a:solidFill>
                  <a:latin typeface="Microsoft YaHei" panose="020B0503020204020204" charset="-122"/>
                </a:rPr>
                <a:t>步骤 05</a:t>
              </a:r>
              <a:endParaRPr lang="en-US" sz="1350" dirty="0">
                <a:solidFill>
                  <a:srgbClr val="8FD3C6"/>
                </a:solidFill>
                <a:latin typeface="Microsoft YaHei" panose="020B0503020204020204" charset="-122"/>
              </a:endParaRPr>
            </a:p>
          </p:txBody>
        </p:sp>
        <p:sp>
          <p:nvSpPr>
            <p:cNvPr id="21016" name="Inhaltsplatzhalter 4"/>
            <p:cNvSpPr txBox="1"/>
            <p:nvPr/>
          </p:nvSpPr>
          <p:spPr>
            <a:xfrm rot="16200000">
              <a:off x="3483964" y="3838465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5"/>
                </a:spcAft>
                <a:buNone/>
              </a:pPr>
              <a:r>
                <a:rPr lang="en-US" sz="1750" b="1" dirty="0">
                  <a:solidFill>
                    <a:srgbClr val="1F3A35"/>
                  </a:solidFill>
                  <a:latin typeface="Microsoft YaHei" panose="020B0503020204020204" charset="-122"/>
                </a:rPr>
                <a:t>步骤 02</a:t>
              </a:r>
              <a:endParaRPr lang="en-US" sz="1750" b="1" dirty="0">
                <a:solidFill>
                  <a:srgbClr val="1F3A35"/>
                </a:solidFill>
                <a:latin typeface="Microsoft YaHei" panose="020B0503020204020204" charset="-122"/>
              </a:endParaRPr>
            </a:p>
          </p:txBody>
        </p:sp>
        <p:sp>
          <p:nvSpPr>
            <p:cNvPr id="21017" name="Inhaltsplatzhalter 4"/>
            <p:cNvSpPr txBox="1"/>
            <p:nvPr/>
          </p:nvSpPr>
          <p:spPr>
            <a:xfrm rot="16200000">
              <a:off x="5813874" y="3838465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5"/>
                </a:spcAft>
                <a:buNone/>
              </a:pPr>
              <a:r>
                <a:rPr lang="en-US" sz="1750" b="1" dirty="0">
                  <a:solidFill>
                    <a:srgbClr val="1F3A35"/>
                  </a:solidFill>
                  <a:latin typeface="Microsoft YaHei" panose="020B0503020204020204" charset="-122"/>
                </a:rPr>
                <a:t>步骤 04</a:t>
              </a:r>
              <a:endParaRPr lang="en-US" sz="1750" b="1" dirty="0">
                <a:solidFill>
                  <a:srgbClr val="1F3A35"/>
                </a:solidFill>
                <a:latin typeface="Microsoft YaHei" panose="020B0503020204020204" charset="-122"/>
              </a:endParaRPr>
            </a:p>
          </p:txBody>
        </p:sp>
        <p:sp>
          <p:nvSpPr>
            <p:cNvPr id="21018" name="Inhaltsplatzhalter 4"/>
            <p:cNvSpPr txBox="1"/>
            <p:nvPr/>
          </p:nvSpPr>
          <p:spPr>
            <a:xfrm rot="16200000">
              <a:off x="8142340" y="3838467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charset="-122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charset="-122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5"/>
                </a:spcAft>
                <a:buNone/>
              </a:pPr>
              <a:r>
                <a:rPr lang="en-US" sz="1750" b="1" dirty="0">
                  <a:solidFill>
                    <a:srgbClr val="1F3A35"/>
                  </a:solidFill>
                  <a:latin typeface="Microsoft YaHei" panose="020B0503020204020204" charset="-122"/>
                </a:rPr>
                <a:t>步骤 06</a:t>
              </a:r>
              <a:endParaRPr lang="en-US" sz="1750" b="1" dirty="0">
                <a:solidFill>
                  <a:srgbClr val="1F3A35"/>
                </a:solidFill>
                <a:latin typeface="Microsoft YaHei" panose="020B0503020204020204" charset="-122"/>
              </a:endParaRPr>
            </a:p>
          </p:txBody>
        </p:sp>
      </p:grpSp>
      <p:pic>
        <p:nvPicPr>
          <p:cNvPr id="21019" name="Picture 21018" descr="pen-lin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5629" y="2847205"/>
            <a:ext cx="354787" cy="354787"/>
          </a:xfrm>
          <a:prstGeom prst="rect">
            <a:avLst/>
          </a:prstGeom>
        </p:spPr>
      </p:pic>
      <p:sp>
        <p:nvSpPr>
          <p:cNvPr id="21020" name="TextBox 21019"/>
          <p:cNvSpPr txBox="1"/>
          <p:nvPr/>
        </p:nvSpPr>
        <p:spPr>
          <a:xfrm>
            <a:off x="1466054" y="1918845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签约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21" name="TextBox 21020"/>
          <p:cNvSpPr txBox="1"/>
          <p:nvPr/>
        </p:nvSpPr>
        <p:spPr>
          <a:xfrm>
            <a:off x="1466054" y="2131717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随续约或新签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21022" name="Picture 21021" descr="boxes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7903" y="3788455"/>
            <a:ext cx="354787" cy="354787"/>
          </a:xfrm>
          <a:prstGeom prst="rect">
            <a:avLst/>
          </a:prstGeom>
        </p:spPr>
      </p:pic>
      <p:sp>
        <p:nvSpPr>
          <p:cNvPr id="21023" name="TextBox 21022"/>
          <p:cNvSpPr txBox="1"/>
          <p:nvPr/>
        </p:nvSpPr>
        <p:spPr>
          <a:xfrm>
            <a:off x="2268329" y="4584927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选模板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24" name="TextBox 21023"/>
          <p:cNvSpPr txBox="1"/>
          <p:nvPr/>
        </p:nvSpPr>
        <p:spPr>
          <a:xfrm>
            <a:off x="2268329" y="479779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已验证的业态模板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21025" name="Picture 21024" descr="book-ope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3336" y="2847205"/>
            <a:ext cx="354787" cy="354787"/>
          </a:xfrm>
          <a:prstGeom prst="rect">
            <a:avLst/>
          </a:prstGeom>
        </p:spPr>
      </p:pic>
      <p:sp>
        <p:nvSpPr>
          <p:cNvPr id="21026" name="TextBox 21025"/>
          <p:cNvSpPr txBox="1"/>
          <p:nvPr/>
        </p:nvSpPr>
        <p:spPr>
          <a:xfrm>
            <a:off x="3073761" y="1918845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配知识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27" name="TextBox 21026"/>
          <p:cNvSpPr txBox="1"/>
          <p:nvPr/>
        </p:nvSpPr>
        <p:spPr>
          <a:xfrm>
            <a:off x="3073761" y="2131717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统一采集表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21028" name="Picture 21027" descr="lin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5609" y="3788455"/>
            <a:ext cx="354787" cy="354787"/>
          </a:xfrm>
          <a:prstGeom prst="rect">
            <a:avLst/>
          </a:prstGeom>
        </p:spPr>
      </p:pic>
      <p:sp>
        <p:nvSpPr>
          <p:cNvPr id="21029" name="TextBox 21028"/>
          <p:cNvSpPr txBox="1"/>
          <p:nvPr/>
        </p:nvSpPr>
        <p:spPr>
          <a:xfrm>
            <a:off x="3876035" y="4584927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绑入口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30" name="TextBox 21029"/>
          <p:cNvSpPr txBox="1"/>
          <p:nvPr/>
        </p:nvSpPr>
        <p:spPr>
          <a:xfrm>
            <a:off x="3876035" y="479779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小程序 · 公众号 · 终端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21031" name="Picture 21030" descr="clipboard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4725" y="2847205"/>
            <a:ext cx="354787" cy="354787"/>
          </a:xfrm>
          <a:prstGeom prst="rect">
            <a:avLst/>
          </a:prstGeom>
        </p:spPr>
      </p:pic>
      <p:sp>
        <p:nvSpPr>
          <p:cNvPr id="21032" name="TextBox 21031"/>
          <p:cNvSpPr txBox="1"/>
          <p:nvPr/>
        </p:nvSpPr>
        <p:spPr>
          <a:xfrm>
            <a:off x="4675151" y="1918845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测试验收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33" name="TextBox 21032"/>
          <p:cNvSpPr txBox="1"/>
          <p:nvPr/>
        </p:nvSpPr>
        <p:spPr>
          <a:xfrm>
            <a:off x="4675151" y="2131717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统一测试清单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21034" name="Picture 21033" descr="rock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3316" y="3788455"/>
            <a:ext cx="354787" cy="354787"/>
          </a:xfrm>
          <a:prstGeom prst="rect">
            <a:avLst/>
          </a:prstGeom>
        </p:spPr>
      </p:pic>
      <p:sp>
        <p:nvSpPr>
          <p:cNvPr id="21035" name="TextBox 21034"/>
          <p:cNvSpPr txBox="1"/>
          <p:nvPr/>
        </p:nvSpPr>
        <p:spPr>
          <a:xfrm>
            <a:off x="5483742" y="4584927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上线运营</a:t>
            </a:r>
            <a:endParaRPr sz="13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36" name="TextBox 21035"/>
          <p:cNvSpPr txBox="1"/>
          <p:nvPr/>
        </p:nvSpPr>
        <p:spPr>
          <a:xfrm>
            <a:off x="5483742" y="479779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持续出效果报告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37" name="Rounded Rectangle 21036"/>
          <p:cNvSpPr/>
          <p:nvPr/>
        </p:nvSpPr>
        <p:spPr>
          <a:xfrm>
            <a:off x="7957017" y="2034562"/>
            <a:ext cx="2935864" cy="3947007"/>
          </a:xfrm>
          <a:prstGeom prst="roundRect">
            <a:avLst>
              <a:gd name="adj" fmla="val 422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38" name="TextBox 21037"/>
          <p:cNvSpPr txBox="1"/>
          <p:nvPr/>
        </p:nvSpPr>
        <p:spPr>
          <a:xfrm>
            <a:off x="8134410" y="2123259"/>
            <a:ext cx="2669773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五个环节标准化</a:t>
            </a:r>
            <a:endParaRPr sz="13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39" name="Rounded Rectangle 21038"/>
          <p:cNvSpPr/>
          <p:nvPr/>
        </p:nvSpPr>
        <p:spPr>
          <a:xfrm>
            <a:off x="8116671" y="2549004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0" name="TextBox 21039"/>
          <p:cNvSpPr txBox="1"/>
          <p:nvPr/>
        </p:nvSpPr>
        <p:spPr>
          <a:xfrm>
            <a:off x="8240847" y="2584482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产品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41" name="TextBox 21040"/>
          <p:cNvSpPr txBox="1"/>
          <p:nvPr/>
        </p:nvSpPr>
        <p:spPr>
          <a:xfrm>
            <a:off x="8240847" y="2832833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按业态出模板，差异做成配置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42" name="Rounded Rectangle 21041"/>
          <p:cNvSpPr/>
          <p:nvPr/>
        </p:nvSpPr>
        <p:spPr>
          <a:xfrm>
            <a:off x="8116671" y="3205360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3" name="TextBox 21042"/>
          <p:cNvSpPr txBox="1"/>
          <p:nvPr/>
        </p:nvSpPr>
        <p:spPr>
          <a:xfrm>
            <a:off x="8240847" y="3240839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知识采集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44" name="TextBox 21043"/>
          <p:cNvSpPr txBox="1"/>
          <p:nvPr/>
        </p:nvSpPr>
        <p:spPr>
          <a:xfrm>
            <a:off x="8240847" y="3489190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统一采集表，景区填、实施审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45" name="Rounded Rectangle 21044"/>
          <p:cNvSpPr/>
          <p:nvPr/>
        </p:nvSpPr>
        <p:spPr>
          <a:xfrm>
            <a:off x="8116671" y="3861716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6" name="TextBox 21045"/>
          <p:cNvSpPr txBox="1"/>
          <p:nvPr/>
        </p:nvSpPr>
        <p:spPr>
          <a:xfrm>
            <a:off x="8240847" y="3897195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系统接入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47" name="TextBox 21046"/>
          <p:cNvSpPr txBox="1"/>
          <p:nvPr/>
        </p:nvSpPr>
        <p:spPr>
          <a:xfrm>
            <a:off x="8240847" y="4145546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老客户接口现成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48" name="Rounded Rectangle 21047"/>
          <p:cNvSpPr/>
          <p:nvPr/>
        </p:nvSpPr>
        <p:spPr>
          <a:xfrm>
            <a:off x="8116671" y="4518073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9" name="TextBox 21048"/>
          <p:cNvSpPr txBox="1"/>
          <p:nvPr/>
        </p:nvSpPr>
        <p:spPr>
          <a:xfrm>
            <a:off x="8240847" y="4553551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实施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50" name="TextBox 21049"/>
          <p:cNvSpPr txBox="1"/>
          <p:nvPr/>
        </p:nvSpPr>
        <p:spPr>
          <a:xfrm>
            <a:off x="8240847" y="4801902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手册 + 培训，伙伴可独立交付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51" name="Rounded Rectangle 21050"/>
          <p:cNvSpPr/>
          <p:nvPr/>
        </p:nvSpPr>
        <p:spPr>
          <a:xfrm>
            <a:off x="8116671" y="5174429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52" name="TextBox 21051"/>
          <p:cNvSpPr txBox="1"/>
          <p:nvPr/>
        </p:nvSpPr>
        <p:spPr>
          <a:xfrm>
            <a:off x="8240847" y="5209908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验收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53" name="TextBox 21052"/>
          <p:cNvSpPr txBox="1"/>
          <p:nvPr/>
        </p:nvSpPr>
        <p:spPr>
          <a:xfrm>
            <a:off x="8240847" y="5458259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统一测试清单，跑完即上线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销售与续费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票务团队带单，用效果报告促续费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卖出去只是开始，持续让景区看到效果，才能续费、加购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39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43226"/>
            <a:ext cx="5499201" cy="851489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220620"/>
            <a:ext cx="496702" cy="49670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riefcas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5887" y="2344795"/>
            <a:ext cx="248351" cy="24835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836938" y="2114184"/>
            <a:ext cx="45235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销售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836938" y="2442362"/>
            <a:ext cx="452353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票务销售团队带单，智能体纳入销售考核；区域渠道伙伴代理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994318" y="3018891"/>
            <a:ext cx="5499201" cy="851489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171711" y="3196285"/>
            <a:ext cx="496702" cy="49670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star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887" y="3320460"/>
            <a:ext cx="248351" cy="248351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836938" y="3089849"/>
            <a:ext cx="45235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案例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836938" y="3418027"/>
            <a:ext cx="452353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每类业态的标杆做成案例，用数据讲效果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994318" y="3994556"/>
            <a:ext cx="5499201" cy="851489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71711" y="4171950"/>
            <a:ext cx="496702" cy="496702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headse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887" y="4296125"/>
            <a:ext cx="248351" cy="248351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836938" y="4065513"/>
            <a:ext cx="45235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客户成功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1836938" y="4393692"/>
            <a:ext cx="452353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上线后定期出效果报告：解决多少咨询、带来多少订单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994318" y="4970221"/>
            <a:ext cx="5499201" cy="851489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71711" y="5147614"/>
            <a:ext cx="496702" cy="49670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refresh-cw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5887" y="5271790"/>
            <a:ext cx="248351" cy="248351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836938" y="5041178"/>
            <a:ext cx="45235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升级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1836938" y="5369356"/>
            <a:ext cx="452353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模板统一升级，所有景区同步受益，增加粘性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6803958" y="2043226"/>
            <a:ext cx="4088922" cy="3813962"/>
          </a:xfrm>
          <a:prstGeom prst="roundRect">
            <a:avLst>
              <a:gd name="adj" fmla="val 279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803958" y="2043226"/>
            <a:ext cx="4088922" cy="319308"/>
          </a:xfrm>
          <a:prstGeom prst="roundRect">
            <a:avLst>
              <a:gd name="adj" fmla="val 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937004" y="2149662"/>
            <a:ext cx="106436" cy="106436"/>
          </a:xfrm>
          <a:prstGeom prst="ellipse">
            <a:avLst/>
          </a:prstGeom>
          <a:solidFill>
            <a:srgbClr val="E07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114397" y="2149662"/>
            <a:ext cx="106436" cy="106436"/>
          </a:xfrm>
          <a:prstGeom prst="ellipse">
            <a:avLst/>
          </a:prstGeom>
          <a:solidFill>
            <a:srgbClr val="D9B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7291791" y="2149662"/>
            <a:ext cx="106436" cy="106436"/>
          </a:xfrm>
          <a:prstGeom prst="ellipse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557880" y="2043226"/>
            <a:ext cx="320195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景区 AI 效果月报（示意）</a:t>
            </a:r>
            <a:endParaRPr sz="1000" b="1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7025700" y="2468971"/>
            <a:ext cx="373413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××景区 · ××月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6981352" y="2912455"/>
            <a:ext cx="1778370" cy="816010"/>
          </a:xfrm>
          <a:prstGeom prst="roundRect">
            <a:avLst>
              <a:gd name="adj" fmla="val 8695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114397" y="2965673"/>
            <a:ext cx="1600977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解决咨询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7114397" y="3196285"/>
            <a:ext cx="1600977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×××</a:t>
            </a:r>
            <a:r>
              <a:rPr sz="10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 次</a:t>
            </a:r>
            <a:endParaRPr sz="10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8937117" y="2912455"/>
            <a:ext cx="1778370" cy="816010"/>
          </a:xfrm>
          <a:prstGeom prst="roundRect">
            <a:avLst>
              <a:gd name="adj" fmla="val 8695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070162" y="2965673"/>
            <a:ext cx="1600977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带来订单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9070162" y="3196285"/>
            <a:ext cx="1600977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×××</a:t>
            </a:r>
            <a:r>
              <a:rPr sz="10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 单</a:t>
            </a:r>
            <a:endParaRPr sz="10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6981352" y="3843771"/>
            <a:ext cx="1778370" cy="816010"/>
          </a:xfrm>
          <a:prstGeom prst="roundRect">
            <a:avLst>
              <a:gd name="adj" fmla="val 8695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14397" y="3896989"/>
            <a:ext cx="1600977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转人工率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7114397" y="4127601"/>
            <a:ext cx="1600977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××</a:t>
            </a:r>
            <a:r>
              <a:rPr sz="10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 %</a:t>
            </a:r>
            <a:endParaRPr sz="10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8937117" y="3843771"/>
            <a:ext cx="1778370" cy="816010"/>
          </a:xfrm>
          <a:prstGeom prst="roundRect">
            <a:avLst>
              <a:gd name="adj" fmla="val 8695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70162" y="3896989"/>
            <a:ext cx="1600977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游客满意度</a:t>
            </a:r>
            <a:endParaRPr sz="9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9070162" y="4127601"/>
            <a:ext cx="1600977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××</a:t>
            </a:r>
            <a:r>
              <a:rPr sz="10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 分</a:t>
            </a:r>
            <a:endParaRPr sz="10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7114396" y="5307269"/>
            <a:ext cx="230611" cy="310438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486923" y="5174223"/>
            <a:ext cx="230611" cy="443484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7859449" y="5245181"/>
            <a:ext cx="230611" cy="372526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8231976" y="5067787"/>
            <a:ext cx="230611" cy="549920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8604503" y="5129875"/>
            <a:ext cx="230611" cy="487832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8977029" y="4979090"/>
            <a:ext cx="230611" cy="638616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464862" y="4996830"/>
            <a:ext cx="1250624" cy="6208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趋势与建议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lnSpc>
                <a:spcPct val="11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由系统自动生成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借平台，不交资产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六样东西必须留在自己手里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这是将来自建平台能低成本切过去的前提，从第一天就要做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40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5012283" y="2859237"/>
            <a:ext cx="1862632" cy="18626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790541" y="2637495"/>
            <a:ext cx="2306116" cy="2306116"/>
          </a:xfrm>
          <a:prstGeom prst="ellipse">
            <a:avLst/>
          </a:prstGeom>
          <a:noFill/>
          <a:ln w="1587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lock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77509" y="3125327"/>
            <a:ext cx="532180" cy="53218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56632" y="3701856"/>
            <a:ext cx="1773936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留在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自己手里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994318" y="2034357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53971" y="219401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book-open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842" y="2304882"/>
            <a:ext cx="221742" cy="221742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703892" y="2176272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景区知识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171711" y="2672974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现在　</a:t>
            </a:r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按自有结构存一份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171711" y="2903585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以后　</a:t>
            </a: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直接导入自建平台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54" name="Connector 53"/>
          <p:cNvCxnSpPr/>
          <p:nvPr/>
        </p:nvCxnSpPr>
        <p:spPr>
          <a:xfrm>
            <a:off x="4497842" y="2619756"/>
            <a:ext cx="292699" cy="1170797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994318" y="3364809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53971" y="3524463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plug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842" y="3635334"/>
            <a:ext cx="221742" cy="22174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703892" y="3506724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业务接口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1171711" y="4003426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现在　</a:t>
            </a:r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售票、订单、核销、会员接口自己封装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1171711" y="4234037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以后　</a:t>
            </a: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平台直接复用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61" name="Connector 60"/>
          <p:cNvCxnSpPr/>
          <p:nvPr/>
        </p:nvCxnSpPr>
        <p:spPr>
          <a:xfrm flipV="1">
            <a:off x="4497842" y="3790553"/>
            <a:ext cx="292699" cy="159654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994318" y="4695261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53971" y="4854915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file-tex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4842" y="4965786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703892" y="4837176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模板设计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1171711" y="5333878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现在　</a:t>
            </a:r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流程、提示词、配置写成文档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1171711" y="5564489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以后　</a:t>
            </a: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迁入模板库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68" name="Connector 67"/>
          <p:cNvCxnSpPr/>
          <p:nvPr/>
        </p:nvCxnSpPr>
        <p:spPr>
          <a:xfrm flipV="1">
            <a:off x="4497842" y="3790553"/>
            <a:ext cx="292699" cy="1490106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7389357" y="2034357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549012" y="219401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messages-squar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9883" y="2304882"/>
            <a:ext cx="221742" cy="22174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098932" y="2176272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交互数据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7566751" y="2672974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现在　</a:t>
            </a:r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对话、评价、转人工回流数据平台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7566751" y="2903585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以后　</a:t>
            </a: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做测试题、优化效果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75" name="Connector 74"/>
          <p:cNvCxnSpPr/>
          <p:nvPr/>
        </p:nvCxnSpPr>
        <p:spPr>
          <a:xfrm flipH="1">
            <a:off x="7096658" y="2619756"/>
            <a:ext cx="292699" cy="1170797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7389357" y="3364809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549012" y="3524463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coins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59883" y="3635334"/>
            <a:ext cx="221742" cy="221742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8098932" y="3506724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成本数据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7566751" y="4003426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现在　</a:t>
            </a:r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按景区、按智能体记录每月平台费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7566751" y="4234037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以后　</a:t>
            </a: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判断何时自建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82" name="Connector 81"/>
          <p:cNvCxnSpPr/>
          <p:nvPr/>
        </p:nvCxnSpPr>
        <p:spPr>
          <a:xfrm flipH="1" flipV="1">
            <a:off x="7096658" y="3790553"/>
            <a:ext cx="292699" cy="159654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ounded Rectangle 82"/>
          <p:cNvSpPr/>
          <p:nvPr/>
        </p:nvSpPr>
        <p:spPr>
          <a:xfrm>
            <a:off x="7389357" y="4695261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549012" y="4854915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list-checks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59883" y="4965786"/>
            <a:ext cx="221742" cy="221742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8098932" y="4837176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需求清单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7566751" y="5333878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现在　</a:t>
            </a:r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记录客户要、平台做不了的功能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566751" y="5564489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以后　</a:t>
            </a: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自建平台的需求来源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cxnSp>
        <p:nvCxnSpPr>
          <p:cNvPr id="89" name="Connector 88"/>
          <p:cNvCxnSpPr/>
          <p:nvPr/>
        </p:nvCxnSpPr>
        <p:spPr>
          <a:xfrm flipH="1" flipV="1">
            <a:off x="7096658" y="3790553"/>
            <a:ext cx="292699" cy="1490106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为什么最终要自建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借平台 vs 自建平台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起步时借平台最划算；规模越大，借平台的问题越突出，自建的好处越明显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41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2635209" y="1963399"/>
            <a:ext cx="2572207" cy="425744"/>
          </a:xfrm>
          <a:prstGeom prst="roundRect">
            <a:avLst>
              <a:gd name="adj" fmla="val 16666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借平台</a:t>
            </a:r>
            <a:endParaRPr sz="12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5296112" y="1963399"/>
            <a:ext cx="2572207" cy="425744"/>
          </a:xfrm>
          <a:prstGeom prst="roundRect">
            <a:avLst>
              <a:gd name="adj" fmla="val 1666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自建平台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7957017" y="1963399"/>
            <a:ext cx="2891515" cy="425744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对公司的影响</a:t>
            </a:r>
            <a:endParaRPr sz="12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994318" y="2460101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coins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7363" y="2610886"/>
            <a:ext cx="248351" cy="248351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482150" y="2460101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成本</a:t>
            </a:r>
            <a:endParaRPr sz="12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2768254" y="2460101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按调用、账号计费，随景区数增长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5429158" y="2460101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只付模型调用和自身运维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8090061" y="2460101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单景区成本下降，规模越大利润越高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994318" y="3045500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timer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363" y="3196285"/>
            <a:ext cx="248351" cy="248351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82150" y="3045500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交付周期</a:t>
            </a:r>
            <a:endParaRPr sz="12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768254" y="3045500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每个景区在外部平台单独配置、调试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5429158" y="3045500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集团建一次，景区开通即用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8090061" y="3045500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省交付人天，上线更快，承接更多景区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994318" y="3630899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puzzle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363" y="3781684"/>
            <a:ext cx="248351" cy="248351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482150" y="3630899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定制能力</a:t>
            </a:r>
            <a:endParaRPr sz="12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2768254" y="3630899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个性需求受平台限制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5429158" y="3630899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按需自主扩展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8090061" y="3630899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能接大客户和个性项目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994318" y="4216298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database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363" y="4367082"/>
            <a:ext cx="248351" cy="248351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482150" y="4216298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数据资产</a:t>
            </a:r>
            <a:endParaRPr sz="12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2768254" y="4216298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工作流、知识、对话数据在外部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5429158" y="4216298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全部在自己手里，回流数据平台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8090061" y="4216298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越用越准，数据成为资产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994318" y="4801697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shield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363" y="4952481"/>
            <a:ext cx="248351" cy="248351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482150" y="4801697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风险</a:t>
            </a:r>
            <a:endParaRPr sz="12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2768254" y="4801697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平台调价、改规则直接影响报价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5429158" y="4801697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自主可控，模型可替换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8090061" y="4801697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经营稳定，报价有底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994318" y="5387096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crown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7363" y="5537880"/>
            <a:ext cx="248351" cy="248351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482150" y="5387096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竞争力</a:t>
            </a:r>
            <a:endParaRPr sz="12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2768254" y="5387096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同平台谁都能做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5429158" y="5387096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业务系统 + 数据 + 平台一体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8090061" y="5387096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形成壁垒，提高续约和客单价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建自己的平台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什么时候启动？看成本交叉点和五个信号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满足任意两条就启动自建；不提前，也不拖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42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76704"/>
            <a:ext cx="4789627" cy="3947007"/>
          </a:xfrm>
          <a:prstGeom prst="roundRect">
            <a:avLst>
              <a:gd name="adj" fmla="val 314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16060" y="2083140"/>
            <a:ext cx="3547872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总成本随景区数量变化（示意）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graphicFrame>
        <p:nvGraphicFramePr>
          <p:cNvPr id="46" name="Chart 45"/>
          <p:cNvGraphicFramePr>
            <a:graphicFrameLocks noGrp="1"/>
          </p:cNvGraphicFramePr>
          <p:nvPr/>
        </p:nvGraphicFramePr>
        <p:xfrm>
          <a:off x="1127363" y="2420188"/>
          <a:ext cx="4523536" cy="30600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47" name="TextBox 46"/>
          <p:cNvSpPr txBox="1"/>
          <p:nvPr/>
        </p:nvSpPr>
        <p:spPr>
          <a:xfrm>
            <a:off x="1260408" y="5524576"/>
            <a:ext cx="425744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景区数量 →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2926873" y="3262807"/>
            <a:ext cx="1685239" cy="319308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交叉点 = 该自建了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6050036" y="1976704"/>
            <a:ext cx="4842845" cy="585398"/>
          </a:xfrm>
          <a:prstGeom prst="roundRect">
            <a:avLst>
              <a:gd name="adj" fmla="val 1515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183081" y="2065400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coins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5082" y="2167402"/>
            <a:ext cx="204002" cy="20400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6715262" y="1976704"/>
            <a:ext cx="150784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成本交叉</a:t>
            </a:r>
            <a:endParaRPr sz="12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8178759" y="1976704"/>
            <a:ext cx="262542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按记录的成本测算，自建总成本已更低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6050036" y="2650799"/>
            <a:ext cx="4842845" cy="585398"/>
          </a:xfrm>
          <a:prstGeom prst="roundRect">
            <a:avLst>
              <a:gd name="adj" fmla="val 1515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183081" y="2739496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trending-up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5082" y="2841498"/>
            <a:ext cx="204002" cy="20400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6715262" y="2650799"/>
            <a:ext cx="150784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平台费占比上升</a:t>
            </a:r>
            <a:endParaRPr sz="12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8178759" y="2650799"/>
            <a:ext cx="262542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平台费占智能体收入的比例持续上升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6050036" y="3324895"/>
            <a:ext cx="4842845" cy="585398"/>
          </a:xfrm>
          <a:prstGeom prst="roundRect">
            <a:avLst>
              <a:gd name="adj" fmla="val 1515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183081" y="3413592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circle-che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5082" y="3515593"/>
            <a:ext cx="204002" cy="204002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6715262" y="3324895"/>
            <a:ext cx="150784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场景稳定</a:t>
            </a:r>
            <a:endParaRPr sz="12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178759" y="3324895"/>
            <a:ext cx="262542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主力模板已稳定，不再频繁大改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6050036" y="3998991"/>
            <a:ext cx="4842845" cy="585398"/>
          </a:xfrm>
          <a:prstGeom prst="roundRect">
            <a:avLst>
              <a:gd name="adj" fmla="val 1515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183081" y="4087688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circle-x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5082" y="4189689"/>
            <a:ext cx="204002" cy="20400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6715262" y="3998991"/>
            <a:ext cx="150784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平台限制丢单</a:t>
            </a:r>
            <a:endParaRPr sz="12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8178759" y="3998991"/>
            <a:ext cx="262542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个性需求、大客户项目因平台限制接不了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6050036" y="4673086"/>
            <a:ext cx="4842845" cy="585398"/>
          </a:xfrm>
          <a:prstGeom prst="roundRect">
            <a:avLst>
              <a:gd name="adj" fmla="val 1515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183081" y="4761783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shield-che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5082" y="4863785"/>
            <a:ext cx="204002" cy="20400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6715262" y="4673086"/>
            <a:ext cx="150784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合规要求</a:t>
            </a:r>
            <a:endParaRPr sz="12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8178759" y="4673086"/>
            <a:ext cx="262542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景区或管理方要求数据不出域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6050036" y="5364921"/>
            <a:ext cx="4842845" cy="549920"/>
          </a:xfrm>
          <a:prstGeom prst="roundRect">
            <a:avLst>
              <a:gd name="adj" fmla="val 16129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满足任意两条</a:t>
            </a:r>
            <a:r>
              <a:rPr sz="125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，就启动自建</a:t>
            </a:r>
            <a:endParaRPr sz="125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建什么、不建什么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钱只花在“壁垒”上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能买的买、能借的借，只自建承载我们业务和数据的部分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43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786006"/>
            <a:ext cx="9898562" cy="674095"/>
          </a:xfrm>
          <a:prstGeom prst="roundRect">
            <a:avLst>
              <a:gd name="adj" fmla="val 131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27363" y="190131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rain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8234" y="2012182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1786006"/>
            <a:ext cx="3015691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大模型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4763932" y="1963399"/>
            <a:ext cx="1197406" cy="319308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采购 / 合作</a:t>
            </a:r>
            <a:endParaRPr sz="110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6138732" y="1786006"/>
            <a:ext cx="2483510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不自研 · 调用模型服务，多家可替换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8622243" y="1786006"/>
            <a:ext cx="2137592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投入大，不是我们的优势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994318" y="2548798"/>
            <a:ext cx="9898562" cy="674095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27363" y="2664104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mic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234" y="2774975"/>
            <a:ext cx="221742" cy="22174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703892" y="2548798"/>
            <a:ext cx="3015691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语音 · 图像 · 数字人 · 手语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4763932" y="2726192"/>
            <a:ext cx="1197406" cy="319308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采购 / 合作</a:t>
            </a:r>
            <a:endParaRPr sz="110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6138732" y="2548798"/>
            <a:ext cx="2483510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采购或合作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8622243" y="2548798"/>
            <a:ext cx="2137592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专业能力，自建不划算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994318" y="3311591"/>
            <a:ext cx="9898562" cy="674095"/>
          </a:xfrm>
          <a:prstGeom prst="roundRect">
            <a:avLst>
              <a:gd name="adj" fmla="val 131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127363" y="3426896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workflow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234" y="3537767"/>
            <a:ext cx="221742" cy="221742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703892" y="3311591"/>
            <a:ext cx="3015691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编排引擎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4763932" y="3488984"/>
            <a:ext cx="1197406" cy="319308"/>
          </a:xfrm>
          <a:prstGeom prst="roundRect">
            <a:avLst>
              <a:gd name="adj" fmla="val 50000"/>
            </a:avLst>
          </a:prstGeom>
          <a:solidFill>
            <a:srgbClr val="E3EEF7"/>
          </a:solidFill>
          <a:ln w="12700">
            <a:solidFill>
              <a:srgbClr val="A9C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3E6F96"/>
                </a:solidFill>
                <a:latin typeface="Microsoft YaHei" panose="020B0503020204020204" charset="-122"/>
                <a:ea typeface="Microsoft YaHei" panose="020B0503020204020204" charset="-122"/>
              </a:rPr>
              <a:t>开源改造</a:t>
            </a:r>
            <a:endParaRPr sz="1100" b="1">
              <a:solidFill>
                <a:srgbClr val="3E6F96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6138732" y="3311591"/>
            <a:ext cx="2483510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开源框架二次开发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8622243" y="3311591"/>
            <a:ext cx="2137592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不从零写，缩短周期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994318" y="4074383"/>
            <a:ext cx="9898562" cy="674095"/>
          </a:xfrm>
          <a:prstGeom prst="roundRect">
            <a:avLst>
              <a:gd name="adj" fmla="val 1315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27363" y="4189689"/>
            <a:ext cx="443484" cy="443484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building2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3799" y="4296125"/>
            <a:ext cx="230611" cy="230611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703892" y="4074383"/>
            <a:ext cx="3015691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管理台 · 能力与知识 · 业务工具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4763932" y="4251777"/>
            <a:ext cx="1197406" cy="3193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自建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6138732" y="4074383"/>
            <a:ext cx="2483510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自建</a:t>
            </a:r>
            <a:endParaRPr sz="11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8622243" y="4074383"/>
            <a:ext cx="2137592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承载我们的业务、数据和交付方式，是壁垒</a:t>
            </a:r>
            <a:endParaRPr sz="105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994318" y="4837175"/>
            <a:ext cx="9898562" cy="674095"/>
          </a:xfrm>
          <a:prstGeom prst="roundRect">
            <a:avLst>
              <a:gd name="adj" fmla="val 131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27363" y="495248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databas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8234" y="5063352"/>
            <a:ext cx="221742" cy="221742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03892" y="4837175"/>
            <a:ext cx="3015691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数据服务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4763932" y="5014569"/>
            <a:ext cx="1197406" cy="319308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复用</a:t>
            </a:r>
            <a:endParaRPr sz="110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6138732" y="4837175"/>
            <a:ext cx="2483510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复用第一部分的数据平台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8622243" y="4837175"/>
            <a:ext cx="2137592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已经有了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994318" y="5670925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target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759622"/>
            <a:ext cx="266090" cy="26609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570847" y="5670925"/>
            <a:ext cx="914464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原则　</a:t>
            </a:r>
            <a:r>
              <a:rPr sz="12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不碰重投入、非优势的部分；把钱和人放在“业务 + 数据 + 交付”上</a:t>
            </a:r>
            <a:endParaRPr sz="12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自建平台长什么样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数字大脑做管理台，底下接数据平台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颜色代表“怎么来”：自建 / 开源改造 / 采购合作 / 复用已有；所有产品线的智能体都在这上面统一管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44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54530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渠道入口</a:t>
            </a:r>
            <a:endParaRPr sz="11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2386858" y="1954530"/>
            <a:ext cx="1358539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畅游小程序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3816355" y="1954530"/>
            <a:ext cx="1358539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票付通 APP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5245851" y="1954530"/>
            <a:ext cx="1358539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景数通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6675348" y="1954530"/>
            <a:ext cx="1358539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公众号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8104845" y="1954530"/>
            <a:ext cx="1358539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智慧终端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9534342" y="1954530"/>
            <a:ext cx="1358539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开放 API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994318" y="2415753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智能体应用</a:t>
            </a:r>
            <a:endParaRPr sz="11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2386858" y="2415753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游客服务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4102253" y="2415753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景区管理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5817650" y="2415753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票务财务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7533045" y="2415753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安全调度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9248442" y="2415753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精准营销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994318" y="2876977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管理台 · 搭建</a:t>
            </a:r>
            <a:endParaRPr sz="11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2386858" y="2876977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模板库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4102253" y="2876977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可视化编排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5817650" y="2876977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配置化生成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7533045" y="2876977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多智能体协同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9248442" y="2876977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测试与发布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994318" y="3338199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管理台 · 运营</a:t>
            </a:r>
            <a:endParaRPr sz="11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2386858" y="3338199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多租户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4102253" y="3338199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权限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5817650" y="3338199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运行监控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7533045" y="3338199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计量到景区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9248442" y="3338199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效果评估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994318" y="3799422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能力层</a:t>
            </a:r>
            <a:endParaRPr sz="11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2386858" y="3799422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业务工具中心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4102253" y="3799422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景区知识库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5817650" y="3799422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游客记忆与画像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7533045" y="3799422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测试用例库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9248442" y="3799422"/>
            <a:ext cx="1644438" cy="390265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数据服务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994318" y="4260646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引擎层</a:t>
            </a:r>
            <a:endParaRPr sz="11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2386858" y="4260646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E3EEF7"/>
          </a:solidFill>
          <a:ln w="12700">
            <a:solidFill>
              <a:srgbClr val="A9C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3E6F96"/>
                </a:solidFill>
                <a:latin typeface="Microsoft YaHei" panose="020B0503020204020204" charset="-122"/>
                <a:ea typeface="Microsoft YaHei" panose="020B0503020204020204" charset="-122"/>
              </a:rPr>
              <a:t>编排引擎</a:t>
            </a:r>
            <a:endParaRPr sz="1000" b="0">
              <a:solidFill>
                <a:srgbClr val="3E6F96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4531103" y="4260646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E3EEF7"/>
          </a:solidFill>
          <a:ln w="12700">
            <a:solidFill>
              <a:srgbClr val="A9C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3E6F96"/>
                </a:solidFill>
                <a:latin typeface="Microsoft YaHei" panose="020B0503020204020204" charset="-122"/>
                <a:ea typeface="Microsoft YaHei" panose="020B0503020204020204" charset="-122"/>
              </a:rPr>
              <a:t>检索引擎</a:t>
            </a:r>
            <a:endParaRPr sz="1000" b="0">
              <a:solidFill>
                <a:srgbClr val="3E6F96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6675348" y="4260646"/>
            <a:ext cx="2073287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模型网关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8819593" y="4260646"/>
            <a:ext cx="2073287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内容安全</a:t>
            </a:r>
            <a:endParaRPr sz="10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994318" y="4721869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外部能力</a:t>
            </a:r>
            <a:endParaRPr sz="11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2386858" y="4721869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大模型 · 可替换</a:t>
            </a:r>
            <a:endParaRPr sz="1000" b="0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4531103" y="4721869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语音 · 图像 · 数字人</a:t>
            </a:r>
            <a:endParaRPr sz="1000" b="0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6675348" y="4721869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手语</a:t>
            </a:r>
            <a:endParaRPr sz="1000" b="0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8819593" y="4721869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小Q</a:t>
            </a:r>
            <a:endParaRPr sz="1000" b="0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994318" y="5183093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数据底座</a:t>
            </a:r>
            <a:endParaRPr sz="11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6" name="Rounded Rectangle 85"/>
          <p:cNvSpPr/>
          <p:nvPr/>
        </p:nvSpPr>
        <p:spPr>
          <a:xfrm>
            <a:off x="2386858" y="5183093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认证指标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7" name="Rounded Rectangle 86"/>
          <p:cNvSpPr/>
          <p:nvPr/>
        </p:nvSpPr>
        <p:spPr>
          <a:xfrm>
            <a:off x="4531103" y="5183093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统一标签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6675348" y="5183093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湖仓与实时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8819593" y="5183093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交互数据回流</a:t>
            </a:r>
            <a:endParaRPr sz="10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0" name="Rounded Rectangle 89"/>
          <p:cNvSpPr/>
          <p:nvPr/>
        </p:nvSpPr>
        <p:spPr>
          <a:xfrm>
            <a:off x="2315900" y="2841498"/>
            <a:ext cx="8647938" cy="922446"/>
          </a:xfrm>
          <a:prstGeom prst="roundRect">
            <a:avLst>
              <a:gd name="adj" fmla="val 9615"/>
            </a:avLst>
          </a:prstGeom>
          <a:noFill/>
          <a:ln w="19050">
            <a:solidFill>
              <a:srgbClr val="E39A5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994318" y="5697534"/>
            <a:ext cx="565688" cy="24835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自建</a:t>
            </a:r>
            <a:endParaRPr sz="9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1648703" y="5697534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3EEF7"/>
          </a:solidFill>
          <a:ln w="12700">
            <a:solidFill>
              <a:srgbClr val="A9C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3E6F96"/>
                </a:solidFill>
                <a:latin typeface="Microsoft YaHei" panose="020B0503020204020204" charset="-122"/>
                <a:ea typeface="Microsoft YaHei" panose="020B0503020204020204" charset="-122"/>
              </a:rPr>
              <a:t>开源改造</a:t>
            </a:r>
            <a:endParaRPr sz="950" b="0">
              <a:solidFill>
                <a:srgbClr val="3E6F96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2549469" y="5697534"/>
            <a:ext cx="954968" cy="248351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采购 / 合作</a:t>
            </a:r>
            <a:endParaRPr sz="950" b="0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4" name="Rounded Rectangle 93"/>
          <p:cNvSpPr/>
          <p:nvPr/>
        </p:nvSpPr>
        <p:spPr>
          <a:xfrm>
            <a:off x="3593134" y="5697534"/>
            <a:ext cx="565688" cy="248351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复用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5" name="Rounded Rectangle 94"/>
          <p:cNvSpPr/>
          <p:nvPr/>
        </p:nvSpPr>
        <p:spPr>
          <a:xfrm>
            <a:off x="4247520" y="5697534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已有入口</a:t>
            </a:r>
            <a:endParaRPr sz="95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5236982" y="5697534"/>
            <a:ext cx="266090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橙色虚线框 = 数字大脑</a:t>
            </a:r>
            <a:endParaRPr sz="9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怎么切过去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五步走，双轨运行、随时可退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不搞一刀切，用同一套测试题对比，达标才切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45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grpSp>
        <p:nvGrpSpPr>
          <p:cNvPr id="21000" name="素材 22"/>
          <p:cNvGrpSpPr/>
          <p:nvPr/>
        </p:nvGrpSpPr>
        <p:grpSpPr>
          <a:xfrm>
            <a:off x="1109624" y="2326969"/>
            <a:ext cx="8248802" cy="2551831"/>
            <a:chOff x="897064" y="2795992"/>
            <a:chExt cx="8850635" cy="2738013"/>
          </a:xfrm>
        </p:grpSpPr>
        <p:sp>
          <p:nvSpPr>
            <p:cNvPr id="21001" name="Line 6"/>
            <p:cNvSpPr>
              <a:spLocks noChangeShapeType="1"/>
            </p:cNvSpPr>
            <p:nvPr/>
          </p:nvSpPr>
          <p:spPr bwMode="auto">
            <a:xfrm rot="18900000">
              <a:off x="7753569" y="3984611"/>
              <a:ext cx="204796" cy="208588"/>
            </a:xfrm>
            <a:prstGeom prst="line">
              <a:avLst/>
            </a:prstGeom>
            <a:noFill/>
            <a:ln w="34925" cap="rnd">
              <a:solidFill>
                <a:srgbClr val="2CAB93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2" name="Line 7"/>
            <p:cNvSpPr>
              <a:spLocks noChangeShapeType="1"/>
            </p:cNvSpPr>
            <p:nvPr/>
          </p:nvSpPr>
          <p:spPr bwMode="auto">
            <a:xfrm rot="18900000">
              <a:off x="6053708" y="3980542"/>
              <a:ext cx="216173" cy="218070"/>
            </a:xfrm>
            <a:prstGeom prst="line">
              <a:avLst/>
            </a:prstGeom>
            <a:noFill/>
            <a:ln w="34925" cap="rnd">
              <a:solidFill>
                <a:srgbClr val="5BBFAE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3" name="Line 8"/>
            <p:cNvSpPr>
              <a:spLocks noChangeShapeType="1"/>
            </p:cNvSpPr>
            <p:nvPr/>
          </p:nvSpPr>
          <p:spPr bwMode="auto">
            <a:xfrm rot="18900000">
              <a:off x="4371931" y="3984611"/>
              <a:ext cx="204796" cy="208588"/>
            </a:xfrm>
            <a:prstGeom prst="line">
              <a:avLst/>
            </a:prstGeom>
            <a:noFill/>
            <a:ln w="34925" cap="rnd">
              <a:solidFill>
                <a:srgbClr val="21816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4" name="Line 9"/>
            <p:cNvSpPr>
              <a:spLocks noChangeShapeType="1"/>
            </p:cNvSpPr>
            <p:nvPr/>
          </p:nvSpPr>
          <p:spPr bwMode="auto">
            <a:xfrm rot="18900000">
              <a:off x="2640053" y="3982044"/>
              <a:ext cx="210485" cy="212381"/>
            </a:xfrm>
            <a:prstGeom prst="line">
              <a:avLst/>
            </a:prstGeom>
            <a:noFill/>
            <a:ln w="34925" cap="rnd">
              <a:solidFill>
                <a:srgbClr val="E39A57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5" name="Freeform 10"/>
            <p:cNvSpPr/>
            <p:nvPr/>
          </p:nvSpPr>
          <p:spPr bwMode="auto">
            <a:xfrm rot="18900000">
              <a:off x="897064" y="2795992"/>
              <a:ext cx="2027099" cy="1746452"/>
            </a:xfrm>
            <a:custGeom>
              <a:avLst/>
              <a:gdLst>
                <a:gd name="T0" fmla="*/ 108 w 780"/>
                <a:gd name="T1" fmla="*/ 672 h 672"/>
                <a:gd name="T2" fmla="*/ 108 w 780"/>
                <a:gd name="T3" fmla="*/ 282 h 672"/>
                <a:gd name="T4" fmla="*/ 498 w 780"/>
                <a:gd name="T5" fmla="*/ 282 h 672"/>
                <a:gd name="T6" fmla="*/ 780 w 780"/>
                <a:gd name="T7" fmla="*/ 0 h 6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80" h="672">
                  <a:moveTo>
                    <a:pt x="108" y="672"/>
                  </a:moveTo>
                  <a:cubicBezTo>
                    <a:pt x="0" y="564"/>
                    <a:pt x="0" y="389"/>
                    <a:pt x="108" y="282"/>
                  </a:cubicBezTo>
                  <a:cubicBezTo>
                    <a:pt x="216" y="174"/>
                    <a:pt x="391" y="174"/>
                    <a:pt x="498" y="282"/>
                  </a:cubicBezTo>
                  <a:cubicBezTo>
                    <a:pt x="780" y="0"/>
                    <a:pt x="780" y="0"/>
                    <a:pt x="780" y="0"/>
                  </a:cubicBezTo>
                </a:path>
              </a:pathLst>
            </a:custGeom>
            <a:noFill/>
            <a:ln w="34925" cap="rnd">
              <a:solidFill>
                <a:srgbClr val="E39A57"/>
              </a:solidFill>
              <a:prstDash val="solid"/>
              <a:round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grpSp>
          <p:nvGrpSpPr>
            <p:cNvPr id="21006" name="Group 54"/>
            <p:cNvGrpSpPr/>
            <p:nvPr/>
          </p:nvGrpSpPr>
          <p:grpSpPr>
            <a:xfrm>
              <a:off x="1495950" y="3573124"/>
              <a:ext cx="1027771" cy="1031563"/>
              <a:chOff x="2239027" y="3573124"/>
              <a:chExt cx="1027771" cy="1031563"/>
            </a:xfrm>
          </p:grpSpPr>
          <p:sp>
            <p:nvSpPr>
              <p:cNvPr id="21007" name="Freeform 11"/>
              <p:cNvSpPr/>
              <p:nvPr/>
            </p:nvSpPr>
            <p:spPr bwMode="auto">
              <a:xfrm rot="18900000">
                <a:off x="2239027" y="3573124"/>
                <a:ext cx="1027771" cy="1031563"/>
              </a:xfrm>
              <a:custGeom>
                <a:avLst/>
                <a:gdLst>
                  <a:gd name="T0" fmla="*/ 396 w 396"/>
                  <a:gd name="T1" fmla="*/ 198 h 396"/>
                  <a:gd name="T2" fmla="*/ 198 w 396"/>
                  <a:gd name="T3" fmla="*/ 396 h 396"/>
                  <a:gd name="T4" fmla="*/ 0 w 396"/>
                  <a:gd name="T5" fmla="*/ 198 h 396"/>
                  <a:gd name="T6" fmla="*/ 198 w 396"/>
                  <a:gd name="T7" fmla="*/ 0 h 396"/>
                  <a:gd name="T8" fmla="*/ 396 w 396"/>
                  <a:gd name="T9" fmla="*/ 198 h 3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6" h="396">
                    <a:moveTo>
                      <a:pt x="396" y="198"/>
                    </a:moveTo>
                    <a:cubicBezTo>
                      <a:pt x="396" y="307"/>
                      <a:pt x="307" y="396"/>
                      <a:pt x="198" y="396"/>
                    </a:cubicBezTo>
                    <a:cubicBezTo>
                      <a:pt x="89" y="396"/>
                      <a:pt x="0" y="307"/>
                      <a:pt x="0" y="198"/>
                    </a:cubicBezTo>
                    <a:cubicBezTo>
                      <a:pt x="0" y="88"/>
                      <a:pt x="89" y="0"/>
                      <a:pt x="198" y="0"/>
                    </a:cubicBezTo>
                    <a:cubicBezTo>
                      <a:pt x="308" y="0"/>
                      <a:pt x="396" y="89"/>
                      <a:pt x="396" y="198"/>
                    </a:cubicBezTo>
                    <a:close/>
                  </a:path>
                </a:pathLst>
              </a:custGeom>
              <a:solidFill>
                <a:srgbClr val="E39A57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08" name="Oval 12"/>
              <p:cNvSpPr>
                <a:spLocks noChangeArrowheads="1"/>
              </p:cNvSpPr>
              <p:nvPr/>
            </p:nvSpPr>
            <p:spPr bwMode="auto">
              <a:xfrm rot="18900000">
                <a:off x="2338580" y="3673232"/>
                <a:ext cx="828665" cy="828664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</p:grpSp>
        <p:grpSp>
          <p:nvGrpSpPr>
            <p:cNvPr id="21009" name="Group 55"/>
            <p:cNvGrpSpPr/>
            <p:nvPr/>
          </p:nvGrpSpPr>
          <p:grpSpPr>
            <a:xfrm>
              <a:off x="3202189" y="3574743"/>
              <a:ext cx="1027771" cy="1029667"/>
              <a:chOff x="3945266" y="3574743"/>
              <a:chExt cx="1027771" cy="1029667"/>
            </a:xfrm>
          </p:grpSpPr>
          <p:sp>
            <p:nvSpPr>
              <p:cNvPr id="21010" name="Oval 18"/>
              <p:cNvSpPr>
                <a:spLocks noChangeArrowheads="1"/>
              </p:cNvSpPr>
              <p:nvPr/>
            </p:nvSpPr>
            <p:spPr bwMode="auto">
              <a:xfrm rot="18900000">
                <a:off x="3945266" y="3574743"/>
                <a:ext cx="1027771" cy="1029667"/>
              </a:xfrm>
              <a:prstGeom prst="ellipse">
                <a:avLst/>
              </a:prstGeom>
              <a:solidFill>
                <a:srgbClr val="21816F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  <p:sp>
            <p:nvSpPr>
              <p:cNvPr id="21011" name="Freeform 21"/>
              <p:cNvSpPr/>
              <p:nvPr/>
            </p:nvSpPr>
            <p:spPr bwMode="auto">
              <a:xfrm rot="18900000">
                <a:off x="4042808" y="3674574"/>
                <a:ext cx="828665" cy="828664"/>
              </a:xfrm>
              <a:custGeom>
                <a:avLst/>
                <a:gdLst>
                  <a:gd name="T0" fmla="*/ 319 w 319"/>
                  <a:gd name="T1" fmla="*/ 160 h 319"/>
                  <a:gd name="T2" fmla="*/ 160 w 319"/>
                  <a:gd name="T3" fmla="*/ 319 h 319"/>
                  <a:gd name="T4" fmla="*/ 0 w 319"/>
                  <a:gd name="T5" fmla="*/ 159 h 319"/>
                  <a:gd name="T6" fmla="*/ 160 w 319"/>
                  <a:gd name="T7" fmla="*/ 0 h 319"/>
                  <a:gd name="T8" fmla="*/ 319 w 319"/>
                  <a:gd name="T9" fmla="*/ 160 h 3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9" h="319">
                    <a:moveTo>
                      <a:pt x="319" y="160"/>
                    </a:moveTo>
                    <a:cubicBezTo>
                      <a:pt x="319" y="248"/>
                      <a:pt x="248" y="319"/>
                      <a:pt x="160" y="319"/>
                    </a:cubicBezTo>
                    <a:cubicBezTo>
                      <a:pt x="72" y="319"/>
                      <a:pt x="0" y="248"/>
                      <a:pt x="0" y="159"/>
                    </a:cubicBezTo>
                    <a:cubicBezTo>
                      <a:pt x="0" y="71"/>
                      <a:pt x="72" y="0"/>
                      <a:pt x="160" y="0"/>
                    </a:cubicBezTo>
                    <a:cubicBezTo>
                      <a:pt x="248" y="0"/>
                      <a:pt x="319" y="71"/>
                      <a:pt x="319" y="16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</p:grpSp>
        <p:grpSp>
          <p:nvGrpSpPr>
            <p:cNvPr id="21012" name="Group 56"/>
            <p:cNvGrpSpPr/>
            <p:nvPr/>
          </p:nvGrpSpPr>
          <p:grpSpPr>
            <a:xfrm>
              <a:off x="4903458" y="3575413"/>
              <a:ext cx="1029668" cy="1029667"/>
              <a:chOff x="5646535" y="3575413"/>
              <a:chExt cx="1029668" cy="1029667"/>
            </a:xfrm>
          </p:grpSpPr>
          <p:sp>
            <p:nvSpPr>
              <p:cNvPr id="21013" name="Oval 14"/>
              <p:cNvSpPr>
                <a:spLocks noChangeArrowheads="1"/>
              </p:cNvSpPr>
              <p:nvPr/>
            </p:nvSpPr>
            <p:spPr bwMode="auto">
              <a:xfrm rot="18900000">
                <a:off x="5646535" y="3575413"/>
                <a:ext cx="1029668" cy="1029667"/>
              </a:xfrm>
              <a:prstGeom prst="ellipse">
                <a:avLst/>
              </a:prstGeom>
              <a:solidFill>
                <a:srgbClr val="5BBFAE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14" name="Freeform 22"/>
              <p:cNvSpPr/>
              <p:nvPr/>
            </p:nvSpPr>
            <p:spPr bwMode="auto">
              <a:xfrm rot="18900000">
                <a:off x="5749047" y="3674295"/>
                <a:ext cx="828665" cy="830560"/>
              </a:xfrm>
              <a:custGeom>
                <a:avLst/>
                <a:gdLst>
                  <a:gd name="T0" fmla="*/ 319 w 319"/>
                  <a:gd name="T1" fmla="*/ 159 h 319"/>
                  <a:gd name="T2" fmla="*/ 159 w 319"/>
                  <a:gd name="T3" fmla="*/ 319 h 319"/>
                  <a:gd name="T4" fmla="*/ 0 w 319"/>
                  <a:gd name="T5" fmla="*/ 159 h 319"/>
                  <a:gd name="T6" fmla="*/ 160 w 319"/>
                  <a:gd name="T7" fmla="*/ 0 h 319"/>
                  <a:gd name="T8" fmla="*/ 319 w 319"/>
                  <a:gd name="T9" fmla="*/ 159 h 3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9" h="319">
                    <a:moveTo>
                      <a:pt x="319" y="159"/>
                    </a:moveTo>
                    <a:cubicBezTo>
                      <a:pt x="319" y="247"/>
                      <a:pt x="248" y="319"/>
                      <a:pt x="159" y="319"/>
                    </a:cubicBezTo>
                    <a:cubicBezTo>
                      <a:pt x="71" y="319"/>
                      <a:pt x="0" y="247"/>
                      <a:pt x="0" y="159"/>
                    </a:cubicBezTo>
                    <a:cubicBezTo>
                      <a:pt x="0" y="71"/>
                      <a:pt x="71" y="0"/>
                      <a:pt x="160" y="0"/>
                    </a:cubicBezTo>
                    <a:cubicBezTo>
                      <a:pt x="248" y="0"/>
                      <a:pt x="319" y="71"/>
                      <a:pt x="319" y="159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</p:grpSp>
        <p:grpSp>
          <p:nvGrpSpPr>
            <p:cNvPr id="21015" name="Group 57"/>
            <p:cNvGrpSpPr/>
            <p:nvPr/>
          </p:nvGrpSpPr>
          <p:grpSpPr>
            <a:xfrm>
              <a:off x="6609026" y="3575413"/>
              <a:ext cx="1029668" cy="1029667"/>
              <a:chOff x="7352103" y="3575413"/>
              <a:chExt cx="1029668" cy="1029667"/>
            </a:xfrm>
          </p:grpSpPr>
          <p:sp>
            <p:nvSpPr>
              <p:cNvPr id="21016" name="Oval 20"/>
              <p:cNvSpPr>
                <a:spLocks noChangeArrowheads="1"/>
              </p:cNvSpPr>
              <p:nvPr/>
            </p:nvSpPr>
            <p:spPr bwMode="auto">
              <a:xfrm rot="18900000">
                <a:off x="7352103" y="3575413"/>
                <a:ext cx="1029668" cy="1029667"/>
              </a:xfrm>
              <a:prstGeom prst="ellipse">
                <a:avLst/>
              </a:prstGeom>
              <a:solidFill>
                <a:srgbClr val="2CAB93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17" name="Oval 23"/>
              <p:cNvSpPr>
                <a:spLocks noChangeArrowheads="1"/>
              </p:cNvSpPr>
              <p:nvPr/>
            </p:nvSpPr>
            <p:spPr bwMode="auto">
              <a:xfrm rot="18900000">
                <a:off x="7452604" y="3673232"/>
                <a:ext cx="828665" cy="828664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</p:grpSp>
        <p:grpSp>
          <p:nvGrpSpPr>
            <p:cNvPr id="21018" name="Group 58"/>
            <p:cNvGrpSpPr/>
            <p:nvPr/>
          </p:nvGrpSpPr>
          <p:grpSpPr>
            <a:xfrm>
              <a:off x="8313254" y="3576755"/>
              <a:ext cx="1029668" cy="1029667"/>
              <a:chOff x="9056331" y="3576755"/>
              <a:chExt cx="1029668" cy="1029667"/>
            </a:xfrm>
          </p:grpSpPr>
          <p:sp>
            <p:nvSpPr>
              <p:cNvPr id="21019" name="Oval 16"/>
              <p:cNvSpPr>
                <a:spLocks noChangeArrowheads="1"/>
              </p:cNvSpPr>
              <p:nvPr/>
            </p:nvSpPr>
            <p:spPr bwMode="auto">
              <a:xfrm rot="18900000">
                <a:off x="9056331" y="3576755"/>
                <a:ext cx="1029668" cy="1029667"/>
              </a:xfrm>
              <a:prstGeom prst="ellipse">
                <a:avLst/>
              </a:prstGeom>
              <a:solidFill>
                <a:srgbClr val="8FD3C6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  <p:sp>
            <p:nvSpPr>
              <p:cNvPr id="21020" name="Freeform 24"/>
              <p:cNvSpPr/>
              <p:nvPr/>
            </p:nvSpPr>
            <p:spPr bwMode="auto">
              <a:xfrm rot="18900000">
                <a:off x="9155885" y="3674967"/>
                <a:ext cx="830560" cy="830560"/>
              </a:xfrm>
              <a:custGeom>
                <a:avLst/>
                <a:gdLst>
                  <a:gd name="T0" fmla="*/ 319 w 319"/>
                  <a:gd name="T1" fmla="*/ 160 h 319"/>
                  <a:gd name="T2" fmla="*/ 160 w 319"/>
                  <a:gd name="T3" fmla="*/ 319 h 319"/>
                  <a:gd name="T4" fmla="*/ 0 w 319"/>
                  <a:gd name="T5" fmla="*/ 159 h 319"/>
                  <a:gd name="T6" fmla="*/ 160 w 319"/>
                  <a:gd name="T7" fmla="*/ 0 h 319"/>
                  <a:gd name="T8" fmla="*/ 319 w 319"/>
                  <a:gd name="T9" fmla="*/ 160 h 3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9" h="319">
                    <a:moveTo>
                      <a:pt x="319" y="160"/>
                    </a:moveTo>
                    <a:cubicBezTo>
                      <a:pt x="319" y="248"/>
                      <a:pt x="248" y="319"/>
                      <a:pt x="160" y="319"/>
                    </a:cubicBezTo>
                    <a:cubicBezTo>
                      <a:pt x="72" y="319"/>
                      <a:pt x="0" y="248"/>
                      <a:pt x="0" y="159"/>
                    </a:cubicBezTo>
                    <a:cubicBezTo>
                      <a:pt x="0" y="71"/>
                      <a:pt x="72" y="0"/>
                      <a:pt x="160" y="0"/>
                    </a:cubicBezTo>
                    <a:cubicBezTo>
                      <a:pt x="248" y="0"/>
                      <a:pt x="319" y="71"/>
                      <a:pt x="319" y="16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</p:grpSp>
        <p:sp>
          <p:nvSpPr>
            <p:cNvPr id="21021" name="Freeform 15"/>
            <p:cNvSpPr/>
            <p:nvPr/>
          </p:nvSpPr>
          <p:spPr bwMode="auto">
            <a:xfrm rot="2700000" flipV="1">
              <a:off x="2538944" y="3654815"/>
              <a:ext cx="2159837" cy="1879190"/>
            </a:xfrm>
            <a:custGeom>
              <a:avLst/>
              <a:gdLst>
                <a:gd name="T0" fmla="*/ 108 w 831"/>
                <a:gd name="T1" fmla="*/ 723 h 723"/>
                <a:gd name="T2" fmla="*/ 108 w 831"/>
                <a:gd name="T3" fmla="*/ 333 h 723"/>
                <a:gd name="T4" fmla="*/ 498 w 831"/>
                <a:gd name="T5" fmla="*/ 333 h 723"/>
                <a:gd name="T6" fmla="*/ 831 w 831"/>
                <a:gd name="T7" fmla="*/ 0 h 7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31" h="723">
                  <a:moveTo>
                    <a:pt x="108" y="723"/>
                  </a:moveTo>
                  <a:cubicBezTo>
                    <a:pt x="0" y="615"/>
                    <a:pt x="0" y="441"/>
                    <a:pt x="108" y="333"/>
                  </a:cubicBezTo>
                  <a:cubicBezTo>
                    <a:pt x="216" y="225"/>
                    <a:pt x="391" y="225"/>
                    <a:pt x="498" y="333"/>
                  </a:cubicBezTo>
                  <a:cubicBezTo>
                    <a:pt x="831" y="0"/>
                    <a:pt x="831" y="0"/>
                    <a:pt x="831" y="0"/>
                  </a:cubicBezTo>
                </a:path>
              </a:pathLst>
            </a:custGeom>
            <a:noFill/>
            <a:ln w="34925" cap="rnd">
              <a:solidFill>
                <a:srgbClr val="21816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22" name="Freeform 15"/>
            <p:cNvSpPr/>
            <p:nvPr/>
          </p:nvSpPr>
          <p:spPr bwMode="auto">
            <a:xfrm rot="2700000" flipV="1">
              <a:off x="5951422" y="3654815"/>
              <a:ext cx="2159837" cy="1879190"/>
            </a:xfrm>
            <a:custGeom>
              <a:avLst/>
              <a:gdLst>
                <a:gd name="T0" fmla="*/ 108 w 831"/>
                <a:gd name="T1" fmla="*/ 723 h 723"/>
                <a:gd name="T2" fmla="*/ 108 w 831"/>
                <a:gd name="T3" fmla="*/ 333 h 723"/>
                <a:gd name="T4" fmla="*/ 498 w 831"/>
                <a:gd name="T5" fmla="*/ 333 h 723"/>
                <a:gd name="T6" fmla="*/ 831 w 831"/>
                <a:gd name="T7" fmla="*/ 0 h 7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31" h="723">
                  <a:moveTo>
                    <a:pt x="108" y="723"/>
                  </a:moveTo>
                  <a:cubicBezTo>
                    <a:pt x="0" y="615"/>
                    <a:pt x="0" y="441"/>
                    <a:pt x="108" y="333"/>
                  </a:cubicBezTo>
                  <a:cubicBezTo>
                    <a:pt x="216" y="225"/>
                    <a:pt x="391" y="225"/>
                    <a:pt x="498" y="333"/>
                  </a:cubicBezTo>
                  <a:cubicBezTo>
                    <a:pt x="831" y="0"/>
                    <a:pt x="831" y="0"/>
                    <a:pt x="831" y="0"/>
                  </a:cubicBezTo>
                </a:path>
              </a:pathLst>
            </a:custGeom>
            <a:noFill/>
            <a:ln w="34925" cap="rnd">
              <a:solidFill>
                <a:srgbClr val="2CAB93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23" name="Freeform 10"/>
            <p:cNvSpPr/>
            <p:nvPr/>
          </p:nvSpPr>
          <p:spPr bwMode="auto">
            <a:xfrm rot="18900000">
              <a:off x="4326021" y="2795992"/>
              <a:ext cx="2027099" cy="1746452"/>
            </a:xfrm>
            <a:custGeom>
              <a:avLst/>
              <a:gdLst>
                <a:gd name="T0" fmla="*/ 108 w 780"/>
                <a:gd name="T1" fmla="*/ 672 h 672"/>
                <a:gd name="T2" fmla="*/ 108 w 780"/>
                <a:gd name="T3" fmla="*/ 282 h 672"/>
                <a:gd name="T4" fmla="*/ 498 w 780"/>
                <a:gd name="T5" fmla="*/ 282 h 672"/>
                <a:gd name="T6" fmla="*/ 780 w 780"/>
                <a:gd name="T7" fmla="*/ 0 h 6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80" h="672">
                  <a:moveTo>
                    <a:pt x="108" y="672"/>
                  </a:moveTo>
                  <a:cubicBezTo>
                    <a:pt x="0" y="564"/>
                    <a:pt x="0" y="389"/>
                    <a:pt x="108" y="282"/>
                  </a:cubicBezTo>
                  <a:cubicBezTo>
                    <a:pt x="216" y="174"/>
                    <a:pt x="391" y="174"/>
                    <a:pt x="498" y="282"/>
                  </a:cubicBezTo>
                  <a:cubicBezTo>
                    <a:pt x="780" y="0"/>
                    <a:pt x="780" y="0"/>
                    <a:pt x="780" y="0"/>
                  </a:cubicBezTo>
                </a:path>
              </a:pathLst>
            </a:custGeom>
            <a:noFill/>
            <a:ln w="34925" cap="rnd">
              <a:solidFill>
                <a:srgbClr val="5BBFAE"/>
              </a:solidFill>
              <a:prstDash val="solid"/>
              <a:round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24" name="Freeform 10"/>
            <p:cNvSpPr/>
            <p:nvPr/>
          </p:nvSpPr>
          <p:spPr bwMode="auto">
            <a:xfrm rot="18900000">
              <a:off x="7720600" y="2795993"/>
              <a:ext cx="2027099" cy="1746452"/>
            </a:xfrm>
            <a:custGeom>
              <a:avLst/>
              <a:gdLst>
                <a:gd name="T0" fmla="*/ 108 w 780"/>
                <a:gd name="T1" fmla="*/ 672 h 672"/>
                <a:gd name="T2" fmla="*/ 108 w 780"/>
                <a:gd name="T3" fmla="*/ 282 h 672"/>
                <a:gd name="T4" fmla="*/ 498 w 780"/>
                <a:gd name="T5" fmla="*/ 282 h 672"/>
                <a:gd name="T6" fmla="*/ 780 w 780"/>
                <a:gd name="T7" fmla="*/ 0 h 6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80" h="672">
                  <a:moveTo>
                    <a:pt x="108" y="672"/>
                  </a:moveTo>
                  <a:cubicBezTo>
                    <a:pt x="0" y="564"/>
                    <a:pt x="0" y="389"/>
                    <a:pt x="108" y="282"/>
                  </a:cubicBezTo>
                  <a:cubicBezTo>
                    <a:pt x="216" y="174"/>
                    <a:pt x="391" y="174"/>
                    <a:pt x="498" y="282"/>
                  </a:cubicBezTo>
                  <a:cubicBezTo>
                    <a:pt x="780" y="0"/>
                    <a:pt x="780" y="0"/>
                    <a:pt x="780" y="0"/>
                  </a:cubicBezTo>
                </a:path>
              </a:pathLst>
            </a:custGeom>
            <a:noFill/>
            <a:ln w="34925" cap="rnd">
              <a:solidFill>
                <a:srgbClr val="8FD3C6"/>
              </a:solidFill>
              <a:prstDash val="solid"/>
              <a:round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</p:grpSp>
      <p:pic>
        <p:nvPicPr>
          <p:cNvPr id="21025" name="Picture 21024" descr="rocket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6705" y="3313050"/>
            <a:ext cx="443484" cy="443484"/>
          </a:xfrm>
          <a:prstGeom prst="rect">
            <a:avLst/>
          </a:prstGeom>
        </p:spPr>
      </p:pic>
      <p:sp>
        <p:nvSpPr>
          <p:cNvPr id="21026" name="TextBox 21025"/>
          <p:cNvSpPr txBox="1"/>
          <p:nvPr/>
        </p:nvSpPr>
        <p:spPr>
          <a:xfrm>
            <a:off x="2267758" y="1936877"/>
            <a:ext cx="2040026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01  核心先上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27" name="TextBox 21026"/>
          <p:cNvSpPr txBox="1"/>
          <p:nvPr/>
        </p:nvSpPr>
        <p:spPr>
          <a:xfrm>
            <a:off x="2267758" y="2256186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核心模块、主力智能体先上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21028" name="Picture 21027" descr="scale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837" y="3313050"/>
            <a:ext cx="443484" cy="443484"/>
          </a:xfrm>
          <a:prstGeom prst="rect">
            <a:avLst/>
          </a:prstGeom>
        </p:spPr>
      </p:pic>
      <p:sp>
        <p:nvSpPr>
          <p:cNvPr id="21029" name="TextBox 21028"/>
          <p:cNvSpPr txBox="1"/>
          <p:nvPr/>
        </p:nvSpPr>
        <p:spPr>
          <a:xfrm>
            <a:off x="3852890" y="4493543"/>
            <a:ext cx="2040026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02  对比验证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30" name="TextBox 21029"/>
          <p:cNvSpPr txBox="1"/>
          <p:nvPr/>
        </p:nvSpPr>
        <p:spPr>
          <a:xfrm>
            <a:off x="3852890" y="4812852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同一套测试题，不低于成熟平台才切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21031" name="Picture 21030" descr="user-plus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1231" y="3313050"/>
            <a:ext cx="443484" cy="443484"/>
          </a:xfrm>
          <a:prstGeom prst="rect">
            <a:avLst/>
          </a:prstGeom>
        </p:spPr>
      </p:pic>
      <p:sp>
        <p:nvSpPr>
          <p:cNvPr id="21032" name="TextBox 21031"/>
          <p:cNvSpPr txBox="1"/>
          <p:nvPr/>
        </p:nvSpPr>
        <p:spPr>
          <a:xfrm>
            <a:off x="5442284" y="1936877"/>
            <a:ext cx="2040026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03  新增先上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33" name="TextBox 21032"/>
          <p:cNvSpPr txBox="1"/>
          <p:nvPr/>
        </p:nvSpPr>
        <p:spPr>
          <a:xfrm>
            <a:off x="5442284" y="2256186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新签景区直接上自建平台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21034" name="Picture 21033" descr="repeat_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4887" y="3313050"/>
            <a:ext cx="443484" cy="443484"/>
          </a:xfrm>
          <a:prstGeom prst="rect">
            <a:avLst/>
          </a:prstGeom>
        </p:spPr>
      </p:pic>
      <p:sp>
        <p:nvSpPr>
          <p:cNvPr id="21035" name="TextBox 21034"/>
          <p:cNvSpPr txBox="1"/>
          <p:nvPr/>
        </p:nvSpPr>
        <p:spPr>
          <a:xfrm>
            <a:off x="7035940" y="4493543"/>
            <a:ext cx="2040026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04  存量随续约迁移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36" name="TextBox 21035"/>
          <p:cNvSpPr txBox="1"/>
          <p:nvPr/>
        </p:nvSpPr>
        <p:spPr>
          <a:xfrm>
            <a:off x="7035940" y="4812852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双轨运行、逐个迁移、可回退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21037" name="Picture 21036" descr="layers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0019" y="3313050"/>
            <a:ext cx="443484" cy="443484"/>
          </a:xfrm>
          <a:prstGeom prst="rect">
            <a:avLst/>
          </a:prstGeom>
        </p:spPr>
      </p:pic>
      <p:sp>
        <p:nvSpPr>
          <p:cNvPr id="21038" name="TextBox 21037"/>
          <p:cNvSpPr txBox="1"/>
          <p:nvPr/>
        </p:nvSpPr>
        <p:spPr>
          <a:xfrm>
            <a:off x="8621072" y="1936877"/>
            <a:ext cx="2040026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05  成熟平台转补充</a:t>
            </a:r>
            <a:endParaRPr sz="13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39" name="TextBox 21038"/>
          <p:cNvSpPr txBox="1"/>
          <p:nvPr/>
        </p:nvSpPr>
        <p:spPr>
          <a:xfrm>
            <a:off x="8621072" y="2256186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外部平台变成补充能力</a:t>
            </a:r>
            <a:endParaRPr sz="10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040" name="Rounded Rectangle 21039"/>
          <p:cNvSpPr/>
          <p:nvPr/>
        </p:nvSpPr>
        <p:spPr>
          <a:xfrm>
            <a:off x="994318" y="5475705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041" name="Picture 21040" descr="shield-che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586576"/>
            <a:ext cx="266090" cy="266090"/>
          </a:xfrm>
          <a:prstGeom prst="rect">
            <a:avLst/>
          </a:prstGeom>
        </p:spPr>
      </p:pic>
      <p:sp>
        <p:nvSpPr>
          <p:cNvPr id="21042" name="TextBox 21041"/>
          <p:cNvSpPr txBox="1"/>
          <p:nvPr/>
        </p:nvSpPr>
        <p:spPr>
          <a:xfrm>
            <a:off x="1570847" y="5475705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Microsoft YaHei" panose="020B0503020204020204" charset="-122"/>
                <a:ea typeface="Microsoft YaHei" panose="020B0503020204020204" charset="-122"/>
              </a:rPr>
              <a:t>原则　</a:t>
            </a:r>
            <a:r>
              <a:rPr sz="125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每一步都可以回退；客户无感知迁移</a:t>
            </a:r>
            <a:endParaRPr sz="125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风险与底线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风险怎么控，底线怎么守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风险提前想好应对；智能体的底线从第一天就守住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46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76704"/>
            <a:ext cx="4816236" cy="3947007"/>
          </a:xfrm>
          <a:prstGeom prst="roundRect">
            <a:avLst>
              <a:gd name="adj" fmla="val 314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triangle-alert_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6060" y="2118619"/>
            <a:ext cx="319308" cy="319308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15196" y="2083140"/>
            <a:ext cx="4106661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四个风险，四个应对</a:t>
            </a:r>
            <a:endParaRPr sz="14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1171711" y="2668539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349105" y="272175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投入超预期</a:t>
            </a:r>
            <a:endParaRPr sz="12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349105" y="3023326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→ 小团队先做核心模块，跟着迁移进度分批投入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1171711" y="3466810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49105" y="352002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外部平台调价或停服</a:t>
            </a:r>
            <a:endParaRPr sz="12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349105" y="382159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→ 资产在自己手里，模型多家可替换，随时能切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1171711" y="4265081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49105" y="4318299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团队能力不足</a:t>
            </a:r>
            <a:endParaRPr sz="12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349105" y="4619868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→ 前期就培养自己的 AI 应用团队，自建时延续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1171711" y="5063352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49105" y="5116569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需求变化快</a:t>
            </a:r>
            <a:endParaRPr sz="12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1349105" y="5418140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→ 模板化、配置化，差异放在配置里不改代码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6076644" y="1976704"/>
            <a:ext cx="4816236" cy="3947007"/>
          </a:xfrm>
          <a:prstGeom prst="roundRect">
            <a:avLst>
              <a:gd name="adj" fmla="val 314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hield-check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8386" y="2118619"/>
            <a:ext cx="319308" cy="319308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6697521" y="2083140"/>
            <a:ext cx="4106661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四条底线，贯穿始终</a:t>
            </a:r>
            <a:endParaRPr sz="14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6254037" y="2668539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31432" y="272175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只用授权数据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431432" y="3023326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数据按景区隔离，景区只看本景区数据</a:t>
            </a:r>
            <a:endParaRPr sz="11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6254037" y="3466810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31432" y="352002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关键动作人工确认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6431432" y="382159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退款、调度等处置要人点确认</a:t>
            </a:r>
            <a:endParaRPr sz="11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6254037" y="4265081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31432" y="4318299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不碰敏感信息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6431432" y="4619868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手机号、证件号不进对话和知识库，展示打码</a:t>
            </a:r>
            <a:endParaRPr sz="11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6254037" y="5063352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31432" y="5116569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不乱承诺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6431432" y="5418140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价格、退改以系统为准，答不了就转人工</a:t>
            </a:r>
            <a:endParaRPr sz="110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1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数据在公司里转起来，越用越准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AI＋数据平台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这一部分讲</a:t>
            </a:r>
            <a:endParaRPr sz="12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36576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数据怎么流转</a:t>
            </a:r>
            <a:endParaRPr sz="13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099048" y="4526280"/>
            <a:ext cx="36576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· 一张门票的例子</a:t>
            </a:r>
            <a:endParaRPr sz="13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3997900" y="104775"/>
            <a:ext cx="4195893" cy="562935"/>
            <a:chOff x="1778000" y="2361285"/>
            <a:chExt cx="4195893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4195893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3102709" cy="461665"/>
              <a:chOff x="1249621" y="2030985"/>
              <a:chExt cx="3102709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386584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数据在公司里怎么转起来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产数 → 治数 → 办事 → 用数，再回流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数据平台让数据可信，智能体让数据办事；两者接上，形成一条完整的数据链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48  ·  AI＋数据平台 · 03  AI＋数据平台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812615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用数</a:t>
            </a:r>
            <a:endParaRPr sz="15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5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游客 · 景区 · 内部</a:t>
            </a:r>
            <a:endParaRPr sz="95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2475555" y="1812615"/>
            <a:ext cx="2140549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游客</a:t>
            </a:r>
            <a:endParaRPr sz="12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小程序 · 公众号 · 终端</a:t>
            </a:r>
            <a:endParaRPr sz="9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4687062" y="1812615"/>
            <a:ext cx="2140549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景区</a:t>
            </a:r>
            <a:endParaRPr sz="12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景数通 · APP · SaaS</a:t>
            </a:r>
            <a:endParaRPr sz="9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6898568" y="1812615"/>
            <a:ext cx="2140549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内部</a:t>
            </a:r>
            <a:endParaRPr sz="12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管理层 · 业务线 · 小Q</a:t>
            </a:r>
            <a:endParaRPr sz="9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2475555" y="2504450"/>
            <a:ext cx="656356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00" b="0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▲ </a:t>
            </a:r>
            <a:r>
              <a:rPr sz="11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③ 服务：智能体办事，报表和接口直接用数</a:t>
            </a:r>
            <a:endParaRPr sz="11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994318" y="2806019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办事</a:t>
            </a:r>
            <a:endParaRPr sz="15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5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智能体 · 报表</a:t>
            </a:r>
            <a:endParaRPr sz="95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2475555" y="2806019"/>
            <a:ext cx="2140549" cy="691835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游客端智能体</a:t>
            </a:r>
            <a:endParaRPr sz="12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客服 · 导览 · 伴游 · 旅拍 · 购票</a:t>
            </a:r>
            <a:endParaRPr sz="9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4687062" y="2806019"/>
            <a:ext cx="2140549" cy="691835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景区端智能体</a:t>
            </a:r>
            <a:endParaRPr sz="12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问数 · 洞察 · 对账 · 预警 · 调度</a:t>
            </a:r>
            <a:endParaRPr sz="9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6898568" y="2806019"/>
            <a:ext cx="2140549" cy="691835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报表与接口</a:t>
            </a:r>
            <a:endParaRPr sz="12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直接用数</a:t>
            </a:r>
            <a:endParaRPr sz="9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2475555" y="3497854"/>
            <a:ext cx="656356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00" b="0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▲ </a:t>
            </a:r>
            <a:r>
              <a:rPr sz="11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② 供给：认证指标 · 统一标签 · 景区知识 · 数据服务</a:t>
            </a:r>
            <a:endParaRPr sz="11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994318" y="3799423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治数</a:t>
            </a:r>
            <a:endParaRPr sz="15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5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数据平台</a:t>
            </a:r>
            <a:endParaRPr sz="95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247555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统一接入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离线 + 实时</a:t>
            </a:r>
            <a:endParaRPr sz="9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413418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湖仓公共模型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原料 → 成品</a:t>
            </a:r>
            <a:endParaRPr sz="9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579281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指标 · 标签 · 知识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认证口径</a:t>
            </a:r>
            <a:endParaRPr sz="9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745144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数据服务</a:t>
            </a:r>
            <a:endParaRPr sz="1150" b="1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开放 API · 小Q</a:t>
            </a:r>
            <a:endParaRPr sz="900" b="0">
              <a:solidFill>
                <a:srgbClr val="21816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2475555" y="4491258"/>
            <a:ext cx="656356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00" b="0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▲ </a:t>
            </a:r>
            <a:r>
              <a:rPr sz="110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① 生产入湖：交易 · 核销 · 客流 · 设备 · 会员 · 财务</a:t>
            </a:r>
            <a:endParaRPr sz="110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994318" y="4792827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产数</a:t>
            </a:r>
            <a:endParaRPr sz="15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spcBef>
                <a:spcPts val="95"/>
              </a:spcBef>
            </a:pPr>
            <a:r>
              <a:rPr sz="95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业务系统</a:t>
            </a:r>
            <a:endParaRPr sz="95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247555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票务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330487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九大业态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13418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运营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496350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财务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579281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终端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662213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畅游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745144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会员营销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828076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数字大脑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9216511" y="1812615"/>
            <a:ext cx="1676369" cy="3672047"/>
          </a:xfrm>
          <a:prstGeom prst="roundRect">
            <a:avLst>
              <a:gd name="adj" fmla="val 7407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349557" y="1919051"/>
            <a:ext cx="1410279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④ 回流</a:t>
            </a:r>
            <a:endParaRPr sz="14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9349557" y="2300447"/>
            <a:ext cx="1410279" cy="13304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问答记录</a:t>
            </a:r>
            <a:endParaRPr sz="10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游客评价</a:t>
            </a:r>
            <a:endParaRPr sz="10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转人工</a:t>
            </a:r>
            <a:endParaRPr sz="10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预警与工单结果</a:t>
            </a:r>
            <a:endParaRPr sz="10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使用行为</a:t>
            </a:r>
            <a:endParaRPr sz="10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Down Arrow 71"/>
          <p:cNvSpPr/>
          <p:nvPr/>
        </p:nvSpPr>
        <p:spPr>
          <a:xfrm>
            <a:off x="9939390" y="3675247"/>
            <a:ext cx="230611" cy="319308"/>
          </a:xfrm>
          <a:prstGeom prst="down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349557" y="4074383"/>
            <a:ext cx="1410279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⑤ 反哺</a:t>
            </a:r>
            <a:endParaRPr sz="14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9349557" y="4455779"/>
            <a:ext cx="1410279" cy="8869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调定价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lnSpc>
                <a:spcPct val="105000"/>
              </a:lnSpc>
              <a:spcBef>
                <a:spcPts val="95"/>
              </a:spcBef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做营销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ctr">
              <a:lnSpc>
                <a:spcPct val="105000"/>
              </a:lnSpc>
              <a:spcBef>
                <a:spcPts val="95"/>
              </a:spcBef>
            </a:pPr>
            <a:r>
              <a:rPr sz="11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优化调度</a:t>
            </a:r>
            <a:endParaRPr sz="11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994318" y="5644316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shield-check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9451" y="5733013"/>
            <a:ext cx="266090" cy="26609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570847" y="5644316"/>
            <a:ext cx="914464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</a:rPr>
              <a:t>底座　</a:t>
            </a:r>
            <a:r>
              <a:rPr sz="115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DataWorks · 数据地图 · 资产治理，治理贯穿全程；智能体前期借平台，后期自建管理台</a:t>
            </a:r>
            <a:endParaRPr sz="115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举个例子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一张门票的数据旅程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游客买一张票，数据在公司里转一圈，景区和游客都受益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49  ·  AI＋数据平台 · 03  AI＋数据平台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94443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17183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71711" y="217183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1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47" name="Picture 46" descr="ticket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31729" y="2171837"/>
            <a:ext cx="337047" cy="337047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171711" y="2659669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买票入园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171711" y="2987847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售票 · 闸机核销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3285652" y="1994443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463046" y="217183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463046" y="217183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2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53" name="Picture 52" descr="database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063" y="2171837"/>
            <a:ext cx="337047" cy="337047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3463046" y="2659669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数据进平台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3463046" y="2987847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订单 · 核销 · 客流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5576986" y="1994443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754380" y="217183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754380" y="217183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3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59" name="Picture 58" descr="chart-line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4397" y="2171837"/>
            <a:ext cx="337047" cy="337047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5754380" y="2659669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算出指标和标签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5754380" y="2987847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实时客流 · 游客偏好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5576986" y="3724031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754380" y="3901424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754380" y="3901424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4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65" name="Picture 64" descr="bot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4397" y="3901424"/>
            <a:ext cx="337047" cy="337047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5754380" y="4389257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智能体办事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5754380" y="4717435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客流预警 · 二消推荐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3285652" y="3724031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463046" y="3901424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463046" y="3901424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5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71" name="Picture 70" descr="refresh-cw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3063" y="3901424"/>
            <a:ext cx="337047" cy="337047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3463046" y="4389257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结果回流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3463046" y="4717435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处置结果 · 推荐转化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994318" y="3724031"/>
            <a:ext cx="2069591" cy="1419148"/>
          </a:xfrm>
          <a:prstGeom prst="roundRect">
            <a:avLst>
              <a:gd name="adj" fmla="val 875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171711" y="3901424"/>
            <a:ext cx="372526" cy="372526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171711" y="3901424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6</a:t>
            </a:r>
            <a:endParaRPr sz="12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77" name="Picture 76" descr="trending-up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31729" y="3901424"/>
            <a:ext cx="337047" cy="337047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1171711" y="4389257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反哺业务</a:t>
            </a:r>
            <a:endParaRPr sz="14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1171711" y="4717435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Microsoft YaHei" panose="020B0503020204020204" charset="-122"/>
                <a:ea typeface="Microsoft YaHei" panose="020B0503020204020204" charset="-122"/>
              </a:rPr>
              <a:t>调预约 · 调营销</a:t>
            </a:r>
            <a:endParaRPr sz="1050" b="0">
              <a:solidFill>
                <a:srgbClr val="E6F6F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Right Arrow 79"/>
          <p:cNvSpPr/>
          <p:nvPr/>
        </p:nvSpPr>
        <p:spPr>
          <a:xfrm>
            <a:off x="3081649" y="2615321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Left Arrow 80"/>
          <p:cNvSpPr/>
          <p:nvPr/>
        </p:nvSpPr>
        <p:spPr>
          <a:xfrm>
            <a:off x="3081649" y="4344908"/>
            <a:ext cx="177393" cy="177393"/>
          </a:xfrm>
          <a:prstGeom prst="lef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ight Arrow 81"/>
          <p:cNvSpPr/>
          <p:nvPr/>
        </p:nvSpPr>
        <p:spPr>
          <a:xfrm>
            <a:off x="5372983" y="2615321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Left Arrow 82"/>
          <p:cNvSpPr/>
          <p:nvPr/>
        </p:nvSpPr>
        <p:spPr>
          <a:xfrm>
            <a:off x="5372983" y="4344908"/>
            <a:ext cx="177393" cy="177393"/>
          </a:xfrm>
          <a:prstGeom prst="lef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Down Arrow 83"/>
          <p:cNvSpPr/>
          <p:nvPr/>
        </p:nvSpPr>
        <p:spPr>
          <a:xfrm>
            <a:off x="6523085" y="3440201"/>
            <a:ext cx="177393" cy="266090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994318" y="5391531"/>
            <a:ext cx="6652259" cy="532180"/>
          </a:xfrm>
          <a:prstGeom prst="roundRect">
            <a:avLst>
              <a:gd name="adj" fmla="val 16666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1742" tIns="0" bIns="0" rtlCol="0" anchor="ctr"/>
          <a:lstStyle/>
          <a:p>
            <a:pPr algn="l"/>
            <a:r>
              <a:rPr sz="1200" b="1">
                <a:solidFill>
                  <a:srgbClr val="FFE7CF"/>
                </a:solidFill>
                <a:latin typeface="Microsoft YaHei" panose="020B0503020204020204" charset="-122"/>
                <a:ea typeface="Microsoft YaHei" panose="020B0503020204020204" charset="-122"/>
              </a:rPr>
              <a:t>结果　</a:t>
            </a:r>
            <a:r>
              <a:rPr sz="12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游客体验更好 · 景区多卖钱、少出事 · 数据和智能体更准</a:t>
            </a:r>
            <a:endParaRPr sz="12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6" name="Rounded Rectangle 85"/>
          <p:cNvSpPr/>
          <p:nvPr/>
        </p:nvSpPr>
        <p:spPr>
          <a:xfrm>
            <a:off x="8045714" y="1932355"/>
            <a:ext cx="2847167" cy="4035704"/>
          </a:xfrm>
          <a:prstGeom prst="roundRect">
            <a:avLst>
              <a:gd name="adj" fmla="val 9968"/>
            </a:avLst>
          </a:prstGeom>
          <a:solidFill>
            <a:srgbClr val="1F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8134410" y="2021052"/>
            <a:ext cx="2669773" cy="3858309"/>
          </a:xfrm>
          <a:prstGeom prst="roundRect">
            <a:avLst>
              <a:gd name="adj" fmla="val 8305"/>
            </a:avLst>
          </a:prstGeom>
          <a:solidFill>
            <a:srgbClr val="F7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9070162" y="2047660"/>
            <a:ext cx="798271" cy="106436"/>
          </a:xfrm>
          <a:prstGeom prst="roundRect">
            <a:avLst>
              <a:gd name="adj" fmla="val 50000"/>
            </a:avLst>
          </a:prstGeom>
          <a:solidFill>
            <a:srgbClr val="1F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8134410" y="2242794"/>
            <a:ext cx="2669773" cy="5499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267456" y="2313752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bo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65021" y="2411318"/>
            <a:ext cx="195132" cy="195132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8755287" y="2287142"/>
            <a:ext cx="1960199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票付通 APP · 示意</a:t>
            </a:r>
            <a:endParaRPr sz="115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8755287" y="2535494"/>
            <a:ext cx="1960199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850" b="0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● 消息通知预警</a:t>
            </a:r>
            <a:endParaRPr sz="850" b="0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4" name="Rounded Rectangle 93"/>
          <p:cNvSpPr/>
          <p:nvPr/>
        </p:nvSpPr>
        <p:spPr>
          <a:xfrm>
            <a:off x="8267456" y="2952369"/>
            <a:ext cx="2139809" cy="674095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4175" tIns="53218" bIns="53218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【客流预警】东门入园排队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变长，预计 20 分钟后接近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预约上限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5" name="Rounded Rectangle 94"/>
          <p:cNvSpPr/>
          <p:nvPr/>
        </p:nvSpPr>
        <p:spPr>
          <a:xfrm>
            <a:off x="8267456" y="3750640"/>
            <a:ext cx="1693554" cy="496702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4175" tIns="53218" bIns="53218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建议：增开闸机，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引导游客从西门入园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9126336" y="4371517"/>
            <a:ext cx="1544802" cy="319308"/>
          </a:xfrm>
          <a:prstGeom prst="roundRect">
            <a:avLst>
              <a:gd name="adj" fmla="val 333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4175" tIns="53218" bIns="53218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收到，已派人处理</a:t>
            </a:r>
            <a:endParaRPr sz="1000" b="0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7" name="Rounded Rectangle 96"/>
          <p:cNvSpPr/>
          <p:nvPr/>
        </p:nvSpPr>
        <p:spPr>
          <a:xfrm>
            <a:off x="8267456" y="4815001"/>
            <a:ext cx="1842305" cy="496702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4175" tIns="53218" bIns="53218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已记录处置结果，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明天的预约名额会参考</a:t>
            </a:r>
            <a:endParaRPr sz="1000" b="0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8" name="Rounded Rectangle 97"/>
          <p:cNvSpPr/>
          <p:nvPr/>
        </p:nvSpPr>
        <p:spPr>
          <a:xfrm>
            <a:off x="8267456" y="5391531"/>
            <a:ext cx="2403683" cy="33704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444848" y="5391531"/>
            <a:ext cx="1782805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9DB5AF"/>
                </a:solidFill>
                <a:latin typeface="Microsoft YaHei" panose="020B0503020204020204" charset="-122"/>
                <a:ea typeface="Microsoft YaHei" panose="020B0503020204020204" charset="-122"/>
              </a:rPr>
              <a:t>有问题尽管问我…</a:t>
            </a:r>
            <a:endParaRPr sz="900" b="0">
              <a:solidFill>
                <a:srgbClr val="9DB5A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0" name="Oval 99"/>
          <p:cNvSpPr/>
          <p:nvPr/>
        </p:nvSpPr>
        <p:spPr>
          <a:xfrm>
            <a:off x="10360700" y="5418140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send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13918" y="5471358"/>
            <a:ext cx="177393" cy="177393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04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charset="-122"/>
                    <a:ea typeface="Microsoft YaHei" panose="020B0503020204020204" charset="-122"/>
                  </a:rPr>
                  <a:t>接下来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先做三件事，需要您支持四件事</a:t>
            </a:r>
            <a:endParaRPr sz="20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先在一条主线、几家标杆景区上做出结果，再铺开</a:t>
            </a:r>
            <a:endParaRPr sz="12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charset="-122"/>
                <a:ea typeface="Microsoft YaHei" panose="020B0503020204020204" charset="-122"/>
              </a:rPr>
              <a:t>50  ·  AI＋数据平台 · 接下来</a:t>
            </a:r>
            <a:endParaRPr sz="900" b="0">
              <a:solidFill>
                <a:srgbClr val="8FA5A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47661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36233" y="1976704"/>
            <a:ext cx="354787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接下来先做</a:t>
            </a:r>
            <a:endParaRPr sz="1350" b="1">
              <a:solidFill>
                <a:srgbClr val="2CAB93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994318" y="2402448"/>
            <a:ext cx="5321808" cy="10643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71711" y="2579842"/>
            <a:ext cx="461223" cy="461223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databas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7017" y="2695148"/>
            <a:ext cx="230611" cy="230611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792589" y="2526624"/>
            <a:ext cx="443484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数据：主线试点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792589" y="2863672"/>
            <a:ext cx="4434840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· “订单 → 核销 → 结算”定口径、上卡点、逐层核对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· 订单、核销实时链路建起来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994318" y="3582115"/>
            <a:ext cx="5321808" cy="10643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71711" y="3759509"/>
            <a:ext cx="461223" cy="461223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bo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7017" y="3874815"/>
            <a:ext cx="230611" cy="230611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792589" y="3706290"/>
            <a:ext cx="443484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智能体：标杆验证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792589" y="4043338"/>
            <a:ext cx="4434840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· 挑老客户做标杆，跑一个完整旺季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· 同时试“随票务打包”和“年费订阅”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994318" y="4761783"/>
            <a:ext cx="5321808" cy="10643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71711" y="4939177"/>
            <a:ext cx="461223" cy="461223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lin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7017" y="5054483"/>
            <a:ext cx="230611" cy="230611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792589" y="4885958"/>
            <a:ext cx="443484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打通：统一取数、数据回流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1792589" y="5223006"/>
            <a:ext cx="4434840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· 智能体统一从数据平台取数，交互数据回流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· 知识、接口、模板、成本数据留在手里</a:t>
            </a:r>
            <a:endParaRPr sz="105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6582216" y="1976704"/>
            <a:ext cx="4310664" cy="3947007"/>
          </a:xfrm>
          <a:prstGeom prst="roundRect">
            <a:avLst>
              <a:gd name="adj" fmla="val 3146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lag_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958" y="2118619"/>
            <a:ext cx="319308" cy="319308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7203094" y="2083140"/>
            <a:ext cx="3601090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B26A2C"/>
                </a:solidFill>
                <a:latin typeface="Microsoft YaHei" panose="020B0503020204020204" charset="-122"/>
                <a:ea typeface="Microsoft YaHei" panose="020B0503020204020204" charset="-122"/>
              </a:rPr>
              <a:t>需要您支持</a:t>
            </a:r>
            <a:endParaRPr sz="1650" b="1">
              <a:solidFill>
                <a:srgbClr val="B26A2C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Oval 63"/>
          <p:cNvSpPr/>
          <p:nvPr/>
        </p:nvSpPr>
        <p:spPr>
          <a:xfrm>
            <a:off x="6803958" y="2695148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803958" y="2695148"/>
            <a:ext cx="443484" cy="44348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1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7424836" y="2624190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口径谁拍板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7424836" y="2943499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成立数据治理小组，口径争议有人定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8" name="Oval 67"/>
          <p:cNvSpPr/>
          <p:nvPr/>
        </p:nvSpPr>
        <p:spPr>
          <a:xfrm>
            <a:off x="6803958" y="3511158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803958" y="3511158"/>
            <a:ext cx="443484" cy="44348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2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7424836" y="3440201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规范强制执行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7424836" y="3759509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不合规的数据不上线，需公司层面授权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Oval 71"/>
          <p:cNvSpPr/>
          <p:nvPr/>
        </p:nvSpPr>
        <p:spPr>
          <a:xfrm>
            <a:off x="6803958" y="4327169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803958" y="4327169"/>
            <a:ext cx="443484" cy="44348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3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7424836" y="4256211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标杆与销售配合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7424836" y="4575520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标杆景区配合试点；智能体纳入销售考核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Oval 75"/>
          <p:cNvSpPr/>
          <p:nvPr/>
        </p:nvSpPr>
        <p:spPr>
          <a:xfrm>
            <a:off x="6803958" y="5143179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803958" y="5143179"/>
            <a:ext cx="443484" cy="44348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</a:rPr>
              <a:t>4</a:t>
            </a:r>
            <a:endParaRPr sz="135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7424836" y="5072222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charset="-122"/>
                <a:ea typeface="Microsoft YaHei" panose="020B0503020204020204" charset="-122"/>
              </a:rPr>
              <a:t>自建时点</a:t>
            </a:r>
            <a:endParaRPr sz="1400" b="1">
              <a:solidFill>
                <a:srgbClr val="1F3A35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7424836" y="5391530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charset="-122"/>
                <a:ea typeface="Microsoft YaHei" panose="020B0503020204020204" charset="-122"/>
              </a:rPr>
              <a:t>定期用成本数据评估，由您决策</a:t>
            </a:r>
            <a:endParaRPr sz="1100" b="0">
              <a:solidFill>
                <a:srgbClr val="5E7772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1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49" name="文本框 48"/>
          <p:cNvSpPr txBox="1"/>
          <p:nvPr/>
        </p:nvSpPr>
        <p:spPr>
          <a:xfrm>
            <a:off x="4110227" y="4385650"/>
            <a:ext cx="3971546" cy="571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1500" b="1" dirty="0">
                <a:solidFill>
                  <a:srgbClr val="21816F"/>
                </a:solidFill>
                <a:latin typeface="Microsoft YaHei" panose="020B0503020204020204" charset="-122"/>
                <a:ea typeface="Microsoft YaHei" panose="020B0503020204020204" charset="-122"/>
                <a:cs typeface="+mn-ea"/>
                <a:sym typeface="+mn-lt"/>
              </a:rPr>
              <a:t>请您指示</a:t>
            </a:r>
            <a:endParaRPr lang="zh-CN" altLang="en-US" sz="1100" dirty="0"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951823" y="1850427"/>
            <a:ext cx="428835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6000" b="1" dirty="0">
                <a:solidFill>
                  <a:srgbClr val="2CAB93"/>
                </a:solidFill>
                <a:latin typeface="Microsoft YaHei" panose="020B0503020204020204" charset="-122"/>
                <a:ea typeface="Microsoft YaHei" panose="020B0503020204020204" charset="-122"/>
              </a:rPr>
              <a:t>谢谢</a:t>
            </a:r>
            <a:endParaRPr lang="zh-CN" altLang="en-US" sz="8000" dirty="0">
              <a:latin typeface="Alimama ShuHeiTi Bold" pitchFamily="2" charset="-122"/>
              <a:ea typeface="Alimama ShuHeiTi Bold" pitchFamily="2" charset="-122"/>
            </a:endParaRPr>
          </a:p>
        </p:txBody>
      </p:sp>
      <p:grpSp>
        <p:nvGrpSpPr>
          <p:cNvPr id="43" name="组合 42"/>
          <p:cNvGrpSpPr/>
          <p:nvPr/>
        </p:nvGrpSpPr>
        <p:grpSpPr>
          <a:xfrm>
            <a:off x="3939028" y="5924580"/>
            <a:ext cx="4313944" cy="315056"/>
            <a:chOff x="1253246" y="4118390"/>
            <a:chExt cx="4313944" cy="315056"/>
          </a:xfrm>
        </p:grpSpPr>
        <p:sp>
          <p:nvSpPr>
            <p:cNvPr id="44" name="文本框 43"/>
            <p:cNvSpPr txBox="1"/>
            <p:nvPr/>
          </p:nvSpPr>
          <p:spPr>
            <a:xfrm>
              <a:off x="1561022" y="4125669"/>
              <a:ext cx="20271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Microsoft YaHei" panose="020B0503020204020204" charset="-122"/>
                  <a:ea typeface="Microsoft YaHei" panose="020B0503020204020204" charset="-122"/>
                  <a:cs typeface="+mn-ea"/>
                  <a:sym typeface="+mn-lt"/>
                </a:rPr>
                <a:t>汇报：票付通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5" name="iconfont-10019-4889788"/>
            <p:cNvSpPr/>
            <p:nvPr/>
          </p:nvSpPr>
          <p:spPr>
            <a:xfrm>
              <a:off x="1253246" y="4118392"/>
              <a:ext cx="307776" cy="307776"/>
            </a:xfrm>
            <a:custGeom>
              <a:avLst/>
              <a:gdLst>
                <a:gd name="T0" fmla="*/ 6383 w 12767"/>
                <a:gd name="T1" fmla="*/ 0 h 12767"/>
                <a:gd name="T2" fmla="*/ 0 w 12767"/>
                <a:gd name="T3" fmla="*/ 6383 h 12767"/>
                <a:gd name="T4" fmla="*/ 6383 w 12767"/>
                <a:gd name="T5" fmla="*/ 12767 h 12767"/>
                <a:gd name="T6" fmla="*/ 12767 w 12767"/>
                <a:gd name="T7" fmla="*/ 6383 h 12767"/>
                <a:gd name="T8" fmla="*/ 6383 w 12767"/>
                <a:gd name="T9" fmla="*/ 0 h 12767"/>
                <a:gd name="T10" fmla="*/ 6383 w 12767"/>
                <a:gd name="T11" fmla="*/ 870 h 12767"/>
                <a:gd name="T12" fmla="*/ 11897 w 12767"/>
                <a:gd name="T13" fmla="*/ 6383 h 12767"/>
                <a:gd name="T14" fmla="*/ 11032 w 12767"/>
                <a:gd name="T15" fmla="*/ 9349 h 12767"/>
                <a:gd name="T16" fmla="*/ 7524 w 12767"/>
                <a:gd name="T17" fmla="*/ 7451 h 12767"/>
                <a:gd name="T18" fmla="*/ 9004 w 12767"/>
                <a:gd name="T19" fmla="*/ 5101 h 12767"/>
                <a:gd name="T20" fmla="*/ 6393 w 12767"/>
                <a:gd name="T21" fmla="*/ 2489 h 12767"/>
                <a:gd name="T22" fmla="*/ 3781 w 12767"/>
                <a:gd name="T23" fmla="*/ 5101 h 12767"/>
                <a:gd name="T24" fmla="*/ 5261 w 12767"/>
                <a:gd name="T25" fmla="*/ 7451 h 12767"/>
                <a:gd name="T26" fmla="*/ 1743 w 12767"/>
                <a:gd name="T27" fmla="*/ 9361 h 12767"/>
                <a:gd name="T28" fmla="*/ 870 w 12767"/>
                <a:gd name="T29" fmla="*/ 6383 h 12767"/>
                <a:gd name="T30" fmla="*/ 6383 w 12767"/>
                <a:gd name="T31" fmla="*/ 870 h 127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2767" h="12767">
                  <a:moveTo>
                    <a:pt x="6383" y="0"/>
                  </a:moveTo>
                  <a:cubicBezTo>
                    <a:pt x="2858" y="0"/>
                    <a:pt x="0" y="2858"/>
                    <a:pt x="0" y="6383"/>
                  </a:cubicBezTo>
                  <a:cubicBezTo>
                    <a:pt x="0" y="9909"/>
                    <a:pt x="2858" y="12767"/>
                    <a:pt x="6383" y="12767"/>
                  </a:cubicBezTo>
                  <a:cubicBezTo>
                    <a:pt x="9909" y="12767"/>
                    <a:pt x="12767" y="9909"/>
                    <a:pt x="12767" y="6383"/>
                  </a:cubicBezTo>
                  <a:cubicBezTo>
                    <a:pt x="12767" y="2858"/>
                    <a:pt x="9909" y="0"/>
                    <a:pt x="6383" y="0"/>
                  </a:cubicBezTo>
                  <a:close/>
                  <a:moveTo>
                    <a:pt x="6383" y="870"/>
                  </a:moveTo>
                  <a:cubicBezTo>
                    <a:pt x="9428" y="870"/>
                    <a:pt x="11897" y="3339"/>
                    <a:pt x="11897" y="6383"/>
                  </a:cubicBezTo>
                  <a:cubicBezTo>
                    <a:pt x="11897" y="7475"/>
                    <a:pt x="11579" y="8493"/>
                    <a:pt x="11032" y="9349"/>
                  </a:cubicBezTo>
                  <a:cubicBezTo>
                    <a:pt x="10114" y="8379"/>
                    <a:pt x="8895" y="7697"/>
                    <a:pt x="7524" y="7451"/>
                  </a:cubicBezTo>
                  <a:cubicBezTo>
                    <a:pt x="8399" y="7030"/>
                    <a:pt x="9004" y="6137"/>
                    <a:pt x="9004" y="5101"/>
                  </a:cubicBezTo>
                  <a:cubicBezTo>
                    <a:pt x="9004" y="3658"/>
                    <a:pt x="7835" y="2489"/>
                    <a:pt x="6393" y="2489"/>
                  </a:cubicBezTo>
                  <a:cubicBezTo>
                    <a:pt x="4950" y="2489"/>
                    <a:pt x="3781" y="3658"/>
                    <a:pt x="3781" y="5101"/>
                  </a:cubicBezTo>
                  <a:cubicBezTo>
                    <a:pt x="3781" y="6137"/>
                    <a:pt x="4386" y="7030"/>
                    <a:pt x="5261" y="7451"/>
                  </a:cubicBezTo>
                  <a:cubicBezTo>
                    <a:pt x="3885" y="7698"/>
                    <a:pt x="2662" y="8385"/>
                    <a:pt x="1743" y="9361"/>
                  </a:cubicBezTo>
                  <a:cubicBezTo>
                    <a:pt x="1190" y="8502"/>
                    <a:pt x="870" y="7480"/>
                    <a:pt x="870" y="6383"/>
                  </a:cubicBezTo>
                  <a:cubicBezTo>
                    <a:pt x="870" y="3339"/>
                    <a:pt x="3339" y="870"/>
                    <a:pt x="6383" y="870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3898985" y="4118390"/>
              <a:ext cx="1668205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bg1"/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Microsoft YaHei" panose="020B0503020204020204" charset="-122"/>
                  <a:ea typeface="Microsoft YaHei" panose="020B0503020204020204" charset="-122"/>
                  <a:cs typeface="+mn-ea"/>
                  <a:sym typeface="+mn-lt"/>
                </a:rPr>
                <a:t>时间：2026.10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7" name="iconfont-11899-5651509"/>
            <p:cNvSpPr/>
            <p:nvPr/>
          </p:nvSpPr>
          <p:spPr>
            <a:xfrm>
              <a:off x="3588150" y="4118394"/>
              <a:ext cx="307836" cy="307774"/>
            </a:xfrm>
            <a:custGeom>
              <a:avLst/>
              <a:gdLst>
                <a:gd name="T0" fmla="*/ 5872 w 10378"/>
                <a:gd name="T1" fmla="*/ 5277 h 10377"/>
                <a:gd name="T2" fmla="*/ 5872 w 10378"/>
                <a:gd name="T3" fmla="*/ 2783 h 10377"/>
                <a:gd name="T4" fmla="*/ 5223 w 10378"/>
                <a:gd name="T5" fmla="*/ 2135 h 10377"/>
                <a:gd name="T6" fmla="*/ 4574 w 10378"/>
                <a:gd name="T7" fmla="*/ 2783 h 10377"/>
                <a:gd name="T8" fmla="*/ 4574 w 10378"/>
                <a:gd name="T9" fmla="*/ 6026 h 10377"/>
                <a:gd name="T10" fmla="*/ 7383 w 10378"/>
                <a:gd name="T11" fmla="*/ 7647 h 10377"/>
                <a:gd name="T12" fmla="*/ 8267 w 10378"/>
                <a:gd name="T13" fmla="*/ 7403 h 10377"/>
                <a:gd name="T14" fmla="*/ 8031 w 10378"/>
                <a:gd name="T15" fmla="*/ 6523 h 10377"/>
                <a:gd name="T16" fmla="*/ 5872 w 10378"/>
                <a:gd name="T17" fmla="*/ 5277 h 10377"/>
                <a:gd name="T18" fmla="*/ 5189 w 10378"/>
                <a:gd name="T19" fmla="*/ 10377 h 10377"/>
                <a:gd name="T20" fmla="*/ 0 w 10378"/>
                <a:gd name="T21" fmla="*/ 5188 h 10377"/>
                <a:gd name="T22" fmla="*/ 5189 w 10378"/>
                <a:gd name="T23" fmla="*/ 0 h 10377"/>
                <a:gd name="T24" fmla="*/ 10378 w 10378"/>
                <a:gd name="T25" fmla="*/ 5188 h 10377"/>
                <a:gd name="T26" fmla="*/ 5189 w 10378"/>
                <a:gd name="T27" fmla="*/ 10377 h 103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378" h="10377">
                  <a:moveTo>
                    <a:pt x="5872" y="5277"/>
                  </a:moveTo>
                  <a:lnTo>
                    <a:pt x="5872" y="2783"/>
                  </a:lnTo>
                  <a:cubicBezTo>
                    <a:pt x="5872" y="2425"/>
                    <a:pt x="5582" y="2135"/>
                    <a:pt x="5223" y="2135"/>
                  </a:cubicBezTo>
                  <a:cubicBezTo>
                    <a:pt x="4864" y="2135"/>
                    <a:pt x="4574" y="2425"/>
                    <a:pt x="4574" y="2783"/>
                  </a:cubicBezTo>
                  <a:lnTo>
                    <a:pt x="4574" y="6026"/>
                  </a:lnTo>
                  <a:lnTo>
                    <a:pt x="7383" y="7647"/>
                  </a:lnTo>
                  <a:cubicBezTo>
                    <a:pt x="7694" y="7825"/>
                    <a:pt x="8091" y="7716"/>
                    <a:pt x="8267" y="7403"/>
                  </a:cubicBezTo>
                  <a:cubicBezTo>
                    <a:pt x="8442" y="7095"/>
                    <a:pt x="8337" y="6703"/>
                    <a:pt x="8031" y="6523"/>
                  </a:cubicBezTo>
                  <a:lnTo>
                    <a:pt x="5872" y="5277"/>
                  </a:lnTo>
                  <a:close/>
                  <a:moveTo>
                    <a:pt x="5189" y="10377"/>
                  </a:moveTo>
                  <a:cubicBezTo>
                    <a:pt x="2324" y="10377"/>
                    <a:pt x="0" y="8054"/>
                    <a:pt x="0" y="5188"/>
                  </a:cubicBezTo>
                  <a:cubicBezTo>
                    <a:pt x="0" y="2322"/>
                    <a:pt x="2324" y="0"/>
                    <a:pt x="5189" y="0"/>
                  </a:cubicBezTo>
                  <a:cubicBezTo>
                    <a:pt x="8054" y="0"/>
                    <a:pt x="10378" y="2322"/>
                    <a:pt x="10378" y="5188"/>
                  </a:cubicBezTo>
                  <a:cubicBezTo>
                    <a:pt x="10378" y="8054"/>
                    <a:pt x="8056" y="10377"/>
                    <a:pt x="5189" y="10377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3759200" y="3672508"/>
            <a:ext cx="4673600" cy="471552"/>
            <a:chOff x="3759200" y="3558828"/>
            <a:chExt cx="4673600" cy="471552"/>
          </a:xfrm>
        </p:grpSpPr>
        <p:sp>
          <p:nvSpPr>
            <p:cNvPr id="28" name="矩形: 圆角 27"/>
            <p:cNvSpPr/>
            <p:nvPr/>
          </p:nvSpPr>
          <p:spPr>
            <a:xfrm>
              <a:off x="3759200" y="3558828"/>
              <a:ext cx="4673600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4229944" y="3644286"/>
              <a:ext cx="373211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chemeClr val="bg1"/>
                  </a:solidFill>
                  <a:latin typeface="Microsoft YaHei" panose="020B0503020204020204" charset="-122"/>
                  <a:ea typeface="Microsoft YaHei" panose="020B0503020204020204" charset="-122"/>
                </a:rPr>
                <a:t>数据可信  ·  智能体快速落地  ·  数据越用越准</a:t>
              </a:r>
              <a:endParaRPr lang="zh-CN" altLang="en-US" sz="14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9" name="十字形 18" descr="D:\51PPT模板网\51pptmoban.com\图片.jpg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2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3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4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5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6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7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8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9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10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11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12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13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14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15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16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17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18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19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20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21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22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23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24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25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ags/tag26.xml><?xml version="1.0" encoding="utf-8"?>
<p:tagLst xmlns:p="http://schemas.openxmlformats.org/presentationml/2006/main">
  <p:tag name="KSO_WM_DIAGRAM_VIRTUALLY_FRAME" val="{&quot;height&quot;:216.35322834645666,&quot;left&quot;:165.3023622047244,&quot;top&quot;:179.6467716535433,&quot;width&quot;:636.7776377952756}"/>
</p:tagLst>
</file>

<file path=ppt/theme/theme1.xml><?xml version="1.0" encoding="utf-8"?>
<a:theme xmlns:a="http://schemas.openxmlformats.org/drawingml/2006/main" name="51PPT模板网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54c1c560-07e4-4903-b0b7-fc1cb353e47f">
      <a:majorFont>
        <a:latin typeface="HarmonyOS Sans SC Light"/>
        <a:ea typeface="阿里巴巴普惠体 2 55 Regular"/>
        <a:cs typeface=""/>
      </a:majorFont>
      <a:minorFont>
        <a:latin typeface="HarmonyOS Sans SC Light"/>
        <a:ea typeface="阿里巴巴普惠体 2 55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14083</Words>
  <Application>WPS 演示</Application>
  <PresentationFormat>宽屏</PresentationFormat>
  <Paragraphs>3200</Paragraphs>
  <Slides>51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21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51</vt:i4>
      </vt:variant>
    </vt:vector>
  </HeadingPairs>
  <TitlesOfParts>
    <vt:vector size="73" baseType="lpstr">
      <vt:lpstr>Arial</vt:lpstr>
      <vt:lpstr>SimSun</vt:lpstr>
      <vt:lpstr>Wingdings</vt:lpstr>
      <vt:lpstr>HarmonyOS Sans SC Light</vt:lpstr>
      <vt:lpstr>阿里巴巴普惠体 2.0 55 Regular</vt:lpstr>
      <vt:lpstr>Microsoft YaHei</vt:lpstr>
      <vt:lpstr>Alimama ShuHeiTi Bold</vt:lpstr>
      <vt:lpstr>HarmonyOS Sans SC Black</vt:lpstr>
      <vt:lpstr>Arial</vt:lpstr>
      <vt:lpstr>Arial Unicode MS</vt:lpstr>
      <vt:lpstr>DengXian</vt:lpstr>
      <vt:lpstr>Symbol</vt:lpstr>
      <vt:lpstr>KSOFAD5C9A82</vt:lpstr>
      <vt:lpstr>FFont-Family</vt:lpstr>
      <vt:lpstr>KSOFF90575B9</vt:lpstr>
      <vt:lpstr>阿里巴巴普惠体 2 55 Regular</vt:lpstr>
      <vt:lpstr>Alimama ShuHeiTi Bold</vt:lpstr>
      <vt:lpstr>HarmonyOS Sans SC Black</vt:lpstr>
      <vt:lpstr>HarmonyOS Sans SC Light</vt:lpstr>
      <vt:lpstr>阿里巴巴普惠体 2.0 55 Regular</vt:lpstr>
      <vt:lpstr>KSOF153DC761</vt:lpstr>
      <vt:lpstr>51PPT模板网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www.51pptmoban.com</Company>
  <LinksUpToDate>false</LinksUpToDate>
  <SharedDoc>false</SharedDoc>
  <HyperlinksChanged>false</HyperlinksChanged>
  <AppVersion>14.0000</AppVersion>
  <Manager>51PPT模板网</Manager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清新圆角医疗护理工作汇报PPT模板</dc:title>
  <dc:creator>©51PPT模板网（www.51pptmoban.com）</dc:creator>
  <cp:keywords>版权归属：51PPT模板网；</cp:keywords>
  <dc:description>51PPT模板网，幻灯片演示模板及素材免费下载！
51PPT模板网 唯一访问网址：www.51pptmoban.com。</dc:description>
  <cp:lastModifiedBy>寶安居士</cp:lastModifiedBy>
  <cp:revision>1021</cp:revision>
  <dcterms:created xsi:type="dcterms:W3CDTF">2026-05-24T00:54:00Z</dcterms:created>
  <dcterms:modified xsi:type="dcterms:W3CDTF">2026-10-18T03:34:54Z</dcterms:modified>
  <cp:version>51pptmoban.com（V51PPT-26081201版）</cp:ver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F3C048C693284A3891131F5671A846A5_12</vt:lpwstr>
  </property>
  <property fmtid="{D5CDD505-2E9C-101B-9397-08002B2CF9AE}" pid="3" name="KSOProductBuildVer">
    <vt:lpwstr>2052-12.1.0.29161</vt:lpwstr>
  </property>
</Properties>
</file>