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  <p:sldId id="275" r:id="rId6"/>
    <p:sldId id="276" r:id="rId5"/>
    <p:sldId id="277" r:id="rId4"/>
    <p:sldId id="278" r:id="rId3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继续用平台</c:v>
                </c:pt>
              </c:strCache>
            </c:strRef>
          </c:tx>
          <c:spPr>
            <a:ln w="38100">
              <a:solidFill>
                <a:srgbClr val="E39A57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17</c:v>
                </c:pt>
                <c:pt idx="2">
                  <c:v>26</c:v>
                </c:pt>
                <c:pt idx="3">
                  <c:v>35</c:v>
                </c:pt>
                <c:pt idx="4">
                  <c:v>44</c:v>
                </c:pt>
                <c:pt idx="5">
                  <c:v>53</c:v>
                </c:pt>
                <c:pt idx="6">
                  <c:v>62</c:v>
                </c:pt>
                <c:pt idx="7">
                  <c:v>71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自己建</c:v>
                </c:pt>
              </c:strCache>
            </c:strRef>
          </c:tx>
          <c:spPr>
            <a:ln w="38100">
              <a:solidFill>
                <a:srgbClr val="21816F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</c:v>
                </c:pt>
                <c:pt idx="1">
                  <c:v>39</c:v>
                </c:pt>
                <c:pt idx="2">
                  <c:v>42</c:v>
                </c:pt>
                <c:pt idx="3">
                  <c:v>45</c:v>
                </c:pt>
                <c:pt idx="4">
                  <c:v>48</c:v>
                </c:pt>
                <c:pt idx="5">
                  <c:v>51</c:v>
                </c:pt>
                <c:pt idx="6">
                  <c:v>54</c:v>
                </c:pt>
                <c:pt idx="7">
                  <c:v>57</c:v>
                </c:pt>
                <c:pt idx="8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one"/>
        <c:spPr>
          <a:ln>
            <a:solidFill>
              <a:srgbClr val="CDE9E3"/>
            </a:solidFill>
          </a:ln>
        </c:spPr>
        <c:txPr>
          <a:bodyPr/>
          <a:lstStyle/>
          <a:p>
            <a:pPr>
              <a:defRPr sz="1000">
                <a:solidFill>
                  <a:srgbClr val="5E777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>
          <c:spPr>
            <a:ln>
              <a:solidFill>
                <a:srgbClr val="E7F2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E7772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E7772"/>
          </a:solidFill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，一页讲清楚。第一件事，数据平台：把公司的数据理清、算准、管住。具体就是定规矩、统一编号和口径、每天体检、管好权限，先从订单到核销到结算这条主线做起。第二件事，智能体：先借扣子、火山方舟、小Q 这些现成平台，几周就能做出来去卖，验证能赚钱；然后把跑通的产品快速铺到更多景区；规模起来后再自己建平台，更省钱、交付更快。第三件事，两者打通：业务产生的数据经过平台整理，给智能体和报表用，用完的结果再回到平台，数据越用越准。最下面是需要您拍板支持的几件事，最后一页会详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今天的汇报分四部分：数据平台、智能体平台、两者打通后的 AI＋数据平台，最后是接下来要做的事和需要您支持的地方。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第一部分：数据平台，把数据理清、算准、管住。主要讲：现状与问题、手里的数据、怎么建、数据治理八步、六个统一、建成后的变化。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先说现状。工具上：DataWorks 是数据加工的车间，我们已经买了开发、调度、找数、管资产、出数这几个核心模块；动态数据开放 API 是对内对外提供数据的窗口；小Q 用来看报表做分析；湖仓是存数据的仓库，部分模型已经建了。最重要的是每天的主流程已经通了：订单、游客、供应商这些核心数据，每天凌晨自动从原料一路加工成报表能用的成品。还没建的有五块：实时数据、数据质量检查、统一标签、指标口径管理、数据规范落地，这些就是接下来要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前五个问题放在一起看，根子是同一个：缺少统一的标准、统一的模型、统一的口径和统一的检查。所以单个问题修修补补会反复出现，比如这次把核销量对平了，下次换个指标又对不上。必须体系化地治理，也就是后面要讲的数据治理。第六个“看得慢”不一样，它是能力缺口，要在统一的公共模型上补实时计算，否则实时数据又会变成新的一套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数据按业务分成八大块，叫数据域，每块里面再分主题。交易：订单、票务，比如订单数、销售额、核销次数；商品与资源：产品和库存，比如售罄率；用户：游客和会员，比如会员等级、复购倾向；合作方：供应商，比如履约率；流量营销：渠道和活动，比如转化率、活动回报；运营：日常运营，比如房态占用率；财务：结算对账；内部管理：系统任务、存储计算成本。每块数据都定了敏感等级，用户明细是最高级。目前订单、用户、供应商已经进了仓库，其他部分进入。现场设备、外部数据、AI 产生的数据后面要新增。难点不在数据量，而在节假日高峰、订单状态多次变化、设备离线补传、多景区之间的数据隔离。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这张图是整个数据平台的样子，从下往上看。最下面是数据从哪来：票务、订单、小程序、供应商、营销、渠道、设备和外部数据。往上是统一底座，就是数据仓库和加工车间，DataWorks 和每天的主流程已经有了，要补实时计算和湖仓存储。再往上是“算好的数”，也就是统一的指标和标签，小Q 用来看。再往上是数据服务，对外给数据的窗口，动态数据开放 API 已经有。再往上是 AI 能力，让 AI 能安全地用这些数据。最上面是谁在用：内部经营、景区运营、合作伙伴、行业报告、数据产品。右边的数据治理贯穿每一层。深色是已经有的，白色是要新建或升级的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到工具，分七类能力。数据集成，就是把数据接进来：已有批量同步，要升级埋点采集和现场设备回传，新建实时采集和标准连接器。存储计算：已有离线计算，新建实时计算和湖仓统一存储。开发运维：已有开发和运维中心，新建发布卡点和成本治理。数据治理：已有数据地图和资产治理，升级血缘和健康分，新建质量、标准、分级打码。指标标签：全部新建。服务分析：已有开放 API、数据服务和小Q，要统一出口、新建嵌入式分析。AI 能力：升级 AI 问数，新建模型网关、知识检索和评测。另外有几个阿里云模块我们没买，先用省钱的办法：数据质量用自己加的检查节点，数据标准用规范文档加检查脚本，安全中心先用引擎权限加打码视图，实时计算先做小范围试验，验证了再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治理怎么做？核心一句话：不搞一次性运动，而是把规矩写进日常的开发流程，每张表、每个指标从设计到下线都要过检查站。治理分五层来看：最上面是目标，四个词：数字可信、口径统一、安全合规、成本可控。往下是管哪些事，按八步推进，下一页细讲。再往下是怎么嵌进去：事前定规范、事中设卡点、事后做治理。然后是用什么工具：大部分用已经买的 DataWorks 模块，没买的用我们自己写的检查脚本和检查节点。最下面是谁来管：治理小组拍板，数据负责人推动，治理专员执行，健康分每月公示。推进顺序上，先治最核心的一条线：订单到核销到结算，做通了再按数据域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这八步都不是单独搞运动，而是写进日常开发流程，有专人负责、有考核。后面几页按顺序挑重点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第一件事，定规矩。最直观的是表名：以前表名随便起，现在每张表都有像身份证号一样的名字。比如 dwd_ord_order_item_di，拆开看：dwd 说明加工到了“洗干净”这一层，ord 说明是订单这块业务，order_item 说明是订单明细，di 说明每天增量更新。一看名字就知道是什么、在哪一层、怎么更新。字段也统一叫法，比如景区全公司都叫 scenic_id，金额都以 amt 结尾。建表时有 8 项必填，缺负责人就发不出去。这些都靠发布前的自动检查脚本卡住：不合规的直接打回，列出哪里不对。老表不一次性改名，新表强制执行，老表按健康分排名分批整改，改名时保留兼容视图，不影响下游。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件事，每天体检，专业叫数据质量。检查分五项：完整，比如订单号、景区编号不能空，日订单量比近七天平均波动超过三成就报警；准确，比如金额不能是负数，核销时间不能早于下单时间；一致，比如仓库里的订单金额汇总要和业务系统对得上；及时，比如核心报表每天七点前必须算完；唯一，比如同一张票不能重复核销。规则分强弱两档：强规则用在订单、核销、结算和对外接口这些核心表上，不通过就把下游全部拦住，通知负责人，当天修好；弱规则用在一般表上，只提醒不拦，一周内修好。每个问题都登记问题单，同类问题出现两次就补一条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件事，统一口径，管的是指标和标签。指标就是数一数，比如卖了多少、来了多少人；标签就是贴个签，比如这个游客是年卡用户、喜欢夜游。我们的做法是两级：集团统一出一套标准指标和标准标签，按级别授权下发给景区和供应商，大家用同一套口径；标准的不够用时，景区和供应商可以在自己的空间里自定义，只给自己用，不能和集团标准同名，不影响别人；好用的自定义指标，评审后收回来变成集团标准。一个指标要说清楚四件事：算什么、加什么条件、什么时间、按什么维度，比如“近七天线上渠道成人票支付金额，按景区”。新指标要经过四步认证：数据团队起草、业务负责人确认、治理小组拍板、发布并记录版本。只有认证过的指标和标签，才能进老板看板、对外接口和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件事，管好权限，分两页讲。先讲分级和权属，谁能看什么在后面“统一权限”里讲。数据分四级：最高的是高敏，手机号、证件号、人脸、政务核验结果，加密存储、展示打码、最小授权、全程审计，明文不进大模型。第二级敏感，单景区的经营数据、价格、结算、供应商合作数据，按景区和供应商隔离，跨主体只能看汇总。第三级内部，日志、设备状态、运营数据，内部按角色授权。最低一级公开，已发布的报告和规范。再说权属，也就是数据的主人：景区数据只服务这个景区，供应商数据只服务这个供应商，渠道数据不给其他渠道看，游客信息只在授权范围内用，政务数据只用核验结果不留原始数据，外部买的数据按合同用，对外只给匿名汇总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动态数据开放 API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八件事怎么落到日常？就是把检查站放进开发的每一步，不另起流程。事前定规范：需求阶段先确认口径，优先用已经认证的指标；设计阶段做模型评审，确定数据域、分层和安全等级。由数据架构师和治理专员负责，不过评审，模型就不能进入开发。事中设卡点：开发时按规范写、绑定质量规则；发布时检查脚本自动卡；运行时质量检查，不合格就拦住下游、报警。这一步是平台自动执行，不合规的发不出去，下游也不会跑。事后做治理：健康分公示、存量整改、问题复盘，补规范、补规则。由数据负责人和治理专员负责，健康分低的负责人排名公示、限期整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谁来管？治理不只是数据团队的事。最上面是数据治理小组，负责裁定口径争议、审批规范和指标认证，这里需要公司层面授权。下面是数据负责人，制定治理方案、跨部门协调，对健康分负责。再下面三类角色：业务数据专员，每个业务线出一个人，提业务规则、确认口径、验收数据；数据治理专员，维护标准、指标字典、质量规则和资产目录；数据架构师和开发，负责模型设计、规范落地和问题修复。运转节奏是：两周一次口径评审，每月公示健康分，每季度复盘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算做好了？我们给试点主线定了八个目标，都是可以量化检查的。新建表规范符合率百分之百；核心表的注释和负责人百分之百覆盖；景区、商品、渠道编号映射百分之百覆盖；核心表强规则百分之百覆盖；核心报表按时产出率不低于百分之九十九；管理层看板里认证指标占比百分之百；敏感字段识别打标百分之百；核销量各个出口零差异，或者差异都有原因说明。另外没用的表和任务每季度清理一轮。这些先在订单、核销、结算这条主线上达标，再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落地分四步。第一步统接入：定统一的接入规范和编号，补齐数据源，把订单和核销的实时链路建起来。第二步统建模：划好数据域，首批指标和标签做认证，重复的模型合并。第三步统开发：发布卡点上线、质量规则绑定任务，核销逐层核对做成样板。第四步统服务：开放接口把指标和标签一起提供出去，小Q 的数据集统一，业务可以自助分析。推进原则两条：先在订单、核销、结算这条线试点，做通后推广；老模型先双跑对比再切换，随时可以回退。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面讲的是怎么治，最后落到六件看得见的事上，我们叫六个统一。统一规范：规矩写进流程，不合规的表发不出去。统一底座：一份存储，离线加实时，订单核销分钟级就能看到。统一标签，这里的标签也就是指标：一个指标一个口径，报表、接口、AI 三处数字一致。统一权限：一套规则管到底，谁能看什么分清楚。标签复用：一个游客一个身份，一处加工，营销、分析、AI、景区都能用。自助分析：业务自己查、自己看，少找人要数。每一个都有衡量指标，下面逐个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第一个统一，统一规范。以前规范只写在文档里，没人卡，所以表名随意、没人负责。以后分三步：新建的表发布前自动检查，不合规就发不出去；存量的老表，核心表优先整改，用 AI 帮忙补表和字段的描述；之后持续运营，资产健康分每月公示。具体规矩包括：表名按“加工层、业务、内容、更新方式”起，一看就懂；建表有八项必填，比如负责人、安全等级、字段注释。衡量标准是新表规范符合率百分之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第二个统一，统一底座。数据从业务库、渠道接口、设备事件、行为日志、外部数据进来，先经过统一接入，定好接入规范、对象编号和负责人。然后进入湖仓一体的底座：每天算的离线计算用 DataWorks，实时计算订单和核销先做；从原料到成品分层加工，共用同一套业务定义和质量规则。最后通过分析查询，提供给小Q、开放接口和 AI。另外把离线和湖仓合一：以前同一个指标离线做一份、湖仓做一份，结果不一样；以后公共层只建一次，改口径只改一处。合并的做法是：盘点重叠的模型、确定保留哪一版、下游改成引用它、双跑对比没问题再下线重复的。最终效果是订单核销从第二天才能看到变成分钟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统一，统一标签，也就是统一指标。从公共模型出发，算出两类指标：一类是企业标准指标，统一定义、版本管理、业务认证，全公司一个口径；另一类是景区自定义指标，每个景区有自己的空间，相互隔离，不能和企业标准同名、不能覆盖标准。景区用得好的指标，评审后沉淀为企业标准。所有指标从同一个出口提供给小Q、动态数据开放 API 和 AI 问数，所以这三个地方看到的数字是一致的，开会不用再先对数。衡量看认证指标覆盖率，老板看板里要百分之百用认证指标。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个统一，统一权限。每个人能看到什么数据，由三把锁决定：角色、数据范围、字段敏感程度。左边这张表就是规则：集团管理层看汇总，看不到个人明细；数据团队敏感数据按项目授权，高敏数据审批后打码使用；业务线只看本业务线；景区只看本景区，游客信息授权后打码；供应商只看本供应商；外部伙伴只拿匿名汇总；AI 智能体不单独开权限，继承提问人的权限。权限的申请、审批、授权、使用、回收是一个闭环，到期自动收回，每季度复核。而且不管是数据仓库、数据地图、开放接口、小Q、标签平台还是 AI，都用这同一套规则。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第六个，自助分析。以前业务要看数据，要找数据团队提需求、等取数。以后从统一的模型、指标、标签出发，业务在小Q 上自己分析：搜指标、看明细、做计算、搭自己的看板、订阅报表，总部经营、各业务线、景区都能用。AI 问数和报表用的是同一套指标定义和权限，所以问出来的数和报表一致。数据团队从天天帮人取数、对数，转向建模型、做分析。最终的产出是：企业指标中心、景区专属指标空间、统一标签服务、统一语义服务和自助分析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公司整体，一句话：从找人要数变成数据找人。具体五个方面，每个都有衡量方法。可信：一个指标一个口径，数字可追溯，看认证指标覆盖率和对账差异率。及时：订单核销从第二天变成分钟级，看端到端延迟。效率：公共模型复用，改动影响能预判，看模型复用率和需求交付周期。成本：重复模型、没人用的报表和任务下线，看存储计算成本。安全：敏感数据分级、打码、可审计，看敏感字段识别覆盖率。衡量原则：先把现在的基线测出来再定目标；看实际使用和业务结果，不看上了多少个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第二部分：智能体平台，围绕三个目标，一条线建下去。主要讲：现状与底气、能做哪些、建设思路、跑通商业模式、快速占领市场、建自己的平台、贯穿始终的事。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我们做智能体，有三个别人很难复制的底气。第一，产品积累：这么多年做了智慧票务、景区业态管理、运营管理、财务管理、智慧终端、AI 数字大脑、畅游 AI、会员营销多条产品线，系统就装在景区现场。第二，数据在手里：交易和客流、售票分销库存价格、九大业态、年卡预约候补、订单结算发票、会员营销、闸机和物联设备、工单和推送，再加上第一部分治理好的指标和标签。第三，客户在用：大量景区已经在用我们的票务系统，接口现成，基本不用开发就能开通，信任也已经有了，成交最快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再看景区这一端，按景区的业务来看。经营分析：已有 AI 智能问数和智能洞察，可以扩展经营日报周报、报表解读。票务运营：票务 AI 运营助手、分销渠道助手、旅行社报团助手、检票异常解释、窗口售票员助手。业态运营：业态经营助手，覆盖乐园、演出、游船、酒店、温泉、餐饮、停车。运营服务：消息通知预警、工单调度处置。财务：AI 对账助手、发票助手。营销：会员画像、人群圈选、营销文案生成、推广员助手、活动复盘。安全调度：也就是景区 AI 调度中枢，旅游安全、秩序治理、车辆调度、游船调度、森林防火、生态监测、气象服务、设施监测。设备终端：设备运维诊断。这些系统都是我们自己的，扩展有基础。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怎么建？我们围绕三个目标来做：第一，跑通商业模式，就是确认能卖、能赚钱；第二，快速占领市场，就是铺得快、交付快；第三，建成自己的平台，就是更省钱、更可控、形成壁垒。建设流程是一条线走下来的：先选价值最高的场景，借扣子、火山方舟、羚羊小Q 这些成熟平台快速搭出来，在标杆景区试点验证，把定价和交付方式定下来，这是为了跑通商业模式；然后按业态把产品做成标准模板快速复制，同时把知识、接口、数据沉淀在自己手里，这是为了快速占领市场；等时机成熟，以数字大脑作为管理台建自己的平台，再把客户平稳迁过来。整个过程中有几件事一直要做：借平台但不交资产，数据从第一天回流，守住安全底线，培养自己的 AI 团队，用成本数据判断什么时候自建。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跑通商业模式，先回答五个问题。卖给谁：哪类景区最需要、最愿意付钱。卖什么：哪些智能体组合成一个包，景区最认。怎么收钱：随票务打包、年费订阅、按效果分成、按用量，下一页细讲。花多少钱：平台调用费、交付人力、运营支持。值不值：景区看得到价值，少用人工、多卖票、游客更满意。最后归结为右边这一笔账：一个景区一年的收入，减去平台调用费、交付成本的摊销、运营支持，大于零，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收钱，有四种方式。随票务打包：作为票务系统的增值模块，提高票务年费，适合已经用我们票务的景区，要验证能不能提升续约率和客单价。年费订阅：按景区规模或智能体数量分档收年费，适合新客户、单独采购，要验证景区能接受的价位。按效果分成：按 AI 带来的购票和二消收入分成，适合购票、营销类智能体，要验证增量能不能算清楚。按用量：按对话量或调用量收费，适合大客流景区，要验证景区能不能接受账单波动。建议验证期同时试前两种。景区认的价值有四个，每个都要能用数据证明：少用人工，看智能体解决咨询的比例和省下的客服人力；多卖票，看智能体带来的线上购票和二消订单；游客更满意，看满意度、差评率、排队等待；管理更省心，看报表、对账、预警的人工时间减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验证？四步。第一，挑标杆：从已经用我们票务的景区里挑，覆盖主要业态，有配合意愿，客流有代表性。第二，快速搭：在成熟平台上把现有智能体搭起来，再加上价值最高的新场景，比如智能购票。第三，跑一个完整旺季：节假日客流最能检验效果和成本。第四，数据从第一天就回流：对话、转人工、评价、订单都进数据平台，验证结论靠数据说话，不靠感觉。整个过程是：选场景、平台上搭、标杆试点、看效果、定价和交付定型。看五件事：有没有人用、能不能解决问题、景区愿不愿意付费、多久能交付、单景区成本多少。效果不好的回平台调整，没人用的场景及时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样才算商业模式跑通了？五条标准。用起来：标杆景区持续在用，问题解决率达标。有价值：景区认可的指标有提升。愿付费：有景区按拟定价格付费，或者明确续费。能赚钱：单景区收入覆盖平台费、交付和运营。可复制：不依赖核心研发，按标准流程就能上线。五条都满足，就转入规模复制。没过关：调整场景组合或者定价，再验证一轮；还不行的场景就停掉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跑通以后，要快速占领市场。先说打哪些客户。第一类，已经用我们票务的景区：随票务续约一起推，开通就能用，因为系统已经对接，基本零开发，信任也有，成交最快。第二类，同业态景区：用标杆案例按业态复制，场景相同，模板直接复用。第三类，新客户：智能体作为差异化卖点，带动票务签约，用 AI 撬动新客户。业态上，先做客流大、咨询多、线上购票比例高的：山岳、主题乐园、古镇街区；再到博物馆、温泉度假、游船演出。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销售和续费怎么做？四个环节。销售：票务销售团队带单，智能体纳入销售考核，区域渠道伙伴代理。案例：每类业态的标杆做成案例，用数据讲效果。客户成功：上线后定期给景区出效果报告，比如解决了多少咨询、带来了多少订单、转人工率多少，促进续费。升级：模板统一升级，所有景区同步受益，增加粘性。右边是效果报告的样子，这是示意，具体数字由系统自动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托外部平台的同时，有六样东西必须留在自己手里，这是将来自建平台能低成本切过去的前提。一，景区知识：按我们自己的结构存一份，不只存在外部平台，以后直接导入自建平台。二，业务接口：售票、订单、核销、会员这些接口由我们自己封装成服务，外部平台只是调用，以后平台直接复用。三，模板设计：每个模板的流程、提示词、配置项写成文档，以后迁入模板库。四，交互数据：对话、评价、转人工记录回流到数据平台，用来做测试题、优化效果。五，成本数据：按景区、按智能体记录每月平台费用，用来判断什么时候该自建。六，需求清单：记录客户要、但平台做不了的功能，这就是自建平台的需求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借平台在前期很划算，但规模越大，弊端越明显。一，成本越做越高：平台按调用、账号、空间收费，景区越多平台费越高，利润被平台分走。二，交付受限：功能受平台限制，个性需求做不了；多个平台要分别配置、分别维护。三，资产在外部：工作流、知识库、对话数据留在第三方平台，难沉淀、难迁移。四，管理分散：多平台多入口，权限、计量、监控各管各的。五，受制于人：平台一调价、改规则、下线功能，直接影响我们的交付和报价。六，难形成壁垒：同样的平台谁都能用；景区和游客数据出域还有合规顾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什么时候自己建？看左边这张示意图：继续用成熟平台，平台费随景区数量线性上涨；自己建，前期有一笔建设投入，之后主要是模型调用和运维，涨得慢。两条线交叉的地方，就是该自建的时候。具体看五个信号：成本交叉，用前面记录的成本数据测算，自建总成本已经更低；平台费占比上升，平台费占智能体收入的比例持续上升，压缩利润；场景稳定，主力智能体模板已经稳定，不再频繁大改；平台限制丢单，个性需求或大客户项目因为平台限制接不了；合规要求，景区或管理方要求数据不出域。满足任意两条，就启动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不是什么都自己做。大模型不自研，直接调用模型服务，多家可以替换，因为投入太大，也不是我们的优势。语音、图像、数字人、手语这些专业能力，采购或者合作，自建不划算。编排引擎，就是让智能体按流程干活的引擎，用开源框架二次开发，不从零写，缩短周期。真正要自建的是三样：智能体管理台、能力与知识、业务工具，因为它们承载着我们的业务、数据和交付方式，是壁垒所在。数据服务直接复用第一部分的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自建平台长这样，从上往下看。最上面是渠道入口：畅游小程序、票付通 APP、景数通、公众号小程序、智慧终端都已经有了，再自建开放接口。往下是智能体应用：游客服务、景区管理、票务财务、安全调度、精准营销，按场景模板生成，自建。核心是智能体管理台，就是数字大脑，自建：一半是搭建，模板库、可视化编排、配置化生成、多智能体协同、测试与发布；一半是运营，集团和景区多租户、权限、运行监控、费用计量到景区、效果评估。再往下是能力层：业务工具中心、景区知识库、游客记忆与画像、测试用例库自建，数据服务复用。引擎层：编排和检索用开源改造，模型网关和内容安全自建，模型网关能统一接各家模型、路由、降级、计量。外部能力：大模型多家可替换，语音图像数字人、手语、小Q 采购或合作。最底下数据底座复用第一部分。右边是前期留在手里的资产，分别落到哪：知识进知识库，接口进业务工具中心，模板进模板库，交互数据变成测试用例和游客画像，成本记录变成计量和定价依据，需求清单变成首批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从产品全景来看，智能体分布在四条产品线：畅游 AI 面向游客，有智能助手、智能客服、智能导览、AI 伴游、AI 旅拍、手语，还要做 AI 旅游规划、AI 智能购票；AI 数字大脑面向景区管理者，有智能问数、智能洞察，还要做消息通知预警、工单调度处置；智慧票务面向票务和财务，要做票务 AI 运营助手、AI 对账助手；景区 AI 调度中枢面向安全调度，要做旅游安全、秩序治理、车辆调度、游船调度、森林防火、生态监测、气象服务、设施监测。这些最终都放到自己的平台上，统一搭建、统一运营、统一计量到景区、统一评估效果。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建平台，对公司意味着什么？六个方面对比。成本：借平台按调用、账号收费，随景区数增长；自建只付模型调用和自身运维，单景区成本下降，规模越大利润越高。交付周期：借平台每个景区要在外部平台单独配置调试；自建集团建一次，景区开通即用，省交付人天，上线更快，能承接更多景区。定制能力：借平台个性需求受限；自建可以自主扩展，能接大客户和个性项目。数据资产：借平台工作流、知识、对话数据在外部；自建全部在自己手里，回流数据平台，越用越准。风险：借平台调价改规则直接影响报价；自建自主可控，模型可替换，经营稳定。竞争力：借平台谁都能做；自建是业务系统加数据加平台一体，形成壁垒，提高续约和客单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从借平台切到自建平台？五步，不搞一刀切。第一步，核心先上：先把核心模块和主力智能体放到自建平台。第二步，对比验证：用同一套测试题对比，效果不低于成熟平台才切。第三步，新增先上：新签的景区直接上自建平台。第四步，存量随续约迁移：老景区在续约时逐个迁移，双轨运行，随时可以回退。第五步，成熟平台转为补充：外部平台不是一下子不用，而是变成补充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有四个风险，都有应对。投入超预期：小团队先做核心模块，跟着迁移进度分批投入。效果不如成熟平台：迁移前用同一套测试题对比，达标才切。迁移影响客户：双轨运行、逐个迁移、可以回退。团队能力不足：前期就开始培养自己的 AI 应用团队，自建时延续。另外，智能体从第一天起就要守住四条底线：只用授权数据，数据按景区隔离，景区只能看到自己的数据；关键动作人工确认，退款、调度这些处置要人点确认；不碰敏感信息，手机号、证件号不进对话和知识库，展示时打码；不乱承诺，价格和退改规则以系统返回为准，答不了就转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第三部分：AI＋数据平台，数据在公司里转起来，越用越准。主要讲：数据怎么流转、五个环节的闭环、一张门票的例子。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湖仓公共模型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这张图简化成一个圈，五个环节。第一，生产：票务、业态、运营、财务、终端、畅游、会员营销各个产品，产生交易、核销、客流、设备、会员、财务数据。第二，治理：数据团队用第一部分的数据平台，做出公共模型、认证指标、统一标签和景区知识。第三，应用：智能体和各个应用，提供游客服务、经营分析、运营提效、预警调度。第四，回流：智能体和应用自动回传问答记录、评价、转人工、工单结果、使用行为，统一入湖。第五，反哺：业务线用这些指标、标签、洞察去调定价、圈人做营销、优化预约和调度。反哺后的业务又产生新数据，进入下一轮。每转一圈，数据更全、指标更准、智能体更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已经用我们票务的景区做标杆，在成熟平台上搭好现有智能体，加上高价值的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8.png"/><Relationship Id="rId9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29.png"/><Relationship Id="rId7" Type="http://schemas.openxmlformats.org/officeDocument/2006/relationships/image" Target="../media/image4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2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63.png"/><Relationship Id="rId9" Type="http://schemas.openxmlformats.org/officeDocument/2006/relationships/image" Target="../media/image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5.png"/><Relationship Id="rId4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8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7.png"/><Relationship Id="rId4" Type="http://schemas.openxmlformats.org/officeDocument/2006/relationships/image" Target="../media/image58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8.png"/><Relationship Id="rId8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9.png"/><Relationship Id="rId4" Type="http://schemas.openxmlformats.org/officeDocument/2006/relationships/image" Target="../media/image41.png"/><Relationship Id="rId5" Type="http://schemas.openxmlformats.org/officeDocument/2006/relationships/image" Target="../media/image40.png"/><Relationship Id="rId6" Type="http://schemas.openxmlformats.org/officeDocument/2006/relationships/image" Target="../media/image42.png"/><Relationship Id="rId7" Type="http://schemas.openxmlformats.org/officeDocument/2006/relationships/image" Target="../media/image70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image" Target="../media/image60.png"/><Relationship Id="rId11" Type="http://schemas.openxmlformats.org/officeDocument/2006/relationships/image" Target="../media/image7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72.png"/><Relationship Id="rId5" Type="http://schemas.openxmlformats.org/officeDocument/2006/relationships/image" Target="../media/image27.png"/><Relationship Id="rId6" Type="http://schemas.openxmlformats.org/officeDocument/2006/relationships/image" Target="../media/image7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4.png"/><Relationship Id="rId4" Type="http://schemas.openxmlformats.org/officeDocument/2006/relationships/image" Target="../media/image3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53.png"/><Relationship Id="rId8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png"/><Relationship Id="rId4" Type="http://schemas.openxmlformats.org/officeDocument/2006/relationships/image" Target="../media/image77.png"/><Relationship Id="rId5" Type="http://schemas.openxmlformats.org/officeDocument/2006/relationships/image" Target="../media/image6.png"/><Relationship Id="rId6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3.png"/><Relationship Id="rId6" Type="http://schemas.openxmlformats.org/officeDocument/2006/relationships/image" Target="../media/image55.png"/><Relationship Id="rId7" Type="http://schemas.openxmlformats.org/officeDocument/2006/relationships/image" Target="../media/image46.png"/><Relationship Id="rId8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0.png"/><Relationship Id="rId4" Type="http://schemas.openxmlformats.org/officeDocument/2006/relationships/image" Target="../media/image78.png"/><Relationship Id="rId5" Type="http://schemas.openxmlformats.org/officeDocument/2006/relationships/image" Target="../media/image81.png"/><Relationship Id="rId6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7.png"/><Relationship Id="rId4" Type="http://schemas.openxmlformats.org/officeDocument/2006/relationships/image" Target="../media/image82.png"/><Relationship Id="rId5" Type="http://schemas.openxmlformats.org/officeDocument/2006/relationships/image" Target="../media/image66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Relationship Id="rId4" Type="http://schemas.openxmlformats.org/officeDocument/2006/relationships/image" Target="../media/image34.png"/><Relationship Id="rId5" Type="http://schemas.openxmlformats.org/officeDocument/2006/relationships/image" Target="../media/image85.png"/><Relationship Id="rId6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8.png"/><Relationship Id="rId4" Type="http://schemas.openxmlformats.org/officeDocument/2006/relationships/image" Target="../media/image86.png"/><Relationship Id="rId5" Type="http://schemas.openxmlformats.org/officeDocument/2006/relationships/image" Target="../media/image87.png"/><Relationship Id="rId6" Type="http://schemas.openxmlformats.org/officeDocument/2006/relationships/image" Target="../media/image8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9.png"/><Relationship Id="rId4" Type="http://schemas.openxmlformats.org/officeDocument/2006/relationships/image" Target="../media/image3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91.png"/><Relationship Id="rId4" Type="http://schemas.openxmlformats.org/officeDocument/2006/relationships/image" Target="../media/image51.png"/><Relationship Id="rId5" Type="http://schemas.openxmlformats.org/officeDocument/2006/relationships/image" Target="../media/image92.png"/><Relationship Id="rId6" Type="http://schemas.openxmlformats.org/officeDocument/2006/relationships/image" Target="../media/image52.png"/><Relationship Id="rId7" Type="http://schemas.openxmlformats.org/officeDocument/2006/relationships/image" Target="../media/image23.png"/><Relationship Id="rId8" Type="http://schemas.openxmlformats.org/officeDocument/2006/relationships/image" Target="../media/image93.png"/><Relationship Id="rId9" Type="http://schemas.openxmlformats.org/officeDocument/2006/relationships/image" Target="../media/image68.png"/><Relationship Id="rId10" Type="http://schemas.openxmlformats.org/officeDocument/2006/relationships/image" Target="../media/image3.png"/><Relationship Id="rId11" Type="http://schemas.openxmlformats.org/officeDocument/2006/relationships/image" Target="../media/image50.png"/><Relationship Id="rId12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1.png"/><Relationship Id="rId4" Type="http://schemas.openxmlformats.org/officeDocument/2006/relationships/image" Target="../media/image94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7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95.png"/><Relationship Id="rId4" Type="http://schemas.openxmlformats.org/officeDocument/2006/relationships/image" Target="../media/image8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37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100.png"/><Relationship Id="rId11" Type="http://schemas.openxmlformats.org/officeDocument/2006/relationships/image" Target="../media/image101.png"/><Relationship Id="rId12" Type="http://schemas.openxmlformats.org/officeDocument/2006/relationships/image" Target="../media/image3.png"/><Relationship Id="rId13" Type="http://schemas.openxmlformats.org/officeDocument/2006/relationships/image" Target="../media/image35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34.png"/><Relationship Id="rId18" Type="http://schemas.openxmlformats.org/officeDocument/2006/relationships/image" Target="../media/image36.png"/><Relationship Id="rId19" Type="http://schemas.openxmlformats.org/officeDocument/2006/relationships/image" Target="../media/image105.png"/><Relationship Id="rId20" Type="http://schemas.openxmlformats.org/officeDocument/2006/relationships/image" Target="../media/image22.png"/><Relationship Id="rId21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9.png"/><Relationship Id="rId4" Type="http://schemas.openxmlformats.org/officeDocument/2006/relationships/image" Target="../media/image85.png"/><Relationship Id="rId5" Type="http://schemas.openxmlformats.org/officeDocument/2006/relationships/image" Target="../media/image96.png"/><Relationship Id="rId6" Type="http://schemas.openxmlformats.org/officeDocument/2006/relationships/image" Target="../media/image64.png"/><Relationship Id="rId7" Type="http://schemas.openxmlformats.org/officeDocument/2006/relationships/image" Target="../media/image110.png"/><Relationship Id="rId8" Type="http://schemas.openxmlformats.org/officeDocument/2006/relationships/image" Target="../media/image101.png"/><Relationship Id="rId9" Type="http://schemas.openxmlformats.org/officeDocument/2006/relationships/image" Target="../media/image111.png"/><Relationship Id="rId10" Type="http://schemas.openxmlformats.org/officeDocument/2006/relationships/image" Target="../media/image1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1.png"/><Relationship Id="rId4" Type="http://schemas.openxmlformats.org/officeDocument/2006/relationships/image" Target="../media/image95.png"/><Relationship Id="rId5" Type="http://schemas.openxmlformats.org/officeDocument/2006/relationships/image" Target="../media/image116.png"/><Relationship Id="rId6" Type="http://schemas.openxmlformats.org/officeDocument/2006/relationships/image" Target="../media/image92.png"/><Relationship Id="rId7" Type="http://schemas.openxmlformats.org/officeDocument/2006/relationships/image" Target="../media/image11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3.png"/><Relationship Id="rId4" Type="http://schemas.openxmlformats.org/officeDocument/2006/relationships/image" Target="../media/image51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19.png"/><Relationship Id="rId4" Type="http://schemas.openxmlformats.org/officeDocument/2006/relationships/image" Target="../media/image114.png"/><Relationship Id="rId5" Type="http://schemas.openxmlformats.org/officeDocument/2006/relationships/image" Target="../media/image120.png"/><Relationship Id="rId6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.png"/><Relationship Id="rId4" Type="http://schemas.openxmlformats.org/officeDocument/2006/relationships/image" Target="../media/image121.png"/><Relationship Id="rId5" Type="http://schemas.openxmlformats.org/officeDocument/2006/relationships/image" Target="../media/image6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22.png"/><Relationship Id="rId4" Type="http://schemas.openxmlformats.org/officeDocument/2006/relationships/image" Target="../media/image12.png"/><Relationship Id="rId5" Type="http://schemas.openxmlformats.org/officeDocument/2006/relationships/image" Target="../media/image123.png"/><Relationship Id="rId6" Type="http://schemas.openxmlformats.org/officeDocument/2006/relationships/image" Target="../media/image124.png"/><Relationship Id="rId7" Type="http://schemas.openxmlformats.org/officeDocument/2006/relationships/image" Target="../media/image96.png"/><Relationship Id="rId8" Type="http://schemas.openxmlformats.org/officeDocument/2006/relationships/image" Target="../media/image88.png"/><Relationship Id="rId9" Type="http://schemas.openxmlformats.org/officeDocument/2006/relationships/image" Target="../media/image39.png"/><Relationship Id="rId10" Type="http://schemas.openxmlformats.org/officeDocument/2006/relationships/image" Target="../media/image125.png"/><Relationship Id="rId11" Type="http://schemas.openxmlformats.org/officeDocument/2006/relationships/image" Target="../media/image1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7.png"/><Relationship Id="rId4" Type="http://schemas.openxmlformats.org/officeDocument/2006/relationships/image" Target="../media/image95.png"/><Relationship Id="rId5" Type="http://schemas.openxmlformats.org/officeDocument/2006/relationships/image" Target="../media/image74.png"/><Relationship Id="rId6" Type="http://schemas.openxmlformats.org/officeDocument/2006/relationships/image" Target="../media/image127.png"/><Relationship Id="rId7" Type="http://schemas.openxmlformats.org/officeDocument/2006/relationships/image" Target="../media/image58.png"/><Relationship Id="rId8" Type="http://schemas.openxmlformats.org/officeDocument/2006/relationships/image" Target="../media/image11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67.png"/><Relationship Id="rId4" Type="http://schemas.openxmlformats.org/officeDocument/2006/relationships/image" Target="../media/image128.png"/><Relationship Id="rId5" Type="http://schemas.openxmlformats.org/officeDocument/2006/relationships/image" Target="../media/image93.png"/><Relationship Id="rId6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76.png"/><Relationship Id="rId4" Type="http://schemas.openxmlformats.org/officeDocument/2006/relationships/image" Target="../media/image74.png"/><Relationship Id="rId5" Type="http://schemas.openxmlformats.org/officeDocument/2006/relationships/image" Target="../media/image7.png"/><Relationship Id="rId6" Type="http://schemas.openxmlformats.org/officeDocument/2006/relationships/image" Target="../media/image13.png"/><Relationship Id="rId7" Type="http://schemas.openxmlformats.org/officeDocument/2006/relationships/image" Target="../media/image129.png"/><Relationship Id="rId8" Type="http://schemas.openxmlformats.org/officeDocument/2006/relationships/image" Target="../media/image116.png"/><Relationship Id="rId9" Type="http://schemas.openxmlformats.org/officeDocument/2006/relationships/image" Target="../media/image13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31.png"/><Relationship Id="rId4" Type="http://schemas.openxmlformats.org/officeDocument/2006/relationships/image" Target="../media/image77.png"/><Relationship Id="rId5" Type="http://schemas.openxmlformats.org/officeDocument/2006/relationships/image" Target="../media/image132.png"/><Relationship Id="rId6" Type="http://schemas.openxmlformats.org/officeDocument/2006/relationships/image" Target="../media/image133.png"/><Relationship Id="rId7" Type="http://schemas.openxmlformats.org/officeDocument/2006/relationships/image" Target="../media/image15.png"/><Relationship Id="rId8" Type="http://schemas.openxmlformats.org/officeDocument/2006/relationships/image" Target="../media/image63.png"/><Relationship Id="rId9" Type="http://schemas.openxmlformats.org/officeDocument/2006/relationships/image" Target="../media/image1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chart" Target="../charts/chart1.xml"/><Relationship Id="rId4" Type="http://schemas.openxmlformats.org/officeDocument/2006/relationships/image" Target="../media/image116.png"/><Relationship Id="rId5" Type="http://schemas.openxmlformats.org/officeDocument/2006/relationships/image" Target="../media/image131.png"/><Relationship Id="rId6" Type="http://schemas.openxmlformats.org/officeDocument/2006/relationships/image" Target="../media/image29.png"/><Relationship Id="rId7" Type="http://schemas.openxmlformats.org/officeDocument/2006/relationships/image" Target="../media/image134.png"/><Relationship Id="rId8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15.png"/><Relationship Id="rId7" Type="http://schemas.openxmlformats.org/officeDocument/2006/relationships/image" Target="../media/image3.png"/><Relationship Id="rId8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15.png"/><Relationship Id="rId4" Type="http://schemas.openxmlformats.org/officeDocument/2006/relationships/image" Target="../media/image138.png"/><Relationship Id="rId5" Type="http://schemas.openxmlformats.org/officeDocument/2006/relationships/image" Target="../media/image135.png"/><Relationship Id="rId6" Type="http://schemas.openxmlformats.org/officeDocument/2006/relationships/image" Target="../media/image51.png"/><Relationship Id="rId7" Type="http://schemas.openxmlformats.org/officeDocument/2006/relationships/image" Target="../media/image1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40.png"/><Relationship Id="rId4" Type="http://schemas.openxmlformats.org/officeDocument/2006/relationships/image" Target="../media/image7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8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44.png"/><Relationship Id="rId4" Type="http://schemas.openxmlformats.org/officeDocument/2006/relationships/image" Target="../media/image43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image" Target="../media/image147.png"/><Relationship Id="rId8" Type="http://schemas.openxmlformats.org/officeDocument/2006/relationships/image" Target="../media/image2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4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49.png"/><Relationship Id="rId4" Type="http://schemas.openxmlformats.org/officeDocument/2006/relationships/image" Target="../media/image148.png"/><Relationship Id="rId5" Type="http://schemas.openxmlformats.org/officeDocument/2006/relationships/image" Target="../media/image81.png"/><Relationship Id="rId6" Type="http://schemas.openxmlformats.org/officeDocument/2006/relationships/image" Target="../media/image150.png"/><Relationship Id="rId7" Type="http://schemas.openxmlformats.org/officeDocument/2006/relationships/image" Target="../media/image15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85.png"/><Relationship Id="rId4" Type="http://schemas.openxmlformats.org/officeDocument/2006/relationships/image" Target="../media/image142.png"/><Relationship Id="rId5" Type="http://schemas.openxmlformats.org/officeDocument/2006/relationships/image" Target="../media/image109.png"/><Relationship Id="rId6" Type="http://schemas.openxmlformats.org/officeDocument/2006/relationships/image" Target="../media/image81.png"/><Relationship Id="rId7" Type="http://schemas.openxmlformats.org/officeDocument/2006/relationships/image" Target="../media/image150.png"/><Relationship Id="rId8" Type="http://schemas.openxmlformats.org/officeDocument/2006/relationships/image" Target="../media/image131.png"/><Relationship Id="rId9" Type="http://schemas.openxmlformats.org/officeDocument/2006/relationships/image" Target="../media/image5.png"/><Relationship Id="rId10" Type="http://schemas.openxmlformats.org/officeDocument/2006/relationships/image" Target="../media/image7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27.png"/><Relationship Id="rId6" Type="http://schemas.openxmlformats.org/officeDocument/2006/relationships/image" Target="../media/image15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把数据用起来，让 AI 帮我们干活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899979" y="1850427"/>
            <a:ext cx="839204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我们要做的三件事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数据是底子，智能体是抓手，两者打通才能越用越好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02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6060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351" y="2145228"/>
            <a:ext cx="443484" cy="44348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16060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617595"/>
            <a:ext cx="195132" cy="1951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99890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定规矩、统一编号和口径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16730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99890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每天自动体检，错数拦在报表外</a:t>
            </a:r>
          </a:p>
        </p:txBody>
      </p:sp>
      <p:pic>
        <p:nvPicPr>
          <p:cNvPr id="55" name="Picture 5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415866"/>
            <a:ext cx="195132" cy="1951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9890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订单、核销从第二天看到变成分钟级</a:t>
            </a:r>
          </a:p>
        </p:txBody>
      </p:sp>
      <p:pic>
        <p:nvPicPr>
          <p:cNvPr id="57" name="Picture 5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815001"/>
            <a:ext cx="195132" cy="19513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99890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先做“订单 → 核销 → 结算”主线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52970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52970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52970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4712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003" y="2145228"/>
            <a:ext cx="443484" cy="4434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74712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4712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先借力卖起来，再自己建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3617595"/>
            <a:ext cx="195132" cy="1951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58542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借现成平台，几周做出来去卖</a:t>
            </a: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016730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58542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标杆景区验证能卖、能赚钱</a:t>
            </a:r>
          </a:p>
        </p:txBody>
      </p:sp>
      <p:pic>
        <p:nvPicPr>
          <p:cNvPr id="70" name="Picture 6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415866"/>
            <a:ext cx="195132" cy="1951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58542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跑通后按业态快速复制抢市场</a:t>
            </a:r>
          </a:p>
        </p:txBody>
      </p:sp>
      <p:pic>
        <p:nvPicPr>
          <p:cNvPr id="72" name="Picture 7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815001"/>
            <a:ext cx="195132" cy="1951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858542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规模起来后自建，省钱、交付快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11622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11622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33364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pic>
        <p:nvPicPr>
          <p:cNvPr id="78" name="Picture 77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655" y="2145228"/>
            <a:ext cx="443484" cy="44348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933364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AI＋数据平台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3364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数据在公司里转起来</a:t>
            </a:r>
          </a:p>
        </p:txBody>
      </p:sp>
      <p:pic>
        <p:nvPicPr>
          <p:cNvPr id="81" name="Picture 8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3617595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217194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业务产生数据，平台统一整理</a:t>
            </a:r>
          </a:p>
        </p:txBody>
      </p:sp>
      <p:pic>
        <p:nvPicPr>
          <p:cNvPr id="83" name="Picture 8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016730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217194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智能体和报表用同一套数</a:t>
            </a: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415866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217194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问答、评价、处置结果回流</a:t>
            </a:r>
          </a:p>
        </p:txBody>
      </p:sp>
      <p:pic>
        <p:nvPicPr>
          <p:cNvPr id="87" name="Picture 8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815001"/>
            <a:ext cx="195132" cy="1951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8217194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82661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rIns="177393" bIns="0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需要您支持　</a:t>
            </a:r>
            <a:r>
              <a:rPr sz="1350" b="0">
                <a:solidFill>
                  <a:srgbClr val="1F3A35"/>
                </a:solidFill>
                <a:latin typeface="微软雅黑"/>
                <a:ea typeface="微软雅黑"/>
              </a:rPr>
              <a:t>口径由谁拍板 · 规范强制执行 · 标杆景区与销售配合 · 自建时点决策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智能体平台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AI＋数据平台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接下来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现状与问题 · 怎么建 · 怎么治理 · 建成后的变化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能做什么 · 先验证 · 再复制 · 后自建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数据怎么流转 · 闭环 · 一个例子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先做的三件事 · 需要的支持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现状与问题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手里的数据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数据治理八步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六个统一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建成后的变化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工具基本齐了，每天的主流程也跑通了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已经花的钱都在用，接下来是在这个基础上补齐，而不是推倒重来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74850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DataWorks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4850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数据加工“车间”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已买：开发 · 调度 · 找数 · 管资产 · 出数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070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lu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659" y="232986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93839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3839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对内对外的数据“窗口”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9070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指标对内对外提供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209690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648" y="2329868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812828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828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看报表、做分析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09690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报表展示与 AI 问数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28679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warehou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37" y="2329868"/>
            <a:ext cx="243916" cy="24391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331817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湖仓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31817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存数据的“仓库”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28679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部分模型已建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742364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6233" y="3671407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已经跑通：每天凌晨自动跑一遍的“数据流水线”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9796" y="3671407"/>
            <a:ext cx="319308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供应商 / 游客 / 会员 → 订单 → 维度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原样存一份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173986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ODS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278599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034344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去重、补全、纠错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14012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4826020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74371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字典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景区、商品等基础信息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54038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DIM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6866046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14397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按天、按景区算好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94064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DWS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890607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54424" y="4114891"/>
            <a:ext cx="1738457" cy="88696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报表、接口直接用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334091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ADS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223601"/>
            <a:ext cx="9898562" cy="585398"/>
          </a:xfrm>
          <a:prstGeom prst="roundRect">
            <a:avLst>
              <a:gd name="adj" fmla="val 15151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riangle-alert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711" y="5383255"/>
            <a:ext cx="266090" cy="26609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544237" y="5223601"/>
            <a:ext cx="1064361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还没建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3467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70407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数据质量检查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610684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567624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指标口径管理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807901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数据规范落地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六个平时真实遇到的麻烦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每一条都能在日常工作里找到例子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平时是什么样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为什么会这样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想看“售票 + 二消 + 结算”，要从 3 个以上系统导数、手工拼表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没有统一接入；景区、商品、渠道编号各系统不一样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一个数多个答案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同一天同一景区，看板、对账、接口三处“核销量”不一样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公司层面没有统一的指标定义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表名随意、字段没说明、出了问题找不到负责人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规范只写在文档里，上线没有人卡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订单宽表离线、湖仓各做一份，结果还对不上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没有统一的公共层，各做各的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入园、核销和现场对不上，节假日更明显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补传、重复上报、撤销冲正、时间口径混用，缺逐层核对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看得慢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高峰期订单、核销第二天才看到，预警靠人盯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只有每天跑一次的离线链路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前五个是“管理问题”，要系统治理；第六个是“能力缺口”，要补实时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根因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五个问题看着分散，根子只有一个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数据平台</a:t>
            </a:r>
          </a:p>
        </p:txBody>
      </p:sp>
      <p:grpSp>
        <p:nvGrpSpPr>
          <p:cNvPr id="20800" name="素材 31"/>
          <p:cNvGrpSpPr/>
          <p:nvPr/>
        </p:nvGrpSpPr>
        <p:grpSpPr>
          <a:xfrm>
            <a:off x="994318" y="1684324"/>
            <a:ext cx="6474866" cy="2683020"/>
            <a:chOff x="1728589" y="2236993"/>
            <a:chExt cx="7979490" cy="3306499"/>
          </a:xfrm>
        </p:grpSpPr>
        <p:grpSp>
          <p:nvGrpSpPr>
            <p:cNvPr id="208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08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08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08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08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08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08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08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08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08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08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0821" name="Picture 20820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380" y="1997085"/>
            <a:ext cx="390265" cy="390265"/>
          </a:xfrm>
          <a:prstGeom prst="rect">
            <a:avLst/>
          </a:prstGeom>
        </p:spPr>
      </p:pic>
      <p:sp>
        <p:nvSpPr>
          <p:cNvPr id="20822" name="TextBox 20821"/>
          <p:cNvSpPr txBox="1"/>
          <p:nvPr/>
        </p:nvSpPr>
        <p:spPr>
          <a:xfrm>
            <a:off x="982242" y="244056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20823" name="TextBox 20822"/>
          <p:cNvSpPr txBox="1"/>
          <p:nvPr/>
        </p:nvSpPr>
        <p:spPr>
          <a:xfrm>
            <a:off x="893545" y="3736134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编号不统一</a:t>
            </a:r>
          </a:p>
        </p:txBody>
      </p:sp>
      <p:pic>
        <p:nvPicPr>
          <p:cNvPr id="20824" name="Picture 20823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9646" y="2709386"/>
            <a:ext cx="390265" cy="390265"/>
          </a:xfrm>
          <a:prstGeom prst="rect">
            <a:avLst/>
          </a:prstGeom>
        </p:spPr>
      </p:pic>
      <p:sp>
        <p:nvSpPr>
          <p:cNvPr id="20825" name="TextBox 20824"/>
          <p:cNvSpPr txBox="1"/>
          <p:nvPr/>
        </p:nvSpPr>
        <p:spPr>
          <a:xfrm>
            <a:off x="2206508" y="315287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口径不一</a:t>
            </a:r>
          </a:p>
        </p:txBody>
      </p:sp>
      <p:sp>
        <p:nvSpPr>
          <p:cNvPr id="20826" name="TextBox 20825"/>
          <p:cNvSpPr txBox="1"/>
          <p:nvPr/>
        </p:nvSpPr>
        <p:spPr>
          <a:xfrm>
            <a:off x="2117811" y="4418755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没有统一定义</a:t>
            </a:r>
          </a:p>
        </p:txBody>
      </p:sp>
      <p:pic>
        <p:nvPicPr>
          <p:cNvPr id="20827" name="Picture 20826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3912" y="1997085"/>
            <a:ext cx="390265" cy="390265"/>
          </a:xfrm>
          <a:prstGeom prst="rect">
            <a:avLst/>
          </a:prstGeom>
        </p:spPr>
      </p:pic>
      <p:sp>
        <p:nvSpPr>
          <p:cNvPr id="20828" name="TextBox 20827"/>
          <p:cNvSpPr txBox="1"/>
          <p:nvPr/>
        </p:nvSpPr>
        <p:spPr>
          <a:xfrm>
            <a:off x="3430774" y="244056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20829" name="TextBox 20828"/>
          <p:cNvSpPr txBox="1"/>
          <p:nvPr/>
        </p:nvSpPr>
        <p:spPr>
          <a:xfrm>
            <a:off x="3342077" y="3736134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规范没人卡</a:t>
            </a:r>
          </a:p>
        </p:txBody>
      </p:sp>
      <p:pic>
        <p:nvPicPr>
          <p:cNvPr id="20830" name="Picture 20829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599" y="2709386"/>
            <a:ext cx="390265" cy="390265"/>
          </a:xfrm>
          <a:prstGeom prst="rect">
            <a:avLst/>
          </a:prstGeom>
        </p:spPr>
      </p:pic>
      <p:sp>
        <p:nvSpPr>
          <p:cNvPr id="20831" name="TextBox 20830"/>
          <p:cNvSpPr txBox="1"/>
          <p:nvPr/>
        </p:nvSpPr>
        <p:spPr>
          <a:xfrm>
            <a:off x="4662460" y="315287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20832" name="TextBox 20831"/>
          <p:cNvSpPr txBox="1"/>
          <p:nvPr/>
        </p:nvSpPr>
        <p:spPr>
          <a:xfrm>
            <a:off x="4573764" y="4418755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没有公共层</a:t>
            </a:r>
          </a:p>
        </p:txBody>
      </p:sp>
      <p:pic>
        <p:nvPicPr>
          <p:cNvPr id="20833" name="Picture 20832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6154" y="1997085"/>
            <a:ext cx="390265" cy="390265"/>
          </a:xfrm>
          <a:prstGeom prst="rect">
            <a:avLst/>
          </a:prstGeom>
        </p:spPr>
      </p:pic>
      <p:sp>
        <p:nvSpPr>
          <p:cNvPr id="20834" name="TextBox 20833"/>
          <p:cNvSpPr txBox="1"/>
          <p:nvPr/>
        </p:nvSpPr>
        <p:spPr>
          <a:xfrm>
            <a:off x="5883016" y="244056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20835" name="TextBox 20834"/>
          <p:cNvSpPr txBox="1"/>
          <p:nvPr/>
        </p:nvSpPr>
        <p:spPr>
          <a:xfrm>
            <a:off x="5794319" y="3736134"/>
            <a:ext cx="1773936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缺逐层核对</a:t>
            </a:r>
          </a:p>
        </p:txBody>
      </p:sp>
      <p:sp>
        <p:nvSpPr>
          <p:cNvPr id="20836" name="Right Arrow 20835"/>
          <p:cNvSpPr/>
          <p:nvPr/>
        </p:nvSpPr>
        <p:spPr>
          <a:xfrm>
            <a:off x="7602230" y="2704338"/>
            <a:ext cx="372526" cy="319308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7" name="Rounded Rectangle 20836"/>
          <p:cNvSpPr/>
          <p:nvPr/>
        </p:nvSpPr>
        <p:spPr>
          <a:xfrm>
            <a:off x="8116671" y="1684324"/>
            <a:ext cx="2776209" cy="2439162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8" name="TextBox 20837"/>
          <p:cNvSpPr txBox="1"/>
          <p:nvPr/>
        </p:nvSpPr>
        <p:spPr>
          <a:xfrm>
            <a:off x="8382762" y="1817370"/>
            <a:ext cx="2332725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DDF1EC"/>
                </a:solidFill>
                <a:latin typeface="微软雅黑"/>
                <a:ea typeface="微软雅黑"/>
              </a:rPr>
              <a:t>根子</a:t>
            </a:r>
          </a:p>
        </p:txBody>
      </p:sp>
      <p:sp>
        <p:nvSpPr>
          <p:cNvPr id="20839" name="TextBox 20838"/>
          <p:cNvSpPr txBox="1"/>
          <p:nvPr/>
        </p:nvSpPr>
        <p:spPr>
          <a:xfrm>
            <a:off x="8382762" y="2172157"/>
            <a:ext cx="2332725" cy="14191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2050" b="1">
                <a:solidFill>
                  <a:srgbClr val="FFFFFF"/>
                </a:solidFill>
                <a:latin typeface="微软雅黑"/>
                <a:ea typeface="微软雅黑"/>
              </a:rPr>
              <a:t>缺少统一的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2050" b="1">
                <a:solidFill>
                  <a:srgbClr val="FFFFFF"/>
                </a:solidFill>
                <a:latin typeface="微软雅黑"/>
                <a:ea typeface="微软雅黑"/>
              </a:rPr>
              <a:t>标准、模型、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2050" b="1">
                <a:solidFill>
                  <a:srgbClr val="FFFFFF"/>
                </a:solidFill>
                <a:latin typeface="微软雅黑"/>
                <a:ea typeface="微软雅黑"/>
              </a:rPr>
              <a:t>口径和检查</a:t>
            </a:r>
          </a:p>
        </p:txBody>
      </p:sp>
      <p:sp>
        <p:nvSpPr>
          <p:cNvPr id="20840" name="TextBox 20839"/>
          <p:cNvSpPr txBox="1"/>
          <p:nvPr/>
        </p:nvSpPr>
        <p:spPr>
          <a:xfrm>
            <a:off x="8382762" y="3502609"/>
            <a:ext cx="2332725" cy="4878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FFE7CF"/>
                </a:solidFill>
                <a:latin typeface="微软雅黑"/>
                <a:ea typeface="微软雅黑"/>
              </a:rPr>
              <a:t>→ 要体系化治理，不能修修补补</a:t>
            </a:r>
          </a:p>
        </p:txBody>
      </p:sp>
      <p:sp>
        <p:nvSpPr>
          <p:cNvPr id="20841" name="Rounded Rectangle 20840"/>
          <p:cNvSpPr/>
          <p:nvPr/>
        </p:nvSpPr>
        <p:spPr>
          <a:xfrm>
            <a:off x="8116671" y="4300880"/>
            <a:ext cx="2776209" cy="886968"/>
          </a:xfrm>
          <a:prstGeom prst="roundRect">
            <a:avLst>
              <a:gd name="adj" fmla="val 12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42" name="Picture 20841" descr="hourglass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4064" y="4451664"/>
            <a:ext cx="266090" cy="266090"/>
          </a:xfrm>
          <a:prstGeom prst="rect">
            <a:avLst/>
          </a:prstGeom>
        </p:spPr>
      </p:pic>
      <p:sp>
        <p:nvSpPr>
          <p:cNvPr id="20843" name="TextBox 20842"/>
          <p:cNvSpPr txBox="1"/>
          <p:nvPr/>
        </p:nvSpPr>
        <p:spPr>
          <a:xfrm>
            <a:off x="8648852" y="4362968"/>
            <a:ext cx="215533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“看得慢”另算</a:t>
            </a:r>
          </a:p>
        </p:txBody>
      </p:sp>
      <p:sp>
        <p:nvSpPr>
          <p:cNvPr id="20844" name="TextBox 20843"/>
          <p:cNvSpPr txBox="1"/>
          <p:nvPr/>
        </p:nvSpPr>
        <p:spPr>
          <a:xfrm>
            <a:off x="8648852" y="4682276"/>
            <a:ext cx="215533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是能力缺口：在统一模型上补实时</a:t>
            </a:r>
          </a:p>
        </p:txBody>
      </p:sp>
      <p:sp>
        <p:nvSpPr>
          <p:cNvPr id="20845" name="Rounded Rectangle 20844"/>
          <p:cNvSpPr/>
          <p:nvPr/>
        </p:nvSpPr>
        <p:spPr>
          <a:xfrm>
            <a:off x="994318" y="5453938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46" name="Picture 20845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564809"/>
            <a:ext cx="266090" cy="266090"/>
          </a:xfrm>
          <a:prstGeom prst="rect">
            <a:avLst/>
          </a:prstGeom>
        </p:spPr>
      </p:pic>
      <p:sp>
        <p:nvSpPr>
          <p:cNvPr id="20847" name="TextBox 20846"/>
          <p:cNvSpPr txBox="1"/>
          <p:nvPr/>
        </p:nvSpPr>
        <p:spPr>
          <a:xfrm>
            <a:off x="1570847" y="5453938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所以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单点修补会反复出现：这次对平了核销量，下次换个指标又对不上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我们手里有什么数据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按业务分成 8 大块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数据按“数据域 → 主题”分门别类，像图书馆分区一样好找、好管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eceip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交易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86153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订单、票务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订单数 · 销售额 · 核销次数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5397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792589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packag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5142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商品与资源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5142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产品、库存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7296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售罄率 · 库存余量 · 热销产品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7296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1578" y="3112617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24131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4131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游客、会员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95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会员等级 · 复购倾向 · 出游偏好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195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830568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551285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243120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合作方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3120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10940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履约率 · 结算周期 · 供应商等级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10940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349557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86153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流量营销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86153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渠道、活动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5397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渠道转化率 · 活动回报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5397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792589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13307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7296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activ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3832" y="3933062"/>
            <a:ext cx="221742" cy="22174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05142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05142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日常运营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7296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房态占用率 · 准点率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67296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1157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9195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walle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822" y="3933062"/>
            <a:ext cx="221742" cy="221742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724131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24131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结算、对账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9195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应结 / 已结金额 · 对账差异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9195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83056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551285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710940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setting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1811" y="3933062"/>
            <a:ext cx="221742" cy="22174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243120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内部管理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243120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内部系统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10940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任务运行 · 存储计算成本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710940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49557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94318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待补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现场设备、外部数据、AI 产生的数据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32296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难点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节假日高峰、状态多变、离线补传、多景区隔离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六层搭起来，治理管全程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存到哪 → 算成什么 → 怎么给出去 → AI 怎么用 → 谁在用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应用与服务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谁在用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内部经营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景区运营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伙伴接入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AI 能力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让 AI 能用数据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模型服务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知识服务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工具服务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评测运营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对外的窗口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指标服务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标签服务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一键接入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指标与分析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算好的数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景区自定义指标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仓库与车间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DataWorks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离线主流程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湖仓存储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数据来源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贯穿每一层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主数据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统一口径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790666"/>
            <a:ext cx="896823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已经有的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997577" y="5790666"/>
            <a:ext cx="11895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要新建 / 升级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70930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思路：统一标准，治理写进研发流程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在已有工具上补齐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能不买的先不买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七类能力，分清哪些已有、哪些升级、哪些新建；没买的模块先用省钱的办法顶上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68266"/>
            <a:ext cx="6519214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768266"/>
            <a:ext cx="8869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能力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1724" y="1768266"/>
            <a:ext cx="1818283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7403" y="1768266"/>
            <a:ext cx="11974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2203" y="1768266"/>
            <a:ext cx="190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185141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27363" y="2185141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91724" y="2185141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批量同步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87403" y="2185141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埋点采集、设备回传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62203" y="2185141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实时采集、标准连接器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664104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7363" y="266410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存储计算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91724" y="2664104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离线计算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7403" y="2664104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2203" y="2664104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实时计算、湖仓统一存储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43067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7363" y="3143067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开发运维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1724" y="3143067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开发、运维中心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7403" y="3143067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数据建模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2203" y="3143067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发布卡点、成本治理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622029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3622029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91724" y="3622029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数据地图、资产治理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87403" y="3622029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血缘、健康分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62203" y="3622029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质量、标准、分级打码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4100992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27363" y="410099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指标标签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91724" y="4100992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87403" y="4100992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62203" y="4100992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指标中心、标签系统、景区自定义空间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579955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579955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服务分析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4" y="4579955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开放 API、数据服务、小Q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87403" y="4579955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62203" y="4579955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嵌入式分析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058918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27363" y="50589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AI 能力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91724" y="5058918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87403" y="5058918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AI 问数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62203" y="5058918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模型网关、知识检索、评测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35275" y="1768266"/>
            <a:ext cx="3157606" cy="3734135"/>
          </a:xfrm>
          <a:prstGeom prst="roundRect">
            <a:avLst>
              <a:gd name="adj" fmla="val 337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iggy-ban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68" y="1910181"/>
            <a:ext cx="337047" cy="33704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338413" y="1874702"/>
            <a:ext cx="244803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没买的模块，先这样顶上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894929" y="241575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19105" y="246010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数据质量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19105" y="270845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关键任务后加检查节点，不合格就拦住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894929" y="310758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19105" y="315193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19105" y="340028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规范文档 + 发布前检查脚本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894929" y="379942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19105" y="384377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安全中心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19105" y="409212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计算引擎权限 + 打码视图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94929" y="449125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19105" y="453560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19105" y="478395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先做小范围试验，验证后再投入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4318" y="564431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755187"/>
            <a:ext cx="266090" cy="26609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570847" y="5644316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原则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已有投入全部保留；先用现有工具延伸，验证有效再追加投入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数据治理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不搞运动，把规矩写进日常流程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治理不是一次性的大扫除，而是每张表、每个指标从设计到下线都要过“检查站”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11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52528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52528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目标</a:t>
            </a:r>
          </a:p>
        </p:txBody>
      </p:sp>
      <p:pic>
        <p:nvPicPr>
          <p:cNvPr id="46" name="Picture 45" descr="targ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6512" y="2029922"/>
            <a:ext cx="266090" cy="26609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927908" y="1852528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数字可信 · 口径统一 · 安全合规 · 成本可控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562103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94318" y="2562103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管哪些</a:t>
            </a:r>
          </a:p>
        </p:txBody>
      </p:sp>
      <p:pic>
        <p:nvPicPr>
          <p:cNvPr id="50" name="Picture 49" descr="list-check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6512" y="2739496"/>
            <a:ext cx="266090" cy="26609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2927908" y="2562103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标准 · 主数据 · 血缘 · 质量 · 口径 · 权限 · 资产 · 出口（八步）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3271677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94318" y="3271677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3FB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怎么嵌入</a:t>
            </a:r>
          </a:p>
        </p:txBody>
      </p:sp>
      <p:pic>
        <p:nvPicPr>
          <p:cNvPr id="54" name="Picture 53" descr="workflow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6512" y="3449071"/>
            <a:ext cx="266090" cy="26609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927908" y="3271677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事前定规范 · 事中设卡点 · 事后做治理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981251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81251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6CC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用什么</a:t>
            </a:r>
          </a:p>
        </p:txBody>
      </p:sp>
      <p:pic>
        <p:nvPicPr>
          <p:cNvPr id="58" name="Picture 57" descr="wren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6512" y="415864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2927908" y="3981251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已买的 DataWorks 模块 + 自写检查脚本和检查节点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690826"/>
            <a:ext cx="6208776" cy="620877"/>
          </a:xfrm>
          <a:prstGeom prst="roundRect">
            <a:avLst>
              <a:gd name="adj" fmla="val 1428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94318" y="4690826"/>
            <a:ext cx="1374800" cy="620877"/>
          </a:xfrm>
          <a:prstGeom prst="roundRect">
            <a:avLst>
              <a:gd name="adj" fmla="val 14285"/>
            </a:avLst>
          </a:prstGeom>
          <a:solidFill>
            <a:srgbClr val="9ED8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谁来管</a:t>
            </a:r>
          </a:p>
        </p:txBody>
      </p:sp>
      <p:pic>
        <p:nvPicPr>
          <p:cNvPr id="62" name="Picture 61" descr="users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6512" y="4868219"/>
            <a:ext cx="266090" cy="26609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2927908" y="4690826"/>
            <a:ext cx="4168749" cy="62087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治理小组拍板 · 数据负责人推动 · 专员执行 · 健康分月度公示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69184" y="1852528"/>
            <a:ext cx="3423696" cy="3459175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35275" y="1994443"/>
            <a:ext cx="298021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先治一条主线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35275" y="2322621"/>
            <a:ext cx="2980212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公司最核心、问题最多的一条线</a:t>
            </a:r>
          </a:p>
        </p:txBody>
      </p:sp>
      <p:sp>
        <p:nvSpPr>
          <p:cNvPr id="67" name="Oval 66"/>
          <p:cNvSpPr/>
          <p:nvPr/>
        </p:nvSpPr>
        <p:spPr>
          <a:xfrm>
            <a:off x="7779622" y="2766105"/>
            <a:ext cx="549920" cy="549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ceip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2668" y="2899150"/>
            <a:ext cx="283829" cy="283829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489198" y="2766105"/>
            <a:ext cx="1773936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7965887" y="3351503"/>
            <a:ext cx="177393" cy="150784"/>
          </a:xfrm>
          <a:prstGeom prst="down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79622" y="3520028"/>
            <a:ext cx="549920" cy="549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can-fac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12668" y="3653073"/>
            <a:ext cx="283829" cy="283829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489198" y="3520028"/>
            <a:ext cx="1773936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核销</a:t>
            </a:r>
          </a:p>
        </p:txBody>
      </p:sp>
      <p:sp>
        <p:nvSpPr>
          <p:cNvPr id="74" name="Down Arrow 73"/>
          <p:cNvSpPr/>
          <p:nvPr/>
        </p:nvSpPr>
        <p:spPr>
          <a:xfrm>
            <a:off x="7965887" y="4105427"/>
            <a:ext cx="177393" cy="150784"/>
          </a:xfrm>
          <a:prstGeom prst="down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779622" y="4273951"/>
            <a:ext cx="549920" cy="549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wallet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12668" y="4406996"/>
            <a:ext cx="283829" cy="28382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89198" y="4273951"/>
            <a:ext cx="1773936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结算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35275" y="4956916"/>
            <a:ext cx="2980212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FFE7CF"/>
                </a:solidFill>
                <a:latin typeface="微软雅黑"/>
                <a:ea typeface="微软雅黑"/>
              </a:rPr>
              <a:t>做通后按数据域推广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515706"/>
            <a:ext cx="9898562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zap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9451" y="5648751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515706"/>
            <a:ext cx="9144640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关键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规矩不只写在文档里，而是写进开发流程：不合规的表发不出去，有问题的数流不到报表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八步走，一步一步落地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按顺序推进：先定规矩、统一编号，再管质量和口径，最后管好权限、盘点和出口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表名、字段、码值全公司一个说法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规范 + 自动检查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景区、商品、渠道、供应商、游客一个编号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编号对照表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理清来龙去脉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数据血缘</a:t>
            </a: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资产目录、血缘图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数据质量</a:t>
            </a: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算完自动检查，不合格就拦住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质量规则、问题单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统一标签（指标）</a:t>
            </a: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一个指标一个算法，集团出标准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指标字典、标签目录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权限安全</a:t>
            </a: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数据分级，谁的数据只服务谁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分级清单、权限台账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定期盘点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打健康分，没人用的就下线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健康分榜、下线清单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数据分发</a:t>
            </a: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对内对外只走一个“窗口”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接口目录、调用台账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贯穿每一步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写进开发流程（事前定规范 · 事中设卡点 · 事后做治理）　·　治理小组拍板　·　健康分考核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① 数据标准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每张表都有“身份证号”，一看名字就知道是什么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新表不合规发不出去；老表不一刀切，按优先级分批整改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77136"/>
            <a:ext cx="9898562" cy="1685239"/>
          </a:xfrm>
          <a:prstGeom prst="roundRect">
            <a:avLst>
              <a:gd name="adj" fmla="val 73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d-card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1972269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195453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表名就是身份证号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198433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3645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加工到哪一层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3645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“洗干净”层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5662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7404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ord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02617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哪块业务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2617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94634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16376" y="2398014"/>
            <a:ext cx="2192782" cy="514441"/>
          </a:xfrm>
          <a:prstGeom prst="roundRect">
            <a:avLst>
              <a:gd name="adj" fmla="val 17241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order_item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61588" y="2956803"/>
            <a:ext cx="2902356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什么内容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1588" y="3160805"/>
            <a:ext cx="290235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5BBFAE"/>
                </a:solidFill>
                <a:latin typeface="微软雅黑"/>
                <a:ea typeface="微软雅黑"/>
              </a:rPr>
              <a:t>订单明细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09158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微软雅黑"/>
                <a:ea typeface="微软雅黑"/>
              </a:rPr>
              <a:t>_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30900" y="2398014"/>
            <a:ext cx="757864" cy="514441"/>
          </a:xfrm>
          <a:prstGeom prst="roundRect">
            <a:avLst>
              <a:gd name="adj" fmla="val 1724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di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76112" y="2956803"/>
            <a:ext cx="1467439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怎么更新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76112" y="3160805"/>
            <a:ext cx="1467439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每天增量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1711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字段统一叫法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16060" y="405664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8680" y="405664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scenic_id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16060" y="433160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金额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8680" y="433160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…_amt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6060" y="460656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时间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8680" y="460656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6060" y="48815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日期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8680" y="488152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…_date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6060" y="515648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是否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8680" y="515648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is_…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352970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30364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建表 8 项必填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30364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中文名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08678" y="4109862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描述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57643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负责人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30364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安全等级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438028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生命周期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45692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分区字段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30364" y="4819436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字段注释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38028" y="4819436"/>
            <a:ext cx="1245450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发生 / 上报时间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11622" y="3595420"/>
            <a:ext cx="3181258" cy="1906981"/>
          </a:xfrm>
          <a:prstGeom prst="roundRect">
            <a:avLst>
              <a:gd name="adj" fmla="val 55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889015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发布前自动检查</a:t>
            </a:r>
          </a:p>
        </p:txBody>
      </p:sp>
      <p:pic>
        <p:nvPicPr>
          <p:cNvPr id="86" name="Picture 85" descr="pen-li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6755" y="4136470"/>
            <a:ext cx="248351" cy="248351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243802" y="4083253"/>
            <a:ext cx="251603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开发提交</a:t>
            </a:r>
          </a:p>
        </p:txBody>
      </p:sp>
      <p:pic>
        <p:nvPicPr>
          <p:cNvPr id="88" name="Picture 87" descr="search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755" y="459769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243802" y="4544476"/>
            <a:ext cx="251603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脚本检查：命名 · 分层 · 注释 · 负责人 · 等级</a:t>
            </a:r>
          </a:p>
        </p:txBody>
      </p:sp>
      <p:pic>
        <p:nvPicPr>
          <p:cNvPr id="90" name="Picture 89" descr="circle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6755" y="5058917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243802" y="5005699"/>
            <a:ext cx="251603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通过才上线，不过就打回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563544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histor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746318"/>
            <a:ext cx="266090" cy="26609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570847" y="563544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老表怎么办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不一次性改名：新表强制执行，老表按健康分分批整改，改名时保留兼容视图，下游不受影响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一个景区只有一个“身份证”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以前同一个景区在票务、分销、财务里各有各的编号，拼数时对不上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90470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scenic_id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集团、分园区、子景点分级挂靠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商品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prd_id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票种、套票、二消商品统一编码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973693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channel_id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OTA、自营、分销、团队统一分类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sup_id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同一主体只建一个编码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one_id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手机号、证件号、会员号归并为一人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区域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行政区划码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采用国家标准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票务系统编号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分销系统编号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财务系统编号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对照表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老编号 → 新编号</a:t>
            </a: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　所有报表、指标、标签只认它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先查再建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新建景区、商品、供应商时先查，有就复用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变更有记录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改编号要审批，保留历史，旧报表能追溯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每个数从哪来、到哪去，一查就清楚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像家谱一样，从源头一直打通到报表、接口和智能体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源头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ODS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DWS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ADS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指标 / 标签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口径认证过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开放接口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家谱的三个用处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查错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报表数字不对，沿家谱往上查，快速找到出错的那一层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改之前先评估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改表、改口径前，先查哪些报表、接口受影响，通知负责人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清理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没有下游、没人访问的表和任务，进入下线清单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家谱里记三类信息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表结构、字段类型、存储量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含义、口径、负责人、安全等级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开发填写，专员审核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几点产出、跑多久、多少人在用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每天体检，五项检查、强弱两档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关键数据算完立刻自动检查，不合格的数据拦在报表外面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15469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265563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01474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完整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86153" y="238530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90860" y="2048256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订单号、景区编号不能空；日订单量比近 7 天平均波动超 30% 报警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793309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27363" y="289974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adg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3010616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686153" y="2846527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准确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86153" y="313035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90860" y="2793309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金额不能为负；核销时间不能早于下单时间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538362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27363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rrow-left-righ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3755669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86153" y="3591579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一致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86153" y="3875410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对得上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90860" y="3538362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仓库里的订单金额汇总 = 业务系统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283415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27363" y="438985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tim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34" y="4500722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686153" y="4336633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及时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86153" y="462046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90860" y="4283415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核心报表每天 7:00 前算完，晚了报警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5028468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51349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fingerprin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34" y="524577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86153" y="5081686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唯一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86153" y="536551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不重复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0860" y="5028468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订单号不重复；同一张票不能重复核销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070048" y="2048256"/>
            <a:ext cx="1844893" cy="2261768"/>
          </a:xfrm>
          <a:prstGeom prst="roundRect">
            <a:avLst>
              <a:gd name="adj" fmla="val 576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7442" y="2190170"/>
            <a:ext cx="319308" cy="3193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64657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强规则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47442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用在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47442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核心表、对外接口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47442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不过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47442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拦住下游，通知负责人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47442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时限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47442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当天修好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47988" y="2048256"/>
            <a:ext cx="1844893" cy="226176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ell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5381" y="2190170"/>
            <a:ext cx="319308" cy="31930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2451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弱规则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25381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用在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25381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一般表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25381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不过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25381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只提醒，不拦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5381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时限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25381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一周内修好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070048" y="4443069"/>
            <a:ext cx="3822832" cy="1330452"/>
          </a:xfrm>
          <a:prstGeom prst="roundRect">
            <a:avLst>
              <a:gd name="adj" fmla="val 8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47442" y="4514027"/>
            <a:ext cx="355674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出了问题怎么办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24744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8008018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15880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拦住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891937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07016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修复重跑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983073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98152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登记问题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47442" y="5330037"/>
            <a:ext cx="35567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同类问题出现两次，就补一条规则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“核销量”怎么做到各处一致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这是数据治理的样板：核销做通了，同样的方法复制到其他指标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第一步：先把四个容易混的数分开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核销次数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刷了几次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有效核销票数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有效的票几张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入园人次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进了几人次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去重游客数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实际来了几个人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比如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一位年卡游客一天进出 3 次：核销次数 3，入园人次 3，去重游客数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第二步：从现场到报表，每一层按“景区 + 日期”对一次数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闸机 / 手持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现场记录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订单与核销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仓库明细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洗干净的数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仓库汇总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报表 / 接口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大家看到的数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对不上就自动报警</a:t>
            </a:r>
          </a:p>
          <a:p>
            <a:pPr algn="l">
              <a:spcBef>
                <a:spcPts val="194"/>
              </a:spcBef>
            </a:pPr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→ 查原因 → 修复 → 重算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常见原因</a:t>
            </a:r>
          </a:p>
          <a:p>
            <a:pPr algn="l">
              <a:spcBef>
                <a:spcPts val="194"/>
              </a:spcBef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设备离线补传 · 重复上报 · 撤销冲正 · 时间口径混用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⑤ 统一标签（指标）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集团出标准，景区可以自己加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指标 = 数一数（卖了多少、来了多少）；标签 = 贴个签（年卡用户、喜欢夜游）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26498" y="2029922"/>
            <a:ext cx="3902658" cy="691835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集团标准库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标准指标 · 标准标签 · 版本管理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1689109" y="2792714"/>
            <a:ext cx="177393" cy="230611"/>
          </a:xfrm>
          <a:prstGeom prst="down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3094283"/>
            <a:ext cx="1566976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景区 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3626464"/>
            <a:ext cx="156697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自定义空间</a:t>
            </a:r>
          </a:p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只给自己用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3389132" y="2792714"/>
            <a:ext cx="177393" cy="230611"/>
          </a:xfrm>
          <a:prstGeom prst="down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694340" y="3094283"/>
            <a:ext cx="1566976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景区 B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94340" y="3626464"/>
            <a:ext cx="156697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自定义空间</a:t>
            </a:r>
          </a:p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只给自己用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5089153" y="2792714"/>
            <a:ext cx="177393" cy="230611"/>
          </a:xfrm>
          <a:prstGeom prst="down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394361" y="3094283"/>
            <a:ext cx="1566976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94361" y="3626464"/>
            <a:ext cx="156697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自定义空间</a:t>
            </a:r>
          </a:p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只给自己用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4300560"/>
            <a:ext cx="4967020" cy="372526"/>
          </a:xfrm>
          <a:prstGeom prst="roundRect">
            <a:avLst>
              <a:gd name="adj" fmla="val 1904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refresh-cw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4380387"/>
            <a:ext cx="212872" cy="21287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37802" y="4300560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好用的自定义指标，评审后收回成集团标准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4318" y="4806132"/>
            <a:ext cx="4967020" cy="75392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只能基于集团标准和已授权的数据派生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不能和集团标准同名，不覆盖、不影响别人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27428" y="2029922"/>
            <a:ext cx="4665451" cy="1906981"/>
          </a:xfrm>
          <a:prstGeom prst="roundRect">
            <a:avLst>
              <a:gd name="adj" fmla="val 55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4822" y="2118619"/>
            <a:ext cx="439936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一个指标要说清四件事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4822" y="2526624"/>
            <a:ext cx="957925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算什么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支付金额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2747" y="2526624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22403" y="2526624"/>
            <a:ext cx="957925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加条件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线上成人票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0328" y="2526624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39982" y="2526624"/>
            <a:ext cx="957925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什么时间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近 7 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97908" y="2526624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757562" y="2526624"/>
            <a:ext cx="957925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按什么看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按景区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4822" y="3298286"/>
            <a:ext cx="4310664" cy="487832"/>
          </a:xfrm>
          <a:prstGeom prst="roundRect">
            <a:avLst>
              <a:gd name="adj" fmla="val 1454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= 近 7 天线上渠道成人票支付金额（按景区）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428" y="4096557"/>
            <a:ext cx="466545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CAB93"/>
                </a:solidFill>
                <a:latin typeface="微软雅黑"/>
                <a:ea typeface="微软雅黑"/>
              </a:rPr>
              <a:t>新指标四步认证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27428" y="4477953"/>
            <a:ext cx="966795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起草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7229702" y="4708565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60315" y="4477953"/>
            <a:ext cx="966795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确认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业务负责人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8462588" y="4708565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693200" y="4477953"/>
            <a:ext cx="966795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拍板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治理小组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9695474" y="4708565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926086" y="4477953"/>
            <a:ext cx="966795" cy="638616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发布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记录版本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27428" y="5382661"/>
            <a:ext cx="4665451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badg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2561" y="5493532"/>
            <a:ext cx="266090" cy="26609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803958" y="5382661"/>
            <a:ext cx="3911528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  <a:latin typeface="微软雅黑"/>
                <a:ea typeface="微软雅黑"/>
              </a:rPr>
              <a:t>门槛　</a:t>
            </a: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认证过的指标和标签，才能进老板看板、接口和 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⑥ 权限安全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数据分四级，各有各的主人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越敏感，管得越严；谁的数据，只服务谁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  <a:p>
            <a:pPr algn="ctr"/>
            <a:r>
              <a:rPr sz="950" b="0">
                <a:solidFill>
                  <a:srgbClr val="FCE6D2"/>
                </a:solidFill>
                <a:latin typeface="微软雅黑"/>
                <a:ea typeface="微软雅黑"/>
              </a:rPr>
              <a:t>L4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53812" y="2048256"/>
            <a:ext cx="486058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31206" y="2048256"/>
            <a:ext cx="452353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手机号、证件号、人脸、政务核验结果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加密、打码、最小授权、全程审计；明文不进大模型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60408" y="2935224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19903" y="2935224"/>
            <a:ext cx="459449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97297" y="2935224"/>
            <a:ext cx="425744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单景区经营数据、价格、结算、供应商合作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按景区 / 供应商隔离；跨主体只看汇总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26498" y="3822191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85993" y="3822191"/>
            <a:ext cx="432840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3387" y="3822191"/>
            <a:ext cx="399135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日志、设备状态、运营数据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内部按角色授权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92589" y="4709160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  <a:p>
            <a:pPr algn="ctr"/>
            <a:r>
              <a:rPr sz="950" b="0">
                <a:solidFill>
                  <a:srgbClr val="DDF1EC"/>
                </a:solidFill>
                <a:latin typeface="微软雅黑"/>
                <a:ea typeface="微软雅黑"/>
              </a:rPr>
              <a:t>L1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052084" y="4709160"/>
            <a:ext cx="406231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29477" y="4709160"/>
            <a:ext cx="3725265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已发布的报告、规范</a:t>
            </a:r>
          </a:p>
          <a:p>
            <a:pPr algn="l"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可以公开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80488" y="2048256"/>
            <a:ext cx="3512393" cy="3423696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key-rou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230" y="2207910"/>
            <a:ext cx="319308" cy="3193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001364" y="2172431"/>
            <a:ext cx="280281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谁的数据，只服务谁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8" y="269574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景区数据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43985" y="269574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只服务该景区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46578" y="308600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供应商数据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43985" y="308600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只服务该供应商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46578" y="3476274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渠道数据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43985" y="3476274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不给其他渠道看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8" y="3866540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游客信息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43985" y="3866540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在授权范围内用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46578" y="4256806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政务数据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43985" y="4256806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只用核验结果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46578" y="464707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43985" y="464707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按合同约定用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8" y="503733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微软雅黑"/>
                <a:ea typeface="微软雅黑"/>
              </a:rPr>
              <a:t>对外输出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43985" y="503733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只给匿名汇总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定期盘点，统一出口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没人用的数据按步骤下线，省存储和计算；所有数据只从一个“窗口”出去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⑦ 资产运营：定期盘点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每月打“健康分”，按负责人公示排名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规范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没人用的，按步骤下线</a:t>
            </a: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90 天没人访问 · 没下游 · 重复 · 临时表</a:t>
            </a: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通知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负责人确认</a:t>
            </a: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停调度或改只读，观察 30 天</a:t>
            </a: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删除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没人反馈再删；有人反馈就恢复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⑧ 数据分发：统一出口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不再点对点导数、私接数据库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动态数据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统一鉴权 · 按景区隔离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调用计量 · 全程监控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景区看板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营销圈人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合作伙伴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只查指标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经营看板：销售额、核销量、入园人次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指标 + 标签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按会员等级看复购率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标签圈人 + 指标看效果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圈出近 90 天没复购的年卡用户，推活动后看转化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治理嵌入开发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事前定规范、事中设卡点、事后做治理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不另起流程，而是把检查站放进大家每天都要走的路上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21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3033430" cy="3947007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76704"/>
            <a:ext cx="3033430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579842"/>
            <a:ext cx="3033430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80706"/>
            <a:ext cx="399135" cy="39913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47661"/>
            <a:ext cx="2146462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E6F6F2"/>
                </a:solidFill>
                <a:latin typeface="微软雅黑"/>
                <a:ea typeface="微软雅黑"/>
              </a:rPr>
              <a:t>事前 · </a:t>
            </a:r>
            <a:r>
              <a:rPr sz="1850" b="1">
                <a:solidFill>
                  <a:srgbClr val="FFFFFF"/>
                </a:solidFill>
                <a:latin typeface="微软雅黑"/>
                <a:ea typeface="微软雅黑"/>
              </a:rPr>
              <a:t>定规范</a:t>
            </a:r>
          </a:p>
        </p:txBody>
      </p:sp>
      <p:pic>
        <p:nvPicPr>
          <p:cNvPr id="49" name="Picture 48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094283"/>
            <a:ext cx="212872" cy="2128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3023326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需求：确认口径，复用已认证指标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590984"/>
            <a:ext cx="212872" cy="2128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82150" y="3520027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设计：模型评审，定数据域、分层、等级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9451" y="4575520"/>
            <a:ext cx="267864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谁来做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9451" y="4797262"/>
            <a:ext cx="267864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数据架构师 · 治理专员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71711" y="5196398"/>
            <a:ext cx="2678643" cy="549920"/>
          </a:xfrm>
          <a:prstGeom prst="roundRect">
            <a:avLst>
              <a:gd name="adj" fmla="val 12903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17739" bIns="17739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做不到会怎样</a:t>
            </a:r>
          </a:p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不过评审，不能进入开发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4116444" y="3777249"/>
            <a:ext cx="221742" cy="266090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26884" y="1976704"/>
            <a:ext cx="3033430" cy="3947007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426884" y="1976704"/>
            <a:ext cx="3033430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26884" y="2579842"/>
            <a:ext cx="3033430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626" y="2180706"/>
            <a:ext cx="399135" cy="39913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5180807" y="2047661"/>
            <a:ext cx="2146462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E6F6F2"/>
                </a:solidFill>
                <a:latin typeface="微软雅黑"/>
                <a:ea typeface="微软雅黑"/>
              </a:rPr>
              <a:t>事中 · </a:t>
            </a:r>
            <a:r>
              <a:rPr sz="1850" b="1">
                <a:solidFill>
                  <a:srgbClr val="FFFFFF"/>
                </a:solidFill>
                <a:latin typeface="微软雅黑"/>
                <a:ea typeface="微软雅黑"/>
              </a:rPr>
              <a:t>设卡点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017" y="3094283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914717" y="3023326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开发：按规范写，绑定质量规则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017" y="3590984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914717" y="3520027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发布：检查脚本自动卡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017" y="4087688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914717" y="4016730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运行：质量检查，不合格拦下游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22017" y="4575520"/>
            <a:ext cx="267864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谁来做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22017" y="4797262"/>
            <a:ext cx="267864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平台自动执行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04278" y="5196398"/>
            <a:ext cx="2678643" cy="549920"/>
          </a:xfrm>
          <a:prstGeom prst="roundRect">
            <a:avLst>
              <a:gd name="adj" fmla="val 12903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17739" bIns="17739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做不到会怎样</a:t>
            </a:r>
          </a:p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不合规发不出去；下游不运行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7549011" y="3777249"/>
            <a:ext cx="221742" cy="266090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59450" y="1976704"/>
            <a:ext cx="3033430" cy="3947007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859450" y="1976704"/>
            <a:ext cx="3033430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859450" y="2579842"/>
            <a:ext cx="3033430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1192" y="2180706"/>
            <a:ext cx="399135" cy="39913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613373" y="2047661"/>
            <a:ext cx="2146462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E6F6F2"/>
                </a:solidFill>
                <a:latin typeface="微软雅黑"/>
                <a:ea typeface="微软雅黑"/>
              </a:rPr>
              <a:t>事后 · </a:t>
            </a:r>
            <a:r>
              <a:rPr sz="1850" b="1">
                <a:solidFill>
                  <a:srgbClr val="FFFFFF"/>
                </a:solidFill>
                <a:latin typeface="微软雅黑"/>
                <a:ea typeface="微软雅黑"/>
              </a:rPr>
              <a:t>做治理</a:t>
            </a:r>
          </a:p>
        </p:txBody>
      </p:sp>
      <p:pic>
        <p:nvPicPr>
          <p:cNvPr id="77" name="Picture 7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583" y="3094283"/>
            <a:ext cx="212872" cy="21287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347283" y="3023326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运营：健康分、成本、下线</a:t>
            </a:r>
          </a:p>
        </p:txBody>
      </p:sp>
      <p:pic>
        <p:nvPicPr>
          <p:cNvPr id="79" name="Picture 78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583" y="3590984"/>
            <a:ext cx="212872" cy="21287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347283" y="3520027"/>
            <a:ext cx="241255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复盘：补规范、补规则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54583" y="4575520"/>
            <a:ext cx="267864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谁来做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54583" y="4797262"/>
            <a:ext cx="267864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数据负责人 · 治理专员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36844" y="5196398"/>
            <a:ext cx="2678643" cy="549920"/>
          </a:xfrm>
          <a:prstGeom prst="roundRect">
            <a:avLst>
              <a:gd name="adj" fmla="val 12903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17739" bIns="17739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做不到会怎样</a:t>
            </a:r>
          </a:p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健康分低的排名公示，限期整改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治理组织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一个小组拍板，各业务线有人对接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治理不是数据团队一家的事，口径要业务来确认，争议要有人拍板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46512" y="1985573"/>
            <a:ext cx="3281781" cy="753922"/>
          </a:xfrm>
          <a:prstGeom prst="roundRect">
            <a:avLst>
              <a:gd name="adj" fmla="val 1411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数据治理小组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裁定口径 · 审批规范和指标认证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187403" y="2739496"/>
            <a:ext cx="0" cy="248351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546512" y="2987847"/>
            <a:ext cx="3281781" cy="753922"/>
          </a:xfrm>
          <a:prstGeom prst="roundRect">
            <a:avLst>
              <a:gd name="adj" fmla="val 1411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数据负责人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定方案 · 跨部门协调 · 对健康分负责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187403" y="3741770"/>
            <a:ext cx="0" cy="221742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014331" y="3963512"/>
            <a:ext cx="4346143" cy="0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014331" y="3963512"/>
            <a:ext cx="0" cy="221742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94318" y="4185254"/>
            <a:ext cx="2040026" cy="1729587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48240" y="429169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riefc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198" y="441364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3015" y="4850480"/>
            <a:ext cx="1862632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业务数据专员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015" y="5116570"/>
            <a:ext cx="1862632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每个业务线一名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3015" y="5382661"/>
            <a:ext cx="186263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提规则 · 确认口径 · 验收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87403" y="3963512"/>
            <a:ext cx="0" cy="221742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3167390" y="4185254"/>
            <a:ext cx="2040026" cy="1729587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921311" y="429169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clipboard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271" y="4413648"/>
            <a:ext cx="243916" cy="24391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56086" y="4850480"/>
            <a:ext cx="1862632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数据治理专员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56086" y="5382661"/>
            <a:ext cx="186263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标准 · 指标 · 质量 · 资产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360474" y="3963512"/>
            <a:ext cx="0" cy="221742"/>
          </a:xfrm>
          <a:prstGeom prst="line">
            <a:avLst/>
          </a:prstGeom>
          <a:ln w="19050">
            <a:solidFill>
              <a:srgbClr val="A9D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5340461" y="4185254"/>
            <a:ext cx="2040026" cy="1729587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094384" y="429169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od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342" y="4413648"/>
            <a:ext cx="243916" cy="243916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429158" y="4850480"/>
            <a:ext cx="1862632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架构师 / 开发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158" y="5382661"/>
            <a:ext cx="186263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模型落地 · 问题修复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690926" y="1985573"/>
            <a:ext cx="3201954" cy="3929267"/>
          </a:xfrm>
          <a:prstGeom prst="roundRect">
            <a:avLst>
              <a:gd name="adj" fmla="val 387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12668" y="2100879"/>
            <a:ext cx="284716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CAB93"/>
                </a:solidFill>
                <a:latin typeface="微软雅黑"/>
                <a:ea typeface="微软雅黑"/>
              </a:rPr>
              <a:t>运转节奏</a:t>
            </a:r>
          </a:p>
        </p:txBody>
      </p:sp>
      <p:sp>
        <p:nvSpPr>
          <p:cNvPr id="70" name="Oval 69"/>
          <p:cNvSpPr/>
          <p:nvPr/>
        </p:nvSpPr>
        <p:spPr>
          <a:xfrm>
            <a:off x="7912668" y="2721757"/>
            <a:ext cx="549920" cy="54992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calendar-c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0148" y="2859237"/>
            <a:ext cx="274960" cy="27496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622243" y="2633060"/>
            <a:ext cx="218194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两周一次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22243" y="2916890"/>
            <a:ext cx="21819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口径评审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22243" y="3271677"/>
            <a:ext cx="218194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新口径、口径争议集中定</a:t>
            </a:r>
          </a:p>
        </p:txBody>
      </p:sp>
      <p:sp>
        <p:nvSpPr>
          <p:cNvPr id="75" name="Oval 74"/>
          <p:cNvSpPr/>
          <p:nvPr/>
        </p:nvSpPr>
        <p:spPr>
          <a:xfrm>
            <a:off x="7912668" y="3786117"/>
            <a:ext cx="549920" cy="549920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0148" y="3923598"/>
            <a:ext cx="274960" cy="27496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622243" y="3697422"/>
            <a:ext cx="218194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每月一次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2243" y="3981251"/>
            <a:ext cx="21819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健康分公示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2243" y="4336039"/>
            <a:ext cx="218194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按负责人、按业务排名</a:t>
            </a:r>
          </a:p>
        </p:txBody>
      </p:sp>
      <p:sp>
        <p:nvSpPr>
          <p:cNvPr id="80" name="Oval 79"/>
          <p:cNvSpPr/>
          <p:nvPr/>
        </p:nvSpPr>
        <p:spPr>
          <a:xfrm>
            <a:off x="7912668" y="4850480"/>
            <a:ext cx="549920" cy="54992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refresh-cw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0148" y="4987960"/>
            <a:ext cx="274960" cy="27496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622243" y="4761783"/>
            <a:ext cx="218194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每季度一次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622243" y="5045613"/>
            <a:ext cx="21819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复盘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22243" y="5400400"/>
            <a:ext cx="218194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补规范、补规则、调整目标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治理度量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试点主线的 8 个目标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先在“订单 → 核销 → 结算”上达标，再按数据域推广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19051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081" y="2096444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189451" y="2052096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9451" y="2362535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3072109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新表规范符合率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13307" y="1919051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older-tre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96444"/>
            <a:ext cx="283829" cy="28382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708440" y="2052096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数据家谱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08440" y="2362535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8440" y="3072109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核心表注释、负责人覆盖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2296" y="1919051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d-car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059" y="2096444"/>
            <a:ext cx="283829" cy="28382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227429" y="2052096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7429" y="2362535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7429" y="3072109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景区、商品、渠道编号映射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51285" y="1919051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5049" y="2096444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746418" y="2052096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6418" y="2362535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6418" y="3072109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核心表强规则覆盖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737335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time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8081" y="3914729"/>
            <a:ext cx="283829" cy="28382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189451" y="3870380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180819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≥99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9451" y="4890394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核心报表按时产出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13307" y="3737335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cal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914729"/>
            <a:ext cx="283829" cy="283829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3708440" y="3870380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08440" y="4180819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8440" y="4890394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老板看板认证指标占比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2296" y="3737335"/>
            <a:ext cx="2341595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ock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6059" y="3914729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27429" y="3870380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7429" y="4180819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21816F"/>
                </a:solidFill>
                <a:latin typeface="微软雅黑"/>
                <a:ea typeface="微软雅黑"/>
              </a:rPr>
              <a:t>100</a:t>
            </a:r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27429" y="4890394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敏感字段识别打标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51285" y="3737335"/>
            <a:ext cx="2341595" cy="1640890"/>
          </a:xfrm>
          <a:prstGeom prst="roundRect">
            <a:avLst>
              <a:gd name="adj" fmla="val 648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arrow-left-right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05049" y="3914729"/>
            <a:ext cx="283829" cy="283829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746418" y="3870380"/>
            <a:ext cx="163202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E6F6F2"/>
                </a:solidFill>
                <a:latin typeface="微软雅黑"/>
                <a:ea typeface="微软雅黑"/>
              </a:rPr>
              <a:t>一致性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46418" y="4180819"/>
            <a:ext cx="2075505" cy="6652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500" b="1">
                <a:solidFill>
                  <a:srgbClr val="FFFFFF"/>
                </a:solidFill>
                <a:latin typeface="微软雅黑"/>
                <a:ea typeface="微软雅黑"/>
              </a:rPr>
              <a:t>0</a:t>
            </a:r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 差异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46418" y="4890394"/>
            <a:ext cx="203115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核销量各出口差异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537880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trash2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537880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另外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没用的表和任务，每季度清理一轮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落地四步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统接入 → 统建模 → 统开发 → 统服务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每一步都先在试点主线上做，做通了再铺开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24  ·  AI＋数据平台 · 01  数据平台</a:t>
            </a:r>
          </a:p>
        </p:txBody>
      </p:sp>
      <p:grpSp>
        <p:nvGrpSpPr>
          <p:cNvPr id="21000" name="素材 3"/>
          <p:cNvGrpSpPr/>
          <p:nvPr/>
        </p:nvGrpSpPr>
        <p:grpSpPr>
          <a:xfrm>
            <a:off x="1287017" y="2335926"/>
            <a:ext cx="9135770" cy="2122958"/>
            <a:chOff x="742226" y="3016129"/>
            <a:chExt cx="9386508" cy="2181225"/>
          </a:xfrm>
        </p:grpSpPr>
        <p:sp>
          <p:nvSpPr>
            <p:cNvPr id="21001" name="Oval 5"/>
            <p:cNvSpPr>
              <a:spLocks noChangeArrowheads="1"/>
            </p:cNvSpPr>
            <p:nvPr/>
          </p:nvSpPr>
          <p:spPr bwMode="auto">
            <a:xfrm>
              <a:off x="822820" y="3521788"/>
              <a:ext cx="1173806" cy="1169906"/>
            </a:xfrm>
            <a:prstGeom prst="ellipse">
              <a:avLst/>
            </a:pr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>
              <a:spLocks noEditPoints="1"/>
            </p:cNvSpPr>
            <p:nvPr/>
          </p:nvSpPr>
          <p:spPr bwMode="auto">
            <a:xfrm>
              <a:off x="742226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2CAB93">
                <a:lumMod val="85000"/>
              </a:srgbClr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Pentagon 6"/>
            <p:cNvSpPr/>
            <p:nvPr/>
          </p:nvSpPr>
          <p:spPr>
            <a:xfrm>
              <a:off x="2226707" y="4030542"/>
              <a:ext cx="955423" cy="152400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2CAB93">
                <a:shade val="50000"/>
              </a:srgbClr>
            </a:lnRef>
            <a:fillRef idx="1">
              <a:srgbClr val="2CAB93"/>
            </a:fillRef>
            <a:effectRef idx="0">
              <a:srgbClr val="2CAB93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88696" tIns="44348" rIns="88696" bIns="44348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004" name="Oval 5"/>
            <p:cNvSpPr>
              <a:spLocks noChangeArrowheads="1"/>
            </p:cNvSpPr>
            <p:nvPr/>
          </p:nvSpPr>
          <p:spPr bwMode="auto">
            <a:xfrm>
              <a:off x="3460173" y="3521788"/>
              <a:ext cx="1173806" cy="1169906"/>
            </a:xfrm>
            <a:prstGeom prst="ellipse">
              <a:avLst/>
            </a:pr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6"/>
            <p:cNvSpPr>
              <a:spLocks noEditPoints="1"/>
            </p:cNvSpPr>
            <p:nvPr/>
          </p:nvSpPr>
          <p:spPr bwMode="auto">
            <a:xfrm>
              <a:off x="3379579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2CAB93">
                <a:lumMod val="85000"/>
              </a:srgbClr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6" name="Pentagon 11"/>
            <p:cNvSpPr/>
            <p:nvPr/>
          </p:nvSpPr>
          <p:spPr>
            <a:xfrm>
              <a:off x="4910545" y="4030542"/>
              <a:ext cx="955423" cy="152400"/>
            </a:xfrm>
            <a:prstGeom prst="homePlate">
              <a:avLst/>
            </a:prstGeom>
            <a:solidFill>
              <a:srgbClr val="2CAB93"/>
            </a:solidFill>
            <a:ln>
              <a:noFill/>
            </a:ln>
          </p:spPr>
          <p:style>
            <a:lnRef idx="2">
              <a:srgbClr val="2CAB93">
                <a:shade val="50000"/>
              </a:srgbClr>
            </a:lnRef>
            <a:fillRef idx="1">
              <a:srgbClr val="2CAB93"/>
            </a:fillRef>
            <a:effectRef idx="0">
              <a:srgbClr val="2CAB93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88696" tIns="44348" rIns="88696" bIns="44348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7" name="Oval 5"/>
            <p:cNvSpPr>
              <a:spLocks noChangeArrowheads="1"/>
            </p:cNvSpPr>
            <p:nvPr/>
          </p:nvSpPr>
          <p:spPr bwMode="auto">
            <a:xfrm>
              <a:off x="6175752" y="3521788"/>
              <a:ext cx="1173806" cy="1169906"/>
            </a:xfrm>
            <a:prstGeom prst="ellipse">
              <a:avLst/>
            </a:pr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8" name="Freeform 6"/>
            <p:cNvSpPr>
              <a:spLocks noEditPoints="1"/>
            </p:cNvSpPr>
            <p:nvPr/>
          </p:nvSpPr>
          <p:spPr bwMode="auto">
            <a:xfrm>
              <a:off x="6095158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2CAB93">
                <a:lumMod val="85000"/>
              </a:srgbClr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9" name="Pentagon 15"/>
            <p:cNvSpPr/>
            <p:nvPr/>
          </p:nvSpPr>
          <p:spPr>
            <a:xfrm>
              <a:off x="7594383" y="4030542"/>
              <a:ext cx="955423" cy="152400"/>
            </a:xfrm>
            <a:prstGeom prst="homePlate">
              <a:avLst/>
            </a:prstGeom>
            <a:solidFill>
              <a:srgbClr val="2CAB93"/>
            </a:solidFill>
            <a:ln>
              <a:noFill/>
            </a:ln>
          </p:spPr>
          <p:style>
            <a:lnRef idx="2">
              <a:srgbClr val="2CAB93">
                <a:shade val="50000"/>
              </a:srgbClr>
            </a:lnRef>
            <a:fillRef idx="1">
              <a:srgbClr val="2CAB93"/>
            </a:fillRef>
            <a:effectRef idx="0">
              <a:srgbClr val="2CAB93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88696" tIns="44348" rIns="88696" bIns="44348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10" name="Oval 5"/>
            <p:cNvSpPr>
              <a:spLocks noChangeArrowheads="1"/>
            </p:cNvSpPr>
            <p:nvPr/>
          </p:nvSpPr>
          <p:spPr bwMode="auto">
            <a:xfrm>
              <a:off x="8874335" y="3521788"/>
              <a:ext cx="1173806" cy="1169906"/>
            </a:xfrm>
            <a:prstGeom prst="ellipse">
              <a:avLst/>
            </a:pr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11" name="Freeform 6"/>
            <p:cNvSpPr>
              <a:spLocks noEditPoints="1"/>
            </p:cNvSpPr>
            <p:nvPr/>
          </p:nvSpPr>
          <p:spPr bwMode="auto">
            <a:xfrm>
              <a:off x="8793741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2CAB93">
                <a:lumMod val="85000"/>
              </a:srgbClr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12" name="Picture 21011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5696" y="3156867"/>
            <a:ext cx="478962" cy="478962"/>
          </a:xfrm>
          <a:prstGeom prst="rect">
            <a:avLst/>
          </a:prstGeom>
        </p:spPr>
      </p:pic>
      <p:sp>
        <p:nvSpPr>
          <p:cNvPr id="21013" name="TextBox 21012"/>
          <p:cNvSpPr txBox="1"/>
          <p:nvPr/>
        </p:nvSpPr>
        <p:spPr>
          <a:xfrm>
            <a:off x="737771" y="1954530"/>
            <a:ext cx="239481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50" b="1">
                <a:solidFill>
                  <a:srgbClr val="2CAB93"/>
                </a:solidFill>
                <a:latin typeface="微软雅黑"/>
                <a:ea typeface="微软雅黑"/>
              </a:rPr>
              <a:t>01  统接入</a:t>
            </a:r>
          </a:p>
        </p:txBody>
      </p:sp>
      <p:sp>
        <p:nvSpPr>
          <p:cNvPr id="21014" name="TextBox 21013"/>
          <p:cNvSpPr txBox="1"/>
          <p:nvPr/>
        </p:nvSpPr>
        <p:spPr>
          <a:xfrm>
            <a:off x="737771" y="4473367"/>
            <a:ext cx="2394813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把数据接进来</a:t>
            </a:r>
          </a:p>
        </p:txBody>
      </p:sp>
      <p:sp>
        <p:nvSpPr>
          <p:cNvPr id="21015" name="TextBox 21014"/>
          <p:cNvSpPr txBox="1"/>
          <p:nvPr/>
        </p:nvSpPr>
        <p:spPr>
          <a:xfrm>
            <a:off x="737771" y="4828155"/>
            <a:ext cx="2394813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统一接入规范和编号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补齐数据源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订单、核销实时链路</a:t>
            </a:r>
          </a:p>
        </p:txBody>
      </p:sp>
      <p:pic>
        <p:nvPicPr>
          <p:cNvPr id="21016" name="Picture 21015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822" y="3156867"/>
            <a:ext cx="478962" cy="478962"/>
          </a:xfrm>
          <a:prstGeom prst="rect">
            <a:avLst/>
          </a:prstGeom>
        </p:spPr>
      </p:pic>
      <p:sp>
        <p:nvSpPr>
          <p:cNvPr id="21017" name="TextBox 21016"/>
          <p:cNvSpPr txBox="1"/>
          <p:nvPr/>
        </p:nvSpPr>
        <p:spPr>
          <a:xfrm>
            <a:off x="3300897" y="1954530"/>
            <a:ext cx="239481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50" b="1">
                <a:solidFill>
                  <a:srgbClr val="2CAB93"/>
                </a:solidFill>
                <a:latin typeface="微软雅黑"/>
                <a:ea typeface="微软雅黑"/>
              </a:rPr>
              <a:t>02  统建模</a:t>
            </a:r>
          </a:p>
        </p:txBody>
      </p:sp>
      <p:sp>
        <p:nvSpPr>
          <p:cNvPr id="21018" name="TextBox 21017"/>
          <p:cNvSpPr txBox="1"/>
          <p:nvPr/>
        </p:nvSpPr>
        <p:spPr>
          <a:xfrm>
            <a:off x="3300897" y="4473367"/>
            <a:ext cx="2394813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把数据理清楚</a:t>
            </a:r>
          </a:p>
        </p:txBody>
      </p:sp>
      <p:sp>
        <p:nvSpPr>
          <p:cNvPr id="21019" name="TextBox 21018"/>
          <p:cNvSpPr txBox="1"/>
          <p:nvPr/>
        </p:nvSpPr>
        <p:spPr>
          <a:xfrm>
            <a:off x="3300897" y="4828155"/>
            <a:ext cx="2394813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划好数据域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首批指标和标签认证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重复模型合并</a:t>
            </a:r>
          </a:p>
        </p:txBody>
      </p:sp>
      <p:pic>
        <p:nvPicPr>
          <p:cNvPr id="21020" name="Picture 21019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045" y="3156867"/>
            <a:ext cx="478962" cy="478962"/>
          </a:xfrm>
          <a:prstGeom prst="rect">
            <a:avLst/>
          </a:prstGeom>
        </p:spPr>
      </p:pic>
      <p:sp>
        <p:nvSpPr>
          <p:cNvPr id="21021" name="TextBox 21020"/>
          <p:cNvSpPr txBox="1"/>
          <p:nvPr/>
        </p:nvSpPr>
        <p:spPr>
          <a:xfrm>
            <a:off x="5944119" y="1954530"/>
            <a:ext cx="239481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50" b="1">
                <a:solidFill>
                  <a:srgbClr val="2CAB93"/>
                </a:solidFill>
                <a:latin typeface="微软雅黑"/>
                <a:ea typeface="微软雅黑"/>
              </a:rPr>
              <a:t>03  统开发</a:t>
            </a:r>
          </a:p>
        </p:txBody>
      </p:sp>
      <p:sp>
        <p:nvSpPr>
          <p:cNvPr id="21022" name="TextBox 21021"/>
          <p:cNvSpPr txBox="1"/>
          <p:nvPr/>
        </p:nvSpPr>
        <p:spPr>
          <a:xfrm>
            <a:off x="5944119" y="4473367"/>
            <a:ext cx="2394813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把关口设起来</a:t>
            </a:r>
          </a:p>
        </p:txBody>
      </p:sp>
      <p:sp>
        <p:nvSpPr>
          <p:cNvPr id="21023" name="TextBox 21022"/>
          <p:cNvSpPr txBox="1"/>
          <p:nvPr/>
        </p:nvSpPr>
        <p:spPr>
          <a:xfrm>
            <a:off x="5944119" y="4828155"/>
            <a:ext cx="2394813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发布卡点上线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质量规则绑定任务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核销逐层核对</a:t>
            </a:r>
          </a:p>
        </p:txBody>
      </p:sp>
      <p:pic>
        <p:nvPicPr>
          <p:cNvPr id="21024" name="Picture 21023" descr="sen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6368" y="3156867"/>
            <a:ext cx="478962" cy="478962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8578443" y="1954530"/>
            <a:ext cx="2394813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50" b="1">
                <a:solidFill>
                  <a:srgbClr val="2CAB93"/>
                </a:solidFill>
                <a:latin typeface="微软雅黑"/>
                <a:ea typeface="微软雅黑"/>
              </a:rPr>
              <a:t>04  统服务</a:t>
            </a:r>
          </a:p>
        </p:txBody>
      </p:sp>
      <p:sp>
        <p:nvSpPr>
          <p:cNvPr id="21026" name="TextBox 21025"/>
          <p:cNvSpPr txBox="1"/>
          <p:nvPr/>
        </p:nvSpPr>
        <p:spPr>
          <a:xfrm>
            <a:off x="8578443" y="4473367"/>
            <a:ext cx="2394813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把数据用起来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8578443" y="4828155"/>
            <a:ext cx="2394813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接口联合提供指标和标签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小Q 数据集统一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业务自助分析</a:t>
            </a:r>
          </a:p>
        </p:txBody>
      </p:sp>
      <p:sp>
        <p:nvSpPr>
          <p:cNvPr id="21028" name="Rounded Rectangle 21027"/>
          <p:cNvSpPr/>
          <p:nvPr/>
        </p:nvSpPr>
        <p:spPr>
          <a:xfrm>
            <a:off x="994318" y="5502402"/>
            <a:ext cx="4860584" cy="443484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试点先行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先做“订单 → 核销 → 结算”</a:t>
            </a:r>
          </a:p>
        </p:txBody>
      </p:sp>
      <p:sp>
        <p:nvSpPr>
          <p:cNvPr id="21029" name="Rounded Rectangle 21028"/>
          <p:cNvSpPr/>
          <p:nvPr/>
        </p:nvSpPr>
        <p:spPr>
          <a:xfrm>
            <a:off x="6032296" y="5502402"/>
            <a:ext cx="4860584" cy="443484"/>
          </a:xfrm>
          <a:prstGeom prst="roundRect">
            <a:avLst>
              <a:gd name="adj" fmla="val 2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稳妥切换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老模型先双跑对比再切换，可回退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建设落地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最终形成“六个统一”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治理的结果，最后落在这六件看得见、可考核的事上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729587"/>
          </a:xfrm>
          <a:prstGeom prst="roundRect">
            <a:avLst>
              <a:gd name="adj" fmla="val 717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243388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495" y="2376434"/>
            <a:ext cx="266090" cy="26609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63547" y="2225649"/>
            <a:ext cx="62087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63547" y="2474000"/>
            <a:ext cx="220559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1F3A35"/>
                </a:solidFill>
                <a:latin typeface="微软雅黑"/>
                <a:ea typeface="微软雅黑"/>
              </a:rPr>
              <a:t>统一规范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451" y="2935224"/>
            <a:ext cx="2826471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规矩写进流程，不合规的表发不出去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3378708"/>
            <a:ext cx="282647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衡量　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新表规范符合率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2970" y="2048256"/>
            <a:ext cx="3181258" cy="1729587"/>
          </a:xfrm>
          <a:prstGeom prst="roundRect">
            <a:avLst>
              <a:gd name="adj" fmla="val 717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8103" y="2243388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148" y="2376434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22199" y="2225649"/>
            <a:ext cx="62087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22199" y="2474000"/>
            <a:ext cx="220559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1F3A35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48103" y="2935224"/>
            <a:ext cx="2826471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一份存储，离线 + 实时，订单核销分钟级可见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48103" y="3378708"/>
            <a:ext cx="282647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衡量　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端到端延迟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1622" y="2048256"/>
            <a:ext cx="3181258" cy="1729587"/>
          </a:xfrm>
          <a:prstGeom prst="roundRect">
            <a:avLst>
              <a:gd name="adj" fmla="val 717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906755" y="2243388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9801" y="2376434"/>
            <a:ext cx="266090" cy="26609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580851" y="2225649"/>
            <a:ext cx="62087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80851" y="2474000"/>
            <a:ext cx="220559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1F3A35"/>
                </a:solidFill>
                <a:latin typeface="微软雅黑"/>
                <a:ea typeface="微软雅黑"/>
              </a:rPr>
              <a:t>统一标签（指标）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06755" y="2935224"/>
            <a:ext cx="2826471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一个指标一个口径，报表、接口、AI 三处一致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06755" y="3378708"/>
            <a:ext cx="282647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衡量　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认证指标覆盖率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3955237"/>
            <a:ext cx="3181258" cy="1729587"/>
          </a:xfrm>
          <a:prstGeom prst="roundRect">
            <a:avLst>
              <a:gd name="adj" fmla="val 717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89451" y="415036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2495" y="4283415"/>
            <a:ext cx="266090" cy="26609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863547" y="4132630"/>
            <a:ext cx="62087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63547" y="4380981"/>
            <a:ext cx="220559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1F3A35"/>
                </a:solidFill>
                <a:latin typeface="微软雅黑"/>
                <a:ea typeface="微软雅黑"/>
              </a:rPr>
              <a:t>统一权限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89451" y="4842205"/>
            <a:ext cx="2826471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一套规则管到底，谁能看什么分清楚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89451" y="5285689"/>
            <a:ext cx="282647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衡量　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敏感字段识别覆盖率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52970" y="3955237"/>
            <a:ext cx="3181258" cy="1729587"/>
          </a:xfrm>
          <a:prstGeom prst="roundRect">
            <a:avLst>
              <a:gd name="adj" fmla="val 717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48103" y="415036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1148" y="4283415"/>
            <a:ext cx="266090" cy="26609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222199" y="4132630"/>
            <a:ext cx="62087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22199" y="4380981"/>
            <a:ext cx="220559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1F3A35"/>
                </a:solidFill>
                <a:latin typeface="微软雅黑"/>
                <a:ea typeface="微软雅黑"/>
              </a:rPr>
              <a:t>标签复用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48103" y="4842205"/>
            <a:ext cx="2826471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一个游客一个身份，一处加工到处用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48103" y="5285689"/>
            <a:ext cx="282647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衡量　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标签复用次数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11622" y="3955237"/>
            <a:ext cx="3181258" cy="1729587"/>
          </a:xfrm>
          <a:prstGeom prst="roundRect">
            <a:avLst>
              <a:gd name="adj" fmla="val 717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906755" y="415036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chart-colum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9801" y="4283415"/>
            <a:ext cx="266090" cy="26609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580851" y="4132630"/>
            <a:ext cx="62087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80851" y="4380981"/>
            <a:ext cx="220559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1F3A35"/>
                </a:solidFill>
                <a:latin typeface="微软雅黑"/>
                <a:ea typeface="微软雅黑"/>
              </a:rPr>
              <a:t>自助分析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06755" y="4842205"/>
            <a:ext cx="2826471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业务自己查、自己看，少找人要数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6755" y="5285689"/>
            <a:ext cx="282647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衡量　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自助分析占比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统一规范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规矩不再停留在文档里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新表不合规发不出去，老表按优先级整改，每月公示健康分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32355"/>
            <a:ext cx="3033430" cy="1330452"/>
          </a:xfrm>
          <a:prstGeom prst="roundRect">
            <a:avLst>
              <a:gd name="adj" fmla="val 9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09201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207315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2010"/>
            <a:ext cx="2102114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新建 · 卡点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2695148"/>
            <a:ext cx="267864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6F6F2"/>
                </a:solidFill>
                <a:latin typeface="微软雅黑"/>
                <a:ea typeface="微软雅黑"/>
              </a:rPr>
              <a:t>发布前自动检查，不合规不发布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116444" y="2508885"/>
            <a:ext cx="22174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26884" y="1932355"/>
            <a:ext cx="3033430" cy="1330452"/>
          </a:xfrm>
          <a:prstGeom prst="roundRect">
            <a:avLst>
              <a:gd name="adj" fmla="val 9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622017" y="20920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wre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975" y="221396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269504" y="2092010"/>
            <a:ext cx="2102114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存量 · 整改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22017" y="2695148"/>
            <a:ext cx="267864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核心表优先；AI 帮忙补描述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7549011" y="2508885"/>
            <a:ext cx="22174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859450" y="1932355"/>
            <a:ext cx="3033430" cy="1330452"/>
          </a:xfrm>
          <a:prstGeom prst="roundRect">
            <a:avLst>
              <a:gd name="adj" fmla="val 9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054583" y="20920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efresh-cw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6541" y="2213968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702070" y="2092010"/>
            <a:ext cx="2102114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持续 · 运营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54583" y="2695148"/>
            <a:ext cx="267864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资产健康分，月度公示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511158"/>
            <a:ext cx="4838410" cy="1818283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16060" y="3617594"/>
            <a:ext cx="448362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表名 = 身份证号，一看就懂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304756" y="4132036"/>
            <a:ext cx="682965" cy="443484"/>
          </a:xfrm>
          <a:prstGeom prst="roundRect">
            <a:avLst>
              <a:gd name="adj" fmla="val 16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362" y="4646477"/>
            <a:ext cx="10377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加工层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20766" y="4132036"/>
            <a:ext cx="682965" cy="443484"/>
          </a:xfrm>
          <a:prstGeom prst="roundRect">
            <a:avLst>
              <a:gd name="adj" fmla="val 16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ord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43373" y="4646477"/>
            <a:ext cx="10377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36777" y="4132036"/>
            <a:ext cx="1552194" cy="443484"/>
          </a:xfrm>
          <a:prstGeom prst="roundRect">
            <a:avLst>
              <a:gd name="adj" fmla="val 16000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order_item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59383" y="4646477"/>
            <a:ext cx="1906981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内容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622017" y="4132036"/>
            <a:ext cx="558789" cy="443484"/>
          </a:xfrm>
          <a:prstGeom prst="roundRect">
            <a:avLst>
              <a:gd name="adj" fmla="val 16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di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44624" y="4646477"/>
            <a:ext cx="91357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更新方式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16060" y="4948046"/>
            <a:ext cx="448362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例：dwd_ord_order_item_di = 洗干净层 · 订单 · 订单明细 · 每天增量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54471" y="3511158"/>
            <a:ext cx="4838410" cy="1818283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76213" y="3617594"/>
            <a:ext cx="448362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建表 8 项必填，缺一项发不出去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76213" y="4061078"/>
            <a:ext cx="725835" cy="30156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中文名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90745" y="4061078"/>
            <a:ext cx="590326" cy="30156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描述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769767" y="4061078"/>
            <a:ext cx="725835" cy="30156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负责人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84299" y="4061078"/>
            <a:ext cx="861344" cy="30156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安全等级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534342" y="4061078"/>
            <a:ext cx="861344" cy="30156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生命周期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276213" y="4451344"/>
            <a:ext cx="861344" cy="30156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分区字段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226253" y="4451344"/>
            <a:ext cx="861344" cy="30156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字段注释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176295" y="4451344"/>
            <a:ext cx="1289552" cy="30156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发生 / 上报时间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4318" y="5506836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04403"/>
            <a:ext cx="266090" cy="26609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570847" y="5506836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衡量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新表规范符合率 100%；核心表注释、负责人 100% 覆盖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统一底座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一份存储，离线 + 实时，同一个逻辑只建一次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订单、核销从“第二天才看到”变成“分钟级看到”；离线和湖仓合一，不再出两套结果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10181"/>
            <a:ext cx="1729587" cy="2306116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plu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971" y="2052096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08759" y="2016617"/>
            <a:ext cx="11974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数据进来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27363" y="2495580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业务库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7363" y="2823758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渠道接口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27363" y="3151935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设备事件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27363" y="348011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行为日志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80829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2741645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936778" y="1910181"/>
            <a:ext cx="1552194" cy="2306116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lin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6432" y="2052096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451219" y="2016617"/>
            <a:ext cx="102001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统一接入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69823" y="2495580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接入规范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69823" y="2823758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对象编号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069823" y="3151935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负责人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506711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701844" y="1910181"/>
            <a:ext cx="2971342" cy="2306116"/>
          </a:xfrm>
          <a:prstGeom prst="roundRect">
            <a:avLst>
              <a:gd name="adj" fmla="val 461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1499" y="2052096"/>
            <a:ext cx="283829" cy="283829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216286" y="2016617"/>
            <a:ext cx="243916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湖仓一体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34890" y="2495580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离线计算 · DataWorks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34890" y="2823758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实时计算 · 订单核销先行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834890" y="3151935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原料 → 成品分层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34890" y="3480113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共用业务定义和质量规则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7690926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86059" y="1910181"/>
            <a:ext cx="1507845" cy="2306116"/>
          </a:xfrm>
          <a:prstGeom prst="roundRect">
            <a:avLst>
              <a:gd name="adj" fmla="val 705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sear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5714" y="2052096"/>
            <a:ext cx="283829" cy="28382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8400501" y="2016617"/>
            <a:ext cx="9756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分析查询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019105" y="2495580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稳定查询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19105" y="2823758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负载隔离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9411644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606777" y="1910181"/>
            <a:ext cx="1286103" cy="2306116"/>
          </a:xfrm>
          <a:prstGeom prst="roundRect">
            <a:avLst>
              <a:gd name="adj" fmla="val 827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end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6432" y="2052096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121219" y="2016617"/>
            <a:ext cx="75392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给谁用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39823" y="2495580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739823" y="2823758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739823" y="3151935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464649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233" y="4393692"/>
            <a:ext cx="62087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离线和湖仓合一：同一个逻辑只建一次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4318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离线、湖仓各做一份，结果不一样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3633048" y="4987960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943487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以后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公共层只建一次，改口径只改一处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71526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盘点重叠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435479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586263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定保留版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8306482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457266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下游改引用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9177484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328269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双跑对比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10048487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19927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下线重复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94318" y="5529011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za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0847" y="5529011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效果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订单、核销：第二天看到 → 分钟级看到；结构变更、补数重算、高峰压测都有预案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统一标签（指标）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同一个数，报表、接口、AI 三处一致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企业出标准口径，景区有自己的专属空间；同一个出口，按景区隔离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1052"/>
            <a:ext cx="1951329" cy="3193084"/>
          </a:xfrm>
          <a:prstGeom prst="roundRect">
            <a:avLst>
              <a:gd name="adj" fmla="val 54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  <a:p>
            <a:pPr algn="ctr">
              <a:spcBef>
                <a:spcPts val="388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明细 · 维度 · 汇总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3034343" y="2712887"/>
            <a:ext cx="266090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3034343" y="4220733"/>
            <a:ext cx="266090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433480" y="2021052"/>
            <a:ext cx="4080052" cy="1419148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5222" y="2109749"/>
            <a:ext cx="37252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5222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统一定义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69785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版本管理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4347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业务认证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5222" y="2978978"/>
            <a:ext cx="37252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全公司一个口径，老板看板只用它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33480" y="3794988"/>
            <a:ext cx="4080052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5222" y="3883685"/>
            <a:ext cx="37252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景区自定义指标空间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5222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 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14717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 B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74211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5222" y="4770653"/>
            <a:ext cx="37252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相互隔离；不能同名覆盖企业标准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09144" y="3484548"/>
            <a:ext cx="2128723" cy="266090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↑ 好用的评审后沉淀为标准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566751" y="2624190"/>
            <a:ext cx="21287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ight Arrow 60"/>
          <p:cNvSpPr/>
          <p:nvPr/>
        </p:nvSpPr>
        <p:spPr>
          <a:xfrm>
            <a:off x="7566751" y="4398126"/>
            <a:ext cx="21287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823972" y="2021052"/>
            <a:ext cx="3068909" cy="3193084"/>
          </a:xfrm>
          <a:prstGeom prst="roundRect">
            <a:avLst>
              <a:gd name="adj" fmla="val 34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364" y="2109749"/>
            <a:ext cx="280281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同一个出口统一提供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01364" y="257984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hart-colum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7801" y="2677408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444848" y="257984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小Q 报表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01364" y="312976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plu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801" y="3227329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444848" y="312976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367968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bo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7801" y="3777249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444848" y="367968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AI 问数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01364" y="4309430"/>
            <a:ext cx="2714122" cy="727313"/>
          </a:xfrm>
          <a:prstGeom prst="roundRect">
            <a:avLst>
              <a:gd name="adj" fmla="val 12195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  <a:p>
            <a:pPr algn="ctr">
              <a:spcBef>
                <a:spcPts val="97"/>
              </a:spcBef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开会不用先对数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5418140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15706"/>
            <a:ext cx="266090" cy="26609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0847" y="5418140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衡量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认证指标覆盖率；老板看板认证指标占比 100%；核销量各出口 0 差异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一套规则管到底，谁能看什么分清楚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角色决定能用哪些功能，范围决定能看哪些景区，敏感程度决定能看哪些字段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24769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60089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95407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30727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4318" y="2371404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集团管理层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24769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60089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95407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看汇总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30727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4318" y="2823758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24769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60089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95407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按项目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30727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审批打码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4318" y="3276111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24769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60089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95407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本业务线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730727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4318" y="3728466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24769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0089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95407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30727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授权打码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4318" y="4180819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324769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60089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95407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730727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4318" y="4633173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外部伙伴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324769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60089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95407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匿名汇总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730727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85527"/>
            <a:ext cx="581851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AI 智能体　</a:t>
            </a:r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不单独开权限，继承提问人的权限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23266" y="1963399"/>
            <a:ext cx="376961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申请到回收，一个闭环</a:t>
            </a:r>
          </a:p>
        </p:txBody>
      </p:sp>
      <p:sp>
        <p:nvSpPr>
          <p:cNvPr id="80" name="Oval 79"/>
          <p:cNvSpPr/>
          <p:nvPr/>
        </p:nvSpPr>
        <p:spPr>
          <a:xfrm>
            <a:off x="7123266" y="2380274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0832" y="2477840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619969" y="2344795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申请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19969" y="258427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说明用途和期限</a:t>
            </a:r>
          </a:p>
        </p:txBody>
      </p:sp>
      <p:sp>
        <p:nvSpPr>
          <p:cNvPr id="84" name="Oval 83"/>
          <p:cNvSpPr/>
          <p:nvPr/>
        </p:nvSpPr>
        <p:spPr>
          <a:xfrm>
            <a:off x="7123266" y="2965673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tam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0832" y="3063240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619969" y="2930194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审批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19969" y="316967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数据负责人；高敏加安全负责人</a:t>
            </a:r>
          </a:p>
        </p:txBody>
      </p:sp>
      <p:sp>
        <p:nvSpPr>
          <p:cNvPr id="88" name="Oval 87"/>
          <p:cNvSpPr/>
          <p:nvPr/>
        </p:nvSpPr>
        <p:spPr>
          <a:xfrm>
            <a:off x="7123266" y="355107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key-rou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832" y="3648638"/>
            <a:ext cx="195132" cy="19513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619969" y="3515593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授权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19969" y="375507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最小范围，设到期时间</a:t>
            </a:r>
          </a:p>
        </p:txBody>
      </p:sp>
      <p:sp>
        <p:nvSpPr>
          <p:cNvPr id="92" name="Oval 91"/>
          <p:cNvSpPr/>
          <p:nvPr/>
        </p:nvSpPr>
        <p:spPr>
          <a:xfrm>
            <a:off x="7123266" y="4136470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ey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832" y="4234037"/>
            <a:ext cx="195132" cy="19513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619969" y="4100991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19969" y="4340472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访问全程留痕</a:t>
            </a:r>
          </a:p>
        </p:txBody>
      </p:sp>
      <p:sp>
        <p:nvSpPr>
          <p:cNvPr id="96" name="Oval 95"/>
          <p:cNvSpPr/>
          <p:nvPr/>
        </p:nvSpPr>
        <p:spPr>
          <a:xfrm>
            <a:off x="7123266" y="4721870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archiv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0832" y="4819436"/>
            <a:ext cx="195132" cy="195132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619969" y="4686391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回收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19969" y="4925871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到期、离岗自动收回；每季度复核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94318" y="5449183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16060" y="5449183"/>
            <a:ext cx="2306116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同一套规则，管住每个出口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610874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数据仓库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543176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数据地图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475478" y="5555620"/>
            <a:ext cx="82315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405068" y="5555620"/>
            <a:ext cx="49522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006729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标签平台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939031" y="5555620"/>
            <a:ext cx="88277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一个游客一个身份，一处加工、到处能用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订单、会员、年卡、人脸归并成同一个游客；营销、分析、AI、景区都从同一处取标签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年卡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人脸识别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同一个游客</a:t>
            </a:r>
          </a:p>
          <a:p>
            <a:pPr algn="ctr">
              <a:spcBef>
                <a:spcPts val="97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OneID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统一生产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基于公共模型加工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统一管理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口径 · 负责人 · 生命周期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统一服务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一个出口提供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分析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谁来用 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给谁打标签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 / 会员 · 供应商 · 景区 · 渠道 · 商品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标签类型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基础属性 · 统计类 · 规则类 · 模型预测类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景区只用本景区的标签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不做敏感个人信息标签；对外不提供个人层面标签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自助分析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业务自己查、自己看，少找人要数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从统一的模型、指标、标签出发；数据团队从临时取数转向建模型、做分析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31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1862632" cy="2394813"/>
          </a:xfrm>
          <a:prstGeom prst="roundRect">
            <a:avLst>
              <a:gd name="adj" fmla="val 571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统一出发点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模型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指标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945648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0435" y="2043226"/>
            <a:ext cx="3015691" cy="2394813"/>
          </a:xfrm>
          <a:prstGeom prst="roundRect">
            <a:avLst>
              <a:gd name="adj" fmla="val 444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568" y="2185141"/>
            <a:ext cx="319308" cy="3193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903573" y="2149662"/>
            <a:ext cx="230611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小Q 自助分析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7828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指标检索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2629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明细探索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7828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可视化计算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52629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自定义看板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7828" y="3755075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报表订阅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6404823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759610" y="2043226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rown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655" y="2247229"/>
            <a:ext cx="301569" cy="30156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74052" y="2043226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总部经营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759610" y="285923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riefcas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655" y="3063240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274052" y="285923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759610" y="367524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landmar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655" y="3879250"/>
            <a:ext cx="301569" cy="30156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74052" y="367524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33546" y="2043226"/>
            <a:ext cx="2359334" cy="2394813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533546" y="2043226"/>
            <a:ext cx="2359334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66591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43985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021378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87469" y="2043226"/>
            <a:ext cx="147236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自定义看板（示意）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99636" y="3577681"/>
            <a:ext cx="248351" cy="53218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172163" y="3267242"/>
            <a:ext cx="248351" cy="842619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544690" y="3444636"/>
            <a:ext cx="248351" cy="66522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917216" y="3045500"/>
            <a:ext cx="248351" cy="1064361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0289743" y="3222894"/>
            <a:ext cx="248351" cy="886968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55288" y="2468971"/>
            <a:ext cx="200454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××景区 · 本周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问数与报表同源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共用指标定义和权限，问出来的数和报表一致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数据团队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从临时取数、对数，转向建模型、做分析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36935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6060" y="5369356"/>
            <a:ext cx="1153058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7CF"/>
                </a:solidFill>
                <a:latin typeface="微软雅黑"/>
                <a:ea typeface="微软雅黑"/>
              </a:rPr>
              <a:t>最终产出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324769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企业指标中心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491132" y="5475792"/>
            <a:ext cx="131862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景区专属指标空间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16195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统一标签服务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82558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统一语义服务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48921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自助分析平台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对公司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从“找人要数”变成“数据找人”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五个方面都有可衡量的变化；先建立基线，再定目标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2926994" cy="3947007"/>
          </a:xfrm>
          <a:prstGeom prst="roundRect">
            <a:avLst>
              <a:gd name="adj" fmla="val 4242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92010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DB5AF"/>
                </a:solidFill>
                <a:latin typeface="微软雅黑"/>
                <a:ea typeface="微软雅黑"/>
              </a:rPr>
              <a:t>以前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6060" y="2402448"/>
            <a:ext cx="257220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50" b="1">
                <a:solidFill>
                  <a:srgbClr val="5E7772"/>
                </a:solidFill>
                <a:latin typeface="微软雅黑"/>
                <a:ea typeface="微软雅黑"/>
              </a:rPr>
              <a:t>找人要数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3023326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· 开会先对数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6060" y="3378113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· 第二天才看到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6060" y="3732900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· 临时找人取数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4087688"/>
            <a:ext cx="2572207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· 同样的模型做好几遍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3992269" y="3777249"/>
            <a:ext cx="301569" cy="354787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364795" y="1976704"/>
            <a:ext cx="6528084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86538" y="2092010"/>
            <a:ext cx="2660904" cy="31043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2CAB93"/>
                </a:solidFill>
                <a:latin typeface="微软雅黑"/>
                <a:ea typeface="微软雅黑"/>
              </a:rPr>
              <a:t>以后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86538" y="2402448"/>
            <a:ext cx="3547872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数据找人</a:t>
            </a:r>
          </a:p>
        </p:txBody>
      </p:sp>
      <p:sp>
        <p:nvSpPr>
          <p:cNvPr id="55" name="Oval 54"/>
          <p:cNvSpPr/>
          <p:nvPr/>
        </p:nvSpPr>
        <p:spPr>
          <a:xfrm>
            <a:off x="4586538" y="2987847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adge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975" y="3094283"/>
            <a:ext cx="212872" cy="21287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145327" y="2952369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可信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83944" y="2952369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一个指标一个口径，数字可追溯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66591" y="3076544"/>
            <a:ext cx="182395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认证指标覆盖率 · 对账差异率</a:t>
            </a:r>
          </a:p>
        </p:txBody>
      </p:sp>
      <p:sp>
        <p:nvSpPr>
          <p:cNvPr id="60" name="Oval 59"/>
          <p:cNvSpPr/>
          <p:nvPr/>
        </p:nvSpPr>
        <p:spPr>
          <a:xfrm>
            <a:off x="4586538" y="3573246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za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975" y="3679682"/>
            <a:ext cx="212872" cy="21287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45327" y="3537767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时效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83944" y="3537767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订单、核销第二天 → 分钟级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66591" y="3661942"/>
            <a:ext cx="868982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端到端延迟</a:t>
            </a:r>
          </a:p>
        </p:txBody>
      </p:sp>
      <p:sp>
        <p:nvSpPr>
          <p:cNvPr id="65" name="Oval 64"/>
          <p:cNvSpPr/>
          <p:nvPr/>
        </p:nvSpPr>
        <p:spPr>
          <a:xfrm>
            <a:off x="4586538" y="4158645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gaug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2975" y="4265081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45327" y="4123166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效率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83944" y="4123166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公共模型复用，改动影响可预判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66591" y="4247342"/>
            <a:ext cx="147285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模型复用率 · 交付周期</a:t>
            </a:r>
          </a:p>
        </p:txBody>
      </p:sp>
      <p:sp>
        <p:nvSpPr>
          <p:cNvPr id="70" name="Oval 69"/>
          <p:cNvSpPr/>
          <p:nvPr/>
        </p:nvSpPr>
        <p:spPr>
          <a:xfrm>
            <a:off x="4586538" y="474404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iggy-ba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2975" y="4850480"/>
            <a:ext cx="212872" cy="21287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145327" y="4708565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83944" y="4708565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重复模型、无用报表和任务下线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66591" y="4832741"/>
            <a:ext cx="98601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存储计算成本</a:t>
            </a:r>
          </a:p>
        </p:txBody>
      </p:sp>
      <p:sp>
        <p:nvSpPr>
          <p:cNvPr id="75" name="Oval 74"/>
          <p:cNvSpPr/>
          <p:nvPr/>
        </p:nvSpPr>
        <p:spPr>
          <a:xfrm>
            <a:off x="4586538" y="5329443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975" y="5435879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145327" y="5293964"/>
            <a:ext cx="70957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83944" y="5293964"/>
            <a:ext cx="2926994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敏感数据分级、打码、可审计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66591" y="5418140"/>
            <a:ext cx="1337104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敏感字段识别覆盖率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对各业务线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每个人都用上靠谱的数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从管理层到景区，九类角色的变化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row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2340361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管理层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驾驶舱全用认证指标，不用先对数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970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30364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974" y="2340361"/>
            <a:ext cx="257220" cy="2572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195590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5590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核销口径统一，差异自动定位；节假日实时看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11622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89015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alculato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7625" y="2340361"/>
            <a:ext cx="257220" cy="25722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54241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54241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业务与财务逐层对账，差异自动列原因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out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322" y="3475680"/>
            <a:ext cx="257220" cy="2572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销量、佣金、返利口径统一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52970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0364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8974" y="3475680"/>
            <a:ext cx="257220" cy="2572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95590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5590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标签圈人、指标看效果，复盘自动完成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711622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89015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eads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7625" y="3475680"/>
            <a:ext cx="257220" cy="2572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54241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运营 / 客户成功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54241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景区经营报告自动生成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od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0322" y="4610998"/>
            <a:ext cx="257220" cy="2572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36938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产品研发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36938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上线前定好口径，上线即有数据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352970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30364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58974" y="4610998"/>
            <a:ext cx="257220" cy="2572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95590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95590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从取数对数转向建模型、做分析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11622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9015" y="4482388"/>
            <a:ext cx="514441" cy="514441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andmark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7625" y="4610998"/>
            <a:ext cx="257220" cy="25722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4241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 / 供应商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54241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直接用标准指标，不够用自己加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95965"/>
            <a:ext cx="9898562" cy="514441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zap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9451" y="5520141"/>
            <a:ext cx="266090" cy="26609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570847" y="5395965"/>
            <a:ext cx="914464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为第二部分打基础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数据可信、有口径、有权限，AI 接上去才能答得准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围绕三个目标，一条线建下去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现状与底气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能做哪些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建设思路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跑通商业模式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快速占领市场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建自己的平台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贯穿始终的事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已有智能体，来自三个地方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 = 能听懂问题、还能帮你办事的 AI 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35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扣子平台上配置的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工作流配置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给游客用 · 标准化、配置化输出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和合作企业一起做的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合作接入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给听障游客用 · 接入合作方的专业能力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小Q 自带的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平台自带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智能数据解读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给景区和内部管理者用 · 直接用小Q 的 AI 能力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智能客服 · 示意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在线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明天上午去，几点开园？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 8:00 开园。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刷身份证或人脸就能入园，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不用换票。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帮我买两张成人票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已选好明天成人票 2 张，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点这里去支付 →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我们凭什么能做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系统在现场、数据在手里、客户在用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别人只能做“通用聊天”，我们能做“帮景区和游客办事”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36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x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408" y="206761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产品积累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多条产品线，系统装在景区现场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ick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2814888"/>
            <a:ext cx="248351" cy="24835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2602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9039" y="2814888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238347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景区业态管理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71711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ctivity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488984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景区运营管理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02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alle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9039" y="3488984"/>
            <a:ext cx="248351" cy="2483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38347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景区财务管理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71711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onitor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148" y="4163080"/>
            <a:ext cx="248351" cy="24835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景区智慧终端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12602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9039" y="4163080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3238347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8148" y="4837175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02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gaphone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19039" y="4837175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238347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719584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4717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atabase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36675" y="2067618"/>
            <a:ext cx="243916" cy="24391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517855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数据在手里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17855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办事要用的数据，都在我们系统里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96977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receipt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3413" y="2814888"/>
            <a:ext cx="248351" cy="24835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322722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交易与客流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37868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ag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4304" y="2814888"/>
            <a:ext cx="248351" cy="248351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963613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售票与分销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96977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3413" y="3488984"/>
            <a:ext cx="248351" cy="24835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22722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九大业态系统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37868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alendar-check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44304" y="348898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963613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年卡与预约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896977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file-text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03413" y="4163080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322722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订单与结算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37868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users_p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4304" y="4163080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963613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会员与营销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896977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scan-face_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03413" y="4837175"/>
            <a:ext cx="248351" cy="24835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322722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闸机与物联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37868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badge-check_p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44304" y="4837175"/>
            <a:ext cx="248351" cy="24835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963613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认证指标与标签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444849" y="1786006"/>
            <a:ext cx="2448031" cy="3680917"/>
          </a:xfrm>
          <a:prstGeom prst="roundRect">
            <a:avLst>
              <a:gd name="adj" fmla="val 507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639982" y="194566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handshake_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55288" y="2060966"/>
            <a:ext cx="257220" cy="2572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243120" y="1927920"/>
            <a:ext cx="156106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客户在用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243120" y="2211750"/>
            <a:ext cx="15610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大量景区已用我们的票务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622243" y="2655234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99636" y="2726192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接口现成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99636" y="3054370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系统已对接，基本零开发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622243" y="3542202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799636" y="3613160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信任已有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99636" y="3941338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老客户，成交最快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622243" y="4429170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799636" y="4500128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入口现成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99636" y="4828306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小程序、公众号、APP、终端都在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94318" y="562657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shield-check_w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89451" y="5737448"/>
            <a:ext cx="266090" cy="26609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570847" y="562657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结论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别人做通用聊天，我们做“能办事”的智能体 —— 这是我们的护城河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覆盖游前、游中、游后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实心为已有，空心为基于现有系统和数据可以扩展的 —— 都要做，只是先后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37  ·  AI＋数据平台 · 02  智能体平台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想去 · 了解 · 买票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景区咨询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行程规划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购票预约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门票候补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预约与候补提醒</a:t>
            </a: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入园 · 游玩 · 消费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入园核验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导览讲解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陪伴互动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无障碍服务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乐园项目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演出观看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游船乘坐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餐饮购物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停车租赁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酒店温泉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乐园排队与项目推荐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演出选座推荐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餐饮二消推荐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停车引导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自助机语音购票</a:t>
            </a: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游后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回味 · 分享 · 再来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拍照留念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游记分享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点评反馈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年卡复游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积分权益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游记与行程总结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点评分享助手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年卡服务助手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实心为已有，空心为基于积累可扩展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从经营、运营到安全调度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票务、业态、财务、营销、调度的系统都是我们的，扩展有基础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38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hart-li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1892442"/>
            <a:ext cx="230611" cy="2306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55541" y="178600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经营分析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4769" y="178600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经营问数 · 经营洞察 · 日报周报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53493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69534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85575" y="1874702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经营日报周报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73066" y="1874702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报表解读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228270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389144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55541" y="228270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票务运营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4769" y="228270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定价库存 · 分销渠道 · 团队报名 · 检票核销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53493" y="2371404"/>
            <a:ext cx="114615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52871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分销渠道助手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640362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旅行社报团助手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51043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检票异常解释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38534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窗口售票员助手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277941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2885846"/>
            <a:ext cx="230611" cy="23061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55541" y="277941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4769" y="277941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乐园 · 演出 · 游船 · 酒店 · 温泉 · 餐饮 · 停车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53493" y="286810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业态经营助手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276112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ell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382548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455541" y="327611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327611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年卡 · 分时预约 · 候补 · 免证 · 一卡通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53493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40984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3772814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calculato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3879250"/>
            <a:ext cx="230611" cy="230611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455541" y="377281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769" y="3772814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对账 · 发票 · 报表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453493" y="3861511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69534" y="386151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发票助手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426951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megaphon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4375952"/>
            <a:ext cx="230611" cy="23061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455541" y="426951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4769" y="426951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会员 · 人群 · 全民营销 · 活动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453493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会员画像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194604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人群圈选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35715" y="4358213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营销文案生成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23206" y="4358213"/>
            <a:ext cx="81108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推广员助手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787507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活动复盘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4318" y="476621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ire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7363" y="4872654"/>
            <a:ext cx="230611" cy="23061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455541" y="47662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24769" y="476621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客流秩序 · 车船调度 · 防火生态 · 气象设施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453493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194604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935715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676826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17937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159048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0016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64127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4318" y="526292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pu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7363" y="5369356"/>
            <a:ext cx="230611" cy="23061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455541" y="526292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设备终端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24769" y="526292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闸机 · 自助机 · 窗口 · 边云网关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453493" y="535161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设备运维诊断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94318" y="5866058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748240" y="5866058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68254" y="5866058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安全调度即“景区 AI 调度中枢”；实心为已有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建设思路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围绕三个目标，走一条建设流程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先用成熟平台把事做成、把钱赚到，再快速铺开，最后建成自己的平台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39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6983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98878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建设目标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arg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646365"/>
            <a:ext cx="266090" cy="26609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836938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跑通商业模式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36938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能卖、能赚钱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67753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5147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192" y="2646365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10373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快速占领市场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0373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铺得快、交付快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41188" y="2380274"/>
            <a:ext cx="3151692" cy="842619"/>
          </a:xfrm>
          <a:prstGeom prst="roundRect">
            <a:avLst>
              <a:gd name="adj" fmla="val 1263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18581" y="2513319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1626" y="264636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83807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建成自己的平台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83807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更省钱、更可控、有壁垒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515593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6233" y="3444636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建设流程：一条线走下来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选场景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10081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251595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借成熟平台搭建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335808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50887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标杆试点验证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615364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66149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定价与交付定型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587264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23427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按业态标准化复制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712991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80704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沉淀知识、接口、数据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8387196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53798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时机成熟自建平台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9644473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79525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平稳迁移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4642043"/>
            <a:ext cx="4869453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18" y="4713000"/>
            <a:ext cx="486945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为了跑通商业模式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3427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23427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为了快速占领市场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537981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37981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为了建成自己的平台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4318" y="4996830"/>
            <a:ext cx="98985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起步依托 Coze · 火山方舟 · 羚羊小Q；自建时以数字大脑作为智能体管理台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35161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16060" y="5351617"/>
            <a:ext cx="141914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贯穿始终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502164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借平台，不交资产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76502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数据从第一天回流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50840" y="5493532"/>
            <a:ext cx="109688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守住安全底线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54159" y="5493532"/>
            <a:ext cx="146546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培养自己的 AI 团队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26064" y="5493532"/>
            <a:ext cx="177442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用成本数据判断自建时机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先回答“能不能卖、能不能赚钱”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五个问题要用真实的景区、真实的钱来回答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40  ·  AI＋数据平台 · 02  智能体平台</a:t>
            </a:r>
          </a:p>
        </p:txBody>
      </p:sp>
      <p:grpSp>
        <p:nvGrpSpPr>
          <p:cNvPr id="21000" name="素材 31"/>
          <p:cNvGrpSpPr/>
          <p:nvPr/>
        </p:nvGrpSpPr>
        <p:grpSpPr>
          <a:xfrm>
            <a:off x="994318" y="2114184"/>
            <a:ext cx="6474866" cy="2683020"/>
            <a:chOff x="1728589" y="2236993"/>
            <a:chExt cx="7979490" cy="3306499"/>
          </a:xfrm>
        </p:grpSpPr>
        <p:grpSp>
          <p:nvGrpSpPr>
            <p:cNvPr id="210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0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0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0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0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0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0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1021" name="Picture 2102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380" y="2426945"/>
            <a:ext cx="390265" cy="390265"/>
          </a:xfrm>
          <a:prstGeom prst="rect">
            <a:avLst/>
          </a:prstGeom>
        </p:spPr>
      </p:pic>
      <p:sp>
        <p:nvSpPr>
          <p:cNvPr id="21022" name="TextBox 21021"/>
          <p:cNvSpPr txBox="1"/>
          <p:nvPr/>
        </p:nvSpPr>
        <p:spPr>
          <a:xfrm>
            <a:off x="982242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卖给谁</a:t>
            </a:r>
          </a:p>
        </p:txBody>
      </p:sp>
      <p:sp>
        <p:nvSpPr>
          <p:cNvPr id="21023" name="TextBox 21022"/>
          <p:cNvSpPr txBox="1"/>
          <p:nvPr/>
        </p:nvSpPr>
        <p:spPr>
          <a:xfrm>
            <a:off x="804848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哪类景区最需要</a:t>
            </a:r>
          </a:p>
        </p:txBody>
      </p:sp>
      <p:pic>
        <p:nvPicPr>
          <p:cNvPr id="21024" name="Picture 21023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9646" y="3139246"/>
            <a:ext cx="390265" cy="390265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2206508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卖什么</a:t>
            </a:r>
          </a:p>
        </p:txBody>
      </p:sp>
      <p:sp>
        <p:nvSpPr>
          <p:cNvPr id="21026" name="TextBox 21025"/>
          <p:cNvSpPr txBox="1"/>
          <p:nvPr/>
        </p:nvSpPr>
        <p:spPr>
          <a:xfrm>
            <a:off x="2029114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哪些组合景区最认</a:t>
            </a:r>
          </a:p>
        </p:txBody>
      </p:sp>
      <p:pic>
        <p:nvPicPr>
          <p:cNvPr id="21027" name="Picture 21026" descr="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3912" y="2426945"/>
            <a:ext cx="390265" cy="390265"/>
          </a:xfrm>
          <a:prstGeom prst="rect">
            <a:avLst/>
          </a:prstGeom>
        </p:spPr>
      </p:pic>
      <p:sp>
        <p:nvSpPr>
          <p:cNvPr id="21028" name="TextBox 21027"/>
          <p:cNvSpPr txBox="1"/>
          <p:nvPr/>
        </p:nvSpPr>
        <p:spPr>
          <a:xfrm>
            <a:off x="3430774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怎么收钱</a:t>
            </a:r>
          </a:p>
        </p:txBody>
      </p:sp>
      <p:sp>
        <p:nvSpPr>
          <p:cNvPr id="21029" name="TextBox 21028"/>
          <p:cNvSpPr txBox="1"/>
          <p:nvPr/>
        </p:nvSpPr>
        <p:spPr>
          <a:xfrm>
            <a:off x="3253380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四种方式选哪种</a:t>
            </a:r>
          </a:p>
        </p:txBody>
      </p:sp>
      <p:pic>
        <p:nvPicPr>
          <p:cNvPr id="21030" name="Picture 21029" descr="calcula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599" y="3139246"/>
            <a:ext cx="390265" cy="390265"/>
          </a:xfrm>
          <a:prstGeom prst="rect">
            <a:avLst/>
          </a:prstGeom>
        </p:spPr>
      </p:pic>
      <p:sp>
        <p:nvSpPr>
          <p:cNvPr id="21031" name="TextBox 21030"/>
          <p:cNvSpPr txBox="1"/>
          <p:nvPr/>
        </p:nvSpPr>
        <p:spPr>
          <a:xfrm>
            <a:off x="4662460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花多少钱</a:t>
            </a:r>
          </a:p>
        </p:txBody>
      </p:sp>
      <p:sp>
        <p:nvSpPr>
          <p:cNvPr id="21032" name="TextBox 21031"/>
          <p:cNvSpPr txBox="1"/>
          <p:nvPr/>
        </p:nvSpPr>
        <p:spPr>
          <a:xfrm>
            <a:off x="4485067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平台费 + 交付 + 运营</a:t>
            </a:r>
          </a:p>
        </p:txBody>
      </p:sp>
      <p:pic>
        <p:nvPicPr>
          <p:cNvPr id="21033" name="Picture 21032" descr="thumbs-up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6154" y="2426945"/>
            <a:ext cx="390265" cy="390265"/>
          </a:xfrm>
          <a:prstGeom prst="rect">
            <a:avLst/>
          </a:prstGeom>
        </p:spPr>
      </p:pic>
      <p:sp>
        <p:nvSpPr>
          <p:cNvPr id="21034" name="TextBox 21033"/>
          <p:cNvSpPr txBox="1"/>
          <p:nvPr/>
        </p:nvSpPr>
        <p:spPr>
          <a:xfrm>
            <a:off x="5883016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值不值</a:t>
            </a:r>
          </a:p>
        </p:txBody>
      </p:sp>
      <p:sp>
        <p:nvSpPr>
          <p:cNvPr id="21035" name="TextBox 21034"/>
          <p:cNvSpPr txBox="1"/>
          <p:nvPr/>
        </p:nvSpPr>
        <p:spPr>
          <a:xfrm>
            <a:off x="5705623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省人、多卖、更满意</a:t>
            </a:r>
          </a:p>
        </p:txBody>
      </p:sp>
      <p:sp>
        <p:nvSpPr>
          <p:cNvPr id="21036" name="Rounded Rectangle 21035"/>
          <p:cNvSpPr/>
          <p:nvPr/>
        </p:nvSpPr>
        <p:spPr>
          <a:xfrm>
            <a:off x="7983626" y="1998878"/>
            <a:ext cx="2909255" cy="3902659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7" name="Rounded Rectangle 21036"/>
          <p:cNvSpPr/>
          <p:nvPr/>
        </p:nvSpPr>
        <p:spPr>
          <a:xfrm>
            <a:off x="7983626" y="1998878"/>
            <a:ext cx="2909255" cy="549920"/>
          </a:xfrm>
          <a:prstGeom prst="roundRect">
            <a:avLst>
              <a:gd name="adj" fmla="val 2258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Rounded Rectangle 21037"/>
          <p:cNvSpPr/>
          <p:nvPr/>
        </p:nvSpPr>
        <p:spPr>
          <a:xfrm>
            <a:off x="7983626" y="2335926"/>
            <a:ext cx="2909255" cy="21287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39" name="Picture 21038" descr="calcula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019" y="2114184"/>
            <a:ext cx="301569" cy="301569"/>
          </a:xfrm>
          <a:prstGeom prst="rect">
            <a:avLst/>
          </a:prstGeom>
        </p:spPr>
      </p:pic>
      <p:sp>
        <p:nvSpPr>
          <p:cNvPr id="21040" name="TextBox 21039"/>
          <p:cNvSpPr txBox="1"/>
          <p:nvPr/>
        </p:nvSpPr>
        <p:spPr>
          <a:xfrm>
            <a:off x="8560155" y="1998878"/>
            <a:ext cx="228837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单个景区算一笔账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05368" y="2735061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21042" name="TextBox 21041"/>
          <p:cNvSpPr txBox="1"/>
          <p:nvPr/>
        </p:nvSpPr>
        <p:spPr>
          <a:xfrm>
            <a:off x="8604503" y="2735061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一年收入</a:t>
            </a:r>
          </a:p>
        </p:txBody>
      </p:sp>
      <p:cxnSp>
        <p:nvCxnSpPr>
          <p:cNvPr id="21043" name="Connector 21042"/>
          <p:cNvCxnSpPr/>
          <p:nvPr/>
        </p:nvCxnSpPr>
        <p:spPr>
          <a:xfrm>
            <a:off x="8205368" y="3231763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4" name="TextBox 21043"/>
          <p:cNvSpPr txBox="1"/>
          <p:nvPr/>
        </p:nvSpPr>
        <p:spPr>
          <a:xfrm>
            <a:off x="8205368" y="328498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45" name="TextBox 21044"/>
          <p:cNvSpPr txBox="1"/>
          <p:nvPr/>
        </p:nvSpPr>
        <p:spPr>
          <a:xfrm>
            <a:off x="8604503" y="328498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平台调用费</a:t>
            </a:r>
          </a:p>
        </p:txBody>
      </p:sp>
      <p:cxnSp>
        <p:nvCxnSpPr>
          <p:cNvPr id="21046" name="Connector 21045"/>
          <p:cNvCxnSpPr/>
          <p:nvPr/>
        </p:nvCxnSpPr>
        <p:spPr>
          <a:xfrm>
            <a:off x="8205368" y="378168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7" name="TextBox 21046"/>
          <p:cNvSpPr txBox="1"/>
          <p:nvPr/>
        </p:nvSpPr>
        <p:spPr>
          <a:xfrm>
            <a:off x="8205368" y="383490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48" name="TextBox 21047"/>
          <p:cNvSpPr txBox="1"/>
          <p:nvPr/>
        </p:nvSpPr>
        <p:spPr>
          <a:xfrm>
            <a:off x="8604503" y="383490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交付成本（摊销）</a:t>
            </a:r>
          </a:p>
        </p:txBody>
      </p:sp>
      <p:cxnSp>
        <p:nvCxnSpPr>
          <p:cNvPr id="21049" name="Connector 21048"/>
          <p:cNvCxnSpPr/>
          <p:nvPr/>
        </p:nvCxnSpPr>
        <p:spPr>
          <a:xfrm>
            <a:off x="8205368" y="433160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0" name="TextBox 21049"/>
          <p:cNvSpPr txBox="1"/>
          <p:nvPr/>
        </p:nvSpPr>
        <p:spPr>
          <a:xfrm>
            <a:off x="8205368" y="438482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51" name="TextBox 21050"/>
          <p:cNvSpPr txBox="1"/>
          <p:nvPr/>
        </p:nvSpPr>
        <p:spPr>
          <a:xfrm>
            <a:off x="8604503" y="438482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运营支持</a:t>
            </a:r>
          </a:p>
        </p:txBody>
      </p:sp>
      <p:cxnSp>
        <p:nvCxnSpPr>
          <p:cNvPr id="21052" name="Connector 21051"/>
          <p:cNvCxnSpPr/>
          <p:nvPr/>
        </p:nvCxnSpPr>
        <p:spPr>
          <a:xfrm>
            <a:off x="8205368" y="488152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3" name="Rounded Rectangle 21052"/>
          <p:cNvSpPr/>
          <p:nvPr/>
        </p:nvSpPr>
        <p:spPr>
          <a:xfrm>
            <a:off x="8161019" y="4996830"/>
            <a:ext cx="2554467" cy="709574"/>
          </a:xfrm>
          <a:prstGeom prst="roundRect">
            <a:avLst>
              <a:gd name="adj" fmla="val 125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＞ 0</a:t>
            </a:r>
            <a:r>
              <a:rPr sz="1250" b="0">
                <a:solidFill>
                  <a:srgbClr val="FCE6D2"/>
                </a:solidFill>
                <a:latin typeface="微软雅黑"/>
                <a:ea typeface="微软雅黑"/>
              </a:rPr>
              <a:t>　才算能赚钱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93912" y="104775"/>
            <a:ext cx="4003869" cy="562935"/>
            <a:chOff x="1778000" y="2361285"/>
            <a:chExt cx="400386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0386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10685" cy="461665"/>
              <a:chOff x="1249621" y="2030985"/>
              <a:chExt cx="29106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19456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怎么收钱、景区认什么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先试两种收费，用数据证明价值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验证期同时试“随票务打包”和“年费订阅”，看哪种成交快、续费稳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41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04597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7171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微软雅黑"/>
                <a:ea typeface="微软雅黑"/>
              </a:rPr>
              <a:t>随票务打包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171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作为票务增值模块，提高票务年费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171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171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能否提升续约率和客单价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923586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070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微软雅黑"/>
                <a:ea typeface="微软雅黑"/>
              </a:rPr>
              <a:t>年费订阅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9070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按景区规模或智能体数量分档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9070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9070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新客户、单独采购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070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070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景区能接受的价位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09690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按效果分成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09690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 AI 带来的购票、二消收入分成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09690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09690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购票、营销类智能体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09690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09690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增量能否算清楚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51285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28679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按用量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28679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按对话量或调用量计费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28679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28679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大客流景区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28679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28679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能否接受账单波动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406996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6233" y="4336039"/>
            <a:ext cx="532180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景区认的价值，要用数据证明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973" y="4970221"/>
            <a:ext cx="204002" cy="20400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59544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少用人工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397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智能体解决咨询的比例、省下的客服人力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13307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67296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963" y="4970221"/>
            <a:ext cx="204002" cy="20400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78533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多卖票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7296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智能体带来的线上购票、二消订单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32296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9195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thumbs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952" y="4970221"/>
            <a:ext cx="204002" cy="20400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697522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游客更满意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9195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满意度、差评率、排队与等待减少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551285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10940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c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2941" y="4970221"/>
            <a:ext cx="204002" cy="20400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9216511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管理更省心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10940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报表、对账、预警的人工时间减少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怎么验证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挑标杆、快速搭、跑一个旺季、让数据说话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效果好的定型，效果不好的回平台调，没人用的场景及时停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42  ·  AI＋数据平台 · 02  智能体平台</a:t>
            </a:r>
          </a:p>
        </p:txBody>
      </p:sp>
      <p:sp>
        <p:nvSpPr>
          <p:cNvPr id="44" name="Pentagon 43"/>
          <p:cNvSpPr/>
          <p:nvPr/>
        </p:nvSpPr>
        <p:spPr>
          <a:xfrm>
            <a:off x="994318" y="2048256"/>
            <a:ext cx="2674208" cy="549920"/>
          </a:xfrm>
          <a:prstGeom prst="homePlate">
            <a:avLst>
              <a:gd name="adj" fmla="val 35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la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172431"/>
            <a:ext cx="301569" cy="30156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703892" y="2048256"/>
            <a:ext cx="152115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3015" y="2757830"/>
            <a:ext cx="21863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挑标杆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015" y="3130356"/>
            <a:ext cx="214202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从已用我们票务的景区里挑，覆盖主要业态，愿意配合</a:t>
            </a:r>
          </a:p>
        </p:txBody>
      </p:sp>
      <p:sp>
        <p:nvSpPr>
          <p:cNvPr id="49" name="Chevron 48"/>
          <p:cNvSpPr/>
          <p:nvPr/>
        </p:nvSpPr>
        <p:spPr>
          <a:xfrm>
            <a:off x="3402436" y="2048256"/>
            <a:ext cx="2674208" cy="549920"/>
          </a:xfrm>
          <a:prstGeom prst="chevron">
            <a:avLst>
              <a:gd name="adj" fmla="val 35000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69" y="2172431"/>
            <a:ext cx="301569" cy="30156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4289404" y="2048256"/>
            <a:ext cx="152115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57223" y="2757830"/>
            <a:ext cx="21863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快速搭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57223" y="3130356"/>
            <a:ext cx="214202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平台上搭好现有智能体，再加价值最高的新场景</a:t>
            </a:r>
          </a:p>
        </p:txBody>
      </p:sp>
      <p:sp>
        <p:nvSpPr>
          <p:cNvPr id="54" name="Chevron 53"/>
          <p:cNvSpPr/>
          <p:nvPr/>
        </p:nvSpPr>
        <p:spPr>
          <a:xfrm>
            <a:off x="5810554" y="2048256"/>
            <a:ext cx="2674208" cy="549920"/>
          </a:xfrm>
          <a:prstGeom prst="chevron">
            <a:avLst>
              <a:gd name="adj" fmla="val 35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u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8387" y="2172431"/>
            <a:ext cx="301569" cy="30156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697522" y="2048256"/>
            <a:ext cx="152115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65342" y="2757830"/>
            <a:ext cx="21863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跑一个旺季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5342" y="3130356"/>
            <a:ext cx="214202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节假日客流最能检验效果和成本</a:t>
            </a:r>
          </a:p>
        </p:txBody>
      </p:sp>
      <p:sp>
        <p:nvSpPr>
          <p:cNvPr id="59" name="Chevron 58"/>
          <p:cNvSpPr/>
          <p:nvPr/>
        </p:nvSpPr>
        <p:spPr>
          <a:xfrm>
            <a:off x="8218672" y="2048256"/>
            <a:ext cx="2674208" cy="549920"/>
          </a:xfrm>
          <a:prstGeom prst="chevron">
            <a:avLst>
              <a:gd name="adj" fmla="val 35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6505" y="2172431"/>
            <a:ext cx="301569" cy="30156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05640" y="2048256"/>
            <a:ext cx="152115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73460" y="2757830"/>
            <a:ext cx="21863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B26A2C"/>
                </a:solidFill>
                <a:latin typeface="微软雅黑"/>
                <a:ea typeface="微软雅黑"/>
              </a:rPr>
              <a:t>数据回流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73460" y="3130356"/>
            <a:ext cx="2142027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对话、转人工、评价、订单从第一天进数据平台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4159239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36233" y="4088282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看五件事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47376" y="4132630"/>
            <a:ext cx="992172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有没有人用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245985" y="4132630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能不能解决问题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627930" y="4132630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景区愿不愿付费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09876" y="4132630"/>
            <a:ext cx="992172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多久能交付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08484" y="4132630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单景区成本多少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638202"/>
            <a:ext cx="1724265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选场景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2780671" y="4793421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037892" y="4638202"/>
            <a:ext cx="1724265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平台上搭建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4824246" y="4793421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81466" y="4638202"/>
            <a:ext cx="1724265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标杆试点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6867819" y="4793421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125040" y="4638202"/>
            <a:ext cx="1724265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看效果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8911394" y="4793421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168615" y="4638202"/>
            <a:ext cx="1724265" cy="487832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定价与交付定型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312298"/>
            <a:ext cx="9898562" cy="372526"/>
          </a:xfrm>
          <a:prstGeom prst="roundRect">
            <a:avLst>
              <a:gd name="adj" fmla="val 1904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迭代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效果不好的回平台调整；没人用的场景及时停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怎样算跑通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五条判断标准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五条都满足，就转入规模复制；不满足就调整再试，不硬推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43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9922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27363" y="2162967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59544" y="2029922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9557" y="2029922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标杆景区持续在用，问题解决率达标</a:t>
            </a:r>
          </a:p>
        </p:txBody>
      </p:sp>
      <p:pic>
        <p:nvPicPr>
          <p:cNvPr id="48" name="Picture 47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2207315"/>
            <a:ext cx="301569" cy="301569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994318" y="2792714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27363" y="2925759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59544" y="2792714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有价值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79557" y="2792714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景区认可的指标有提升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2970108"/>
            <a:ext cx="301569" cy="30156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994318" y="3555507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27363" y="3688552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59544" y="3555507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愿付费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9557" y="3555507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有景区按拟定价格付费或明确续费</a:t>
            </a:r>
          </a:p>
        </p:txBody>
      </p:sp>
      <p:pic>
        <p:nvPicPr>
          <p:cNvPr id="58" name="Picture 57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3732900"/>
            <a:ext cx="301569" cy="301569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994318" y="4318299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27363" y="4451344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59544" y="4318299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能赚钱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79557" y="4318299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单景区收入覆盖平台费、交付和运营</a:t>
            </a:r>
          </a:p>
        </p:txBody>
      </p:sp>
      <p:pic>
        <p:nvPicPr>
          <p:cNvPr id="63" name="Picture 62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4495693"/>
            <a:ext cx="301569" cy="301569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994318" y="5081092"/>
            <a:ext cx="6120079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27363" y="5214137"/>
            <a:ext cx="390265" cy="39026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59544" y="5081092"/>
            <a:ext cx="1064361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可复制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79557" y="5081092"/>
            <a:ext cx="399135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不靠核心研发，按标准流程就能上线</a:t>
            </a: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653" y="5258485"/>
            <a:ext cx="301569" cy="301569"/>
          </a:xfrm>
          <a:prstGeom prst="rect">
            <a:avLst/>
          </a:prstGeom>
        </p:spPr>
      </p:pic>
      <p:sp>
        <p:nvSpPr>
          <p:cNvPr id="69" name="Right Arrow 68"/>
          <p:cNvSpPr/>
          <p:nvPr/>
        </p:nvSpPr>
        <p:spPr>
          <a:xfrm>
            <a:off x="7203094" y="2721757"/>
            <a:ext cx="266090" cy="266090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557881" y="2029922"/>
            <a:ext cx="3334999" cy="1773936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door-ope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9623" y="2189576"/>
            <a:ext cx="372526" cy="372526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267456" y="2171837"/>
            <a:ext cx="253672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五条都满足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79623" y="2721757"/>
            <a:ext cx="2980212" cy="9756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→ 转入规模复制</a:t>
            </a:r>
          </a:p>
          <a:p>
            <a:pPr algn="l">
              <a:lnSpc>
                <a:spcPct val="115000"/>
              </a:lnSpc>
              <a:spcBef>
                <a:spcPts val="388"/>
              </a:spcBef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模板、定价、交付流程定型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557881" y="4007860"/>
            <a:ext cx="3334999" cy="1862632"/>
          </a:xfrm>
          <a:prstGeom prst="roundRect">
            <a:avLst>
              <a:gd name="adj" fmla="val 666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refresh-cw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9623" y="4167515"/>
            <a:ext cx="354787" cy="35478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267456" y="4140906"/>
            <a:ext cx="253672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B26A2C"/>
                </a:solidFill>
                <a:latin typeface="微软雅黑"/>
                <a:ea typeface="微软雅黑"/>
              </a:rPr>
              <a:t>没过关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79623" y="4673086"/>
            <a:ext cx="2980212" cy="115305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· 调整场景组合或定价，再验一轮</a:t>
            </a:r>
          </a:p>
          <a:p>
            <a:pPr algn="l">
              <a:lnSpc>
                <a:spcPct val="115000"/>
              </a:lnSpc>
              <a:spcBef>
                <a:spcPts val="388"/>
              </a:spcBef>
            </a:pP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· 还不行的场景停掉</a:t>
            </a:r>
          </a:p>
          <a:p>
            <a:pPr algn="l">
              <a:lnSpc>
                <a:spcPct val="115000"/>
              </a:lnSpc>
              <a:spcBef>
                <a:spcPts val="388"/>
              </a:spcBef>
            </a:pP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· 不硬推，不盲目铺开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快速占领市场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先打老客户，再按业态复制，用 AI 撬新客户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从最容易成交的客户开始，用标杆案例带动同类景区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44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81258" cy="2084374"/>
          </a:xfrm>
          <a:prstGeom prst="roundRect">
            <a:avLst>
              <a:gd name="adj" fmla="val 59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67402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ou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282708"/>
            <a:ext cx="257220" cy="2572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3421654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最先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451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随票务续约推，开通即用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9451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9451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系统已对接，基本零开发；信任已有，成交最快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970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48103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061" y="2289360"/>
            <a:ext cx="243916" cy="243916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6780306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其次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48103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同业态景区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8103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48103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用标杆案例按业态复制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48103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48103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场景相同，模板直接复用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11622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06755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ser-plu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713" y="2289360"/>
            <a:ext cx="243916" cy="24391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10138958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同步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6755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新客户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06755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6755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智能体做差异化卖点，带动票务签约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06755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06755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用 AI 撬动新客户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367082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36233" y="4296125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业态先后：客流大、咨询多、线上购票比例高的先做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第一批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881286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mountai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9290" y="4828306"/>
            <a:ext cx="390265" cy="39026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881286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山岳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176259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ferris-whee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4265" y="4828306"/>
            <a:ext cx="390265" cy="39026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176259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主题乐园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471233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andmar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9238" y="4828306"/>
            <a:ext cx="390265" cy="39026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471233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古镇街区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5810554" y="5183093"/>
            <a:ext cx="266090" cy="230611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209690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第二批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096658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book-ope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4662" y="4828306"/>
            <a:ext cx="390265" cy="39026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096658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博物馆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91631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waves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99636" y="4828306"/>
            <a:ext cx="390265" cy="39026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391631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温泉度假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86604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ship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4609" y="4828306"/>
            <a:ext cx="390265" cy="39026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686604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游船演出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六步上线，差异全部做成配置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实施人员和渠道伙伴按手册就能独立交付，不占核心研发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45  ·  AI＋数据平台 · 02  智能体平台</a:t>
            </a: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微软雅黑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微软雅黑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微软雅黑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微软雅黑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微软雅黑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微软雅黑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签约</a:t>
            </a: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随续约或新签</a:t>
            </a: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选模板</a:t>
            </a: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已验证的业态模板</a:t>
            </a: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配知识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统一采集表</a:t>
            </a: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绑入口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测试验收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统一测试清单</a:t>
            </a: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持续出效果报告</a:t>
            </a: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五个环节标准化</a:t>
            </a: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产品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按业态出模板，差异做成配置</a:t>
            </a: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知识采集</a:t>
            </a: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统一采集表，景区填、实施审</a:t>
            </a: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系统接入</a:t>
            </a: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老客户接口现成</a:t>
            </a: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实施</a:t>
            </a: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手册 + 培训，伙伴可独立交付</a:t>
            </a: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验收</a:t>
            </a: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统一测试清单，跑完即上线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销售与续费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票务团队带单，用效果报告促续费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卖出去只是开始，持续让景区看到效果，才能续费、加购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46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20620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iefc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344795"/>
            <a:ext cx="248351" cy="24835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114184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销售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4236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票务销售团队带单，智能体纳入销售考核；区域渠道伙伴代理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301889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1711" y="3196285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887" y="3320460"/>
            <a:ext cx="248351" cy="2483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836938" y="3089849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案例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36938" y="3418027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每类业态的标杆做成案例，用数据讲效果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99455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1711" y="4171950"/>
            <a:ext cx="496702" cy="496702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eads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887" y="4296125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836938" y="406551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客户成功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36938" y="439369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上线后定期出效果报告：解决多少咨询、带来多少订单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497022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5147614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887" y="527179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5041178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5369356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模板统一升级，所有景区同步受益，增加粘性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958" y="2043226"/>
            <a:ext cx="4088922" cy="3813962"/>
          </a:xfrm>
          <a:prstGeom prst="roundRect">
            <a:avLst>
              <a:gd name="adj" fmla="val 279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803958" y="2043226"/>
            <a:ext cx="4088922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37004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14397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91791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57880" y="2043226"/>
            <a:ext cx="32019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景区 AI 效果月报（示意）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25700" y="2468971"/>
            <a:ext cx="373413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××景区 · ××月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81352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14397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解决咨询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14397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37117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0162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带来订单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70162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单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81352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4397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转人工率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397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%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37117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0162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游客满意度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0162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114396" y="5307269"/>
            <a:ext cx="230611" cy="31043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86923" y="5174223"/>
            <a:ext cx="230611" cy="443484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859449" y="5245181"/>
            <a:ext cx="230611" cy="37252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231976" y="5067787"/>
            <a:ext cx="230611" cy="54992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604503" y="5129875"/>
            <a:ext cx="230611" cy="487832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977029" y="4979090"/>
            <a:ext cx="230611" cy="63861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64862" y="4996830"/>
            <a:ext cx="1250624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趋势与建议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由系统自动生成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借平台，不交资产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六样东西必须留在自己手里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这是将来自建平台能低成本切过去的前提，从第一天就要做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47  ·  AI＋数据平台 · 02  智能体平台</a:t>
            </a:r>
          </a:p>
        </p:txBody>
      </p:sp>
      <p:sp>
        <p:nvSpPr>
          <p:cNvPr id="44" name="Oval 43"/>
          <p:cNvSpPr/>
          <p:nvPr/>
        </p:nvSpPr>
        <p:spPr>
          <a:xfrm>
            <a:off x="5012283" y="2859237"/>
            <a:ext cx="1862632" cy="18626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90541" y="2637495"/>
            <a:ext cx="2306116" cy="2306116"/>
          </a:xfrm>
          <a:prstGeom prst="ellipse">
            <a:avLst/>
          </a:prstGeom>
          <a:noFill/>
          <a:ln w="1587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09" y="3125327"/>
            <a:ext cx="532180" cy="5321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6632" y="3701856"/>
            <a:ext cx="1773936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留在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自己手里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3971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ook-ope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842" y="2304882"/>
            <a:ext cx="221742" cy="22174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0389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景区知识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171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按自有结构存一份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171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直接导入自建平台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497842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994318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3971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lug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635334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389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业务接口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171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售票、订单、核销、会员接口自己封装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171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平台直接复用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4497842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94318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53971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ile-tex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4965786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模板设计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7171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流程、提示词、配置写成文档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171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迁入模板库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4497842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389357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49012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ssages-squar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9883" y="230488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9893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交互数据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6675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对话、评价、转人工回流数据平台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6675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做测试题、优化效果</a:t>
            </a:r>
          </a:p>
        </p:txBody>
      </p:sp>
      <p:cxnSp>
        <p:nvCxnSpPr>
          <p:cNvPr id="75" name="Connector 74"/>
          <p:cNvCxnSpPr/>
          <p:nvPr/>
        </p:nvCxnSpPr>
        <p:spPr>
          <a:xfrm flipH="1">
            <a:off x="7096658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389357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549012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oin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59883" y="3635334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09893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成本数据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6675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按景区、按智能体记录每月平台费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6675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判断何时自建</a:t>
            </a: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7096658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389357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49012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st-check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59883" y="4965786"/>
            <a:ext cx="221742" cy="22174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09893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需求清单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6675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记录客户要、平台做不了的功能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6675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自建平台的需求来源</a:t>
            </a:r>
          </a:p>
        </p:txBody>
      </p:sp>
      <p:cxnSp>
        <p:nvCxnSpPr>
          <p:cNvPr id="89" name="Connector 88"/>
          <p:cNvCxnSpPr/>
          <p:nvPr/>
        </p:nvCxnSpPr>
        <p:spPr>
          <a:xfrm flipH="1" flipV="1">
            <a:off x="7096658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借平台的代价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景区越多，问题越明显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规模越大，这些问题越突出 —— 这正是要建自己平台的原因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48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ing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207910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成本越做越高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2740091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按调用、账号、空间收费，景区越多平台费越高，利润被分走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970" y="2048256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12624" y="2207910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wre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2318781"/>
            <a:ext cx="221742" cy="22174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62545" y="2207910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交付受限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8103" y="2740091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功能受平台限制，个性需求做不了；多平台分别配置、分别维护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11622" y="2048256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71276" y="2207910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lou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2318781"/>
            <a:ext cx="221742" cy="22174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421197" y="2207910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资产在外部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06755" y="2740091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工作流、知识库、对话数据在第三方，难沉淀、难迁移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662537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spli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703892" y="3822191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管理分散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9451" y="4354372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多平台多入口，权限、计量、监控各管各的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52970" y="3662537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12624" y="382219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3495" y="3933062"/>
            <a:ext cx="221742" cy="22174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62545" y="3822191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受制于人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48103" y="4354372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平台调价、改规则、下线功能，直接影响交付和报价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711622" y="3662537"/>
            <a:ext cx="3181258" cy="1436888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71276" y="382219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147" y="393306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421197" y="3822191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难形成壁垒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06755" y="4354372"/>
            <a:ext cx="2790992" cy="6563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同样的平台谁都能用；数据出域有合规顾虑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5134904"/>
            <a:ext cx="9898562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267949"/>
            <a:ext cx="266090" cy="26609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0847" y="5134904"/>
            <a:ext cx="9144640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  <a:latin typeface="微软雅黑"/>
                <a:ea typeface="微软雅黑"/>
              </a:rPr>
              <a:t>所以　</a:t>
            </a: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规模起来以后，自己建平台更省钱、更快、更可控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建自己的平台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什么时候启动？看成本交叉点和五个信号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满足任意两条就启动自建；不提前，也不拖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49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789627" cy="3947007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83140"/>
            <a:ext cx="354787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总成本随景区数量变化（示意）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1127363" y="2420188"/>
          <a:ext cx="4523536" cy="30600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260408" y="5524576"/>
            <a:ext cx="42574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景区数量 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926873" y="3262807"/>
            <a:ext cx="1685239" cy="319308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交叉点 = 该自建了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50036" y="1976704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081" y="2065400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082" y="2167402"/>
            <a:ext cx="204002" cy="20400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715262" y="1976704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成本交叉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8759" y="1976704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按记录的成本测算，自建总成本已更低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50036" y="2650799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183081" y="2739496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trending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082" y="2841498"/>
            <a:ext cx="204002" cy="2040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715262" y="2650799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平台费占比上升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8759" y="2650799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平台费占智能体收入的比例持续上升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50036" y="3324895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83081" y="3413592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ircle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082" y="3515593"/>
            <a:ext cx="204002" cy="20400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15262" y="3324895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场景稳定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8759" y="3324895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主力模板已稳定，不再频繁大改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50036" y="3998991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83081" y="4087688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circle-x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082" y="4189689"/>
            <a:ext cx="204002" cy="20400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15262" y="3998991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平台限制丢单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78759" y="3998991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个性需求、大客户项目因平台限制接不了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50036" y="4673086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83081" y="4761783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-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5082" y="4863785"/>
            <a:ext cx="204002" cy="20400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15262" y="4673086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合规要求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78759" y="4673086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景区或管理方要求数据不出域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50036" y="5364921"/>
            <a:ext cx="4842845" cy="549920"/>
          </a:xfrm>
          <a:prstGeom prst="roundRect">
            <a:avLst>
              <a:gd name="adj" fmla="val 16129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满足任意两条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，就启动自建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建什么、不建什么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钱只花在“壁垒”上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能买的买、能借的借，只自建承载我们业务和数据的部分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50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19013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ai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012182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1786006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大模型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63932" y="196339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8732" y="1786006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不自研 · 调用模型服务，多家可替换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2243" y="1786006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投入大，不是我们的优势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2548798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26641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i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2774975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3892" y="2548798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语音 · 图像 · 数字人 · 手语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63932" y="2726192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8732" y="2548798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采购或合作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22243" y="2548798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专业能力，自建不划算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318" y="3311591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342689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workflow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3537767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703892" y="3311591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编排引擎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63932" y="3488984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3E6F96"/>
                </a:solidFill>
                <a:latin typeface="微软雅黑"/>
                <a:ea typeface="微软雅黑"/>
              </a:rPr>
              <a:t>开源改造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8732" y="3311591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开源框架二次开发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22243" y="3311591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不从零写，缩短周期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074383"/>
            <a:ext cx="9898562" cy="674095"/>
          </a:xfrm>
          <a:prstGeom prst="roundRect">
            <a:avLst>
              <a:gd name="adj" fmla="val 131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27363" y="418968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799" y="4296125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03892" y="4074383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管理台 · 能力与知识 · 业务工具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763932" y="4251777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8732" y="4074383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2243" y="4074383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承载我们的业务、数据和交付方式，是壁垒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837175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9524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34" y="5063352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03892" y="4837175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数据服务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63932" y="501456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复用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8732" y="4837175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复用第一部分的数据平台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2243" y="4837175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已经有了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670925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759622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670925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不碰重投入、非优势的部分；把钱和人放在“业务 + 数据 + 交付”上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自建平台长什么样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数字大脑做管理台，底下接数据平台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颜色代表“怎么来”：自建 / 开源改造 / 采购合作 / 复用已有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51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54530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渠道入口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86858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96523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06188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15854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25519" y="1954530"/>
            <a:ext cx="938707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智慧终端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35184" y="1954530"/>
            <a:ext cx="93870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241575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智能体应用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86858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游客服务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98456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景区管理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10054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票务财务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21652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33250" y="2415753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精准营销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4318" y="2876976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管理台 · 搭建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86858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模板库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598456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可视化编排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10054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配置化生成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21652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多智能体协同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33250" y="2876976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测试与发布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33819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管理台 · 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86858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多租户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98456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10054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运行监控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21652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计量到景区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33250" y="3338199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效果评估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379942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能力层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386858" y="3799422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业务工具中心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598456" y="3799422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景区知识库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810054" y="3799422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游客记忆与画像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21652" y="3799422"/>
            <a:ext cx="11406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测试用例库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3250" y="3799422"/>
            <a:ext cx="11406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数据服务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4260645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引擎层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386858" y="4260645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3E6F96"/>
                </a:solidFill>
                <a:latin typeface="微软雅黑"/>
                <a:ea typeface="微软雅黑"/>
              </a:rPr>
              <a:t>编排引擎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901356" y="4260645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3E6F96"/>
                </a:solidFill>
                <a:latin typeface="微软雅黑"/>
                <a:ea typeface="微软雅黑"/>
              </a:rPr>
              <a:t>检索引擎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15854" y="4260645"/>
            <a:ext cx="14435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模型网关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930351" y="4260645"/>
            <a:ext cx="144354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内容安全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72186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外部能力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86858" y="4721869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大模型 · 可替换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901356" y="4721869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语音 · 图像 · 数字人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15854" y="4721869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30351" y="4721869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18309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数据底座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386858" y="5183092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01356" y="5183092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415854" y="5183092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湖仓与实时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930351" y="5183092"/>
            <a:ext cx="1443540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交互数据回流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315900" y="2841498"/>
            <a:ext cx="6128948" cy="922446"/>
          </a:xfrm>
          <a:prstGeom prst="roundRect">
            <a:avLst>
              <a:gd name="adj" fmla="val 9615"/>
            </a:avLst>
          </a:prstGeom>
          <a:noFill/>
          <a:ln w="1905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94318" y="5697533"/>
            <a:ext cx="565688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648703" y="569753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3E6F96"/>
                </a:solidFill>
                <a:latin typeface="微软雅黑"/>
                <a:ea typeface="微软雅黑"/>
              </a:rPr>
              <a:t>开源改造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549469" y="5697533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593134" y="5697533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复用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47520" y="569753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已有入口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36982" y="5697533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橙色虚线框 = 数字大脑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639982" y="1954530"/>
            <a:ext cx="2252898" cy="3991356"/>
          </a:xfrm>
          <a:prstGeom prst="roundRect">
            <a:avLst>
              <a:gd name="adj" fmla="val 55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817376" y="2043226"/>
            <a:ext cx="198680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前期的积累，直接搬进来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746418" y="2468971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景区知识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580168" y="2610886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757562" y="2468971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景区知识库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746418" y="3036630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业务接口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9580168" y="3178545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757562" y="3036630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业务工具中心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46418" y="3604290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模板设计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9580168" y="3746205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757562" y="3604290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模板库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746418" y="4171950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交互数据</a:t>
            </a:r>
          </a:p>
        </p:txBody>
      </p:sp>
      <p:sp>
        <p:nvSpPr>
          <p:cNvPr id="109" name="Right Arrow 108"/>
          <p:cNvSpPr/>
          <p:nvPr/>
        </p:nvSpPr>
        <p:spPr>
          <a:xfrm>
            <a:off x="9580168" y="4313864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9757562" y="4171950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测试用例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746418" y="4739609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成本记录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9580168" y="4881524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9757562" y="4739609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计量与定价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746418" y="5307269"/>
            <a:ext cx="798271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需求清单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9580168" y="544918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757562" y="5307269"/>
            <a:ext cx="102888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首批功能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全景智能体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最终都由自己的平台统一承载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四条产品线的智能体，在一个平台上统一搭建、运营、计量和评估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52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90440"/>
            <a:ext cx="9898562" cy="709574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uilding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1967834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703892" y="1790440"/>
            <a:ext cx="319308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自己的智能体平台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19584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统一搭建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94262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统一运营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68941" y="2003313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统一计量到景区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8627" y="2003313"/>
            <a:ext cx="113384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统一评估效果</a:t>
            </a:r>
          </a:p>
        </p:txBody>
      </p:sp>
      <p:sp>
        <p:nvSpPr>
          <p:cNvPr id="51" name="Up Arrow 50"/>
          <p:cNvSpPr/>
          <p:nvPr/>
        </p:nvSpPr>
        <p:spPr>
          <a:xfrm>
            <a:off x="2058680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4630887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7203094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Up Arrow 53"/>
          <p:cNvSpPr/>
          <p:nvPr/>
        </p:nvSpPr>
        <p:spPr>
          <a:xfrm>
            <a:off x="9775301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2881411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27363" y="2987847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martpho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799" y="3094283"/>
            <a:ext cx="212872" cy="21287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59544" y="2952369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59544" y="3218459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面向游客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55222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7580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239938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32296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49632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66967" y="3058805"/>
            <a:ext cx="471571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00626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76660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608725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3715161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rai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799" y="3821597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59544" y="3679682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59544" y="3945773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面向景区管理者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5222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31256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07291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348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4336039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127363" y="4442475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799" y="4548911"/>
            <a:ext cx="212872" cy="21287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59544" y="4406996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9544" y="4673086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面向票务与财务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5222" y="4513432"/>
            <a:ext cx="121145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28760" y="4513432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063352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5169789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ire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799" y="5276225"/>
            <a:ext cx="212872" cy="21287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659544" y="5134310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景区 AI 调度中枢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59544" y="5400400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面向安全调度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5522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47580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239938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824654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61701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409371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201729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94318" y="5861624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48240" y="5861624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规划中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68254" y="5861624"/>
            <a:ext cx="532180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实心为已有，空心为规划中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自己建能省什么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成本、交付、定制、数据、风险、竞争力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对比借平台和自建平台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53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35209" y="1963399"/>
            <a:ext cx="2572207" cy="425744"/>
          </a:xfrm>
          <a:prstGeom prst="roundRect">
            <a:avLst>
              <a:gd name="adj" fmla="val 16666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借平台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96112" y="1963399"/>
            <a:ext cx="2572207" cy="425744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自建平台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7017" y="1963399"/>
            <a:ext cx="2891515" cy="425744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对公司的影响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2460101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oins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610886"/>
            <a:ext cx="248351" cy="24835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482150" y="2460101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68254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按调用、账号计费，随景区数增长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29158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只付模型调用和自身运维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0061" y="2460101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单景区成本下降，规模越大利润越高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045500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timer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196285"/>
            <a:ext cx="248351" cy="24835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82150" y="30455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交付周期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68254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每个景区在外部平台单独配置、调试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29158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集团建一次，景区开通即用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0061" y="3045500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省交付人天，上线更快，承接更多景区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630899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uzz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781684"/>
            <a:ext cx="248351" cy="24835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482150" y="3630899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定制能力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68254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个性需求受平台限制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29158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按需自主扩展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90061" y="3630899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能接大客户和个性项目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216298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databas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4367082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82150" y="4216298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数据资产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68254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工作流、知识、对话数据在外部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158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全部在自己手里，回流数据平台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0061" y="4216298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越用越准，数据成为资产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801697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4952481"/>
            <a:ext cx="248351" cy="24835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82150" y="4801697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风险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68254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平台调价、改规则直接影响报价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29158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自主可控，模型可替换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0061" y="4801697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经营稳定，报价有底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5387096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rown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5537880"/>
            <a:ext cx="248351" cy="248351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482150" y="5387096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竞争力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68254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同平台谁都能做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29158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业务系统 + 数据 + 平台一体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90061" y="5387096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形成壁垒，提高续约和客单价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怎么切过去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五步走，双轨运行、随时可退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不搞一刀切，用同一套测试题对比，达标才切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54  ·  AI＋数据平台 · 02  智能体平台</a:t>
            </a:r>
          </a:p>
        </p:txBody>
      </p:sp>
      <p:grpSp>
        <p:nvGrpSpPr>
          <p:cNvPr id="21000" name="素材 22"/>
          <p:cNvGrpSpPr/>
          <p:nvPr/>
        </p:nvGrpSpPr>
        <p:grpSpPr>
          <a:xfrm>
            <a:off x="1109624" y="2326969"/>
            <a:ext cx="8248802" cy="2551831"/>
            <a:chOff x="897064" y="2795992"/>
            <a:chExt cx="8850635" cy="2738013"/>
          </a:xfrm>
        </p:grpSpPr>
        <p:sp>
          <p:nvSpPr>
            <p:cNvPr id="210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BBFAE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E39A57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E39A57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0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0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0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0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0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0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sp>
          <p:nvSpPr>
            <p:cNvPr id="210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BBFAE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8FD3C6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25" name="Picture 21024" descr="ro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705" y="3313050"/>
            <a:ext cx="443484" cy="443484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2267758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01  核心先上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2267758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核心模块、主力智能体先上</a:t>
            </a:r>
          </a:p>
        </p:txBody>
      </p:sp>
      <p:pic>
        <p:nvPicPr>
          <p:cNvPr id="21028" name="Picture 21027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837" y="3313050"/>
            <a:ext cx="443484" cy="443484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5289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02  对比验证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5289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同一套测试题，不低于成熟平台才切</a:t>
            </a:r>
          </a:p>
        </p:txBody>
      </p:sp>
      <p:pic>
        <p:nvPicPr>
          <p:cNvPr id="21031" name="Picture 21030" descr="user-plu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1231" y="3313050"/>
            <a:ext cx="443484" cy="443484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5442284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03  新增先上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5442284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新签景区直接上自建平台</a:t>
            </a:r>
          </a:p>
        </p:txBody>
      </p:sp>
      <p:pic>
        <p:nvPicPr>
          <p:cNvPr id="21034" name="Picture 21033" descr="repeat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4887" y="3313050"/>
            <a:ext cx="443484" cy="443484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703594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04  存量随续约迁移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703594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双轨运行、逐个迁移、可回退</a:t>
            </a:r>
          </a:p>
        </p:txBody>
      </p:sp>
      <p:pic>
        <p:nvPicPr>
          <p:cNvPr id="21037" name="Picture 21036" descr="layers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0019" y="3313050"/>
            <a:ext cx="443484" cy="443484"/>
          </a:xfrm>
          <a:prstGeom prst="rect">
            <a:avLst/>
          </a:prstGeom>
        </p:spPr>
      </p:pic>
      <p:sp>
        <p:nvSpPr>
          <p:cNvPr id="21038" name="TextBox 21037"/>
          <p:cNvSpPr txBox="1"/>
          <p:nvPr/>
        </p:nvSpPr>
        <p:spPr>
          <a:xfrm>
            <a:off x="8621072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05  成熟平台转补充</a:t>
            </a:r>
          </a:p>
        </p:txBody>
      </p:sp>
      <p:sp>
        <p:nvSpPr>
          <p:cNvPr id="21039" name="TextBox 21038"/>
          <p:cNvSpPr txBox="1"/>
          <p:nvPr/>
        </p:nvSpPr>
        <p:spPr>
          <a:xfrm>
            <a:off x="8621072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外部平台变成补充能力</a:t>
            </a:r>
          </a:p>
        </p:txBody>
      </p:sp>
      <p:sp>
        <p:nvSpPr>
          <p:cNvPr id="21040" name="Rounded Rectangle 21039"/>
          <p:cNvSpPr/>
          <p:nvPr/>
        </p:nvSpPr>
        <p:spPr>
          <a:xfrm>
            <a:off x="994318" y="5475705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41" name="Picture 21040" descr="shield-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586576"/>
            <a:ext cx="266090" cy="266090"/>
          </a:xfrm>
          <a:prstGeom prst="rect">
            <a:avLst/>
          </a:prstGeom>
        </p:spPr>
      </p:pic>
      <p:sp>
        <p:nvSpPr>
          <p:cNvPr id="21042" name="TextBox 21041"/>
          <p:cNvSpPr txBox="1"/>
          <p:nvPr/>
        </p:nvSpPr>
        <p:spPr>
          <a:xfrm>
            <a:off x="1570847" y="5475705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原则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每一步都可以回退；客户无感知迁移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风险与底线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风险怎么控，底线怎么守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自建有风险，提前想好应对；智能体有底线，从第一天就守住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55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816236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iangle-aler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18619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15196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四个风险，四个应对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71711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9105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投入超预期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49105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小团队先做核心模块，跟着迁移进度分批投入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71711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49105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效果不如成熟平台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49105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迁移前用同一套测试题对比，达标才切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49105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迁移影响客户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49105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双轨运行、逐个迁移、可回退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9105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团队能力不足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49105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前期就培养自己的 AI 应用团队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76644" y="1976704"/>
            <a:ext cx="4816236" cy="3947007"/>
          </a:xfrm>
          <a:prstGeom prst="roundRect">
            <a:avLst>
              <a:gd name="adj" fmla="val 314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8386" y="2118619"/>
            <a:ext cx="319308" cy="319308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97521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四条底线，贯穿始终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54037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1432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只用授权数据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1432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数据按景区隔离，景区只看本景区数据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54037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1432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关键动作人工确认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31432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退款、调度等处置要人点确认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54037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31432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不碰敏感信息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1432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手机号、证件号不进对话和知识库，展示打码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54037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1432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不乱承诺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31432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价格、退改以系统为准，答不了就转人工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数据在公司里转起来，越用越准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AI＋数据平台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数据怎么流转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9847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五个环节的闭环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8248" y="4526280"/>
            <a:ext cx="2438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一张门票的例子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产数 → 治数 → 办事 → 用数，再回流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数据平台让数据可信，智能体让数据办事；两者接上，形成一条完整的数据链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57  ·  AI＋数据平台 · 03  AI＋数据平台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用数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游客 · 景区 · 内部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景数通 · APP · SaaS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管理层 · 业务线 · 小Q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③ 服务：智能体办事，报表和接口直接用数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办事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智能体 · 报表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客服 · 导览 · 伴游 · 旅拍 · 购票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对账 · 预警 · 调度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报表与接口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直接用数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② 供给：认证指标 · 统一标签 · 景区知识 · 数据服务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治数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离线 + 实时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湖仓公共模型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原料 → 成品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指标 · 标签 · 知识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认证口径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开放 API · 小Q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① 生产入湖：交易 · 核销 · 客流 · 设备 · 会员 · 财务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产数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业务系统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终端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问答记录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游客评价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预警与工单结果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使用行为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调定价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做营销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优化调度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底座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DataWorks · 数据地图 · 资产治理，治理贯穿全程；智能体前期借平台，后期自建管理台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五个环节转成一个圈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每转一圈，数据更全、更准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58  ·  AI＋数据平台 · 03  AI＋数据平台</a:t>
            </a:r>
          </a:p>
        </p:txBody>
      </p:sp>
      <p:grpSp>
        <p:nvGrpSpPr>
          <p:cNvPr id="20800" name="素材 30"/>
          <p:cNvGrpSpPr/>
          <p:nvPr/>
        </p:nvGrpSpPr>
        <p:grpSpPr>
          <a:xfrm>
            <a:off x="994318" y="2337681"/>
            <a:ext cx="7627924" cy="2809883"/>
            <a:chOff x="991320" y="2358345"/>
            <a:chExt cx="9455150" cy="3482975"/>
          </a:xfrm>
        </p:grpSpPr>
        <p:sp>
          <p:nvSpPr>
            <p:cNvPr id="20801" name="Freeform 6"/>
            <p:cNvSpPr>
              <a:spLocks noEditPoints="1"/>
            </p:cNvSpPr>
            <p:nvPr/>
          </p:nvSpPr>
          <p:spPr bwMode="auto">
            <a:xfrm>
              <a:off x="139772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0802" name="Freeform 7"/>
            <p:cNvSpPr>
              <a:spLocks noEditPoints="1"/>
            </p:cNvSpPr>
            <p:nvPr/>
          </p:nvSpPr>
          <p:spPr bwMode="auto">
            <a:xfrm>
              <a:off x="316937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5BBFAE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0803" name="Freeform 8"/>
            <p:cNvSpPr>
              <a:spLocks noEditPoints="1"/>
            </p:cNvSpPr>
            <p:nvPr/>
          </p:nvSpPr>
          <p:spPr bwMode="auto">
            <a:xfrm>
              <a:off x="4942607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2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5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1F3A35"/>
                </a:solidFill>
              </a:endParaRPr>
            </a:p>
          </p:txBody>
        </p:sp>
        <p:sp>
          <p:nvSpPr>
            <p:cNvPr id="20804" name="Freeform 9"/>
            <p:cNvSpPr>
              <a:spLocks noEditPoints="1"/>
            </p:cNvSpPr>
            <p:nvPr/>
          </p:nvSpPr>
          <p:spPr bwMode="auto">
            <a:xfrm>
              <a:off x="6714257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7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4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4" y="87"/>
                  </a:cubicBez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0805" name="Freeform 10"/>
            <p:cNvSpPr>
              <a:spLocks noEditPoints="1"/>
            </p:cNvSpPr>
            <p:nvPr/>
          </p:nvSpPr>
          <p:spPr bwMode="auto">
            <a:xfrm>
              <a:off x="8487495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6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6" y="158"/>
                    <a:pt x="86" y="245"/>
                  </a:cubicBezTo>
                  <a:cubicBezTo>
                    <a:pt x="86" y="332"/>
                    <a:pt x="157" y="403"/>
                    <a:pt x="244" y="403"/>
                  </a:cubicBezTo>
                  <a:cubicBezTo>
                    <a:pt x="331" y="403"/>
                    <a:pt x="402" y="332"/>
                    <a:pt x="402" y="245"/>
                  </a:cubicBezTo>
                  <a:cubicBezTo>
                    <a:pt x="402" y="158"/>
                    <a:pt x="331" y="87"/>
                    <a:pt x="244" y="87"/>
                  </a:cubicBezTo>
                  <a:close/>
                </a:path>
              </a:pathLst>
            </a:custGeom>
            <a:solidFill>
              <a:srgbClr val="8FD3C6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1F3A35"/>
                </a:solidFill>
              </a:endParaRPr>
            </a:p>
          </p:txBody>
        </p:sp>
        <p:grpSp>
          <p:nvGrpSpPr>
            <p:cNvPr id="20806" name="Group 3"/>
            <p:cNvGrpSpPr/>
            <p:nvPr/>
          </p:nvGrpSpPr>
          <p:grpSpPr>
            <a:xfrm>
              <a:off x="991320" y="4633233"/>
              <a:ext cx="2355850" cy="1208087"/>
              <a:chOff x="1370013" y="4633233"/>
              <a:chExt cx="2355850" cy="1208087"/>
            </a:xfrm>
          </p:grpSpPr>
          <p:sp>
            <p:nvSpPr>
              <p:cNvPr id="20807" name="Freeform 11"/>
              <p:cNvSpPr/>
              <p:nvPr/>
            </p:nvSpPr>
            <p:spPr bwMode="auto">
              <a:xfrm>
                <a:off x="13700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8" name="Oval 12"/>
              <p:cNvSpPr>
                <a:spLocks noChangeArrowheads="1"/>
              </p:cNvSpPr>
              <p:nvPr/>
            </p:nvSpPr>
            <p:spPr bwMode="auto">
              <a:xfrm>
                <a:off x="2481263" y="5326970"/>
                <a:ext cx="136525" cy="136525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09" name="Freeform 13"/>
              <p:cNvSpPr/>
              <p:nvPr/>
            </p:nvSpPr>
            <p:spPr bwMode="auto">
              <a:xfrm>
                <a:off x="2503488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10" name="Group 26"/>
            <p:cNvGrpSpPr/>
            <p:nvPr/>
          </p:nvGrpSpPr>
          <p:grpSpPr>
            <a:xfrm>
              <a:off x="4539382" y="4633233"/>
              <a:ext cx="2355850" cy="1208087"/>
              <a:chOff x="4918075" y="4633233"/>
              <a:chExt cx="2355850" cy="1208087"/>
            </a:xfrm>
          </p:grpSpPr>
          <p:sp>
            <p:nvSpPr>
              <p:cNvPr id="20811" name="Freeform 14"/>
              <p:cNvSpPr/>
              <p:nvPr/>
            </p:nvSpPr>
            <p:spPr bwMode="auto">
              <a:xfrm>
                <a:off x="4918075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3 w 744"/>
                  <a:gd name="T3" fmla="*/ 27 h 316"/>
                  <a:gd name="T4" fmla="*/ 10 w 744"/>
                  <a:gd name="T5" fmla="*/ 25 h 316"/>
                  <a:gd name="T6" fmla="*/ 0 w 744"/>
                  <a:gd name="T7" fmla="*/ 31 h 316"/>
                  <a:gd name="T8" fmla="*/ 0 w 744"/>
                  <a:gd name="T9" fmla="*/ 0 h 316"/>
                  <a:gd name="T10" fmla="*/ 26 w 744"/>
                  <a:gd name="T11" fmla="*/ 17 h 316"/>
                  <a:gd name="T12" fmla="*/ 15 w 744"/>
                  <a:gd name="T13" fmla="*/ 23 h 316"/>
                  <a:gd name="T14" fmla="*/ 728 w 744"/>
                  <a:gd name="T15" fmla="*/ 24 h 316"/>
                  <a:gd name="T16" fmla="*/ 717 w 744"/>
                  <a:gd name="T17" fmla="*/ 19 h 316"/>
                  <a:gd name="T18" fmla="*/ 743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3" y="27"/>
                      <a:pt x="733" y="27"/>
                      <a:pt x="733" y="27"/>
                    </a:cubicBezTo>
                    <a:cubicBezTo>
                      <a:pt x="579" y="314"/>
                      <a:pt x="164" y="316"/>
                      <a:pt x="10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6" y="308"/>
                      <a:pt x="576" y="308"/>
                      <a:pt x="728" y="24"/>
                    </a:cubicBezTo>
                    <a:cubicBezTo>
                      <a:pt x="717" y="19"/>
                      <a:pt x="717" y="19"/>
                      <a:pt x="717" y="19"/>
                    </a:cubicBezTo>
                    <a:cubicBezTo>
                      <a:pt x="743" y="2"/>
                      <a:pt x="743" y="2"/>
                      <a:pt x="743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0812" name="Oval 15"/>
              <p:cNvSpPr>
                <a:spLocks noChangeArrowheads="1"/>
              </p:cNvSpPr>
              <p:nvPr/>
            </p:nvSpPr>
            <p:spPr bwMode="auto">
              <a:xfrm>
                <a:off x="6026150" y="5326970"/>
                <a:ext cx="136525" cy="136525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0813" name="Freeform 16"/>
              <p:cNvSpPr/>
              <p:nvPr/>
            </p:nvSpPr>
            <p:spPr bwMode="auto">
              <a:xfrm>
                <a:off x="6048375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0814" name="Group 25"/>
            <p:cNvGrpSpPr/>
            <p:nvPr/>
          </p:nvGrpSpPr>
          <p:grpSpPr>
            <a:xfrm>
              <a:off x="2767732" y="2358345"/>
              <a:ext cx="2354263" cy="1204913"/>
              <a:chOff x="3146425" y="2358345"/>
              <a:chExt cx="2354263" cy="1204913"/>
            </a:xfrm>
          </p:grpSpPr>
          <p:sp>
            <p:nvSpPr>
              <p:cNvPr id="20815" name="Freeform 17"/>
              <p:cNvSpPr/>
              <p:nvPr/>
            </p:nvSpPr>
            <p:spPr bwMode="auto">
              <a:xfrm>
                <a:off x="3146425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0 w 744"/>
                  <a:gd name="T5" fmla="*/ 291 h 316"/>
                  <a:gd name="T6" fmla="*/ 0 w 744"/>
                  <a:gd name="T7" fmla="*/ 285 h 316"/>
                  <a:gd name="T8" fmla="*/ 0 w 744"/>
                  <a:gd name="T9" fmla="*/ 316 h 316"/>
                  <a:gd name="T10" fmla="*/ 26 w 744"/>
                  <a:gd name="T11" fmla="*/ 299 h 316"/>
                  <a:gd name="T12" fmla="*/ 15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4" y="0"/>
                      <a:pt x="10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0" y="316"/>
                      <a:pt x="0" y="316"/>
                      <a:pt x="0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5" y="294"/>
                      <a:pt x="15" y="294"/>
                      <a:pt x="15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16" name="Oval 18"/>
              <p:cNvSpPr>
                <a:spLocks noChangeArrowheads="1"/>
              </p:cNvSpPr>
              <p:nvPr/>
            </p:nvSpPr>
            <p:spPr bwMode="auto">
              <a:xfrm>
                <a:off x="4254500" y="2732995"/>
                <a:ext cx="134938" cy="139700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17" name="Freeform 19"/>
              <p:cNvSpPr/>
              <p:nvPr/>
            </p:nvSpPr>
            <p:spPr bwMode="auto">
              <a:xfrm>
                <a:off x="4276725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18" name="Group 27"/>
            <p:cNvGrpSpPr/>
            <p:nvPr/>
          </p:nvGrpSpPr>
          <p:grpSpPr>
            <a:xfrm>
              <a:off x="6303095" y="2358345"/>
              <a:ext cx="2354263" cy="1204913"/>
              <a:chOff x="6681788" y="2358345"/>
              <a:chExt cx="2354263" cy="1204913"/>
            </a:xfrm>
          </p:grpSpPr>
          <p:sp>
            <p:nvSpPr>
              <p:cNvPr id="20819" name="Freeform 20"/>
              <p:cNvSpPr/>
              <p:nvPr/>
            </p:nvSpPr>
            <p:spPr bwMode="auto">
              <a:xfrm>
                <a:off x="6681788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1 w 744"/>
                  <a:gd name="T5" fmla="*/ 291 h 316"/>
                  <a:gd name="T6" fmla="*/ 0 w 744"/>
                  <a:gd name="T7" fmla="*/ 285 h 316"/>
                  <a:gd name="T8" fmla="*/ 1 w 744"/>
                  <a:gd name="T9" fmla="*/ 316 h 316"/>
                  <a:gd name="T10" fmla="*/ 26 w 744"/>
                  <a:gd name="T11" fmla="*/ 299 h 316"/>
                  <a:gd name="T12" fmla="*/ 16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5" y="0"/>
                      <a:pt x="11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1" y="316"/>
                      <a:pt x="1" y="316"/>
                      <a:pt x="1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6" y="294"/>
                      <a:pt x="16" y="294"/>
                      <a:pt x="16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20" name="Oval 21"/>
              <p:cNvSpPr>
                <a:spLocks noChangeArrowheads="1"/>
              </p:cNvSpPr>
              <p:nvPr/>
            </p:nvSpPr>
            <p:spPr bwMode="auto">
              <a:xfrm>
                <a:off x="7789863" y="2732995"/>
                <a:ext cx="138113" cy="139700"/>
              </a:xfrm>
              <a:prstGeom prst="ellipse">
                <a:avLst/>
              </a:pr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0821" name="Freeform 22"/>
              <p:cNvSpPr/>
              <p:nvPr/>
            </p:nvSpPr>
            <p:spPr bwMode="auto">
              <a:xfrm>
                <a:off x="7812088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0822" name="Group 29"/>
            <p:cNvGrpSpPr/>
            <p:nvPr/>
          </p:nvGrpSpPr>
          <p:grpSpPr>
            <a:xfrm>
              <a:off x="8090620" y="4633233"/>
              <a:ext cx="2355850" cy="1208087"/>
              <a:chOff x="8469313" y="4633233"/>
              <a:chExt cx="2355850" cy="1208087"/>
            </a:xfrm>
          </p:grpSpPr>
          <p:sp>
            <p:nvSpPr>
              <p:cNvPr id="20823" name="Freeform 24"/>
              <p:cNvSpPr/>
              <p:nvPr/>
            </p:nvSpPr>
            <p:spPr bwMode="auto">
              <a:xfrm>
                <a:off x="84693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grpSp>
            <p:nvGrpSpPr>
              <p:cNvPr id="20824" name="Group 28"/>
              <p:cNvGrpSpPr/>
              <p:nvPr/>
            </p:nvGrpSpPr>
            <p:grpSpPr>
              <a:xfrm>
                <a:off x="9580563" y="5114245"/>
                <a:ext cx="136525" cy="727075"/>
                <a:chOff x="9580563" y="5114245"/>
                <a:chExt cx="136525" cy="727075"/>
              </a:xfrm>
            </p:grpSpPr>
            <p:sp>
              <p:nvSpPr>
                <p:cNvPr id="20825" name="Freeform 23"/>
                <p:cNvSpPr/>
                <p:nvPr/>
              </p:nvSpPr>
              <p:spPr bwMode="auto">
                <a:xfrm>
                  <a:off x="9602788" y="5114245"/>
                  <a:ext cx="95250" cy="727075"/>
                </a:xfrm>
                <a:custGeom>
                  <a:avLst/>
                  <a:gdLst>
                    <a:gd name="T0" fmla="*/ 60 w 60"/>
                    <a:gd name="T1" fmla="*/ 54 h 458"/>
                    <a:gd name="T2" fmla="*/ 36 w 60"/>
                    <a:gd name="T3" fmla="*/ 54 h 458"/>
                    <a:gd name="T4" fmla="*/ 36 w 60"/>
                    <a:gd name="T5" fmla="*/ 404 h 458"/>
                    <a:gd name="T6" fmla="*/ 60 w 60"/>
                    <a:gd name="T7" fmla="*/ 404 h 458"/>
                    <a:gd name="T8" fmla="*/ 30 w 60"/>
                    <a:gd name="T9" fmla="*/ 458 h 458"/>
                    <a:gd name="T10" fmla="*/ 0 w 60"/>
                    <a:gd name="T11" fmla="*/ 404 h 458"/>
                    <a:gd name="T12" fmla="*/ 24 w 60"/>
                    <a:gd name="T13" fmla="*/ 404 h 458"/>
                    <a:gd name="T14" fmla="*/ 24 w 60"/>
                    <a:gd name="T15" fmla="*/ 54 h 458"/>
                    <a:gd name="T16" fmla="*/ 0 w 60"/>
                    <a:gd name="T17" fmla="*/ 54 h 458"/>
                    <a:gd name="T18" fmla="*/ 30 w 60"/>
                    <a:gd name="T19" fmla="*/ 0 h 458"/>
                    <a:gd name="T20" fmla="*/ 60 w 60"/>
                    <a:gd name="T21" fmla="*/ 54 h 458"/>
                    <a:gd name="T22" fmla="*/ 60 w 60"/>
                    <a:gd name="T23" fmla="*/ 54 h 4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60" h="458">
                      <a:moveTo>
                        <a:pt x="60" y="54"/>
                      </a:moveTo>
                      <a:lnTo>
                        <a:pt x="36" y="54"/>
                      </a:lnTo>
                      <a:lnTo>
                        <a:pt x="36" y="404"/>
                      </a:lnTo>
                      <a:lnTo>
                        <a:pt x="60" y="404"/>
                      </a:lnTo>
                      <a:lnTo>
                        <a:pt x="30" y="458"/>
                      </a:lnTo>
                      <a:lnTo>
                        <a:pt x="0" y="404"/>
                      </a:lnTo>
                      <a:lnTo>
                        <a:pt x="24" y="404"/>
                      </a:lnTo>
                      <a:lnTo>
                        <a:pt x="24" y="54"/>
                      </a:lnTo>
                      <a:lnTo>
                        <a:pt x="0" y="54"/>
                      </a:lnTo>
                      <a:lnTo>
                        <a:pt x="30" y="0"/>
                      </a:lnTo>
                      <a:lnTo>
                        <a:pt x="60" y="54"/>
                      </a:lnTo>
                      <a:lnTo>
                        <a:pt x="60" y="54"/>
                      </a:lnTo>
                      <a:close/>
                    </a:path>
                  </a:pathLst>
                </a:custGeom>
                <a:solidFill>
                  <a:srgbClr val="8FD3C6"/>
                </a:solidFill>
                <a:ln>
                  <a:noFill/>
                </a:ln>
              </p:spPr>
              <p:txBody>
                <a:bodyPr vert="horz" wrap="square" lIns="88696" tIns="44348" rIns="88696" bIns="44348" numCol="1" anchor="t" anchorCtr="0" compatLnSpc="1"/>
                <a:lstStyle/>
                <a:p>
                  <a:endParaRPr lang="en-US">
                    <a:solidFill>
                      <a:srgbClr val="1F3A35"/>
                    </a:solidFill>
                  </a:endParaRPr>
                </a:p>
              </p:txBody>
            </p:sp>
            <p:sp>
              <p:nvSpPr>
                <p:cNvPr id="20826" name="Oval 25"/>
                <p:cNvSpPr>
                  <a:spLocks noChangeArrowheads="1"/>
                </p:cNvSpPr>
                <p:nvPr/>
              </p:nvSpPr>
              <p:spPr bwMode="auto">
                <a:xfrm>
                  <a:off x="9580563" y="5326970"/>
                  <a:ext cx="136525" cy="136525"/>
                </a:xfrm>
                <a:prstGeom prst="ellipse">
                  <a:avLst/>
                </a:prstGeom>
                <a:solidFill>
                  <a:srgbClr val="8FD3C6"/>
                </a:solidFill>
                <a:ln>
                  <a:noFill/>
                </a:ln>
              </p:spPr>
              <p:txBody>
                <a:bodyPr vert="horz" wrap="square" lIns="88696" tIns="44348" rIns="88696" bIns="44348" numCol="1" anchor="t" anchorCtr="0" compatLnSpc="1"/>
                <a:lstStyle/>
                <a:p>
                  <a:endParaRPr lang="en-US">
                    <a:solidFill>
                      <a:srgbClr val="1F3A35"/>
                    </a:solidFill>
                  </a:endParaRPr>
                </a:p>
              </p:txBody>
            </p:sp>
          </p:grpSp>
        </p:grpSp>
      </p:grpSp>
      <p:pic>
        <p:nvPicPr>
          <p:cNvPr id="20827" name="Picture 20826" descr="factory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715" y="3534449"/>
            <a:ext cx="425744" cy="425744"/>
          </a:xfrm>
          <a:prstGeom prst="rect">
            <a:avLst/>
          </a:prstGeom>
        </p:spPr>
      </p:pic>
      <p:sp>
        <p:nvSpPr>
          <p:cNvPr id="20828" name="TextBox 20827"/>
          <p:cNvSpPr txBox="1"/>
          <p:nvPr/>
        </p:nvSpPr>
        <p:spPr>
          <a:xfrm>
            <a:off x="1015271" y="5193195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① 生产</a:t>
            </a:r>
          </a:p>
        </p:txBody>
      </p:sp>
      <p:sp>
        <p:nvSpPr>
          <p:cNvPr id="20829" name="TextBox 20828"/>
          <p:cNvSpPr txBox="1"/>
          <p:nvPr/>
        </p:nvSpPr>
        <p:spPr>
          <a:xfrm>
            <a:off x="1015271" y="5406067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各业务系统</a:t>
            </a:r>
          </a:p>
        </p:txBody>
      </p:sp>
      <p:pic>
        <p:nvPicPr>
          <p:cNvPr id="20830" name="Picture 20829" descr="shield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4835" y="3534449"/>
            <a:ext cx="425744" cy="425744"/>
          </a:xfrm>
          <a:prstGeom prst="rect">
            <a:avLst/>
          </a:prstGeom>
        </p:spPr>
      </p:pic>
      <p:sp>
        <p:nvSpPr>
          <p:cNvPr id="20831" name="TextBox 20830"/>
          <p:cNvSpPr txBox="1"/>
          <p:nvPr/>
        </p:nvSpPr>
        <p:spPr>
          <a:xfrm>
            <a:off x="2446391" y="1767151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② 治理</a:t>
            </a:r>
          </a:p>
        </p:txBody>
      </p:sp>
      <p:sp>
        <p:nvSpPr>
          <p:cNvPr id="20832" name="TextBox 20831"/>
          <p:cNvSpPr txBox="1"/>
          <p:nvPr/>
        </p:nvSpPr>
        <p:spPr>
          <a:xfrm>
            <a:off x="2446391" y="1980023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数据团队 · 数据平台</a:t>
            </a:r>
          </a:p>
        </p:txBody>
      </p:sp>
      <p:pic>
        <p:nvPicPr>
          <p:cNvPr id="20833" name="Picture 20832" descr="bo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5954" y="3534449"/>
            <a:ext cx="425744" cy="425744"/>
          </a:xfrm>
          <a:prstGeom prst="rect">
            <a:avLst/>
          </a:prstGeom>
        </p:spPr>
      </p:pic>
      <p:sp>
        <p:nvSpPr>
          <p:cNvPr id="20834" name="TextBox 20833"/>
          <p:cNvSpPr txBox="1"/>
          <p:nvPr/>
        </p:nvSpPr>
        <p:spPr>
          <a:xfrm>
            <a:off x="3877510" y="5193195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③ 应用</a:t>
            </a:r>
          </a:p>
        </p:txBody>
      </p:sp>
      <p:sp>
        <p:nvSpPr>
          <p:cNvPr id="20835" name="TextBox 20834"/>
          <p:cNvSpPr txBox="1"/>
          <p:nvPr/>
        </p:nvSpPr>
        <p:spPr>
          <a:xfrm>
            <a:off x="3877510" y="5406067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智能体与各应用</a:t>
            </a:r>
          </a:p>
        </p:txBody>
      </p:sp>
      <p:pic>
        <p:nvPicPr>
          <p:cNvPr id="20836" name="Picture 20835" descr="refresh-cw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9697" y="3534449"/>
            <a:ext cx="425744" cy="425744"/>
          </a:xfrm>
          <a:prstGeom prst="rect">
            <a:avLst/>
          </a:prstGeom>
        </p:spPr>
      </p:pic>
      <p:sp>
        <p:nvSpPr>
          <p:cNvPr id="20837" name="TextBox 20836"/>
          <p:cNvSpPr txBox="1"/>
          <p:nvPr/>
        </p:nvSpPr>
        <p:spPr>
          <a:xfrm>
            <a:off x="5301253" y="1767151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20838" name="TextBox 20837"/>
          <p:cNvSpPr txBox="1"/>
          <p:nvPr/>
        </p:nvSpPr>
        <p:spPr>
          <a:xfrm>
            <a:off x="5301253" y="1980023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自动回传，统一入湖</a:t>
            </a:r>
          </a:p>
        </p:txBody>
      </p:sp>
      <p:pic>
        <p:nvPicPr>
          <p:cNvPr id="20839" name="Picture 20838" descr="trending-up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0817" y="3534449"/>
            <a:ext cx="425744" cy="425744"/>
          </a:xfrm>
          <a:prstGeom prst="rect">
            <a:avLst/>
          </a:prstGeom>
        </p:spPr>
      </p:pic>
      <p:sp>
        <p:nvSpPr>
          <p:cNvPr id="20840" name="TextBox 20839"/>
          <p:cNvSpPr txBox="1"/>
          <p:nvPr/>
        </p:nvSpPr>
        <p:spPr>
          <a:xfrm>
            <a:off x="6732372" y="5193195"/>
            <a:ext cx="1862632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20841" name="TextBox 20840"/>
          <p:cNvSpPr txBox="1"/>
          <p:nvPr/>
        </p:nvSpPr>
        <p:spPr>
          <a:xfrm>
            <a:off x="6732372" y="5406067"/>
            <a:ext cx="1862632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20842" name="Rounded Rectangle 20841"/>
          <p:cNvSpPr/>
          <p:nvPr/>
        </p:nvSpPr>
        <p:spPr>
          <a:xfrm>
            <a:off x="8843985" y="1911937"/>
            <a:ext cx="2048896" cy="3947007"/>
          </a:xfrm>
          <a:prstGeom prst="roundRect">
            <a:avLst>
              <a:gd name="adj" fmla="val 606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3" name="TextBox 20842"/>
          <p:cNvSpPr txBox="1"/>
          <p:nvPr/>
        </p:nvSpPr>
        <p:spPr>
          <a:xfrm>
            <a:off x="9021378" y="2000634"/>
            <a:ext cx="17828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CAB93"/>
                </a:solidFill>
                <a:latin typeface="微软雅黑"/>
                <a:ea typeface="微软雅黑"/>
              </a:rPr>
              <a:t>每个环节产出什么</a:t>
            </a:r>
          </a:p>
        </p:txBody>
      </p:sp>
      <p:sp>
        <p:nvSpPr>
          <p:cNvPr id="20844" name="TextBox 20843"/>
          <p:cNvSpPr txBox="1"/>
          <p:nvPr/>
        </p:nvSpPr>
        <p:spPr>
          <a:xfrm>
            <a:off x="9021378" y="2408639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① 生产</a:t>
            </a:r>
          </a:p>
        </p:txBody>
      </p:sp>
      <p:sp>
        <p:nvSpPr>
          <p:cNvPr id="20845" name="TextBox 20844"/>
          <p:cNvSpPr txBox="1"/>
          <p:nvPr/>
        </p:nvSpPr>
        <p:spPr>
          <a:xfrm>
            <a:off x="9021378" y="2656990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交易、核销、客流、设备、会员、财务数据</a:t>
            </a:r>
          </a:p>
        </p:txBody>
      </p:sp>
      <p:sp>
        <p:nvSpPr>
          <p:cNvPr id="20846" name="TextBox 20845"/>
          <p:cNvSpPr txBox="1"/>
          <p:nvPr/>
        </p:nvSpPr>
        <p:spPr>
          <a:xfrm>
            <a:off x="9021378" y="3082735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② 治理</a:t>
            </a:r>
          </a:p>
        </p:txBody>
      </p:sp>
      <p:sp>
        <p:nvSpPr>
          <p:cNvPr id="20847" name="TextBox 20846"/>
          <p:cNvSpPr txBox="1"/>
          <p:nvPr/>
        </p:nvSpPr>
        <p:spPr>
          <a:xfrm>
            <a:off x="9021378" y="3331086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公共模型、认证指标、统一标签、景区知识</a:t>
            </a:r>
          </a:p>
        </p:txBody>
      </p:sp>
      <p:sp>
        <p:nvSpPr>
          <p:cNvPr id="20848" name="TextBox 20847"/>
          <p:cNvSpPr txBox="1"/>
          <p:nvPr/>
        </p:nvSpPr>
        <p:spPr>
          <a:xfrm>
            <a:off x="9021378" y="3756830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③ 应用</a:t>
            </a:r>
          </a:p>
        </p:txBody>
      </p:sp>
      <p:sp>
        <p:nvSpPr>
          <p:cNvPr id="20849" name="TextBox 20848"/>
          <p:cNvSpPr txBox="1"/>
          <p:nvPr/>
        </p:nvSpPr>
        <p:spPr>
          <a:xfrm>
            <a:off x="9021378" y="4005181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游客服务、经营分析、运营提效、预警调度</a:t>
            </a:r>
          </a:p>
        </p:txBody>
      </p:sp>
      <p:sp>
        <p:nvSpPr>
          <p:cNvPr id="20850" name="TextBox 20849"/>
          <p:cNvSpPr txBox="1"/>
          <p:nvPr/>
        </p:nvSpPr>
        <p:spPr>
          <a:xfrm>
            <a:off x="9021378" y="4430926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20851" name="TextBox 20850"/>
          <p:cNvSpPr txBox="1"/>
          <p:nvPr/>
        </p:nvSpPr>
        <p:spPr>
          <a:xfrm>
            <a:off x="9021378" y="4679277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问答、评价、转人工、工单结果、使用行为</a:t>
            </a:r>
          </a:p>
        </p:txBody>
      </p:sp>
      <p:sp>
        <p:nvSpPr>
          <p:cNvPr id="20852" name="TextBox 20851"/>
          <p:cNvSpPr txBox="1"/>
          <p:nvPr/>
        </p:nvSpPr>
        <p:spPr>
          <a:xfrm>
            <a:off x="9021378" y="5105022"/>
            <a:ext cx="17828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20853" name="TextBox 20852"/>
          <p:cNvSpPr txBox="1"/>
          <p:nvPr/>
        </p:nvSpPr>
        <p:spPr>
          <a:xfrm>
            <a:off x="9021378" y="5353373"/>
            <a:ext cx="1782805" cy="3725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调定价、圈人营销、优化预约与调度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一张门票的数据旅程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游客买一张票，数据在公司里转一圈，景区和游客都受益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59  ·  AI＋数据平台 · 03  AI＋数据平台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pic>
        <p:nvPicPr>
          <p:cNvPr id="47" name="Picture 46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729" y="2171837"/>
            <a:ext cx="337047" cy="33704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71711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买票入园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售票 · 闸机核销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85652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pic>
        <p:nvPicPr>
          <p:cNvPr id="53" name="Picture 52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063" y="2171837"/>
            <a:ext cx="337047" cy="33704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463046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数据进平台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63046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 · 核销 · 客流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76986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pic>
        <p:nvPicPr>
          <p:cNvPr id="59" name="Picture 58" descr="chart-lin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7" y="2171837"/>
            <a:ext cx="337047" cy="33704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54380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算出指标和标签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54380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实时客流 · 游客偏好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76986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pic>
        <p:nvPicPr>
          <p:cNvPr id="65" name="Picture 64" descr="bo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7" y="3901424"/>
            <a:ext cx="337047" cy="33704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754380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智能体办事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54380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客流预警 · 二消推荐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85652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pic>
        <p:nvPicPr>
          <p:cNvPr id="71" name="Picture 70" descr="refresh-cw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3063" y="3901424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463046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结果回流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63046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处置结果 · 推荐转化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3724031"/>
            <a:ext cx="2069591" cy="1419148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pic>
        <p:nvPicPr>
          <p:cNvPr id="77" name="Picture 76" descr="trending-u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1729" y="3901424"/>
            <a:ext cx="337047" cy="33704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71711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反哺业务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71711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调预约 · 调营销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3081649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ft Arrow 80"/>
          <p:cNvSpPr/>
          <p:nvPr/>
        </p:nvSpPr>
        <p:spPr>
          <a:xfrm>
            <a:off x="3081649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372983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eft Arrow 82"/>
          <p:cNvSpPr/>
          <p:nvPr/>
        </p:nvSpPr>
        <p:spPr>
          <a:xfrm>
            <a:off x="5372983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6523085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94318" y="5391531"/>
            <a:ext cx="6652259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结果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游客体验更好 · 景区多卖钱、少出事 · 数据和智能体更准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045714" y="1932355"/>
            <a:ext cx="2847167" cy="4035704"/>
          </a:xfrm>
          <a:prstGeom prst="roundRect">
            <a:avLst>
              <a:gd name="adj" fmla="val 9968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4410" y="2021052"/>
            <a:ext cx="2669773" cy="3858309"/>
          </a:xfrm>
          <a:prstGeom prst="roundRect">
            <a:avLst>
              <a:gd name="adj" fmla="val 8305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070162" y="2047660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134410" y="2242794"/>
            <a:ext cx="2669773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67456" y="231375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5021" y="2411318"/>
            <a:ext cx="195132" cy="19513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755287" y="2287142"/>
            <a:ext cx="196019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票付通 APP · 示意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755287" y="2535494"/>
            <a:ext cx="196019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消息通知预警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267456" y="2952369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【客流预警】东门入园排队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变长，预计 20 分钟后接近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预约上限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67456" y="3750640"/>
            <a:ext cx="1693554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建议：增开闸机，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引导游客从西门入园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126336" y="437151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收到，已派人处理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67456" y="4815001"/>
            <a:ext cx="1842305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已记录处置结果，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明天的预约名额会参考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267456" y="5391531"/>
            <a:ext cx="240368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44848" y="5391531"/>
            <a:ext cx="1782805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100" name="Oval 99"/>
          <p:cNvSpPr/>
          <p:nvPr/>
        </p:nvSpPr>
        <p:spPr>
          <a:xfrm>
            <a:off x="10360700" y="5418140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13918" y="5471358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先做三件事，需要您支持四件事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先在一条主线、几家标杆景区上做出结果，再铺开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60  ·  AI＋数据平台 · 接下来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767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接下来先做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02448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79842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017" y="2695148"/>
            <a:ext cx="230611" cy="2306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92589" y="2526624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数据：主线试点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92589" y="2863672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“订单 → 核销 → 结算”定口径、上卡点、逐层核对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订单、核销实时链路建起来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582115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1711" y="3759509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017" y="3874815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92589" y="3706290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智能体：标杆验证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92589" y="4043338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挑老客户做标杆，跑一个完整旺季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同时试“随票务打包”和“年费订阅”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761783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1711" y="4939177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7017" y="5054483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92589" y="4885958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打通：统一取数、数据回流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92589" y="5223006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智能体统一从数据平台取数，交互数据回流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知识、接口、模板、成本数据留在手里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2216" y="1976704"/>
            <a:ext cx="4310664" cy="3947007"/>
          </a:xfrm>
          <a:prstGeom prst="roundRect">
            <a:avLst>
              <a:gd name="adj" fmla="val 314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lag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958" y="2118619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03094" y="2083140"/>
            <a:ext cx="360109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B26A2C"/>
                </a:solidFill>
                <a:latin typeface="微软雅黑"/>
                <a:ea typeface="微软雅黑"/>
              </a:rPr>
              <a:t>需要您支持</a:t>
            </a:r>
          </a:p>
        </p:txBody>
      </p:sp>
      <p:sp>
        <p:nvSpPr>
          <p:cNvPr id="64" name="Oval 63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24836" y="262419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口径谁拍板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836" y="294349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成立数据治理小组，口径争议有人定</a:t>
            </a:r>
          </a:p>
        </p:txBody>
      </p:sp>
      <p:sp>
        <p:nvSpPr>
          <p:cNvPr id="68" name="Oval 67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836" y="344020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规范强制执行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4836" y="375950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不合规的数据不上线，需公司层面授权</a:t>
            </a:r>
          </a:p>
        </p:txBody>
      </p:sp>
      <p:sp>
        <p:nvSpPr>
          <p:cNvPr id="72" name="Oval 71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24836" y="425621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标杆与销售配合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4836" y="457552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标杆景区配合试点；智能体纳入销售考核</a:t>
            </a:r>
          </a:p>
        </p:txBody>
      </p:sp>
      <p:sp>
        <p:nvSpPr>
          <p:cNvPr id="76" name="Oval 75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24836" y="5072222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自建时点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836" y="539153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定期用成本数据评估，由您决策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智能体快速落地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