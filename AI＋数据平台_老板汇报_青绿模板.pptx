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>
              <a:solidFill>
                <a:srgbClr val="E39A57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>
              <a:solidFill>
                <a:srgbClr val="21816F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>
            <a:solidFill>
              <a:srgbClr val="CDE9E3"/>
            </a:solidFill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>
              <a:solidFill>
                <a:srgbClr val="E7F2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E7772"/>
          </a:solidFill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第一部分：数据平台，把数据理清、算准、管住。主要讲：现状与问题、手里的数据、怎么建、数据治理八步、治理保障、六个统一、建成后的变化。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这八步都不是单独搞运动，而是写进日常开发流程，有专人负责、有考核。后面几页按顺序挑重点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治理第一步，数据标准，就是定规矩。最直观的是表名：以前表名随便起，现在每张表都有像身份证号一样的名字。比如 dwd_ord_order_item_di，拆开看：dwd 说明加工到了“洗干净”这一层，ord 说明是订单这块业务，order_item 说明是订单明细，di 说明每天增量更新。字段也统一叫法，比如景区全公司都叫 scenic_id，金额都以 amt 结尾。码值也统一，比如票种、渠道类型、订单状态，建一张公共码表，各系统的码值映射过来，不在代码里写死。建表时有 8 项必填，比如负责人、安全等级。这些规矩怎么保证执行，后面“统一规范”那页讲。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第五步，统一标签，这里的标签也包括指标。先说清两个词：指标就是数一数，比如卖了多少、核销多少、来了多少人；标签就是贴个签，比如这个游客是年卡用户、喜欢夜游。治理要做三件事。一是分类分级：指标按交易、核销入园、渠道、结算、会员、业态分类；按开放范围分成集团内部、景区可用、供应商可用、可对外四级。二是把口径说清楚：每个指标拆成算什么、加什么条件、什么时间、按什么看四件事，比如“近七天线上渠道成人票支付金额，按景区”，这样就不会有两种算法。三是认证：数据团队起草、业务负责人确认、治理小组拍板、发布并记录版本。只有认证过的指标和标签，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件事，管好权限，分两页讲。先讲分级和权属，谁能看什么在后面“统一权限”里讲。数据分四级：最高的是高敏，手机号、证件号、人脸、政务核验结果，加密存储、展示打码、最小授权、全程审计，明文不进大模型。第二级敏感，单景区的经营数据、价格、结算、供应商合作数据，按景区和供应商隔离，跨主体只能看汇总。第三级内部，日志、设备状态、运营数据，内部按角色授权。最低一级公开，已发布的报告和规范。再说权属，也就是数据的主人：景区数据只服务这个景区，供应商数据只服务这个供应商，渠道数据不给其他渠道看，游客信息只在授权范围内用，政务数据只用核验结果不留原始数据，外部买的数据按合同用，对外只给匿名汇总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动态数据开放 API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面讲的是怎么治，治理的结果最终落在六个统一上。统一规范：以前规范只写在文档里，以后不合规的表发不出去。统一底座：以前订单核销第二天才能看到，以后分钟级看到。统一标签，也就是统一指标：以前报表、接口、AI 各说各的，以后三处数字一致。统一权限：以前权限各管各的，以后一套规则管住所有出口。标签复用：以前各部门各做一套，以后一个游客一个身份，一处加工到处用。自助分析：以前要找数据团队要数，以后业务自己查、自己看。推进方式是：先在订单、核销、结算主线试点，按统接入、统建模、统开发、统服务的顺序推；老模型先双跑对比再切换，可以回退。后面每个统一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统一，统一规范。前面数据标准讲了规矩是什么，这里讲怎么让规矩真正执行。三招：第一，新建的卡住：开发提交后，发布前脚本自动检查命名、分层、注释、负责人、安全等级，不合规直接打回，列出哪里不对。第二，老的分批改：不一次性改名，核心表优先，按健康分排名分批整改；改名时保留兼容视图，下游报表不受影响；表和字段缺描述的，用 AI 先补一版再人工确认。第三，持续有人管：资产健康分每月公示，按负责人排名，低分的限期整改。衡量标准是新表规范符合率百分之百，核心表注释和负责人百分之百覆盖。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第二个统一，统一底座。数据从业务库、渠道接口、设备事件、行为日志、外部数据进来，先经过统一接入，定好接入规范、对象编号和负责人。然后进入湖仓一体的底座：每天算的离线计算用 DataWorks，实时计算订单和核销先做；从原料到成品分层加工，共用同一套业务定义和质量规则。最后通过分析查询，提供给小Q、开放接口和 AI。另外把离线和湖仓合一：以前同一个指标离线做一份、湖仓做一份，结果不一样；以后公共层只建一次，改口径只改一处。合并的做法是：盘点重叠的模型、确定保留哪一版、下游改成引用它、双跑对比没问题再下线重复的。最终效果是订单核销从第二天才能看到变成分钟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统一，统一标签，也就是统一指标。从公共模型出发，算出两类指标：一类是企业标准指标，统一定义、版本管理、业务认证，全公司一个口径；另一类是景区自定义指标，每个景区有自己的空间，相互隔离，不能和企业标准同名、不能覆盖标准。景区用得好的指标，评审后沉淀为企业标准。所有指标从同一个出口提供给小Q、动态数据开放 API 和 AI 问数，所以这三个地方看到的数字是一致的，开会不用再先对数。衡量看认证指标覆盖率，老板看板里要百分之百用认证指标。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统一，统一权限。每个人能看到什么数据，由三把锁决定：角色、数据范围、字段敏感程度。左边这张表就是规则：集团管理层看汇总，看不到个人明细；数据团队敏感数据按项目授权，高敏数据审批后打码使用；业务线只看本业务线；景区只看本景区，游客信息授权后打码；供应商只看本供应商；外部伙伴只拿匿名汇总；AI 智能体不单独开权限，继承提问人的权限。权限的申请、审批、授权、使用、回收是一个闭环，到期自动收回，每季度复核。而且不管是数据仓库、数据地图、开放接口、小Q、标签平台还是 AI，都用这同一套规则。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第六个，自助分析。以前业务要看数据，要找数据团队提需求、等取数。以后从统一的模型、指标、标签出发，业务在小Q 上自己分析：搜指标、看明细、做计算、搭自己的看板、订阅报表，总部经营、各业务线、景区都能用。AI 问数和报表用的是同一套指标定义和权限，所以问出来的数和报表一致。数据团队从天天帮人取数、对数，转向建模型、做分析。最终的产出是：企业指标中心、景区专属指标空间、统一标签服务、统一语义服务和自助分析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第二部分：智能体平台，围绕三个目标，一条线建下去。主要讲：现状与底气、能做哪些、建设思路、跑通商业模式、快速占领市场、建自己的平台、风险与底线。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多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再看景区这一端，按景区的业务来看。经营分析：已有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跑通商业模式，先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验证？四件事。挑标杆：从已经用我们票务的景区里挑，覆盖主要业态，有配合意愿、客流有代表性。快速搭：在成熟平台上把现有智能体搭起来，再加价值最高的新场景，比如智能购票。跑一个旺季：节假日客流最能检验效果和成本。数据回流：对话、转人工、评价、订单从第一天进数据平台，结论靠数据说话。怎样算跑通？五条：用起来，标杆景区持续在用、问题解决率达标；有价值，景区认可的指标有提升；愿付费，有景区按拟定价格付费或明确续费；能赚钱，单景区收入覆盖平台费、交付和运营；可复制，不靠核心研发、按标准流程就能上线。五条都满足，就把模板、定价、交付流程定型，转入规模复制；没过关就调整场景组合或定价再验一轮，还不行的场景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跑通以后，要快速占领市场。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托外部平台的同时，有六样东西必须留在自己手里，这是将来自建平台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最终要自建？借平台在起步时最划算，但景区越多，平台费越高、交付受平台限制、数据和知识留在别人那里、平台调价改规则直接影响我们。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采购或合作。最底下数据底座复用第一部分。前期留在手里的知识、接口、模板、交互数据，直接搬进能力层和管理台。四条产品线的智能体，最后都在这个平台上统一搭建、运营、计量和评估。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风险方面主要有四个，都有应对。投入超预期：小团队先做核心模块，跟着迁移进度分批投入。外部平台调价或停服：资产在自己手里，模型多家可替换，随时能切。团队能力不足：前期就开始培养自己的 AI 应用团队，自建时延续。需求变化快：模板化、配置化，景区差异放在配置里，不改代码。另外，智能体从第一天起就要守住四条底线：只用授权数据，数据按景区隔离；退款、调度这些关键动作要人工确认；手机号、证件号不进对话和知识库，展示时打码；价格和退改规则以系统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21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4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6.png"/><Relationship Id="rId4" Type="http://schemas.openxmlformats.org/officeDocument/2006/relationships/image" Target="../media/image20.png"/><Relationship Id="rId5" Type="http://schemas.openxmlformats.org/officeDocument/2006/relationships/image" Target="../media/image57.png"/><Relationship Id="rId6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3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41.png"/><Relationship Id="rId8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.png"/><Relationship Id="rId12" Type="http://schemas.openxmlformats.org/officeDocument/2006/relationships/image" Target="../media/image8.png"/><Relationship Id="rId13" Type="http://schemas.openxmlformats.org/officeDocument/2006/relationships/image" Target="../media/image20.png"/><Relationship Id="rId14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3.png"/><Relationship Id="rId6" Type="http://schemas.openxmlformats.org/officeDocument/2006/relationships/image" Target="../media/image43.png"/><Relationship Id="rId7" Type="http://schemas.openxmlformats.org/officeDocument/2006/relationships/image" Target="../media/image36.png"/><Relationship Id="rId8" Type="http://schemas.openxmlformats.org/officeDocument/2006/relationships/image" Target="../media/image7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1.png"/><Relationship Id="rId4" Type="http://schemas.openxmlformats.org/officeDocument/2006/relationships/image" Target="../media/image68.png"/><Relationship Id="rId5" Type="http://schemas.openxmlformats.org/officeDocument/2006/relationships/image" Target="../media/image72.png"/><Relationship Id="rId6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1.png"/><Relationship Id="rId4" Type="http://schemas.openxmlformats.org/officeDocument/2006/relationships/image" Target="../media/image73.png"/><Relationship Id="rId5" Type="http://schemas.openxmlformats.org/officeDocument/2006/relationships/image" Target="../media/image55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3.png"/><Relationship Id="rId4" Type="http://schemas.openxmlformats.org/officeDocument/2006/relationships/image" Target="../media/image39.png"/><Relationship Id="rId5" Type="http://schemas.openxmlformats.org/officeDocument/2006/relationships/image" Target="../media/image84.png"/><Relationship Id="rId6" Type="http://schemas.openxmlformats.org/officeDocument/2006/relationships/image" Target="../media/image40.png"/><Relationship Id="rId7" Type="http://schemas.openxmlformats.org/officeDocument/2006/relationships/image" Target="../media/image22.png"/><Relationship Id="rId8" Type="http://schemas.openxmlformats.org/officeDocument/2006/relationships/image" Target="../media/image85.png"/><Relationship Id="rId9" Type="http://schemas.openxmlformats.org/officeDocument/2006/relationships/image" Target="../media/image86.png"/><Relationship Id="rId10" Type="http://schemas.openxmlformats.org/officeDocument/2006/relationships/image" Target="../media/image3.png"/><Relationship Id="rId11" Type="http://schemas.openxmlformats.org/officeDocument/2006/relationships/image" Target="../media/image38.png"/><Relationship Id="rId12" Type="http://schemas.openxmlformats.org/officeDocument/2006/relationships/image" Target="../media/image7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0.png"/><Relationship Id="rId4" Type="http://schemas.openxmlformats.org/officeDocument/2006/relationships/image" Target="../media/image87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8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9.png"/><Relationship Id="rId4" Type="http://schemas.openxmlformats.org/officeDocument/2006/relationships/image" Target="../media/image78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3.png"/><Relationship Id="rId13" Type="http://schemas.openxmlformats.org/officeDocument/2006/relationships/image" Target="../media/image76.png"/><Relationship Id="rId14" Type="http://schemas.openxmlformats.org/officeDocument/2006/relationships/image" Target="../media/image97.png"/><Relationship Id="rId15" Type="http://schemas.openxmlformats.org/officeDocument/2006/relationships/image" Target="../media/image98.png"/><Relationship Id="rId16" Type="http://schemas.openxmlformats.org/officeDocument/2006/relationships/image" Target="../media/image99.png"/><Relationship Id="rId17" Type="http://schemas.openxmlformats.org/officeDocument/2006/relationships/image" Target="../media/image77.png"/><Relationship Id="rId18" Type="http://schemas.openxmlformats.org/officeDocument/2006/relationships/image" Target="../media/image79.png"/><Relationship Id="rId19" Type="http://schemas.openxmlformats.org/officeDocument/2006/relationships/image" Target="../media/image100.png"/><Relationship Id="rId20" Type="http://schemas.openxmlformats.org/officeDocument/2006/relationships/image" Target="../media/image21.png"/><Relationship Id="rId21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04.png"/><Relationship Id="rId4" Type="http://schemas.openxmlformats.org/officeDocument/2006/relationships/image" Target="../media/image78.png"/><Relationship Id="rId5" Type="http://schemas.openxmlformats.org/officeDocument/2006/relationships/image" Target="../media/image90.png"/><Relationship Id="rId6" Type="http://schemas.openxmlformats.org/officeDocument/2006/relationships/image" Target="../media/image53.png"/><Relationship Id="rId7" Type="http://schemas.openxmlformats.org/officeDocument/2006/relationships/image" Target="../media/image105.png"/><Relationship Id="rId8" Type="http://schemas.openxmlformats.org/officeDocument/2006/relationships/image" Target="../media/image96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0.png"/><Relationship Id="rId4" Type="http://schemas.openxmlformats.org/officeDocument/2006/relationships/image" Target="../media/image89.png"/><Relationship Id="rId5" Type="http://schemas.openxmlformats.org/officeDocument/2006/relationships/image" Target="../media/image111.png"/><Relationship Id="rId6" Type="http://schemas.openxmlformats.org/officeDocument/2006/relationships/image" Target="../media/image84.png"/><Relationship Id="rId7" Type="http://schemas.openxmlformats.org/officeDocument/2006/relationships/image" Target="../media/image1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1.png"/><Relationship Id="rId4" Type="http://schemas.openxmlformats.org/officeDocument/2006/relationships/image" Target="../media/image39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4.png"/><Relationship Id="rId4" Type="http://schemas.openxmlformats.org/officeDocument/2006/relationships/image" Target="../media/image109.png"/><Relationship Id="rId5" Type="http://schemas.openxmlformats.org/officeDocument/2006/relationships/image" Target="../media/image115.png"/><Relationship Id="rId6" Type="http://schemas.openxmlformats.org/officeDocument/2006/relationships/image" Target="../media/image6.png"/><Relationship Id="rId7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6.png"/><Relationship Id="rId4" Type="http://schemas.openxmlformats.org/officeDocument/2006/relationships/image" Target="../media/image12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Relationship Id="rId7" Type="http://schemas.openxmlformats.org/officeDocument/2006/relationships/image" Target="../media/image90.png"/><Relationship Id="rId8" Type="http://schemas.openxmlformats.org/officeDocument/2006/relationships/image" Target="../media/image82.png"/><Relationship Id="rId9" Type="http://schemas.openxmlformats.org/officeDocument/2006/relationships/image" Target="../media/image29.png"/><Relationship Id="rId10" Type="http://schemas.openxmlformats.org/officeDocument/2006/relationships/image" Target="../media/image119.png"/><Relationship Id="rId11" Type="http://schemas.openxmlformats.org/officeDocument/2006/relationships/image" Target="../media/image1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1.png"/><Relationship Id="rId4" Type="http://schemas.openxmlformats.org/officeDocument/2006/relationships/image" Target="../media/image89.png"/><Relationship Id="rId5" Type="http://schemas.openxmlformats.org/officeDocument/2006/relationships/image" Target="../media/image58.png"/><Relationship Id="rId6" Type="http://schemas.openxmlformats.org/officeDocument/2006/relationships/image" Target="../media/image121.png"/><Relationship Id="rId7" Type="http://schemas.openxmlformats.org/officeDocument/2006/relationships/image" Target="../media/image47.png"/><Relationship Id="rId8" Type="http://schemas.openxmlformats.org/officeDocument/2006/relationships/image" Target="../media/image10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85.png"/><Relationship Id="rId6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0.png"/><Relationship Id="rId4" Type="http://schemas.openxmlformats.org/officeDocument/2006/relationships/image" Target="../media/image58.png"/><Relationship Id="rId5" Type="http://schemas.openxmlformats.org/officeDocument/2006/relationships/image" Target="../media/image7.png"/><Relationship Id="rId6" Type="http://schemas.openxmlformats.org/officeDocument/2006/relationships/image" Target="../media/image13.png"/><Relationship Id="rId7" Type="http://schemas.openxmlformats.org/officeDocument/2006/relationships/image" Target="../media/image124.png"/><Relationship Id="rId8" Type="http://schemas.openxmlformats.org/officeDocument/2006/relationships/image" Target="../media/image111.png"/><Relationship Id="rId9" Type="http://schemas.openxmlformats.org/officeDocument/2006/relationships/image" Target="../media/image6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128.png"/><Relationship Id="rId7" Type="http://schemas.openxmlformats.org/officeDocument/2006/relationships/image" Target="../media/image129.png"/><Relationship Id="rId8" Type="http://schemas.openxmlformats.org/officeDocument/2006/relationships/image" Target="../media/image8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chart" Target="../charts/chart1.xml"/><Relationship Id="rId4" Type="http://schemas.openxmlformats.org/officeDocument/2006/relationships/image" Target="../media/image111.png"/><Relationship Id="rId5" Type="http://schemas.openxmlformats.org/officeDocument/2006/relationships/image" Target="../media/image130.png"/><Relationship Id="rId6" Type="http://schemas.openxmlformats.org/officeDocument/2006/relationships/image" Target="../media/image28.png"/><Relationship Id="rId7" Type="http://schemas.openxmlformats.org/officeDocument/2006/relationships/image" Target="../media/image63.png"/><Relationship Id="rId8" Type="http://schemas.openxmlformats.org/officeDocument/2006/relationships/image" Target="../media/image2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31.png"/><Relationship Id="rId4" Type="http://schemas.openxmlformats.org/officeDocument/2006/relationships/image" Target="../media/image132.png"/><Relationship Id="rId5" Type="http://schemas.openxmlformats.org/officeDocument/2006/relationships/image" Target="../media/image56.png"/><Relationship Id="rId6" Type="http://schemas.openxmlformats.org/officeDocument/2006/relationships/image" Target="../media/image110.png"/><Relationship Id="rId7" Type="http://schemas.openxmlformats.org/officeDocument/2006/relationships/image" Target="../media/image3.png"/><Relationship Id="rId8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33.png"/><Relationship Id="rId4" Type="http://schemas.openxmlformats.org/officeDocument/2006/relationships/image" Target="../media/image33.png"/><Relationship Id="rId5" Type="http://schemas.openxmlformats.org/officeDocument/2006/relationships/image" Target="../media/image134.png"/><Relationship Id="rId6" Type="http://schemas.openxmlformats.org/officeDocument/2006/relationships/image" Target="../media/image135.png"/><Relationship Id="rId7" Type="http://schemas.openxmlformats.org/officeDocument/2006/relationships/image" Target="../media/image136.png"/><Relationship Id="rId8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8.png"/><Relationship Id="rId4" Type="http://schemas.openxmlformats.org/officeDocument/2006/relationships/image" Target="../media/image128.png"/><Relationship Id="rId5" Type="http://schemas.openxmlformats.org/officeDocument/2006/relationships/image" Target="../media/image104.png"/><Relationship Id="rId6" Type="http://schemas.openxmlformats.org/officeDocument/2006/relationships/image" Target="../media/image72.png"/><Relationship Id="rId7" Type="http://schemas.openxmlformats.org/officeDocument/2006/relationships/image" Target="../media/image138.png"/><Relationship Id="rId8" Type="http://schemas.openxmlformats.org/officeDocument/2006/relationships/image" Target="../media/image130.png"/><Relationship Id="rId9" Type="http://schemas.openxmlformats.org/officeDocument/2006/relationships/image" Target="../media/image5.png"/><Relationship Id="rId10" Type="http://schemas.openxmlformats.org/officeDocument/2006/relationships/image" Target="../media/image8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1.png"/><Relationship Id="rId6" Type="http://schemas.openxmlformats.org/officeDocument/2006/relationships/image" Target="../media/image1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把数据用起来，让 AI 帮我们干活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899979" y="1850427"/>
            <a:ext cx="83920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我们要做的三件事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数据是底子，智能体是抓手，两者打通才能越用越好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02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定规矩、统一编号和口径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每天自动体检，错数拦在报表外</a:t>
            </a: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订单、核销从第二天看到变成分钟级</a:t>
            </a: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先做“订单 → 核销 → 结算”主线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先借力卖起来，再自己建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借现成平台，几周做出来去卖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标杆景区验证能卖、能赚钱</a:t>
            </a: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跑通后按业态快速复制抢市场</a:t>
            </a: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规模起来后自建，省钱、交付快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AI＋数据平台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数据在公司里转起来</a:t>
            </a: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业务产生数据，平台统一整理</a:t>
            </a: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智能体和报表用同一套数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问答、评价、处置结果回流</a:t>
            </a: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rIns="177393" bIns="0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微软雅黑"/>
                <a:ea typeface="微软雅黑"/>
              </a:rPr>
              <a:t>口径由谁拍板 · 规范强制执行 · 标杆景区与销售配合 · 自建时点决策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AI＋数据平台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接下来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现状与问题 · 怎么建 · 怎么治理 · 建成后的变化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能做什么 · 先验证 · 再复制 · 后自建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数据怎么流转 · 闭环 · 一个例子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先做的三件事 · 需要的支持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现状与问题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手里的数据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数据治理八步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治理保障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六个统一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建成后的变化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工具基本齐了，每天的主流程也跑通了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已经花的钱都在用，接下来是在这个基础上补齐，而不是推倒重来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数据加工“车间”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已买：开发 · 调度 · 找数 · 管资产 · 出数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对内对外的数据“窗口”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指标对内对外提供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看报表、做分析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报表展示与 AI 问数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湖仓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存数据的“仓库”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部分模型已建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已经跑通：每天凌晨自动跑一遍的“数据流水线”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供应商 / 游客 / 会员 → 订单 → 维度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原样存一份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去重、补全、纠错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字典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景区、商品等基础信息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DIM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按天、按景区算好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报表、接口直接用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还没建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数据质量检查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指标口径管理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数据规范落地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按业务分成 8 大块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数据按“数据域 → 主题”分门别类，像图书馆分区一样好找、好管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订单、票务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订单数 · 销售额 · 核销次数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商品与资源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产品、库存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售罄率 · 库存余量 · 热销产品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游客、会员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会员等级 · 复购倾向 · 出游偏好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合作方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履约率 · 结算周期 · 供应商等级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流量营销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渠道、活动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渠道转化率 · 活动回报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日常运营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房态占用率 · 准点率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应结 / 已结金额 · 对账差异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内部管理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内部系统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任务运行 · 存储计算成本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待补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现场设备、外部数据、AI 产生的数据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难点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节假日高峰、状态多变、离线补传、多景区隔离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离线主流程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湖仓存储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主数据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已经有的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要新建 / 升级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能不买的先不买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七类能力，分清哪些已有、哪些升级、哪些新建；没买的模块先用省钱的办法顶上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能力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批量同步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埋点采集、设备回传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实时采集、标准连接器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存储计算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离线计算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实时计算、湖仓统一存储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开发运维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开发、运维中心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数据建模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发布卡点、成本治理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数据地图、资产治理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血缘、健康分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质量、标准、分级打码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指标标签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指标中心、标签系统、景区自定义空间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服务分析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开放 API、数据服务、小Q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嵌入式分析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AI 能力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AI 问数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模型网关、知识检索、评测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没买的模块，先这样顶上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数据质量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关键任务后加检查节点，不合格就拦住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规范文档 + 发布前检查脚本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安全中心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计算引擎权限 + 打码视图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先做小范围试验，验证后再投入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已有投入全部保留；先用现有工具延伸，验证有效再追加投入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八步走，一步一步落地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按顺序推进：先定规矩、统一编号，再管质量和口径，最后管好权限、盘点和出口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表名、字段、码值全公司一个说法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 + 自动检查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景区、商品、渠道、供应商、游客一个编号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编号对照表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资产目录、血缘图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算完自动检查，不合格就拦住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质量规则、问题单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统一标签（指标）</a:t>
            </a: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一个指标一个算法，集团出标准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指标字典、标签目录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数据分级，谁的数据只服务谁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分级清单、权限台账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打健康分，没人用的就下线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健康分榜、下线清单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对内对外只走一个“窗口”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接口目录、调用台账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“订单 → 核销 → 结算”公司最核心、问题最多，先在这条线上把八步走通，再按数据域推广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① 数据标准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表名、字段、码值，全公司一个说法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像给每张表发“身份证”：一看名字就知道是什么、在哪一层、谁负责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77136"/>
            <a:ext cx="9898562" cy="1685239"/>
          </a:xfrm>
          <a:prstGeom prst="roundRect">
            <a:avLst>
              <a:gd name="adj" fmla="val 73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d-car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72269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195453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表名就是身份证号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198433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3645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加工到哪一层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3645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“洗干净”层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5662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7404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ord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02617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哪块业务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2617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94634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16376" y="2398014"/>
            <a:ext cx="2192782" cy="514441"/>
          </a:xfrm>
          <a:prstGeom prst="roundRect">
            <a:avLst>
              <a:gd name="adj" fmla="val 1724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order_item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61588" y="2956803"/>
            <a:ext cx="2902356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什么内容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1588" y="3160805"/>
            <a:ext cx="290235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5BBFAE"/>
                </a:solidFill>
                <a:latin typeface="微软雅黑"/>
                <a:ea typeface="微软雅黑"/>
              </a:rPr>
              <a:t>订单明细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9158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30900" y="2398014"/>
            <a:ext cx="757864" cy="514441"/>
          </a:xfrm>
          <a:prstGeom prst="roundRect">
            <a:avLst>
              <a:gd name="adj" fmla="val 1724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di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76112" y="2956803"/>
            <a:ext cx="1467439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怎么更新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6112" y="3160805"/>
            <a:ext cx="1467439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每天增量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1711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字段统一叫法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16060" y="405664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8680" y="405664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16060" y="433160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金额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8680" y="433160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…_amt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6060" y="460656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时间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8680" y="460656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6060" y="48815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日期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8680" y="488152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…_date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6060" y="515648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是否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8680" y="515648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is_…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352970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0364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码值统一：建公共码表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30364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票种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179329" y="410986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渠道类型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86993" y="410986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订单状态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3036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核销方式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38028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景区等级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0364" y="4837176"/>
            <a:ext cx="2826471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各系统的码值映射到公共码表，不在代码里写死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711622" y="3595420"/>
            <a:ext cx="3181258" cy="1906981"/>
          </a:xfrm>
          <a:prstGeom prst="roundRect">
            <a:avLst>
              <a:gd name="adj" fmla="val 55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89015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建表 8 项必填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889015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中文名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67329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描述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316295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89015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安全等级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796680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生命周期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0434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分区字段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89015" y="4819436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字段注释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796680" y="4819436"/>
            <a:ext cx="1245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发生 / 上报时间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563544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746318"/>
            <a:ext cx="266090" cy="26609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570847" y="563544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目的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同一个东西全公司一个叫法；出了问题，一看就知道是哪张表、找谁负责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prd_id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channel_id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sup_id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one_id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像家谱一样，从源头一直打通到报表、接口和智能体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每天体检，五项检查、强弱两档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关键数据算完立刻自动检查，不合格的数据拦在报表外面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完整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订单号、景区编号不能空；日订单量比近 7 天平均波动超 30% 报警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准确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金额不能为负；核销时间不能早于下单时间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一致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对得上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仓库里的订单金额汇总 = 业务系统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及时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核心报表每天 7:00 前算完，晚了报警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唯一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不重复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订单号不重复；同一张票不能重复核销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强规则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核心表、对外接口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拦住下游，通知负责人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当天修好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弱规则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一般表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只提醒，不拦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一周内修好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出了问题怎么办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拦住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修复重跑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登记问题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同类问题出现两次，就补一条规则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⑤ 统一标签（指标）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每个指标说清口径，认证过才能用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306116" cy="1153058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13635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247229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36358"/>
            <a:ext cx="14634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指标 = 数一数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668539"/>
            <a:ext cx="1915850" cy="3725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卖了多少、核销多少、来了多少人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7828" y="1976704"/>
            <a:ext cx="2306116" cy="1153058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637483" y="213635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a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8354" y="2247229"/>
            <a:ext cx="221742" cy="22174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187403" y="2136358"/>
            <a:ext cx="14634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标签 = 贴个签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2961" y="2668539"/>
            <a:ext cx="1915850" cy="3725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年卡用户、高频复购、喜欢夜游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289415"/>
            <a:ext cx="4789627" cy="1995678"/>
          </a:xfrm>
          <a:prstGeom prst="roundRect">
            <a:avLst>
              <a:gd name="adj" fmla="val 5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1711" y="336037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分类分级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711" y="3732900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7772"/>
                </a:solidFill>
                <a:latin typeface="微软雅黑"/>
                <a:ea typeface="微软雅黑"/>
              </a:rPr>
              <a:t>指标分类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58680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8775" y="3732900"/>
            <a:ext cx="83670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核销入园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97569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37664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结算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77760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058680" y="4061078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业态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71711" y="44868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7772"/>
                </a:solidFill>
                <a:latin typeface="微软雅黑"/>
                <a:ea typeface="微软雅黑"/>
              </a:rPr>
              <a:t>开放范围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5868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集团内部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96117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景区可用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66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供应商可用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766149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可对外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8680" y="4841610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高敏标签不下发、不对外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50036" y="1976704"/>
            <a:ext cx="4842845" cy="1906981"/>
          </a:xfrm>
          <a:prstGeom prst="roundRect">
            <a:avLst>
              <a:gd name="adj" fmla="val 55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27429" y="2065400"/>
            <a:ext cx="45767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口径说清楚：一个指标拆成四件事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27429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9703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389357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1631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551285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53559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13214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27429" y="3245068"/>
            <a:ext cx="4488058" cy="487832"/>
          </a:xfrm>
          <a:prstGeom prst="roundRect">
            <a:avLst>
              <a:gd name="adj" fmla="val 1454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50036" y="4043339"/>
            <a:ext cx="48428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CAB93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50036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7096658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327270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373891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604504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9651126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881737" y="4424735"/>
            <a:ext cx="1011143" cy="638616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4318" y="5462488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badge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560054"/>
            <a:ext cx="266090" cy="26609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570847" y="5462488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门槛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只有认证过的指标和标签，才能进老板看板、对外接口和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⑥ 权限安全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数据分四级，各有各的主人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越敏感，管得越严；谁的数据，只服务谁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  <a:p>
            <a:pPr algn="ctr"/>
            <a:r>
              <a:rPr sz="950" b="0">
                <a:solidFill>
                  <a:srgbClr val="FCE6D2"/>
                </a:solidFill>
                <a:latin typeface="微软雅黑"/>
                <a:ea typeface="微软雅黑"/>
              </a:rPr>
              <a:t>L4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53812" y="2048256"/>
            <a:ext cx="48605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31206" y="2048256"/>
            <a:ext cx="452353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手机号、证件号、人脸、政务核验结果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加密、打码、最小授权、全程审计；明文不进大模型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60408" y="2935224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19903" y="2935224"/>
            <a:ext cx="459449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7297" y="2935224"/>
            <a:ext cx="425744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单景区经营数据、价格、结算、供应商合作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供应商隔离；跨主体只看汇总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26498" y="3822191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85993" y="3822191"/>
            <a:ext cx="432840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3387" y="3822191"/>
            <a:ext cx="399135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日志、设备状态、运营数据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92589" y="4709160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052084" y="4709160"/>
            <a:ext cx="406231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29477" y="4709160"/>
            <a:ext cx="3725265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已发布的报告、规范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80488" y="2048256"/>
            <a:ext cx="3512393" cy="3423696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key-rou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230" y="2207910"/>
            <a:ext cx="319308" cy="3193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001364" y="2172431"/>
            <a:ext cx="280281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谁的数据，只服务谁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8" y="269574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景区数据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3985" y="269574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只服务该景区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46578" y="308600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供应商数据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43985" y="308600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只服务该供应商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46578" y="3476274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渠道数据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43985" y="3476274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不给其他渠道看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8" y="3866540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游客信息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43985" y="3866540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在授权范围内用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46578" y="4256806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政务数据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43985" y="4256806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只用核验结果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46578" y="464707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43985" y="464707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按合同约定用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8" y="503733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对外输出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43985" y="503733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只给匿名汇总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定期盘点，统一出口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没人用的数据按步骤下线，省存储和计算；所有数据只从一个“窗口”出去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⑦ 资产运营：定期盘点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每月打“健康分”，按负责人公示排名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没人用的，按步骤下线</a:t>
            </a: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没下游 · 重复 · 临时表</a:t>
            </a: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停调度或改只读，观察 30 天</a:t>
            </a: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没人反馈再删；有人反馈就恢复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⑧ 数据分发：统一出口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动态数据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景区看板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营销圈人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经营看板：销售额、核销量、入园人次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按会员等级看复购率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圈出近 90 天没复购的年卡用户，推活动后看转化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写进流程、有人负责、有考核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不另起流程、不搞运动；先治“订单 → 核销 → 结算”主线，做通再推广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写进流程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事前 · 定规范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需求确认口径；设计做模型评审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事中 · 设卡点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发布自动检查；运行不合格就拦住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事后 · 做治理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健康分、整改、复盘补规则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有人负责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数据治理小组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拍板口径争议、审批规范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数据负责人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定方案、跨部门协调、对健康分负责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每个业务线一名，确认口径、验收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治理专员 / 开发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维护标准规则；模型落地、问题修复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有考核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节奏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两周口径评审 · 每月健康分公示 · 季度复盘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≥ 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老板看板认证指标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先测基线再定目标；看实际使用和业务结果，不看上了多少看板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建设落地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治理是手段，这六件事是结果；每件都能对比“以前”和“以后”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189576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800" y="2189576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0364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分钟级看到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11622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451" y="2189576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统一标签（指标）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89015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89015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8925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71711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各系统各管各的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一套规则管住所有出口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800" y="3892555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0364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0364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5451" y="38925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自助分析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89015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89015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400400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16060" y="54004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怎么推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147376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统接入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3114172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91565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统建模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4258360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435754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统开发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5402549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579943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统服务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7349" y="5400400"/>
            <a:ext cx="402683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先在“订单 → 核销 → 结算”试点；老模型双跑对比再切换，可回退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统一规范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规矩不再停留在文档里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新的卡住、老的分批改、持续有人管 —— 前面定的标准靠这三招落地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25649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新建 · 卡住</a:t>
            </a:r>
          </a:p>
        </p:txBody>
      </p:sp>
      <p:sp>
        <p:nvSpPr>
          <p:cNvPr id="49" name="Oval 48"/>
          <p:cNvSpPr/>
          <p:nvPr/>
        </p:nvSpPr>
        <p:spPr>
          <a:xfrm>
            <a:off x="1171711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en-li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278" y="3112617"/>
            <a:ext cx="195132" cy="19513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686153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开发提交</a:t>
            </a:r>
          </a:p>
        </p:txBody>
      </p:sp>
      <p:sp>
        <p:nvSpPr>
          <p:cNvPr id="52" name="Oval 51"/>
          <p:cNvSpPr/>
          <p:nvPr/>
        </p:nvSpPr>
        <p:spPr>
          <a:xfrm>
            <a:off x="1171711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earch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9278" y="3822191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686153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发布前脚本自动检查：命名 · 分层 · 注释 · 负责人 · 等级</a:t>
            </a:r>
          </a:p>
        </p:txBody>
      </p:sp>
      <p:sp>
        <p:nvSpPr>
          <p:cNvPr id="55" name="Oval 54"/>
          <p:cNvSpPr/>
          <p:nvPr/>
        </p:nvSpPr>
        <p:spPr>
          <a:xfrm>
            <a:off x="1171711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ircle-x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9278" y="4531766"/>
            <a:ext cx="195132" cy="19513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86153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不合规直接打回，列出哪里不对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4116444" y="3494013"/>
            <a:ext cx="22174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26884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426884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26884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rench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8626" y="2225649"/>
            <a:ext cx="372526" cy="37252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180807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存量 · 分批改</a:t>
            </a:r>
          </a:p>
        </p:txBody>
      </p:sp>
      <p:sp>
        <p:nvSpPr>
          <p:cNvPr id="64" name="Oval 63"/>
          <p:cNvSpPr/>
          <p:nvPr/>
        </p:nvSpPr>
        <p:spPr>
          <a:xfrm>
            <a:off x="4604278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ist-check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1844" y="3112617"/>
            <a:ext cx="195132" cy="19513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118719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核心表优先，按健康分排名分批</a:t>
            </a:r>
          </a:p>
        </p:txBody>
      </p:sp>
      <p:sp>
        <p:nvSpPr>
          <p:cNvPr id="67" name="Oval 66"/>
          <p:cNvSpPr/>
          <p:nvPr/>
        </p:nvSpPr>
        <p:spPr>
          <a:xfrm>
            <a:off x="4604278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history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1844" y="3822191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18719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改名保留兼容视图，下游不受影响</a:t>
            </a:r>
          </a:p>
        </p:txBody>
      </p:sp>
      <p:sp>
        <p:nvSpPr>
          <p:cNvPr id="70" name="Oval 69"/>
          <p:cNvSpPr/>
          <p:nvPr/>
        </p:nvSpPr>
        <p:spPr>
          <a:xfrm>
            <a:off x="4604278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parkle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1844" y="4531766"/>
            <a:ext cx="195132" cy="19513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118719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缺描述的，AI 先补一版再人工确认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7549011" y="3494013"/>
            <a:ext cx="22174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859450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859450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59450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refresh-cw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81192" y="2225649"/>
            <a:ext cx="372526" cy="37252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613373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持续 · 有人管</a:t>
            </a:r>
          </a:p>
        </p:txBody>
      </p:sp>
      <p:sp>
        <p:nvSpPr>
          <p:cNvPr id="79" name="Oval 78"/>
          <p:cNvSpPr/>
          <p:nvPr/>
        </p:nvSpPr>
        <p:spPr>
          <a:xfrm>
            <a:off x="8036844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chart-column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4410" y="3112617"/>
            <a:ext cx="195132" cy="19513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551285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资产健康分每月公示</a:t>
            </a:r>
          </a:p>
        </p:txBody>
      </p:sp>
      <p:sp>
        <p:nvSpPr>
          <p:cNvPr id="82" name="Oval 81"/>
          <p:cNvSpPr/>
          <p:nvPr/>
        </p:nvSpPr>
        <p:spPr>
          <a:xfrm>
            <a:off x="8036844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users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34410" y="3822191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551285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按负责人排名</a:t>
            </a:r>
          </a:p>
        </p:txBody>
      </p:sp>
      <p:sp>
        <p:nvSpPr>
          <p:cNvPr id="85" name="Oval 84"/>
          <p:cNvSpPr/>
          <p:nvPr/>
        </p:nvSpPr>
        <p:spPr>
          <a:xfrm>
            <a:off x="8036844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imer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4410" y="4531766"/>
            <a:ext cx="195132" cy="19513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1285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低分限期整改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94318" y="5356646"/>
            <a:ext cx="2860471" cy="487832"/>
          </a:xfrm>
          <a:prstGeom prst="roundRect">
            <a:avLst>
              <a:gd name="adj" fmla="val 14545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以前　</a:t>
            </a: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规范只写在文档里，没人卡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3943487" y="5511866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253925" y="5356646"/>
            <a:ext cx="2860471" cy="487832"/>
          </a:xfrm>
          <a:prstGeom prst="roundRect">
            <a:avLst>
              <a:gd name="adj" fmla="val 1454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以后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336139" y="5356646"/>
            <a:ext cx="3556741" cy="487832"/>
          </a:xfrm>
          <a:prstGeom prst="roundRect">
            <a:avLst>
              <a:gd name="adj" fmla="val 14545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新表规范符合率 100%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统一底座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一份存储，离线 + 实时，同一个逻辑只建一次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订单、核销从“第二天才看到”变成“分钟级看到”；离线和湖仓合一，不再出两套结果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10181"/>
            <a:ext cx="1729587" cy="2306116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052096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08759" y="2016617"/>
            <a:ext cx="11974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数据进来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7363" y="2495580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业务库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7363" y="2823758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渠道接口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27363" y="3151935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设备事件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27363" y="348011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行为日志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80829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2741645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36778" y="1910181"/>
            <a:ext cx="1552194" cy="2306116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6432" y="2052096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451219" y="2016617"/>
            <a:ext cx="102001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统一接入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69823" y="2495580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接入规范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69823" y="2823758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对象编号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069823" y="3151935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506711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1844" y="1910181"/>
            <a:ext cx="2971342" cy="2306116"/>
          </a:xfrm>
          <a:prstGeom prst="roundRect">
            <a:avLst>
              <a:gd name="adj" fmla="val 461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499" y="2052096"/>
            <a:ext cx="283829" cy="28382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16286" y="2016617"/>
            <a:ext cx="243916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湖仓一体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34890" y="2495580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离线计算 · DataWorks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34890" y="2823758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实时计算 · 订单核销先行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834890" y="3151935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原料 → 成品分层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34890" y="3480113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共用业务定义和质量规则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690926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86059" y="1910181"/>
            <a:ext cx="1507845" cy="2306116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sear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5714" y="2052096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00501" y="2016617"/>
            <a:ext cx="9756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分析查询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019105" y="2495580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稳定查询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19105" y="2823758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负载隔离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9411644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606777" y="1910181"/>
            <a:ext cx="1286103" cy="2306116"/>
          </a:xfrm>
          <a:prstGeom prst="roundRect">
            <a:avLst>
              <a:gd name="adj" fmla="val 827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en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6432" y="2052096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121219" y="2016617"/>
            <a:ext cx="75392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给谁用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39823" y="2495580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39823" y="2823758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739823" y="3151935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46464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233" y="4393692"/>
            <a:ext cx="62087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离线和湖仓合一：同一个逻辑只建一次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4318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离线、湖仓各做一份，结果不一样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3633048" y="4987960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43487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以后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公共层只建一次，改口径只改一处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71526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盘点重叠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435479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86263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定保留版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8306482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457266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下游改引用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77484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328269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双跑对比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10048487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19927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下线重复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94318" y="5529011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za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0847" y="5529011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效果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订单、核销：第二天看到 → 分钟级看到；结构变更、补数重算、高峰压测都有预案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统一标签（指标）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同一个数，报表、接口、AI 三处一致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企业出标准口径，景区有自己的专属空间；同一个出口，按景区隔离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1052"/>
            <a:ext cx="1951329" cy="3193084"/>
          </a:xfrm>
          <a:prstGeom prst="roundRect">
            <a:avLst>
              <a:gd name="adj" fmla="val 54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  <a:p>
            <a:pPr algn="ctr">
              <a:spcBef>
                <a:spcPts val="388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明细 · 维度 · 汇总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3034343" y="2712887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3034343" y="4220733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33480" y="2021052"/>
            <a:ext cx="4080052" cy="1419148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5222" y="2109749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5222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统一定义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69785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版本管理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4347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业务认证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5222" y="2978978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全公司一个口径，老板看板只用它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33480" y="3794988"/>
            <a:ext cx="4080052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5222" y="3883685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景区自定义指标空间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5222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 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14717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 B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74211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5222" y="4770653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相互隔离；不能同名覆盖企业标准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09144" y="3484548"/>
            <a:ext cx="2128723" cy="266090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↑ 好用的评审后沉淀为标准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566751" y="2624190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ight Arrow 60"/>
          <p:cNvSpPr/>
          <p:nvPr/>
        </p:nvSpPr>
        <p:spPr>
          <a:xfrm>
            <a:off x="7566751" y="4398126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823972" y="2021052"/>
            <a:ext cx="3068909" cy="3193084"/>
          </a:xfrm>
          <a:prstGeom prst="roundRect">
            <a:avLst>
              <a:gd name="adj" fmla="val 34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364" y="2109749"/>
            <a:ext cx="280281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同一个出口统一提供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01364" y="257984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hart-colum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801" y="2677408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4848" y="257984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小Q 报表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01364" y="312976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plu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801" y="3227329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444848" y="312976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367968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7801" y="3777249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444848" y="367968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AI 问数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01364" y="4309430"/>
            <a:ext cx="2714122" cy="727313"/>
          </a:xfrm>
          <a:prstGeom prst="roundRect">
            <a:avLst>
              <a:gd name="adj" fmla="val 12195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  <a:p>
            <a:pPr algn="ctr">
              <a:spcBef>
                <a:spcPts val="97"/>
              </a:spcBef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开会不用先对数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5418140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15706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418140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认证指标覆盖率；老板看板认证指标占比 100%；核销量各出口 0 差异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一套规则管到底，谁能看什么分清楚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角色决定能用哪些功能，范围决定能看哪些景区，敏感程度决定能看哪些字段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2476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6008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9540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3072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4318" y="2371404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2476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6008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9540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3072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4318" y="2823758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2476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6008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9540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3072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318" y="3276111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2476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6008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9540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3072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318" y="3728466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2476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008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9540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3072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4318" y="4180819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2476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6008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9540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73072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4318" y="4633173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2476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6008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9540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73072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85527"/>
            <a:ext cx="581851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23266" y="1963399"/>
            <a:ext cx="376961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申请到回收，一个闭环</a:t>
            </a:r>
          </a:p>
        </p:txBody>
      </p:sp>
      <p:sp>
        <p:nvSpPr>
          <p:cNvPr id="80" name="Oval 79"/>
          <p:cNvSpPr/>
          <p:nvPr/>
        </p:nvSpPr>
        <p:spPr>
          <a:xfrm>
            <a:off x="7123266" y="2380274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832" y="2477840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619969" y="2344795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19969" y="258427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说明用途和期限</a:t>
            </a:r>
          </a:p>
        </p:txBody>
      </p:sp>
      <p:sp>
        <p:nvSpPr>
          <p:cNvPr id="84" name="Oval 83"/>
          <p:cNvSpPr/>
          <p:nvPr/>
        </p:nvSpPr>
        <p:spPr>
          <a:xfrm>
            <a:off x="7123266" y="2965673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tam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832" y="3063240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619969" y="2930194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19969" y="316967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数据负责人；高敏加安全负责人</a:t>
            </a:r>
          </a:p>
        </p:txBody>
      </p:sp>
      <p:sp>
        <p:nvSpPr>
          <p:cNvPr id="88" name="Oval 87"/>
          <p:cNvSpPr/>
          <p:nvPr/>
        </p:nvSpPr>
        <p:spPr>
          <a:xfrm>
            <a:off x="7123266" y="355107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ey-rou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832" y="3648638"/>
            <a:ext cx="195132" cy="19513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619969" y="3515593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授权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19969" y="375507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最小范围，设到期时间</a:t>
            </a:r>
          </a:p>
        </p:txBody>
      </p:sp>
      <p:sp>
        <p:nvSpPr>
          <p:cNvPr id="92" name="Oval 91"/>
          <p:cNvSpPr/>
          <p:nvPr/>
        </p:nvSpPr>
        <p:spPr>
          <a:xfrm>
            <a:off x="7123266" y="41364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ey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32" y="4234037"/>
            <a:ext cx="195132" cy="19513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619969" y="41009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19969" y="4340472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访问全程留痕</a:t>
            </a:r>
          </a:p>
        </p:txBody>
      </p:sp>
      <p:sp>
        <p:nvSpPr>
          <p:cNvPr id="96" name="Oval 95"/>
          <p:cNvSpPr/>
          <p:nvPr/>
        </p:nvSpPr>
        <p:spPr>
          <a:xfrm>
            <a:off x="7123266" y="47218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archiv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0832" y="4819436"/>
            <a:ext cx="195132" cy="195132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619969" y="46863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回收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19969" y="4925871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到期、离岗自动收回；每季度复核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94318" y="544918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16060" y="5449183"/>
            <a:ext cx="2306116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同一套规则，管住每个出口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610874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数据仓库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543176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数据地图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475478" y="5555620"/>
            <a:ext cx="82315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405068" y="5555620"/>
            <a:ext cx="49522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006729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标签平台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939031" y="5555620"/>
            <a:ext cx="8827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一个游客一个身份，一处加工、到处能用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订单、会员、年卡、人脸归并成同一个游客；营销、分析、AI、景区都从同一处取标签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年卡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人脸识别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同一个游客</a:t>
            </a:r>
          </a:p>
          <a:p>
            <a:pPr algn="ctr">
              <a:spcBef>
                <a:spcPts val="97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OneID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统一生产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基于公共模型加工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统一管理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口径 · 负责人 · 生命周期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统一服务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一个出口提供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谁来用 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给谁打标签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 / 会员 · 供应商 · 景区 · 渠道 · 商品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标签类型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基础属性 · 统计类 · 规则类 · 模型预测类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景区只用本景区的标签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不做敏感个人信息标签；对外不提供个人层面标签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自助分析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业务自己查、自己看，少找人要数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从统一的模型、指标、标签出发；数据团队从临时取数转向建模型、做分析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1862632" cy="2394813"/>
          </a:xfrm>
          <a:prstGeom prst="roundRect">
            <a:avLst>
              <a:gd name="adj" fmla="val 571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统一出发点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模型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指标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945648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0435" y="2043226"/>
            <a:ext cx="3015691" cy="2394813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568" y="2185141"/>
            <a:ext cx="319308" cy="3193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903573" y="2149662"/>
            <a:ext cx="230611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小Q 自助分析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7828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指标检索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2629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明细探索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7828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可视化计算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52629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自定义看板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7828" y="3755075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报表订阅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6404823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59610" y="2043226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655" y="2247229"/>
            <a:ext cx="301569" cy="3015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74052" y="204322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总部经营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59610" y="285923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riefcas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655" y="3063240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274052" y="285923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9610" y="367524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655" y="3879250"/>
            <a:ext cx="301569" cy="30156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74052" y="367524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33546" y="2043226"/>
            <a:ext cx="2359334" cy="2394813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33546" y="2043226"/>
            <a:ext cx="2359334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66591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43985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1378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87469" y="2043226"/>
            <a:ext cx="147236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自定义看板（示意）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99636" y="3577681"/>
            <a:ext cx="248351" cy="5321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172163" y="3267242"/>
            <a:ext cx="248351" cy="842619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544690" y="3444636"/>
            <a:ext cx="248351" cy="66522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917216" y="3045500"/>
            <a:ext cx="248351" cy="1064361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289743" y="3222894"/>
            <a:ext cx="248351" cy="886968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55288" y="2468971"/>
            <a:ext cx="200454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××景区 · 本周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问数与报表同源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共用指标定义和权限，问出来的数和报表一致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数据团队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从临时取数、对数，转向建模型、做分析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36935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69356"/>
            <a:ext cx="115305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最终产出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324769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企业指标中心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91132" y="5475792"/>
            <a:ext cx="131862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景区专属指标空间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16195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统一标签服务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82558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统一语义服务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48921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自助分析平台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每个人都用上靠谱的数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从管理层到景区，九类角色的变化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管理层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驾驶舱全用认证指标，不用先对数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核销口径统一，差异自动定位；节假日实时看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业务与财务逐层对账，差异自动列原因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销量、佣金、返利口径统一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标签圈人、指标看效果，复盘自动完成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运营 / 客户成功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景区经营报告自动生成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产品研发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上线前定好口径，上线即有数据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从取数对数转向建模型、做分析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 / 供应商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直接用标准指标，不够用自己加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数据可信、有口径、有权限，AI 接上去才能答得准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现状与底气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能做哪些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建设思路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跑通商业模式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快速占领市场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建自己的平台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风险与底线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已有智能体，来自三个地方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扣子平台上配置的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工作流配置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和合作企业一起做的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合作接入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 自带的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平台自带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系统在现场、数据在手里、客户在用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别人只能做“通用聊天”，我们能做“帮景区和游客办事”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30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产品积累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多条产品线，系统装在景区现场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景区业态管理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景区运营管理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景区财务管理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景区智慧终端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数据在手里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办事要用的数据，都在我们系统里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交易与客流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售票与分销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年卡与预约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订单与结算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会员与营销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闸机与物联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认证指标与标签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客户在用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大量景区已用我们的票务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接口现成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信任已有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老客户，成交最快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入口现成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小程序、公众号、APP、终端都在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结论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别人做通用聊天，我们做“能办事”的智能体 —— 这是我们的护城河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实心为已有，空心为基于现有系统和数据可以扩展的 —— 都要做，只是先后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02  智能体平台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从经营、运营到安全调度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票务、业态、财务、营销、调度的系统都是我们的，扩展有基础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经营问数 · 经营洞察 · 日报周报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经营日报周报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报表解读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团队报名 · 检票核销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分销渠道助手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旅行社报团助手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检票异常解释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窗口售票员助手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 · 停车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发票助手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会员画像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人群圈选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营销文案生成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推广员助手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活动复盘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设备运维诊断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安全调度即“景区 AI 调度中枢”；实心为已有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围绕三个目标，走一条建设流程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先用成熟平台把事做成、把钱赚到，再快速铺开，最后建成自己的平台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建设目标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跑通商业模式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能卖、能赚钱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快速占领市场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铺得快、交付快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建成自己的平台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更省钱、更可控、有壁垒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建设流程：一条线走下来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选场景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借成熟平台搭建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标杆试点验证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定价与交付定型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按业态标准化复制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沉淀知识、接口、数据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时机成熟自建平台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平稳迁移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为了跑通商业模式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为了快速占领市场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为了建成自己的平台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起步依托 Coze · 火山方舟 · 羚羊小Q；自建时以数字大脑作为智能体管理台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贯穿始终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借平台，不交资产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数据从第一天回流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守住安全底线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培养自己的 AI 团队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用成本数据判断自建时机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先回答“能不能卖、能不能赚钱”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五个问题要用真实的景区、真实的钱来回答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34  ·  AI＋数据平台 · 02  智能体平台</a:t>
            </a: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卖给谁</a:t>
            </a: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哪类景区最需要</a:t>
            </a: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卖什么</a:t>
            </a: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哪些组合景区最认</a:t>
            </a: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怎么收钱</a:t>
            </a: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四种方式选哪种</a:t>
            </a: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花多少钱</a:t>
            </a: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平台费 + 交付 + 运营</a:t>
            </a: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值不值</a:t>
            </a: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省人、多卖、更满意</a:t>
            </a: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单个景区算一笔账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一年收入</a:t>
            </a: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平台调用费</a:t>
            </a: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交付成本（摊销）</a:t>
            </a: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运营支持</a:t>
            </a: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＞ 0</a:t>
            </a:r>
            <a:r>
              <a:rPr sz="1250" b="0">
                <a:solidFill>
                  <a:srgbClr val="FCE6D2"/>
                </a:solidFill>
                <a:latin typeface="微软雅黑"/>
                <a:ea typeface="微软雅黑"/>
              </a:rPr>
              <a:t>　才算能赚钱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先试两种收费，用数据证明价值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验证期同时试“随票务打包”和“年费订阅”，看哪种成交快、续费稳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随票务打包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作为票务增值模块，提高票务年费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能否提升续约率和客单价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年费订阅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按景区规模或智能体数量分档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新客户、单独采购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景区能接受的价位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按效果分成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 AI 带来的购票、二消收入分成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购票、营销类智能体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增量能否算清楚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按用量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按对话量或调用量计费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大客流景区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能否接受账单波动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景区认的价值，要用数据证明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少用人工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智能体解决咨询的比例、省下的客服人力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多卖票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智能体带来的线上购票、二消订单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游客更满意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满意度、差评率、排队与等待减少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管理更省心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报表、对账、预警的人工时间减少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怎么验证、怎样算跑通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挑标杆、快速搭、跑一个旺季、让数据说话；五条都满足才转入规模复制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智能体平台</a:t>
            </a: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14441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408" y="2163561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3293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挑标杆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666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已用我们票务的景区，覆盖主要业态</a:t>
            </a:r>
          </a:p>
        </p:txBody>
      </p:sp>
      <p:sp>
        <p:nvSpPr>
          <p:cNvPr id="48" name="Chevron 47"/>
          <p:cNvSpPr/>
          <p:nvPr/>
        </p:nvSpPr>
        <p:spPr>
          <a:xfrm>
            <a:off x="3402436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5920" y="2163561"/>
            <a:ext cx="283829" cy="28382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18447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快速搭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12875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平台上搭好现有智能体，加高价值新场景</a:t>
            </a:r>
          </a:p>
        </p:txBody>
      </p:sp>
      <p:sp>
        <p:nvSpPr>
          <p:cNvPr id="52" name="Chevron 51"/>
          <p:cNvSpPr/>
          <p:nvPr/>
        </p:nvSpPr>
        <p:spPr>
          <a:xfrm>
            <a:off x="5810554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038" y="2163561"/>
            <a:ext cx="283829" cy="28382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62656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跑一个旺季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0993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节假日最能检验效果和成本</a:t>
            </a:r>
          </a:p>
        </p:txBody>
      </p:sp>
      <p:sp>
        <p:nvSpPr>
          <p:cNvPr id="56" name="Chevron 55"/>
          <p:cNvSpPr/>
          <p:nvPr/>
        </p:nvSpPr>
        <p:spPr>
          <a:xfrm>
            <a:off x="8218672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2156" y="2163561"/>
            <a:ext cx="283829" cy="28382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34683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数据回流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29111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对话、评价、订单第一天就进数据平台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98880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6233" y="3227923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怎样算跑通：五条判断标准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27059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82150" y="3627059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57815" y="3627059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持续在用，问题解决率达标</a:t>
            </a:r>
          </a:p>
        </p:txBody>
      </p:sp>
      <p:pic>
        <p:nvPicPr>
          <p:cNvPr id="67" name="Picture 66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3698016"/>
            <a:ext cx="230611" cy="230611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4318" y="4070543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82150" y="4070543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有价值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57815" y="4070543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景区认可的指标有提升</a:t>
            </a:r>
          </a:p>
        </p:txBody>
      </p:sp>
      <p:pic>
        <p:nvPicPr>
          <p:cNvPr id="73" name="Picture 72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4141500"/>
            <a:ext cx="230611" cy="230611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994318" y="4514027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82150" y="4514027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愿付费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57815" y="4514027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按拟定价格付费或明确续费</a:t>
            </a: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4584984"/>
            <a:ext cx="230611" cy="230611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994318" y="4957511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2150" y="4957511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能赚钱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57815" y="4957511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单景区收入覆盖成本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5028468"/>
            <a:ext cx="230611" cy="230611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994318" y="5400995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82150" y="5400995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可复制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57815" y="5400995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按标准流程就能上线</a:t>
            </a:r>
          </a:p>
        </p:txBody>
      </p:sp>
      <p:pic>
        <p:nvPicPr>
          <p:cNvPr id="91" name="Picture 90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5471952"/>
            <a:ext cx="230611" cy="230611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7646578" y="3627059"/>
            <a:ext cx="3246302" cy="993404"/>
          </a:xfrm>
          <a:prstGeom prst="roundRect">
            <a:avLst>
              <a:gd name="adj" fmla="val 1071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3972" y="3671407"/>
            <a:ext cx="298021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五条都满足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23972" y="4026194"/>
            <a:ext cx="2980212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模板、定价、交付流程定型，转入规模复制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646578" y="4709160"/>
            <a:ext cx="3246302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23972" y="4753508"/>
            <a:ext cx="29802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没过关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23972" y="5090556"/>
            <a:ext cx="2980212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调整场景组合或定价，再验一轮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还不行的场景停掉，不硬推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快速占领市场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先打老客户，再按业态复制，用 AI 撬新客户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从最容易成交的客户开始，用标杆案例带动同类景区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37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随票务续约推，开通即用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系统已对接，基本零开发；信任已有，成交最快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其次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同业态景区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用标杆案例按业态复制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场景相同，模板直接复用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同步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新客户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智能体做差异化卖点，带动票务签约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用 AI 撬动新客户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业态先后：客流大、咨询多、线上购票比例高的先做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第一批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山岳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主题乐园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古镇街区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第二批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博物馆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温泉度假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游船演出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38  ·  AI＋数据平台 · 02  智能体平台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票务团队带单，用效果报告促续费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卖出去只是开始，持续让景区看到效果，才能续费、加购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销售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票务销售团队带单，智能体纳入销售考核；区域渠道伙伴代理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每类业态的标杆做成案例，用数据讲效果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客户成功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上线后定期出效果报告：解决多少咨询、带来多少订单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模板统一升级，所有景区同步受益，增加粘性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景区 AI 效果月报（示意）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××景区 · ××月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解决咨询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带来订单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转人工率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%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游客满意度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趋势与建议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由系统自动生成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六样东西必须留在自己手里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这是将来自建平台能低成本切过去的前提，从第一天就要做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02  智能体平台</a:t>
            </a: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留在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自己手里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景区知识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按自有结构存一份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直接导入自建平台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业务接口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售票、订单、核销、会员接口自己封装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平台直接复用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模板设计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流程、提示词、配置写成文档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迁入模板库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交互数据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对话、评价、转人工回流数据平台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做测试题、优化效果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成本数据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按景区、按智能体记录每月平台费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判断何时自建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需求清单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记录客户要、平台做不了的功能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自建平台的需求来源</a:t>
            </a: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为什么最终要自建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借平台 vs 自建平台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起步时借平台最划算；规模越大，借平台的问题越突出，自建的好处越明显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借平台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自建平台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对公司的影响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按调用、账号计费，随景区数增长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只付模型调用和自身运维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单景区成本下降，规模越大利润越高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交付周期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每个景区在外部平台单独配置、调试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集团建一次，景区开通即用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省交付人天，上线更快，承接更多景区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定制能力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个性需求受平台限制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按需自主扩展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能接大客户和个性项目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数据资产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工作流、知识、对话数据在外部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全部在自己手里，回流数据平台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越用越准，数据成为资产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风险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平台调价、改规则直接影响报价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自主可控，模型可替换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经营稳定，报价有底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竞争力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同平台谁都能做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业务系统 + 数据 + 平台一体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形成壁垒，提高续约和客单价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建自己的平台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什么时候启动？看成本交叉点和五个信号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满足任意两条就启动自建；不提前，也不拖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总成本随景区数量变化（示意）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景区数量 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交叉点 = 该自建了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成本交叉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按记录的成本测算，自建总成本已更低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平台费占比上升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平台费占智能体收入的比例持续上升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场景稳定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主力模板已稳定，不再频繁大改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平台限制丢单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个性需求、大客户项目因平台限制接不了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合规要求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景区或管理方要求数据不出域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，就启动自建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钱只花在“壁垒”上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能买的买、能借的借，只自建承载我们业务和数据的部分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不自研 · 调用模型服务，多家可替换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投入大，不是我们的优势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语音 · 图像 · 数字人 · 手语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采购或合作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专业能力，自建不划算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开源框架二次开发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不从零写，缩短周期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管理台 · 能力与知识 · 业务工具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承载我们的业务、数据和交付方式，是壁垒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复用第一部分的数据平台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已经有了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不碰重投入、非优势的部分；把钱和人放在“业务 + 数据 + 交付”上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数字大脑做管理台，底下接数据平台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颜色代表“怎么来”：自建 / 开源改造 / 采购合作 / 复用已有；所有产品线的智能体都在这上面统一管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44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渠道入口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1635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45851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34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0484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智慧终端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34342" y="1954530"/>
            <a:ext cx="1358539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智能体应用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02253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景区管理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17650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票务财务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33045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48442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精准营销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7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搭建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模板库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02253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可视化编排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17650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配置化生成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33045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多智能体协同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48442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测试与发布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多租户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102253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17650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运行监控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33045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计量到景区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48442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效果评估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能力层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业务工具中心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02253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景区知识库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817650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游客记忆与画像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33045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测试用例库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48442" y="3799422"/>
            <a:ext cx="1644438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引擎层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31103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检索引擎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75348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模型网关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19593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内容安全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外部能力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大模型 · 可替换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3110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语音 · 图像 · 数字人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67534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81959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数据底座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53110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67534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湖仓与实时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81959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864793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4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4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4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已有入口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4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橙色虚线框 = 数字大脑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五步走，双轨运行、随时可退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不搞一刀切，用同一套测试题对比，达标才切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02  智能体平台</a:t>
            </a: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01  核心先上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核心模块、主力智能体先上</a:t>
            </a: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02  对比验证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同一套测试题，不低于成熟平台才切</a:t>
            </a: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03  新增先上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新签景区直接上自建平台</a:t>
            </a: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04  存量随续约迁移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双轨运行、逐个迁移、可回退</a:t>
            </a: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05  成熟平台转补充</a:t>
            </a: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外部平台变成补充能力</a:t>
            </a: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每一步都可以回退；客户无感知迁移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风险怎么控，底线怎么守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风险提前想好应对；智能体的底线从第一天就守住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四个风险，四个应对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投入超预期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小团队先做核心模块，跟着迁移进度分批投入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外部平台调价或停服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资产在自己手里，模型多家可替换，随时能切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团队能力不足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前期就培养自己的 AI 应用团队，自建时延续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需求变化快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模板化、配置化，差异放在配置里不改代码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四条底线，贯穿始终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只用授权数据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数据按景区隔离，景区只看本景区数据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关键动作人工确认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退款、调度等处置要人点确认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不碰敏感信息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手机号、证件号不进对话和知识库，展示打码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不乱承诺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价格、退改以系统为准，答不了就转人工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AI＋数据平台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数据怎么流转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一张门票的例子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48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湖仓公共模型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开放 API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DataWorks · 数据地图 · 资产治理，治理贯穿全程；智能体前期借平台，后期自建管理台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一张门票的数据旅程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游客买一张票，数据在公司里转一圈，景区和游客都受益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49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买票入园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售票 · 闸机核销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数据进平台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 · 核销 · 客流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算出指标和标签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实时客流 · 游客偏好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智能体办事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客流预警 · 二消推荐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 · 推荐转化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反哺业务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调预约 · 调营销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结果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游客体验更好 · 景区多卖钱、少出事 · 数据和智能体更准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 · 示意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消息通知预警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【客流预警】东门入园排队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变长，预计 20 分钟后接近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预约上限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建议：增开闸机，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引导游客从西门入园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收到，已派人处理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已记录处置结果，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明天的预约名额会参考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先做三件事，需要您支持四件事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先在一条主线、几家标杆景区上做出结果，再铺开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50  ·  AI＋数据平台 · 接下来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接下来先做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数据：主线试点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“订单 → 核销 → 结算”定口径、上卡点、逐层核对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订单、核销实时链路建起来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智能体：标杆验证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挑老客户做标杆，跑一个完整旺季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同时试“随票务打包”和“年费订阅”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打通：统一取数、数据回流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智能体统一从数据平台取数，交互数据回流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知识、接口、模板、成本数据留在手里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微软雅黑"/>
                <a:ea typeface="微软雅黑"/>
              </a:rPr>
              <a:t>需要您支持</a:t>
            </a: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口径谁拍板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成立数据治理小组，口径争议有人定</a:t>
            </a: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规范强制执行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不合规的数据不上线，需公司层面授权</a:t>
            </a: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标杆与销售配合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标杆景区配合试点；智能体纳入销售考核</a:t>
            </a: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自建时点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定期用成本数据评估，由您决策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智能体快速落地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