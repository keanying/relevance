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7"/>
    <p:sldId id="275" r:id="rId6"/>
    <p:sldId id="276" r:id="rId5"/>
    <p:sldId id="277" r:id="rId4"/>
    <p:sldId id="278" r:id="rId3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19" userDrawn="1">
          <p15:clr>
            <a:srgbClr val="A4A3A4"/>
          </p15:clr>
        </p15:guide>
        <p15:guide id="4" pos="7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ED4"/>
    <a:srgbClr val="4EB6A0"/>
    <a:srgbClr val="CCC9D5"/>
    <a:srgbClr val="59A132"/>
    <a:srgbClr val="2CAB93"/>
    <a:srgbClr val="21816F"/>
    <a:srgbClr val="1F9BCC"/>
    <a:srgbClr val="9EA0C3"/>
    <a:srgbClr val="F2D2BF"/>
    <a:srgbClr val="E6B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96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42" y="792"/>
      </p:cViewPr>
      <p:guideLst>
        <p:guide orient="horz" pos="2160"/>
        <p:guide pos="3840"/>
        <p:guide pos="619"/>
        <p:guide pos="70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2142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继续用平台</c:v>
                </c:pt>
              </c:strCache>
            </c:strRef>
          </c:tx>
          <c:spPr>
            <a:ln w="38100">
              <a:solidFill>
                <a:srgbClr val="E39A57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</c:v>
                </c:pt>
                <c:pt idx="1">
                  <c:v>17</c:v>
                </c:pt>
                <c:pt idx="2">
                  <c:v>26</c:v>
                </c:pt>
                <c:pt idx="3">
                  <c:v>35</c:v>
                </c:pt>
                <c:pt idx="4">
                  <c:v>44</c:v>
                </c:pt>
                <c:pt idx="5">
                  <c:v>53</c:v>
                </c:pt>
                <c:pt idx="6">
                  <c:v>62</c:v>
                </c:pt>
                <c:pt idx="7">
                  <c:v>71</c:v>
                </c:pt>
                <c:pt idx="8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自己建</c:v>
                </c:pt>
              </c:strCache>
            </c:strRef>
          </c:tx>
          <c:spPr>
            <a:ln w="38100">
              <a:solidFill>
                <a:srgbClr val="21816F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36</c:v>
                </c:pt>
                <c:pt idx="1">
                  <c:v>39</c:v>
                </c:pt>
                <c:pt idx="2">
                  <c:v>42</c:v>
                </c:pt>
                <c:pt idx="3">
                  <c:v>45</c:v>
                </c:pt>
                <c:pt idx="4">
                  <c:v>48</c:v>
                </c:pt>
                <c:pt idx="5">
                  <c:v>51</c:v>
                </c:pt>
                <c:pt idx="6">
                  <c:v>54</c:v>
                </c:pt>
                <c:pt idx="7">
                  <c:v>57</c:v>
                </c:pt>
                <c:pt idx="8">
                  <c:v>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CDE9E3"/>
            </a:solidFill>
          </a:ln>
        </c:spPr>
        <c:txPr>
          <a:bodyPr/>
          <a:lstStyle/>
          <a:p>
            <a:pPr>
              <a:defRPr sz="1000">
                <a:solidFill>
                  <a:srgbClr val="5E777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>
          <c:spPr>
            <a:ln>
              <a:solidFill>
                <a:srgbClr val="E7F2E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E7772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E7772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22D82-5AC2-4639-BCCB-33DE6BAB06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6D70-FD59-465F-BBA9-429F91A1AB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F7C33-68E8-47E0-ADF8-2CE8705721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7FD74-78BE-4F66-971B-354B57AE6F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今天向您汇报三件事：第一，数据平台要怎么建，让公司的数据理得清、算得准、管得住；第二，智能体，也就是能帮我们干活的 AI 助手，要怎么做、怎么卖、什么时候自己建平台；第三，这两件事打通以后，数据怎么在公司里转起来，越用越准。整体按能落地的思路讲，每一部分都会讲到具体做什么、怎么做、做成什么样。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结论，一页讲清楚。第一件事，数据平台：把公司的数据理清、算准、管住。具体就是定规矩、统一编号和口径、每天体检、管好权限，先从订单到核销到结算这条主线做起。第二件事，智能体：先借扣子、火山方舟、小Q 这些现成平台，几周就能做出来去卖，验证能赚钱；然后把跑通的产品快速铺到更多景区；规模起来后再自己建平台，更省钱、交付更快。第三件事，两者打通：业务产生的数据经过平台整理，给智能体和报表用，用完的结果再回到平台，数据越用越准。最下面是需要您拍板支持的几件事，最后一页会详细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今天的汇报分四部分：数据平台、智能体平台、两者打通后的 AI＋数据平台，最后是接下来要做的事和需要您支持的地方。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第一部分：数据平台，把数据理清、算准、管住。主要讲：现状与问题、手里的数据、怎么建、数据治理八步、治理保障、六个统一、建成后的变化。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先说现状。工具上：DataWorks 是数据加工的车间，我们已经买了开发、调度、找数、管资产、出数这几个核心模块；动态数据开放 API 是对内对外提供数据的窗口；小Q 用来看报表做分析；湖仓是存数据的仓库，部分模型已经建了。最重要的是每天的主流程已经通了：订单、游客、供应商这些核心数据，每天凌晨自动从原料一路加工成报表能用的成品。还没建的有五块：实时数据、数据质量检查、统一标签、指标口径管理、数据规范落地，这些就是接下来要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个问题都是平时真实遇到的，我按“平时什么样、为什么会这样”讲。一，数据散：想看售票加二消加结算的综合情况，要从三个以上系统导数、手工拼表，因为没有统一接入，景区、商品、渠道的编号各系统不一样。二，一个数多个答案：同一天同一个景区，看板、对账、接口三个地方核销量不一样，因为公司层面没有统一定义。三，没规矩：表名随意、字段没说明、没人负责，因为规范只在文档里，上线没人卡。四，重复干活：订单宽表离线和湖仓各做一份，结果不一样，因为没有统一的公共层。五，数字不准：入园、核销和现场对不上，节假日更明显，原因是补传、重复上报、撤销冲正、时间口径混用，又缺少逐层核对。六，看得慢：高峰期订单核销第二天才能看到，预警靠人盯，因为只有每天跑一次的离线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数据按业务分成八大块，叫数据域，每块里面再分主题。交易：订单、票务，比如订单数、销售额、核销次数；商品与资源：产品和库存，比如售罄率；用户：游客和会员，比如会员等级、复购倾向；合作方：供应商，比如履约率；流量营销：渠道和活动，比如转化率、活动回报；运营：日常运营，比如房态占用率；财务：结算对账；内部管理：系统任务、存储计算成本。每块数据都定了敏感等级，用户明细是最高级。目前订单、用户、供应商已经进了仓库，其他部分进入。现场设备、外部数据、AI 产生的数据后面要新增。难点不在数据量，而在节假日高峰、订单状态多次变化、设备离线补传、多景区之间的数据隔离。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这张图是整个数据平台的样子，从下往上看。最下面是数据从哪来：票务、订单、小程序、供应商、营销、渠道、设备和外部数据。往上是统一底座，就是数据仓库和加工车间，DataWorks 和每天的主流程已经有了，要补实时计算和湖仓存储。再往上是“算好的数”，也就是统一的指标和标签，小Q 用来看。再往上是数据服务，对外给数据的窗口，动态数据开放 API 已经有。再往上是 AI 能力，让 AI 能安全地用这些数据。最上面是谁在用：内部经营、景区运营、合作伙伴、行业报告、数据产品。右边的数据治理贯穿每一层。深色是已经有的，白色是要新建或升级的。整体思路就两句话：统一标准，治理写进研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治理具体怎么做？按这八步走，前面的是后面的基础。第一步数据标准，就是定规矩，表名、字段、码值全公司一个说法，并且有自动检查。第二步主数据，就是统一编号，景区、商品、渠道、供应商、游客全公司一个编号。第三步数据血缘，就是理清每个数从哪来、到哪去。第四步数据质量，每天自动体检，不合格的数拦在报表外面。第五步统一标签，也就是统一指标口径，一个指标一个算法，集团出标准。第六步权限安全，数据分级，谁的数据只服务谁。第七步资产运营，定期盘点，打健康分，没人用的下线。第八步数据分发，对内对外只走一个出口。其中第一、第五、第六步，分别在后面的统一规范、统一标签、统一权限里讲，不在这里重复。这八步都不是单独搞运动，而是写进日常开发流程，有专人负责、有考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件事，统一编号，专业叫主数据。以前同一个景区在票务、分销、财务系统里各有各的编号，拼数据时对不上。现在六类对象全公司统一编号：景区一个编码，集团、分园区、子景点分级挂靠；商品，票种、套票、二消商品统一编码，挂到景区；渠道，OTA、自营、分销、团队统一分类；供应商，同一个主体只建一个编码，多个账号挂在下面；游客，用手机号、证件号、会员号按规则归并成一个人，叫 OneID；区域直接用国家标准的行政区划码。做法是建一张对照表，把各系统的老编号映射到统一编号，之后所有报表、指标、标签只认统一编号。新建景区、商品、供应商时先查再建，变更要审批，并保留历史，旧报表还能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第三件事，建家谱，专业叫数据血缘。就是把每个数从哪来、经过了哪些加工、最后去了哪里，全部记下来，从业务系统一直打通到小Q 报表、开放接口和 AI 智能体。家谱有三个用处：第一，查错，报表数字不对，沿着家谱往上查，很快找到哪一层出了问题；第二，改之前先评估，要改一张表或改一个口径，先查下游有哪些报表和接口会受影响，提前通知负责人；第三，清理，没有下游、没人访问的表和任务，进入下线清单。家谱里记三类信息：技术信息，比如表结构、存储量，系统自动采集；业务信息，比如含义、口径、负责人、安全等级，开发填、专员审；运行信息，比如几点产出、跑了多久、多少人在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件事，每天体检，专业叫数据质量。检查分五项：完整，比如订单号、景区编号不能空，日订单量比近七天平均波动超过三成就报警；准确，比如金额不能是负数，核销时间不能早于下单时间；一致，比如仓库里的订单金额汇总要和业务系统对得上；及时，比如核心报表每天七点前必须算完；唯一，比如同一张票不能重复核销。规则分强弱两档：强规则用在订单、核销、结算和对外接口这些核心表上，不通过就把下游全部拦住，通知负责人，当天修好；弱规则用在一般表上，只提醒不拦，一周内修好。每个问题都登记问题单，同类问题出现两次就补一条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个最常见的例子：核销量。为什么以前各处对不上？第一个原因是四个数经常混着用：核销次数、有效核销票数、入园人次、去重游客数，其实是四个不同的数，比如一个人一张年卡一天进出三次，核销次数是三，入园人次是三，去重游客数是一。第二步，从闸机、手持机，到业务系统，到仓库明细、汇总，再到报表和接口，每一层都按景区加日期对一次数。第三步，对不上就自动报警，查原因、修复、重算。常见的原因有四个：设备离线后补传、重复上报、撤销冲正、按下单时间还是核销时间统计混用了。核销做通了，就是一个样板，同样的方法复制到销售额、入园人数等其他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七步和第八步放在一起讲。资产运营，就是定期盘点：每月按负责人、按业务给数据资产打健康分，看规范、质量、安全、使用、成本五个方面，公示排名。九十天没人访问、没有下游、重复的、临时的表，先通知负责人，先停用观察三十天，没人反馈再删除，有人反馈就恢复。这样存储和计算成本能降下来。数据分发，就是统一出口：以后对内对外的数据都从动态数据开放 API 一个窗口出去，同时提供认证指标和标签，统一鉴权、按景区隔离、按调用计量，不再点对点导数、私接数据库。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步怎么保证真正落实？靠三样东西。第一，写进流程：事前定规范，需求先确认口径、设计做模型评审；事中设卡点，发布时脚本自动检查、运行时质量检查不合格就拦住；事后做治理，健康分、整改、复盘。第二，有人负责：数据治理小组拍板口径争议和规范；数据负责人制定方案、跨部门协调、对健康分负责；每个业务线有一名业务数据专员确认口径和验收；治理专员维护标准和规则；架构师和开发负责落地。第三，有考核：两周一次口径评审，每月公示健康分，每季度复盘；试点主线定几个硬目标，比如新表规范符合率百分之百、核心报表按时产出不低于百分之九十九、老板看板全用认证指标、核销量各出口零差异。先把现在的基线测出来，再定目标；看实际使用和业务结果，不看上了多少看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讲的是怎么治，治理的结果最终落在六个统一上。统一规范：以前规范只写在文档里，以后不合规的表发不出去。统一底座：以前订单核销第二天才能看到，以后分钟级看到。统一标签，也就是统一指标：以前报表、接口、AI 各说各的，以后三处数字一致。统一权限：以前权限各管各的，以后一套规则管住所有出口。标签复用：以前各部门各做一套，以后一个游客一个身份，一处加工到处用。自助分析：以前要找数据团队要数，以后业务自己查、自己看。推进方式是：先在订单、核销、结算主线试点，按统接入、统建模、统开发、统服务的顺序推；老模型先双跑对比再切换，可以回退。后面每个统一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第一个统一，统一规范，对应治理的第一步数据标准。先说定什么规矩：表名像身份证号，比如 dwd_ord_order_item_di，拆开就是“洗干净”这一层、订单业务、订单明细、每天增量，一看就懂；字段统一叫法，景区全公司都叫 scenic_id，金额都以 amt 结尾；票种、渠道类型、订单状态这些码值建公共码表，不在代码里写死；建表有 8 项必填，比如负责人、安全等级。再说怎么让规矩落地，三招：新建的卡住，发布前脚本自动检查，不合规直接打回；老的分批改，核心表优先，改名保留兼容视图、下游不受影响，缺描述的用 AI 先补；持续有人管，资产健康分每月公示。阿里云的数据标准模块我们没买，先用规范文档加发布前检查脚本实现，不额外花钱。衡量标准是新表规范符合率百分之百。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第二个统一，统一底座。数据从业务库、渠道接口、设备事件、行为日志、外部数据进来，先经过统一接入，定好接入规范、对象编号和负责人。然后进入湖仓一体的底座：每天算的离线计算用 DataWorks，实时计算订单和核销先做；从原料到成品分层加工，共用同一套业务定义和质量规则。最后通过分析查询，提供给小Q、开放接口和 AI。另外把离线和湖仓合一：以前同一个指标离线做一份、湖仓做一份，结果不一样；以后公共层只建一次，改口径只改一处。合并的做法是：盘点重叠的模型、确定保留哪一版、下游改成引用它、双跑对比没问题再下线重复的。最终效果是订单核销从第二天才能看到变成分钟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统一，统一标签，这里的标签也就是指标，对应治理的第五步。三件事。第一，口径说清楚：每个指标拆成算什么、加什么条件、什么时间、按什么看四件事，比如“近七天线上渠道成人票支付金额，按景区”，就不会有两种算法。新指标要认证：数据团队起草、业务负责人确认、治理小组拍板、发布并记录版本。第二，两级体系：集团出一套企业标准指标，全公司一个口径；不够用时，景区在自己的空间里自定义，相互隔离，不能和标准同名、不能覆盖标准；好用的评审后沉淀为企业标准。第三，同一个出口：所有指标从同一个出口提供给小Q 报表、动态数据开放 API 和 AI 问数，所以三处数字一致，开会不用先对数。只有认证过的指标和标签才能进老板看板、接口和 AI。衡量看认证指标覆盖率，核销量各出口零差异。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个统一，统一权限，对应治理的第六步。先分级：高敏是手机号、证件号、人脸、政务核验结果，加密、打码，明文不进大模型；敏感是单景区经营数据、价格、结算，按景区和供应商隔离；内部是日志、设备状态，内部按角色授权；公开是已发布的报告。再看谁能看什么：集团管理层看汇总，看不到个人明细；数据团队敏感数据按项目授权，高敏审批后打码使用；景区只看本景区；供应商只看本供应商；外部伙伴只拿匿名汇总；AI 智能体不单独开权限，继承提问人的权限。底线是谁的数据只服务谁，对外只给匿名汇总。权限从申请、审批、授权、使用到回收是一个闭环，到期自动收回，每季度复核。数据仓库、数据地图、开放接口、小Q、标签平台、AI 都用这同一套规则。安全中心模块没买，先用计算引擎权限加打码视图实现。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第五个，标签复用。第一件事是认清“谁是谁”：同一个游客，可能在订单里是一个手机号，在会员里是一个会员号，在年卡和人脸识别里又是另外的记录，我们按规则把这些归并成同一个游客，叫 OneID。第二件事是标签只在一个地方加工：统一生产，基于公共模型加工；统一管理，有口径、有负责人、有生命周期；统一服务，营销、分析、AI 和景区都从这里取，不再各部门各做一套。标签覆盖游客和会员、供应商、景区、渠道、商品，类型有基础属性、统计类、规则类、模型预测类。边界也要讲清楚：景区只能用本景区的标签，不做敏感个人信息的标签，对外不提供个人层面的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第六个，自助分析。以前业务要看数据，要找数据团队提需求、等取数。以后从统一的模型、指标、标签出发，业务在小Q 上自己分析：搜指标、看明细、做计算、搭自己的看板、订阅报表，总部经营、各业务线、景区都能用。AI 问数和报表用的是同一套指标定义和权限，所以问出来的数和报表一致。数据团队从天天帮人取数、对数，转向建模型、做分析。最终的产出是：企业指标中心、景区专属指标空间、统一标签服务、统一语义服务和自助分析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各个业务线，变化很具体。管理层：驾驶舱全部用认证过的指标，不用先对数。票务：核销口径统一，有差异自动定位，节假日实时看数。财务：业务和财务逐层对账，差异自动列出原因。渠道：销量、佣金、返利口径统一。营销：用标签圈人、用指标看效果，活动复盘自动完成。运营和客户成功：景区经营报告自动生成。产品研发：上线前定好埋点和口径，上线就有数据。数据团队：从天天帮人取数对数，转向建模型、做分析。景区和供应商：直接用集团标准的指标和标签，不够用可以在自己的空间里加。这些也为第二部分打基础：数据可信、有口径、有权限，AI 接上去才能答得准。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第二部分：智能体平台，围绕三个目标，一条线建下去。主要讲：现状与底气、能做哪些、建设思路、跑通商业模式、快速占领市场、建自己的平台、风险与底线。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先解释一下智能体：就是能听懂问题、还能帮你办事的 AI 助手，比如游客问几点开园，它能回答，还能直接帮他买票。我们现在已有的智能体来自三个地方。第一类是在字节的扣子平台上，用工作流配置出来的：智能助手、智能客服、智能导览、AI 旅拍、AI 伴游，主要给游客用，已经是标准化产品，可以配置化输出。第二类是和合作企业一起做的手语服务，给听障游客用。第三类是小Q 自带的 AI 能力，智能问数和智能数据解读，给景区和内部管理者用。右边是一个游客对话的示意。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我们做智能体，有三个别人很难复制的底气。第一，产品积累：这么多年做了智慧票务、景区业态管理、运营管理、财务管理、智慧终端、AI 数字大脑、畅游 AI、会员营销多条产品线，系统就装在景区现场。第二，数据在手里：交易和客流、售票分销库存价格、九大业态、年卡预约候补、订单结算发票、会员营销、闸机和物联设备、工单和推送，再加上第一部分治理好的指标和标签。第三，客户在用：大量景区已经在用我们的票务系统，接口现成，基本不用开发就能开通，信任也已经有了，成交最快。所以别人只能做通用聊天，我们能做真正帮景区和游客办事的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先看游客这一端，按游客的一次出游来看。游前：游客要咨询、规划行程、买票预约、候补，对应智能客服、智能助手这两个已有的，可以扩展 AI 旅游规划、AI 智能购票、预约与候补提醒。游中：入园核验、导览讲解、陪伴互动、无障碍服务、乐园项目、演出、游船、餐饮购物、停车，对应已有的智能导览、AI 伴游、手语，可以扩展乐园排队与项目推荐、演出选座推荐、餐饮二消推荐、停车引导、自助机语音购票。游后：拍照留念、游记分享、点评反馈、年卡复游、积分权益，对应已有的 AI 旅拍，可以扩展游记与行程总结、点评分享助手、年卡服务助手。这些都要做，只是先后顺序不同。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再看景区这一端，按景区的业务来看。经营分析：已有 AI 智能问数和智能洞察，可以扩展经营日报周报、报表解读。票务运营：票务 AI 运营助手、分销渠道助手、旅行社报团助手、检票异常解释、窗口售票员助手。业态运营：业态经营助手，覆盖乐园、演出、游船、酒店、温泉、餐饮、停车。运营服务：消息通知预警、工单调度处置。财务：AI 对账助手、发票助手。营销：会员画像、人群圈选、营销文案生成、推广员助手、活动复盘。安全调度：也就是景区 AI 调度中枢，旅游安全、秩序治理、车辆调度、游船调度、森林防火、生态监测、气象服务、设施监测。设备终端：设备运维诊断。这些系统都是我们自己的，扩展有基础。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体怎么建？我们围绕三个目标来做：第一，跑通商业模式，就是确认能卖、能赚钱；第二，快速占领市场，就是铺得快、交付快；第三，建成自己的平台，就是更省钱、更可控、形成壁垒。建设流程是一条线走下来的：先选价值最高的场景，借扣子、火山方舟、羚羊小Q 这些成熟平台快速搭出来，在标杆景区试点验证，把定价和交付方式定下来，这是为了跑通商业模式；然后按业态把产品做成标准模板快速复制，同时把知识、接口、数据沉淀在自己手里，这是为了快速占领市场；等时机成熟，以数字大脑作为管理台建自己的平台，再把客户平稳迁过来。整个过程中有几件事一直要做：借平台但不交资产，数据从第一天回流，守住安全底线，培养自己的 AI 团队，用成本数据判断什么时候自建。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跑通商业模式，先回答五个问题。卖给谁：哪类景区最需要、最愿意付钱。卖什么：哪些智能体组合成一个包，景区最认。怎么收钱：随票务打包、年费订阅、按效果分成、按用量，下一页细讲。花多少钱：平台调用费、交付人力、运营支持。值不值：景区看得到价值，少用人工、多卖票、游客更满意。最后归结为右边这一笔账：一个景区一年的收入，减去平台调用费、交付成本的摊销、运营支持，大于零，才算能赚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收钱，有四种方式。随票务打包：作为票务系统的增值模块，提高票务年费，适合已经用我们票务的景区，要验证能不能提升续约率和客单价。年费订阅：按景区规模或智能体数量分档收年费，适合新客户、单独采购，要验证景区能接受的价位。按效果分成：按 AI 带来的购票和二消收入分成，适合购票、营销类智能体，要验证增量能不能算清楚。按用量：按对话量或调用量收费，适合大客流景区，要验证景区能不能接受账单波动。建议验证期同时试前两种。景区认的价值有四个，每个都要能用数据证明：少用人工，看智能体解决咨询的比例和省下的客服人力；多卖票，看智能体带来的线上购票和二消订单；游客更满意，看满意度、差评率、排队等待；管理更省心，看报表、对账、预警的人工时间减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验证？四件事。挑标杆：从已经用我们票务的景区里挑，覆盖主要业态，有配合意愿、客流有代表性。快速搭：在成熟平台上把现有智能体搭起来，再加价值最高的新场景，比如智能购票。跑一个旺季：节假日客流最能检验效果和成本。数据回流：对话、转人工、评价、订单从第一天进数据平台，结论靠数据说话。怎样算跑通？五条：用起来，标杆景区持续在用、问题解决率达标；有价值，景区认可的指标有提升；愿付费，有景区按拟定价格付费或明确续费；能赚钱，单景区收入覆盖平台费、交付和运营；可复制，不靠核心研发、按标准流程就能上线。五条都满足，就把模板、定价、交付流程定型，转入规模复制；没过关就调整场景组合或定价再验一轮，还不行的场景停掉，不硬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模式跑通以后，要快速占领市场。先说打哪些客户。第一类，已经用我们票务的景区：随票务续约一起推，开通就能用，因为系统已经对接，基本零开发，信任也有，成交最快。第二类，同业态景区：用标杆案例按业态复制，场景相同，模板直接复用。第三类，新客户：智能体作为差异化卖点，带动票务签约，用 AI 撬动新客户。业态上，先做客流大、咨询多、线上购票比例高的：山岳、主题乐园、古镇街区；再到博物馆、温泉度假、游船演出。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复制得快？关键是标准化。上线流程六步：签约、选已经验证过的模板、配本景区的知识、绑定入口、测试验收、上线运营。右边是五个环节怎么标准化：产品按业态出模板，景区之间的差异全部做成配置；知识采集用统一的采集表，景区填、实施审；系统接入，已用我们票务的景区接口是现成的；实施有手册和培训，实施人员和渠道伙伴都能独立交付；验收有统一测试清单，跑完就上线。同时每做一个景区，都在沉淀场景模板、知识结构、业务接口、交付经验、需求清单和交互数据，为将来自建平台做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销售和续费怎么做？四个环节。销售：票务销售团队带单，智能体纳入销售考核，区域渠道伙伴代理。案例：每类业态的标杆做成案例，用数据讲效果。客户成功：上线后定期给景区出效果报告，比如解决了多少咨询、带来了多少订单、转人工率多少，促进续费。升级：模板统一升级，所有景区同步受益，增加粘性。右边是效果报告的样子，这是示意，具体数字由系统自动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托外部平台的同时，有六样东西必须留在自己手里，这是将来自建平台能低成本切过去的前提。一，景区知识：按我们自己的结构存一份，不只存在外部平台，以后直接导入自建平台。二，业务接口：售票、订单、核销、会员这些接口由我们自己封装成服务，外部平台只是调用，以后平台直接复用。三，模板设计：每个模板的流程、提示词、配置项写成文档，以后迁入模板库。四，交互数据：对话、评价、转人工记录回流到数据平台，用来做测试题、优化效果。五，成本数据：按景区、按智能体记录每月平台费用，用来判断什么时候该自建。六，需求清单：记录客户要、但平台做不了的功能，这就是自建平台的需求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最终要自建？借平台在起步时最划算，但景区越多，平台费越高、交付受平台限制、数据和知识留在别人那里、平台调价改规则直接影响我们。自己建平台，对公司意味着什么？六个方面对比。成本：借平台按调用、账号收费，随景区数增长；自建只付模型调用和自身运维，单景区成本下降，规模越大利润越高。交付周期：借平台每个景区要在外部平台单独配置调试；自建集团建一次，景区开通即用，省交付人天，上线更快，能承接更多景区。定制能力：借平台个性需求受限；自建可以自主扩展，能接大客户和个性项目。数据资产：借平台工作流、知识、对话数据在外部；自建全部在自己手里，回流数据平台，越用越准。风险：借平台调价改规则直接影响报价；自建自主可控，模型可替换，经营稳定。竞争力：借平台谁都能做；自建是业务系统加数据加平台一体，形成壁垒，提高续约和客单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什么时候自己建？看左边这张示意图：继续用成熟平台，平台费随景区数量线性上涨；自己建，前期有一笔建设投入，之后主要是模型调用和运维，涨得慢。两条线交叉的地方，就是该自建的时候。具体看五个信号：成本交叉，用前面记录的成本数据测算，自建总成本已经更低；平台费占比上升，平台费占智能体收入的比例持续上升，压缩利润；场景稳定，主力智能体模板已经稳定，不再频繁大改；平台限制丢单，个性需求或大客户项目因为平台限制接不了；合规要求，景区或管理方要求数据不出域。满足任意两条，就启动自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建不是什么都自己做。大模型不自研，直接调用模型服务，多家可以替换，因为投入太大，也不是我们的优势。语音、图像、数字人、手语这些专业能力，采购或者合作，自建不划算。编排引擎，就是让智能体按流程干活的引擎，用开源框架二次开发，不从零写，缩短周期。真正要自建的是三样：智能体管理台、能力与知识、业务工具，因为它们承载着我们的业务、数据和交付方式，是壁垒所在。数据服务直接复用第一部分的数据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自建平台长这样，从上往下看。最上面是渠道入口：畅游小程序、票付通 APP、景数通、公众号小程序、智慧终端都已经有了，再自建开放接口。往下是智能体应用：游客服务、景区管理、票务财务、安全调度、精准营销，按场景模板生成，自建。核心是智能体管理台，就是数字大脑，自建：一半是搭建，模板库、可视化编排、配置化生成、多智能体协同、测试与发布；一半是运营，集团和景区多租户、权限、运行监控、费用计量到景区、效果评估。再往下是能力层：业务工具中心、景区知识库、游客记忆与画像、测试用例库自建，数据服务复用。引擎层：编排和检索用开源改造，模型网关和内容安全自建，模型网关能统一接各家模型、路由、降级、计量。外部能力：大模型多家可替换，语音图像数字人、手语、小Q 采购或合作。最底下数据底座复用第一部分。前期留在手里的知识、接口、模板、交互数据，直接搬进能力层和管理台。四条产品线的智能体，最后都在这个平台上统一搭建、运营、计量和评估。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从借平台切到自建平台？五步，不搞一刀切。第一步，核心先上：先把核心模块和主力智能体放到自建平台。第二步，对比验证：用同一套测试题对比，效果不低于成熟平台才切。第三步，新增先上：新签的景区直接上自建平台。第四步，存量随续约迁移：老景区在续约时逐个迁移，双轨运行，随时可以回退。第五步，成熟平台转为补充：外部平台不是一下子不用，而是变成补充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风险方面主要有四个，都有应对。投入超预期：小团队先做核心模块，跟着迁移进度分批投入。外部平台调价或停服：资产在自己手里，模型多家可替换，随时能切。团队能力不足：前期就开始培养自己的 AI 应用团队，自建时延续。需求变化快：模板化、配置化，景区差异放在配置里，不改代码。另外，智能体从第一天起就要守住四条底线：只用授权数据，数据按景区隔离；退款、调度这些关键动作要人工确认；手机号、证件号不进对话和知识库，展示时打码；价格和退改规则以系统为准，答不了就转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第三部分：AI＋数据平台，数据在公司里转起来，越用越准。主要讲：数据怎么流转、一张门票的例子。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这张图把前面两部分串起来，从下往上看。最下面是产数：智慧票务、九大业态、景区运营、财务、智慧终端、畅游 AI、会员营销、数字大脑这些业务系统，每天产生交易、核销、客流、设备、会员、财务数据，第一步进入数据平台。第二层是治数，也就是第一部分的数据平台：统一接入，离线加实时；湖仓公共模型；算成认证的指标、标签和景区知识；再通过开放接口和小Q 提供出去，治理贯穿全程。第三层是办事，也就是第二部分的智能体：游客端的客服、导览、伴游、旅拍、规划、购票，景区端的问数、洞察、运营、对账、预警、调度；报表和接口也直接用数。最上面是用数：游客用小程序、公众号、自助终端，景区用景数通、票付通 APP、景区 SaaS，内部是管理层和业务线。最关键是右边：用的过程中产生的问答记录、游客评价、转人工、预警和工单结果、使用行为，回流到数据平台；整理好的指标、标签、洞察再反哺业务系统，调定价、做营销、优化调度。这样数据越用越多、越用越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个例子，一张门票的数据旅程。第一步，游客买票入园，售票和闸机核销产生数据。第二步，订单、核销、客流进入数据平台。第三步，平台算出实时客流这样的指标，也给游客打上偏好标签。第四步，智能体办事：客流接近预约上限时提前预警，推送给现场工作人员处置；同时根据游客偏好推荐餐饮、演出等二次消费。第五步，处置结果和推荐转化回流到平台。第六步，反哺业务：景区据此调整预约名额、调整营销活动。右边是工作人员在票付通 APP 上收到预警的示意。这一圈下来，游客体验更好，景区多卖钱、少出事，我们的数据和智能体也更准了。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说接下来。先做三件事。第一，数据：在订单到核销到结算这条主线上试点治理，定口径、上卡点、做逐层核对，先把核销量这些关键数字做准，同时把订单核销的实时链路建起来。第二，智能体：挑已经用我们票务的景区做标杆，在成熟平台上搭好现有智能体，加上高价值的新场景，跑一个完整旺季，同时试随票务打包和年费订阅两种收费。第三，打通：智能体统一从数据平台取数，对话、评价、转人工等数据从第一天回流，知识、接口、模板、成本数据留在自己手里。需要您支持四件事：一，口径谁拍板，建议成立数据治理小组，有争议时有人定；二，规范强制执行，不合规的数据不上线，这需要公司层面授权；三，标杆景区和销售团队的配合，智能体纳入销售考核；四，什么时候自己建平台，我们定期用成本数据评估，由您来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汇报完毕，请您指示。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51pptmoba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 descr="D:\51PPT模板网\51pptmoban.com\图片.jpg"/>
          <p:cNvSpPr/>
          <p:nvPr userDrawn="1"/>
        </p:nvSpPr>
        <p:spPr>
          <a:xfrm>
            <a:off x="423596" y="310586"/>
            <a:ext cx="11360684" cy="6248520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7" name="十字形 6" descr="D:\51PPT模板网\51pptmoban.com\图片.jpg"/>
          <p:cNvSpPr/>
          <p:nvPr userDrawn="1"/>
        </p:nvSpPr>
        <p:spPr>
          <a:xfrm>
            <a:off x="11082528" y="5943600"/>
            <a:ext cx="530352" cy="530352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/>
          <p:cNvSpPr/>
          <p:nvPr userDrawn="1"/>
        </p:nvSpPr>
        <p:spPr>
          <a:xfrm>
            <a:off x="11725488" y="6473128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 descr="D:\51PPT模板网\51pptmoban.com\图片.jpg"/>
          <p:cNvSpPr/>
          <p:nvPr userDrawn="1"/>
        </p:nvSpPr>
        <p:spPr>
          <a:xfrm>
            <a:off x="11592982" y="5262342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3" name="十字形 12" descr="D:\51PPT模板网\51pptmoban.com\图片.jpg"/>
          <p:cNvSpPr/>
          <p:nvPr userDrawn="1"/>
        </p:nvSpPr>
        <p:spPr>
          <a:xfrm>
            <a:off x="174032" y="983864"/>
            <a:ext cx="448328" cy="448328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5" name="十字形 14"/>
          <p:cNvSpPr/>
          <p:nvPr userDrawn="1"/>
        </p:nvSpPr>
        <p:spPr>
          <a:xfrm>
            <a:off x="1129787" y="214733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838200" y="5267144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B0DED4"/>
                </a:solidFill>
              </a:rPr>
              <a:t>51PPT模板网，幻灯片演示模板及素材免费下载！</a:t>
            </a:r>
            <a:endParaRPr lang="zh-CN" altLang="en-US" dirty="0">
              <a:solidFill>
                <a:srgbClr val="B0DED4"/>
              </a:solidFill>
            </a:endParaRPr>
          </a:p>
          <a:p>
            <a:r>
              <a:rPr lang="zh-CN" altLang="en-US" dirty="0">
                <a:solidFill>
                  <a:srgbClr val="B0DED4"/>
                </a:solidFill>
              </a:rPr>
              <a:t>51PPT模板网 唯一访问网址：www.51pptmoban.com。</a:t>
            </a:r>
            <a:endParaRPr lang="zh-CN" altLang="en-US" dirty="0">
              <a:solidFill>
                <a:srgbClr val="B0DED4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image" Target="../media/image2.jpeg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21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png"/><Relationship Id="rId4" Type="http://schemas.openxmlformats.org/officeDocument/2006/relationships/image" Target="../media/image20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Relationship Id="rId4" Type="http://schemas.openxmlformats.org/officeDocument/2006/relationships/image" Target="../media/image3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38.png"/><Relationship Id="rId8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3.png"/><Relationship Id="rId6" Type="http://schemas.openxmlformats.org/officeDocument/2006/relationships/image" Target="../media/image40.png"/><Relationship Id="rId7" Type="http://schemas.openxmlformats.org/officeDocument/2006/relationships/image" Target="../media/image34.png"/><Relationship Id="rId8" Type="http://schemas.openxmlformats.org/officeDocument/2006/relationships/image" Target="../media/image5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57.png"/><Relationship Id="rId7" Type="http://schemas.openxmlformats.org/officeDocument/2006/relationships/image" Target="../media/image62.png"/><Relationship Id="rId8" Type="http://schemas.openxmlformats.org/officeDocument/2006/relationships/image" Target="../media/image5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0.png"/><Relationship Id="rId4" Type="http://schemas.openxmlformats.org/officeDocument/2006/relationships/image" Target="../media/image36.png"/><Relationship Id="rId5" Type="http://schemas.openxmlformats.org/officeDocument/2006/relationships/image" Target="../media/image71.png"/><Relationship Id="rId6" Type="http://schemas.openxmlformats.org/officeDocument/2006/relationships/image" Target="../media/image37.png"/><Relationship Id="rId7" Type="http://schemas.openxmlformats.org/officeDocument/2006/relationships/image" Target="../media/image22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3.png"/><Relationship Id="rId11" Type="http://schemas.openxmlformats.org/officeDocument/2006/relationships/image" Target="../media/image35.png"/><Relationship Id="rId12" Type="http://schemas.openxmlformats.org/officeDocument/2006/relationships/image" Target="../media/image5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74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7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6.png"/><Relationship Id="rId4" Type="http://schemas.openxmlformats.org/officeDocument/2006/relationships/image" Target="../media/image65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3.png"/><Relationship Id="rId13" Type="http://schemas.openxmlformats.org/officeDocument/2006/relationships/image" Target="../media/image63.png"/><Relationship Id="rId14" Type="http://schemas.openxmlformats.org/officeDocument/2006/relationships/image" Target="../media/image84.png"/><Relationship Id="rId15" Type="http://schemas.openxmlformats.org/officeDocument/2006/relationships/image" Target="../media/image85.png"/><Relationship Id="rId16" Type="http://schemas.openxmlformats.org/officeDocument/2006/relationships/image" Target="../media/image86.png"/><Relationship Id="rId17" Type="http://schemas.openxmlformats.org/officeDocument/2006/relationships/image" Target="../media/image64.png"/><Relationship Id="rId18" Type="http://schemas.openxmlformats.org/officeDocument/2006/relationships/image" Target="../media/image66.png"/><Relationship Id="rId19" Type="http://schemas.openxmlformats.org/officeDocument/2006/relationships/image" Target="../media/image60.png"/><Relationship Id="rId20" Type="http://schemas.openxmlformats.org/officeDocument/2006/relationships/image" Target="../media/image21.png"/><Relationship Id="rId21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0.png"/><Relationship Id="rId4" Type="http://schemas.openxmlformats.org/officeDocument/2006/relationships/image" Target="../media/image65.png"/><Relationship Id="rId5" Type="http://schemas.openxmlformats.org/officeDocument/2006/relationships/image" Target="../media/image77.png"/><Relationship Id="rId6" Type="http://schemas.openxmlformats.org/officeDocument/2006/relationships/image" Target="../media/image50.png"/><Relationship Id="rId7" Type="http://schemas.openxmlformats.org/officeDocument/2006/relationships/image" Target="../media/image91.png"/><Relationship Id="rId8" Type="http://schemas.openxmlformats.org/officeDocument/2006/relationships/image" Target="../media/image83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Relationship Id="rId4" Type="http://schemas.openxmlformats.org/officeDocument/2006/relationships/image" Target="../media/image76.png"/><Relationship Id="rId5" Type="http://schemas.openxmlformats.org/officeDocument/2006/relationships/image" Target="../media/image97.png"/><Relationship Id="rId6" Type="http://schemas.openxmlformats.org/officeDocument/2006/relationships/image" Target="../media/image71.png"/><Relationship Id="rId7" Type="http://schemas.openxmlformats.org/officeDocument/2006/relationships/image" Target="../media/image9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0.png"/><Relationship Id="rId4" Type="http://schemas.openxmlformats.org/officeDocument/2006/relationships/image" Target="../media/image95.png"/><Relationship Id="rId5" Type="http://schemas.openxmlformats.org/officeDocument/2006/relationships/image" Target="../media/image101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2.png"/><Relationship Id="rId4" Type="http://schemas.openxmlformats.org/officeDocument/2006/relationships/image" Target="../media/image1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77.png"/><Relationship Id="rId8" Type="http://schemas.openxmlformats.org/officeDocument/2006/relationships/image" Target="../media/image69.png"/><Relationship Id="rId9" Type="http://schemas.openxmlformats.org/officeDocument/2006/relationships/image" Target="../media/image27.png"/><Relationship Id="rId10" Type="http://schemas.openxmlformats.org/officeDocument/2006/relationships/image" Target="../media/image105.png"/><Relationship Id="rId11" Type="http://schemas.openxmlformats.org/officeDocument/2006/relationships/image" Target="../media/image10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7.png"/><Relationship Id="rId4" Type="http://schemas.openxmlformats.org/officeDocument/2006/relationships/image" Target="../media/image76.png"/><Relationship Id="rId5" Type="http://schemas.openxmlformats.org/officeDocument/2006/relationships/image" Target="../media/image54.png"/><Relationship Id="rId6" Type="http://schemas.openxmlformats.org/officeDocument/2006/relationships/image" Target="../media/image108.png"/><Relationship Id="rId7" Type="http://schemas.openxmlformats.org/officeDocument/2006/relationships/image" Target="../media/image44.png"/><Relationship Id="rId8" Type="http://schemas.openxmlformats.org/officeDocument/2006/relationships/image" Target="../media/image9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72.png"/><Relationship Id="rId6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11.png"/><Relationship Id="rId8" Type="http://schemas.openxmlformats.org/officeDocument/2006/relationships/image" Target="../media/image97.png"/><Relationship Id="rId9" Type="http://schemas.openxmlformats.org/officeDocument/2006/relationships/image" Target="../media/image1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6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chart" Target="../charts/chart1.xml"/><Relationship Id="rId4" Type="http://schemas.openxmlformats.org/officeDocument/2006/relationships/image" Target="../media/image9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Relationship Id="rId8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51.png"/><Relationship Id="rId6" Type="http://schemas.openxmlformats.org/officeDocument/2006/relationships/image" Target="../media/image96.png"/><Relationship Id="rId7" Type="http://schemas.openxmlformats.org/officeDocument/2006/relationships/image" Target="../media/image3.png"/><Relationship Id="rId8" Type="http://schemas.openxmlformats.org/officeDocument/2006/relationships/image" Target="../media/image5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3.png"/><Relationship Id="rId4" Type="http://schemas.openxmlformats.org/officeDocument/2006/relationships/image" Target="../media/image31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5.png"/><Relationship Id="rId4" Type="http://schemas.openxmlformats.org/officeDocument/2006/relationships/image" Target="../media/image116.png"/><Relationship Id="rId5" Type="http://schemas.openxmlformats.org/officeDocument/2006/relationships/image" Target="../media/image90.png"/><Relationship Id="rId6" Type="http://schemas.openxmlformats.org/officeDocument/2006/relationships/image" Target="../media/image62.png"/><Relationship Id="rId7" Type="http://schemas.openxmlformats.org/officeDocument/2006/relationships/image" Target="../media/image128.png"/><Relationship Id="rId8" Type="http://schemas.openxmlformats.org/officeDocument/2006/relationships/image" Target="../media/image118.png"/><Relationship Id="rId9" Type="http://schemas.openxmlformats.org/officeDocument/2006/relationships/image" Target="../media/image5.png"/><Relationship Id="rId10" Type="http://schemas.openxmlformats.org/officeDocument/2006/relationships/image" Target="../media/image7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8.png"/><Relationship Id="rId6" Type="http://schemas.openxmlformats.org/officeDocument/2006/relationships/image" Target="../media/image12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4110227" y="4385650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500" dirty="0" b="1">
                <a:solidFill>
                  <a:srgbClr val="21816F"/>
                </a:solidFill>
                <a:latin typeface="微软雅黑"/>
                <a:ea typeface="微软雅黑"/>
                <a:cs typeface="+mn-ea"/>
                <a:sym typeface="+mn-lt"/>
              </a:rPr>
              <a:t>把数据用起来，让 AI 帮我们干活</a:t>
            </a:r>
            <a:endParaRPr lang="zh-CN" altLang="en-US" sz="1100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99979" y="1850427"/>
            <a:ext cx="83920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 b="1">
                <a:solidFill>
                  <a:srgbClr val="2CAB93"/>
                </a:solidFill>
                <a:latin typeface="微软雅黑" pitchFamily="2" charset="-122"/>
                <a:ea typeface="微软雅黑" pitchFamily="2" charset="-122"/>
              </a:rPr>
              <a:t>AI＋</a:t>
            </a:r>
            <a:r>
              <a:rPr lang="zh-CN" altLang="en-US" sz="5400" dirty="0" b="1">
                <a:solidFill>
                  <a:srgbClr val="1F3A35"/>
                </a:solidFill>
                <a:latin typeface="微软雅黑" pitchFamily="2" charset="-122"/>
                <a:ea typeface="微软雅黑" pitchFamily="2" charset="-122"/>
              </a:rPr>
              <a:t>数据平台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5056"/>
            <a:chOff x="1253246" y="4118390"/>
            <a:chExt cx="4313944" cy="315056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汇报：票付通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数据平台  /  智能体平台  /  AI＋数据平台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00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一页说清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我们要做的三件事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数据是底子，智能体是抓手，两者打通才能越用越好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02  ·  AI＋数据平台 · 汇报要点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67834"/>
            <a:ext cx="3181258" cy="3237433"/>
          </a:xfrm>
          <a:prstGeom prst="roundRect">
            <a:avLst>
              <a:gd name="adj" fmla="val 390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967834"/>
            <a:ext cx="3181258" cy="1020013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766105"/>
            <a:ext cx="3181258" cy="22174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16060" y="2074270"/>
            <a:ext cx="1064361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pic>
        <p:nvPicPr>
          <p:cNvPr id="48" name="Picture 47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351" y="2145228"/>
            <a:ext cx="443484" cy="44348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216060" y="2553233"/>
            <a:ext cx="27377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060" y="3120892"/>
            <a:ext cx="273777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微软雅黑"/>
                <a:ea typeface="微软雅黑"/>
              </a:rPr>
              <a:t>把数据理清、算准、管住</a:t>
            </a:r>
          </a:p>
        </p:txBody>
      </p:sp>
      <p:pic>
        <p:nvPicPr>
          <p:cNvPr id="51" name="Picture 5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3617595"/>
            <a:ext cx="195132" cy="1951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499890" y="3564376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定规矩、统一编号和口径</a:t>
            </a:r>
          </a:p>
        </p:txBody>
      </p:sp>
      <p:pic>
        <p:nvPicPr>
          <p:cNvPr id="53" name="Picture 5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4016730"/>
            <a:ext cx="195132" cy="19513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99890" y="3963512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每天自动体检，错数拦在报表外</a:t>
            </a:r>
          </a:p>
        </p:txBody>
      </p:sp>
      <p:pic>
        <p:nvPicPr>
          <p:cNvPr id="55" name="Picture 54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4415866"/>
            <a:ext cx="195132" cy="19513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99890" y="4362648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订单、核销从第二天看到变成分钟级</a:t>
            </a:r>
          </a:p>
        </p:txBody>
      </p:sp>
      <p:pic>
        <p:nvPicPr>
          <p:cNvPr id="57" name="Picture 56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4815001"/>
            <a:ext cx="195132" cy="19513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499890" y="4761783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先做“订单 → 核销 → 结算”主线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52970" y="1967834"/>
            <a:ext cx="3181258" cy="3237433"/>
          </a:xfrm>
          <a:prstGeom prst="roundRect">
            <a:avLst>
              <a:gd name="adj" fmla="val 390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52970" y="1967834"/>
            <a:ext cx="3181258" cy="1020013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352970" y="2766105"/>
            <a:ext cx="3181258" cy="22174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4712" y="2074270"/>
            <a:ext cx="1064361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pic>
        <p:nvPicPr>
          <p:cNvPr id="63" name="Picture 62" descr="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9003" y="2145228"/>
            <a:ext cx="443484" cy="44348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574712" y="2553233"/>
            <a:ext cx="27377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4712" y="3120892"/>
            <a:ext cx="273777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微软雅黑"/>
                <a:ea typeface="微软雅黑"/>
              </a:rPr>
              <a:t>先借力卖起来，再自己建</a:t>
            </a:r>
          </a:p>
        </p:txBody>
      </p:sp>
      <p:pic>
        <p:nvPicPr>
          <p:cNvPr id="66" name="Picture 6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712" y="3617595"/>
            <a:ext cx="195132" cy="19513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858542" y="3564376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借现成平台，几周做出来去卖</a:t>
            </a:r>
          </a:p>
        </p:txBody>
      </p:sp>
      <p:pic>
        <p:nvPicPr>
          <p:cNvPr id="68" name="Picture 6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712" y="4016730"/>
            <a:ext cx="195132" cy="19513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858542" y="3963512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标杆景区验证能卖、能赚钱</a:t>
            </a:r>
          </a:p>
        </p:txBody>
      </p:sp>
      <p:pic>
        <p:nvPicPr>
          <p:cNvPr id="70" name="Picture 69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712" y="4415866"/>
            <a:ext cx="195132" cy="19513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858542" y="4362648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跑通后按业态快速复制抢市场</a:t>
            </a:r>
          </a:p>
        </p:txBody>
      </p:sp>
      <p:pic>
        <p:nvPicPr>
          <p:cNvPr id="72" name="Picture 7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712" y="4815001"/>
            <a:ext cx="195132" cy="19513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858542" y="4761783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规模起来后自建，省钱、交付快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11622" y="1967834"/>
            <a:ext cx="3181258" cy="3237433"/>
          </a:xfrm>
          <a:prstGeom prst="roundRect">
            <a:avLst>
              <a:gd name="adj" fmla="val 390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711622" y="1967834"/>
            <a:ext cx="3181258" cy="1020013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711622" y="2766105"/>
            <a:ext cx="3181258" cy="22174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33364" y="2074270"/>
            <a:ext cx="1064361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pic>
        <p:nvPicPr>
          <p:cNvPr id="78" name="Picture 77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655" y="2145228"/>
            <a:ext cx="443484" cy="44348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933364" y="2553233"/>
            <a:ext cx="273777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AI＋数据平台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3364" y="3120892"/>
            <a:ext cx="273777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1816F"/>
                </a:solidFill>
                <a:latin typeface="微软雅黑"/>
                <a:ea typeface="微软雅黑"/>
              </a:rPr>
              <a:t>数据在公司里转起来</a:t>
            </a:r>
          </a:p>
        </p:txBody>
      </p:sp>
      <p:pic>
        <p:nvPicPr>
          <p:cNvPr id="81" name="Picture 8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364" y="3617595"/>
            <a:ext cx="195132" cy="19513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217194" y="3564376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业务产生数据，平台统一整理</a:t>
            </a:r>
          </a:p>
        </p:txBody>
      </p:sp>
      <p:pic>
        <p:nvPicPr>
          <p:cNvPr id="83" name="Picture 8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364" y="4016730"/>
            <a:ext cx="195132" cy="19513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217194" y="3963512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智能体和报表用同一套数</a:t>
            </a:r>
          </a:p>
        </p:txBody>
      </p:sp>
      <p:pic>
        <p:nvPicPr>
          <p:cNvPr id="85" name="Picture 84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364" y="4415866"/>
            <a:ext cx="195132" cy="19513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217194" y="4362648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问答、评价、处置结果回流</a:t>
            </a:r>
          </a:p>
        </p:txBody>
      </p:sp>
      <p:pic>
        <p:nvPicPr>
          <p:cNvPr id="87" name="Picture 86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364" y="4815001"/>
            <a:ext cx="195132" cy="195132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8217194" y="4761783"/>
            <a:ext cx="251603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反哺定价、营销、调度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94318" y="5382661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0" tIns="0" rIns="177393" bIns="0"/>
          <a:lstStyle/>
          <a:p>
            <a:pPr algn="l"/>
            <a:r>
              <a:rPr sz="1350" b="1">
                <a:solidFill>
                  <a:srgbClr val="B26A2C"/>
                </a:solidFill>
                <a:latin typeface="微软雅黑"/>
                <a:ea typeface="微软雅黑"/>
              </a:rPr>
              <a:t>需要您支持　</a:t>
            </a:r>
            <a:r>
              <a:rPr sz="1350" b="0">
                <a:solidFill>
                  <a:srgbClr val="1F3A35"/>
                </a:solidFill>
                <a:latin typeface="微软雅黑"/>
                <a:ea typeface="微软雅黑"/>
              </a:rPr>
              <a:t>口径由谁拍板 · 规范强制执行 · 标杆景区与销售配合 · 自建时点决策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 descr="D:\51PPT模板网\51pptmoban.com\图片.jpg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83191" y="316763"/>
            <a:ext cx="1843847" cy="1040376"/>
            <a:chOff x="815747" y="507302"/>
            <a:chExt cx="1843847" cy="1040376"/>
          </a:xfrm>
        </p:grpSpPr>
        <p:sp>
          <p:nvSpPr>
            <p:cNvPr id="5" name="文本框 4"/>
            <p:cNvSpPr txBox="1"/>
            <p:nvPr/>
          </p:nvSpPr>
          <p:spPr>
            <a:xfrm>
              <a:off x="815747" y="507302"/>
              <a:ext cx="14157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solidFill>
                    <a:srgbClr val="2CAB93"/>
                  </a:solidFill>
                  <a:latin typeface="Alimama ShuHeiTi Bold" pitchFamily="2" charset="-122"/>
                  <a:ea typeface="Alimama ShuHeiTi Bold" pitchFamily="2" charset="-122"/>
                </a:defRPr>
              </a:lvl1pPr>
            </a:lstStyle>
            <a:p>
              <a:r>
                <a:rPr lang="zh-CN" altLang="en-US" sz="4800" dirty="0">
                  <a:solidFill>
                    <a:schemeClr val="tx1"/>
                  </a:solidFill>
                </a:rPr>
                <a:t>目录</a:t>
              </a:r>
              <a:endParaRPr lang="zh-CN" altLang="en-US" sz="4800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93577" y="1286068"/>
              <a:ext cx="17660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/>
                <a:t>CONTENTS</a:t>
              </a:r>
              <a:endParaRPr lang="zh-CN" altLang="en-US" sz="1050" dirty="0"/>
            </a:p>
          </p:txBody>
        </p:sp>
      </p:grpSp>
      <p:sp>
        <p:nvSpPr>
          <p:cNvPr id="9" name="十字形 8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099340" y="2281514"/>
            <a:ext cx="7993319" cy="562935"/>
            <a:chOff x="1778000" y="2361285"/>
            <a:chExt cx="7993319" cy="562935"/>
          </a:xfrm>
        </p:grpSpPr>
        <p:grpSp>
          <p:nvGrpSpPr>
            <p:cNvPr id="40" name="组合 39"/>
            <p:cNvGrpSpPr/>
            <p:nvPr/>
          </p:nvGrpSpPr>
          <p:grpSpPr>
            <a:xfrm>
              <a:off x="1778000" y="2361285"/>
              <a:ext cx="3889375" cy="562935"/>
              <a:chOff x="1778000" y="2361285"/>
              <a:chExt cx="3889375" cy="562935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28" name="矩形: 圆角 27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36" name="文本框 35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01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数据平台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/>
          </p:nvGrpSpPr>
          <p:grpSpPr>
            <a:xfrm>
              <a:off x="5881944" y="2361285"/>
              <a:ext cx="3889375" cy="562935"/>
              <a:chOff x="1778000" y="2361285"/>
              <a:chExt cx="3889375" cy="562935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48" name="矩形: 圆角 47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53" name="文本框 52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02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智能体平台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grpSp>
        <p:nvGrpSpPr>
          <p:cNvPr id="56" name="组合 55"/>
          <p:cNvGrpSpPr/>
          <p:nvPr/>
        </p:nvGrpSpPr>
        <p:grpSpPr>
          <a:xfrm>
            <a:off x="2099340" y="4093229"/>
            <a:ext cx="7993319" cy="562935"/>
            <a:chOff x="1778000" y="2361285"/>
            <a:chExt cx="7993319" cy="562935"/>
          </a:xfrm>
        </p:grpSpPr>
        <p:grpSp>
          <p:nvGrpSpPr>
            <p:cNvPr id="57" name="组合 56"/>
            <p:cNvGrpSpPr/>
            <p:nvPr/>
          </p:nvGrpSpPr>
          <p:grpSpPr>
            <a:xfrm>
              <a:off x="1778000" y="2361285"/>
              <a:ext cx="3889375" cy="562935"/>
              <a:chOff x="1778000" y="2361285"/>
              <a:chExt cx="3889375" cy="562935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6" name="矩形: 圆角 65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8" name="组合 67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82" name="文本框 81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03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AI＋数据平台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58" name="组合 57"/>
            <p:cNvGrpSpPr/>
            <p:nvPr/>
          </p:nvGrpSpPr>
          <p:grpSpPr>
            <a:xfrm>
              <a:off x="5881944" y="2361285"/>
              <a:ext cx="3889375" cy="562935"/>
              <a:chOff x="1778000" y="2361285"/>
              <a:chExt cx="3889375" cy="562935"/>
            </a:xfrm>
          </p:grpSpPr>
          <p:sp>
            <p:nvSpPr>
              <p:cNvPr id="59" name="椭圆 58"/>
              <p:cNvSpPr/>
              <p:nvPr/>
            </p:nvSpPr>
            <p:spPr>
              <a:xfrm>
                <a:off x="2688330" y="2361285"/>
                <a:ext cx="400050" cy="426365"/>
              </a:xfrm>
              <a:prstGeom prst="ellipse">
                <a:avLst/>
              </a:prstGeom>
              <a:solidFill>
                <a:srgbClr val="2CAB93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1778000" y="2452668"/>
                <a:ext cx="3889375" cy="471552"/>
              </a:xfrm>
              <a:prstGeom prst="roundRect">
                <a:avLst>
                  <a:gd name="adj" fmla="val 50000"/>
                </a:avLst>
              </a:prstGeom>
              <a:solidFill>
                <a:srgbClr val="2CA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2130076" y="2361285"/>
                <a:ext cx="758279" cy="562935"/>
              </a:xfrm>
              <a:custGeom>
                <a:avLst/>
                <a:gdLst>
                  <a:gd name="csX0" fmla="*/ 184401 w 758279"/>
                  <a:gd name="csY0" fmla="*/ 0 h 562935"/>
                  <a:gd name="csX1" fmla="*/ 354264 w 758279"/>
                  <a:gd name="csY1" fmla="*/ 0 h 562935"/>
                  <a:gd name="csX2" fmla="*/ 588416 w 758279"/>
                  <a:gd name="csY2" fmla="*/ 0 h 562935"/>
                  <a:gd name="csX3" fmla="*/ 758279 w 758279"/>
                  <a:gd name="csY3" fmla="*/ 0 h 562935"/>
                  <a:gd name="csX4" fmla="*/ 573878 w 758279"/>
                  <a:gd name="csY4" fmla="*/ 184401 h 562935"/>
                  <a:gd name="csX5" fmla="*/ 573878 w 758279"/>
                  <a:gd name="csY5" fmla="*/ 375974 h 562935"/>
                  <a:gd name="csX6" fmla="*/ 573879 w 758279"/>
                  <a:gd name="csY6" fmla="*/ 375974 h 562935"/>
                  <a:gd name="csX7" fmla="*/ 573879 w 758279"/>
                  <a:gd name="csY7" fmla="*/ 562935 h 562935"/>
                  <a:gd name="csX8" fmla="*/ 404016 w 758279"/>
                  <a:gd name="csY8" fmla="*/ 562935 h 562935"/>
                  <a:gd name="csX9" fmla="*/ 169864 w 758279"/>
                  <a:gd name="csY9" fmla="*/ 562935 h 562935"/>
                  <a:gd name="csX10" fmla="*/ 1 w 758279"/>
                  <a:gd name="csY10" fmla="*/ 562935 h 562935"/>
                  <a:gd name="csX11" fmla="*/ 1 w 758279"/>
                  <a:gd name="csY11" fmla="*/ 375974 h 562935"/>
                  <a:gd name="csX12" fmla="*/ 0 w 758279"/>
                  <a:gd name="csY12" fmla="*/ 375974 h 562935"/>
                  <a:gd name="csX13" fmla="*/ 0 w 758279"/>
                  <a:gd name="csY13" fmla="*/ 184401 h 562935"/>
                  <a:gd name="csX14" fmla="*/ 184401 w 758279"/>
                  <a:gd name="csY14" fmla="*/ 0 h 562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58279" h="562935">
                    <a:moveTo>
                      <a:pt x="184401" y="0"/>
                    </a:moveTo>
                    <a:lnTo>
                      <a:pt x="354264" y="0"/>
                    </a:lnTo>
                    <a:lnTo>
                      <a:pt x="588416" y="0"/>
                    </a:lnTo>
                    <a:lnTo>
                      <a:pt x="758279" y="0"/>
                    </a:lnTo>
                    <a:cubicBezTo>
                      <a:pt x="656438" y="0"/>
                      <a:pt x="573878" y="82559"/>
                      <a:pt x="573878" y="184401"/>
                    </a:cubicBezTo>
                    <a:lnTo>
                      <a:pt x="573878" y="375974"/>
                    </a:lnTo>
                    <a:lnTo>
                      <a:pt x="573879" y="375974"/>
                    </a:lnTo>
                    <a:lnTo>
                      <a:pt x="573879" y="562935"/>
                    </a:lnTo>
                    <a:lnTo>
                      <a:pt x="404016" y="562935"/>
                    </a:lnTo>
                    <a:lnTo>
                      <a:pt x="169864" y="562935"/>
                    </a:lnTo>
                    <a:lnTo>
                      <a:pt x="1" y="562935"/>
                    </a:lnTo>
                    <a:lnTo>
                      <a:pt x="1" y="375974"/>
                    </a:lnTo>
                    <a:lnTo>
                      <a:pt x="0" y="375974"/>
                    </a:lnTo>
                    <a:lnTo>
                      <a:pt x="0" y="184401"/>
                    </a:lnTo>
                    <a:cubicBezTo>
                      <a:pt x="0" y="82559"/>
                      <a:pt x="82559" y="0"/>
                      <a:pt x="1844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151918" y="2451236"/>
                <a:ext cx="2796191" cy="461665"/>
                <a:chOff x="1249621" y="2030985"/>
                <a:chExt cx="2796191" cy="461665"/>
              </a:xfrm>
            </p:grpSpPr>
            <p:sp>
              <p:nvSpPr>
                <p:cNvPr id="63" name="文本框 62"/>
                <p:cNvSpPr txBox="1"/>
                <p:nvPr/>
              </p:nvSpPr>
              <p:spPr>
                <a:xfrm>
                  <a:off x="1249621" y="2030985"/>
                  <a:ext cx="5629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</a:rPr>
                    <a:t>04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文本框 63"/>
                <p:cNvSpPr txBox="1"/>
                <p:nvPr/>
              </p:nvSpPr>
              <p:spPr>
                <a:xfrm>
                  <a:off x="1965746" y="2122247"/>
                  <a:ext cx="2080066" cy="307777"/>
                </a:xfrm>
                <a:prstGeom prst="rect">
                  <a:avLst/>
                </a:prstGeom>
                <a:noFill/>
              </p:spPr>
              <p:txBody>
                <a:bodyPr vert="horz" wrap="square">
                  <a:spAutoFit/>
                </a:bodyPr>
                <a:lstStyle/>
                <a:p>
                  <a:r>
                    <a:rPr lang="zh-CN" altLang="en-US" sz="1400" b="1" dirty="0"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接下来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84" name="TextBox 83"/>
          <p:cNvSpPr txBox="1"/>
          <p:nvPr/>
        </p:nvSpPr>
        <p:spPr>
          <a:xfrm>
            <a:off x="2514600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现状与问题 · 怎么建 · 怎么治理 · 建成后的变化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20256" y="29443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能做什么 · 先验证 · 再复制 · 后自建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14600" y="4754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数据怎么流转 · 闭环 · 一个例子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20256" y="47548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先做的三件事 · 需要的支持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把数据理清、算准、管住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现状与问题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04487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手里的数据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752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怎么建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数据治理八步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360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治理保障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41448" y="48737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六个统一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04487" y="48737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建成后的变化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现状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工具基本齐了，每天的主流程也跑通了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已经花的钱都在用，接下来是在这个基础上补齐，而不是推倒重来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05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341595" cy="14191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669" y="2329868"/>
            <a:ext cx="243916" cy="2439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74850" y="2190170"/>
            <a:ext cx="149897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DataWorks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74850" y="2474000"/>
            <a:ext cx="149897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数据加工“车间”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711" y="2828787"/>
            <a:ext cx="1986808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已买：开发 · 调度 · 找数 · 管资产 · 出数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13307" y="2048256"/>
            <a:ext cx="2341595" cy="14191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90701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plu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659" y="2329868"/>
            <a:ext cx="243916" cy="24391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293839" y="2190170"/>
            <a:ext cx="149897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动态数据开放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3839" y="2474000"/>
            <a:ext cx="149897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对内对外的数据“窗口”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90701" y="2828787"/>
            <a:ext cx="1986808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指标对内对外提供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2296" y="2048256"/>
            <a:ext cx="2341595" cy="14191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09690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chart-colum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648" y="2329868"/>
            <a:ext cx="243916" cy="24391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812828" y="2190170"/>
            <a:ext cx="149897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828" y="2474000"/>
            <a:ext cx="149897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看报表、做分析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09690" y="2828787"/>
            <a:ext cx="1986808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报表展示与 AI 问数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51285" y="2048256"/>
            <a:ext cx="2341595" cy="14191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28679" y="220791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warehou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0637" y="2329868"/>
            <a:ext cx="243916" cy="24391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331817" y="2190170"/>
            <a:ext cx="149897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湖仓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31817" y="2474000"/>
            <a:ext cx="1498975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存数据的“仓库”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8679" y="2828787"/>
            <a:ext cx="1986808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部分模型已建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3742364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36233" y="3671407"/>
            <a:ext cx="79827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已经跑通：每天凌晨自动跑一遍的“数据流水线”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99796" y="3671407"/>
            <a:ext cx="319308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供应商 / 游客 / 会员 → 订单 → 维度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4114891"/>
            <a:ext cx="1738457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原料</a:t>
            </a:r>
          </a:p>
          <a:p>
            <a:pPr algn="ctr"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原样存一份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173986" y="3999585"/>
            <a:ext cx="470093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0">
                <a:solidFill>
                  <a:srgbClr val="21816F"/>
                </a:solidFill>
                <a:latin typeface="微软雅黑"/>
                <a:ea typeface="微软雅黑"/>
              </a:rPr>
              <a:t>ODS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2785993" y="4469678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034344" y="4114891"/>
            <a:ext cx="1738457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洗干净</a:t>
            </a:r>
          </a:p>
          <a:p>
            <a:pPr algn="ctr"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去重、补全、纠错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14012" y="3999585"/>
            <a:ext cx="470093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0">
                <a:solidFill>
                  <a:srgbClr val="21816F"/>
                </a:solidFill>
                <a:latin typeface="微软雅黑"/>
                <a:ea typeface="微软雅黑"/>
              </a:rPr>
              <a:t>DWD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4826020" y="4469678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074371" y="4114891"/>
            <a:ext cx="1738457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字典</a:t>
            </a:r>
          </a:p>
          <a:p>
            <a:pPr algn="ctr"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景区、商品等基础信息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54038" y="3999585"/>
            <a:ext cx="470093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0">
                <a:solidFill>
                  <a:srgbClr val="21816F"/>
                </a:solidFill>
                <a:latin typeface="微软雅黑"/>
                <a:ea typeface="微软雅黑"/>
              </a:rPr>
              <a:t>DIM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6866046" y="4469678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114397" y="4114891"/>
            <a:ext cx="1738457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汇总</a:t>
            </a:r>
          </a:p>
          <a:p>
            <a:pPr algn="ctr">
              <a:spcBef>
                <a:spcPts val="194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按天、按景区算好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94064" y="3999585"/>
            <a:ext cx="470093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0">
                <a:solidFill>
                  <a:srgbClr val="21816F"/>
                </a:solidFill>
                <a:latin typeface="微软雅黑"/>
                <a:ea typeface="微软雅黑"/>
              </a:rPr>
              <a:t>DWS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8906073" y="4469678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154424" y="4114891"/>
            <a:ext cx="1738457" cy="88696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成品</a:t>
            </a:r>
          </a:p>
          <a:p>
            <a:pPr algn="ctr">
              <a:spcBef>
                <a:spcPts val="194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报表、接口直接用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334091" y="3999585"/>
            <a:ext cx="470093" cy="212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0">
                <a:solidFill>
                  <a:srgbClr val="21816F"/>
                </a:solidFill>
                <a:latin typeface="微软雅黑"/>
                <a:ea typeface="微软雅黑"/>
              </a:rPr>
              <a:t>ADS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94318" y="5223601"/>
            <a:ext cx="9898562" cy="585398"/>
          </a:xfrm>
          <a:prstGeom prst="roundRect">
            <a:avLst>
              <a:gd name="adj" fmla="val 15151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triangle-alert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1711" y="5383255"/>
            <a:ext cx="266090" cy="26609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544237" y="5223601"/>
            <a:ext cx="1064361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还没建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413467" y="5383255"/>
            <a:ext cx="850503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B26A2C"/>
                </a:solidFill>
                <a:latin typeface="微软雅黑"/>
                <a:ea typeface="微软雅黑"/>
              </a:rPr>
              <a:t>实时数据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370407" y="5383255"/>
            <a:ext cx="113384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B26A2C"/>
                </a:solidFill>
                <a:latin typeface="微软雅黑"/>
                <a:ea typeface="微软雅黑"/>
              </a:rPr>
              <a:t>数据质量检查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610684" y="5383255"/>
            <a:ext cx="850503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B26A2C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567624" y="5383255"/>
            <a:ext cx="113384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B26A2C"/>
                </a:solidFill>
                <a:latin typeface="微软雅黑"/>
                <a:ea typeface="微软雅黑"/>
              </a:rPr>
              <a:t>指标口径管理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07901" y="5383255"/>
            <a:ext cx="1133840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B26A2C"/>
                </a:solidFill>
                <a:latin typeface="微软雅黑"/>
                <a:ea typeface="微软雅黑"/>
              </a:rPr>
              <a:t>数据规范落地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问题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六个平时真实遇到的麻烦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每一条都能在日常工作里找到例子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06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719483"/>
            <a:ext cx="9898562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1711" y="1719483"/>
            <a:ext cx="199567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33480" y="1719483"/>
            <a:ext cx="3947007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平时是什么样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46577" y="1719483"/>
            <a:ext cx="315760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为什么会这样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2127488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7363" y="2216185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304882"/>
            <a:ext cx="177393" cy="17739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7456" y="2127488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数据散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33480" y="2127488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想看“售票 + 二消 + 结算”，要从 3 个以上系统导数、手工拼表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46577" y="2127488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没有统一接入；景区、商品、渠道编号各系统不一样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2704017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27363" y="2792714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0" y="2881411"/>
            <a:ext cx="177393" cy="17739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97456" y="2704017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一个数多个答案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33480" y="2704017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同一天同一景区，看板、对账、接口三处“核销量”不一样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46577" y="2704017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公司层面没有统一的指标定义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280547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27363" y="336924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ile-tex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060" y="3457939"/>
            <a:ext cx="177393" cy="17739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597456" y="3280547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没规矩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33480" y="3280547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表名随意、字段没说明、出了问题找不到负责人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46577" y="3280547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规范只写在文档里，上线没有人卡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4318" y="3857076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27363" y="3945773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repea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060" y="4034469"/>
            <a:ext cx="177393" cy="17739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597456" y="3857076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重复干活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33480" y="3857076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订单宽表离线、湖仓各做一份，结果还对不上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46577" y="3857076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没有统一的公共层，各做各的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4318" y="4433605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7363" y="4522302"/>
            <a:ext cx="354787" cy="354787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triangle-ale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060" y="4610999"/>
            <a:ext cx="177393" cy="177393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597456" y="4433605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数字不准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33480" y="4433605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入园、核销和现场对不上，节假日更明显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46577" y="4433605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1816F"/>
                </a:solidFill>
                <a:latin typeface="微软雅黑"/>
                <a:ea typeface="微软雅黑"/>
              </a:rPr>
              <a:t>补传、重复上报、撤销冲正、时间口径混用，缺逐层核对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4318" y="5010134"/>
            <a:ext cx="9898562" cy="532180"/>
          </a:xfrm>
          <a:prstGeom prst="roundRect">
            <a:avLst>
              <a:gd name="adj" fmla="val 13333"/>
            </a:avLst>
          </a:prstGeom>
          <a:solidFill>
            <a:srgbClr val="F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7363" y="5098831"/>
            <a:ext cx="354787" cy="354787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hourglas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060" y="5187528"/>
            <a:ext cx="177393" cy="177393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597456" y="5010134"/>
            <a:ext cx="1640889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26A2C"/>
                </a:solidFill>
                <a:latin typeface="微软雅黑"/>
                <a:ea typeface="微软雅黑"/>
              </a:rPr>
              <a:t>看得慢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33480" y="5010134"/>
            <a:ext cx="3947007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高峰期订单、核销第二天才看到，预警靠人盯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46577" y="5010134"/>
            <a:ext cx="3157606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26A2C"/>
                </a:solidFill>
                <a:latin typeface="微软雅黑"/>
                <a:ea typeface="微软雅黑"/>
              </a:rPr>
              <a:t>只有每天跑一次的离线链路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4318" y="5693100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lightbul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9451" y="5803971"/>
            <a:ext cx="266090" cy="26609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570847" y="5693100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一句话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前五个是“管理问题”，要系统治理；第六个是“能力缺口”，要补实时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我们手里有什么数据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按业务分成 8 大块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数据按“数据域 → 主题”分门别类，像图书馆分区一样好找、好管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07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receip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686153" y="2190170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交易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86153" y="2447391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订单、票务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3971" y="2775569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订单数 · 销售额 · 核销次数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53971" y="3112617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92589" y="3112617"/>
            <a:ext cx="634921" cy="230611"/>
          </a:xfrm>
          <a:prstGeom prst="roundRect">
            <a:avLst>
              <a:gd name="adj" fmla="val 50000"/>
            </a:avLst>
          </a:prstGeom>
          <a:solidFill>
            <a:srgbClr val="2CAB93"/>
          </a:solidFill>
          <a:ln w="952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已入仓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13307" y="2048256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7296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packag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832" y="2318781"/>
            <a:ext cx="221742" cy="22174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205142" y="2190170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商品与资源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5142" y="2447391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产品、库存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72961" y="2775569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售罄率 · 库存余量 · 热销产品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72961" y="3112617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11578" y="3112617"/>
            <a:ext cx="751951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部分入仓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32296" y="2048256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19195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822" y="2318781"/>
            <a:ext cx="221742" cy="22174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724131" y="2190170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用户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24131" y="2447391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游客、会员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91951" y="2775569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会员等级 · 复购倾向 · 出游偏好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91951" y="3112617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高敏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30568" y="3112617"/>
            <a:ext cx="634921" cy="230611"/>
          </a:xfrm>
          <a:prstGeom prst="roundRect">
            <a:avLst>
              <a:gd name="adj" fmla="val 50000"/>
            </a:avLst>
          </a:prstGeom>
          <a:solidFill>
            <a:srgbClr val="2CAB93"/>
          </a:solidFill>
          <a:ln w="952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已入仓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51285" y="2048256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10940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handshak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1811" y="2318781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243120" y="2190170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合作方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3120" y="2447391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10940" y="2775569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履约率 · 结算周期 · 供应商等级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10940" y="3112617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49557" y="3112617"/>
            <a:ext cx="634921" cy="230611"/>
          </a:xfrm>
          <a:prstGeom prst="roundRect">
            <a:avLst>
              <a:gd name="adj" fmla="val 50000"/>
            </a:avLst>
          </a:prstGeom>
          <a:solidFill>
            <a:srgbClr val="2CAB93"/>
          </a:solidFill>
          <a:ln w="952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已入仓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4318" y="3662537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53971" y="382219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megapho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4842" y="3933062"/>
            <a:ext cx="221742" cy="22174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686153" y="3804452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流量营销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86153" y="4061673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渠道、活动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53971" y="4389851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渠道转化率 · 活动回报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53971" y="4726899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792589" y="4726899"/>
            <a:ext cx="751951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部分入仓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513307" y="3662537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672961" y="382219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activity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3832" y="3933062"/>
            <a:ext cx="221742" cy="221742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4205142" y="3804452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运营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05142" y="4061673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日常运营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72961" y="4389851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房态占用率 · 准点率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672961" y="4726899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11578" y="4726899"/>
            <a:ext cx="751951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部分入仓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32296" y="3662537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191951" y="382219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walle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2822" y="3933062"/>
            <a:ext cx="221742" cy="221742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724131" y="3804452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24131" y="4061673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结算、对账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91951" y="4389851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应结 / 已结金额 · 对账差异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191951" y="4726899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830568" y="4726899"/>
            <a:ext cx="751951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部分入仓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551285" y="3662537"/>
            <a:ext cx="2341595" cy="143688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710940" y="382219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setting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1811" y="3933062"/>
            <a:ext cx="221742" cy="221742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9243120" y="3804452"/>
            <a:ext cx="1543324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内部管理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243120" y="4061673"/>
            <a:ext cx="1543324" cy="2217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内部系统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710940" y="4389851"/>
            <a:ext cx="2075505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任务运行 · 存储计算成本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710940" y="4726899"/>
            <a:ext cx="549920" cy="230611"/>
          </a:xfrm>
          <a:prstGeom prst="roundRect">
            <a:avLst>
              <a:gd name="adj" fmla="val 5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349557" y="4726899"/>
            <a:ext cx="751951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2CAB93"/>
                </a:solidFill>
                <a:latin typeface="微软雅黑"/>
                <a:ea typeface="微软雅黑"/>
              </a:rPr>
              <a:t>部分入仓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94318" y="5259080"/>
            <a:ext cx="4860584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待补　</a:t>
            </a:r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现场设备、外部数据、AI 产生的数据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032296" y="5259080"/>
            <a:ext cx="4860584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00" b="1">
                <a:solidFill>
                  <a:srgbClr val="B26A2C"/>
                </a:solidFill>
                <a:latin typeface="微软雅黑"/>
                <a:ea typeface="微软雅黑"/>
              </a:rPr>
              <a:t>难点　</a:t>
            </a:r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节假日高峰、状态多变、离线补传、多景区隔离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怎么建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六层搭起来，治理管全程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从下往上：数据从哪来 → 存到哪 → 算成什么 → 怎么给出去 → AI 怎么用 → 谁在用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08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43659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应用与服务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谁在用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01298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内部经营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87403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景区运营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73506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伙伴接入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59610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行业报告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5714" y="1843659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数据产品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4318" y="2491146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能力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让 AI 能用数据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0129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模型服务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08929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知识服务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1655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工具服务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4188" y="2491146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评测运营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138632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数据服务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对外的窗口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01298" y="3138632"/>
            <a:ext cx="1518932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动态数据开放 API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08929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指标服务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1655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标签服务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24188" y="3138632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一键接入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786119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指标与分析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算好的数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90129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企业标准指标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08929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景区自定义指标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16558" y="3786119"/>
            <a:ext cx="1518932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24188" y="3786119"/>
            <a:ext cx="1518932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4433606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统一底座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仓库与车间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901298" y="4433606"/>
            <a:ext cx="1197406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DataWorks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87403" y="4433606"/>
            <a:ext cx="1197406" cy="549920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离线主流程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73506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实时计算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59610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湖仓存储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5714" y="4433606"/>
            <a:ext cx="1197406" cy="5499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公共模型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5081092"/>
            <a:ext cx="1773936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数据来源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数据从哪来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901298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0511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订单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08928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小程序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31274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16557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20372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24187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设备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28003" y="5081092"/>
            <a:ext cx="715117" cy="549920"/>
          </a:xfrm>
          <a:prstGeom prst="roundRect">
            <a:avLst>
              <a:gd name="adj" fmla="val 1612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外部数据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20513" y="1843659"/>
            <a:ext cx="1472366" cy="3787352"/>
          </a:xfrm>
          <a:prstGeom prst="roundRect">
            <a:avLst>
              <a:gd name="adj" fmla="val 84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hiel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647" y="2021053"/>
            <a:ext cx="372526" cy="37252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615647" y="2464537"/>
            <a:ext cx="1117579" cy="7095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数据治理</a:t>
            </a:r>
          </a:p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贯穿每一层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15647" y="3218459"/>
            <a:ext cx="1117579" cy="24835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数据标准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主数据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数据血缘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数据质量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统一口径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权限安全</a:t>
            </a:r>
          </a:p>
          <a:p>
            <a:pPr algn="l">
              <a:lnSpc>
                <a:spcPct val="110000"/>
              </a:lnSpc>
              <a:spcBef>
                <a:spcPts val="388"/>
              </a:spcBef>
            </a:pPr>
            <a:r>
              <a:rPr sz="1200" b="0">
                <a:solidFill>
                  <a:srgbClr val="E6F6F2"/>
                </a:solidFill>
                <a:latin typeface="微软雅黑"/>
                <a:ea typeface="微软雅黑"/>
              </a:rPr>
              <a:t>资产运营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4318" y="5790666"/>
            <a:ext cx="896823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已经有的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997577" y="5790666"/>
            <a:ext cx="118952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要新建 / 升级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70930" y="5790666"/>
            <a:ext cx="532180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思路：统一标准，治理写进研发流程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治理流程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八步走，一步一步落地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按顺序推进：先定规矩、统一编号，再管质量和口径，最后管好权限、盘点和出口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09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7363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363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70847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定规矩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70847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数据标准</a:t>
            </a:r>
          </a:p>
        </p:txBody>
      </p:sp>
      <p:pic>
        <p:nvPicPr>
          <p:cNvPr id="49" name="Picture 48" descr="book-open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907" y="2052096"/>
            <a:ext cx="301569" cy="30156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53971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表名、字段、码值全公司一个说法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27363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42669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→ 详见“统一规范”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3313739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535481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68527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68527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2011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统一编号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2011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主数据</a:t>
            </a:r>
          </a:p>
        </p:txBody>
      </p:sp>
      <p:pic>
        <p:nvPicPr>
          <p:cNvPr id="59" name="Picture 58" descr="id-card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070" y="2052096"/>
            <a:ext cx="301569" cy="30156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695136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景区、商品、渠道、供应商、游客一个编号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68527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83832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编号对照表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5854903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076644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09690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09690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53174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理清来龙去脉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3174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数据血缘</a:t>
            </a:r>
          </a:p>
        </p:txBody>
      </p:sp>
      <p:pic>
        <p:nvPicPr>
          <p:cNvPr id="69" name="Picture 68" descr="folder-tre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233" y="2052096"/>
            <a:ext cx="301569" cy="30156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236298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每个数从哪来、到哪去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09690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4996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资产目录、血缘图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8396066" y="2588712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17808" y="1901311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750853" y="203435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50853" y="203435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94337" y="1990008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每天体检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94337" y="2256099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数据质量</a:t>
            </a:r>
          </a:p>
        </p:txBody>
      </p:sp>
      <p:pic>
        <p:nvPicPr>
          <p:cNvPr id="79" name="Picture 78" descr="stethoscop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9397" y="2052096"/>
            <a:ext cx="301569" cy="30156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777462" y="2593146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算完自动检查，不合格就拦住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50853" y="3027761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66158" y="3027761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质量规则、问题单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94318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27363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27363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70847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统一口径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70847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统一标签（指标）</a:t>
            </a:r>
          </a:p>
        </p:txBody>
      </p:sp>
      <p:pic>
        <p:nvPicPr>
          <p:cNvPr id="88" name="Picture 87" descr="scale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907" y="3888119"/>
            <a:ext cx="301569" cy="301569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153971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一个指标一个算法，集团出标准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127363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42669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→ 详见“统一标签”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3313739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535481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68527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668527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2011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管好权限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12011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权限安全</a:t>
            </a:r>
          </a:p>
        </p:txBody>
      </p:sp>
      <p:pic>
        <p:nvPicPr>
          <p:cNvPr id="98" name="Picture 97" descr="loc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7070" y="3888119"/>
            <a:ext cx="301569" cy="301569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3695136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数据分级，谁的数据只服务谁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68527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3832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→ 详见“统一权限”</a:t>
            </a:r>
          </a:p>
        </p:txBody>
      </p:sp>
      <p:sp>
        <p:nvSpPr>
          <p:cNvPr id="102" name="Right Arrow 101"/>
          <p:cNvSpPr/>
          <p:nvPr/>
        </p:nvSpPr>
        <p:spPr>
          <a:xfrm>
            <a:off x="5854903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076644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209690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209690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3174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定期盘点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53174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资产运营</a:t>
            </a:r>
          </a:p>
        </p:txBody>
      </p:sp>
      <p:pic>
        <p:nvPicPr>
          <p:cNvPr id="108" name="Picture 107" descr="archive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8233" y="3888119"/>
            <a:ext cx="301569" cy="301569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236298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打健康分，没人用的就下线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9690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24996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健康分榜、下线清单</a:t>
            </a:r>
          </a:p>
        </p:txBody>
      </p:sp>
      <p:sp>
        <p:nvSpPr>
          <p:cNvPr id="112" name="Right Arrow 111"/>
          <p:cNvSpPr/>
          <p:nvPr/>
        </p:nvSpPr>
        <p:spPr>
          <a:xfrm>
            <a:off x="8396066" y="4424735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617808" y="3737335"/>
            <a:ext cx="2275072" cy="1552194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750853" y="3870380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750853" y="3870380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94337" y="3826031"/>
            <a:ext cx="1210711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94337" y="4092122"/>
            <a:ext cx="1210711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2CAB93"/>
                </a:solidFill>
                <a:latin typeface="微软雅黑"/>
                <a:ea typeface="微软雅黑"/>
              </a:rPr>
              <a:t>数据分发</a:t>
            </a:r>
          </a:p>
        </p:txBody>
      </p:sp>
      <p:pic>
        <p:nvPicPr>
          <p:cNvPr id="118" name="Picture 117" descr="send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9397" y="3888119"/>
            <a:ext cx="301569" cy="301569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8777462" y="4429170"/>
            <a:ext cx="2008982" cy="3991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对内对外只走一个“窗口”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750853" y="4863784"/>
            <a:ext cx="2008982" cy="319308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866158" y="4863784"/>
            <a:ext cx="187593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产出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接口目录、调用台账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94318" y="5484662"/>
            <a:ext cx="9898562" cy="514441"/>
          </a:xfrm>
          <a:prstGeom prst="roundRect">
            <a:avLst>
              <a:gd name="adj" fmla="val 1724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090" tIns="0" bIns="0"/>
          <a:lstStyle/>
          <a:p>
            <a:pPr algn="l"/>
            <a:r>
              <a:rPr sz="1200" b="1">
                <a:solidFill>
                  <a:srgbClr val="FFE7CF"/>
                </a:solidFill>
                <a:latin typeface="微软雅黑"/>
                <a:ea typeface="微软雅黑"/>
              </a:rPr>
              <a:t>先治一条主线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“订单 → 核销 → 结算”公司最核心、问题最多，先在这条线上把八步走通，再按数据域推广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② 主数据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一个景区只有一个“身份证”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以前同一个景区在票务、分销、财务里各有各的编号，拼数时对不上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10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97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2318781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190170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06508" y="2234519"/>
            <a:ext cx="904707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scenic_id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711" y="2686872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集团、分园区、子景点分级挂靠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54358" y="2048256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14011" y="2207910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882" y="2318781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763932" y="2190170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商品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66547" y="2234519"/>
            <a:ext cx="697748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prd_id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1751" y="2686872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票种、套票、二消商品统一编码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3236793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53971" y="339644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ou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42" y="3507317"/>
            <a:ext cx="221742" cy="221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703892" y="3378708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06508" y="3423056"/>
            <a:ext cx="973693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channel_id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1711" y="3875410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OTA、自营、分销、团队统一分类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54358" y="3236793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14011" y="339644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handshak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882" y="3507317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763932" y="3378708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51332" y="3423056"/>
            <a:ext cx="697748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sup_id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31751" y="3875410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同一主体只建一个编码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4425330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53971" y="458498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4842" y="4695855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703892" y="4567245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游客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206508" y="4611593"/>
            <a:ext cx="697748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one_id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71711" y="5063947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手机号、证件号、会员号归并为一人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054358" y="4425330"/>
            <a:ext cx="2882646" cy="1046622"/>
          </a:xfrm>
          <a:prstGeom prst="roundRect">
            <a:avLst>
              <a:gd name="adj" fmla="val 1016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214011" y="458498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map-pi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4882" y="4695855"/>
            <a:ext cx="221742" cy="22174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763932" y="4567245"/>
            <a:ext cx="886968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区域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266547" y="4611593"/>
            <a:ext cx="899779" cy="2306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行政区划码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31751" y="5063947"/>
            <a:ext cx="2572207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采用国家标准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158746" y="2048256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票务系统编号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932682" y="2261128"/>
            <a:ext cx="399135" cy="514441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7158746" y="2562697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分销系统编号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932682" y="2775569"/>
            <a:ext cx="399135" cy="0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158746" y="3077138"/>
            <a:ext cx="1773936" cy="425744"/>
          </a:xfrm>
          <a:prstGeom prst="roundRect">
            <a:avLst>
              <a:gd name="adj" fmla="val 16666"/>
            </a:avLst>
          </a:prstGeom>
          <a:solidFill>
            <a:srgbClr val="EE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财务系统编号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8932682" y="2775569"/>
            <a:ext cx="399135" cy="514440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376166" y="2474000"/>
            <a:ext cx="1516715" cy="603138"/>
          </a:xfrm>
          <a:prstGeom prst="roundRect">
            <a:avLst>
              <a:gd name="adj" fmla="val 1470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对照表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老编号 → 新编号</a:t>
            </a:r>
          </a:p>
        </p:txBody>
      </p:sp>
      <p:sp>
        <p:nvSpPr>
          <p:cNvPr id="87" name="Down Arrow 86"/>
          <p:cNvSpPr/>
          <p:nvPr/>
        </p:nvSpPr>
        <p:spPr>
          <a:xfrm>
            <a:off x="10028087" y="3148096"/>
            <a:ext cx="212872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158746" y="3494013"/>
            <a:ext cx="3734135" cy="549920"/>
          </a:xfrm>
          <a:prstGeom prst="roundRect">
            <a:avLst>
              <a:gd name="adj" fmla="val 161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统一编号</a:t>
            </a: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　所有报表、指标、标签只认它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58746" y="4203588"/>
            <a:ext cx="3734135" cy="603138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search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8400" y="4380981"/>
            <a:ext cx="248351" cy="24835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673187" y="4239066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先查再建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73187" y="4505157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新建景区、商品、供应商时先查，有就复用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158746" y="4895423"/>
            <a:ext cx="3734135" cy="603138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history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8400" y="5072816"/>
            <a:ext cx="248351" cy="24835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7673187" y="4930902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变更有记录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73187" y="5196992"/>
            <a:ext cx="311325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改编号要审批，保留历史，旧报表能追溯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③ 数据血缘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每个数从哪来、到哪去，一查就清楚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像家谱一样，从源头一直打通到报表、接口和智能体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11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业务系统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源头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04094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244943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原料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ODS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291564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95568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洗干净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DWD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54219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46192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汇总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DWS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792815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96817" y="2154097"/>
            <a:ext cx="1020013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成品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ADS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7043440" y="2446797"/>
            <a:ext cx="177393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247442" y="2154097"/>
            <a:ext cx="1020013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17739" rIns="35478" bIns="17739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指标 / 标签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口径认证过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8356152" y="2065401"/>
            <a:ext cx="399134" cy="461223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799636" y="1888007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小Q 报表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8356152" y="2508885"/>
            <a:ext cx="399134" cy="17739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799636" y="2331491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开放接口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56152" y="2526624"/>
            <a:ext cx="399134" cy="425744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799636" y="2774975"/>
            <a:ext cx="2093244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AI 智能体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3129762"/>
            <a:ext cx="9898562" cy="17739"/>
          </a:xfrm>
          <a:prstGeom prst="roundRect">
            <a:avLst>
              <a:gd name="adj" fmla="val 0"/>
            </a:avLst>
          </a:prstGeom>
          <a:solidFill>
            <a:srgbClr val="CD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4318" y="3245068"/>
            <a:ext cx="4434840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家谱的三个用处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4318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53971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42" y="3932468"/>
            <a:ext cx="221742" cy="22174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703892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查错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9451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报表数字不对，沿家谱往上查，快速找到出错的那一层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52970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12624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git-bran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95" y="3932468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改之前先评估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48103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改表、改口径前，先查哪些报表、接口受影响，通知负责人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11622" y="3661943"/>
            <a:ext cx="3181258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71276" y="3821597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trash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147" y="3932468"/>
            <a:ext cx="221742" cy="22174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421197" y="3821597"/>
            <a:ext cx="233863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清理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6755" y="4353778"/>
            <a:ext cx="2790992" cy="3281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没有下游、没人访问的表和任务，进入下线清单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4318" y="4948047"/>
            <a:ext cx="4434840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家谱里记三类信息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94318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26609" bIns="26609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技术信息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表结构、字段类型、存储量</a:t>
            </a:r>
          </a:p>
          <a:p>
            <a:pPr algn="l">
              <a:spcBef>
                <a:spcPts val="97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系统自动采集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352970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26609" bIns="26609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业务信息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含义、口径、负责人、安全等级</a:t>
            </a:r>
          </a:p>
          <a:p>
            <a:pPr algn="l">
              <a:spcBef>
                <a:spcPts val="97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开发填写，专员审核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711622" y="5347182"/>
            <a:ext cx="3181258" cy="665226"/>
          </a:xfrm>
          <a:prstGeom prst="roundRect">
            <a:avLst>
              <a:gd name="adj" fmla="val 1333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26609" bIns="26609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运行信息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几点产出、跑多久、多少人在用</a:t>
            </a:r>
          </a:p>
          <a:p>
            <a:pPr algn="l">
              <a:spcBef>
                <a:spcPts val="97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系统自动采集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④ 数据质量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每天体检，五项检查、强弱两档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关键数据算完立刻自动检查，不合格的数据拦在报表外面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12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5853988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7363" y="2154692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lipboar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34" y="2265563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686153" y="2101474"/>
            <a:ext cx="88696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完整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86153" y="2385303"/>
            <a:ext cx="88696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不能缺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90860" y="2048256"/>
            <a:ext cx="4124400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订单号、景区编号不能空；日订单量比近 7 天平均波动超 30% 报警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4318" y="2793309"/>
            <a:ext cx="5853988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7363" y="2899745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badge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34" y="3010616"/>
            <a:ext cx="221742" cy="221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686153" y="2846527"/>
            <a:ext cx="88696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准确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86153" y="3130356"/>
            <a:ext cx="88696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不能错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90860" y="2793309"/>
            <a:ext cx="4124400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金额不能为负；核销时间不能早于下单时间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3538362"/>
            <a:ext cx="5853988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27363" y="3644798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arrow-left-righ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34" y="3755669"/>
            <a:ext cx="221742" cy="22174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86153" y="3591579"/>
            <a:ext cx="88696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一致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86153" y="3875410"/>
            <a:ext cx="88696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对得上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90860" y="3538362"/>
            <a:ext cx="4124400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仓库里的订单金额汇总 = 业务系统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4283415"/>
            <a:ext cx="5853988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27363" y="438985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tim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34" y="4500722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686153" y="4336633"/>
            <a:ext cx="88696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及时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86153" y="4620463"/>
            <a:ext cx="88696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不能晚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90860" y="4283415"/>
            <a:ext cx="4124400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核心报表每天 7:00 前算完，晚了报警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4318" y="5028468"/>
            <a:ext cx="5853988" cy="656356"/>
          </a:xfrm>
          <a:prstGeom prst="roundRect">
            <a:avLst>
              <a:gd name="adj" fmla="val 1351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27363" y="513490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fingerprin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34" y="5245775"/>
            <a:ext cx="221742" cy="22174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86153" y="5081686"/>
            <a:ext cx="88696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唯一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86153" y="5365516"/>
            <a:ext cx="886968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不重复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90860" y="5028468"/>
            <a:ext cx="4124400" cy="6563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订单号不重复；同一张票不能重复核销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070048" y="2048256"/>
            <a:ext cx="1844893" cy="2261768"/>
          </a:xfrm>
          <a:prstGeom prst="roundRect">
            <a:avLst>
              <a:gd name="adj" fmla="val 5769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7442" y="2190170"/>
            <a:ext cx="319308" cy="31930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7646577" y="2163561"/>
            <a:ext cx="122401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强规则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47442" y="2695742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FE7CF"/>
                </a:solidFill>
                <a:latin typeface="微软雅黑"/>
                <a:ea typeface="微软雅黑"/>
              </a:rPr>
              <a:t>用在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47442" y="2908614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核心表、对外接口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47442" y="3227923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FE7CF"/>
                </a:solidFill>
                <a:latin typeface="微软雅黑"/>
                <a:ea typeface="微软雅黑"/>
              </a:rPr>
              <a:t>不过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47442" y="3440795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拦住下游，通知负责人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47442" y="3760104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FE7CF"/>
                </a:solidFill>
                <a:latin typeface="微软雅黑"/>
                <a:ea typeface="微软雅黑"/>
              </a:rPr>
              <a:t>时限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47442" y="3972976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当天修好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47988" y="2048256"/>
            <a:ext cx="1844893" cy="22617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bell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5381" y="2190170"/>
            <a:ext cx="319308" cy="31930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624517" y="2163561"/>
            <a:ext cx="122401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弱规则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25381" y="2695742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用在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25381" y="2908614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一般表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25381" y="3227923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不过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25381" y="3440795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只提醒，不拦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25381" y="3760104"/>
            <a:ext cx="1578803" cy="2217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时限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25381" y="3972976"/>
            <a:ext cx="1578803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一周内修好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070048" y="4443069"/>
            <a:ext cx="3822832" cy="1330452"/>
          </a:xfrm>
          <a:prstGeom prst="roundRect">
            <a:avLst>
              <a:gd name="adj" fmla="val 8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47442" y="4514027"/>
            <a:ext cx="355674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出了问题怎么办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247442" y="4886553"/>
            <a:ext cx="733966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发现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8008018" y="4992989"/>
            <a:ext cx="124175" cy="150784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158801" y="4886553"/>
            <a:ext cx="733966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拦住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8919377" y="4992989"/>
            <a:ext cx="124175" cy="150784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070162" y="4886553"/>
            <a:ext cx="733966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修复重跑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9830737" y="4992989"/>
            <a:ext cx="124175" cy="150784"/>
          </a:xfrm>
          <a:prstGeom prst="right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981521" y="4886553"/>
            <a:ext cx="733966" cy="372526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登记问题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47442" y="5330037"/>
            <a:ext cx="355674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同类问题出现两次，就补一条规则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④ 数据质量 · 举例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“核销量”怎么做到各处一致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这是数据治理的样板：核销做通了，同样的方法复制到其他指标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13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78705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2007748"/>
            <a:ext cx="709574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第一步：先把四个容易混的数分开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核销次数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刷了几次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6346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79830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有效核销票数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有效的票几张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1858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65342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入园人次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进了几人次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7369" y="2415753"/>
            <a:ext cx="443484" cy="6918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50" b="1">
                <a:solidFill>
                  <a:srgbClr val="E39A57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50853" y="2415753"/>
            <a:ext cx="2142027" cy="691835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21816F"/>
                </a:solidFill>
                <a:latin typeface="微软雅黑"/>
                <a:ea typeface="微软雅黑"/>
              </a:rPr>
              <a:t>去重游客数</a:t>
            </a:r>
          </a:p>
          <a:p>
            <a:pPr algn="ctr"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实际来了几个人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318" y="3214024"/>
            <a:ext cx="9898562" cy="390265"/>
          </a:xfrm>
          <a:prstGeom prst="roundRect">
            <a:avLst>
              <a:gd name="adj" fmla="val 18181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0" bIns="0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比如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一位年卡游客一天进出 3 次：核销次数 3，入园人次 3，去重游客数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852641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6233" y="3781684"/>
            <a:ext cx="79827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第二步：从现场到报表，每一层按“景区 + 日期”对一次数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闸机 / 手持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现场记录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2780671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037892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业务系统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订单与核销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4824246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81466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仓库明细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洗干净的数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867819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125040" y="4189689"/>
            <a:ext cx="1724265" cy="753922"/>
          </a:xfrm>
          <a:prstGeom prst="roundRect">
            <a:avLst>
              <a:gd name="adj" fmla="val 1176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仓库汇总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按天按景区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8911394" y="4477953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68615" y="4189689"/>
            <a:ext cx="1724265" cy="753922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报表 / 接口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大家看到的数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第三步　</a:t>
            </a:r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对不上就自动报警</a:t>
            </a:r>
          </a:p>
          <a:p>
            <a:pPr algn="l">
              <a:spcBef>
                <a:spcPts val="194"/>
              </a:spcBef>
            </a:pPr>
            <a:r>
              <a:rPr sz="1250" b="0">
                <a:solidFill>
                  <a:srgbClr val="5E7772"/>
                </a:solidFill>
                <a:latin typeface="微软雅黑"/>
                <a:ea typeface="微软雅黑"/>
              </a:rPr>
              <a:t>→ 查原因 → 修复 → 重算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2296" y="5138745"/>
            <a:ext cx="4860584" cy="753922"/>
          </a:xfrm>
          <a:prstGeom prst="roundRect">
            <a:avLst>
              <a:gd name="adj" fmla="val 11764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常见原因</a:t>
            </a:r>
          </a:p>
          <a:p>
            <a:pPr algn="l">
              <a:spcBef>
                <a:spcPts val="194"/>
              </a:spcBef>
            </a:pP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设备离线补传 · 重复上报 · 撤销冲正 · 时间口径混用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053587" y="104775"/>
            <a:ext cx="4084519" cy="562935"/>
            <a:chOff x="1778000" y="2361285"/>
            <a:chExt cx="4084519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084519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991335" cy="461665"/>
              <a:chOff x="1249621" y="2030985"/>
              <a:chExt cx="2991335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275210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⑦⑧ 资产运营与数据分发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定期盘点，统一出口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没人用的数据按步骤下线，省存储和计算；所有数据只从一个“窗口”出去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14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98878"/>
            <a:ext cx="4833975" cy="3902659"/>
          </a:xfrm>
          <a:prstGeom prst="roundRect">
            <a:avLst>
              <a:gd name="adj" fmla="val 318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rchiv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140793"/>
            <a:ext cx="337047" cy="33704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59544" y="2105314"/>
            <a:ext cx="4035704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⑦ 资产运营：定期盘点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060" y="260201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每月打“健康分”，按负责人公示排名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16060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规范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89663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质量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63266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36869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使用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10472" y="2956803"/>
            <a:ext cx="56716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成本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060" y="344463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没人用的，按步骤下线</a:t>
            </a:r>
          </a:p>
        </p:txBody>
      </p:sp>
      <p:sp>
        <p:nvSpPr>
          <p:cNvPr id="54" name="Oval 53"/>
          <p:cNvSpPr/>
          <p:nvPr/>
        </p:nvSpPr>
        <p:spPr>
          <a:xfrm>
            <a:off x="1216060" y="3834902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16060" y="3834902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59544" y="3799423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发现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24769" y="3799423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90 天没人访问 · 没下游 · 重复 · 临时表</a:t>
            </a:r>
          </a:p>
        </p:txBody>
      </p:sp>
      <p:sp>
        <p:nvSpPr>
          <p:cNvPr id="58" name="Oval 57"/>
          <p:cNvSpPr/>
          <p:nvPr/>
        </p:nvSpPr>
        <p:spPr>
          <a:xfrm>
            <a:off x="1216060" y="4331604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216060" y="4331604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9544" y="4296125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通知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4769" y="4296125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负责人确认</a:t>
            </a:r>
          </a:p>
        </p:txBody>
      </p:sp>
      <p:sp>
        <p:nvSpPr>
          <p:cNvPr id="62" name="Oval 61"/>
          <p:cNvSpPr/>
          <p:nvPr/>
        </p:nvSpPr>
        <p:spPr>
          <a:xfrm>
            <a:off x="1216060" y="4828306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216060" y="4828306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59544" y="4792827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先停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24769" y="4792827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停调度或改只读，观察 30 天</a:t>
            </a:r>
          </a:p>
        </p:txBody>
      </p:sp>
      <p:sp>
        <p:nvSpPr>
          <p:cNvPr id="66" name="Oval 65"/>
          <p:cNvSpPr/>
          <p:nvPr/>
        </p:nvSpPr>
        <p:spPr>
          <a:xfrm>
            <a:off x="1216060" y="5325008"/>
            <a:ext cx="319308" cy="31930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16060" y="5325008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59544" y="5289529"/>
            <a:ext cx="709574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删除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24769" y="5289529"/>
            <a:ext cx="3326129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没人反馈再删；有人反馈就恢复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58905" y="1998878"/>
            <a:ext cx="4833975" cy="3902659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end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647" y="2140793"/>
            <a:ext cx="337047" cy="33704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24131" y="2105314"/>
            <a:ext cx="4035704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⑧ 数据分发：统一出口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80647" y="2602016"/>
            <a:ext cx="4479188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不再点对点导数、私接数据库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80647" y="3001152"/>
            <a:ext cx="1197406" cy="496702"/>
          </a:xfrm>
          <a:prstGeom prst="roundRect">
            <a:avLst>
              <a:gd name="adj" fmla="val 1428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认证指标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478053" y="3249503"/>
            <a:ext cx="266091" cy="3104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280647" y="3622029"/>
            <a:ext cx="1197406" cy="496702"/>
          </a:xfrm>
          <a:prstGeom prst="roundRect">
            <a:avLst>
              <a:gd name="adj" fmla="val 14285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统一标签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7478053" y="3559942"/>
            <a:ext cx="266091" cy="3104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788492" y="3001152"/>
            <a:ext cx="1818283" cy="1117579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88492" y="3045500"/>
            <a:ext cx="1818283" cy="5321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动态数据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开放 API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77189" y="3595420"/>
            <a:ext cx="1640890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统一鉴权 · 按景区隔离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6F6F2"/>
                </a:solidFill>
                <a:latin typeface="微软雅黑"/>
                <a:ea typeface="微软雅黑"/>
              </a:rPr>
              <a:t>调用计量 · 全程监控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9606777" y="3098718"/>
            <a:ext cx="221742" cy="461223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9828519" y="2974543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景区看板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9606777" y="3400287"/>
            <a:ext cx="221742" cy="15965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828519" y="3276112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营销圈人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606777" y="3559942"/>
            <a:ext cx="221742" cy="14191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9828519" y="3577681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合作伙伴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606777" y="3559942"/>
            <a:ext cx="221742" cy="443484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9828519" y="3879250"/>
            <a:ext cx="8869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AI 智能体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36299" y="4375952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69343" y="4375952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只查指标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10234" y="4375952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经营看板：销售额、核销量、入园人次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36299" y="4872653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69343" y="4872653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指标 + 标签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10234" y="4872653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按会员等级看复购率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36299" y="5369356"/>
            <a:ext cx="4479188" cy="425744"/>
          </a:xfrm>
          <a:prstGeom prst="roundRect">
            <a:avLst>
              <a:gd name="adj" fmla="val 16666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69343" y="5369356"/>
            <a:ext cx="1685239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标签圈人 + 指标看效果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10234" y="5369356"/>
            <a:ext cx="2616555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圈出近 90 天没复购的年卡用户，推活动后看转化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治理怎么保证落实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写进流程、有人负责、有考核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不另起流程、不搞运动；先治“订单 → 核销 → 结算”主线，做通再推广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15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4318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4318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workflow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043226"/>
            <a:ext cx="372526" cy="37252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748240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写进流程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53971" y="2708452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78148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事前 · 定规范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78148" y="3001152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需求确认口径；设计做模型评审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53971" y="3595420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78148" y="3630899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事中 · 设卡点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78148" y="3888120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发布自动检查；运行不合格就拦住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53971" y="4482388"/>
            <a:ext cx="2832384" cy="798271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78148" y="4517867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事后 · 做治理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78148" y="4775088"/>
            <a:ext cx="2619512" cy="47009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健康分、整改、复盘补规则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67753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67753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67753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495" y="2043226"/>
            <a:ext cx="372526" cy="37252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121676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有人负责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7407" y="2708452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51583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数据治理小组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51583" y="3001152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拍板口径争议、审批规范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27407" y="3373678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51583" y="3409157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数据负责人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51583" y="3666378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定方案、跨部门协调、对健康分负责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27407" y="4038904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1583" y="4074383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业务数据专员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1583" y="4331604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每个业务线一名，确认口径、验收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27407" y="4704130"/>
            <a:ext cx="2832384" cy="57652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51583" y="4739609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治理专员 / 开发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51583" y="4996830"/>
            <a:ext cx="2619512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维护标准规则；模型落地、问题修复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41188" y="1883572"/>
            <a:ext cx="3151692" cy="3547872"/>
          </a:xfrm>
          <a:prstGeom prst="roundRect">
            <a:avLst>
              <a:gd name="adj" fmla="val 393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741188" y="1883572"/>
            <a:ext cx="3151692" cy="709574"/>
          </a:xfrm>
          <a:prstGeom prst="roundRect">
            <a:avLst>
              <a:gd name="adj" fmla="val 175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741188" y="2398014"/>
            <a:ext cx="3151692" cy="19513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gaug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30" y="2043226"/>
            <a:ext cx="372526" cy="37252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495111" y="1883572"/>
            <a:ext cx="226472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有考核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00841" y="2708452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25018" y="2743931"/>
            <a:ext cx="261951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节奏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5018" y="3001152"/>
            <a:ext cx="2619512" cy="1153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两周口径评审 · 每月健康分公示 · 季度复盘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900841" y="3240632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25018" y="3240632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新表规范符合率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95474" y="3240632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900841" y="3772814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25018" y="3772814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核心报表按时产出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95474" y="3772814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≥ 99%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900841" y="4304995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25018" y="4304995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老板看板认证指标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95474" y="4304995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900841" y="4837175"/>
            <a:ext cx="2832384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25018" y="4837175"/>
            <a:ext cx="173254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核销量各出口差异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5474" y="4837175"/>
            <a:ext cx="93131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650" b="1">
                <a:solidFill>
                  <a:srgbClr val="21816F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4318" y="5573359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targe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451" y="5662056"/>
            <a:ext cx="266090" cy="26609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570847" y="5573359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原则　</a:t>
            </a:r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先测基线再定目标；看实际使用和业务结果，不看上了多少看板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建设落地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最终形成“六个统一”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治理是手段，这六件事是结果；每件都能对比“以前”和“以后”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16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50095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083140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48" y="2189576"/>
            <a:ext cx="212872" cy="2128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2083140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统一规范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1711" y="2615321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规范只写在文档里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71711" y="3014456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不合规的表发不出去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52970" y="1950095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30364" y="2083140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800" y="2189576"/>
            <a:ext cx="212872" cy="2128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62545" y="2083140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统一底座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30364" y="2615321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订单、核销第二天才看到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30364" y="3014456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分钟级看到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11622" y="1950095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889015" y="2083140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ca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451" y="2189576"/>
            <a:ext cx="212872" cy="21287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421197" y="2083140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统一标签（指标）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89015" y="2615321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报表、接口、AI 各说各的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89015" y="3014456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三处数字一致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3653073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71711" y="3786118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148" y="3892555"/>
            <a:ext cx="212872" cy="2128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03892" y="3786118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统一权限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71711" y="4318299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各系统各管各的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71711" y="4717435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一套规则管住所有出口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52970" y="3653073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30364" y="3786118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800" y="3892555"/>
            <a:ext cx="212872" cy="2128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062545" y="3786118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标签复用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30364" y="4318299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各部门各做一套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30364" y="4717435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一个游客一个身份，到处能用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11622" y="3653073"/>
            <a:ext cx="3181258" cy="1525584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889015" y="3786118"/>
            <a:ext cx="425744" cy="42574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5451" y="3892555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421197" y="3786118"/>
            <a:ext cx="2294290" cy="425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自助分析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889015" y="4318299"/>
            <a:ext cx="2826471" cy="354787"/>
          </a:xfrm>
          <a:prstGeom prst="roundRect">
            <a:avLst>
              <a:gd name="adj" fmla="val 20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9DB5AF"/>
                </a:solidFill>
                <a:latin typeface="微软雅黑"/>
                <a:ea typeface="微软雅黑"/>
              </a:rPr>
              <a:t>以前　</a:t>
            </a: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找数据团队要数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89015" y="4717435"/>
            <a:ext cx="2826471" cy="354787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0" bIns="0"/>
          <a:lstStyle/>
          <a:p>
            <a:pPr algn="l"/>
            <a:r>
              <a:rPr sz="950" b="1">
                <a:solidFill>
                  <a:srgbClr val="DDF1EC"/>
                </a:solidFill>
                <a:latin typeface="微软雅黑"/>
                <a:ea typeface="微软雅黑"/>
              </a:rPr>
              <a:t>以后　</a:t>
            </a: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业务自己查、自己看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5400400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16060" y="5400400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怎么推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147376" y="5524575"/>
            <a:ext cx="931316" cy="30156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统接入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3114172" y="5595533"/>
            <a:ext cx="141914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291565" y="5524575"/>
            <a:ext cx="931316" cy="30156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统建模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4258360" y="5595533"/>
            <a:ext cx="141914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435754" y="5524575"/>
            <a:ext cx="931316" cy="30156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统开发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5402549" y="5595533"/>
            <a:ext cx="141914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579943" y="5524575"/>
            <a:ext cx="931316" cy="301569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统服务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777349" y="5400400"/>
            <a:ext cx="402683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先在“订单 → 核销 → 结算”试点；老模型双跑对比再切换，可回退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统一规范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规矩定清楚，并且卡在流程里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表名、字段、码值全公司一个说法；新的卡住、老的分批改、持续有人管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17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85573"/>
            <a:ext cx="5809640" cy="3326129"/>
          </a:xfrm>
          <a:prstGeom prst="roundRect">
            <a:avLst>
              <a:gd name="adj" fmla="val 373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ook-open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2109749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44237" y="2074270"/>
            <a:ext cx="545485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定什么规矩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60408" y="2500015"/>
            <a:ext cx="635660" cy="408005"/>
          </a:xfrm>
          <a:prstGeom prst="roundRect">
            <a:avLst>
              <a:gd name="adj" fmla="val 1739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dwd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015" y="2925759"/>
            <a:ext cx="990447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加工层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02505" y="2500015"/>
            <a:ext cx="635660" cy="408005"/>
          </a:xfrm>
          <a:prstGeom prst="roundRect">
            <a:avLst>
              <a:gd name="adj" fmla="val 17391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ord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5111" y="2925759"/>
            <a:ext cx="990447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业务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4602" y="2500015"/>
            <a:ext cx="1456598" cy="408005"/>
          </a:xfrm>
          <a:prstGeom prst="roundRect">
            <a:avLst>
              <a:gd name="adj" fmla="val 17391"/>
            </a:avLst>
          </a:prstGeom>
          <a:solidFill>
            <a:srgbClr val="5B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order_item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7208" y="2925759"/>
            <a:ext cx="1811385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内容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07636" y="2500015"/>
            <a:ext cx="518383" cy="408005"/>
          </a:xfrm>
          <a:prstGeom prst="roundRect">
            <a:avLst>
              <a:gd name="adj" fmla="val 1739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微软雅黑"/>
                <a:ea typeface="微软雅黑"/>
              </a:rPr>
              <a:t>di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30243" y="2925759"/>
            <a:ext cx="873170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更新方式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1153" y="2500015"/>
            <a:ext cx="1649759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= 身份证号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89451" y="3253938"/>
            <a:ext cx="5419373" cy="37252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04756" y="3253938"/>
            <a:ext cx="53218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字段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36938" y="3253938"/>
            <a:ext cx="465658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景区 = scenic_id · 金额 = …_amt · 时间 = …_time · 是否 = is_…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89451" y="3697422"/>
            <a:ext cx="5419373" cy="37252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04756" y="3697422"/>
            <a:ext cx="53218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码值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36938" y="3697422"/>
            <a:ext cx="465658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票种、渠道类型、订单状态等建公共码表，不在代码里写死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060" y="4158645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建表 8 项必填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16060" y="4469084"/>
            <a:ext cx="68887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中文名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967026" y="4469084"/>
            <a:ext cx="56568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描述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594803" y="4469084"/>
            <a:ext cx="68887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负责人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45769" y="4469084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安全等级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19925" y="4469084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生命周期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94081" y="4469084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分区字段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16060" y="4797262"/>
            <a:ext cx="81206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字段注释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090216" y="4797262"/>
            <a:ext cx="120134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发生 / 上报时间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25700" y="1985573"/>
            <a:ext cx="3867180" cy="3326129"/>
          </a:xfrm>
          <a:prstGeom prst="roundRect">
            <a:avLst>
              <a:gd name="adj" fmla="val 37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hield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832" y="2109749"/>
            <a:ext cx="266090" cy="26609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575620" y="2074270"/>
            <a:ext cx="324630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怎么让规矩落地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03094" y="2544363"/>
            <a:ext cx="3512393" cy="674095"/>
          </a:xfrm>
          <a:prstGeom prst="roundRect">
            <a:avLst>
              <a:gd name="adj" fmla="val 10526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309530" y="2721757"/>
            <a:ext cx="319308" cy="3193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309530" y="2721757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53014" y="2579842"/>
            <a:ext cx="289151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新建 · 卡住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3014" y="2863672"/>
            <a:ext cx="289151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发布前脚本自动检查，不合规直接打回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03094" y="3307156"/>
            <a:ext cx="3512393" cy="674095"/>
          </a:xfrm>
          <a:prstGeom prst="roundRect">
            <a:avLst>
              <a:gd name="adj" fmla="val 10526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309530" y="3484549"/>
            <a:ext cx="319308" cy="3193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309530" y="3484549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53014" y="3342634"/>
            <a:ext cx="289151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存量 · 分批改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53014" y="3626464"/>
            <a:ext cx="289151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核心表优先；改名保留兼容视图；AI 补描述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203094" y="4069948"/>
            <a:ext cx="3512393" cy="674095"/>
          </a:xfrm>
          <a:prstGeom prst="roundRect">
            <a:avLst>
              <a:gd name="adj" fmla="val 10526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309530" y="4247342"/>
            <a:ext cx="319308" cy="3193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309530" y="4247342"/>
            <a:ext cx="319308" cy="319308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53014" y="4105427"/>
            <a:ext cx="2891515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持续 · 有人管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53014" y="4389257"/>
            <a:ext cx="289151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资产健康分每月公示，低分限期整改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20832" y="4850480"/>
            <a:ext cx="3512393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FFE7CF"/>
                </a:solidFill>
                <a:latin typeface="微软雅黑"/>
                <a:ea typeface="微软雅黑"/>
              </a:rPr>
              <a:t>标准模块未买：规范文档 + 发布前检查脚本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4318" y="5471358"/>
            <a:ext cx="2904820" cy="443484"/>
          </a:xfrm>
          <a:prstGeom prst="roundRect">
            <a:avLst>
              <a:gd name="adj" fmla="val 16000"/>
            </a:avLst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35478" bIns="35478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以前　</a:t>
            </a: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规范只写在文档里，没人卡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3987835" y="5604403"/>
            <a:ext cx="22174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298274" y="5471358"/>
            <a:ext cx="2904820" cy="443484"/>
          </a:xfrm>
          <a:prstGeom prst="roundRect">
            <a:avLst>
              <a:gd name="adj" fmla="val 16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35478" bIns="35478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以后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不合规的表发不出去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424836" y="5471358"/>
            <a:ext cx="3468044" cy="443484"/>
          </a:xfrm>
          <a:prstGeom prst="roundRect">
            <a:avLst>
              <a:gd name="adj" fmla="val 16000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3" tIns="0" bIns="0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衡量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新表规范符合率 100%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统一底座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一份存储，离线 + 实时，同一个逻辑只建一次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订单、核销从“第二天才看到”变成“分钟级看到”；离线和湖仓合一，不再出两套结果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18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10181"/>
            <a:ext cx="1729587" cy="2306116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lug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1" y="2052096"/>
            <a:ext cx="283829" cy="28382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08759" y="2016617"/>
            <a:ext cx="119740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数据进来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27363" y="2495580"/>
            <a:ext cx="1463497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业务库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27363" y="2823758"/>
            <a:ext cx="1463497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渠道接口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27363" y="3151935"/>
            <a:ext cx="1463497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设备事件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27363" y="3480113"/>
            <a:ext cx="1463497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行为日志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27363" y="3808293"/>
            <a:ext cx="1463497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外部数据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2741645" y="2974543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936778" y="1910181"/>
            <a:ext cx="1552194" cy="2306116"/>
          </a:xfrm>
          <a:prstGeom prst="roundRect">
            <a:avLst>
              <a:gd name="adj" fmla="val 68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lin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432" y="2052096"/>
            <a:ext cx="283829" cy="28382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451219" y="2016617"/>
            <a:ext cx="102001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统一接入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69823" y="2495580"/>
            <a:ext cx="128610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接入规范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69823" y="2823758"/>
            <a:ext cx="128610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对象编号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69823" y="3151935"/>
            <a:ext cx="128610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负责人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4506711" y="2974543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701844" y="1910181"/>
            <a:ext cx="2971342" cy="2306116"/>
          </a:xfrm>
          <a:prstGeom prst="roundRect">
            <a:avLst>
              <a:gd name="adj" fmla="val 461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499" y="2052096"/>
            <a:ext cx="283829" cy="28382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216286" y="2016617"/>
            <a:ext cx="243916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湖仓一体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34890" y="2495580"/>
            <a:ext cx="2705252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离线计算 · DataWorks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34890" y="2823758"/>
            <a:ext cx="2705252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实时计算 · 订单核销先行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34890" y="3151935"/>
            <a:ext cx="2705252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原料 → 成品分层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34890" y="3480113"/>
            <a:ext cx="2705252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共用业务定义和质量规则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7690926" y="2974543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886059" y="1910181"/>
            <a:ext cx="1507845" cy="2306116"/>
          </a:xfrm>
          <a:prstGeom prst="roundRect">
            <a:avLst>
              <a:gd name="adj" fmla="val 705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search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714" y="2052096"/>
            <a:ext cx="283829" cy="28382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400501" y="2016617"/>
            <a:ext cx="97566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分析查询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19105" y="2495580"/>
            <a:ext cx="1241755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稳定查询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19105" y="2823758"/>
            <a:ext cx="1241755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负载隔离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9411644" y="2974543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606777" y="1910181"/>
            <a:ext cx="1286103" cy="2306116"/>
          </a:xfrm>
          <a:prstGeom prst="roundRect">
            <a:avLst>
              <a:gd name="adj" fmla="val 827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send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6432" y="2052096"/>
            <a:ext cx="283829" cy="283829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0121219" y="2016617"/>
            <a:ext cx="75392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给谁用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39823" y="2495580"/>
            <a:ext cx="102001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739823" y="2823758"/>
            <a:ext cx="102001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开放 API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739823" y="3151935"/>
            <a:ext cx="1020013" cy="27496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AI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4464649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36233" y="4393692"/>
            <a:ext cx="6208776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离线和湖仓合一：同一个逻辑只建一次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94318" y="4801697"/>
            <a:ext cx="2550033" cy="549920"/>
          </a:xfrm>
          <a:prstGeom prst="roundRect">
            <a:avLst>
              <a:gd name="adj" fmla="val 12903"/>
            </a:avLst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35478" bIns="35478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以前　</a:t>
            </a: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离线、湖仓各做一份，结果不一样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3633048" y="4987960"/>
            <a:ext cx="22174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943487" y="4801697"/>
            <a:ext cx="2550033" cy="549920"/>
          </a:xfrm>
          <a:prstGeom prst="roundRect">
            <a:avLst>
              <a:gd name="adj" fmla="val 1290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045" tIns="35478" bIns="35478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以后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公共层只建一次，改口径只改一处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715262" y="4801697"/>
            <a:ext cx="693608" cy="549920"/>
          </a:xfrm>
          <a:prstGeom prst="roundRect">
            <a:avLst>
              <a:gd name="adj" fmla="val 1290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盘点重叠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7435479" y="4996830"/>
            <a:ext cx="124175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586263" y="4801697"/>
            <a:ext cx="693608" cy="549920"/>
          </a:xfrm>
          <a:prstGeom prst="roundRect">
            <a:avLst>
              <a:gd name="adj" fmla="val 1290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定保留版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8306482" y="4996830"/>
            <a:ext cx="124175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457266" y="4801697"/>
            <a:ext cx="693608" cy="549920"/>
          </a:xfrm>
          <a:prstGeom prst="roundRect">
            <a:avLst>
              <a:gd name="adj" fmla="val 1290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下游改引用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9177484" y="4996830"/>
            <a:ext cx="124175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328269" y="4801697"/>
            <a:ext cx="693608" cy="549920"/>
          </a:xfrm>
          <a:prstGeom prst="roundRect">
            <a:avLst>
              <a:gd name="adj" fmla="val 12903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双跑对比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10048487" y="4996830"/>
            <a:ext cx="124175" cy="15965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199272" y="4801697"/>
            <a:ext cx="693608" cy="549920"/>
          </a:xfrm>
          <a:prstGeom prst="roundRect">
            <a:avLst>
              <a:gd name="adj" fmla="val 12903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下线重复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94318" y="5529011"/>
            <a:ext cx="9898562" cy="461223"/>
          </a:xfrm>
          <a:prstGeom prst="roundRect">
            <a:avLst>
              <a:gd name="adj" fmla="val 1923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za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5626577"/>
            <a:ext cx="266090" cy="26609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570847" y="5529011"/>
            <a:ext cx="9144640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效果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订单、核销：第二天 → 分钟级看到；实时计算先做小范围试验，验证有效再追加投入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统一标签（指标）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一个口径，报表、接口、AI 三处一致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指标 = 数一数（卖了多少、来了多少）；标签 = 贴个签（年卡用户、喜欢夜游）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19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74702"/>
            <a:ext cx="5809640" cy="1729587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cal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11" y="1963399"/>
            <a:ext cx="266090" cy="2660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26498" y="1927920"/>
            <a:ext cx="5454852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① 口径说清楚：一个指标拆成四件事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71711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算什么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支付金额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5684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75338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加条件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线上成人票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9310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78964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什么时间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近 7 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22937" y="2318186"/>
            <a:ext cx="159654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82592" y="2318186"/>
            <a:ext cx="1243971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按什么看</a:t>
            </a:r>
          </a:p>
          <a:p>
            <a:pPr algn="ctr">
              <a:spcBef>
                <a:spcPts val="97"/>
              </a:spcBef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按景区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1711" y="2992282"/>
            <a:ext cx="5454852" cy="443484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= 近 7 天线上渠道成人票支付金额（按景区）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25700" y="1874702"/>
            <a:ext cx="3867180" cy="1729587"/>
          </a:xfrm>
          <a:prstGeom prst="roundRect">
            <a:avLst>
              <a:gd name="adj" fmla="val 6153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badg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094" y="1963399"/>
            <a:ext cx="266090" cy="26609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57880" y="1927920"/>
            <a:ext cx="3512393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新指标四步认证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03094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起草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934843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129976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确认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业务负责人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8861724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56857" y="2318186"/>
            <a:ext cx="731748" cy="585398"/>
          </a:xfrm>
          <a:prstGeom prst="roundRect">
            <a:avLst>
              <a:gd name="adj" fmla="val 1515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F3A35"/>
                </a:solidFill>
                <a:latin typeface="微软雅黑"/>
                <a:ea typeface="微软雅黑"/>
              </a:rPr>
              <a:t>拍板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5E7772"/>
                </a:solidFill>
                <a:latin typeface="微软雅黑"/>
                <a:ea typeface="微软雅黑"/>
              </a:rPr>
              <a:t>治理小组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9788606" y="2522189"/>
            <a:ext cx="195132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83739" y="2318186"/>
            <a:ext cx="731748" cy="585398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218" tIns="26609" rIns="53218" bIns="26609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发布</a:t>
            </a:r>
          </a:p>
          <a:p>
            <a:pPr algn="ctr">
              <a:lnSpc>
                <a:spcPct val="105000"/>
              </a:lnSpc>
              <a:spcBef>
                <a:spcPts val="194"/>
              </a:spcBef>
            </a:pPr>
            <a:r>
              <a:rPr sz="850" b="0">
                <a:solidFill>
                  <a:srgbClr val="E6F6F2"/>
                </a:solidFill>
                <a:latin typeface="微软雅黑"/>
                <a:ea typeface="微软雅黑"/>
              </a:rPr>
              <a:t>记录版本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3094" y="2992282"/>
            <a:ext cx="351239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认证过的才能进老板看板、接口和 AI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4318" y="3763944"/>
            <a:ext cx="532180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② 两级体系：集团出标准，景区可以自己加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4318" y="4136471"/>
            <a:ext cx="2793949" cy="1108710"/>
          </a:xfrm>
          <a:prstGeom prst="roundRect">
            <a:avLst>
              <a:gd name="adj" fmla="val 96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71711" y="4207428"/>
            <a:ext cx="252785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企业标准指标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71711" y="4562215"/>
            <a:ext cx="2527858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统一定义 · 版本管理 · 业务认证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全公司一个口径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10009" y="4136471"/>
            <a:ext cx="2793949" cy="110871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A9DD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87403" y="4207428"/>
            <a:ext cx="2527858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景区自定义空间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87403" y="4562215"/>
            <a:ext cx="2527858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 A / B / C 相互隔离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不能同名覆盖企业标准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167390" y="5289529"/>
            <a:ext cx="1463497" cy="248351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← 好用的沉淀为标准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25700" y="3763944"/>
            <a:ext cx="3867180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③ 同一个出口，三处数字一致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025700" y="4136471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hart-column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396" y="4189689"/>
            <a:ext cx="212872" cy="2128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398227" y="4136471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小Q 报表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755287" y="4296125"/>
            <a:ext cx="310439" cy="390265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025700" y="4508997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plug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396" y="4562214"/>
            <a:ext cx="212872" cy="21287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398227" y="4508997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开放 API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755287" y="4668652"/>
            <a:ext cx="310439" cy="17739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025700" y="4881524"/>
            <a:ext cx="1729587" cy="31930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bot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396" y="4934741"/>
            <a:ext cx="212872" cy="212872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398227" y="4881524"/>
            <a:ext cx="133045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AI 问数</a:t>
            </a:r>
          </a:p>
        </p:txBody>
      </p:sp>
      <p:cxnSp>
        <p:nvCxnSpPr>
          <p:cNvPr id="86" name="Connector 85"/>
          <p:cNvCxnSpPr/>
          <p:nvPr/>
        </p:nvCxnSpPr>
        <p:spPr>
          <a:xfrm flipV="1">
            <a:off x="8755287" y="4686391"/>
            <a:ext cx="310439" cy="354787"/>
          </a:xfrm>
          <a:prstGeom prst="line">
            <a:avLst/>
          </a:prstGeom>
          <a:ln w="127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110075" y="4296125"/>
            <a:ext cx="1782805" cy="798271"/>
          </a:xfrm>
          <a:prstGeom prst="roundRect">
            <a:avLst>
              <a:gd name="adj" fmla="val 1111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三处数字一致</a:t>
            </a:r>
          </a:p>
          <a:p>
            <a:pPr algn="ctr">
              <a:spcBef>
                <a:spcPts val="97"/>
              </a:spcBef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开会不用先对数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94318" y="5653186"/>
            <a:ext cx="9898562" cy="372526"/>
          </a:xfrm>
          <a:prstGeom prst="roundRect">
            <a:avLst>
              <a:gd name="adj" fmla="val 23809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targe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5706404"/>
            <a:ext cx="266090" cy="26609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570847" y="5653186"/>
            <a:ext cx="91446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衡量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认证指标覆盖率；老板看板认证指标 100%；核销量各出口 0 差异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统一权限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数据分级，谁能看什么一套规则管到底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越敏感管得越严；谁的数据只服务谁；所有出口用同一套规则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20  ·  AI＋数据平台 · 01  数据平台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318" y="1901311"/>
            <a:ext cx="3680917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先分级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4318" y="2256099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高敏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10329" y="2256099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5634" y="2256099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手机号、证件号、人脸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加密打码，明文不进大模型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2841498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10329" y="2841498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5634" y="2841498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单景区经营、价格、结算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按景区 / 供应商隔离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318" y="3426896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10329" y="3426896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5634" y="3426896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日志、设备状态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内部按角色授权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4012295"/>
            <a:ext cx="753922" cy="514441"/>
          </a:xfrm>
          <a:prstGeom prst="roundRect">
            <a:avLst>
              <a:gd name="adj" fmla="val 13793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公开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10329" y="4012295"/>
            <a:ext cx="2864906" cy="514441"/>
          </a:xfrm>
          <a:prstGeom prst="roundRect">
            <a:avLst>
              <a:gd name="adj" fmla="val 1379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5634" y="4012295"/>
            <a:ext cx="2705252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已发布的报告</a:t>
            </a:r>
          </a:p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可以公开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41326" y="1901311"/>
            <a:ext cx="354787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再定谁能看什么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61339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8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公开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05311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49284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3257" y="2256099"/>
            <a:ext cx="1199624" cy="266090"/>
          </a:xfrm>
          <a:prstGeom prst="roundRect">
            <a:avLst>
              <a:gd name="adj" fmla="val 2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高敏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41326" y="2575407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集团管理层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61339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05311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49284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看汇总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93257" y="2575407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41326" y="2885846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61339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05311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49284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按项目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93257" y="2885846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审批打码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41326" y="3196285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业务线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61339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05311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449284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本业务线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693257" y="3196285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41326" y="3506723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61339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05311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本景区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449284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本景区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93257" y="3506723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授权打码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41326" y="3817161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61339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205311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本供应商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49284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本供应商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93257" y="381716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41326" y="4127601"/>
            <a:ext cx="1020013" cy="274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外部伙伴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61339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205311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449284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C9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21816F"/>
                </a:solidFill>
                <a:latin typeface="微软雅黑"/>
                <a:ea typeface="微软雅黑"/>
              </a:rPr>
              <a:t>匿名汇总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93257" y="4127601"/>
            <a:ext cx="1199624" cy="274960"/>
          </a:xfrm>
          <a:prstGeom prst="roundRect">
            <a:avLst>
              <a:gd name="adj" fmla="val 19354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9DB5AF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941326" y="4438040"/>
            <a:ext cx="5951555" cy="283829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智能体　</a:t>
            </a: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不单独开权限，继承提问人的权限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94318" y="4810566"/>
            <a:ext cx="3680917" cy="727313"/>
          </a:xfrm>
          <a:prstGeom prst="roundRect">
            <a:avLst>
              <a:gd name="adj" fmla="val 12195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71711" y="4846045"/>
            <a:ext cx="3414826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底线：谁的数据只服务谁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71711" y="5112136"/>
            <a:ext cx="3414826" cy="4080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F3A35"/>
                </a:solidFill>
                <a:latin typeface="微软雅黑"/>
                <a:ea typeface="微软雅黑"/>
              </a:rPr>
              <a:t>景区数据只给该景区 · 供应商数据只给该供应商 · 对外只给匿名汇总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941326" y="4810566"/>
            <a:ext cx="5951555" cy="727313"/>
          </a:xfrm>
          <a:prstGeom prst="roundRect">
            <a:avLst>
              <a:gd name="adj" fmla="val 12195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18719" y="4846045"/>
            <a:ext cx="2660904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权限闭环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11871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申请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6108575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27709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审批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7266955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435479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最小授权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8425336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593860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全程留痕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9583716" y="522744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752240" y="5147614"/>
            <a:ext cx="963246" cy="301569"/>
          </a:xfrm>
          <a:prstGeom prst="roundRect">
            <a:avLst>
              <a:gd name="adj" fmla="val 23529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到期回收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94318" y="5626577"/>
            <a:ext cx="9898562" cy="354787"/>
          </a:xfrm>
          <a:prstGeom prst="roundRect">
            <a:avLst>
              <a:gd name="adj" fmla="val 2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71711" y="5626577"/>
            <a:ext cx="963247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FE7CF"/>
                </a:solidFill>
                <a:latin typeface="微软雅黑"/>
                <a:ea typeface="微软雅黑"/>
              </a:rPr>
              <a:t>同一套规则管住每个出口　</a:t>
            </a: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数据仓库 · 数据地图 · 开放 API · 小Q · 标签平台 · AI　　安全中心未买：先用引擎权限 + 打码视图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标签复用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一个游客一个身份，一处加工、到处能用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订单、会员、年卡、人脸归并成同一个游客；营销、分析、AI、景区都从同一处取标签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21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825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eceip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2145822"/>
            <a:ext cx="248351" cy="2483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82150" y="204825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订单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590860" y="2269998"/>
            <a:ext cx="399135" cy="60313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94318" y="259817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users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2695742"/>
            <a:ext cx="248351" cy="24835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482150" y="259817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会员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90860" y="2819918"/>
            <a:ext cx="399135" cy="53218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94318" y="314809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icket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63" y="3245662"/>
            <a:ext cx="248351" cy="24835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82150" y="314809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年卡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2590860" y="2873136"/>
            <a:ext cx="399135" cy="496702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94318" y="3698016"/>
            <a:ext cx="159654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can-fac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63" y="3795582"/>
            <a:ext cx="248351" cy="24835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482150" y="3698016"/>
            <a:ext cx="1064361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人脸识别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2590860" y="2873136"/>
            <a:ext cx="399135" cy="1046622"/>
          </a:xfrm>
          <a:prstGeom prst="line">
            <a:avLst/>
          </a:prstGeom>
          <a:ln w="15875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034343" y="2429652"/>
            <a:ext cx="1596542" cy="886968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同一个游客</a:t>
            </a:r>
          </a:p>
          <a:p>
            <a:pPr algn="ctr">
              <a:spcBef>
                <a:spcPts val="97"/>
              </a:spcBef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OneID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4719584" y="2766700"/>
            <a:ext cx="248351" cy="212872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074370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17739" rIns="44348" bIns="17739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统一生产</a:t>
            </a:r>
          </a:p>
          <a:p>
            <a:pPr algn="ctr">
              <a:spcBef>
                <a:spcPts val="194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基于公共模型加工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6670912" y="278443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92654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17739" rIns="44348" bIns="17739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统一管理</a:t>
            </a:r>
          </a:p>
          <a:p>
            <a:pPr algn="ctr">
              <a:spcBef>
                <a:spcPts val="194"/>
              </a:spcBef>
            </a:pPr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口径 · 负责人 · 生命周期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8489198" y="2784439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710939" y="2429652"/>
            <a:ext cx="1552194" cy="886968"/>
          </a:xfrm>
          <a:prstGeom prst="roundRect">
            <a:avLst>
              <a:gd name="adj" fmla="val 1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17739" rIns="44348" bIns="17739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统一服务</a:t>
            </a:r>
          </a:p>
          <a:p>
            <a:pPr algn="ctr">
              <a:spcBef>
                <a:spcPts val="194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一个出口提供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25699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41710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分析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57721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AI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73731" y="3582709"/>
            <a:ext cx="727313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50035" y="3582709"/>
            <a:ext cx="88696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谁来用 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4318" y="4292285"/>
            <a:ext cx="4838410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1711" y="4363242"/>
            <a:ext cx="97566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给谁打标签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91725" y="4363242"/>
            <a:ext cx="350795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游客 / 会员 · 供应商 · 景区 · 渠道 · 商品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71711" y="4842205"/>
            <a:ext cx="97566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标签类型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91725" y="4842205"/>
            <a:ext cx="3507958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基础属性 · 统计类 · 规则类 · 模型预测类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54471" y="4292285"/>
            <a:ext cx="4838410" cy="1064361"/>
          </a:xfrm>
          <a:prstGeom prst="roundRect">
            <a:avLst>
              <a:gd name="adj" fmla="val 1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1864" y="4363242"/>
            <a:ext cx="4572320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边界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1864" y="4664811"/>
            <a:ext cx="4572320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景区只用本景区的标签</a:t>
            </a:r>
          </a:p>
          <a:p>
            <a:pPr algn="l">
              <a:lnSpc>
                <a:spcPct val="110000"/>
              </a:lnSpc>
              <a:spcBef>
                <a:spcPts val="194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不做敏感个人信息标签；对外不提供个人层面标签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自助分析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业务自己查、自己看，少找人要数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从统一的模型、指标、标签出发；数据团队从临时取数转向建模型、做分析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22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3226"/>
            <a:ext cx="1862632" cy="2394813"/>
          </a:xfrm>
          <a:prstGeom prst="roundRect">
            <a:avLst>
              <a:gd name="adj" fmla="val 5714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816F"/>
                </a:solidFill>
                <a:latin typeface="微软雅黑"/>
                <a:ea typeface="微软雅黑"/>
              </a:rPr>
              <a:t>统一出发点</a:t>
            </a:r>
          </a:p>
          <a:p>
            <a:pPr algn="ctr">
              <a:spcBef>
                <a:spcPts val="582"/>
              </a:spcBef>
            </a:pPr>
            <a:r>
              <a:rPr sz="1250" b="0">
                <a:solidFill>
                  <a:srgbClr val="21816F"/>
                </a:solidFill>
                <a:latin typeface="微软雅黑"/>
                <a:ea typeface="微软雅黑"/>
              </a:rPr>
              <a:t>模型</a:t>
            </a:r>
          </a:p>
          <a:p>
            <a:pPr algn="ctr">
              <a:spcBef>
                <a:spcPts val="582"/>
              </a:spcBef>
            </a:pPr>
            <a:r>
              <a:rPr sz="1250" b="0">
                <a:solidFill>
                  <a:srgbClr val="21816F"/>
                </a:solidFill>
                <a:latin typeface="微软雅黑"/>
                <a:ea typeface="微软雅黑"/>
              </a:rPr>
              <a:t>指标</a:t>
            </a:r>
          </a:p>
          <a:p>
            <a:pPr algn="ctr">
              <a:spcBef>
                <a:spcPts val="582"/>
              </a:spcBef>
            </a:pPr>
            <a:r>
              <a:rPr sz="1250" b="0">
                <a:solidFill>
                  <a:srgbClr val="21816F"/>
                </a:solidFill>
                <a:latin typeface="微软雅黑"/>
                <a:ea typeface="微软雅黑"/>
              </a:rPr>
              <a:t>标签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945648" y="3134197"/>
            <a:ext cx="248351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00435" y="2043226"/>
            <a:ext cx="3015691" cy="2394813"/>
          </a:xfrm>
          <a:prstGeom prst="roundRect">
            <a:avLst>
              <a:gd name="adj" fmla="val 444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hart-colum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568" y="2185141"/>
            <a:ext cx="319308" cy="3193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903573" y="2149662"/>
            <a:ext cx="2306115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小Q 自助分析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77828" y="2690713"/>
            <a:ext cx="1286103" cy="42574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指标检索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52629" y="2690713"/>
            <a:ext cx="1286103" cy="42574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明细探索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77828" y="3222894"/>
            <a:ext cx="1286103" cy="42574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可视化计算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52629" y="3222894"/>
            <a:ext cx="1286103" cy="42574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自定义看板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77828" y="3755075"/>
            <a:ext cx="1286103" cy="42574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21816F"/>
                </a:solidFill>
                <a:latin typeface="微软雅黑"/>
                <a:ea typeface="微软雅黑"/>
              </a:rPr>
              <a:t>报表订阅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6404823" y="3134197"/>
            <a:ext cx="248351" cy="230611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759610" y="2043226"/>
            <a:ext cx="1552194" cy="709574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rown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655" y="2247229"/>
            <a:ext cx="301569" cy="30156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74052" y="2043226"/>
            <a:ext cx="97566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总部经营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59610" y="2859237"/>
            <a:ext cx="1552194" cy="709574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briefcas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655" y="3063240"/>
            <a:ext cx="301569" cy="30156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274052" y="2859237"/>
            <a:ext cx="97566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业务线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759610" y="3675247"/>
            <a:ext cx="1552194" cy="709574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landmark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2655" y="3879250"/>
            <a:ext cx="301569" cy="30156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274052" y="3675247"/>
            <a:ext cx="975664" cy="70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33546" y="2043226"/>
            <a:ext cx="2359334" cy="2394813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533546" y="2043226"/>
            <a:ext cx="2359334" cy="319308"/>
          </a:xfrm>
          <a:prstGeom prst="roundRect">
            <a:avLst>
              <a:gd name="adj" fmla="val 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666591" y="2149662"/>
            <a:ext cx="106436" cy="106436"/>
          </a:xfrm>
          <a:prstGeom prst="ellipse">
            <a:avLst/>
          </a:prstGeom>
          <a:solidFill>
            <a:srgbClr val="E07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43985" y="2149662"/>
            <a:ext cx="106436" cy="106436"/>
          </a:xfrm>
          <a:prstGeom prst="ellipse">
            <a:avLst/>
          </a:prstGeom>
          <a:solidFill>
            <a:srgbClr val="D9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021378" y="2149662"/>
            <a:ext cx="106436" cy="106436"/>
          </a:xfrm>
          <a:prstGeom prst="ellipse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87469" y="2043226"/>
            <a:ext cx="1472366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自定义看板（示意）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99636" y="3577681"/>
            <a:ext cx="248351" cy="532180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172163" y="3267242"/>
            <a:ext cx="248351" cy="842619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544690" y="3444636"/>
            <a:ext cx="248351" cy="665226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917216" y="3045500"/>
            <a:ext cx="248351" cy="1064361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289743" y="3222894"/>
            <a:ext cx="248351" cy="886968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55288" y="2468971"/>
            <a:ext cx="2004547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1F3A35"/>
                </a:solidFill>
                <a:latin typeface="微软雅黑"/>
                <a:ea typeface="微软雅黑"/>
              </a:rPr>
              <a:t>××景区 · 本周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4318" y="4642043"/>
            <a:ext cx="4838410" cy="549920"/>
          </a:xfrm>
          <a:prstGeom prst="roundRect">
            <a:avLst>
              <a:gd name="adj" fmla="val 16129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AI 问数与报表同源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共用指标定义和权限，问出来的数和报表一致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54471" y="4642043"/>
            <a:ext cx="4838410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数据团队　</a:t>
            </a: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从临时取数、对数，转向建模型、做分析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4318" y="5369356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16060" y="5369356"/>
            <a:ext cx="1153058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7CF"/>
                </a:solidFill>
                <a:latin typeface="微软雅黑"/>
                <a:ea typeface="微软雅黑"/>
              </a:rPr>
              <a:t>最终产出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324769" y="5475792"/>
            <a:ext cx="105992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企业指标中心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491132" y="5475792"/>
            <a:ext cx="1318625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景区专属指标空间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916195" y="5475792"/>
            <a:ext cx="105992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统一标签服务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082558" y="5475792"/>
            <a:ext cx="105992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统一语义服务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248921" y="5475792"/>
            <a:ext cx="1059926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自助分析平台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对各业务线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每个人都用上靠谱的数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从管理层到景区，九类角色的变化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23  ·  AI＋数据平台 · 01  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90008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11750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row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322" y="2340361"/>
            <a:ext cx="257220" cy="2572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836938" y="2096444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管理层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36938" y="2415753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驾驶舱全用认证指标，不用先对数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2970" y="1990008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30364" y="2211750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974" y="2340361"/>
            <a:ext cx="257220" cy="2572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195590" y="2096444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5590" y="2415753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核销口径统一，差异自动定位；节假日实时看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11622" y="1990008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89015" y="2211750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alculato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7625" y="2340361"/>
            <a:ext cx="257220" cy="2572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554241" y="2096444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54241" y="2415753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业务与财务逐层对账，差异自动列原因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318" y="3125327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71711" y="3347069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rout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322" y="3475680"/>
            <a:ext cx="257220" cy="2572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836938" y="3231763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36938" y="3551072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销量、佣金、返利口径统一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52970" y="3125327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530364" y="3347069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megapho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8974" y="3475680"/>
            <a:ext cx="257220" cy="25722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195590" y="3231763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95590" y="3551072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标签圈人、指标看效果，复盘自动完成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711622" y="3125327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889015" y="3347069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heads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7625" y="3475680"/>
            <a:ext cx="257220" cy="2572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554241" y="3231763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运营 / 客户成功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54241" y="3551072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景区经营报告自动生成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4318" y="4260646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71711" y="4482388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od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322" y="4610998"/>
            <a:ext cx="257220" cy="25722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836938" y="4367082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产品研发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36938" y="4686391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上线前定好口径，上线即有数据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52970" y="4260646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30364" y="4482388"/>
            <a:ext cx="514441" cy="514441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databa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8974" y="4610998"/>
            <a:ext cx="257220" cy="2572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195590" y="4367082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95590" y="4686391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从取数对数转向建模型、做分析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711622" y="4260646"/>
            <a:ext cx="3181258" cy="957925"/>
          </a:xfrm>
          <a:prstGeom prst="roundRect">
            <a:avLst>
              <a:gd name="adj" fmla="val 1111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889015" y="4482388"/>
            <a:ext cx="514441" cy="514441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landmar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7625" y="4610998"/>
            <a:ext cx="257220" cy="25722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554241" y="4367082"/>
            <a:ext cx="2205592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景区 / 供应商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54241" y="4686391"/>
            <a:ext cx="2205592" cy="4612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直接用标准指标，不够用自己加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94318" y="5395965"/>
            <a:ext cx="9898562" cy="514441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zap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9451" y="5520141"/>
            <a:ext cx="266090" cy="26609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570847" y="5395965"/>
            <a:ext cx="9144640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为第二部分打基础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数据可信、有口径、有权限，AI 接上去才能答得准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围绕三个目标，一条线建下去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智能体平台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现状与底气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04487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能做哪些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752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建设思路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跑通商业模式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3608" y="45262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快速占领市场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41448" y="48737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建自己的平台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04487" y="487375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风险与底线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现状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已有智能体，来自三个地方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智能体 = 能听懂问题、还能帮你办事的 AI 助手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25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05746"/>
            <a:ext cx="6474866" cy="1197406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9451" y="2100879"/>
            <a:ext cx="443484" cy="44348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887" y="2207315"/>
            <a:ext cx="230611" cy="23061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2083140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扣子平台上配置的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81386" y="2127488"/>
            <a:ext cx="966055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工作流配置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92589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91907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91224" y="2508885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90541" y="2508885"/>
            <a:ext cx="82488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04118" y="2508885"/>
            <a:ext cx="82488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92589" y="2845932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给游客用 · 标准化、配置化输出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4318" y="3236198"/>
            <a:ext cx="6474866" cy="1197406"/>
          </a:xfrm>
          <a:prstGeom prst="roundRect">
            <a:avLst>
              <a:gd name="adj" fmla="val 10370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89451" y="3431331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ha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322" y="3542202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792589" y="3413592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和合作企业一起做的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10736" y="3457940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合作接入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92589" y="3839337"/>
            <a:ext cx="61496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B26A2C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92589" y="4176384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给听障游客用 · 接入合作方的专业能力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4566650"/>
            <a:ext cx="6474866" cy="1197406"/>
          </a:xfrm>
          <a:prstGeom prst="roundRect">
            <a:avLst>
              <a:gd name="adj" fmla="val 1037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89451" y="4761783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chart-colum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322" y="4872654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92589" y="4744044"/>
            <a:ext cx="3547872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小Q 自带的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10736" y="4788392"/>
            <a:ext cx="836706" cy="28382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平台自带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92589" y="5169789"/>
            <a:ext cx="91062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智能问数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91907" y="5169789"/>
            <a:ext cx="1206276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智能数据解读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92589" y="5506836"/>
            <a:ext cx="5587898" cy="212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给景区和内部管理者用 · 直接用小Q 的 AI 能力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01364" y="1843659"/>
            <a:ext cx="2838297" cy="4213098"/>
          </a:xfrm>
          <a:prstGeom prst="roundRect">
            <a:avLst>
              <a:gd name="adj" fmla="val 1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090061" y="1932355"/>
            <a:ext cx="2660904" cy="4035704"/>
          </a:xfrm>
          <a:prstGeom prst="roundRect">
            <a:avLst>
              <a:gd name="adj" fmla="val 8333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021378" y="1958963"/>
            <a:ext cx="798271" cy="106436"/>
          </a:xfrm>
          <a:prstGeom prst="roundRect">
            <a:avLst>
              <a:gd name="adj" fmla="val 5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090061" y="2154097"/>
            <a:ext cx="2660904" cy="549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3106" y="2225055"/>
            <a:ext cx="390265" cy="39026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0673" y="2322621"/>
            <a:ext cx="195132" cy="19513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710939" y="2198445"/>
            <a:ext cx="195132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智能客服 · 示意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10939" y="2446797"/>
            <a:ext cx="1951329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2CAB93"/>
                </a:solidFill>
                <a:latin typeface="微软雅黑"/>
                <a:ea typeface="微软雅黑"/>
              </a:rPr>
              <a:t>● 在线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626862" y="2863672"/>
            <a:ext cx="1991057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明天上午去，几点开园？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23106" y="3307156"/>
            <a:ext cx="2139809" cy="674095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明天 8:00 开园。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刷身份证或人脸就能入园，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不用换票。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73117" y="4105427"/>
            <a:ext cx="1544802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帮我买两张成人票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23106" y="4548911"/>
            <a:ext cx="2014857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已选好明天成人票 2 张，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点这里去支付 →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23106" y="5480226"/>
            <a:ext cx="2394813" cy="3370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00500" y="5480226"/>
            <a:ext cx="17739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9DB5AF"/>
                </a:solidFill>
                <a:latin typeface="微软雅黑"/>
                <a:ea typeface="微软雅黑"/>
              </a:rPr>
              <a:t>有问题尽管问我…</a:t>
            </a:r>
          </a:p>
        </p:txBody>
      </p:sp>
      <p:sp>
        <p:nvSpPr>
          <p:cNvPr id="84" name="Oval 83"/>
          <p:cNvSpPr/>
          <p:nvPr/>
        </p:nvSpPr>
        <p:spPr>
          <a:xfrm>
            <a:off x="10307481" y="5506836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sen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0700" y="5560053"/>
            <a:ext cx="177393" cy="17739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我们凭什么能做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系统在现场、数据在手里、客户在用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别人只能做“通用聊天”，我们能做“帮景区和游客办事”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26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786006"/>
            <a:ext cx="3547872" cy="3680917"/>
          </a:xfrm>
          <a:prstGeom prst="roundRect">
            <a:avLst>
              <a:gd name="adj" fmla="val 3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9451" y="194566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xe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408" y="2067618"/>
            <a:ext cx="243916" cy="2439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92589" y="1927920"/>
            <a:ext cx="266090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产品积累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92589" y="2211750"/>
            <a:ext cx="266090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多条产品线，系统装在景区现场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71711" y="2655234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ticket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48" y="2814888"/>
            <a:ext cx="248351" cy="24835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7456" y="2655234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智慧票务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12602" y="2655234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ferris-wheel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039" y="2814888"/>
            <a:ext cx="248351" cy="24835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238347" y="2655234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景区业态管理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71711" y="3329330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activity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148" y="3488984"/>
            <a:ext cx="248351" cy="24835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97456" y="3329330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景区运营管理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12602" y="3329330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wallet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9039" y="3488984"/>
            <a:ext cx="248351" cy="24835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238347" y="3329330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景区财务管理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71711" y="4003426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monitor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148" y="4163080"/>
            <a:ext cx="248351" cy="24835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597456" y="4003426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景区智慧终端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812602" y="4003426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rain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9039" y="4163080"/>
            <a:ext cx="248351" cy="248351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3238347" y="4003426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AI 数字大脑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71711" y="4677521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martphone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8148" y="4837175"/>
            <a:ext cx="248351" cy="248351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597456" y="4677521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畅游 AI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2602" y="4677521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megaphone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9039" y="4837175"/>
            <a:ext cx="248351" cy="24835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238347" y="4677521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会员营销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719584" y="1786006"/>
            <a:ext cx="3547872" cy="3680917"/>
          </a:xfrm>
          <a:prstGeom prst="roundRect">
            <a:avLst>
              <a:gd name="adj" fmla="val 3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14717" y="1945660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databas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6675" y="2067618"/>
            <a:ext cx="243916" cy="24391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517855" y="1927920"/>
            <a:ext cx="2660904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数据在手里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17855" y="2211750"/>
            <a:ext cx="266090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办事要用的数据，都在我们系统里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96977" y="2655234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receipt_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03413" y="2814888"/>
            <a:ext cx="248351" cy="248351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322722" y="2655234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交易与客流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537868" y="2655234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tag_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4304" y="2814888"/>
            <a:ext cx="248351" cy="248351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963613" y="2655234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售票与分销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896977" y="3329330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ferris-wheel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413" y="3488984"/>
            <a:ext cx="248351" cy="248351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322722" y="3329330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九大业态系统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537868" y="3329330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calendar-check_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4304" y="3488984"/>
            <a:ext cx="248351" cy="248351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963613" y="3329330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年卡与预约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896977" y="4003426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file-text_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03413" y="4163080"/>
            <a:ext cx="248351" cy="248351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322722" y="4003426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订单与结算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537868" y="4003426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users_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44304" y="4163080"/>
            <a:ext cx="248351" cy="24835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963613" y="4003426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会员与营销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896977" y="4677521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scan-face_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03413" y="4837175"/>
            <a:ext cx="248351" cy="248351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5322722" y="4677521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闸机与物联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537868" y="4677521"/>
            <a:ext cx="1552194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badge-check_p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4304" y="4837175"/>
            <a:ext cx="248351" cy="248351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963613" y="4677521"/>
            <a:ext cx="1090970" cy="5676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F3A35"/>
                </a:solidFill>
                <a:latin typeface="微软雅黑"/>
                <a:ea typeface="微软雅黑"/>
              </a:rPr>
              <a:t>认证指标与标签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444849" y="1786006"/>
            <a:ext cx="2448031" cy="3680917"/>
          </a:xfrm>
          <a:prstGeom prst="roundRect">
            <a:avLst>
              <a:gd name="adj" fmla="val 5072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639982" y="1945660"/>
            <a:ext cx="487832" cy="4878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handshake_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55288" y="2060966"/>
            <a:ext cx="257220" cy="25722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243120" y="1927920"/>
            <a:ext cx="1561062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客户在用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243120" y="2211750"/>
            <a:ext cx="1561062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大量景区已用我们的票务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622243" y="2655234"/>
            <a:ext cx="2093244" cy="780531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799636" y="2726192"/>
            <a:ext cx="182715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接口现成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799636" y="3054370"/>
            <a:ext cx="182715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系统已对接，基本零开发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622243" y="3542202"/>
            <a:ext cx="2093244" cy="780531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799636" y="3613160"/>
            <a:ext cx="182715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信任已有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99636" y="3941338"/>
            <a:ext cx="182715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老客户，成交最快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622243" y="4429170"/>
            <a:ext cx="2093244" cy="780531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799636" y="4500128"/>
            <a:ext cx="1827153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入口现成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799636" y="4828306"/>
            <a:ext cx="182715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小程序、公众号、APP、终端都在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94318" y="5626577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shield-check_w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89451" y="5737448"/>
            <a:ext cx="266090" cy="266090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570847" y="5626577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结论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别人做通用聊天，我们做“能办事”的智能体 —— 这是我们的护城河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游客端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覆盖游前、游中、游后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实心为已有，空心为基于现有系统和数据可以扩展的 —— 都要做，只是先后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27  ·  AI＋数据平台 · 02  智能体平台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260408" y="2180706"/>
            <a:ext cx="9366382" cy="0"/>
          </a:xfrm>
          <a:prstGeom prst="line">
            <a:avLst/>
          </a:prstGeom>
          <a:ln w="38100">
            <a:solidFill>
              <a:srgbClr val="A9DD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83015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ompas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930" y="2038791"/>
            <a:ext cx="283829" cy="283829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748240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游前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1294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想去 · 了解 · 买票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318" y="2650799"/>
            <a:ext cx="2882646" cy="2971342"/>
          </a:xfrm>
          <a:prstGeom prst="roundRect">
            <a:avLst>
              <a:gd name="adj" fmla="val 369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171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7171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景区咨询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36998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行程规划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7171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购票预约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36998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门票候补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1711" y="3732900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71711" y="4043339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06447" y="4043339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71711" y="4406996"/>
            <a:ext cx="96507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AI 旅游规划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98869" y="4406996"/>
            <a:ext cx="965070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AI 智能购票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71711" y="4770653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预约与候补提醒</a:t>
            </a:r>
          </a:p>
        </p:txBody>
      </p:sp>
      <p:sp>
        <p:nvSpPr>
          <p:cNvPr id="61" name="Oval 60"/>
          <p:cNvSpPr/>
          <p:nvPr/>
        </p:nvSpPr>
        <p:spPr>
          <a:xfrm>
            <a:off x="4143053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erris-whe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968" y="2038791"/>
            <a:ext cx="283829" cy="283829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4808280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游中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21334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入园 · 游玩 · 消费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54358" y="2650799"/>
            <a:ext cx="3955877" cy="2971342"/>
          </a:xfrm>
          <a:prstGeom prst="roundRect">
            <a:avLst>
              <a:gd name="adj" fmla="val 3582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3175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3175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入园核验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97038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导览讲解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62324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陪伴互动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27610" y="3049935"/>
            <a:ext cx="93525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无障碍服务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3175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乐园项目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97038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演出观看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62324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游船乘坐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27610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餐饮购物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31751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停车租赁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97038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酒店温泉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31751" y="403446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31751" y="4344908"/>
            <a:ext cx="772647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66487" y="4344908"/>
            <a:ext cx="694052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22627" y="4344908"/>
            <a:ext cx="501629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86344" y="4344908"/>
            <a:ext cx="1450192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乐园排队与项目推荐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31751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演出选座推荐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7505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餐饮二消推荐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43258" y="4708565"/>
            <a:ext cx="772647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停车引导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231751" y="5072222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自助机语音购票</a:t>
            </a:r>
          </a:p>
        </p:txBody>
      </p:sp>
      <p:sp>
        <p:nvSpPr>
          <p:cNvPr id="86" name="Oval 85"/>
          <p:cNvSpPr/>
          <p:nvPr/>
        </p:nvSpPr>
        <p:spPr>
          <a:xfrm>
            <a:off x="8276325" y="1896877"/>
            <a:ext cx="567659" cy="56765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camera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8240" y="2038791"/>
            <a:ext cx="283829" cy="283829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8941551" y="1985573"/>
            <a:ext cx="724357" cy="390265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游后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754605" y="2003313"/>
            <a:ext cx="1393525" cy="3547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回味 · 分享 · 再来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87629" y="2650799"/>
            <a:ext cx="2705252" cy="2971342"/>
          </a:xfrm>
          <a:prstGeom prst="roundRect">
            <a:avLst>
              <a:gd name="adj" fmla="val 3934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5021" y="2739496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65021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拍照留念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230309" y="3049935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游记分享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365021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点评反馈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230309" y="335150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年卡复游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65021" y="3653073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6F1EE"/>
          </a:solidFill>
          <a:ln w="12700">
            <a:solidFill>
              <a:srgbClr val="E6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4348" tIns="0" rIns="44348" bIns="0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积分权益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65021" y="403446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365021" y="4344908"/>
            <a:ext cx="694052" cy="30156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121162" y="4344908"/>
            <a:ext cx="1179174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游记与行程总结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365021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点评分享助手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470775" y="4708565"/>
            <a:ext cx="1043665" cy="3015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年卡服务助手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94318" y="5755187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748240" y="5755187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可扩展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68254" y="5755187"/>
            <a:ext cx="709574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实心为已有，空心为基于积累可扩展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景区端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从经营、运营到安全调度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票务、业态、财务、营销、调度的系统都是我们的，扩展有基础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28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786006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hart-lin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1892442"/>
            <a:ext cx="230611" cy="23061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55541" y="1786006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经营分析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4769" y="178600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经营问数 · 经营洞察 · 日报周报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53493" y="1874702"/>
            <a:ext cx="862822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智能问数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69534" y="1874702"/>
            <a:ext cx="862822" cy="2660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智能洞察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85575" y="1874702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经营日报周报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73066" y="1874702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报表解读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4318" y="2282708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icket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2389144"/>
            <a:ext cx="230611" cy="23061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55541" y="2282708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票务运营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24769" y="2282708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定价库存 · 分销渠道 · 团队报名 · 检票核销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53493" y="2371404"/>
            <a:ext cx="114615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票务 AI 运营助手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52871" y="2371404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分销渠道助手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40362" y="2371404"/>
            <a:ext cx="105746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旅行社报团助手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51043" y="2371404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检票异常解释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38534" y="2371404"/>
            <a:ext cx="105746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窗口售票员助手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2779410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erris-wheel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63" y="2885846"/>
            <a:ext cx="230611" cy="23061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455541" y="2779410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业态运营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24769" y="2779410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乐园 · 演出 · 游船 · 酒店 · 温泉 · 餐饮 · 停车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53493" y="2868107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业态经营助手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4318" y="3276112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bell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63" y="3382548"/>
            <a:ext cx="230611" cy="230611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455541" y="3276112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运营服务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24769" y="3276112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年卡 · 分时预约 · 候补 · 免证 · 一卡通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453493" y="3364809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消息通知预警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40984" y="3364809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工单调度处置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4318" y="3772814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calculator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363" y="3879250"/>
            <a:ext cx="230611" cy="230611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455541" y="3772814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24769" y="3772814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对账 · 发票 · 报表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453493" y="3861511"/>
            <a:ext cx="86282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AI 对账助手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69534" y="3861511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发票助手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4318" y="4269516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megaphone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363" y="4375952"/>
            <a:ext cx="230611" cy="230611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455541" y="4269516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24769" y="426951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会员 · 人群 · 全民营销 · 活动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453493" y="4358213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会员画像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194604" y="4358213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人群圈选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35715" y="4358213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营销文案生成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923206" y="4358213"/>
            <a:ext cx="81108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推广员助手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87507" y="4358213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活动复盘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94318" y="4766218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siren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363" y="4872654"/>
            <a:ext cx="230611" cy="230611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455541" y="4766218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安全调度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24769" y="4766218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客流秩序 · 车船调度 · 防火生态 · 气象设施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453493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旅游安全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194604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秩序治理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35715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车辆调度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676826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游船调度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417937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森林防火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159048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生态监测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900160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气象服务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641270" y="4854915"/>
            <a:ext cx="68789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设施监测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94318" y="5262920"/>
            <a:ext cx="9898562" cy="4434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cpu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7363" y="5369356"/>
            <a:ext cx="230611" cy="230611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455541" y="5262920"/>
            <a:ext cx="886968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设备终端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24769" y="5262920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E7772"/>
                </a:solidFill>
                <a:latin typeface="微软雅黑"/>
                <a:ea typeface="微软雅黑"/>
              </a:rPr>
              <a:t>闸机 · 自助机 · 窗口 · 边云网关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453493" y="5351617"/>
            <a:ext cx="934272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设备运维诊断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94318" y="5866058"/>
            <a:ext cx="665226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748240" y="5866058"/>
            <a:ext cx="842619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可扩展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68254" y="5866058"/>
            <a:ext cx="709574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安全调度即“景区 AI 调度中枢”；实心为已有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建设思路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围绕三个目标，走一条建设流程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先用成熟平台把事做成、把钱赚到，再快速铺开，最后建成自己的平台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29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69835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1998878"/>
            <a:ext cx="2660904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建设目标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380274"/>
            <a:ext cx="3151692" cy="842619"/>
          </a:xfrm>
          <a:prstGeom prst="roundRect">
            <a:avLst>
              <a:gd name="adj" fmla="val 1263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1711" y="2513319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targ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756" y="2646365"/>
            <a:ext cx="266090" cy="26609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836938" y="2442362"/>
            <a:ext cx="222037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跑通商业模式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36938" y="2797149"/>
            <a:ext cx="222037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能卖、能赚钱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67753" y="2380274"/>
            <a:ext cx="3151692" cy="842619"/>
          </a:xfrm>
          <a:prstGeom prst="roundRect">
            <a:avLst>
              <a:gd name="adj" fmla="val 1263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45147" y="2513319"/>
            <a:ext cx="532180" cy="532180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ro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192" y="2646365"/>
            <a:ext cx="266090" cy="26609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210373" y="2442362"/>
            <a:ext cx="222037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1F3A35"/>
                </a:solidFill>
                <a:latin typeface="微软雅黑"/>
                <a:ea typeface="微软雅黑"/>
              </a:rPr>
              <a:t>快速占领市场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0373" y="2797149"/>
            <a:ext cx="222037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铺得快、交付快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41188" y="2380274"/>
            <a:ext cx="3151692" cy="842619"/>
          </a:xfrm>
          <a:prstGeom prst="roundRect">
            <a:avLst>
              <a:gd name="adj" fmla="val 1263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18581" y="2513319"/>
            <a:ext cx="532180" cy="5321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building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626" y="2646365"/>
            <a:ext cx="266090" cy="26609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583807" y="2442362"/>
            <a:ext cx="2220375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建成自己的平台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83807" y="2797149"/>
            <a:ext cx="2220375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更省钱、更可控、有壁垒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4318" y="3515593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36233" y="3444636"/>
            <a:ext cx="443484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建设流程：一条线走下来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4318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选场景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2100811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251595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借成熟平台搭建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3358088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508871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标杆试点验证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4615364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766149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定价与交付定型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5872641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023427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按业态标准化复制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7129918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280704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沉淀知识、接口、数据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8387196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537981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时机成熟自建平台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9644473" y="4136471"/>
            <a:ext cx="141914" cy="141914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795258" y="3843771"/>
            <a:ext cx="1097622" cy="727313"/>
          </a:xfrm>
          <a:prstGeom prst="roundRect">
            <a:avLst>
              <a:gd name="adj" fmla="val 975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78" tIns="0" rIns="35478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平稳迁移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4318" y="4642043"/>
            <a:ext cx="4869453" cy="44348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4318" y="4713000"/>
            <a:ext cx="4869453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为了跑通商业模式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23427" y="4642043"/>
            <a:ext cx="2354900" cy="44348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23427" y="4713000"/>
            <a:ext cx="2354900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21816F"/>
                </a:solidFill>
                <a:latin typeface="微软雅黑"/>
                <a:ea typeface="微软雅黑"/>
              </a:rPr>
              <a:t>为了快速占领市场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537981" y="4642043"/>
            <a:ext cx="2354900" cy="44348"/>
          </a:xfrm>
          <a:prstGeom prst="roundRect">
            <a:avLst>
              <a:gd name="adj" fmla="val 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37981" y="4713000"/>
            <a:ext cx="2354900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为了建成自己的平台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4318" y="4996830"/>
            <a:ext cx="9898562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起步依托 Coze · 火山方舟 · 羚羊小Q；自建时以数字大脑作为智能体管理台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94318" y="5351617"/>
            <a:ext cx="9898562" cy="549920"/>
          </a:xfrm>
          <a:prstGeom prst="roundRect">
            <a:avLst>
              <a:gd name="adj" fmla="val 16129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16060" y="5351617"/>
            <a:ext cx="1419148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贯穿始终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502164" y="5493532"/>
            <a:ext cx="1367901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借平台，不交资产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976502" y="5493532"/>
            <a:ext cx="1367901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数据从第一天回流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50840" y="5493532"/>
            <a:ext cx="1096883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守住安全底线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654159" y="5493532"/>
            <a:ext cx="1465467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培养自己的 AI 团队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226064" y="5493532"/>
            <a:ext cx="1774428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B26A2C"/>
                </a:solidFill>
                <a:latin typeface="微软雅黑"/>
                <a:ea typeface="微软雅黑"/>
              </a:rPr>
              <a:t>用成本数据判断自建时机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跑通商业模式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先回答“能不能卖、能不能赚钱”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五个问题要用真实的景区、真实的钱来回答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30  ·  AI＋数据平台 · 02  智能体平台</a:t>
            </a:r>
          </a:p>
        </p:txBody>
      </p:sp>
      <p:grpSp>
        <p:nvGrpSpPr>
          <p:cNvPr id="21000" name="素材 31"/>
          <p:cNvGrpSpPr/>
          <p:nvPr/>
        </p:nvGrpSpPr>
        <p:grpSpPr>
          <a:xfrm>
            <a:off x="994318" y="2114184"/>
            <a:ext cx="6474866" cy="2683020"/>
            <a:chOff x="1728589" y="2236993"/>
            <a:chExt cx="7979490" cy="3306499"/>
          </a:xfrm>
        </p:grpSpPr>
        <p:grpSp>
          <p:nvGrpSpPr>
            <p:cNvPr id="21001" name="Group 20"/>
            <p:cNvGrpSpPr/>
            <p:nvPr/>
          </p:nvGrpSpPr>
          <p:grpSpPr>
            <a:xfrm>
              <a:off x="3240697" y="3115126"/>
              <a:ext cx="1942157" cy="1682741"/>
              <a:chOff x="3259138" y="2860907"/>
              <a:chExt cx="2222500" cy="1925638"/>
            </a:xfrm>
          </p:grpSpPr>
          <p:sp>
            <p:nvSpPr>
              <p:cNvPr id="21002" name="Freeform 6"/>
              <p:cNvSpPr/>
              <p:nvPr/>
            </p:nvSpPr>
            <p:spPr bwMode="auto">
              <a:xfrm>
                <a:off x="3259138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5BBFAE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3" name="Freeform 15"/>
              <p:cNvSpPr>
                <a:spLocks noEditPoints="1"/>
              </p:cNvSpPr>
              <p:nvPr/>
            </p:nvSpPr>
            <p:spPr bwMode="auto">
              <a:xfrm>
                <a:off x="3387726" y="2970444"/>
                <a:ext cx="1966913" cy="1706563"/>
              </a:xfrm>
              <a:custGeom>
                <a:avLst/>
                <a:gdLst>
                  <a:gd name="T0" fmla="*/ 11 w 1239"/>
                  <a:gd name="T1" fmla="*/ 537 h 1075"/>
                  <a:gd name="T2" fmla="*/ 317 w 1239"/>
                  <a:gd name="T3" fmla="*/ 1066 h 1075"/>
                  <a:gd name="T4" fmla="*/ 924 w 1239"/>
                  <a:gd name="T5" fmla="*/ 1066 h 1075"/>
                  <a:gd name="T6" fmla="*/ 1227 w 1239"/>
                  <a:gd name="T7" fmla="*/ 537 h 1075"/>
                  <a:gd name="T8" fmla="*/ 924 w 1239"/>
                  <a:gd name="T9" fmla="*/ 9 h 1075"/>
                  <a:gd name="T10" fmla="*/ 317 w 1239"/>
                  <a:gd name="T11" fmla="*/ 9 h 1075"/>
                  <a:gd name="T12" fmla="*/ 11 w 1239"/>
                  <a:gd name="T13" fmla="*/ 537 h 1075"/>
                  <a:gd name="T14" fmla="*/ 11 w 1239"/>
                  <a:gd name="T15" fmla="*/ 537 h 1075"/>
                  <a:gd name="T16" fmla="*/ 0 w 1239"/>
                  <a:gd name="T17" fmla="*/ 537 h 1075"/>
                  <a:gd name="T18" fmla="*/ 309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09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1" y="537"/>
                    </a:moveTo>
                    <a:lnTo>
                      <a:pt x="317" y="1066"/>
                    </a:lnTo>
                    <a:lnTo>
                      <a:pt x="924" y="1066"/>
                    </a:lnTo>
                    <a:lnTo>
                      <a:pt x="1227" y="537"/>
                    </a:lnTo>
                    <a:lnTo>
                      <a:pt x="924" y="9"/>
                    </a:lnTo>
                    <a:lnTo>
                      <a:pt x="317" y="9"/>
                    </a:lnTo>
                    <a:lnTo>
                      <a:pt x="11" y="537"/>
                    </a:lnTo>
                    <a:lnTo>
                      <a:pt x="11" y="537"/>
                    </a:lnTo>
                    <a:close/>
                    <a:moveTo>
                      <a:pt x="0" y="537"/>
                    </a:moveTo>
                    <a:lnTo>
                      <a:pt x="309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09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5BBFAE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04" name="Group 19"/>
            <p:cNvGrpSpPr/>
            <p:nvPr/>
          </p:nvGrpSpPr>
          <p:grpSpPr>
            <a:xfrm>
              <a:off x="1728589" y="2236993"/>
              <a:ext cx="1942157" cy="1686902"/>
              <a:chOff x="1528763" y="1856019"/>
              <a:chExt cx="2222500" cy="1930400"/>
            </a:xfrm>
          </p:grpSpPr>
          <p:sp>
            <p:nvSpPr>
              <p:cNvPr id="21005" name="Freeform 5"/>
              <p:cNvSpPr/>
              <p:nvPr/>
            </p:nvSpPr>
            <p:spPr bwMode="auto">
              <a:xfrm>
                <a:off x="1528763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2CAB93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6" name="Freeform 16"/>
              <p:cNvSpPr>
                <a:spLocks noEditPoints="1"/>
              </p:cNvSpPr>
              <p:nvPr/>
            </p:nvSpPr>
            <p:spPr bwMode="auto">
              <a:xfrm>
                <a:off x="1660526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2CAB93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07" name="Group 22"/>
            <p:cNvGrpSpPr/>
            <p:nvPr/>
          </p:nvGrpSpPr>
          <p:grpSpPr>
            <a:xfrm>
              <a:off x="6262137" y="3115126"/>
              <a:ext cx="1942157" cy="1682741"/>
              <a:chOff x="6716713" y="2860907"/>
              <a:chExt cx="2222500" cy="1925638"/>
            </a:xfrm>
          </p:grpSpPr>
          <p:sp>
            <p:nvSpPr>
              <p:cNvPr id="21008" name="Freeform 8"/>
              <p:cNvSpPr/>
              <p:nvPr/>
            </p:nvSpPr>
            <p:spPr bwMode="auto">
              <a:xfrm>
                <a:off x="6716713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E39A57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9" name="Freeform 17"/>
              <p:cNvSpPr>
                <a:spLocks noEditPoints="1"/>
              </p:cNvSpPr>
              <p:nvPr/>
            </p:nvSpPr>
            <p:spPr bwMode="auto">
              <a:xfrm>
                <a:off x="6845301" y="2970444"/>
                <a:ext cx="1966913" cy="1706563"/>
              </a:xfrm>
              <a:custGeom>
                <a:avLst/>
                <a:gdLst>
                  <a:gd name="T0" fmla="*/ 12 w 1239"/>
                  <a:gd name="T1" fmla="*/ 537 h 1075"/>
                  <a:gd name="T2" fmla="*/ 314 w 1239"/>
                  <a:gd name="T3" fmla="*/ 1066 h 1075"/>
                  <a:gd name="T4" fmla="*/ 922 w 1239"/>
                  <a:gd name="T5" fmla="*/ 1066 h 1075"/>
                  <a:gd name="T6" fmla="*/ 1227 w 1239"/>
                  <a:gd name="T7" fmla="*/ 537 h 1075"/>
                  <a:gd name="T8" fmla="*/ 922 w 1239"/>
                  <a:gd name="T9" fmla="*/ 9 h 1075"/>
                  <a:gd name="T10" fmla="*/ 314 w 1239"/>
                  <a:gd name="T11" fmla="*/ 9 h 1075"/>
                  <a:gd name="T12" fmla="*/ 12 w 1239"/>
                  <a:gd name="T13" fmla="*/ 537 h 1075"/>
                  <a:gd name="T14" fmla="*/ 12 w 1239"/>
                  <a:gd name="T15" fmla="*/ 537 h 1075"/>
                  <a:gd name="T16" fmla="*/ 0 w 1239"/>
                  <a:gd name="T17" fmla="*/ 537 h 1075"/>
                  <a:gd name="T18" fmla="*/ 310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10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2" y="537"/>
                    </a:moveTo>
                    <a:lnTo>
                      <a:pt x="314" y="1066"/>
                    </a:lnTo>
                    <a:lnTo>
                      <a:pt x="922" y="1066"/>
                    </a:lnTo>
                    <a:lnTo>
                      <a:pt x="1227" y="537"/>
                    </a:lnTo>
                    <a:lnTo>
                      <a:pt x="922" y="9"/>
                    </a:lnTo>
                    <a:lnTo>
                      <a:pt x="314" y="9"/>
                    </a:lnTo>
                    <a:lnTo>
                      <a:pt x="12" y="537"/>
                    </a:lnTo>
                    <a:lnTo>
                      <a:pt x="12" y="537"/>
                    </a:lnTo>
                    <a:close/>
                    <a:moveTo>
                      <a:pt x="0" y="537"/>
                    </a:moveTo>
                    <a:lnTo>
                      <a:pt x="310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10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E39A57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10" name="Group 21"/>
            <p:cNvGrpSpPr/>
            <p:nvPr/>
          </p:nvGrpSpPr>
          <p:grpSpPr>
            <a:xfrm>
              <a:off x="4750030" y="2236993"/>
              <a:ext cx="1942157" cy="1686902"/>
              <a:chOff x="4986338" y="1856019"/>
              <a:chExt cx="2222500" cy="1930400"/>
            </a:xfrm>
          </p:grpSpPr>
          <p:sp>
            <p:nvSpPr>
              <p:cNvPr id="21011" name="Freeform 7"/>
              <p:cNvSpPr/>
              <p:nvPr/>
            </p:nvSpPr>
            <p:spPr bwMode="auto">
              <a:xfrm>
                <a:off x="4986338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21816F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2" name="Freeform 18"/>
              <p:cNvSpPr>
                <a:spLocks noEditPoints="1"/>
              </p:cNvSpPr>
              <p:nvPr/>
            </p:nvSpPr>
            <p:spPr bwMode="auto">
              <a:xfrm>
                <a:off x="5118101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21816F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13" name="Group 23"/>
            <p:cNvGrpSpPr/>
            <p:nvPr/>
          </p:nvGrpSpPr>
          <p:grpSpPr>
            <a:xfrm>
              <a:off x="7764535" y="2236993"/>
              <a:ext cx="1943544" cy="1686902"/>
              <a:chOff x="8435976" y="1856019"/>
              <a:chExt cx="2224088" cy="1930400"/>
            </a:xfrm>
          </p:grpSpPr>
          <p:sp>
            <p:nvSpPr>
              <p:cNvPr id="21014" name="Freeform 9"/>
              <p:cNvSpPr/>
              <p:nvPr/>
            </p:nvSpPr>
            <p:spPr bwMode="auto">
              <a:xfrm>
                <a:off x="8435976" y="1856019"/>
                <a:ext cx="2224088" cy="1930400"/>
              </a:xfrm>
              <a:custGeom>
                <a:avLst/>
                <a:gdLst>
                  <a:gd name="T0" fmla="*/ 0 w 1401"/>
                  <a:gd name="T1" fmla="*/ 609 h 1216"/>
                  <a:gd name="T2" fmla="*/ 351 w 1401"/>
                  <a:gd name="T3" fmla="*/ 1216 h 1216"/>
                  <a:gd name="T4" fmla="*/ 1051 w 1401"/>
                  <a:gd name="T5" fmla="*/ 1216 h 1216"/>
                  <a:gd name="T6" fmla="*/ 1401 w 1401"/>
                  <a:gd name="T7" fmla="*/ 609 h 1216"/>
                  <a:gd name="T8" fmla="*/ 1051 w 1401"/>
                  <a:gd name="T9" fmla="*/ 0 h 1216"/>
                  <a:gd name="T10" fmla="*/ 351 w 1401"/>
                  <a:gd name="T11" fmla="*/ 0 h 1216"/>
                  <a:gd name="T12" fmla="*/ 0 w 1401"/>
                  <a:gd name="T13" fmla="*/ 609 h 1216"/>
                  <a:gd name="T14" fmla="*/ 0 w 1401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1" h="1216">
                    <a:moveTo>
                      <a:pt x="0" y="609"/>
                    </a:moveTo>
                    <a:lnTo>
                      <a:pt x="351" y="1216"/>
                    </a:lnTo>
                    <a:lnTo>
                      <a:pt x="1051" y="1216"/>
                    </a:lnTo>
                    <a:lnTo>
                      <a:pt x="1401" y="609"/>
                    </a:lnTo>
                    <a:lnTo>
                      <a:pt x="1051" y="0"/>
                    </a:lnTo>
                    <a:lnTo>
                      <a:pt x="351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8FD3C6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5" name="Freeform 19"/>
              <p:cNvSpPr>
                <a:spLocks noEditPoints="1"/>
              </p:cNvSpPr>
              <p:nvPr/>
            </p:nvSpPr>
            <p:spPr bwMode="auto">
              <a:xfrm>
                <a:off x="8567738" y="1968732"/>
                <a:ext cx="1963738" cy="1704975"/>
              </a:xfrm>
              <a:custGeom>
                <a:avLst/>
                <a:gdLst>
                  <a:gd name="T0" fmla="*/ 10 w 1237"/>
                  <a:gd name="T1" fmla="*/ 538 h 1074"/>
                  <a:gd name="T2" fmla="*/ 315 w 1237"/>
                  <a:gd name="T3" fmla="*/ 1064 h 1074"/>
                  <a:gd name="T4" fmla="*/ 923 w 1237"/>
                  <a:gd name="T5" fmla="*/ 1064 h 1074"/>
                  <a:gd name="T6" fmla="*/ 1225 w 1237"/>
                  <a:gd name="T7" fmla="*/ 538 h 1074"/>
                  <a:gd name="T8" fmla="*/ 923 w 1237"/>
                  <a:gd name="T9" fmla="*/ 10 h 1074"/>
                  <a:gd name="T10" fmla="*/ 315 w 1237"/>
                  <a:gd name="T11" fmla="*/ 10 h 1074"/>
                  <a:gd name="T12" fmla="*/ 10 w 1237"/>
                  <a:gd name="T13" fmla="*/ 538 h 1074"/>
                  <a:gd name="T14" fmla="*/ 10 w 1237"/>
                  <a:gd name="T15" fmla="*/ 538 h 1074"/>
                  <a:gd name="T16" fmla="*/ 0 w 1237"/>
                  <a:gd name="T17" fmla="*/ 538 h 1074"/>
                  <a:gd name="T18" fmla="*/ 310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10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10" y="538"/>
                    </a:moveTo>
                    <a:lnTo>
                      <a:pt x="315" y="1064"/>
                    </a:lnTo>
                    <a:lnTo>
                      <a:pt x="923" y="1064"/>
                    </a:lnTo>
                    <a:lnTo>
                      <a:pt x="1225" y="538"/>
                    </a:lnTo>
                    <a:lnTo>
                      <a:pt x="923" y="10"/>
                    </a:lnTo>
                    <a:lnTo>
                      <a:pt x="315" y="10"/>
                    </a:lnTo>
                    <a:lnTo>
                      <a:pt x="10" y="538"/>
                    </a:lnTo>
                    <a:lnTo>
                      <a:pt x="10" y="538"/>
                    </a:lnTo>
                    <a:close/>
                    <a:moveTo>
                      <a:pt x="0" y="538"/>
                    </a:moveTo>
                    <a:lnTo>
                      <a:pt x="310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10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8FD3C6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1016" name="Straight Connector 31"/>
            <p:cNvCxnSpPr/>
            <p:nvPr/>
          </p:nvCxnSpPr>
          <p:spPr>
            <a:xfrm>
              <a:off x="2699430" y="4160210"/>
              <a:ext cx="0" cy="541936"/>
            </a:xfrm>
            <a:prstGeom prst="line">
              <a:avLst/>
            </a:prstGeom>
            <a:ln w="28575">
              <a:solidFill>
                <a:srgbClr val="2CAB93"/>
              </a:solidFill>
              <a:headEnd type="oval" w="med" len="med"/>
              <a:tailEnd type="oval" w="med" len="med"/>
            </a:ln>
          </p:spPr>
          <p:style>
            <a:lnRef idx="1">
              <a:srgbClr val="2CAB93"/>
            </a:lnRef>
            <a:fillRef idx="0">
              <a:srgbClr val="2CAB93"/>
            </a:fillRef>
            <a:effectRef idx="0">
              <a:srgbClr val="2CAB93"/>
            </a:effectRef>
            <a:fontRef idx="minor">
              <a:srgbClr val="1F3A35"/>
            </a:fontRef>
          </p:style>
        </p:cxnSp>
        <p:cxnSp>
          <p:nvCxnSpPr>
            <p:cNvPr id="21017" name="Straight Connector 34"/>
            <p:cNvCxnSpPr/>
            <p:nvPr/>
          </p:nvCxnSpPr>
          <p:spPr>
            <a:xfrm>
              <a:off x="5710829" y="4160210"/>
              <a:ext cx="0" cy="541936"/>
            </a:xfrm>
            <a:prstGeom prst="line">
              <a:avLst/>
            </a:prstGeom>
            <a:ln w="28575">
              <a:solidFill>
                <a:srgbClr val="21816F"/>
              </a:solidFill>
              <a:headEnd type="oval" w="med" len="med"/>
              <a:tailEnd type="oval" w="med" len="med"/>
            </a:ln>
          </p:spPr>
          <p:style>
            <a:lnRef idx="1">
              <a:srgbClr val="2CAB93"/>
            </a:lnRef>
            <a:fillRef idx="0">
              <a:srgbClr val="2CAB93"/>
            </a:fillRef>
            <a:effectRef idx="0">
              <a:srgbClr val="2CAB93"/>
            </a:effectRef>
            <a:fontRef idx="minor">
              <a:srgbClr val="1F3A35"/>
            </a:fontRef>
          </p:style>
        </p:cxnSp>
        <p:cxnSp>
          <p:nvCxnSpPr>
            <p:cNvPr id="21018" name="Straight Connector 35"/>
            <p:cNvCxnSpPr/>
            <p:nvPr/>
          </p:nvCxnSpPr>
          <p:spPr>
            <a:xfrm>
              <a:off x="8736307" y="4160210"/>
              <a:ext cx="0" cy="541936"/>
            </a:xfrm>
            <a:prstGeom prst="line">
              <a:avLst/>
            </a:prstGeom>
            <a:ln w="28575">
              <a:solidFill>
                <a:srgbClr val="8FD3C6"/>
              </a:solidFill>
              <a:headEnd type="oval" w="med" len="med"/>
              <a:tailEnd type="oval" w="med" len="med"/>
            </a:ln>
          </p:spPr>
          <p:style>
            <a:lnRef idx="1">
              <a:srgbClr val="2CAB93"/>
            </a:lnRef>
            <a:fillRef idx="0">
              <a:srgbClr val="2CAB93"/>
            </a:fillRef>
            <a:effectRef idx="0">
              <a:srgbClr val="2CAB93"/>
            </a:effectRef>
            <a:fontRef idx="minor">
              <a:srgbClr val="1F3A35"/>
            </a:fontRef>
          </p:style>
        </p:cxnSp>
        <p:cxnSp>
          <p:nvCxnSpPr>
            <p:cNvPr id="21019" name="Straight Connector 36"/>
            <p:cNvCxnSpPr/>
            <p:nvPr/>
          </p:nvCxnSpPr>
          <p:spPr>
            <a:xfrm>
              <a:off x="4208750" y="5001556"/>
              <a:ext cx="0" cy="541936"/>
            </a:xfrm>
            <a:prstGeom prst="line">
              <a:avLst/>
            </a:prstGeom>
            <a:ln w="28575">
              <a:solidFill>
                <a:srgbClr val="5BBFAE"/>
              </a:solidFill>
              <a:headEnd type="oval" w="med" len="med"/>
              <a:tailEnd type="oval" w="med" len="med"/>
            </a:ln>
          </p:spPr>
          <p:style>
            <a:lnRef idx="1">
              <a:srgbClr val="2CAB93"/>
            </a:lnRef>
            <a:fillRef idx="0">
              <a:srgbClr val="2CAB93"/>
            </a:fillRef>
            <a:effectRef idx="0">
              <a:srgbClr val="2CAB93"/>
            </a:effectRef>
            <a:fontRef idx="minor">
              <a:srgbClr val="1F3A35"/>
            </a:fontRef>
          </p:style>
        </p:cxnSp>
        <p:cxnSp>
          <p:nvCxnSpPr>
            <p:cNvPr id="21020" name="Straight Connector 37"/>
            <p:cNvCxnSpPr/>
            <p:nvPr/>
          </p:nvCxnSpPr>
          <p:spPr>
            <a:xfrm>
              <a:off x="7233909" y="5001556"/>
              <a:ext cx="0" cy="541936"/>
            </a:xfrm>
            <a:prstGeom prst="line">
              <a:avLst/>
            </a:prstGeom>
            <a:ln w="28575">
              <a:solidFill>
                <a:srgbClr val="E39A57"/>
              </a:solidFill>
              <a:headEnd type="oval" w="med" len="med"/>
              <a:tailEnd type="oval" w="med" len="med"/>
            </a:ln>
          </p:spPr>
          <p:style>
            <a:lnRef idx="1">
              <a:srgbClr val="2CAB93"/>
            </a:lnRef>
            <a:fillRef idx="0">
              <a:srgbClr val="2CAB93"/>
            </a:fillRef>
            <a:effectRef idx="0">
              <a:srgbClr val="2CAB93"/>
            </a:effectRef>
            <a:fontRef idx="minor">
              <a:srgbClr val="1F3A35"/>
            </a:fontRef>
          </p:style>
        </p:cxnSp>
      </p:grpSp>
      <p:pic>
        <p:nvPicPr>
          <p:cNvPr id="21021" name="Picture 21020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380" y="2426945"/>
            <a:ext cx="390265" cy="390265"/>
          </a:xfrm>
          <a:prstGeom prst="rect">
            <a:avLst/>
          </a:prstGeom>
        </p:spPr>
      </p:pic>
      <p:sp>
        <p:nvSpPr>
          <p:cNvPr id="21022" name="TextBox 21021"/>
          <p:cNvSpPr txBox="1"/>
          <p:nvPr/>
        </p:nvSpPr>
        <p:spPr>
          <a:xfrm>
            <a:off x="982242" y="2870429"/>
            <a:ext cx="1596542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卖给谁</a:t>
            </a:r>
          </a:p>
        </p:txBody>
      </p:sp>
      <p:sp>
        <p:nvSpPr>
          <p:cNvPr id="21023" name="TextBox 21022"/>
          <p:cNvSpPr txBox="1"/>
          <p:nvPr/>
        </p:nvSpPr>
        <p:spPr>
          <a:xfrm>
            <a:off x="804848" y="4165994"/>
            <a:ext cx="1951329" cy="3015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哪类景区最需要</a:t>
            </a:r>
          </a:p>
        </p:txBody>
      </p:sp>
      <p:pic>
        <p:nvPicPr>
          <p:cNvPr id="21024" name="Picture 21023" descr="box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646" y="3139246"/>
            <a:ext cx="390265" cy="390265"/>
          </a:xfrm>
          <a:prstGeom prst="rect">
            <a:avLst/>
          </a:prstGeom>
        </p:spPr>
      </p:pic>
      <p:sp>
        <p:nvSpPr>
          <p:cNvPr id="21025" name="TextBox 21024"/>
          <p:cNvSpPr txBox="1"/>
          <p:nvPr/>
        </p:nvSpPr>
        <p:spPr>
          <a:xfrm>
            <a:off x="2206508" y="3582730"/>
            <a:ext cx="1596542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卖什么</a:t>
            </a:r>
          </a:p>
        </p:txBody>
      </p:sp>
      <p:sp>
        <p:nvSpPr>
          <p:cNvPr id="21026" name="TextBox 21025"/>
          <p:cNvSpPr txBox="1"/>
          <p:nvPr/>
        </p:nvSpPr>
        <p:spPr>
          <a:xfrm>
            <a:off x="2029114" y="4848615"/>
            <a:ext cx="1951329" cy="3015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哪些组合景区最认</a:t>
            </a:r>
          </a:p>
        </p:txBody>
      </p:sp>
      <p:pic>
        <p:nvPicPr>
          <p:cNvPr id="21027" name="Picture 21026" descr="coin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3912" y="2426945"/>
            <a:ext cx="390265" cy="390265"/>
          </a:xfrm>
          <a:prstGeom prst="rect">
            <a:avLst/>
          </a:prstGeom>
        </p:spPr>
      </p:pic>
      <p:sp>
        <p:nvSpPr>
          <p:cNvPr id="21028" name="TextBox 21027"/>
          <p:cNvSpPr txBox="1"/>
          <p:nvPr/>
        </p:nvSpPr>
        <p:spPr>
          <a:xfrm>
            <a:off x="3430774" y="2870429"/>
            <a:ext cx="1596542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怎么收钱</a:t>
            </a:r>
          </a:p>
        </p:txBody>
      </p:sp>
      <p:sp>
        <p:nvSpPr>
          <p:cNvPr id="21029" name="TextBox 21028"/>
          <p:cNvSpPr txBox="1"/>
          <p:nvPr/>
        </p:nvSpPr>
        <p:spPr>
          <a:xfrm>
            <a:off x="3253380" y="4165994"/>
            <a:ext cx="1951329" cy="3015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四种方式选哪种</a:t>
            </a:r>
          </a:p>
        </p:txBody>
      </p:sp>
      <p:pic>
        <p:nvPicPr>
          <p:cNvPr id="21030" name="Picture 21029" descr="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5599" y="3139246"/>
            <a:ext cx="390265" cy="390265"/>
          </a:xfrm>
          <a:prstGeom prst="rect">
            <a:avLst/>
          </a:prstGeom>
        </p:spPr>
      </p:pic>
      <p:sp>
        <p:nvSpPr>
          <p:cNvPr id="21031" name="TextBox 21030"/>
          <p:cNvSpPr txBox="1"/>
          <p:nvPr/>
        </p:nvSpPr>
        <p:spPr>
          <a:xfrm>
            <a:off x="4662460" y="3582730"/>
            <a:ext cx="1596542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花多少钱</a:t>
            </a:r>
          </a:p>
        </p:txBody>
      </p:sp>
      <p:sp>
        <p:nvSpPr>
          <p:cNvPr id="21032" name="TextBox 21031"/>
          <p:cNvSpPr txBox="1"/>
          <p:nvPr/>
        </p:nvSpPr>
        <p:spPr>
          <a:xfrm>
            <a:off x="4485067" y="4848615"/>
            <a:ext cx="1951329" cy="3015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平台费 + 交付 + 运营</a:t>
            </a:r>
          </a:p>
        </p:txBody>
      </p:sp>
      <p:pic>
        <p:nvPicPr>
          <p:cNvPr id="21033" name="Picture 21032" descr="thumbs-u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154" y="2426945"/>
            <a:ext cx="390265" cy="390265"/>
          </a:xfrm>
          <a:prstGeom prst="rect">
            <a:avLst/>
          </a:prstGeom>
        </p:spPr>
      </p:pic>
      <p:sp>
        <p:nvSpPr>
          <p:cNvPr id="21034" name="TextBox 21033"/>
          <p:cNvSpPr txBox="1"/>
          <p:nvPr/>
        </p:nvSpPr>
        <p:spPr>
          <a:xfrm>
            <a:off x="5883016" y="2870429"/>
            <a:ext cx="1596542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值不值</a:t>
            </a:r>
          </a:p>
        </p:txBody>
      </p:sp>
      <p:sp>
        <p:nvSpPr>
          <p:cNvPr id="21035" name="TextBox 21034"/>
          <p:cNvSpPr txBox="1"/>
          <p:nvPr/>
        </p:nvSpPr>
        <p:spPr>
          <a:xfrm>
            <a:off x="5705623" y="4165994"/>
            <a:ext cx="1951329" cy="3015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省人、多卖、更满意</a:t>
            </a:r>
          </a:p>
        </p:txBody>
      </p:sp>
      <p:sp>
        <p:nvSpPr>
          <p:cNvPr id="21036" name="Rounded Rectangle 21035"/>
          <p:cNvSpPr/>
          <p:nvPr/>
        </p:nvSpPr>
        <p:spPr>
          <a:xfrm>
            <a:off x="7983626" y="1998878"/>
            <a:ext cx="2909255" cy="3902659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7" name="Rounded Rectangle 21036"/>
          <p:cNvSpPr/>
          <p:nvPr/>
        </p:nvSpPr>
        <p:spPr>
          <a:xfrm>
            <a:off x="7983626" y="1998878"/>
            <a:ext cx="2909255" cy="549920"/>
          </a:xfrm>
          <a:prstGeom prst="roundRect">
            <a:avLst>
              <a:gd name="adj" fmla="val 2258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8" name="Rounded Rectangle 21037"/>
          <p:cNvSpPr/>
          <p:nvPr/>
        </p:nvSpPr>
        <p:spPr>
          <a:xfrm>
            <a:off x="7983626" y="2335926"/>
            <a:ext cx="2909255" cy="212872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039" name="Picture 21038" descr="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19" y="2114184"/>
            <a:ext cx="301569" cy="301569"/>
          </a:xfrm>
          <a:prstGeom prst="rect">
            <a:avLst/>
          </a:prstGeom>
        </p:spPr>
      </p:pic>
      <p:sp>
        <p:nvSpPr>
          <p:cNvPr id="21040" name="TextBox 21039"/>
          <p:cNvSpPr txBox="1"/>
          <p:nvPr/>
        </p:nvSpPr>
        <p:spPr>
          <a:xfrm>
            <a:off x="8560155" y="1998878"/>
            <a:ext cx="2288377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单个景区算一笔账</a:t>
            </a:r>
          </a:p>
        </p:txBody>
      </p:sp>
      <p:sp>
        <p:nvSpPr>
          <p:cNvPr id="21041" name="TextBox 21040"/>
          <p:cNvSpPr txBox="1"/>
          <p:nvPr/>
        </p:nvSpPr>
        <p:spPr>
          <a:xfrm>
            <a:off x="8205368" y="2735061"/>
            <a:ext cx="35478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50" b="1">
                <a:solidFill>
                  <a:srgbClr val="E39A5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1042" name="TextBox 21041"/>
          <p:cNvSpPr txBox="1"/>
          <p:nvPr/>
        </p:nvSpPr>
        <p:spPr>
          <a:xfrm>
            <a:off x="8604503" y="2735061"/>
            <a:ext cx="21109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一年收入</a:t>
            </a:r>
          </a:p>
        </p:txBody>
      </p:sp>
      <p:cxnSp>
        <p:nvCxnSpPr>
          <p:cNvPr id="21043" name="Connector 21042"/>
          <p:cNvCxnSpPr/>
          <p:nvPr/>
        </p:nvCxnSpPr>
        <p:spPr>
          <a:xfrm>
            <a:off x="8205368" y="3231763"/>
            <a:ext cx="2465771" cy="0"/>
          </a:xfrm>
          <a:prstGeom prst="line">
            <a:avLst/>
          </a:prstGeom>
          <a:ln w="9525">
            <a:solidFill>
              <a:srgbClr val="D9ED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44" name="TextBox 21043"/>
          <p:cNvSpPr txBox="1"/>
          <p:nvPr/>
        </p:nvSpPr>
        <p:spPr>
          <a:xfrm>
            <a:off x="8205368" y="3284982"/>
            <a:ext cx="35478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50" b="1">
                <a:solidFill>
                  <a:srgbClr val="E39A57"/>
                </a:solidFill>
                <a:latin typeface="微软雅黑"/>
                <a:ea typeface="微软雅黑"/>
              </a:rPr>
              <a:t>−</a:t>
            </a:r>
          </a:p>
        </p:txBody>
      </p:sp>
      <p:sp>
        <p:nvSpPr>
          <p:cNvPr id="21045" name="TextBox 21044"/>
          <p:cNvSpPr txBox="1"/>
          <p:nvPr/>
        </p:nvSpPr>
        <p:spPr>
          <a:xfrm>
            <a:off x="8604503" y="3284982"/>
            <a:ext cx="21109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>
                <a:solidFill>
                  <a:srgbClr val="5E7772"/>
                </a:solidFill>
                <a:latin typeface="微软雅黑"/>
                <a:ea typeface="微软雅黑"/>
              </a:rPr>
              <a:t>平台调用费</a:t>
            </a:r>
          </a:p>
        </p:txBody>
      </p:sp>
      <p:cxnSp>
        <p:nvCxnSpPr>
          <p:cNvPr id="21046" name="Connector 21045"/>
          <p:cNvCxnSpPr/>
          <p:nvPr/>
        </p:nvCxnSpPr>
        <p:spPr>
          <a:xfrm>
            <a:off x="8205368" y="3781684"/>
            <a:ext cx="2465771" cy="0"/>
          </a:xfrm>
          <a:prstGeom prst="line">
            <a:avLst/>
          </a:prstGeom>
          <a:ln w="9525">
            <a:solidFill>
              <a:srgbClr val="D9ED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47" name="TextBox 21046"/>
          <p:cNvSpPr txBox="1"/>
          <p:nvPr/>
        </p:nvSpPr>
        <p:spPr>
          <a:xfrm>
            <a:off x="8205368" y="3834902"/>
            <a:ext cx="35478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50" b="1">
                <a:solidFill>
                  <a:srgbClr val="E39A57"/>
                </a:solidFill>
                <a:latin typeface="微软雅黑"/>
                <a:ea typeface="微软雅黑"/>
              </a:rPr>
              <a:t>−</a:t>
            </a:r>
          </a:p>
        </p:txBody>
      </p:sp>
      <p:sp>
        <p:nvSpPr>
          <p:cNvPr id="21048" name="TextBox 21047"/>
          <p:cNvSpPr txBox="1"/>
          <p:nvPr/>
        </p:nvSpPr>
        <p:spPr>
          <a:xfrm>
            <a:off x="8604503" y="3834902"/>
            <a:ext cx="21109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>
                <a:solidFill>
                  <a:srgbClr val="5E7772"/>
                </a:solidFill>
                <a:latin typeface="微软雅黑"/>
                <a:ea typeface="微软雅黑"/>
              </a:rPr>
              <a:t>交付成本（摊销）</a:t>
            </a:r>
          </a:p>
        </p:txBody>
      </p:sp>
      <p:cxnSp>
        <p:nvCxnSpPr>
          <p:cNvPr id="21049" name="Connector 21048"/>
          <p:cNvCxnSpPr/>
          <p:nvPr/>
        </p:nvCxnSpPr>
        <p:spPr>
          <a:xfrm>
            <a:off x="8205368" y="4331604"/>
            <a:ext cx="2465771" cy="0"/>
          </a:xfrm>
          <a:prstGeom prst="line">
            <a:avLst/>
          </a:prstGeom>
          <a:ln w="9525">
            <a:solidFill>
              <a:srgbClr val="D9ED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50" name="TextBox 21049"/>
          <p:cNvSpPr txBox="1"/>
          <p:nvPr/>
        </p:nvSpPr>
        <p:spPr>
          <a:xfrm>
            <a:off x="8205368" y="4384822"/>
            <a:ext cx="354787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50" b="1">
                <a:solidFill>
                  <a:srgbClr val="E39A57"/>
                </a:solidFill>
                <a:latin typeface="微软雅黑"/>
                <a:ea typeface="微软雅黑"/>
              </a:rPr>
              <a:t>−</a:t>
            </a:r>
          </a:p>
        </p:txBody>
      </p:sp>
      <p:sp>
        <p:nvSpPr>
          <p:cNvPr id="21051" name="TextBox 21050"/>
          <p:cNvSpPr txBox="1"/>
          <p:nvPr/>
        </p:nvSpPr>
        <p:spPr>
          <a:xfrm>
            <a:off x="8604503" y="4384822"/>
            <a:ext cx="2110983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>
                <a:solidFill>
                  <a:srgbClr val="5E7772"/>
                </a:solidFill>
                <a:latin typeface="微软雅黑"/>
                <a:ea typeface="微软雅黑"/>
              </a:rPr>
              <a:t>运营支持</a:t>
            </a:r>
          </a:p>
        </p:txBody>
      </p:sp>
      <p:cxnSp>
        <p:nvCxnSpPr>
          <p:cNvPr id="21052" name="Connector 21051"/>
          <p:cNvCxnSpPr/>
          <p:nvPr/>
        </p:nvCxnSpPr>
        <p:spPr>
          <a:xfrm>
            <a:off x="8205368" y="4881524"/>
            <a:ext cx="2465771" cy="0"/>
          </a:xfrm>
          <a:prstGeom prst="line">
            <a:avLst/>
          </a:prstGeom>
          <a:ln w="9525">
            <a:solidFill>
              <a:srgbClr val="D9ED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53" name="Rounded Rectangle 21052"/>
          <p:cNvSpPr/>
          <p:nvPr/>
        </p:nvSpPr>
        <p:spPr>
          <a:xfrm>
            <a:off x="8161019" y="4996830"/>
            <a:ext cx="2554467" cy="709574"/>
          </a:xfrm>
          <a:prstGeom prst="roundRect">
            <a:avLst>
              <a:gd name="adj" fmla="val 125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50" b="1">
                <a:solidFill>
                  <a:srgbClr val="FFFFFF"/>
                </a:solidFill>
                <a:latin typeface="微软雅黑"/>
                <a:ea typeface="微软雅黑"/>
              </a:rPr>
              <a:t>＞ 0</a:t>
            </a:r>
            <a:r>
              <a:rPr sz="1250" b="0">
                <a:solidFill>
                  <a:srgbClr val="FCE6D2"/>
                </a:solidFill>
                <a:latin typeface="微软雅黑"/>
                <a:ea typeface="微软雅黑"/>
              </a:rPr>
              <a:t>　才算能赚钱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093912" y="104775"/>
            <a:ext cx="4003869" cy="562935"/>
            <a:chOff x="1778000" y="2361285"/>
            <a:chExt cx="4003869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003869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910685" cy="461665"/>
              <a:chOff x="1249621" y="2030985"/>
              <a:chExt cx="2910685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194560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怎么收钱、景区认什么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先试两种收费，用数据证明价值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验证期同时试“随票务打包”和“年费订阅”，看哪种成交快、续费稳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31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92010"/>
            <a:ext cx="2341595" cy="2084374"/>
          </a:xfrm>
          <a:prstGeom prst="roundRect">
            <a:avLst>
              <a:gd name="adj" fmla="val 5106"/>
            </a:avLst>
          </a:prstGeom>
          <a:solidFill>
            <a:srgbClr val="EFF8F6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404597" y="1967834"/>
            <a:ext cx="816010" cy="24835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建议先试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1711" y="2207315"/>
            <a:ext cx="198680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1816F"/>
                </a:solidFill>
                <a:latin typeface="微软雅黑"/>
                <a:ea typeface="微软雅黑"/>
              </a:rPr>
              <a:t>随票务打包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1711" y="2606451"/>
            <a:ext cx="198680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作为票务增值模块，提高票务年费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1711" y="3138632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微软雅黑"/>
                <a:ea typeface="微软雅黑"/>
              </a:rPr>
              <a:t>适合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711" y="3342634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已用我们票务的景区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1711" y="3635334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要验证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1711" y="3839337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能否提升续约率和客单价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13307" y="2092010"/>
            <a:ext cx="2341595" cy="2084374"/>
          </a:xfrm>
          <a:prstGeom prst="roundRect">
            <a:avLst>
              <a:gd name="adj" fmla="val 5106"/>
            </a:avLst>
          </a:prstGeom>
          <a:solidFill>
            <a:srgbClr val="EFF8F6"/>
          </a:solidFill>
          <a:ln w="19050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923586" y="1967834"/>
            <a:ext cx="816010" cy="248351"/>
          </a:xfrm>
          <a:prstGeom prst="roundRect">
            <a:avLst>
              <a:gd name="adj" fmla="val 50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建议先试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90701" y="2207315"/>
            <a:ext cx="198680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1816F"/>
                </a:solidFill>
                <a:latin typeface="微软雅黑"/>
                <a:ea typeface="微软雅黑"/>
              </a:rPr>
              <a:t>年费订阅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90701" y="2606451"/>
            <a:ext cx="198680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按景区规模或智能体数量分档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90701" y="3138632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微软雅黑"/>
                <a:ea typeface="微软雅黑"/>
              </a:rPr>
              <a:t>适合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90701" y="3342634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新客户、单独采购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0701" y="3635334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要验证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90701" y="3839337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景区能接受的价位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32296" y="2092010"/>
            <a:ext cx="2341595" cy="2084374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09690" y="2207315"/>
            <a:ext cx="198680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按效果分成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09690" y="2606451"/>
            <a:ext cx="198680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按 AI 带来的购票、二消收入分成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09690" y="3138632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微软雅黑"/>
                <a:ea typeface="微软雅黑"/>
              </a:rPr>
              <a:t>适合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09690" y="3342634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购票、营销类智能体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09690" y="3635334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要验证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09690" y="3839337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增量能否算清楚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51285" y="2092010"/>
            <a:ext cx="2341595" cy="2084374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28679" y="2207315"/>
            <a:ext cx="1986808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按用量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28679" y="2606451"/>
            <a:ext cx="1986808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按对话量或调用量计费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28679" y="3138632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微软雅黑"/>
                <a:ea typeface="微软雅黑"/>
              </a:rPr>
              <a:t>适合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28679" y="3342634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大客流景区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28679" y="3635334"/>
            <a:ext cx="1986808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B26A2C"/>
                </a:solidFill>
                <a:latin typeface="微软雅黑"/>
                <a:ea typeface="微软雅黑"/>
              </a:rPr>
              <a:t>要验证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8679" y="3839337"/>
            <a:ext cx="1986808" cy="248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能否接受账单波动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4318" y="4406996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36233" y="4336039"/>
            <a:ext cx="5321808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景区认的价值，要用数据证明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4318" y="4735174"/>
            <a:ext cx="2341595" cy="1197406"/>
          </a:xfrm>
          <a:prstGeom prst="roundRect">
            <a:avLst>
              <a:gd name="adj" fmla="val 8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53971" y="4868219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user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973" y="4970221"/>
            <a:ext cx="204002" cy="20400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659544" y="4868219"/>
            <a:ext cx="158767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少用人工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3971" y="5356052"/>
            <a:ext cx="2075505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智能体解决咨询的比例、省下的客服人力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513307" y="4735174"/>
            <a:ext cx="2341595" cy="1197406"/>
          </a:xfrm>
          <a:prstGeom prst="roundRect">
            <a:avLst>
              <a:gd name="adj" fmla="val 8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672961" y="4868219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963" y="4970221"/>
            <a:ext cx="204002" cy="20400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178533" y="4868219"/>
            <a:ext cx="158767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多卖票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72961" y="5356052"/>
            <a:ext cx="2075505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智能体带来的线上购票、二消订单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32296" y="4735174"/>
            <a:ext cx="2341595" cy="1197406"/>
          </a:xfrm>
          <a:prstGeom prst="roundRect">
            <a:avLst>
              <a:gd name="adj" fmla="val 8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191951" y="4868219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thumbs-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952" y="4970221"/>
            <a:ext cx="204002" cy="20400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697522" y="4868219"/>
            <a:ext cx="158767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游客更满意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91951" y="5356052"/>
            <a:ext cx="2075505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满意度、差评率、排队与等待减少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551285" y="4735174"/>
            <a:ext cx="2341595" cy="1197406"/>
          </a:xfrm>
          <a:prstGeom prst="roundRect">
            <a:avLst>
              <a:gd name="adj" fmla="val 8888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710940" y="4868219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c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2941" y="4970221"/>
            <a:ext cx="204002" cy="204002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9216511" y="4868219"/>
            <a:ext cx="1587672" cy="40800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管理更省心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710940" y="5356052"/>
            <a:ext cx="2075505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报表、对账、预警的人工时间减少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跑通商业模式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怎么验证、怎样算跑通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挑标杆、快速搭、跑一个旺季、让数据说话；五条都满足才转入规模复制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32  ·  AI＋数据平台 · 02  智能体平台</a:t>
            </a:r>
          </a:p>
        </p:txBody>
      </p:sp>
      <p:sp>
        <p:nvSpPr>
          <p:cNvPr id="44" name="Pentagon 43"/>
          <p:cNvSpPr/>
          <p:nvPr/>
        </p:nvSpPr>
        <p:spPr>
          <a:xfrm>
            <a:off x="994318" y="2048256"/>
            <a:ext cx="2674208" cy="514441"/>
          </a:xfrm>
          <a:prstGeom prst="homePlate">
            <a:avLst>
              <a:gd name="adj" fmla="val 3500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la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408" y="2163561"/>
            <a:ext cx="283829" cy="28382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32935" y="2048256"/>
            <a:ext cx="1609846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挑标杆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8666" y="2633654"/>
            <a:ext cx="2142027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已用我们票务的景区，覆盖主要业态</a:t>
            </a:r>
          </a:p>
        </p:txBody>
      </p:sp>
      <p:sp>
        <p:nvSpPr>
          <p:cNvPr id="48" name="Chevron 47"/>
          <p:cNvSpPr/>
          <p:nvPr/>
        </p:nvSpPr>
        <p:spPr>
          <a:xfrm>
            <a:off x="3402436" y="2048256"/>
            <a:ext cx="2674208" cy="514441"/>
          </a:xfrm>
          <a:prstGeom prst="chevron">
            <a:avLst>
              <a:gd name="adj" fmla="val 35000"/>
            </a:avLst>
          </a:prstGeom>
          <a:solidFill>
            <a:srgbClr val="5B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ro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920" y="2163561"/>
            <a:ext cx="283829" cy="28382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218447" y="2048256"/>
            <a:ext cx="1609846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快速搭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12875" y="2633654"/>
            <a:ext cx="2142027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平台上搭好现有智能体，加高价值新场景</a:t>
            </a:r>
          </a:p>
        </p:txBody>
      </p:sp>
      <p:sp>
        <p:nvSpPr>
          <p:cNvPr id="52" name="Chevron 51"/>
          <p:cNvSpPr/>
          <p:nvPr/>
        </p:nvSpPr>
        <p:spPr>
          <a:xfrm>
            <a:off x="5810554" y="2048256"/>
            <a:ext cx="2674208" cy="514441"/>
          </a:xfrm>
          <a:prstGeom prst="chevron">
            <a:avLst>
              <a:gd name="adj" fmla="val 35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038" y="2163561"/>
            <a:ext cx="283829" cy="28382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626565" y="2048256"/>
            <a:ext cx="1609846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跑一个旺季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0993" y="2633654"/>
            <a:ext cx="2142027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节假日最能检验效果和成本</a:t>
            </a:r>
          </a:p>
        </p:txBody>
      </p:sp>
      <p:sp>
        <p:nvSpPr>
          <p:cNvPr id="56" name="Chevron 55"/>
          <p:cNvSpPr/>
          <p:nvPr/>
        </p:nvSpPr>
        <p:spPr>
          <a:xfrm>
            <a:off x="8218672" y="2048256"/>
            <a:ext cx="2674208" cy="514441"/>
          </a:xfrm>
          <a:prstGeom prst="chevron">
            <a:avLst>
              <a:gd name="adj" fmla="val 35000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2156" y="2163561"/>
            <a:ext cx="283829" cy="28382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034683" y="2048256"/>
            <a:ext cx="1609846" cy="5144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数据回流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29111" y="2633654"/>
            <a:ext cx="2142027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对话、评价、订单第一天就进数据平台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3298880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36233" y="3227923"/>
            <a:ext cx="4434840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怎样算跑通：五条判断标准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318" y="3627059"/>
            <a:ext cx="6386169" cy="372526"/>
          </a:xfrm>
          <a:prstGeom prst="roundRect">
            <a:avLst>
              <a:gd name="adj" fmla="val 1904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83015" y="3671407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83015" y="3671407"/>
            <a:ext cx="283829" cy="283829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82150" y="3627059"/>
            <a:ext cx="97566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用起来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57815" y="3627059"/>
            <a:ext cx="44348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持续在用，问题解决率达标</a:t>
            </a:r>
          </a:p>
        </p:txBody>
      </p:sp>
      <p:pic>
        <p:nvPicPr>
          <p:cNvPr id="67" name="Picture 66" descr="circle-chec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961" y="3698016"/>
            <a:ext cx="230611" cy="230611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994318" y="4070543"/>
            <a:ext cx="6386169" cy="372526"/>
          </a:xfrm>
          <a:prstGeom prst="roundRect">
            <a:avLst>
              <a:gd name="adj" fmla="val 1904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83015" y="4114891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83015" y="4114891"/>
            <a:ext cx="283829" cy="283829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82150" y="4070543"/>
            <a:ext cx="97566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有价值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57815" y="4070543"/>
            <a:ext cx="44348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景区认可的指标有提升</a:t>
            </a:r>
          </a:p>
        </p:txBody>
      </p:sp>
      <p:pic>
        <p:nvPicPr>
          <p:cNvPr id="73" name="Picture 72" descr="circle-chec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961" y="4141500"/>
            <a:ext cx="230611" cy="230611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994318" y="4514027"/>
            <a:ext cx="6386169" cy="372526"/>
          </a:xfrm>
          <a:prstGeom prst="roundRect">
            <a:avLst>
              <a:gd name="adj" fmla="val 1904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3015" y="4558375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3015" y="4558375"/>
            <a:ext cx="283829" cy="283829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82150" y="4514027"/>
            <a:ext cx="97566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愿付费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57815" y="4514027"/>
            <a:ext cx="44348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按拟定价格付费或明确续费</a:t>
            </a:r>
          </a:p>
        </p:txBody>
      </p:sp>
      <p:pic>
        <p:nvPicPr>
          <p:cNvPr id="79" name="Picture 78" descr="circle-chec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961" y="4584984"/>
            <a:ext cx="230611" cy="230611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994318" y="4957511"/>
            <a:ext cx="6386169" cy="372526"/>
          </a:xfrm>
          <a:prstGeom prst="roundRect">
            <a:avLst>
              <a:gd name="adj" fmla="val 1904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83015" y="5001859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83015" y="5001859"/>
            <a:ext cx="283829" cy="283829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82150" y="4957511"/>
            <a:ext cx="97566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能赚钱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57815" y="4957511"/>
            <a:ext cx="44348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单景区收入覆盖成本</a:t>
            </a:r>
          </a:p>
        </p:txBody>
      </p:sp>
      <p:pic>
        <p:nvPicPr>
          <p:cNvPr id="85" name="Picture 84" descr="circle-chec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961" y="5028468"/>
            <a:ext cx="230611" cy="230611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994318" y="5400995"/>
            <a:ext cx="6386169" cy="372526"/>
          </a:xfrm>
          <a:prstGeom prst="roundRect">
            <a:avLst>
              <a:gd name="adj" fmla="val 1904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3015" y="5445343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83015" y="5445343"/>
            <a:ext cx="283829" cy="283829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82150" y="5400995"/>
            <a:ext cx="975664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1F3A35"/>
                </a:solidFill>
                <a:latin typeface="微软雅黑"/>
                <a:ea typeface="微软雅黑"/>
              </a:rPr>
              <a:t>可复制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7815" y="5400995"/>
            <a:ext cx="4434840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按标准流程就能上线</a:t>
            </a:r>
          </a:p>
        </p:txBody>
      </p:sp>
      <p:pic>
        <p:nvPicPr>
          <p:cNvPr id="91" name="Picture 90" descr="circle-check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961" y="5471952"/>
            <a:ext cx="230611" cy="230611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7646578" y="3627059"/>
            <a:ext cx="3246302" cy="993404"/>
          </a:xfrm>
          <a:prstGeom prst="roundRect">
            <a:avLst>
              <a:gd name="adj" fmla="val 1071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23972" y="3671407"/>
            <a:ext cx="2980212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五条都满足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23972" y="4026194"/>
            <a:ext cx="2980212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模板、定价、交付流程定型，转入规模复制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646578" y="4709160"/>
            <a:ext cx="3246302" cy="1064361"/>
          </a:xfrm>
          <a:prstGeom prst="roundRect">
            <a:avLst>
              <a:gd name="adj" fmla="val 10000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23972" y="4753508"/>
            <a:ext cx="29802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B26A2C"/>
                </a:solidFill>
                <a:latin typeface="微软雅黑"/>
                <a:ea typeface="微软雅黑"/>
              </a:rPr>
              <a:t>没过关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23972" y="5090556"/>
            <a:ext cx="2980212" cy="6652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调整场景组合或定价，再验一轮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· 还不行的场景停掉，不硬推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快速占领市场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先打老客户，再按业态复制，用 AI 撬新客户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从最容易成交的客户开始，用标杆案例带动同类景区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33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07748"/>
            <a:ext cx="3181258" cy="2084374"/>
          </a:xfrm>
          <a:prstGeom prst="roundRect">
            <a:avLst>
              <a:gd name="adj" fmla="val 595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9451" y="2167402"/>
            <a:ext cx="487832" cy="487832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hou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756" y="2282708"/>
            <a:ext cx="257220" cy="25722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3421654" y="2167402"/>
            <a:ext cx="57652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21816F"/>
                </a:solidFill>
                <a:latin typeface="微软雅黑"/>
                <a:ea typeface="微软雅黑"/>
              </a:rPr>
              <a:t>最先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9451" y="2743931"/>
            <a:ext cx="2826471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已用我们票务的景区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9451" y="3143067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FE7CF"/>
                </a:solidFill>
                <a:latin typeface="微软雅黑"/>
                <a:ea typeface="微软雅黑"/>
              </a:rPr>
              <a:t>打法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9451" y="3338200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随票务续约推，开通即用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9451" y="3604290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FE7CF"/>
                </a:solidFill>
                <a:latin typeface="微软雅黑"/>
                <a:ea typeface="微软雅黑"/>
              </a:rPr>
              <a:t>为什么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9451" y="3799423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E6F6F2"/>
                </a:solidFill>
                <a:latin typeface="微软雅黑"/>
                <a:ea typeface="微软雅黑"/>
              </a:rPr>
              <a:t>系统已对接，基本零开发；信任已有，成交最快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52970" y="2007748"/>
            <a:ext cx="3181258" cy="2084374"/>
          </a:xfrm>
          <a:prstGeom prst="roundRect">
            <a:avLst>
              <a:gd name="adj" fmla="val 59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48103" y="2167402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061" y="2289360"/>
            <a:ext cx="243916" cy="243916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6780306" y="2167402"/>
            <a:ext cx="57652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其次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48103" y="2743931"/>
            <a:ext cx="2826471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同业态景区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48103" y="3143067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微软雅黑"/>
                <a:ea typeface="微软雅黑"/>
              </a:rPr>
              <a:t>打法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8103" y="3338200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用标杆案例按业态复制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8103" y="3604290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微软雅黑"/>
                <a:ea typeface="微软雅黑"/>
              </a:rPr>
              <a:t>为什么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48103" y="3799423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场景相同，模板直接复用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11622" y="2007748"/>
            <a:ext cx="3181258" cy="2084374"/>
          </a:xfrm>
          <a:prstGeom prst="roundRect">
            <a:avLst>
              <a:gd name="adj" fmla="val 59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06755" y="2167402"/>
            <a:ext cx="487832" cy="4878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user-plu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713" y="2289360"/>
            <a:ext cx="243916" cy="243916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10138958" y="2167402"/>
            <a:ext cx="576529" cy="2660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同步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6755" y="2743931"/>
            <a:ext cx="2826471" cy="3725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1F3A35"/>
                </a:solidFill>
                <a:latin typeface="微软雅黑"/>
                <a:ea typeface="微软雅黑"/>
              </a:rPr>
              <a:t>新客户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06755" y="3143067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微软雅黑"/>
                <a:ea typeface="微软雅黑"/>
              </a:rPr>
              <a:t>打法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06755" y="3338200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智能体做差异化卖点，带动票务签约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6755" y="3604290"/>
            <a:ext cx="2826471" cy="2128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CAB93"/>
                </a:solidFill>
                <a:latin typeface="微软雅黑"/>
                <a:ea typeface="微软雅黑"/>
              </a:rPr>
              <a:t>为什么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06755" y="3799423"/>
            <a:ext cx="2826471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用 AI 撬动新客户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4367082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36233" y="4296125"/>
            <a:ext cx="798271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业态先后：客流大、咨询多、线上购票比例高的先做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4318" y="4695261"/>
            <a:ext cx="798271" cy="1197406"/>
          </a:xfrm>
          <a:prstGeom prst="roundRect">
            <a:avLst>
              <a:gd name="adj" fmla="val 1111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第一批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881286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mountain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9290" y="4828306"/>
            <a:ext cx="390265" cy="39026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881286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山岳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176259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ferris-wheel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265" y="4828306"/>
            <a:ext cx="390265" cy="390265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176259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主题乐园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471233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landmar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9238" y="4828306"/>
            <a:ext cx="390265" cy="39026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4471233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古镇街区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5810554" y="5183093"/>
            <a:ext cx="266090" cy="230611"/>
          </a:xfrm>
          <a:prstGeom prst="rightArrow">
            <a:avLst/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209690" y="4695261"/>
            <a:ext cx="798271" cy="1197406"/>
          </a:xfrm>
          <a:prstGeom prst="roundRect">
            <a:avLst>
              <a:gd name="adj" fmla="val 11111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第二批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096658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book-open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4662" y="4828306"/>
            <a:ext cx="390265" cy="390265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7096658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博物馆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91631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waves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9636" y="4828306"/>
            <a:ext cx="390265" cy="390265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8391631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温泉度假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86604" y="4695261"/>
            <a:ext cx="1206276" cy="119740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ship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4609" y="4828306"/>
            <a:ext cx="390265" cy="390265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9686604" y="5316138"/>
            <a:ext cx="120627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游船演出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怎么复制得快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六步上线，差异全部做成配置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实施人员和渠道伙伴按手册就能独立交付，不占核心研发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34  ·  AI＋数据平台 · 02  智能体平台</a:t>
            </a:r>
          </a:p>
        </p:txBody>
      </p:sp>
      <p:grpSp>
        <p:nvGrpSpPr>
          <p:cNvPr id="21000" name="素材 24"/>
          <p:cNvGrpSpPr/>
          <p:nvPr/>
        </p:nvGrpSpPr>
        <p:grpSpPr>
          <a:xfrm>
            <a:off x="994318" y="2504655"/>
            <a:ext cx="6740956" cy="1976135"/>
            <a:chOff x="936501" y="2932416"/>
            <a:chExt cx="9757504" cy="2860448"/>
          </a:xfrm>
        </p:grpSpPr>
        <p:sp>
          <p:nvSpPr>
            <p:cNvPr id="21001" name="Freeform 5"/>
            <p:cNvSpPr/>
            <p:nvPr/>
          </p:nvSpPr>
          <p:spPr bwMode="auto">
            <a:xfrm>
              <a:off x="7976709" y="3617221"/>
              <a:ext cx="2717296" cy="2175642"/>
            </a:xfrm>
            <a:custGeom>
              <a:avLst/>
              <a:gdLst>
                <a:gd name="T0" fmla="*/ 488 w 891"/>
                <a:gd name="T1" fmla="*/ 244 h 712"/>
                <a:gd name="T2" fmla="*/ 488 w 891"/>
                <a:gd name="T3" fmla="*/ 469 h 712"/>
                <a:gd name="T4" fmla="*/ 341 w 891"/>
                <a:gd name="T5" fmla="*/ 693 h 712"/>
                <a:gd name="T6" fmla="*/ 244 w 891"/>
                <a:gd name="T7" fmla="*/ 712 h 712"/>
                <a:gd name="T8" fmla="*/ 146 w 891"/>
                <a:gd name="T9" fmla="*/ 693 h 712"/>
                <a:gd name="T10" fmla="*/ 0 w 891"/>
                <a:gd name="T11" fmla="*/ 469 h 712"/>
                <a:gd name="T12" fmla="*/ 0 w 891"/>
                <a:gd name="T13" fmla="*/ 244 h 712"/>
                <a:gd name="T14" fmla="*/ 107 w 891"/>
                <a:gd name="T15" fmla="*/ 244 h 712"/>
                <a:gd name="T16" fmla="*/ 107 w 891"/>
                <a:gd name="T17" fmla="*/ 469 h 712"/>
                <a:gd name="T18" fmla="*/ 185 w 891"/>
                <a:gd name="T19" fmla="*/ 594 h 712"/>
                <a:gd name="T20" fmla="*/ 244 w 891"/>
                <a:gd name="T21" fmla="*/ 605 h 712"/>
                <a:gd name="T22" fmla="*/ 302 w 891"/>
                <a:gd name="T23" fmla="*/ 594 h 712"/>
                <a:gd name="T24" fmla="*/ 381 w 891"/>
                <a:gd name="T25" fmla="*/ 469 h 712"/>
                <a:gd name="T26" fmla="*/ 381 w 891"/>
                <a:gd name="T27" fmla="*/ 244 h 712"/>
                <a:gd name="T28" fmla="*/ 381 w 891"/>
                <a:gd name="T29" fmla="*/ 244 h 712"/>
                <a:gd name="T30" fmla="*/ 450 w 891"/>
                <a:gd name="T31" fmla="*/ 68 h 712"/>
                <a:gd name="T32" fmla="*/ 623 w 891"/>
                <a:gd name="T33" fmla="*/ 0 h 712"/>
                <a:gd name="T34" fmla="*/ 891 w 891"/>
                <a:gd name="T35" fmla="*/ 0 h 712"/>
                <a:gd name="T36" fmla="*/ 891 w 891"/>
                <a:gd name="T37" fmla="*/ 107 h 712"/>
                <a:gd name="T38" fmla="*/ 623 w 891"/>
                <a:gd name="T39" fmla="*/ 107 h 712"/>
                <a:gd name="T40" fmla="*/ 526 w 891"/>
                <a:gd name="T41" fmla="*/ 143 h 712"/>
                <a:gd name="T42" fmla="*/ 488 w 891"/>
                <a:gd name="T43" fmla="*/ 244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91" h="712">
                  <a:moveTo>
                    <a:pt x="488" y="244"/>
                  </a:moveTo>
                  <a:cubicBezTo>
                    <a:pt x="488" y="469"/>
                    <a:pt x="488" y="469"/>
                    <a:pt x="488" y="469"/>
                  </a:cubicBezTo>
                  <a:cubicBezTo>
                    <a:pt x="488" y="585"/>
                    <a:pt x="423" y="660"/>
                    <a:pt x="341" y="693"/>
                  </a:cubicBezTo>
                  <a:cubicBezTo>
                    <a:pt x="310" y="705"/>
                    <a:pt x="277" y="712"/>
                    <a:pt x="244" y="712"/>
                  </a:cubicBezTo>
                  <a:cubicBezTo>
                    <a:pt x="210" y="712"/>
                    <a:pt x="177" y="705"/>
                    <a:pt x="146" y="693"/>
                  </a:cubicBezTo>
                  <a:cubicBezTo>
                    <a:pt x="64" y="660"/>
                    <a:pt x="0" y="585"/>
                    <a:pt x="0" y="469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07" y="244"/>
                    <a:pt x="107" y="244"/>
                    <a:pt x="107" y="244"/>
                  </a:cubicBezTo>
                  <a:cubicBezTo>
                    <a:pt x="107" y="469"/>
                    <a:pt x="107" y="469"/>
                    <a:pt x="107" y="469"/>
                  </a:cubicBezTo>
                  <a:cubicBezTo>
                    <a:pt x="107" y="535"/>
                    <a:pt x="141" y="576"/>
                    <a:pt x="185" y="594"/>
                  </a:cubicBezTo>
                  <a:cubicBezTo>
                    <a:pt x="203" y="601"/>
                    <a:pt x="223" y="605"/>
                    <a:pt x="244" y="605"/>
                  </a:cubicBezTo>
                  <a:cubicBezTo>
                    <a:pt x="264" y="605"/>
                    <a:pt x="284" y="601"/>
                    <a:pt x="302" y="594"/>
                  </a:cubicBezTo>
                  <a:cubicBezTo>
                    <a:pt x="346" y="576"/>
                    <a:pt x="381" y="535"/>
                    <a:pt x="381" y="469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179"/>
                    <a:pt x="404" y="115"/>
                    <a:pt x="450" y="68"/>
                  </a:cubicBezTo>
                  <a:cubicBezTo>
                    <a:pt x="491" y="27"/>
                    <a:pt x="549" y="0"/>
                    <a:pt x="623" y="0"/>
                  </a:cubicBezTo>
                  <a:cubicBezTo>
                    <a:pt x="891" y="0"/>
                    <a:pt x="891" y="0"/>
                    <a:pt x="891" y="0"/>
                  </a:cubicBezTo>
                  <a:cubicBezTo>
                    <a:pt x="891" y="107"/>
                    <a:pt x="891" y="107"/>
                    <a:pt x="891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580" y="107"/>
                    <a:pt x="548" y="121"/>
                    <a:pt x="526" y="143"/>
                  </a:cubicBezTo>
                  <a:cubicBezTo>
                    <a:pt x="500" y="169"/>
                    <a:pt x="488" y="206"/>
                    <a:pt x="488" y="244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2" name="Freeform 6"/>
            <p:cNvSpPr/>
            <p:nvPr/>
          </p:nvSpPr>
          <p:spPr bwMode="auto">
            <a:xfrm>
              <a:off x="936501" y="2932416"/>
              <a:ext cx="2717296" cy="2175642"/>
            </a:xfrm>
            <a:custGeom>
              <a:avLst/>
              <a:gdLst>
                <a:gd name="T0" fmla="*/ 510 w 891"/>
                <a:gd name="T1" fmla="*/ 468 h 712"/>
                <a:gd name="T2" fmla="*/ 440 w 891"/>
                <a:gd name="T3" fmla="*/ 644 h 712"/>
                <a:gd name="T4" fmla="*/ 268 w 891"/>
                <a:gd name="T5" fmla="*/ 712 h 712"/>
                <a:gd name="T6" fmla="*/ 0 w 891"/>
                <a:gd name="T7" fmla="*/ 712 h 712"/>
                <a:gd name="T8" fmla="*/ 0 w 891"/>
                <a:gd name="T9" fmla="*/ 605 h 712"/>
                <a:gd name="T10" fmla="*/ 268 w 891"/>
                <a:gd name="T11" fmla="*/ 605 h 712"/>
                <a:gd name="T12" fmla="*/ 365 w 891"/>
                <a:gd name="T13" fmla="*/ 569 h 712"/>
                <a:gd name="T14" fmla="*/ 403 w 891"/>
                <a:gd name="T15" fmla="*/ 468 h 712"/>
                <a:gd name="T16" fmla="*/ 403 w 891"/>
                <a:gd name="T17" fmla="*/ 242 h 712"/>
                <a:gd name="T18" fmla="*/ 549 w 891"/>
                <a:gd name="T19" fmla="*/ 19 h 712"/>
                <a:gd name="T20" fmla="*/ 647 w 891"/>
                <a:gd name="T21" fmla="*/ 0 h 712"/>
                <a:gd name="T22" fmla="*/ 745 w 891"/>
                <a:gd name="T23" fmla="*/ 19 h 712"/>
                <a:gd name="T24" fmla="*/ 891 w 891"/>
                <a:gd name="T25" fmla="*/ 242 h 712"/>
                <a:gd name="T26" fmla="*/ 891 w 891"/>
                <a:gd name="T27" fmla="*/ 468 h 712"/>
                <a:gd name="T28" fmla="*/ 784 w 891"/>
                <a:gd name="T29" fmla="*/ 468 h 712"/>
                <a:gd name="T30" fmla="*/ 784 w 891"/>
                <a:gd name="T31" fmla="*/ 242 h 712"/>
                <a:gd name="T32" fmla="*/ 705 w 891"/>
                <a:gd name="T33" fmla="*/ 118 h 712"/>
                <a:gd name="T34" fmla="*/ 647 w 891"/>
                <a:gd name="T35" fmla="*/ 107 h 712"/>
                <a:gd name="T36" fmla="*/ 589 w 891"/>
                <a:gd name="T37" fmla="*/ 118 h 712"/>
                <a:gd name="T38" fmla="*/ 510 w 891"/>
                <a:gd name="T39" fmla="*/ 242 h 712"/>
                <a:gd name="T40" fmla="*/ 510 w 891"/>
                <a:gd name="T41" fmla="*/ 46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1" h="712">
                  <a:moveTo>
                    <a:pt x="510" y="468"/>
                  </a:moveTo>
                  <a:cubicBezTo>
                    <a:pt x="510" y="532"/>
                    <a:pt x="487" y="597"/>
                    <a:pt x="440" y="644"/>
                  </a:cubicBezTo>
                  <a:cubicBezTo>
                    <a:pt x="399" y="685"/>
                    <a:pt x="342" y="712"/>
                    <a:pt x="268" y="712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605"/>
                    <a:pt x="0" y="605"/>
                    <a:pt x="0" y="605"/>
                  </a:cubicBezTo>
                  <a:cubicBezTo>
                    <a:pt x="268" y="605"/>
                    <a:pt x="268" y="605"/>
                    <a:pt x="268" y="605"/>
                  </a:cubicBezTo>
                  <a:cubicBezTo>
                    <a:pt x="311" y="605"/>
                    <a:pt x="343" y="590"/>
                    <a:pt x="365" y="569"/>
                  </a:cubicBezTo>
                  <a:cubicBezTo>
                    <a:pt x="390" y="543"/>
                    <a:pt x="403" y="505"/>
                    <a:pt x="403" y="468"/>
                  </a:cubicBezTo>
                  <a:cubicBezTo>
                    <a:pt x="403" y="242"/>
                    <a:pt x="403" y="242"/>
                    <a:pt x="403" y="242"/>
                  </a:cubicBezTo>
                  <a:cubicBezTo>
                    <a:pt x="403" y="126"/>
                    <a:pt x="467" y="52"/>
                    <a:pt x="549" y="19"/>
                  </a:cubicBezTo>
                  <a:cubicBezTo>
                    <a:pt x="581" y="6"/>
                    <a:pt x="614" y="0"/>
                    <a:pt x="647" y="0"/>
                  </a:cubicBezTo>
                  <a:cubicBezTo>
                    <a:pt x="680" y="0"/>
                    <a:pt x="714" y="6"/>
                    <a:pt x="745" y="19"/>
                  </a:cubicBezTo>
                  <a:cubicBezTo>
                    <a:pt x="827" y="52"/>
                    <a:pt x="891" y="126"/>
                    <a:pt x="891" y="242"/>
                  </a:cubicBezTo>
                  <a:cubicBezTo>
                    <a:pt x="891" y="468"/>
                    <a:pt x="891" y="468"/>
                    <a:pt x="891" y="468"/>
                  </a:cubicBezTo>
                  <a:cubicBezTo>
                    <a:pt x="784" y="468"/>
                    <a:pt x="784" y="468"/>
                    <a:pt x="784" y="468"/>
                  </a:cubicBezTo>
                  <a:cubicBezTo>
                    <a:pt x="784" y="242"/>
                    <a:pt x="784" y="242"/>
                    <a:pt x="784" y="242"/>
                  </a:cubicBezTo>
                  <a:cubicBezTo>
                    <a:pt x="784" y="177"/>
                    <a:pt x="750" y="135"/>
                    <a:pt x="705" y="118"/>
                  </a:cubicBezTo>
                  <a:cubicBezTo>
                    <a:pt x="687" y="110"/>
                    <a:pt x="667" y="107"/>
                    <a:pt x="647" y="107"/>
                  </a:cubicBezTo>
                  <a:cubicBezTo>
                    <a:pt x="627" y="107"/>
                    <a:pt x="607" y="110"/>
                    <a:pt x="589" y="118"/>
                  </a:cubicBezTo>
                  <a:cubicBezTo>
                    <a:pt x="545" y="135"/>
                    <a:pt x="510" y="177"/>
                    <a:pt x="510" y="242"/>
                  </a:cubicBezTo>
                  <a:lnTo>
                    <a:pt x="510" y="468"/>
                  </a:ln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3" name="Freeform 7"/>
            <p:cNvSpPr/>
            <p:nvPr/>
          </p:nvSpPr>
          <p:spPr bwMode="auto">
            <a:xfrm>
              <a:off x="3327515" y="4362640"/>
              <a:ext cx="1486969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6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7" y="468"/>
                    <a:pt x="244" y="468"/>
                  </a:cubicBezTo>
                  <a:cubicBezTo>
                    <a:pt x="211" y="468"/>
                    <a:pt x="178" y="461"/>
                    <a:pt x="146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4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4" name="Freeform 8"/>
            <p:cNvSpPr/>
            <p:nvPr/>
          </p:nvSpPr>
          <p:spPr bwMode="auto">
            <a:xfrm>
              <a:off x="4488201" y="2932416"/>
              <a:ext cx="1488257" cy="1430224"/>
            </a:xfrm>
            <a:custGeom>
              <a:avLst/>
              <a:gdLst>
                <a:gd name="T0" fmla="*/ 0 w 488"/>
                <a:gd name="T1" fmla="*/ 468 h 468"/>
                <a:gd name="T2" fmla="*/ 0 w 488"/>
                <a:gd name="T3" fmla="*/ 242 h 468"/>
                <a:gd name="T4" fmla="*/ 147 w 488"/>
                <a:gd name="T5" fmla="*/ 19 h 468"/>
                <a:gd name="T6" fmla="*/ 244 w 488"/>
                <a:gd name="T7" fmla="*/ 0 h 468"/>
                <a:gd name="T8" fmla="*/ 342 w 488"/>
                <a:gd name="T9" fmla="*/ 19 h 468"/>
                <a:gd name="T10" fmla="*/ 488 w 488"/>
                <a:gd name="T11" fmla="*/ 242 h 468"/>
                <a:gd name="T12" fmla="*/ 488 w 488"/>
                <a:gd name="T13" fmla="*/ 468 h 468"/>
                <a:gd name="T14" fmla="*/ 381 w 488"/>
                <a:gd name="T15" fmla="*/ 468 h 468"/>
                <a:gd name="T16" fmla="*/ 381 w 488"/>
                <a:gd name="T17" fmla="*/ 242 h 468"/>
                <a:gd name="T18" fmla="*/ 302 w 488"/>
                <a:gd name="T19" fmla="*/ 118 h 468"/>
                <a:gd name="T20" fmla="*/ 244 w 488"/>
                <a:gd name="T21" fmla="*/ 107 h 468"/>
                <a:gd name="T22" fmla="*/ 186 w 488"/>
                <a:gd name="T23" fmla="*/ 118 h 468"/>
                <a:gd name="T24" fmla="*/ 107 w 488"/>
                <a:gd name="T25" fmla="*/ 242 h 468"/>
                <a:gd name="T26" fmla="*/ 107 w 488"/>
                <a:gd name="T27" fmla="*/ 468 h 468"/>
                <a:gd name="T28" fmla="*/ 0 w 488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4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7" y="0"/>
                    <a:pt x="311" y="6"/>
                    <a:pt x="342" y="19"/>
                  </a:cubicBezTo>
                  <a:cubicBezTo>
                    <a:pt x="424" y="52"/>
                    <a:pt x="488" y="126"/>
                    <a:pt x="488" y="242"/>
                  </a:cubicBezTo>
                  <a:cubicBezTo>
                    <a:pt x="488" y="468"/>
                    <a:pt x="488" y="468"/>
                    <a:pt x="488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242"/>
                    <a:pt x="381" y="242"/>
                    <a:pt x="381" y="242"/>
                  </a:cubicBezTo>
                  <a:cubicBezTo>
                    <a:pt x="381" y="177"/>
                    <a:pt x="347" y="135"/>
                    <a:pt x="302" y="118"/>
                  </a:cubicBezTo>
                  <a:cubicBezTo>
                    <a:pt x="284" y="110"/>
                    <a:pt x="264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E39A57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5" name="Freeform 9"/>
            <p:cNvSpPr/>
            <p:nvPr/>
          </p:nvSpPr>
          <p:spPr bwMode="auto">
            <a:xfrm>
              <a:off x="5650177" y="4362640"/>
              <a:ext cx="1488257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7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8" y="468"/>
                    <a:pt x="244" y="468"/>
                  </a:cubicBezTo>
                  <a:cubicBezTo>
                    <a:pt x="211" y="468"/>
                    <a:pt x="178" y="461"/>
                    <a:pt x="147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5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21816F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6" name="Freeform 10"/>
            <p:cNvSpPr/>
            <p:nvPr/>
          </p:nvSpPr>
          <p:spPr bwMode="auto">
            <a:xfrm>
              <a:off x="6812153" y="2932416"/>
              <a:ext cx="1490837" cy="1430224"/>
            </a:xfrm>
            <a:custGeom>
              <a:avLst/>
              <a:gdLst>
                <a:gd name="T0" fmla="*/ 0 w 489"/>
                <a:gd name="T1" fmla="*/ 468 h 468"/>
                <a:gd name="T2" fmla="*/ 0 w 489"/>
                <a:gd name="T3" fmla="*/ 242 h 468"/>
                <a:gd name="T4" fmla="*/ 147 w 489"/>
                <a:gd name="T5" fmla="*/ 19 h 468"/>
                <a:gd name="T6" fmla="*/ 244 w 489"/>
                <a:gd name="T7" fmla="*/ 0 h 468"/>
                <a:gd name="T8" fmla="*/ 342 w 489"/>
                <a:gd name="T9" fmla="*/ 19 h 468"/>
                <a:gd name="T10" fmla="*/ 489 w 489"/>
                <a:gd name="T11" fmla="*/ 242 h 468"/>
                <a:gd name="T12" fmla="*/ 489 w 489"/>
                <a:gd name="T13" fmla="*/ 468 h 468"/>
                <a:gd name="T14" fmla="*/ 382 w 489"/>
                <a:gd name="T15" fmla="*/ 468 h 468"/>
                <a:gd name="T16" fmla="*/ 382 w 489"/>
                <a:gd name="T17" fmla="*/ 242 h 468"/>
                <a:gd name="T18" fmla="*/ 303 w 489"/>
                <a:gd name="T19" fmla="*/ 118 h 468"/>
                <a:gd name="T20" fmla="*/ 244 w 489"/>
                <a:gd name="T21" fmla="*/ 107 h 468"/>
                <a:gd name="T22" fmla="*/ 186 w 489"/>
                <a:gd name="T23" fmla="*/ 118 h 468"/>
                <a:gd name="T24" fmla="*/ 107 w 489"/>
                <a:gd name="T25" fmla="*/ 242 h 468"/>
                <a:gd name="T26" fmla="*/ 107 w 489"/>
                <a:gd name="T27" fmla="*/ 468 h 468"/>
                <a:gd name="T28" fmla="*/ 0 w 489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9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5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8" y="0"/>
                    <a:pt x="311" y="6"/>
                    <a:pt x="342" y="19"/>
                  </a:cubicBezTo>
                  <a:cubicBezTo>
                    <a:pt x="424" y="52"/>
                    <a:pt x="489" y="126"/>
                    <a:pt x="489" y="242"/>
                  </a:cubicBezTo>
                  <a:cubicBezTo>
                    <a:pt x="489" y="468"/>
                    <a:pt x="489" y="468"/>
                    <a:pt x="489" y="468"/>
                  </a:cubicBezTo>
                  <a:cubicBezTo>
                    <a:pt x="382" y="468"/>
                    <a:pt x="382" y="468"/>
                    <a:pt x="382" y="468"/>
                  </a:cubicBezTo>
                  <a:cubicBezTo>
                    <a:pt x="382" y="242"/>
                    <a:pt x="382" y="242"/>
                    <a:pt x="382" y="242"/>
                  </a:cubicBezTo>
                  <a:cubicBezTo>
                    <a:pt x="382" y="177"/>
                    <a:pt x="347" y="135"/>
                    <a:pt x="303" y="118"/>
                  </a:cubicBezTo>
                  <a:cubicBezTo>
                    <a:pt x="285" y="110"/>
                    <a:pt x="265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E39A57"/>
            </a:solidFill>
            <a:ln>
              <a:noFill/>
            </a:ln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7" name="Oval 11"/>
            <p:cNvSpPr>
              <a:spLocks noChangeArrowheads="1"/>
            </p:cNvSpPr>
            <p:nvPr/>
          </p:nvSpPr>
          <p:spPr bwMode="auto">
            <a:xfrm>
              <a:off x="2400242" y="3173581"/>
              <a:ext cx="1018825" cy="1021404"/>
            </a:xfrm>
            <a:prstGeom prst="ellipse">
              <a:avLst/>
            </a:prstGeom>
            <a:solidFill>
              <a:srgbClr val="5BBFAE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8" name="Oval 12"/>
            <p:cNvSpPr>
              <a:spLocks noChangeArrowheads="1"/>
            </p:cNvSpPr>
            <p:nvPr/>
          </p:nvSpPr>
          <p:spPr bwMode="auto">
            <a:xfrm>
              <a:off x="3553204" y="4536742"/>
              <a:ext cx="1017535" cy="1021404"/>
            </a:xfrm>
            <a:prstGeom prst="ellipse">
              <a:avLst/>
            </a:prstGeom>
            <a:solidFill>
              <a:srgbClr val="2CAB93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09" name="Oval 13"/>
            <p:cNvSpPr>
              <a:spLocks noChangeArrowheads="1"/>
            </p:cNvSpPr>
            <p:nvPr/>
          </p:nvSpPr>
          <p:spPr bwMode="auto">
            <a:xfrm>
              <a:off x="4713891" y="3168423"/>
              <a:ext cx="1021404" cy="1020115"/>
            </a:xfrm>
            <a:prstGeom prst="ellipse">
              <a:avLst/>
            </a:prstGeom>
            <a:solidFill>
              <a:srgbClr val="E39A57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0" name="Oval 14"/>
            <p:cNvSpPr>
              <a:spLocks noChangeArrowheads="1"/>
            </p:cNvSpPr>
            <p:nvPr/>
          </p:nvSpPr>
          <p:spPr bwMode="auto">
            <a:xfrm>
              <a:off x="5878446" y="4536742"/>
              <a:ext cx="1021404" cy="1021404"/>
            </a:xfrm>
            <a:prstGeom prst="ellipse">
              <a:avLst/>
            </a:prstGeom>
            <a:solidFill>
              <a:srgbClr val="21816F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1" name="Oval 15"/>
            <p:cNvSpPr>
              <a:spLocks noChangeArrowheads="1"/>
            </p:cNvSpPr>
            <p:nvPr/>
          </p:nvSpPr>
          <p:spPr bwMode="auto">
            <a:xfrm>
              <a:off x="7044290" y="3168423"/>
              <a:ext cx="1017535" cy="1020115"/>
            </a:xfrm>
            <a:prstGeom prst="ellipse">
              <a:avLst/>
            </a:prstGeom>
            <a:solidFill>
              <a:srgbClr val="E39A57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2" name="Oval 16"/>
            <p:cNvSpPr>
              <a:spLocks noChangeArrowheads="1"/>
            </p:cNvSpPr>
            <p:nvPr/>
          </p:nvSpPr>
          <p:spPr bwMode="auto">
            <a:xfrm>
              <a:off x="8208846" y="4536742"/>
              <a:ext cx="1017535" cy="1021404"/>
            </a:xfrm>
            <a:prstGeom prst="ellipse">
              <a:avLst/>
            </a:prstGeom>
            <a:solidFill>
              <a:srgbClr val="8FD3C6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8696" tIns="44348" rIns="88696" bIns="44348" numCol="1" anchor="t" anchorCtr="0" compatLnSpc="1"/>
            <a:lstStyle/>
            <a:p>
              <a:pPr algn="ctr"/>
              <a:endParaRPr lang="en-US" sz="1550">
                <a:solidFill>
                  <a:srgbClr val="FFFFFF"/>
                </a:solidFill>
              </a:endParaRPr>
            </a:p>
          </p:txBody>
        </p:sp>
        <p:sp>
          <p:nvSpPr>
            <p:cNvPr id="21013" name="Inhaltsplatzhalter 4"/>
            <p:cNvSpPr txBox="1"/>
            <p:nvPr/>
          </p:nvSpPr>
          <p:spPr>
            <a:xfrm rot="16200000">
              <a:off x="2334396" y="4605130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2CAB93"/>
                  </a:solidFill>
                  <a:latin typeface="微软雅黑"/>
                </a:rPr>
                <a:t>步骤 01</a:t>
              </a:r>
              <a:endParaRPr lang="en-US" sz="1750" b="1" dirty="0">
                <a:solidFill>
                  <a:srgbClr val="2CAB93"/>
                </a:solidFill>
                <a:latin typeface="微软雅黑"/>
              </a:endParaRPr>
            </a:p>
          </p:txBody>
        </p:sp>
        <p:sp>
          <p:nvSpPr>
            <p:cNvPr id="21014" name="Inhaltsplatzhalter 4"/>
            <p:cNvSpPr txBox="1"/>
            <p:nvPr/>
          </p:nvSpPr>
          <p:spPr>
            <a:xfrm rot="16200000">
              <a:off x="4645938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21816F"/>
                  </a:solidFill>
                  <a:latin typeface="微软雅黑"/>
                </a:rPr>
                <a:t>步骤 03</a:t>
              </a:r>
              <a:endParaRPr lang="en-US" sz="1350" dirty="0">
                <a:solidFill>
                  <a:srgbClr val="21816F"/>
                </a:solidFill>
                <a:latin typeface="微软雅黑"/>
              </a:endParaRPr>
            </a:p>
          </p:txBody>
        </p:sp>
        <p:sp>
          <p:nvSpPr>
            <p:cNvPr id="21015" name="Inhaltsplatzhalter 4"/>
            <p:cNvSpPr txBox="1"/>
            <p:nvPr/>
          </p:nvSpPr>
          <p:spPr>
            <a:xfrm rot="16200000">
              <a:off x="6977784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8FD3C6"/>
                  </a:solidFill>
                  <a:latin typeface="微软雅黑"/>
                </a:rPr>
                <a:t>步骤 05</a:t>
              </a:r>
              <a:endParaRPr lang="en-US" sz="1350" dirty="0">
                <a:solidFill>
                  <a:srgbClr val="8FD3C6"/>
                </a:solidFill>
                <a:latin typeface="微软雅黑"/>
              </a:endParaRPr>
            </a:p>
          </p:txBody>
        </p:sp>
        <p:sp>
          <p:nvSpPr>
            <p:cNvPr id="21016" name="Inhaltsplatzhalter 4"/>
            <p:cNvSpPr txBox="1"/>
            <p:nvPr/>
          </p:nvSpPr>
          <p:spPr>
            <a:xfrm rot="16200000">
              <a:off x="348396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微软雅黑"/>
                </a:rPr>
                <a:t>步骤 02</a:t>
              </a:r>
              <a:endParaRPr lang="en-US" sz="1750" b="1" dirty="0">
                <a:solidFill>
                  <a:srgbClr val="1F3A35"/>
                </a:solidFill>
                <a:latin typeface="微软雅黑"/>
              </a:endParaRPr>
            </a:p>
          </p:txBody>
        </p:sp>
        <p:sp>
          <p:nvSpPr>
            <p:cNvPr id="21017" name="Inhaltsplatzhalter 4"/>
            <p:cNvSpPr txBox="1"/>
            <p:nvPr/>
          </p:nvSpPr>
          <p:spPr>
            <a:xfrm rot="16200000">
              <a:off x="581387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微软雅黑"/>
                </a:rPr>
                <a:t>步骤 04</a:t>
              </a:r>
              <a:endParaRPr lang="en-US" sz="1750" b="1" dirty="0">
                <a:solidFill>
                  <a:srgbClr val="1F3A35"/>
                </a:solidFill>
                <a:latin typeface="微软雅黑"/>
              </a:endParaRPr>
            </a:p>
          </p:txBody>
        </p:sp>
        <p:sp>
          <p:nvSpPr>
            <p:cNvPr id="21018" name="Inhaltsplatzhalter 4"/>
            <p:cNvSpPr txBox="1"/>
            <p:nvPr/>
          </p:nvSpPr>
          <p:spPr>
            <a:xfrm rot="16200000">
              <a:off x="8142340" y="3838467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Wingdings" panose="05000000000000000000" pitchFamily="2" charset="2"/>
                <a:buChar char="§"/>
                <a:defRPr sz="22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9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8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70"/>
                </a:spcAft>
                <a:buFont typeface="Symbol" panose="05050102010706020507" pitchFamily="18" charset="2"/>
                <a:buChar char="-"/>
                <a:defRPr sz="155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50" kern="1200">
                  <a:solidFill>
                    <a:srgbClr val="1F3A35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64"/>
                </a:spcAft>
                <a:buNone/>
              </a:pPr>
              <a:r>
                <a:rPr lang="en-US" sz="1750" b="1" dirty="0">
                  <a:solidFill>
                    <a:srgbClr val="1F3A35"/>
                  </a:solidFill>
                  <a:latin typeface="微软雅黑"/>
                </a:rPr>
                <a:t>步骤 06</a:t>
              </a:r>
              <a:endParaRPr lang="en-US" sz="1750" b="1" dirty="0">
                <a:solidFill>
                  <a:srgbClr val="1F3A35"/>
                </a:solidFill>
                <a:latin typeface="微软雅黑"/>
              </a:endParaRPr>
            </a:p>
          </p:txBody>
        </p:sp>
      </p:grpSp>
      <p:pic>
        <p:nvPicPr>
          <p:cNvPr id="21019" name="Picture 21018" descr="pen-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629" y="2847205"/>
            <a:ext cx="354787" cy="354787"/>
          </a:xfrm>
          <a:prstGeom prst="rect">
            <a:avLst/>
          </a:prstGeom>
        </p:spPr>
      </p:pic>
      <p:sp>
        <p:nvSpPr>
          <p:cNvPr id="21020" name="TextBox 21019"/>
          <p:cNvSpPr txBox="1"/>
          <p:nvPr/>
        </p:nvSpPr>
        <p:spPr>
          <a:xfrm>
            <a:off x="1466054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签约</a:t>
            </a:r>
          </a:p>
        </p:txBody>
      </p:sp>
      <p:sp>
        <p:nvSpPr>
          <p:cNvPr id="21021" name="TextBox 21020"/>
          <p:cNvSpPr txBox="1"/>
          <p:nvPr/>
        </p:nvSpPr>
        <p:spPr>
          <a:xfrm>
            <a:off x="1466054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随续约或新签</a:t>
            </a:r>
          </a:p>
        </p:txBody>
      </p:sp>
      <p:pic>
        <p:nvPicPr>
          <p:cNvPr id="21022" name="Picture 21021" descr="box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903" y="3788455"/>
            <a:ext cx="354787" cy="354787"/>
          </a:xfrm>
          <a:prstGeom prst="rect">
            <a:avLst/>
          </a:prstGeom>
        </p:spPr>
      </p:pic>
      <p:sp>
        <p:nvSpPr>
          <p:cNvPr id="21023" name="TextBox 21022"/>
          <p:cNvSpPr txBox="1"/>
          <p:nvPr/>
        </p:nvSpPr>
        <p:spPr>
          <a:xfrm>
            <a:off x="2268329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选模板</a:t>
            </a:r>
          </a:p>
        </p:txBody>
      </p:sp>
      <p:sp>
        <p:nvSpPr>
          <p:cNvPr id="21024" name="TextBox 21023"/>
          <p:cNvSpPr txBox="1"/>
          <p:nvPr/>
        </p:nvSpPr>
        <p:spPr>
          <a:xfrm>
            <a:off x="2268329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已验证的业态模板</a:t>
            </a:r>
          </a:p>
        </p:txBody>
      </p:sp>
      <p:pic>
        <p:nvPicPr>
          <p:cNvPr id="21025" name="Picture 21024" descr="book-ope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3336" y="2847205"/>
            <a:ext cx="354787" cy="354787"/>
          </a:xfrm>
          <a:prstGeom prst="rect">
            <a:avLst/>
          </a:prstGeom>
        </p:spPr>
      </p:pic>
      <p:sp>
        <p:nvSpPr>
          <p:cNvPr id="21026" name="TextBox 21025"/>
          <p:cNvSpPr txBox="1"/>
          <p:nvPr/>
        </p:nvSpPr>
        <p:spPr>
          <a:xfrm>
            <a:off x="3073761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配知识</a:t>
            </a:r>
          </a:p>
        </p:txBody>
      </p:sp>
      <p:sp>
        <p:nvSpPr>
          <p:cNvPr id="21027" name="TextBox 21026"/>
          <p:cNvSpPr txBox="1"/>
          <p:nvPr/>
        </p:nvSpPr>
        <p:spPr>
          <a:xfrm>
            <a:off x="3073761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统一采集表</a:t>
            </a:r>
          </a:p>
        </p:txBody>
      </p:sp>
      <p:pic>
        <p:nvPicPr>
          <p:cNvPr id="21028" name="Picture 21027" descr="li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609" y="3788455"/>
            <a:ext cx="354787" cy="354787"/>
          </a:xfrm>
          <a:prstGeom prst="rect">
            <a:avLst/>
          </a:prstGeom>
        </p:spPr>
      </p:pic>
      <p:sp>
        <p:nvSpPr>
          <p:cNvPr id="21029" name="TextBox 21028"/>
          <p:cNvSpPr txBox="1"/>
          <p:nvPr/>
        </p:nvSpPr>
        <p:spPr>
          <a:xfrm>
            <a:off x="3876035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绑入口</a:t>
            </a:r>
          </a:p>
        </p:txBody>
      </p:sp>
      <p:sp>
        <p:nvSpPr>
          <p:cNvPr id="21030" name="TextBox 21029"/>
          <p:cNvSpPr txBox="1"/>
          <p:nvPr/>
        </p:nvSpPr>
        <p:spPr>
          <a:xfrm>
            <a:off x="3876035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小程序 · 公众号 · 终端</a:t>
            </a:r>
          </a:p>
        </p:txBody>
      </p:sp>
      <p:pic>
        <p:nvPicPr>
          <p:cNvPr id="21031" name="Picture 21030" descr="clipboard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4725" y="2847205"/>
            <a:ext cx="354787" cy="354787"/>
          </a:xfrm>
          <a:prstGeom prst="rect">
            <a:avLst/>
          </a:prstGeom>
        </p:spPr>
      </p:pic>
      <p:sp>
        <p:nvSpPr>
          <p:cNvPr id="21032" name="TextBox 21031"/>
          <p:cNvSpPr txBox="1"/>
          <p:nvPr/>
        </p:nvSpPr>
        <p:spPr>
          <a:xfrm>
            <a:off x="4675151" y="1918845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测试验收</a:t>
            </a:r>
          </a:p>
        </p:txBody>
      </p:sp>
      <p:sp>
        <p:nvSpPr>
          <p:cNvPr id="21033" name="TextBox 21032"/>
          <p:cNvSpPr txBox="1"/>
          <p:nvPr/>
        </p:nvSpPr>
        <p:spPr>
          <a:xfrm>
            <a:off x="4675151" y="2131717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统一测试清单</a:t>
            </a:r>
          </a:p>
        </p:txBody>
      </p:sp>
      <p:pic>
        <p:nvPicPr>
          <p:cNvPr id="21034" name="Picture 21033" descr="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3316" y="3788455"/>
            <a:ext cx="354787" cy="354787"/>
          </a:xfrm>
          <a:prstGeom prst="rect">
            <a:avLst/>
          </a:prstGeom>
        </p:spPr>
      </p:pic>
      <p:sp>
        <p:nvSpPr>
          <p:cNvPr id="21035" name="TextBox 21034"/>
          <p:cNvSpPr txBox="1"/>
          <p:nvPr/>
        </p:nvSpPr>
        <p:spPr>
          <a:xfrm>
            <a:off x="5483742" y="4584927"/>
            <a:ext cx="1773936" cy="2838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1F3A35"/>
                </a:solidFill>
                <a:latin typeface="微软雅黑"/>
                <a:ea typeface="微软雅黑"/>
              </a:rPr>
              <a:t>上线运营</a:t>
            </a:r>
          </a:p>
        </p:txBody>
      </p:sp>
      <p:sp>
        <p:nvSpPr>
          <p:cNvPr id="21036" name="TextBox 21035"/>
          <p:cNvSpPr txBox="1"/>
          <p:nvPr/>
        </p:nvSpPr>
        <p:spPr>
          <a:xfrm>
            <a:off x="5483742" y="4797799"/>
            <a:ext cx="1773936" cy="266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持续出效果报告</a:t>
            </a:r>
          </a:p>
        </p:txBody>
      </p:sp>
      <p:sp>
        <p:nvSpPr>
          <p:cNvPr id="21037" name="Rounded Rectangle 21036"/>
          <p:cNvSpPr/>
          <p:nvPr/>
        </p:nvSpPr>
        <p:spPr>
          <a:xfrm>
            <a:off x="7957017" y="2034562"/>
            <a:ext cx="2935864" cy="3947007"/>
          </a:xfrm>
          <a:prstGeom prst="roundRect">
            <a:avLst>
              <a:gd name="adj" fmla="val 4229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8" name="TextBox 21037"/>
          <p:cNvSpPr txBox="1"/>
          <p:nvPr/>
        </p:nvSpPr>
        <p:spPr>
          <a:xfrm>
            <a:off x="8134410" y="2123259"/>
            <a:ext cx="2669773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五个环节标准化</a:t>
            </a:r>
          </a:p>
        </p:txBody>
      </p:sp>
      <p:sp>
        <p:nvSpPr>
          <p:cNvPr id="21039" name="Rounded Rectangle 21038"/>
          <p:cNvSpPr/>
          <p:nvPr/>
        </p:nvSpPr>
        <p:spPr>
          <a:xfrm>
            <a:off x="8116671" y="2549004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0" name="TextBox 21039"/>
          <p:cNvSpPr txBox="1"/>
          <p:nvPr/>
        </p:nvSpPr>
        <p:spPr>
          <a:xfrm>
            <a:off x="8240847" y="2584482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产品</a:t>
            </a:r>
          </a:p>
        </p:txBody>
      </p:sp>
      <p:sp>
        <p:nvSpPr>
          <p:cNvPr id="21041" name="TextBox 21040"/>
          <p:cNvSpPr txBox="1"/>
          <p:nvPr/>
        </p:nvSpPr>
        <p:spPr>
          <a:xfrm>
            <a:off x="8240847" y="2832833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按业态出模板，差异做成配置</a:t>
            </a:r>
          </a:p>
        </p:txBody>
      </p:sp>
      <p:sp>
        <p:nvSpPr>
          <p:cNvPr id="21042" name="Rounded Rectangle 21041"/>
          <p:cNvSpPr/>
          <p:nvPr/>
        </p:nvSpPr>
        <p:spPr>
          <a:xfrm>
            <a:off x="8116671" y="3205360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3" name="TextBox 21042"/>
          <p:cNvSpPr txBox="1"/>
          <p:nvPr/>
        </p:nvSpPr>
        <p:spPr>
          <a:xfrm>
            <a:off x="8240847" y="3240839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知识采集</a:t>
            </a:r>
          </a:p>
        </p:txBody>
      </p:sp>
      <p:sp>
        <p:nvSpPr>
          <p:cNvPr id="21044" name="TextBox 21043"/>
          <p:cNvSpPr txBox="1"/>
          <p:nvPr/>
        </p:nvSpPr>
        <p:spPr>
          <a:xfrm>
            <a:off x="8240847" y="3489190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统一采集表，景区填、实施审</a:t>
            </a:r>
          </a:p>
        </p:txBody>
      </p:sp>
      <p:sp>
        <p:nvSpPr>
          <p:cNvPr id="21045" name="Rounded Rectangle 21044"/>
          <p:cNvSpPr/>
          <p:nvPr/>
        </p:nvSpPr>
        <p:spPr>
          <a:xfrm>
            <a:off x="8116671" y="3861716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6" name="TextBox 21045"/>
          <p:cNvSpPr txBox="1"/>
          <p:nvPr/>
        </p:nvSpPr>
        <p:spPr>
          <a:xfrm>
            <a:off x="8240847" y="3897195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系统接入</a:t>
            </a:r>
          </a:p>
        </p:txBody>
      </p:sp>
      <p:sp>
        <p:nvSpPr>
          <p:cNvPr id="21047" name="TextBox 21046"/>
          <p:cNvSpPr txBox="1"/>
          <p:nvPr/>
        </p:nvSpPr>
        <p:spPr>
          <a:xfrm>
            <a:off x="8240847" y="4145546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老客户接口现成</a:t>
            </a:r>
          </a:p>
        </p:txBody>
      </p:sp>
      <p:sp>
        <p:nvSpPr>
          <p:cNvPr id="21048" name="Rounded Rectangle 21047"/>
          <p:cNvSpPr/>
          <p:nvPr/>
        </p:nvSpPr>
        <p:spPr>
          <a:xfrm>
            <a:off x="8116671" y="4518073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9" name="TextBox 21048"/>
          <p:cNvSpPr txBox="1"/>
          <p:nvPr/>
        </p:nvSpPr>
        <p:spPr>
          <a:xfrm>
            <a:off x="8240847" y="4553551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实施</a:t>
            </a:r>
          </a:p>
        </p:txBody>
      </p:sp>
      <p:sp>
        <p:nvSpPr>
          <p:cNvPr id="21050" name="TextBox 21049"/>
          <p:cNvSpPr txBox="1"/>
          <p:nvPr/>
        </p:nvSpPr>
        <p:spPr>
          <a:xfrm>
            <a:off x="8240847" y="4801902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手册 + 培训，伙伴可独立交付</a:t>
            </a:r>
          </a:p>
        </p:txBody>
      </p:sp>
      <p:sp>
        <p:nvSpPr>
          <p:cNvPr id="21051" name="Rounded Rectangle 21050"/>
          <p:cNvSpPr/>
          <p:nvPr/>
        </p:nvSpPr>
        <p:spPr>
          <a:xfrm>
            <a:off x="8116671" y="5174429"/>
            <a:ext cx="2616555" cy="56765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2" name="TextBox 21051"/>
          <p:cNvSpPr txBox="1"/>
          <p:nvPr/>
        </p:nvSpPr>
        <p:spPr>
          <a:xfrm>
            <a:off x="8240847" y="5209908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053" name="TextBox 21052"/>
          <p:cNvSpPr txBox="1"/>
          <p:nvPr/>
        </p:nvSpPr>
        <p:spPr>
          <a:xfrm>
            <a:off x="8240847" y="5458259"/>
            <a:ext cx="2403683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统一测试清单，跑完即上线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销售与续费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票务团队带单，用效果报告促续费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卖出去只是开始，持续让景区看到效果，才能续费、加购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35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3226"/>
            <a:ext cx="5499201" cy="851489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220620"/>
            <a:ext cx="496702" cy="49670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riefc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887" y="2344795"/>
            <a:ext cx="248351" cy="24835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836938" y="2114184"/>
            <a:ext cx="45235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销售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36938" y="2442362"/>
            <a:ext cx="452353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票务销售团队带单，智能体纳入销售考核；区域渠道伙伴代理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318" y="3018891"/>
            <a:ext cx="5499201" cy="851489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71711" y="3196285"/>
            <a:ext cx="496702" cy="49670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t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887" y="3320460"/>
            <a:ext cx="248351" cy="24835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836938" y="3089849"/>
            <a:ext cx="45235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案例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36938" y="3418027"/>
            <a:ext cx="452353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每类业态的标杆做成案例，用数据讲效果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994556"/>
            <a:ext cx="5499201" cy="851489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71711" y="4171950"/>
            <a:ext cx="496702" cy="496702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heads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887" y="4296125"/>
            <a:ext cx="248351" cy="24835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836938" y="4065513"/>
            <a:ext cx="45235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客户成功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36938" y="4393692"/>
            <a:ext cx="452353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上线后定期出效果报告：解决多少咨询、带来多少订单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318" y="4970221"/>
            <a:ext cx="5499201" cy="851489"/>
          </a:xfrm>
          <a:prstGeom prst="roundRect">
            <a:avLst>
              <a:gd name="adj" fmla="val 1250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71711" y="5147614"/>
            <a:ext cx="496702" cy="49670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887" y="5271790"/>
            <a:ext cx="248351" cy="24835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836938" y="5041178"/>
            <a:ext cx="4523536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升级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36938" y="5369356"/>
            <a:ext cx="4523536" cy="3991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模板统一升级，所有景区同步受益，增加粘性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03958" y="2043226"/>
            <a:ext cx="4088922" cy="3813962"/>
          </a:xfrm>
          <a:prstGeom prst="roundRect">
            <a:avLst>
              <a:gd name="adj" fmla="val 279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803958" y="2043226"/>
            <a:ext cx="4088922" cy="319308"/>
          </a:xfrm>
          <a:prstGeom prst="roundRect">
            <a:avLst>
              <a:gd name="adj" fmla="val 0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37004" y="2149662"/>
            <a:ext cx="106436" cy="106436"/>
          </a:xfrm>
          <a:prstGeom prst="ellipse">
            <a:avLst/>
          </a:prstGeom>
          <a:solidFill>
            <a:srgbClr val="E07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114397" y="2149662"/>
            <a:ext cx="106436" cy="106436"/>
          </a:xfrm>
          <a:prstGeom prst="ellipse">
            <a:avLst/>
          </a:prstGeom>
          <a:solidFill>
            <a:srgbClr val="D9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291791" y="2149662"/>
            <a:ext cx="106436" cy="106436"/>
          </a:xfrm>
          <a:prstGeom prst="ellipse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7880" y="2043226"/>
            <a:ext cx="3201954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5E7772"/>
                </a:solidFill>
                <a:latin typeface="微软雅黑"/>
                <a:ea typeface="微软雅黑"/>
              </a:rPr>
              <a:t>景区 AI 效果月报（示意）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25700" y="2468971"/>
            <a:ext cx="3734135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××景区 · ××月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1352" y="2912455"/>
            <a:ext cx="1778370" cy="816010"/>
          </a:xfrm>
          <a:prstGeom prst="roundRect">
            <a:avLst>
              <a:gd name="adj" fmla="val 8695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14397" y="2965673"/>
            <a:ext cx="1600977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解决咨询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14397" y="3196285"/>
            <a:ext cx="1600977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50" b="1">
                <a:solidFill>
                  <a:srgbClr val="21816F"/>
                </a:solidFill>
                <a:latin typeface="微软雅黑"/>
                <a:ea typeface="微软雅黑"/>
              </a:rPr>
              <a:t>×××</a:t>
            </a:r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 次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37117" y="2912455"/>
            <a:ext cx="1778370" cy="816010"/>
          </a:xfrm>
          <a:prstGeom prst="roundRect">
            <a:avLst>
              <a:gd name="adj" fmla="val 8695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70162" y="2965673"/>
            <a:ext cx="1600977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带来订单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70162" y="3196285"/>
            <a:ext cx="1600977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50" b="1">
                <a:solidFill>
                  <a:srgbClr val="21816F"/>
                </a:solidFill>
                <a:latin typeface="微软雅黑"/>
                <a:ea typeface="微软雅黑"/>
              </a:rPr>
              <a:t>×××</a:t>
            </a:r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 单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81352" y="3843771"/>
            <a:ext cx="1778370" cy="816010"/>
          </a:xfrm>
          <a:prstGeom prst="roundRect">
            <a:avLst>
              <a:gd name="adj" fmla="val 8695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14397" y="3896989"/>
            <a:ext cx="1600977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转人工率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14397" y="4127601"/>
            <a:ext cx="1600977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50" b="1">
                <a:solidFill>
                  <a:srgbClr val="21816F"/>
                </a:solidFill>
                <a:latin typeface="微软雅黑"/>
                <a:ea typeface="微软雅黑"/>
              </a:rPr>
              <a:t>××</a:t>
            </a:r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 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37117" y="3843771"/>
            <a:ext cx="1778370" cy="816010"/>
          </a:xfrm>
          <a:prstGeom prst="roundRect">
            <a:avLst>
              <a:gd name="adj" fmla="val 8695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70162" y="3896989"/>
            <a:ext cx="1600977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5E7772"/>
                </a:solidFill>
                <a:latin typeface="微软雅黑"/>
                <a:ea typeface="微软雅黑"/>
              </a:rPr>
              <a:t>游客满意度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70162" y="4127601"/>
            <a:ext cx="1600977" cy="4612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50" b="1">
                <a:solidFill>
                  <a:srgbClr val="21816F"/>
                </a:solidFill>
                <a:latin typeface="微软雅黑"/>
                <a:ea typeface="微软雅黑"/>
              </a:rPr>
              <a:t>××</a:t>
            </a:r>
            <a:r>
              <a:rPr sz="1050" b="0">
                <a:solidFill>
                  <a:srgbClr val="21816F"/>
                </a:solidFill>
                <a:latin typeface="微软雅黑"/>
                <a:ea typeface="微软雅黑"/>
              </a:rPr>
              <a:t> 分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114396" y="5307269"/>
            <a:ext cx="230611" cy="310438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486923" y="5174223"/>
            <a:ext cx="230611" cy="443484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7859449" y="5245181"/>
            <a:ext cx="230611" cy="372526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231976" y="5067787"/>
            <a:ext cx="230611" cy="549920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604503" y="5129875"/>
            <a:ext cx="230611" cy="487832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977029" y="4979090"/>
            <a:ext cx="230611" cy="638616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64862" y="4996830"/>
            <a:ext cx="1250624" cy="6208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趋势与建议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由系统自动生成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借平台，不交资产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六样东西必须留在自己手里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这是将来自建平台能低成本切过去的前提，从第一天就要做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36  ·  AI＋数据平台 · 02  智能体平台</a:t>
            </a:r>
          </a:p>
        </p:txBody>
      </p:sp>
      <p:sp>
        <p:nvSpPr>
          <p:cNvPr id="44" name="Oval 43"/>
          <p:cNvSpPr/>
          <p:nvPr/>
        </p:nvSpPr>
        <p:spPr>
          <a:xfrm>
            <a:off x="5012283" y="2859237"/>
            <a:ext cx="1862632" cy="1862632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790541" y="2637495"/>
            <a:ext cx="2306116" cy="2306116"/>
          </a:xfrm>
          <a:prstGeom prst="ellipse">
            <a:avLst/>
          </a:prstGeom>
          <a:noFill/>
          <a:ln w="15875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509" y="3125327"/>
            <a:ext cx="532180" cy="5321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056632" y="3701856"/>
            <a:ext cx="1773936" cy="532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留在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自己手里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318" y="2034357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53971" y="219401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book-ope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842" y="2304882"/>
            <a:ext cx="221742" cy="22174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703892" y="2176272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景区知识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1711" y="2672974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按自有结构存一份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1711" y="2903585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直接导入自建平台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497842" y="2619756"/>
            <a:ext cx="292699" cy="1170797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94318" y="3364809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53971" y="3524463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plu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42" y="3635334"/>
            <a:ext cx="221742" cy="221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703892" y="3506724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业务接口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1711" y="4003426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售票、订单、核销、会员接口自己封装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71711" y="4234037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平台直接复用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4497842" y="3790553"/>
            <a:ext cx="292699" cy="159654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94318" y="4695261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53971" y="4854915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file-tex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842" y="4965786"/>
            <a:ext cx="221742" cy="22174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03892" y="4837176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模板设计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71711" y="5333878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流程、提示词、配置写成文档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71711" y="5564489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迁入模板库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4497842" y="3790553"/>
            <a:ext cx="292699" cy="1490106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389357" y="2034357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549012" y="219401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messages-squar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9883" y="2304882"/>
            <a:ext cx="221742" cy="22174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098932" y="2176272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交互数据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66751" y="2672974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对话、评价、转人工回流数据平台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66751" y="2903585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做测试题、优化效果</a:t>
            </a:r>
          </a:p>
        </p:txBody>
      </p:sp>
      <p:cxnSp>
        <p:nvCxnSpPr>
          <p:cNvPr id="75" name="Connector 74"/>
          <p:cNvCxnSpPr/>
          <p:nvPr/>
        </p:nvCxnSpPr>
        <p:spPr>
          <a:xfrm flipH="1">
            <a:off x="7096658" y="2619756"/>
            <a:ext cx="292699" cy="1170797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389357" y="3364809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549012" y="3524463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coin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9883" y="3635334"/>
            <a:ext cx="221742" cy="22174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098932" y="3506724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成本数据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66751" y="4003426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按景区、按智能体记录每月平台费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66751" y="4234037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判断何时自建</a:t>
            </a:r>
          </a:p>
        </p:txBody>
      </p:sp>
      <p:cxnSp>
        <p:nvCxnSpPr>
          <p:cNvPr id="82" name="Connector 81"/>
          <p:cNvCxnSpPr/>
          <p:nvPr/>
        </p:nvCxnSpPr>
        <p:spPr>
          <a:xfrm flipH="1" flipV="1">
            <a:off x="7096658" y="3790553"/>
            <a:ext cx="292699" cy="159654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389357" y="4695261"/>
            <a:ext cx="3503523" cy="1170797"/>
          </a:xfrm>
          <a:prstGeom prst="roundRect">
            <a:avLst>
              <a:gd name="adj" fmla="val 909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549012" y="4854915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list-check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9883" y="4965786"/>
            <a:ext cx="221742" cy="22174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098932" y="4837176"/>
            <a:ext cx="2705252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需求清单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66751" y="5333878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2CAB93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记录客户要、平台做不了的功能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66751" y="5564489"/>
            <a:ext cx="3237433" cy="23061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B26A2C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自建平台的需求来源</a:t>
            </a: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7096658" y="3790553"/>
            <a:ext cx="292699" cy="1490106"/>
          </a:xfrm>
          <a:prstGeom prst="line">
            <a:avLst/>
          </a:prstGeom>
          <a:ln w="12700">
            <a:solidFill>
              <a:srgbClr val="A9DD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为什么最终要自建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借平台 vs 自建平台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起步时借平台最划算；规模越大，借平台的问题越突出，自建的好处越明显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37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35209" y="1963399"/>
            <a:ext cx="2572207" cy="425744"/>
          </a:xfrm>
          <a:prstGeom prst="roundRect">
            <a:avLst>
              <a:gd name="adj" fmla="val 16666"/>
            </a:avLst>
          </a:prstGeom>
          <a:solidFill>
            <a:srgbClr val="FC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借平台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96112" y="1963399"/>
            <a:ext cx="2572207" cy="425744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自建平台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7017" y="1963399"/>
            <a:ext cx="2891515" cy="425744"/>
          </a:xfrm>
          <a:prstGeom prst="roundRect">
            <a:avLst>
              <a:gd name="adj" fmla="val 16666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1816F"/>
                </a:solidFill>
                <a:latin typeface="微软雅黑"/>
                <a:ea typeface="微软雅黑"/>
              </a:rPr>
              <a:t>对公司的影响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4318" y="2460101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coins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63" y="2610886"/>
            <a:ext cx="248351" cy="24835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482150" y="2460101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成本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8254" y="2460101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按调用、账号计费，随景区数增长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29158" y="2460101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只付模型调用和自身运维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0061" y="2460101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单景区成本下降，规模越大利润越高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318" y="3045500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timer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63" y="3196285"/>
            <a:ext cx="248351" cy="24835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82150" y="3045500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交付周期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8254" y="3045500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每个景区在外部平台单独配置、调试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29158" y="3045500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集团建一次，景区开通即用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0061" y="3045500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省交付人天，上线更快，承接更多景区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318" y="3630899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puzzl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63" y="3781684"/>
            <a:ext cx="248351" cy="248351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482150" y="3630899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定制能力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68254" y="3630899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个性需求受平台限制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29158" y="3630899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按需自主扩展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0061" y="3630899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能接大客户和个性项目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4216298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databas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63" y="4367082"/>
            <a:ext cx="248351" cy="24835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482150" y="4216298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数据资产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8254" y="4216298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工作流、知识、对话数据在外部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29158" y="4216298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全部在自己手里，回流数据平台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0061" y="4216298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越用越准，数据成为资产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4318" y="4801697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EF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hield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363" y="4952481"/>
            <a:ext cx="248351" cy="248351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482150" y="4801697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风险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68254" y="4801697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平台调价、改规则直接影响报价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29158" y="4801697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自主可控，模型可替换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0061" y="4801697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经营稳定，报价有底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94318" y="5387096"/>
            <a:ext cx="9898562" cy="54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crown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363" y="5537880"/>
            <a:ext cx="248351" cy="248351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482150" y="5387096"/>
            <a:ext cx="1064361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竞争力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68254" y="5387096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同平台谁都能做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29158" y="5387096"/>
            <a:ext cx="2394813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业务系统 + 数据 + 平台一体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0061" y="5387096"/>
            <a:ext cx="2714122" cy="549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形成壁垒，提高续约和客单价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建自己的平台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什么时候启动？看成本交叉点和五个信号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满足任意两条就启动自建；不提前，也不拖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38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76704"/>
            <a:ext cx="4789627" cy="3947007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6060" y="2083140"/>
            <a:ext cx="3547872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总成本随景区数量变化（示意）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1127363" y="2420188"/>
          <a:ext cx="4523536" cy="3060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260408" y="5524576"/>
            <a:ext cx="4257446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景区数量 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926873" y="3262807"/>
            <a:ext cx="1685239" cy="319308"/>
          </a:xfrm>
          <a:prstGeom prst="roundRect">
            <a:avLst>
              <a:gd name="adj" fmla="val 5000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交叉点 = 该自建了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50036" y="1976704"/>
            <a:ext cx="4842845" cy="585398"/>
          </a:xfrm>
          <a:prstGeom prst="roundRect">
            <a:avLst>
              <a:gd name="adj" fmla="val 1515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183081" y="2065400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coin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82" y="2167402"/>
            <a:ext cx="204002" cy="20400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15262" y="1976704"/>
            <a:ext cx="150784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成本交叉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78759" y="1976704"/>
            <a:ext cx="262542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按记录的成本测算，自建总成本已更低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50036" y="2650799"/>
            <a:ext cx="4842845" cy="585398"/>
          </a:xfrm>
          <a:prstGeom prst="roundRect">
            <a:avLst>
              <a:gd name="adj" fmla="val 1515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183081" y="2739496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trending-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082" y="2841498"/>
            <a:ext cx="204002" cy="20400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715262" y="2650799"/>
            <a:ext cx="150784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平台费占比上升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8759" y="2650799"/>
            <a:ext cx="262542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平台费占智能体收入的比例持续上升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50036" y="3324895"/>
            <a:ext cx="4842845" cy="585398"/>
          </a:xfrm>
          <a:prstGeom prst="roundRect">
            <a:avLst>
              <a:gd name="adj" fmla="val 1515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183081" y="3413592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ircle-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82" y="3515593"/>
            <a:ext cx="204002" cy="20400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715262" y="3324895"/>
            <a:ext cx="150784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场景稳定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78759" y="3324895"/>
            <a:ext cx="262542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主力模板已稳定，不再频繁大改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50036" y="3998991"/>
            <a:ext cx="4842845" cy="585398"/>
          </a:xfrm>
          <a:prstGeom prst="roundRect">
            <a:avLst>
              <a:gd name="adj" fmla="val 1515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183081" y="4087688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circle-x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5082" y="4189689"/>
            <a:ext cx="204002" cy="20400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715262" y="3998991"/>
            <a:ext cx="150784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平台限制丢单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78759" y="3998991"/>
            <a:ext cx="262542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个性需求、大客户项目因平台限制接不了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050036" y="4673086"/>
            <a:ext cx="4842845" cy="585398"/>
          </a:xfrm>
          <a:prstGeom prst="roundRect">
            <a:avLst>
              <a:gd name="adj" fmla="val 15151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183081" y="4761783"/>
            <a:ext cx="408005" cy="40800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hield-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5082" y="4863785"/>
            <a:ext cx="204002" cy="20400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15262" y="4673086"/>
            <a:ext cx="150784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1F3A35"/>
                </a:solidFill>
                <a:latin typeface="微软雅黑"/>
                <a:ea typeface="微软雅黑"/>
              </a:rPr>
              <a:t>合规要求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78759" y="4673086"/>
            <a:ext cx="2625425" cy="5853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景区或管理方要求数据不出域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50036" y="5364921"/>
            <a:ext cx="4842845" cy="549920"/>
          </a:xfrm>
          <a:prstGeom prst="roundRect">
            <a:avLst>
              <a:gd name="adj" fmla="val 16129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满足任意两条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，就启动自建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建什么、不建什么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钱只花在“壁垒”上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能买的买、能借的借，只自建承载我们业务和数据的部分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39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786006"/>
            <a:ext cx="9898562" cy="674095"/>
          </a:xfrm>
          <a:prstGeom prst="roundRect">
            <a:avLst>
              <a:gd name="adj" fmla="val 131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27363" y="190131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ra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34" y="2012182"/>
            <a:ext cx="221742" cy="221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03892" y="1786006"/>
            <a:ext cx="3015691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大模型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63932" y="1963399"/>
            <a:ext cx="1197406" cy="319308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采购 / 合作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8732" y="1786006"/>
            <a:ext cx="2483510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不自研 · 调用模型服务，多家可替换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2243" y="1786006"/>
            <a:ext cx="2137592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投入大，不是我们的优势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318" y="2548798"/>
            <a:ext cx="9898562" cy="674095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27363" y="2664104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mic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34" y="2774975"/>
            <a:ext cx="221742" cy="22174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703892" y="2548798"/>
            <a:ext cx="3015691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语音 · 图像 · 数字人 · 手语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63932" y="2726192"/>
            <a:ext cx="1197406" cy="319308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B26A2C"/>
                </a:solidFill>
                <a:latin typeface="微软雅黑"/>
                <a:ea typeface="微软雅黑"/>
              </a:rPr>
              <a:t>采购 / 合作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38732" y="2548798"/>
            <a:ext cx="2483510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采购或合作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22243" y="2548798"/>
            <a:ext cx="2137592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专业能力，自建不划算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4318" y="3311591"/>
            <a:ext cx="9898562" cy="674095"/>
          </a:xfrm>
          <a:prstGeom prst="roundRect">
            <a:avLst>
              <a:gd name="adj" fmla="val 131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27363" y="3426896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workflow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34" y="3537767"/>
            <a:ext cx="221742" cy="22174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703892" y="3311591"/>
            <a:ext cx="3015691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编排引擎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63932" y="3488984"/>
            <a:ext cx="1197406" cy="319308"/>
          </a:xfrm>
          <a:prstGeom prst="roundRect">
            <a:avLst>
              <a:gd name="adj" fmla="val 50000"/>
            </a:avLst>
          </a:prstGeom>
          <a:solidFill>
            <a:srgbClr val="E3EEF7"/>
          </a:solidFill>
          <a:ln w="12700">
            <a:solidFill>
              <a:srgbClr val="A9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3E6F96"/>
                </a:solidFill>
                <a:latin typeface="微软雅黑"/>
                <a:ea typeface="微软雅黑"/>
              </a:rPr>
              <a:t>开源改造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38732" y="3311591"/>
            <a:ext cx="2483510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开源框架二次开发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22243" y="3311591"/>
            <a:ext cx="2137592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不从零写，缩短周期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318" y="4074383"/>
            <a:ext cx="9898562" cy="674095"/>
          </a:xfrm>
          <a:prstGeom prst="roundRect">
            <a:avLst>
              <a:gd name="adj" fmla="val 13157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27363" y="4189689"/>
            <a:ext cx="443484" cy="44348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building2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799" y="4296125"/>
            <a:ext cx="230611" cy="230611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703892" y="4074383"/>
            <a:ext cx="3015691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管理台 · 能力与知识 · 业务工具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763932" y="4251777"/>
            <a:ext cx="1197406" cy="3193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自建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38732" y="4074383"/>
            <a:ext cx="2483510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自建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22243" y="4074383"/>
            <a:ext cx="2137592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承载我们的业务、数据和交付方式，是壁垒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4318" y="4837175"/>
            <a:ext cx="9898562" cy="674095"/>
          </a:xfrm>
          <a:prstGeom prst="roundRect">
            <a:avLst>
              <a:gd name="adj" fmla="val 13157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7363" y="4952481"/>
            <a:ext cx="443484" cy="443484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34" y="5063352"/>
            <a:ext cx="221742" cy="22174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03892" y="4837175"/>
            <a:ext cx="3015691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数据服务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763932" y="5014569"/>
            <a:ext cx="1197406" cy="319308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21816F"/>
                </a:solidFill>
                <a:latin typeface="微软雅黑"/>
                <a:ea typeface="微软雅黑"/>
              </a:rPr>
              <a:t>复用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38732" y="4837175"/>
            <a:ext cx="2483510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复用第一部分的数据平台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22243" y="4837175"/>
            <a:ext cx="2137592" cy="6740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已经有了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94318" y="5670925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targe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5759622"/>
            <a:ext cx="266090" cy="26609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570847" y="5670925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1816F"/>
                </a:solidFill>
                <a:latin typeface="微软雅黑"/>
                <a:ea typeface="微软雅黑"/>
              </a:rPr>
              <a:t>原则　</a:t>
            </a:r>
            <a:r>
              <a:rPr sz="1200" b="0">
                <a:solidFill>
                  <a:srgbClr val="1F3A35"/>
                </a:solidFill>
                <a:latin typeface="微软雅黑"/>
                <a:ea typeface="微软雅黑"/>
              </a:rPr>
              <a:t>不碰重投入、非优势的部分；把钱和人放在“业务 + 数据 + 交付”上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自建平台长什么样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数字大脑做管理台，底下接数据平台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颜色代表“怎么来”：自建 / 开源改造 / 采购合作 / 复用已有；所有产品线的智能体都在这上面统一管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40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54530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渠道入口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86858" y="1954530"/>
            <a:ext cx="1358539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畅游小程序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6355" y="1954530"/>
            <a:ext cx="1358539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票付通 APP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45851" y="1954530"/>
            <a:ext cx="1358539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348" y="1954530"/>
            <a:ext cx="1358539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公众号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04845" y="1954530"/>
            <a:ext cx="1358539" cy="39026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智慧终端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34342" y="1954530"/>
            <a:ext cx="1358539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开放 API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318" y="2415753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智能体应用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86858" y="2415753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游客服务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02253" y="2415753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景区管理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17650" y="2415753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票务财务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33045" y="2415753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安全调度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48442" y="2415753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精准营销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4318" y="2876977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管理台 · 搭建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386858" y="2876977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模板库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02253" y="2876977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可视化编排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17650" y="2876977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配置化生成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33045" y="2876977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多智能体协同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48442" y="2876977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测试与发布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4318" y="3338199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管理台 · 运营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386858" y="3338199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多租户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102253" y="3338199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权限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817650" y="3338199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运行监控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33045" y="3338199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计量到景区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48442" y="3338199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4318" y="3799422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386858" y="3799422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业务工具中心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02253" y="3799422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景区知识库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817650" y="3799422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游客记忆与画像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33045" y="3799422"/>
            <a:ext cx="1644438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测试用例库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48442" y="3799422"/>
            <a:ext cx="1644438" cy="390265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数据服务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4318" y="4260646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引擎层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386858" y="4260646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E3EEF7"/>
          </a:solidFill>
          <a:ln w="12700">
            <a:solidFill>
              <a:srgbClr val="A9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3E6F96"/>
                </a:solidFill>
                <a:latin typeface="微软雅黑"/>
                <a:ea typeface="微软雅黑"/>
              </a:rPr>
              <a:t>编排引擎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31103" y="4260646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E3EEF7"/>
          </a:solidFill>
          <a:ln w="12700">
            <a:solidFill>
              <a:srgbClr val="A9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3E6F96"/>
                </a:solidFill>
                <a:latin typeface="微软雅黑"/>
                <a:ea typeface="微软雅黑"/>
              </a:rPr>
              <a:t>检索引擎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675348" y="4260646"/>
            <a:ext cx="2073287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模型网关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19593" y="4260646"/>
            <a:ext cx="2073287" cy="390265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内容安全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318" y="4721869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外部能力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386858" y="4721869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大模型 · 可替换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31103" y="4721869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语音 · 图像 · 数字人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675348" y="4721869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819593" y="4721869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B26A2C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94318" y="5183093"/>
            <a:ext cx="1286103" cy="390265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数据底座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386858" y="5183093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认证指标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31103" y="5183093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675348" y="5183093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湖仓与实时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819593" y="5183093"/>
            <a:ext cx="2073287" cy="390265"/>
          </a:xfrm>
          <a:prstGeom prst="roundRect">
            <a:avLst>
              <a:gd name="adj" fmla="val 18181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000" b="0">
                <a:solidFill>
                  <a:srgbClr val="21816F"/>
                </a:solidFill>
                <a:latin typeface="微软雅黑"/>
                <a:ea typeface="微软雅黑"/>
              </a:rPr>
              <a:t>交互数据回流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315900" y="2841498"/>
            <a:ext cx="8647938" cy="922446"/>
          </a:xfrm>
          <a:prstGeom prst="roundRect">
            <a:avLst>
              <a:gd name="adj" fmla="val 9615"/>
            </a:avLst>
          </a:prstGeom>
          <a:noFill/>
          <a:ln w="19050">
            <a:solidFill>
              <a:srgbClr val="E39A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94318" y="5697534"/>
            <a:ext cx="565688" cy="248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自建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648703" y="5697534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E3EEF7"/>
          </a:solidFill>
          <a:ln w="12700">
            <a:solidFill>
              <a:srgbClr val="A9C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3E6F96"/>
                </a:solidFill>
                <a:latin typeface="微软雅黑"/>
                <a:ea typeface="微软雅黑"/>
              </a:rPr>
              <a:t>开源改造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49469" y="5697534"/>
            <a:ext cx="954968" cy="248351"/>
          </a:xfrm>
          <a:prstGeom prst="roundRect">
            <a:avLst>
              <a:gd name="adj" fmla="val 50000"/>
            </a:avLst>
          </a:prstGeom>
          <a:solidFill>
            <a:srgbClr val="FCF1E6"/>
          </a:solidFill>
          <a:ln w="12700">
            <a:solidFill>
              <a:srgbClr val="F2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B26A2C"/>
                </a:solidFill>
                <a:latin typeface="微软雅黑"/>
                <a:ea typeface="微软雅黑"/>
              </a:rPr>
              <a:t>采购 / 合作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593134" y="5697534"/>
            <a:ext cx="565688" cy="248351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复用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247520" y="5697534"/>
            <a:ext cx="812068" cy="248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9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21816F"/>
                </a:solidFill>
                <a:latin typeface="微软雅黑"/>
                <a:ea typeface="微软雅黑"/>
              </a:rPr>
              <a:t>已有入口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36982" y="5697534"/>
            <a:ext cx="2660904" cy="248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B26A2C"/>
                </a:solidFill>
                <a:latin typeface="微软雅黑"/>
                <a:ea typeface="微软雅黑"/>
              </a:rPr>
              <a:t>橙色虚线框 = 数字大脑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怎么切过去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五步走，双轨运行、随时可退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不搞一刀切，用同一套测试题对比，达标才切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41  ·  AI＋数据平台 · 02  智能体平台</a:t>
            </a:r>
          </a:p>
        </p:txBody>
      </p:sp>
      <p:grpSp>
        <p:nvGrpSpPr>
          <p:cNvPr id="21000" name="素材 22"/>
          <p:cNvGrpSpPr/>
          <p:nvPr/>
        </p:nvGrpSpPr>
        <p:grpSpPr>
          <a:xfrm>
            <a:off x="1109624" y="2326969"/>
            <a:ext cx="8248802" cy="2551831"/>
            <a:chOff x="897064" y="2795992"/>
            <a:chExt cx="8850635" cy="2738013"/>
          </a:xfrm>
        </p:grpSpPr>
        <p:sp>
          <p:nvSpPr>
            <p:cNvPr id="21001" name="Line 6"/>
            <p:cNvSpPr>
              <a:spLocks noChangeShapeType="1"/>
            </p:cNvSpPr>
            <p:nvPr/>
          </p:nvSpPr>
          <p:spPr bwMode="auto">
            <a:xfrm rot="18900000">
              <a:off x="7753569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2CAB93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2" name="Line 7"/>
            <p:cNvSpPr>
              <a:spLocks noChangeShapeType="1"/>
            </p:cNvSpPr>
            <p:nvPr/>
          </p:nvSpPr>
          <p:spPr bwMode="auto">
            <a:xfrm rot="18900000">
              <a:off x="6053708" y="3980542"/>
              <a:ext cx="216173" cy="218070"/>
            </a:xfrm>
            <a:prstGeom prst="line">
              <a:avLst/>
            </a:prstGeom>
            <a:noFill/>
            <a:ln w="34925" cap="rnd">
              <a:solidFill>
                <a:srgbClr val="5BBFAE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3" name="Line 8"/>
            <p:cNvSpPr>
              <a:spLocks noChangeShapeType="1"/>
            </p:cNvSpPr>
            <p:nvPr/>
          </p:nvSpPr>
          <p:spPr bwMode="auto">
            <a:xfrm rot="18900000">
              <a:off x="4371931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21816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4" name="Line 9"/>
            <p:cNvSpPr>
              <a:spLocks noChangeShapeType="1"/>
            </p:cNvSpPr>
            <p:nvPr/>
          </p:nvSpPr>
          <p:spPr bwMode="auto">
            <a:xfrm rot="18900000">
              <a:off x="2640053" y="3982044"/>
              <a:ext cx="210485" cy="212381"/>
            </a:xfrm>
            <a:prstGeom prst="line">
              <a:avLst/>
            </a:prstGeom>
            <a:noFill/>
            <a:ln w="34925" cap="rnd">
              <a:solidFill>
                <a:srgbClr val="E39A57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5" name="Freeform 10"/>
            <p:cNvSpPr/>
            <p:nvPr/>
          </p:nvSpPr>
          <p:spPr bwMode="auto">
            <a:xfrm rot="18900000">
              <a:off x="897064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E39A57"/>
              </a:solidFill>
              <a:prstDash val="solid"/>
              <a:round/>
            </a:ln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grpSp>
          <p:nvGrpSpPr>
            <p:cNvPr id="21006" name="Group 54"/>
            <p:cNvGrpSpPr/>
            <p:nvPr/>
          </p:nvGrpSpPr>
          <p:grpSpPr>
            <a:xfrm>
              <a:off x="1495950" y="3573124"/>
              <a:ext cx="1027771" cy="1031563"/>
              <a:chOff x="2239027" y="3573124"/>
              <a:chExt cx="1027771" cy="1031563"/>
            </a:xfrm>
          </p:grpSpPr>
          <p:sp>
            <p:nvSpPr>
              <p:cNvPr id="21007" name="Freeform 11"/>
              <p:cNvSpPr/>
              <p:nvPr/>
            </p:nvSpPr>
            <p:spPr bwMode="auto">
              <a:xfrm rot="18900000">
                <a:off x="2239027" y="3573124"/>
                <a:ext cx="1027771" cy="1031563"/>
              </a:xfrm>
              <a:custGeom>
                <a:avLst/>
                <a:gdLst>
                  <a:gd name="T0" fmla="*/ 396 w 396"/>
                  <a:gd name="T1" fmla="*/ 198 h 396"/>
                  <a:gd name="T2" fmla="*/ 198 w 396"/>
                  <a:gd name="T3" fmla="*/ 396 h 396"/>
                  <a:gd name="T4" fmla="*/ 0 w 396"/>
                  <a:gd name="T5" fmla="*/ 198 h 396"/>
                  <a:gd name="T6" fmla="*/ 198 w 396"/>
                  <a:gd name="T7" fmla="*/ 0 h 396"/>
                  <a:gd name="T8" fmla="*/ 396 w 396"/>
                  <a:gd name="T9" fmla="*/ 198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6" h="396">
                    <a:moveTo>
                      <a:pt x="396" y="198"/>
                    </a:moveTo>
                    <a:cubicBezTo>
                      <a:pt x="396" y="307"/>
                      <a:pt x="307" y="396"/>
                      <a:pt x="198" y="396"/>
                    </a:cubicBezTo>
                    <a:cubicBezTo>
                      <a:pt x="89" y="396"/>
                      <a:pt x="0" y="307"/>
                      <a:pt x="0" y="198"/>
                    </a:cubicBezTo>
                    <a:cubicBezTo>
                      <a:pt x="0" y="88"/>
                      <a:pt x="89" y="0"/>
                      <a:pt x="198" y="0"/>
                    </a:cubicBezTo>
                    <a:cubicBezTo>
                      <a:pt x="308" y="0"/>
                      <a:pt x="396" y="89"/>
                      <a:pt x="396" y="198"/>
                    </a:cubicBezTo>
                    <a:close/>
                  </a:path>
                </a:pathLst>
              </a:custGeom>
              <a:solidFill>
                <a:srgbClr val="E39A57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8" name="Oval 12"/>
              <p:cNvSpPr>
                <a:spLocks noChangeArrowheads="1"/>
              </p:cNvSpPr>
              <p:nvPr/>
            </p:nvSpPr>
            <p:spPr bwMode="auto">
              <a:xfrm rot="18900000">
                <a:off x="2338580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</p:grpSp>
        <p:grpSp>
          <p:nvGrpSpPr>
            <p:cNvPr id="21009" name="Group 55"/>
            <p:cNvGrpSpPr/>
            <p:nvPr/>
          </p:nvGrpSpPr>
          <p:grpSpPr>
            <a:xfrm>
              <a:off x="3202189" y="3574743"/>
              <a:ext cx="1027771" cy="1029667"/>
              <a:chOff x="3945266" y="3574743"/>
              <a:chExt cx="1027771" cy="1029667"/>
            </a:xfrm>
          </p:grpSpPr>
          <p:sp>
            <p:nvSpPr>
              <p:cNvPr id="21010" name="Oval 18"/>
              <p:cNvSpPr>
                <a:spLocks noChangeArrowheads="1"/>
              </p:cNvSpPr>
              <p:nvPr/>
            </p:nvSpPr>
            <p:spPr bwMode="auto">
              <a:xfrm rot="18900000">
                <a:off x="3945266" y="3574743"/>
                <a:ext cx="1027771" cy="1029667"/>
              </a:xfrm>
              <a:prstGeom prst="ellipse">
                <a:avLst/>
              </a:prstGeom>
              <a:solidFill>
                <a:srgbClr val="21816F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  <p:sp>
            <p:nvSpPr>
              <p:cNvPr id="21011" name="Freeform 21"/>
              <p:cNvSpPr/>
              <p:nvPr/>
            </p:nvSpPr>
            <p:spPr bwMode="auto">
              <a:xfrm rot="18900000">
                <a:off x="4042808" y="3674574"/>
                <a:ext cx="828665" cy="828664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</p:grpSp>
        <p:grpSp>
          <p:nvGrpSpPr>
            <p:cNvPr id="21012" name="Group 56"/>
            <p:cNvGrpSpPr/>
            <p:nvPr/>
          </p:nvGrpSpPr>
          <p:grpSpPr>
            <a:xfrm>
              <a:off x="4903458" y="3575413"/>
              <a:ext cx="1029668" cy="1029667"/>
              <a:chOff x="5646535" y="3575413"/>
              <a:chExt cx="1029668" cy="1029667"/>
            </a:xfrm>
          </p:grpSpPr>
          <p:sp>
            <p:nvSpPr>
              <p:cNvPr id="21013" name="Oval 14"/>
              <p:cNvSpPr>
                <a:spLocks noChangeArrowheads="1"/>
              </p:cNvSpPr>
              <p:nvPr/>
            </p:nvSpPr>
            <p:spPr bwMode="auto">
              <a:xfrm rot="18900000">
                <a:off x="5646535" y="3575413"/>
                <a:ext cx="1029668" cy="1029667"/>
              </a:xfrm>
              <a:prstGeom prst="ellipse">
                <a:avLst/>
              </a:prstGeom>
              <a:solidFill>
                <a:srgbClr val="5BBFAE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4" name="Freeform 22"/>
              <p:cNvSpPr/>
              <p:nvPr/>
            </p:nvSpPr>
            <p:spPr bwMode="auto">
              <a:xfrm rot="18900000">
                <a:off x="5749047" y="3674295"/>
                <a:ext cx="828665" cy="830560"/>
              </a:xfrm>
              <a:custGeom>
                <a:avLst/>
                <a:gdLst>
                  <a:gd name="T0" fmla="*/ 319 w 319"/>
                  <a:gd name="T1" fmla="*/ 159 h 319"/>
                  <a:gd name="T2" fmla="*/ 159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59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59"/>
                    </a:moveTo>
                    <a:cubicBezTo>
                      <a:pt x="319" y="247"/>
                      <a:pt x="248" y="319"/>
                      <a:pt x="159" y="319"/>
                    </a:cubicBezTo>
                    <a:cubicBezTo>
                      <a:pt x="71" y="319"/>
                      <a:pt x="0" y="247"/>
                      <a:pt x="0" y="159"/>
                    </a:cubicBezTo>
                    <a:cubicBezTo>
                      <a:pt x="0" y="71"/>
                      <a:pt x="71" y="0"/>
                      <a:pt x="160" y="0"/>
                    </a:cubicBezTo>
                    <a:cubicBezTo>
                      <a:pt x="248" y="0"/>
                      <a:pt x="319" y="71"/>
                      <a:pt x="319" y="1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</p:grpSp>
        <p:grpSp>
          <p:nvGrpSpPr>
            <p:cNvPr id="21015" name="Group 57"/>
            <p:cNvGrpSpPr/>
            <p:nvPr/>
          </p:nvGrpSpPr>
          <p:grpSpPr>
            <a:xfrm>
              <a:off x="6609026" y="3575413"/>
              <a:ext cx="1029668" cy="1029667"/>
              <a:chOff x="7352103" y="3575413"/>
              <a:chExt cx="1029668" cy="1029667"/>
            </a:xfrm>
          </p:grpSpPr>
          <p:sp>
            <p:nvSpPr>
              <p:cNvPr id="21016" name="Oval 20"/>
              <p:cNvSpPr>
                <a:spLocks noChangeArrowheads="1"/>
              </p:cNvSpPr>
              <p:nvPr/>
            </p:nvSpPr>
            <p:spPr bwMode="auto">
              <a:xfrm rot="18900000">
                <a:off x="7352103" y="3575413"/>
                <a:ext cx="1029668" cy="1029667"/>
              </a:xfrm>
              <a:prstGeom prst="ellipse">
                <a:avLst/>
              </a:prstGeom>
              <a:solidFill>
                <a:srgbClr val="2CAB93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7" name="Oval 23"/>
              <p:cNvSpPr>
                <a:spLocks noChangeArrowheads="1"/>
              </p:cNvSpPr>
              <p:nvPr/>
            </p:nvSpPr>
            <p:spPr bwMode="auto">
              <a:xfrm rot="18900000">
                <a:off x="7452604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</p:grpSp>
        <p:grpSp>
          <p:nvGrpSpPr>
            <p:cNvPr id="21018" name="Group 58"/>
            <p:cNvGrpSpPr/>
            <p:nvPr/>
          </p:nvGrpSpPr>
          <p:grpSpPr>
            <a:xfrm>
              <a:off x="8313254" y="3576755"/>
              <a:ext cx="1029668" cy="1029667"/>
              <a:chOff x="9056331" y="3576755"/>
              <a:chExt cx="1029668" cy="1029667"/>
            </a:xfrm>
          </p:grpSpPr>
          <p:sp>
            <p:nvSpPr>
              <p:cNvPr id="21019" name="Oval 16"/>
              <p:cNvSpPr>
                <a:spLocks noChangeArrowheads="1"/>
              </p:cNvSpPr>
              <p:nvPr/>
            </p:nvSpPr>
            <p:spPr bwMode="auto">
              <a:xfrm rot="18900000">
                <a:off x="9056331" y="3576755"/>
                <a:ext cx="1029668" cy="1029667"/>
              </a:xfrm>
              <a:prstGeom prst="ellipse">
                <a:avLst/>
              </a:prstGeom>
              <a:solidFill>
                <a:srgbClr val="8FD3C6"/>
              </a:solidFill>
              <a:ln>
                <a:noFill/>
              </a:ln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  <p:sp>
            <p:nvSpPr>
              <p:cNvPr id="21020" name="Freeform 24"/>
              <p:cNvSpPr/>
              <p:nvPr/>
            </p:nvSpPr>
            <p:spPr bwMode="auto">
              <a:xfrm rot="18900000">
                <a:off x="9155885" y="3674967"/>
                <a:ext cx="830560" cy="830560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8696" tIns="44348" rIns="88696" bIns="44348" numCol="1" anchor="t" anchorCtr="0" compatLnSpc="1"/>
              <a:lstStyle/>
              <a:p>
                <a:endParaRPr lang="en-US">
                  <a:solidFill>
                    <a:srgbClr val="1F3A35"/>
                  </a:solidFill>
                </a:endParaRPr>
              </a:p>
            </p:txBody>
          </p:sp>
        </p:grpSp>
        <p:sp>
          <p:nvSpPr>
            <p:cNvPr id="21021" name="Freeform 15"/>
            <p:cNvSpPr/>
            <p:nvPr/>
          </p:nvSpPr>
          <p:spPr bwMode="auto">
            <a:xfrm rot="2700000" flipV="1">
              <a:off x="2538944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21816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22" name="Freeform 15"/>
            <p:cNvSpPr/>
            <p:nvPr/>
          </p:nvSpPr>
          <p:spPr bwMode="auto">
            <a:xfrm rot="2700000" flipV="1">
              <a:off x="5951422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2CAB93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23" name="Freeform 10"/>
            <p:cNvSpPr/>
            <p:nvPr/>
          </p:nvSpPr>
          <p:spPr bwMode="auto">
            <a:xfrm rot="18900000">
              <a:off x="4326021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5BBFAE"/>
              </a:solidFill>
              <a:prstDash val="solid"/>
              <a:round/>
            </a:ln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24" name="Freeform 10"/>
            <p:cNvSpPr/>
            <p:nvPr/>
          </p:nvSpPr>
          <p:spPr bwMode="auto">
            <a:xfrm rot="18900000">
              <a:off x="7720600" y="2795993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8FD3C6"/>
              </a:solidFill>
              <a:prstDash val="solid"/>
              <a:round/>
            </a:ln>
          </p:spPr>
          <p:txBody>
            <a:bodyPr vert="horz" wrap="square" lIns="88696" tIns="44348" rIns="88696" bIns="44348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025" name="Picture 21024" descr="rock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705" y="3313050"/>
            <a:ext cx="443484" cy="443484"/>
          </a:xfrm>
          <a:prstGeom prst="rect">
            <a:avLst/>
          </a:prstGeom>
        </p:spPr>
      </p:pic>
      <p:sp>
        <p:nvSpPr>
          <p:cNvPr id="21026" name="TextBox 21025"/>
          <p:cNvSpPr txBox="1"/>
          <p:nvPr/>
        </p:nvSpPr>
        <p:spPr>
          <a:xfrm>
            <a:off x="2267758" y="1936877"/>
            <a:ext cx="2040026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01  核心先上</a:t>
            </a:r>
          </a:p>
        </p:txBody>
      </p:sp>
      <p:sp>
        <p:nvSpPr>
          <p:cNvPr id="21027" name="TextBox 21026"/>
          <p:cNvSpPr txBox="1"/>
          <p:nvPr/>
        </p:nvSpPr>
        <p:spPr>
          <a:xfrm>
            <a:off x="2267758" y="225618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核心模块、主力智能体先上</a:t>
            </a:r>
          </a:p>
        </p:txBody>
      </p:sp>
      <p:pic>
        <p:nvPicPr>
          <p:cNvPr id="21028" name="Picture 21027" descr="scal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837" y="3313050"/>
            <a:ext cx="443484" cy="443484"/>
          </a:xfrm>
          <a:prstGeom prst="rect">
            <a:avLst/>
          </a:prstGeom>
        </p:spPr>
      </p:pic>
      <p:sp>
        <p:nvSpPr>
          <p:cNvPr id="21029" name="TextBox 21028"/>
          <p:cNvSpPr txBox="1"/>
          <p:nvPr/>
        </p:nvSpPr>
        <p:spPr>
          <a:xfrm>
            <a:off x="3852890" y="4493543"/>
            <a:ext cx="2040026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02  对比验证</a:t>
            </a:r>
          </a:p>
        </p:txBody>
      </p:sp>
      <p:sp>
        <p:nvSpPr>
          <p:cNvPr id="21030" name="TextBox 21029"/>
          <p:cNvSpPr txBox="1"/>
          <p:nvPr/>
        </p:nvSpPr>
        <p:spPr>
          <a:xfrm>
            <a:off x="3852890" y="4812852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同一套测试题，不低于成熟平台才切</a:t>
            </a:r>
          </a:p>
        </p:txBody>
      </p:sp>
      <p:pic>
        <p:nvPicPr>
          <p:cNvPr id="21031" name="Picture 21030" descr="user-plus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231" y="3313050"/>
            <a:ext cx="443484" cy="443484"/>
          </a:xfrm>
          <a:prstGeom prst="rect">
            <a:avLst/>
          </a:prstGeom>
        </p:spPr>
      </p:pic>
      <p:sp>
        <p:nvSpPr>
          <p:cNvPr id="21032" name="TextBox 21031"/>
          <p:cNvSpPr txBox="1"/>
          <p:nvPr/>
        </p:nvSpPr>
        <p:spPr>
          <a:xfrm>
            <a:off x="5442284" y="1936877"/>
            <a:ext cx="2040026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03  新增先上</a:t>
            </a:r>
          </a:p>
        </p:txBody>
      </p:sp>
      <p:sp>
        <p:nvSpPr>
          <p:cNvPr id="21033" name="TextBox 21032"/>
          <p:cNvSpPr txBox="1"/>
          <p:nvPr/>
        </p:nvSpPr>
        <p:spPr>
          <a:xfrm>
            <a:off x="5442284" y="225618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新签景区直接上自建平台</a:t>
            </a:r>
          </a:p>
        </p:txBody>
      </p:sp>
      <p:pic>
        <p:nvPicPr>
          <p:cNvPr id="21034" name="Picture 21033" descr="repeat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887" y="3313050"/>
            <a:ext cx="443484" cy="443484"/>
          </a:xfrm>
          <a:prstGeom prst="rect">
            <a:avLst/>
          </a:prstGeom>
        </p:spPr>
      </p:pic>
      <p:sp>
        <p:nvSpPr>
          <p:cNvPr id="21035" name="TextBox 21034"/>
          <p:cNvSpPr txBox="1"/>
          <p:nvPr/>
        </p:nvSpPr>
        <p:spPr>
          <a:xfrm>
            <a:off x="7035940" y="4493543"/>
            <a:ext cx="2040026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04  存量随续约迁移</a:t>
            </a:r>
          </a:p>
        </p:txBody>
      </p:sp>
      <p:sp>
        <p:nvSpPr>
          <p:cNvPr id="21036" name="TextBox 21035"/>
          <p:cNvSpPr txBox="1"/>
          <p:nvPr/>
        </p:nvSpPr>
        <p:spPr>
          <a:xfrm>
            <a:off x="7035940" y="4812852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双轨运行、逐个迁移、可回退</a:t>
            </a:r>
          </a:p>
        </p:txBody>
      </p:sp>
      <p:pic>
        <p:nvPicPr>
          <p:cNvPr id="21037" name="Picture 21036" descr="layers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019" y="3313050"/>
            <a:ext cx="443484" cy="443484"/>
          </a:xfrm>
          <a:prstGeom prst="rect">
            <a:avLst/>
          </a:prstGeom>
        </p:spPr>
      </p:pic>
      <p:sp>
        <p:nvSpPr>
          <p:cNvPr id="21038" name="TextBox 21037"/>
          <p:cNvSpPr txBox="1"/>
          <p:nvPr/>
        </p:nvSpPr>
        <p:spPr>
          <a:xfrm>
            <a:off x="8621072" y="1936877"/>
            <a:ext cx="2040026" cy="3193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1F3A35"/>
                </a:solidFill>
                <a:latin typeface="微软雅黑"/>
                <a:ea typeface="微软雅黑"/>
              </a:rPr>
              <a:t>05  成熟平台转补充</a:t>
            </a:r>
          </a:p>
        </p:txBody>
      </p:sp>
      <p:sp>
        <p:nvSpPr>
          <p:cNvPr id="21039" name="TextBox 21038"/>
          <p:cNvSpPr txBox="1"/>
          <p:nvPr/>
        </p:nvSpPr>
        <p:spPr>
          <a:xfrm>
            <a:off x="8621072" y="2256186"/>
            <a:ext cx="2040026" cy="4434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E7772"/>
                </a:solidFill>
                <a:latin typeface="微软雅黑"/>
                <a:ea typeface="微软雅黑"/>
              </a:rPr>
              <a:t>外部平台变成补充能力</a:t>
            </a:r>
          </a:p>
        </p:txBody>
      </p:sp>
      <p:sp>
        <p:nvSpPr>
          <p:cNvPr id="21040" name="Rounded Rectangle 21039"/>
          <p:cNvSpPr/>
          <p:nvPr/>
        </p:nvSpPr>
        <p:spPr>
          <a:xfrm>
            <a:off x="994318" y="5475705"/>
            <a:ext cx="9898562" cy="487832"/>
          </a:xfrm>
          <a:prstGeom prst="roundRect">
            <a:avLst>
              <a:gd name="adj" fmla="val 18181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041" name="Picture 21040" descr="shield-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451" y="5586576"/>
            <a:ext cx="266090" cy="266090"/>
          </a:xfrm>
          <a:prstGeom prst="rect">
            <a:avLst/>
          </a:prstGeom>
        </p:spPr>
      </p:pic>
      <p:sp>
        <p:nvSpPr>
          <p:cNvPr id="21042" name="TextBox 21041"/>
          <p:cNvSpPr txBox="1"/>
          <p:nvPr/>
        </p:nvSpPr>
        <p:spPr>
          <a:xfrm>
            <a:off x="1570847" y="5475705"/>
            <a:ext cx="9144640" cy="4878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原则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每一步都可以回退；客户无感知迁移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风险与底线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风险怎么控，底线怎么守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风险提前想好应对；智能体的底线从第一天就守住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42  ·  AI＋数据平台 · 02  智能体平台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76704"/>
            <a:ext cx="4816236" cy="3947007"/>
          </a:xfrm>
          <a:prstGeom prst="roundRect">
            <a:avLst>
              <a:gd name="adj" fmla="val 3146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triangle-alert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0" y="2118619"/>
            <a:ext cx="319308" cy="3193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15196" y="2083140"/>
            <a:ext cx="4106661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1F3A35"/>
                </a:solidFill>
                <a:latin typeface="微软雅黑"/>
                <a:ea typeface="微软雅黑"/>
              </a:rPr>
              <a:t>四个风险，四个应对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71711" y="2668539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9105" y="272175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投入超预期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49105" y="3023326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→ 小团队先做核心模块，跟着迁移进度分批投入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71711" y="3466810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49105" y="352002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外部平台调价或停服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9105" y="382159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→ 资产在自己手里，模型多家可替换，随时能切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71711" y="4265081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49105" y="4318299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团队能力不足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49105" y="4619868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→ 前期就培养自己的 AI 应用团队，自建时延续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71711" y="5063352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49105" y="5116569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26A2C"/>
                </a:solidFill>
                <a:latin typeface="微软雅黑"/>
                <a:ea typeface="微软雅黑"/>
              </a:rPr>
              <a:t>需求变化快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49105" y="5418140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→ 模板化、配置化，差异放在配置里不改代码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76644" y="1976704"/>
            <a:ext cx="4816236" cy="3947007"/>
          </a:xfrm>
          <a:prstGeom prst="roundRect">
            <a:avLst>
              <a:gd name="adj" fmla="val 3146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shield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386" y="2118619"/>
            <a:ext cx="319308" cy="31930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97521" y="2083140"/>
            <a:ext cx="4106661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四条底线，贯穿始终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54037" y="2668539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1432" y="272175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只用授权数据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1432" y="3023326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数据按景区隔离，景区只看本景区数据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54037" y="3466810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1432" y="352002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关键动作人工确认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31432" y="3821597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退款、调度等处置要人点确认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54037" y="4265081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31432" y="4318299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不碰敏感信息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31432" y="4619868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手机号、证件号不进对话和知识库，展示打码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54037" y="5063352"/>
            <a:ext cx="4461448" cy="691835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31432" y="5116569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不乱承诺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31432" y="5418140"/>
            <a:ext cx="4195358" cy="28382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E6F6F2"/>
                </a:solidFill>
                <a:latin typeface="微软雅黑"/>
                <a:ea typeface="微软雅黑"/>
              </a:rPr>
              <a:t>价格、退改以系统为准，答不了就转人工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19" name="十字形 18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 descr="D:\51PPT模板网\51pptmoban.com\图片.jpg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9" name="十字形 8" descr="D:\51PPT模板网\51pptmoban.com\图片.jpg"/>
          <p:cNvSpPr/>
          <p:nvPr/>
        </p:nvSpPr>
        <p:spPr>
          <a:xfrm>
            <a:off x="-67941" y="527503"/>
            <a:ext cx="717891" cy="717891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十字形 10"/>
          <p:cNvSpPr/>
          <p:nvPr/>
        </p:nvSpPr>
        <p:spPr>
          <a:xfrm>
            <a:off x="595318" y="195510"/>
            <a:ext cx="242505" cy="242505"/>
          </a:xfrm>
          <a:prstGeom prst="plus">
            <a:avLst>
              <a:gd name="adj" fmla="val 33591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9883" y="3230858"/>
            <a:ext cx="6292233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1816F"/>
                </a:solidFill>
                <a:latin typeface="微软雅黑"/>
                <a:ea typeface="微软雅黑"/>
              </a:rPr>
              <a:t>数据在公司里转起来，越用越准</a:t>
            </a:r>
            <a:endParaRPr lang="zh-CN" altLang="en-US" sz="12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4151159" y="2103120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AI＋数据平台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Rounded Rectangle 40"/>
          <p:cNvSpPr/>
          <p:nvPr/>
        </p:nvSpPr>
        <p:spPr>
          <a:xfrm>
            <a:off x="2441448" y="4069080"/>
            <a:ext cx="7315200" cy="18288"/>
          </a:xfrm>
          <a:prstGeom prst="roundRect">
            <a:avLst>
              <a:gd name="adj" fmla="val 0"/>
            </a:avLst>
          </a:prstGeom>
          <a:solidFill>
            <a:srgbClr val="A9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4160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2CAB93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52628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数据怎么流转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9048" y="452628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1F3A35"/>
                </a:solidFill>
                <a:latin typeface="微软雅黑"/>
                <a:ea typeface="微软雅黑"/>
              </a:rPr>
              <a:t>· 一张门票的例子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3997900" y="104775"/>
            <a:ext cx="4195893" cy="562935"/>
            <a:chOff x="1778000" y="2361285"/>
            <a:chExt cx="4195893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4195893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3102709" cy="461665"/>
              <a:chOff x="1249621" y="2030985"/>
              <a:chExt cx="3102709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386584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数据在公司里怎么转起来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产数 → 治数 → 办事 → 用数，再回流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数据平台让数据可信，智能体让数据办事；两者接上，形成一条完整的数据链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44  ·  AI＋数据平台 · 03  AI＋数据平台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812615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用数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游客 · 景区 · 内部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75555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游客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小程序 · 公众号 · 终端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87062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景区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景数通 · APP · SaaS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98568" y="1812615"/>
            <a:ext cx="2140549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管理层 · 业务线 · 小Q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5555" y="2504450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③ 服务：智能体办事，报表和接口直接用数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318" y="2806019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办事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智能体 · 报表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75555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游客端智能体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客服 · 导览 · 伴游 · 旅拍 · 购票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87062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景区端智能体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问数 · 洞察 · 对账 · 预警 · 调度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98568" y="2806019"/>
            <a:ext cx="2140549" cy="691835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报表与接口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直接用数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75555" y="3497854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② 供给：认证指标 · 统一标签 · 景区知识 · 数据服务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318" y="3799423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治数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7555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统一接入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离线 + 实时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3418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湖仓公共模型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原料 → 成品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9281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指标 · 标签 · 知识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认证口径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51445" y="3799423"/>
            <a:ext cx="1587672" cy="691835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2CA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数据服务</a:t>
            </a:r>
          </a:p>
          <a:p>
            <a:pPr algn="ctr">
              <a:spcBef>
                <a:spcPts val="97"/>
              </a:spcBef>
            </a:pPr>
            <a:r>
              <a:rPr sz="900" b="0">
                <a:solidFill>
                  <a:srgbClr val="21816F"/>
                </a:solidFill>
                <a:latin typeface="微软雅黑"/>
                <a:ea typeface="微软雅黑"/>
              </a:rPr>
              <a:t>开放 API · 小Q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75555" y="4491258"/>
            <a:ext cx="6563563" cy="30156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2CAB93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2CAB93"/>
                </a:solidFill>
                <a:latin typeface="微软雅黑"/>
                <a:ea typeface="微软雅黑"/>
              </a:rPr>
              <a:t>① 生产入湖：交易 · 核销 · 客流 · 设备 · 会员 · 财务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4318" y="4792827"/>
            <a:ext cx="1374800" cy="691835"/>
          </a:xfrm>
          <a:prstGeom prst="roundRect">
            <a:avLst>
              <a:gd name="adj" fmla="val 12820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产数</a:t>
            </a:r>
          </a:p>
          <a:p>
            <a:pPr algn="ctr">
              <a:spcBef>
                <a:spcPts val="97"/>
              </a:spcBef>
            </a:pPr>
            <a:r>
              <a:rPr sz="950" b="0">
                <a:solidFill>
                  <a:srgbClr val="E6F6F2"/>
                </a:solidFill>
                <a:latin typeface="微软雅黑"/>
                <a:ea typeface="微软雅黑"/>
              </a:rPr>
              <a:t>业务系统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7555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0487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九大业态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3418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运营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6350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9281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终端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2213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畅游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51445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会员营销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80760" y="4792827"/>
            <a:ext cx="758357" cy="691835"/>
          </a:xfrm>
          <a:prstGeom prst="roundRect">
            <a:avLst>
              <a:gd name="adj" fmla="val 1282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39" tIns="0" rIns="17739" bIns="0"/>
          <a:lstStyle/>
          <a:p>
            <a:pPr algn="ctr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16511" y="1812615"/>
            <a:ext cx="1676369" cy="3672047"/>
          </a:xfrm>
          <a:prstGeom prst="roundRect">
            <a:avLst>
              <a:gd name="adj" fmla="val 7407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49557" y="1919051"/>
            <a:ext cx="141027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B26A2C"/>
                </a:solidFill>
                <a:latin typeface="微软雅黑"/>
                <a:ea typeface="微软雅黑"/>
              </a:rPr>
              <a:t>④ 回流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49557" y="2300447"/>
            <a:ext cx="1410279" cy="13304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问答记录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游客评价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转人工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预警与工单结果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1F3A35"/>
                </a:solidFill>
                <a:latin typeface="微软雅黑"/>
                <a:ea typeface="微软雅黑"/>
              </a:rPr>
              <a:t>使用行为</a:t>
            </a:r>
          </a:p>
        </p:txBody>
      </p:sp>
      <p:sp>
        <p:nvSpPr>
          <p:cNvPr id="72" name="Down Arrow 71"/>
          <p:cNvSpPr/>
          <p:nvPr/>
        </p:nvSpPr>
        <p:spPr>
          <a:xfrm>
            <a:off x="9939390" y="3675247"/>
            <a:ext cx="230611" cy="319308"/>
          </a:xfrm>
          <a:prstGeom prst="downArrow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49557" y="4074383"/>
            <a:ext cx="1410279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B26A2C"/>
                </a:solidFill>
                <a:latin typeface="微软雅黑"/>
                <a:ea typeface="微软雅黑"/>
              </a:rPr>
              <a:t>⑤ 反哺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49557" y="4455779"/>
            <a:ext cx="1410279" cy="8869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调定价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做营销</a:t>
            </a:r>
          </a:p>
          <a:p>
            <a:pPr algn="ctr">
              <a:lnSpc>
                <a:spcPct val="105000"/>
              </a:lnSpc>
              <a:spcBef>
                <a:spcPts val="97"/>
              </a:spcBef>
            </a:pPr>
            <a:r>
              <a:rPr sz="1100" b="0">
                <a:solidFill>
                  <a:srgbClr val="1F3A35"/>
                </a:solidFill>
                <a:latin typeface="微软雅黑"/>
                <a:ea typeface="微软雅黑"/>
              </a:rPr>
              <a:t>优化调度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4318" y="5644316"/>
            <a:ext cx="9898562" cy="443484"/>
          </a:xfrm>
          <a:prstGeom prst="roundRect">
            <a:avLst>
              <a:gd name="adj" fmla="val 20000"/>
            </a:avLst>
          </a:prstGeom>
          <a:solidFill>
            <a:srgbClr val="D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shield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1" y="5733013"/>
            <a:ext cx="266090" cy="26609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570847" y="5644316"/>
            <a:ext cx="9144640" cy="4434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21816F"/>
                </a:solidFill>
                <a:latin typeface="微软雅黑"/>
                <a:ea typeface="微软雅黑"/>
              </a:rPr>
              <a:t>底座　</a:t>
            </a:r>
            <a:r>
              <a:rPr sz="1150" b="0">
                <a:solidFill>
                  <a:srgbClr val="1F3A35"/>
                </a:solidFill>
                <a:latin typeface="微软雅黑"/>
                <a:ea typeface="微软雅黑"/>
              </a:rPr>
              <a:t>DataWorks · 数据地图 · 资产治理，治理贯穿全程；智能体前期借平台，后期自建管理台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举个例子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一张门票的数据旅程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游客买一张票，数据在公司里转一圈，景区和游客都受益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45  ·  AI＋数据平台 · 03  AI＋数据平台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1994443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71711" y="217183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71711" y="217183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pic>
        <p:nvPicPr>
          <p:cNvPr id="47" name="Picture 46" descr="tick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729" y="2171837"/>
            <a:ext cx="337047" cy="33704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71711" y="2659669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买票入园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711" y="2987847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售票 · 闸机核销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85652" y="1994443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463046" y="217183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463046" y="217183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pic>
        <p:nvPicPr>
          <p:cNvPr id="53" name="Picture 52" descr="databas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063" y="2171837"/>
            <a:ext cx="337047" cy="33704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463046" y="2659669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数据进平台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63046" y="2987847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订单 · 核销 · 客流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76986" y="1994443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754380" y="2171837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54380" y="2171837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pic>
        <p:nvPicPr>
          <p:cNvPr id="59" name="Picture 58" descr="chart-lin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397" y="2171837"/>
            <a:ext cx="337047" cy="33704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754380" y="2659669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算出指标和标签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54380" y="2987847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实时客流 · 游客偏好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76986" y="3724031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54380" y="3901424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754380" y="3901424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pic>
        <p:nvPicPr>
          <p:cNvPr id="65" name="Picture 64" descr="bo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397" y="3901424"/>
            <a:ext cx="337047" cy="33704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754380" y="4389257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智能体办事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54380" y="4717435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客流预警 · 二消推荐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85652" y="3724031"/>
            <a:ext cx="2069591" cy="1419148"/>
          </a:xfrm>
          <a:prstGeom prst="roundRect">
            <a:avLst>
              <a:gd name="adj" fmla="val 8750"/>
            </a:avLst>
          </a:prstGeom>
          <a:solidFill>
            <a:srgbClr val="EFF8F6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63046" y="3901424"/>
            <a:ext cx="372526" cy="372526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463046" y="3901424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pic>
        <p:nvPicPr>
          <p:cNvPr id="71" name="Picture 70" descr="refresh-cw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063" y="3901424"/>
            <a:ext cx="337047" cy="33704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463046" y="4389257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结果回流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63046" y="4717435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处置结果 · 推荐转化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4318" y="3724031"/>
            <a:ext cx="2069591" cy="1419148"/>
          </a:xfrm>
          <a:prstGeom prst="roundRect">
            <a:avLst>
              <a:gd name="adj" fmla="val 8750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71711" y="3901424"/>
            <a:ext cx="372526" cy="372526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71711" y="3901424"/>
            <a:ext cx="372526" cy="372526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pic>
        <p:nvPicPr>
          <p:cNvPr id="77" name="Picture 76" descr="trending-u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1729" y="3901424"/>
            <a:ext cx="337047" cy="337047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171711" y="4389257"/>
            <a:ext cx="1803501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反哺业务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71711" y="4717435"/>
            <a:ext cx="1803501" cy="3104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E6F6F2"/>
                </a:solidFill>
                <a:latin typeface="微软雅黑"/>
                <a:ea typeface="微软雅黑"/>
              </a:rPr>
              <a:t>调预约 · 调营销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3081649" y="2615321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eft Arrow 80"/>
          <p:cNvSpPr/>
          <p:nvPr/>
        </p:nvSpPr>
        <p:spPr>
          <a:xfrm>
            <a:off x="3081649" y="4344908"/>
            <a:ext cx="177393" cy="177393"/>
          </a:xfrm>
          <a:prstGeom prst="lef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ight Arrow 81"/>
          <p:cNvSpPr/>
          <p:nvPr/>
        </p:nvSpPr>
        <p:spPr>
          <a:xfrm>
            <a:off x="5372983" y="2615321"/>
            <a:ext cx="177393" cy="177393"/>
          </a:xfrm>
          <a:prstGeom prst="righ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eft Arrow 82"/>
          <p:cNvSpPr/>
          <p:nvPr/>
        </p:nvSpPr>
        <p:spPr>
          <a:xfrm>
            <a:off x="5372983" y="4344908"/>
            <a:ext cx="177393" cy="177393"/>
          </a:xfrm>
          <a:prstGeom prst="left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own Arrow 83"/>
          <p:cNvSpPr/>
          <p:nvPr/>
        </p:nvSpPr>
        <p:spPr>
          <a:xfrm>
            <a:off x="6523085" y="3440201"/>
            <a:ext cx="177393" cy="266090"/>
          </a:xfrm>
          <a:prstGeom prst="downArrow">
            <a:avLst/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94318" y="5391531"/>
            <a:ext cx="6652259" cy="532180"/>
          </a:xfrm>
          <a:prstGeom prst="roundRect">
            <a:avLst>
              <a:gd name="adj" fmla="val 16666"/>
            </a:avLst>
          </a:prstGeom>
          <a:solidFill>
            <a:srgbClr val="218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1742" tIns="0" bIns="0"/>
          <a:lstStyle/>
          <a:p>
            <a:pPr algn="l"/>
            <a:r>
              <a:rPr sz="1200" b="1">
                <a:solidFill>
                  <a:srgbClr val="FFE7CF"/>
                </a:solidFill>
                <a:latin typeface="微软雅黑"/>
                <a:ea typeface="微软雅黑"/>
              </a:rPr>
              <a:t>结果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游客体验更好 · 景区多卖钱、少出事 · 数据和智能体更准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045714" y="1932355"/>
            <a:ext cx="2847167" cy="4035704"/>
          </a:xfrm>
          <a:prstGeom prst="roundRect">
            <a:avLst>
              <a:gd name="adj" fmla="val 9968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134410" y="2021052"/>
            <a:ext cx="2669773" cy="3858309"/>
          </a:xfrm>
          <a:prstGeom prst="roundRect">
            <a:avLst>
              <a:gd name="adj" fmla="val 8305"/>
            </a:avLst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070162" y="2047660"/>
            <a:ext cx="798271" cy="106436"/>
          </a:xfrm>
          <a:prstGeom prst="roundRect">
            <a:avLst>
              <a:gd name="adj" fmla="val 50000"/>
            </a:avLst>
          </a:prstGeom>
          <a:solidFill>
            <a:srgbClr val="1F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134410" y="2242794"/>
            <a:ext cx="2669773" cy="549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267456" y="2313752"/>
            <a:ext cx="390265" cy="390265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bo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5021" y="2411318"/>
            <a:ext cx="195132" cy="19513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755287" y="2287142"/>
            <a:ext cx="1960199" cy="2660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1F3A35"/>
                </a:solidFill>
                <a:latin typeface="微软雅黑"/>
                <a:ea typeface="微软雅黑"/>
              </a:rPr>
              <a:t>票付通 APP · 示意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55287" y="2535494"/>
            <a:ext cx="1960199" cy="195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2CAB93"/>
                </a:solidFill>
                <a:latin typeface="微软雅黑"/>
                <a:ea typeface="微软雅黑"/>
              </a:rPr>
              <a:t>● 消息通知预警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67456" y="2952369"/>
            <a:ext cx="2139809" cy="674095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【客流预警】东门入园排队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变长，预计 20 分钟后接近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预约上限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267456" y="3750640"/>
            <a:ext cx="1693554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建议：增开闸机，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引导游客从西门入园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126336" y="4371517"/>
            <a:ext cx="1544802" cy="319308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收到，已派人处理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67456" y="4815001"/>
            <a:ext cx="1842305" cy="49670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4175" tIns="53218" bIns="53218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已记录处置结果，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F3A35"/>
                </a:solidFill>
                <a:latin typeface="微软雅黑"/>
                <a:ea typeface="微软雅黑"/>
              </a:rPr>
              <a:t>明天的预约名额会参考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267456" y="5391531"/>
            <a:ext cx="2403683" cy="33704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444848" y="5391531"/>
            <a:ext cx="1782805" cy="33704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9DB5AF"/>
                </a:solidFill>
                <a:latin typeface="微软雅黑"/>
                <a:ea typeface="微软雅黑"/>
              </a:rPr>
              <a:t>有问题尽管问我…</a:t>
            </a:r>
          </a:p>
        </p:txBody>
      </p:sp>
      <p:sp>
        <p:nvSpPr>
          <p:cNvPr id="100" name="Oval 99"/>
          <p:cNvSpPr/>
          <p:nvPr/>
        </p:nvSpPr>
        <p:spPr>
          <a:xfrm>
            <a:off x="10360700" y="5418140"/>
            <a:ext cx="283829" cy="283829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sen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3918" y="5471358"/>
            <a:ext cx="177393" cy="17739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4151159" y="104775"/>
            <a:ext cx="3889375" cy="562935"/>
            <a:chOff x="1778000" y="2361285"/>
            <a:chExt cx="3889375" cy="562935"/>
          </a:xfrm>
        </p:grpSpPr>
        <p:sp>
          <p:nvSpPr>
            <p:cNvPr id="20" name="椭圆 19"/>
            <p:cNvSpPr/>
            <p:nvPr/>
          </p:nvSpPr>
          <p:spPr>
            <a:xfrm>
              <a:off x="2688330" y="2361285"/>
              <a:ext cx="400050" cy="426365"/>
            </a:xfrm>
            <a:prstGeom prst="ellipse">
              <a:avLst/>
            </a:prstGeom>
            <a:solidFill>
              <a:srgbClr val="2181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78000" y="2452668"/>
              <a:ext cx="3889375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2130076" y="2361285"/>
              <a:ext cx="758279" cy="562935"/>
            </a:xfrm>
            <a:custGeom>
              <a:avLst/>
              <a:gdLst>
                <a:gd name="csX0" fmla="*/ 184401 w 758279"/>
                <a:gd name="csY0" fmla="*/ 0 h 562935"/>
                <a:gd name="csX1" fmla="*/ 354264 w 758279"/>
                <a:gd name="csY1" fmla="*/ 0 h 562935"/>
                <a:gd name="csX2" fmla="*/ 588416 w 758279"/>
                <a:gd name="csY2" fmla="*/ 0 h 562935"/>
                <a:gd name="csX3" fmla="*/ 758279 w 758279"/>
                <a:gd name="csY3" fmla="*/ 0 h 562935"/>
                <a:gd name="csX4" fmla="*/ 573878 w 758279"/>
                <a:gd name="csY4" fmla="*/ 184401 h 562935"/>
                <a:gd name="csX5" fmla="*/ 573878 w 758279"/>
                <a:gd name="csY5" fmla="*/ 375974 h 562935"/>
                <a:gd name="csX6" fmla="*/ 573879 w 758279"/>
                <a:gd name="csY6" fmla="*/ 375974 h 562935"/>
                <a:gd name="csX7" fmla="*/ 573879 w 758279"/>
                <a:gd name="csY7" fmla="*/ 562935 h 562935"/>
                <a:gd name="csX8" fmla="*/ 404016 w 758279"/>
                <a:gd name="csY8" fmla="*/ 562935 h 562935"/>
                <a:gd name="csX9" fmla="*/ 169864 w 758279"/>
                <a:gd name="csY9" fmla="*/ 562935 h 562935"/>
                <a:gd name="csX10" fmla="*/ 1 w 758279"/>
                <a:gd name="csY10" fmla="*/ 562935 h 562935"/>
                <a:gd name="csX11" fmla="*/ 1 w 758279"/>
                <a:gd name="csY11" fmla="*/ 375974 h 562935"/>
                <a:gd name="csX12" fmla="*/ 0 w 758279"/>
                <a:gd name="csY12" fmla="*/ 375974 h 562935"/>
                <a:gd name="csX13" fmla="*/ 0 w 758279"/>
                <a:gd name="csY13" fmla="*/ 184401 h 562935"/>
                <a:gd name="csX14" fmla="*/ 184401 w 758279"/>
                <a:gd name="csY14" fmla="*/ 0 h 562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58279" h="562935">
                  <a:moveTo>
                    <a:pt x="184401" y="0"/>
                  </a:moveTo>
                  <a:lnTo>
                    <a:pt x="354264" y="0"/>
                  </a:lnTo>
                  <a:lnTo>
                    <a:pt x="588416" y="0"/>
                  </a:lnTo>
                  <a:lnTo>
                    <a:pt x="758279" y="0"/>
                  </a:lnTo>
                  <a:cubicBezTo>
                    <a:pt x="656438" y="0"/>
                    <a:pt x="573878" y="82559"/>
                    <a:pt x="573878" y="184401"/>
                  </a:cubicBezTo>
                  <a:lnTo>
                    <a:pt x="573878" y="375974"/>
                  </a:lnTo>
                  <a:lnTo>
                    <a:pt x="573879" y="375974"/>
                  </a:lnTo>
                  <a:lnTo>
                    <a:pt x="573879" y="562935"/>
                  </a:lnTo>
                  <a:lnTo>
                    <a:pt x="404016" y="562935"/>
                  </a:lnTo>
                  <a:lnTo>
                    <a:pt x="169864" y="562935"/>
                  </a:lnTo>
                  <a:lnTo>
                    <a:pt x="1" y="562935"/>
                  </a:lnTo>
                  <a:lnTo>
                    <a:pt x="1" y="375974"/>
                  </a:lnTo>
                  <a:lnTo>
                    <a:pt x="0" y="375974"/>
                  </a:lnTo>
                  <a:lnTo>
                    <a:pt x="0" y="184401"/>
                  </a:lnTo>
                  <a:cubicBezTo>
                    <a:pt x="0" y="82559"/>
                    <a:pt x="82559" y="0"/>
                    <a:pt x="1844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151918" y="2451236"/>
              <a:ext cx="2796191" cy="461665"/>
              <a:chOff x="1249621" y="2030985"/>
              <a:chExt cx="2796191" cy="461665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1249621" y="2030985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/>
                    </a:solidFill>
                    <a:latin typeface="Arial"/>
                    <a:ea typeface="Arial"/>
                  </a:rPr>
                  <a:t>04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965746" y="2122247"/>
                <a:ext cx="2080066" cy="307777"/>
              </a:xfrm>
              <a:prstGeom prst="rect">
                <a:avLst/>
              </a:prstGeom>
              <a:noFill/>
            </p:spPr>
            <p:txBody>
              <a:bodyPr vert="horz"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接下来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TextBox 40"/>
          <p:cNvSpPr txBox="1"/>
          <p:nvPr/>
        </p:nvSpPr>
        <p:spPr>
          <a:xfrm>
            <a:off x="1097280" y="786384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1F3A35"/>
                </a:solidFill>
                <a:latin typeface="微软雅黑"/>
                <a:ea typeface="微软雅黑"/>
              </a:rPr>
              <a:t>先做三件事，需要您支持四件事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1207008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5E7772"/>
                </a:solidFill>
                <a:latin typeface="微软雅黑"/>
                <a:ea typeface="微软雅黑"/>
              </a:rPr>
              <a:t>先在一条主线、几家标杆景区上做出结果，再铺开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72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8FA5A0"/>
                </a:solidFill>
                <a:latin typeface="微软雅黑"/>
                <a:ea typeface="微软雅黑"/>
              </a:rPr>
              <a:t>46  ·  AI＋数据平台 · 接下来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318" y="2047661"/>
            <a:ext cx="53218" cy="212872"/>
          </a:xfrm>
          <a:prstGeom prst="roundRect">
            <a:avLst>
              <a:gd name="adj" fmla="val 0"/>
            </a:avLst>
          </a:prstGeom>
          <a:solidFill>
            <a:srgbClr val="2CA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6233" y="1976704"/>
            <a:ext cx="3547872" cy="3547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2CAB93"/>
                </a:solidFill>
                <a:latin typeface="微软雅黑"/>
                <a:ea typeface="微软雅黑"/>
              </a:rPr>
              <a:t>接下来先做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318" y="2402448"/>
            <a:ext cx="5321808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1711" y="2579842"/>
            <a:ext cx="461223" cy="461223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017" y="2695148"/>
            <a:ext cx="230611" cy="23061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792589" y="2526624"/>
            <a:ext cx="443484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数据：主线试点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92589" y="2863672"/>
            <a:ext cx="4434840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“订单 → 核销 → 结算”定口径、上卡点、逐层核对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订单、核销实时链路建起来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318" y="3582115"/>
            <a:ext cx="5321808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1711" y="3759509"/>
            <a:ext cx="461223" cy="461223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017" y="3874815"/>
            <a:ext cx="230611" cy="23061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792589" y="3706290"/>
            <a:ext cx="443484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智能体：标杆验证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92589" y="4043338"/>
            <a:ext cx="4434840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挑老客户做标杆，跑一个完整旺季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同时试“随票务打包”和“年费订阅”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18" y="4761783"/>
            <a:ext cx="5321808" cy="10643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DE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71711" y="4939177"/>
            <a:ext cx="461223" cy="461223"/>
          </a:xfrm>
          <a:prstGeom prst="ellipse">
            <a:avLst/>
          </a:prstGeom>
          <a:gradFill rotWithShape="1">
            <a:gsLst>
              <a:gs pos="0">
                <a:srgbClr val="21816F"/>
              </a:gs>
              <a:gs pos="100000">
                <a:srgbClr val="2CAB93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017" y="5054483"/>
            <a:ext cx="230611" cy="23061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792589" y="4885958"/>
            <a:ext cx="4434840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打通：统一取数、数据回流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92589" y="5223006"/>
            <a:ext cx="4434840" cy="549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智能体统一从数据平台取数，交互数据回流</a:t>
            </a:r>
          </a:p>
          <a:p>
            <a:pPr algn="l">
              <a:lnSpc>
                <a:spcPct val="105000"/>
              </a:lnSpc>
              <a:spcBef>
                <a:spcPts val="97"/>
              </a:spcBef>
            </a:pPr>
            <a:r>
              <a:rPr sz="1050" b="0">
                <a:solidFill>
                  <a:srgbClr val="5E7772"/>
                </a:solidFill>
                <a:latin typeface="微软雅黑"/>
                <a:ea typeface="微软雅黑"/>
              </a:rPr>
              <a:t>· 知识、接口、模板、成本数据留在手里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2216" y="1976704"/>
            <a:ext cx="4310664" cy="3947007"/>
          </a:xfrm>
          <a:prstGeom prst="roundRect">
            <a:avLst>
              <a:gd name="adj" fmla="val 3146"/>
            </a:avLst>
          </a:prstGeom>
          <a:solidFill>
            <a:srgbClr val="FCF1E6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lag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958" y="2118619"/>
            <a:ext cx="319308" cy="31930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203094" y="2083140"/>
            <a:ext cx="3601090" cy="390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50" b="1">
                <a:solidFill>
                  <a:srgbClr val="B26A2C"/>
                </a:solidFill>
                <a:latin typeface="微软雅黑"/>
                <a:ea typeface="微软雅黑"/>
              </a:rPr>
              <a:t>需要您支持</a:t>
            </a:r>
          </a:p>
        </p:txBody>
      </p:sp>
      <p:sp>
        <p:nvSpPr>
          <p:cNvPr id="64" name="Oval 63"/>
          <p:cNvSpPr/>
          <p:nvPr/>
        </p:nvSpPr>
        <p:spPr>
          <a:xfrm>
            <a:off x="6803958" y="2695148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03958" y="2695148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24836" y="2624190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口径谁拍板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4836" y="2943499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成立数据治理小组，口径争议有人定</a:t>
            </a:r>
          </a:p>
        </p:txBody>
      </p:sp>
      <p:sp>
        <p:nvSpPr>
          <p:cNvPr id="68" name="Oval 67"/>
          <p:cNvSpPr/>
          <p:nvPr/>
        </p:nvSpPr>
        <p:spPr>
          <a:xfrm>
            <a:off x="6803958" y="3511158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03958" y="3511158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24836" y="3440201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规范强制执行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24836" y="3759509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不合规的数据不上线，需公司层面授权</a:t>
            </a:r>
          </a:p>
        </p:txBody>
      </p:sp>
      <p:sp>
        <p:nvSpPr>
          <p:cNvPr id="72" name="Oval 71"/>
          <p:cNvSpPr/>
          <p:nvPr/>
        </p:nvSpPr>
        <p:spPr>
          <a:xfrm>
            <a:off x="6803958" y="4327169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803958" y="4327169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24836" y="4256211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标杆与销售配合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4836" y="4575520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标杆景区配合试点；智能体纳入销售考核</a:t>
            </a:r>
          </a:p>
        </p:txBody>
      </p:sp>
      <p:sp>
        <p:nvSpPr>
          <p:cNvPr id="76" name="Oval 75"/>
          <p:cNvSpPr/>
          <p:nvPr/>
        </p:nvSpPr>
        <p:spPr>
          <a:xfrm>
            <a:off x="6803958" y="5143179"/>
            <a:ext cx="443484" cy="443484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803958" y="5143179"/>
            <a:ext cx="443484" cy="44348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24836" y="5072222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1F3A35"/>
                </a:solidFill>
                <a:latin typeface="微软雅黑"/>
                <a:ea typeface="微软雅黑"/>
              </a:rPr>
              <a:t>自建时点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24836" y="5391530"/>
            <a:ext cx="3334999" cy="3193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7772"/>
                </a:solidFill>
                <a:latin typeface="微软雅黑"/>
                <a:ea typeface="微软雅黑"/>
              </a:rPr>
              <a:t>定期用成本数据评估，由您决策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矩形: 圆角 16"/>
          <p:cNvSpPr/>
          <p:nvPr/>
        </p:nvSpPr>
        <p:spPr>
          <a:xfrm>
            <a:off x="947738" y="1487274"/>
            <a:ext cx="10261600" cy="3945943"/>
          </a:xfrm>
          <a:prstGeom prst="roundRect">
            <a:avLst>
              <a:gd name="adj" fmla="val 8828"/>
            </a:avLst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D:\51PPT模板网\51pptmoban.com\图片.jp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3556000" cy="3316177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4110227" y="4385650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500" dirty="0" b="1">
                <a:solidFill>
                  <a:srgbClr val="21816F"/>
                </a:solidFill>
                <a:latin typeface="微软雅黑"/>
                <a:ea typeface="微软雅黑"/>
                <a:cs typeface="+mn-ea"/>
                <a:sym typeface="+mn-lt"/>
              </a:rPr>
              <a:t>请您指示</a:t>
            </a:r>
            <a:endParaRPr lang="zh-CN" altLang="en-US" sz="1100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1823" y="1850427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 b="1">
                <a:solidFill>
                  <a:srgbClr val="2CAB93"/>
                </a:solidFill>
                <a:latin typeface="微软雅黑" pitchFamily="2" charset="-122"/>
                <a:ea typeface="微软雅黑" pitchFamily="2" charset="-122"/>
              </a:rPr>
              <a:t>谢谢</a:t>
            </a:r>
            <a:endParaRPr lang="zh-CN" altLang="en-US" sz="8000" dirty="0">
              <a:latin typeface="Alimama ShuHeiTi Bold" pitchFamily="2" charset="-122"/>
              <a:ea typeface="Alimama ShuHeiTi Bold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939028" y="5924580"/>
            <a:ext cx="4313944" cy="315056"/>
            <a:chOff x="1253246" y="4118390"/>
            <a:chExt cx="4313944" cy="315056"/>
          </a:xfrm>
        </p:grpSpPr>
        <p:sp>
          <p:nvSpPr>
            <p:cNvPr id="44" name="文本框 43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汇报：票付通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/>
                  <a:ea typeface="微软雅黑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759200" y="3672508"/>
            <a:ext cx="4673600" cy="471552"/>
            <a:chOff x="3759200" y="3558828"/>
            <a:chExt cx="4673600" cy="471552"/>
          </a:xfrm>
        </p:grpSpPr>
        <p:sp>
          <p:nvSpPr>
            <p:cNvPr id="28" name="矩形: 圆角 27"/>
            <p:cNvSpPr/>
            <p:nvPr/>
          </p:nvSpPr>
          <p:spPr>
            <a:xfrm>
              <a:off x="3759200" y="3558828"/>
              <a:ext cx="4673600" cy="471552"/>
            </a:xfrm>
            <a:prstGeom prst="roundRect">
              <a:avLst>
                <a:gd name="adj" fmla="val 50000"/>
              </a:avLst>
            </a:prstGeom>
            <a:solidFill>
              <a:srgbClr val="2CA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229944" y="3644286"/>
              <a:ext cx="37321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数据可信  ·  智能体快速落地  ·  数据越用越准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十字形 18" descr="D:\51PPT模板网\51pptmoban.com\图片.jpg"/>
          <p:cNvSpPr/>
          <p:nvPr/>
        </p:nvSpPr>
        <p:spPr>
          <a:xfrm>
            <a:off x="9397277" y="5059174"/>
            <a:ext cx="748085" cy="748085"/>
          </a:xfrm>
          <a:prstGeom prst="plus">
            <a:avLst>
              <a:gd name="adj" fmla="val 31627"/>
            </a:avLst>
          </a:prstGeom>
          <a:solidFill>
            <a:srgbClr val="2CA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2" name="十字形 31"/>
          <p:cNvSpPr/>
          <p:nvPr/>
        </p:nvSpPr>
        <p:spPr>
          <a:xfrm>
            <a:off x="10320862" y="5924580"/>
            <a:ext cx="251206" cy="251206"/>
          </a:xfrm>
          <a:prstGeom prst="plus">
            <a:avLst>
              <a:gd name="adj" fmla="val 31627"/>
            </a:avLst>
          </a:prstGeom>
          <a:solidFill>
            <a:srgbClr val="2CAB9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3" name="十字形 32"/>
          <p:cNvSpPr/>
          <p:nvPr/>
        </p:nvSpPr>
        <p:spPr>
          <a:xfrm>
            <a:off x="10644179" y="4957601"/>
            <a:ext cx="331795" cy="331795"/>
          </a:xfrm>
          <a:prstGeom prst="plus">
            <a:avLst>
              <a:gd name="adj" fmla="val 31627"/>
            </a:avLst>
          </a:prstGeom>
          <a:solidFill>
            <a:srgbClr val="2CAB9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4c1c560-07e4-4903-b0b7-fc1cb353e47f">
      <a:majorFont>
        <a:latin typeface="HarmonyOS Sans SC Light"/>
        <a:ea typeface="阿里巴巴普惠体 2 55 Regular"/>
        <a:cs typeface=""/>
      </a:majorFont>
      <a:minorFont>
        <a:latin typeface="HarmonyOS Sans SC Light"/>
        <a:ea typeface="阿里巴巴普惠体 2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4538</Words>
  <Application>WPS 演示</Application>
  <PresentationFormat>宽屏</PresentationFormat>
  <Paragraphs>454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宋体</vt:lpstr>
      <vt:lpstr>Wingdings</vt:lpstr>
      <vt:lpstr>HarmonyOS Sans SC Light</vt:lpstr>
      <vt:lpstr>阿里巴巴普惠体 2.0 55 Regular</vt:lpstr>
      <vt:lpstr>Alimama ShuHeiTi Bold</vt:lpstr>
      <vt:lpstr>HarmonyOS Sans SC Black</vt:lpstr>
      <vt:lpstr>印品黑体</vt:lpstr>
      <vt:lpstr>KSOF28C28C15</vt:lpstr>
      <vt:lpstr>FFont-Family</vt:lpstr>
      <vt:lpstr>阿里巴巴普惠体 2 55 Regular</vt:lpstr>
      <vt:lpstr>KSOF28C30074</vt:lpstr>
      <vt:lpstr>微软雅黑</vt:lpstr>
      <vt:lpstr>Arial Unicode MS</vt:lpstr>
      <vt:lpstr>等线</vt:lpstr>
      <vt:lpstr>Calibri</vt:lpstr>
      <vt:lpstr>Calibri</vt:lpstr>
      <vt:lpstr>KSOFD38F9ACC</vt:lpstr>
      <vt:lpstr>黑体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清新圆角医疗护理工作汇报PPT模板</dc:title>
  <dc:creator>©51PPT模板网（www.51pptmoban.com）</dc:creator>
  <cp:keywords>版权归属：51PPT模板网；</cp:keywords>
  <dc:description>51PPT模板网，幻灯片演示模板及素材免费下载！
51PPT模板网 唯一访问网址：www.51pptmoban.com。</dc:description>
  <cp:lastModifiedBy>寶安居士</cp:lastModifiedBy>
  <cp:revision>1007</cp:revision>
  <dcterms:created xsi:type="dcterms:W3CDTF">2026-05-24T00:54:00Z</dcterms:created>
  <dcterms:modified xsi:type="dcterms:W3CDTF">2026-10-18T01:52:06Z</dcterms:modified>
  <cp:version>51pptmoban.com（V51PPT-26081201版）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F3C048C693284A3891131F5671A846A5_12</vt:lpwstr>
  </property>
  <property fmtid="{D5CDD505-2E9C-101B-9397-08002B2CF9AE}" pid="3" name="KSOProductBuildVer">
    <vt:lpwstr>2052-12.1.0.29161</vt:lpwstr>
  </property>
</Properties>
</file>