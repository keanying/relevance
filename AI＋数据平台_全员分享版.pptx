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继续用平台</c:v>
                </c:pt>
              </c:strCache>
            </c:strRef>
          </c:tx>
          <c:spPr>
            <a:ln w="38100" cap="rnd" cmpd="sng" algn="ctr">
              <a:solidFill>
                <a:srgbClr val="E39A57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17</c:v>
                </c:pt>
                <c:pt idx="2">
                  <c:v>26</c:v>
                </c:pt>
                <c:pt idx="3">
                  <c:v>35</c:v>
                </c:pt>
                <c:pt idx="4">
                  <c:v>44</c:v>
                </c:pt>
                <c:pt idx="5">
                  <c:v>53</c:v>
                </c:pt>
                <c:pt idx="6">
                  <c:v>62</c:v>
                </c:pt>
                <c:pt idx="7">
                  <c:v>71</c:v>
                </c:pt>
                <c:pt idx="8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自己建</c:v>
                </c:pt>
              </c:strCache>
            </c:strRef>
          </c:tx>
          <c:spPr>
            <a:ln w="38100" cap="rnd" cmpd="sng" algn="ctr">
              <a:solidFill>
                <a:srgbClr val="21816F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</c:v>
                </c:pt>
                <c:pt idx="1">
                  <c:v>39</c:v>
                </c:pt>
                <c:pt idx="2">
                  <c:v>42</c:v>
                </c:pt>
                <c:pt idx="3">
                  <c:v>45</c:v>
                </c:pt>
                <c:pt idx="4">
                  <c:v>48</c:v>
                </c:pt>
                <c:pt idx="5">
                  <c:v>51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 w="6350" cap="flat" cmpd="sng" algn="ctr">
            <a:solidFill>
              <a:srgbClr val="CDE9E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E7772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7F2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E7772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5E777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c91a870-de86-441c-86e8-a51edc0fe1b5}"/>
      </c:ext>
    </c:extLst>
  </c:chart>
  <c:txPr>
    <a:bodyPr/>
    <a:lstStyle/>
    <a:p>
      <a:pPr>
        <a:defRPr lang="zh-CN" sz="1000">
          <a:solidFill>
            <a:srgbClr val="5E7772"/>
          </a:solidFill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结论，一页讲清楚。第一件事，数据平台：把公司的数据理清、算准、管住。具体就是定规矩、统一编号和口径、每天体检、管好权限，先从订单到核销到结算这条主线做起。第二件事，智能体：先借扣子、火山方舟、小Q 这些现成平台，几周就能做出来去卖，验证能赚钱；然后把跑通的产品快速铺到更多景区；规模起来后再自己建平台，更省钱、交付更快。第三件事，两者打通：业务产生的数据经过平台整理，给智能体和报表用，用完的结果再回到平台，数据越用越准。最下面是需要您拍板支持的几件事，最后一页会详细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今天的汇报分四部分：数据平台、智能体平台、两者打通后的 AI＋数据平台，最后是接下来要做的事和需要您支持的地方。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第一部分：数据平台，把数据理清、算准、管住。主要讲：现状与问题、手里的数据、怎么建、数据治理八步、治理保障、六个统一、建成后的变化。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先说现状。工具上：DataWorks 是数据加工的车间，我们已经买了开发、调度、找数、管资产、出数这几个核心模块；动态数据开放 API 是对内对外提供数据的窗口；小Q 用来看报表做分析；湖仓是存数据的仓库，部分模型已经建了。最重要的是每天的主流程已经通了：订单、游客、供应商这些核心数据，每天凌晨自动从原料一路加工成报表能用的成品。还没建的有五块：实时数据、数据质量检查、统一标签、指标口径管理、数据规范落地，这些就是接下来要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的数据按业务分成八大块，叫数据域，每块里面再分主题。交易：订单、票务，比如订单数、销售额、核销次数；商品与资源：产品和库存，比如售罄率；用户：游客和会员，比如会员等级、复购倾向；合作方：供应商，比如履约率；流量营销：渠道和活动，比如转化率、活动回报；运营：日常运营，比如房态占用率；财务：结算对账；内部管理：系统任务、存储计算成本。每块数据都定了敏感等级，用户明细是最高级。目前订单、用户、供应商已经进了仓库，其他部分进入。现场设备、外部数据、AI 产生的数据后面要新增。难点不在数据量，而在节假日高峰、订单状态多次变化、设备离线补传、多景区之间的数据隔离。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这张图是整个数据平台的样子，从下往上看。最下面是数据从哪来：票务、订单、小程序、供应商、营销、渠道、设备和外部数据。往上是统一底座，就是数据仓库和加工车间，DataWorks 和每天的主流程已经有了，要补实时计算和湖仓存储。再往上是“算好的数”，也就是统一的指标和标签，小Q 用来看。再往上是数据服务，对外给数据的窗口，动态数据开放 API 已经有。再往上是 AI 能力，让 AI 能安全地用这些数据。最上面是谁在用：内部经营、景区运营、合作伙伴、行业报告、数据产品。右边的数据治理贯穿每一层。深色是已经有的，白色是要新建或升级的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具体到工具，分七类能力。数据集成，就是把数据接进来：已有批量同步，要升级埋点采集和现场设备回传，新建实时采集和标准连接器。存储计算：已有离线计算，新建实时计算和湖仓统一存储。开发运维：已有开发和运维中心，新建发布卡点和成本治理。数据治理：已有数据地图和资产治理，升级血缘和健康分，新建质量、标准、分级打码。指标标签：全部新建。服务分析：已有开放 API、数据服务和小Q，要统一出口、新建嵌入式分析。AI 能力：升级 AI 问数，新建模型网关、知识检索和评测。另外有几个阿里云模块我们没买，先用省钱的办法：数据质量用自己加的检查节点，数据标准用规范文档加检查脚本，安全中心先用引擎权限加打码视图，实时计算先做小范围试验，验证了再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治理具体怎么做？按这八步走，前面的是后面的基础。第一步数据标准，就是定规矩，表名、字段、码值全公司一个说法，并且有自动检查。第二步主数据，就是统一编号，景区、商品、渠道、供应商、游客全公司一个编号。第三步数据血缘，就是理清每个数从哪来、到哪去。第四步数据质量，每天自动体检，不合格的数拦在报表外面。第五步统一标签，也就是统一指标口径，一个指标一个算法，集团出标准。第六步权限安全，数据分级，谁的数据只服务谁。第七步资产运营，定期盘点，打健康分，没人用的下线。第八步数据分发，对内对外只走一个出口。其中第一、第五、第六步，分别在后面的统一规范、统一标签、统一权限里讲，不在这里重复。这八步都不是单独搞运动，而是写进日常开发流程，有专人负责、有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件事，每天体检，专业叫数据质量。检查分五项：完整，比如订单号、景区编号不能空，日订单量比近七天平均波动超过三成就报警；准确，比如金额不能是负数，核销时间不能早于下单时间；一致，比如仓库里的订单金额汇总要和业务系统对得上；及时，比如核心报表每天七点前必须算完；唯一，比如同一张票不能重复核销。规则分强弱两档：强规则用在订单、核销、结算和对外接口这些核心表上，不通过就把下游全部拦住，通知负责人，当天修好；弱规则用在一般表上，只提醒不拦，一周内修好。每个问题都登记问题单，同类问题出现两次就补一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七步和第八步放在一起讲。资产运营，就是定期盘点：每月按负责人、按业务给数据资产打健康分，看规范、质量、安全、使用、成本五个方面，公示排名。九十天没人访问、没有下游、重复的、临时的表，先通知负责人，先停用观察三十天，没人反馈再删除，有人反馈就恢复。这样存储和计算成本能降下来。数据分发，就是统一出口：以后对内对外的数据都从动态数据开放 API 一个窗口出去，同时提供认证指标和标签，统一鉴权、按景区隔离、按调用计量，不再点对点导数、私接数据库。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八步怎么保证真正落实？靠三样东西。第一，写进流程：事前定规范，需求先确认口径、设计做模型评审；事中设卡点，发布时脚本自动检查、运行时质量检查不合格就拦住；事后做治理，健康分、整改、复盘。第二，有人负责：数据治理小组拍板口径争议和规范；数据负责人制定方案、跨部门协调、对健康分负责；每个业务线有一名业务数据专员确认口径和验收；治理专员维护标准和规则；架构师和开发负责落地。第三，有考核：两周一次口径评审，每月公示健康分，每季度复盘；试点主线定几个硬目标，比如新表规范符合率百分之百、核心报表按时产出不低于百分之九十九、老板看板全用认证指标、核销量各出口零差异。先把现在的基线测出来，再定目标；看实际使用和业务结果，不看上了多少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面讲的是怎么治，治理的结果最终落在六个统一上。统一规范：以前规范只写在文档里，以后不合规的表发不出去。统一底座：以前订单核销第二天才能看到，以后分钟级看到。统一标签，也就是统一指标：以前报表、接口、AI 各说各的，以后三处数字一致。统一权限：以前权限各管各的，以后一套规则管住所有出口。标签复用：以前各部门各做一套，以后一个游客一个身份，一处加工到处用。自助分析：以前要找数据团队要数，以后业务自己查、自己看。推进方式是：先在订单、核销、结算主线试点，按统接入、统建模、统开发、统服务的顺序推；老模型先双跑对比再切换，可以回退。后面每个统一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第一个统一，统一规范，对应治理的第一步数据标准。先说定什么规矩：表名像身份证号，比如 dwd_ord_order_item_di，拆开就是“洗干净”这一层、订单业务、订单明细、每天增量，一看就懂；字段统一叫法，景区全公司都叫 scenic_id，金额都以 amt 结尾；票种、渠道类型、订单状态这些码值建公共码表，不在代码里写死；建表有 8 项必填，比如负责人、安全等级。再说怎么让规矩落地，三招：新建的卡住，发布前脚本自动检查，不合规直接打回；老的分批改，核心表优先，改名保留兼容视图、下游不受影响，缺描述的用 AI 先补；持续有人管，资产健康分每月公示。衡量标准是新表规范符合率百分之百。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第二个统一，统一底座。数据从业务库、渠道接口、设备事件、行为日志、外部数据进来，先经过统一接入，定好接入规范、对象编号和负责人。然后进入湖仓一体的底座：每天算的离线计算用 DataWorks，实时计算订单和核销先做；从原料到成品分层加工，共用同一套业务定义和质量规则。最后通过分析查询，提供给小Q、开放接口和 AI。另外把离线和湖仓合一：以前同一个指标离线做一份、湖仓做一份，结果不一样；以后公共层只建一次，改口径只改一处。合并的做法是：盘点重叠的模型、确定保留哪一版、下游改成引用它、双跑对比没问题再下线重复的。最终效果是订单核销从第二天才能看到变成分钟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统一，统一标签，这里的标签也就是指标，对应治理的第五步。三件事。第一，口径说清楚：每个指标拆成算什么、加什么条件、什么时间、按什么看四件事，比如“近七天线上渠道成人票支付金额，按景区”，就不会有两种算法。新指标要认证：数据团队起草、业务负责人确认、治理小组拍板、发布并记录版本。第二，两级体系：集团出一套企业标准指标，全公司一个口径；不够用时，景区在自己的空间里自定义，相互隔离，不能和标准同名、不能覆盖标准；好用的评审后沉淀为企业标准。第三，同一个出口：所有指标从同一个出口提供给小Q 报表、动态数据开放 API 和 AI 问数，所以三处数字一致，开会不用先对数。只有认证过的指标和标签才能进老板看板、接口和 AI。衡量看认证指标覆盖率，核销量各出口零差异。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统一，统一权限，对应治理的第六步。先分级：高敏是手机号、证件号、人脸、政务核验结果，加密、打码，明文不进大模型；敏感是单景区经营数据、价格、结算，按景区和供应商隔离；内部是日志、设备状态，内部按角色授权；公开是已发布的报告。再看谁能看什么：集团管理层看汇总，看不到个人明细；数据团队敏感数据按项目授权，高敏审批后打码使用；景区只看本景区；供应商只看本供应商；外部伙伴只拿匿名汇总；AI 智能体不单独开权限，继承提问人的权限。底线是谁的数据只服务谁，对外只给匿名汇总。权限从申请、审批、授权、使用到回收是一个闭环，到期自动收回，每季度复核。数据仓库、数据地图、开放接口、小Q、标签平台、AI 都用这同一套规则。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第五个，标签复用。第一件事是认清“谁是谁”：同一个游客，可能在订单里是一个手机号，在会员里是一个会员号，在年卡和人脸识别里又是另外的记录，我们按规则把这些归并成同一个游客，叫 OneID。第二件事是标签只在一个地方加工：统一生产，基于公共模型加工；统一管理，有口径、有负责人、有生命周期；统一服务，营销、分析、AI 和景区都从这里取，不再各部门各做一套。标签覆盖游客和会员、供应商、景区、渠道、商品，类型有基础属性、统计类、规则类、模型预测类。边界也要讲清楚：景区只能用本景区的标签，不做敏感个人信息的标签，对外不提供个人层面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第六个，自助分析。以前业务要看数据，要找数据团队提需求、等取数。以后从统一的模型、指标、标签出发，业务在小Q 上自己分析：搜指标、看明细、做计算、搭自己的看板、订阅报表，总部经营、各业务线、景区都能用。AI 问数和报表用的是同一套指标定义和权限，所以问出来的数和报表一致。数据团队从天天帮人取数、对数，转向建模型、做分析。最终的产出是：企业指标中心、景区专属指标空间、统一标签服务、统一语义服务和自助分析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各个业务线，变化很具体。管理层：驾驶舱全部用认证过的指标，不用先对数。票务：核销口径统一，有差异自动定位，节假日实时看数。财务：业务和财务逐层对账，差异自动列出原因。渠道：销量、佣金、返利口径统一。营销：用标签圈人、用指标看效果，活动复盘自动完成。运营和客户成功：景区经营报告自动生成。产品研发：上线前定好埋点和口径，上线就有数据。数据团队：从天天帮人取数对数，转向建模型、做分析。景区和供应商：直接用集团标准的指标和标签，不够用可以在自己的空间里加。这些也为第二部分打基础：数据可信、有口径、有权限，AI 接上去才能答得准。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第二部分：智能体平台，围绕三个目标，一条线建下去。主要讲：现状与底气、能做哪些、建设思路、跑通商业模式、快速占领市场、建自己的平台、风险与底线。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助手，比如游客问几点开园，它能回答，还能直接帮他买票。我们现在已有的智能体来自三个地方。第一类是在字节的扣子平台上，用工作流配置出来的：智能助手、智能客服、智能导览、AI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我们做智能体，有三个别人很难复制的底气。第一，产品积累：这么多年做了智慧票务、景区业态管理、运营管理、财务管理、智慧终端、AI 数字大脑、畅游 AI、会员营销多条产品线，系统就装在景区现场。第二，数据在手里：交易和客流、售票分销库存价格、九大业态、年卡预约候补、订单结算发票、会员营销、闸机和物联设备、工单和推送，再加上第一部分治理好的指标和标签。第三，客户在用：大量景区已经在用我们的票务系统，接口现成，基本不用开发就能开通，信任也已经有了，成交最快。所以别人只能做通用聊天，我们能做真正帮景区和游客办事的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旅拍，可以扩展游记与行程总结、点评分享助手、年卡服务助手。这些都要做，只是先后顺序不同。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再看景区这一端，按景区的业务来看。经营分析：已有 AI 智能问数和智能洞察，可以扩展经营日报周报、报表解读。票务运营：票务 AI 运营助手、分销渠道助手、旅行社报团助手、检票异常解释、窗口售票员助手。业态运营：业态经营助手，覆盖乐园、演出、游船、酒店、温泉、餐饮、停车。运营服务：消息通知预警、工单调度处置。财务：AI 对账助手、发票助手。营销：会员画像、人群圈选、营销文案生成、推广员助手、活动复盘。安全调度：也就是景区 AI 调度中枢，旅游安全、秩序治理、车辆调度、游船调度、森林防火、生态监测、气象服务、设施监测。设备终端：设备运维诊断。这些系统都是我们自己的，扩展有基础。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智能体怎么建？我们围绕三个目标来做：第一，跑通商业模式，就是确认能卖、能赚钱；第二，快速占领市场，就是铺得快、交付快；第三，建成自己的平台，就是更省钱、更可控、形成壁垒。建设流程是一条线走下来的：先选价值最高的场景，借扣子、火山方舟、羚羊小Q 这些成熟平台快速搭出来，在标杆景区试点验证，把定价和交付方式定下来，这是为了跑通商业模式；然后按业态把产品做成标准模板快速复制，同时把知识、接口、数据沉淀在自己手里，这是为了快速占领市场；等时机成熟，以数字大脑作为管理台建自己的平台，再把客户平稳迁过来。整个过程中有几件事一直要做：借平台但不交资产，数据从第一天回流，守住安全底线，培养自己的 AI 团队，用成本数据判断什么时候自建。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跑通商业模式，先回答五个问题。卖给谁：哪类景区最需要、最愿意付钱。卖什么：哪些智能体组合成一个包，景区最认。怎么收钱：随票务打包、年费订阅、按效果分成、按用量，下一页细讲。花多少钱：平台调用费、交付人力、运营支持。值不值：景区看得到价值，少用人工、多卖票、游客更满意。最后归结为右边这一笔账：一个景区一年的收入，减去平台调用费、交付成本的摊销、运营支持，大于零，才算能赚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收钱，有四种方式。随票务打包：作为票务系统的增值模块，提高票务年费，适合已经用我们票务的景区，要验证能不能提升续约率和客单价。年费订阅：按景区规模或智能体数量分档收年费，适合新客户、单独采购，要验证景区能接受的价位。按效果分成：按 AI 带来的购票和二消收入分成，适合购票、营销类智能体，要验证增量能不能算清楚。按用量：按对话量或调用量收费，适合大客流景区，要验证景区能不能接受账单波动。建议验证期同时试前两种。景区认的价值有四个，每个都要能用数据证明：少用人工，看智能体解决咨询的比例和省下的客服人力；多卖票，看智能体带来的线上购票和二消订单；游客更满意，看满意度、差评率、排队等待；管理更省心，看报表、对账、预警的人工时间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验证？四件事。挑标杆：从已经用我们票务的景区里挑，覆盖主要业态，有配合意愿、客流有代表性。快速搭：在成熟平台上把现有智能体搭起来，再加价值最高的新场景，比如智能购票。跑一个旺季：节假日客流最能检验效果和成本。数据回流：对话、转人工、评价、订单从第一天进数据平台，结论靠数据说话。怎样算跑通？五条：用起来，标杆景区持续在用、问题解决率达标；有价值，景区认可的指标有提升；愿付费，有景区按拟定价格付费或明确续费；能赚钱，单景区收入覆盖平台费、交付和运营；可复制，不靠核心研发、按标准流程就能上线。五条都满足，就把模板、定价、交付流程定型，转入规模复制；没过关就调整场景组合或定价再验一轮，还不行的场景停掉，不硬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商业模式跑通以后，要快速占领市场。先说打哪些客户。第一类，已经用我们票务的景区：随票务续约一起推，开通就能用，因为系统已经对接，基本零开发，信任也有，成交最快。第二类，同业态景区：用标杆案例按业态复制，场景相同，模板直接复用。第三类，新客户：智能体作为差异化卖点，带动票务签约，用 AI 撬动新客户。业态上，先做客流大、咨询多、线上购票比例高的：山岳、主题乐园、古镇街区；再到博物馆、温泉度假、游船演出。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将来自建平台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销售和续费怎么做？四个环节。销售：票务销售团队带单，智能体纳入销售考核，区域渠道伙伴代理。案例：每类业态的标杆做成案例，用数据讲效果。客户成功：上线后定期给景区出效果报告，比如解决了多少咨询、带来了多少订单、转人工率多少，促进续费。升级：模板统一升级，所有景区同步受益，增加粘性。右边是效果报告的样子，这是示意，具体数字由系统自动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托外部平台的同时，有六样东西必须留在自己手里，这是将来自建平台能低成本切过去的前提。一，景区知识：按我们自己的结构存一份，不只存在外部平台，以后直接导入自建平台。二，业务接口：售票、订单、核销、会员这些接口由我们自己封装成服务，外部平台只是调用，以后平台直接复用。三，模板设计：每个模板的流程、提示词、配置项写成文档，以后迁入模板库。四，交互数据：对话、评价、转人工记录回流到数据平台，用来做测试题、优化效果。五，成本数据：按景区、按智能体记录每月平台费用，用来判断什么时候该自建。六，需求清单：记录客户要、但平台做不了的功能，这就是自建平台的需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最终要自建？借平台在起步时最划算，但景区越多，平台费越高、交付受平台限制、数据和知识留在别人那里、平台调价改规则直接影响我们。自己建平台，对公司意味着什么？六个方面对比。成本：借平台按调用、账号收费，随景区数增长；自建只付模型调用和自身运维，单景区成本下降，规模越大利润越高。交付周期：借平台每个景区要在外部平台单独配置调试；自建集团建一次，景区开通即用，省交付人天，上线更快，能承接更多景区。定制能力：借平台个性需求受限；自建可以自主扩展，能接大客户和个性项目。数据资产：借平台工作流、知识、对话数据在外部；自建全部在自己手里，回流数据平台，越用越准。风险：借平台调价改规则直接影响报价；自建自主可控，模型可替换，经营稳定。竞争力：借平台谁都能做；自建是业务系统加数据加平台一体，形成壁垒，提高续约和客单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什么时候自己建？看左边这张示意图：继续用成熟平台，平台费随景区数量线性上涨；自己建，前期有一笔建设投入，之后主要是模型调用和运维，涨得慢。两条线交叉的地方，就是该自建的时候。具体看五个信号：成本交叉，用前面记录的成本数据测算，自建总成本已经更低；平台费占比上升，平台费占智能体收入的比例持续上升，压缩利润；场景稳定，主力智能体模板已经稳定，不再频繁大改；平台限制丢单，个性需求或大客户项目因为平台限制接不了；合规要求，景区或管理方要求数据不出域。满足任意两条，就启动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建不是什么都自己做。大模型不自研，直接调用模型服务，多家可以替换，因为投入太大，也不是我们的优势。语音、图像、数字人、手语这些专业能力，采购或者合作，自建不划算。编排引擎，就是让智能体按流程干活的引擎，用开源框架二次开发，不从零写，缩短周期。真正要自建的是三样：智能体管理台、能力与知识、业务工具，因为它们承载着我们的业务、数据和交付方式，是壁垒所在。数据服务直接复用第一部分的数据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自建平台长这样，从上往下看。最上面是渠道入口：畅游小程序、票付通 APP、景数通、公众号小程序、智慧终端都已经有了，再自建开放接口。往下是智能体应用：游客服务、景区管理、票务财务、安全调度、精准营销，按场景模板生成，自建。核心是智能体管理台，就是数字大脑，自建：一半是搭建，模板库、可视化编排、配置化生成、多智能体协同、测试与发布；一半是运营，集团和景区多租户、权限、运行监控、费用计量到景区、效果评估。再往下是能力层：业务工具中心、景区知识库、游客记忆与画像、测试用例库自建，数据服务复用。引擎层：编排和检索用开源改造，模型网关和内容安全自建，模型网关能统一接各家模型、路由、降级、计量。外部能力：大模型多家可替换，语音图像数字人、手语、小Q 采购或合作。最底下数据底座复用第一部分。前期留在手里的知识、接口、模板、交互数据，直接搬进能力层和管理台。四条产品线的智能体，最后都在这个平台上统一搭建、运营、计量和评估。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从借平台切到自建平台？五步，不搞一刀切。第一步，核心先上：先把核心模块和主力智能体放到自建平台。第二步，对比验证：用同一套测试题对比，效果不低于成熟平台才切。第三步，新增先上：新签的景区直接上自建平台。第四步，存量随续约迁移：老景区在续约时逐个迁移，双轨运行，随时可以回退。第五步，成熟平台转为补充：外部平台不是一下子不用，而是变成补充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风险方面主要有四个，都有应对。投入超预期：小团队先做核心模块，跟着迁移进度分批投入。外部平台调价或停服：资产在自己手里，模型多家可替换，随时能切。团队能力不足：前期就开始培养自己的 AI 应用团队，自建时延续。需求变化快：模板化、配置化，景区差异放在配置里，不改代码。另外，智能体从第一天起就要守住四条底线：只用授权数据，数据按景区隔离；退款、调度这些关键动作要人工确认；手机号、证件号不进对话和知识库，展示时打码；价格和退改规则以系统为准，答不了就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第三部分：AI＋数据平台，数据在公司里转起来，越用越准。主要讲：数据怎么流转、一张门票的例子。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湖仓公共模型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举个例子，一张门票的数据旅程。第一步，游客买票入园，售票和闸机核销产生数据。第二步，订单、核销、客流进入数据平台。第三步，平台算出实时客流这样的指标，也给游客打上偏好标签。第四步，智能体办事：客流接近预约上限时提前预警，推送给现场工作人员处置；同时根据游客偏好推荐餐饮、演出等二次消费。第五步，处置结果和推荐转化回流到平台。第六步，反哺业务：景区据此调整预约名额、调整营销活动。右边是工作人员在票付通 APP 上收到预警的示意。这一圈下来，游客体验更好，景区多卖钱、少出事，我们的数据和智能体也更准了。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说接下来。先做三件事。第一，数据：在订单到核销到结算这条主线上试点治理，定口径、上卡点、做逐层核对，先把核销量这些关键数字做准，同时把订单核销的实时链路建起来。第二，智能体：挑已经用我们票务的景区做标杆，在成熟平台上搭好现有智能体，加上高价值的新场景，跑一个完整旺季，同时试随票务打包和年费订阅两种收费。第三，打通：智能体统一从数据平台取数，对话、评价、转人工等数据从第一天回流，知识、接口、模板、成本数据留在自己手里。需要您支持四件事：一，口径谁拍板，建议成立数据治理小组，有争议时有人定；二，规范强制执行，不合规的数据不上线，这需要公司层面授权；三，标杆景区和销售团队的配合，智能体纳入销售考核；四，什么时候自己建平台，我们定期用成本数据评估，由您来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汇报完毕，请您指示。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3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1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20.png"/><Relationship Id="rId1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0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6.png"/><Relationship Id="rId4" Type="http://schemas.openxmlformats.org/officeDocument/2006/relationships/image" Target="../media/image42.png"/><Relationship Id="rId3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64.png"/><Relationship Id="rId4" Type="http://schemas.openxmlformats.org/officeDocument/2006/relationships/image" Target="../media/image59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22.png"/><Relationship Id="rId4" Type="http://schemas.openxmlformats.org/officeDocument/2006/relationships/image" Target="../media/image39.png"/><Relationship Id="rId3" Type="http://schemas.openxmlformats.org/officeDocument/2006/relationships/image" Target="../media/image73.png"/><Relationship Id="rId2" Type="http://schemas.openxmlformats.org/officeDocument/2006/relationships/image" Target="../media/image38.png"/><Relationship Id="rId12" Type="http://schemas.openxmlformats.org/officeDocument/2006/relationships/notesSlide" Target="../notesSlides/notesSlide2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1.png"/><Relationship Id="rId1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76.pn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1" Type="http://schemas.openxmlformats.org/officeDocument/2006/relationships/notesSlide" Target="../notesSlides/notesSlide27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9" Type="http://schemas.openxmlformats.org/officeDocument/2006/relationships/image" Target="../media/image26.png"/><Relationship Id="rId18" Type="http://schemas.openxmlformats.org/officeDocument/2006/relationships/image" Target="../media/image21.png"/><Relationship Id="rId17" Type="http://schemas.openxmlformats.org/officeDocument/2006/relationships/image" Target="../media/image62.png"/><Relationship Id="rId16" Type="http://schemas.openxmlformats.org/officeDocument/2006/relationships/image" Target="../media/image68.png"/><Relationship Id="rId15" Type="http://schemas.openxmlformats.org/officeDocument/2006/relationships/image" Target="../media/image66.png"/><Relationship Id="rId14" Type="http://schemas.openxmlformats.org/officeDocument/2006/relationships/image" Target="../media/image88.png"/><Relationship Id="rId13" Type="http://schemas.openxmlformats.org/officeDocument/2006/relationships/image" Target="../media/image87.png"/><Relationship Id="rId12" Type="http://schemas.openxmlformats.org/officeDocument/2006/relationships/image" Target="../media/image86.png"/><Relationship Id="rId11" Type="http://schemas.openxmlformats.org/officeDocument/2006/relationships/image" Target="../media/image65.png"/><Relationship Id="rId10" Type="http://schemas.openxmlformats.org/officeDocument/2006/relationships/image" Target="../media/image3.png"/><Relationship Id="rId1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85.png"/><Relationship Id="rId5" Type="http://schemas.openxmlformats.org/officeDocument/2006/relationships/image" Target="../media/image93.png"/><Relationship Id="rId4" Type="http://schemas.openxmlformats.org/officeDocument/2006/relationships/image" Target="../media/image52.png"/><Relationship Id="rId3" Type="http://schemas.openxmlformats.org/officeDocument/2006/relationships/image" Target="../media/image79.png"/><Relationship Id="rId2" Type="http://schemas.openxmlformats.org/officeDocument/2006/relationships/image" Target="../media/image67.pn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73.png"/><Relationship Id="rId3" Type="http://schemas.openxmlformats.org/officeDocument/2006/relationships/image" Target="../media/image99.png"/><Relationship Id="rId2" Type="http://schemas.openxmlformats.org/officeDocument/2006/relationships/image" Target="../media/image78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38.png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3" Type="http://schemas.openxmlformats.org/officeDocument/2006/relationships/image" Target="../media/image103.png"/><Relationship Id="rId2" Type="http://schemas.openxmlformats.org/officeDocument/2006/relationships/image" Target="../media/image97.png"/><Relationship Id="rId1" Type="http://schemas.openxmlformats.org/officeDocument/2006/relationships/image" Target="../media/image10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" Type="http://schemas.openxmlformats.org/officeDocument/2006/relationships/image" Target="../media/image107.png"/><Relationship Id="rId7" Type="http://schemas.openxmlformats.org/officeDocument/2006/relationships/image" Target="../media/image29.png"/><Relationship Id="rId6" Type="http://schemas.openxmlformats.org/officeDocument/2006/relationships/image" Target="../media/image71.png"/><Relationship Id="rId5" Type="http://schemas.openxmlformats.org/officeDocument/2006/relationships/image" Target="../media/image79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2.png"/><Relationship Id="rId11" Type="http://schemas.openxmlformats.org/officeDocument/2006/relationships/notesSlide" Target="../notesSlides/notesSlide3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46.png"/><Relationship Id="rId4" Type="http://schemas.openxmlformats.org/officeDocument/2006/relationships/image" Target="../media/image110.png"/><Relationship Id="rId3" Type="http://schemas.openxmlformats.org/officeDocument/2006/relationships/image" Target="../media/image56.png"/><Relationship Id="rId2" Type="http://schemas.openxmlformats.org/officeDocument/2006/relationships/image" Target="../media/image78.png"/><Relationship Id="rId1" Type="http://schemas.openxmlformats.org/officeDocument/2006/relationships/image" Target="../media/image109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74.png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4.png"/><Relationship Id="rId6" Type="http://schemas.openxmlformats.org/officeDocument/2006/relationships/image" Target="../media/image99.png"/><Relationship Id="rId5" Type="http://schemas.openxmlformats.org/officeDocument/2006/relationships/image" Target="../media/image113.png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21.png"/><Relationship Id="rId4" Type="http://schemas.openxmlformats.org/officeDocument/2006/relationships/image" Target="../media/image28.png"/><Relationship Id="rId3" Type="http://schemas.openxmlformats.org/officeDocument/2006/relationships/image" Target="../media/image120.png"/><Relationship Id="rId2" Type="http://schemas.openxmlformats.org/officeDocument/2006/relationships/image" Target="../media/image99.png"/><Relationship Id="rId1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3.png"/><Relationship Id="rId4" Type="http://schemas.openxmlformats.org/officeDocument/2006/relationships/image" Target="../media/image98.png"/><Relationship Id="rId3" Type="http://schemas.openxmlformats.org/officeDocument/2006/relationships/image" Target="../media/image53.png"/><Relationship Id="rId2" Type="http://schemas.openxmlformats.org/officeDocument/2006/relationships/image" Target="../media/image123.png"/><Relationship Id="rId1" Type="http://schemas.openxmlformats.org/officeDocument/2006/relationships/image" Target="../media/image12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png"/><Relationship Id="rId2" Type="http://schemas.openxmlformats.org/officeDocument/2006/relationships/image" Target="../media/image33.png"/><Relationship Id="rId1" Type="http://schemas.openxmlformats.org/officeDocument/2006/relationships/image" Target="../media/image12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7.png"/><Relationship Id="rId7" Type="http://schemas.openxmlformats.org/officeDocument/2006/relationships/image" Target="../media/image5.png"/><Relationship Id="rId6" Type="http://schemas.openxmlformats.org/officeDocument/2006/relationships/image" Target="../media/image120.png"/><Relationship Id="rId5" Type="http://schemas.openxmlformats.org/officeDocument/2006/relationships/image" Target="../media/image129.png"/><Relationship Id="rId4" Type="http://schemas.openxmlformats.org/officeDocument/2006/relationships/image" Target="../media/image64.png"/><Relationship Id="rId3" Type="http://schemas.openxmlformats.org/officeDocument/2006/relationships/image" Target="../media/image92.png"/><Relationship Id="rId2" Type="http://schemas.openxmlformats.org/officeDocument/2006/relationships/image" Target="../media/image118.png"/><Relationship Id="rId10" Type="http://schemas.openxmlformats.org/officeDocument/2006/relationships/notesSlide" Target="../notesSlides/notesSlide46.xml"/><Relationship Id="rId1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0.png"/><Relationship Id="rId3" Type="http://schemas.openxmlformats.org/officeDocument/2006/relationships/image" Target="../media/image110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7600" y="1850427"/>
            <a:ext cx="4882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AI＋</a:t>
            </a:r>
            <a:r>
              <a:rPr lang="zh-CN" altLang="en-US" sz="5400" b="1" dirty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数据+平台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3984"/>
            <a:chOff x="1253246" y="4118390"/>
            <a:chExt cx="4313944" cy="313984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汇报：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2" charset="-122"/>
                <a:ea typeface="Microsoft YaHei" panose="020B0503020204020204" pitchFamily="2" charset="-122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</a:rPr>
                <a:t>数据平台  /  智能体平台  /  AI＋数据+平台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我们要做的三件事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数据是底子，智能体是抓手，两者打通才能越用越好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  ·  AI＋数据平台 · 汇报要点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6060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01</a:t>
            </a:r>
            <a:endParaRPr sz="27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351" y="2145228"/>
            <a:ext cx="443484" cy="4434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16060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6060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把数据理清、算准、管住</a:t>
            </a:r>
            <a:endParaRPr sz="13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3617595"/>
            <a:ext cx="195132" cy="1951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99890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定规矩、统一编号和口径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4016730"/>
            <a:ext cx="195132" cy="1951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99890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每天自动体检，错数拦在报表外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5" name="Picture 54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4415866"/>
            <a:ext cx="195132" cy="1951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99890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订单、核销从第二天看到变成分钟级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7" name="Picture 56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4815001"/>
            <a:ext cx="195132" cy="1951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99890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先做“订单 → 核销 → 结算”主线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52970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52970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52970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4712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</a:t>
            </a:r>
            <a:endParaRPr sz="27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003" y="2145228"/>
            <a:ext cx="443484" cy="44348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574712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74712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先借力卖起来，再自己建</a:t>
            </a:r>
            <a:endParaRPr sz="13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12" y="3617595"/>
            <a:ext cx="195132" cy="1951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58542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借现成平台，几周做出来去卖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8" name="Picture 67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12" y="4016730"/>
            <a:ext cx="195132" cy="19513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58542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标杆景区验证能卖、能赚钱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0" name="Picture 69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12" y="4415866"/>
            <a:ext cx="195132" cy="1951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58542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跑通后按业态快速复制抢市场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2" name="Picture 71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12" y="4815001"/>
            <a:ext cx="195132" cy="1951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58542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规模起来后自建，省钱、交付快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711622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11622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11622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3364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03</a:t>
            </a:r>
            <a:endParaRPr sz="27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8" name="Picture 77" descr="refresh-c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55" y="2145228"/>
            <a:ext cx="443484" cy="44348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933364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AI＋数据平台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933364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数据在公司里转起来</a:t>
            </a:r>
            <a:endParaRPr sz="13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1" name="Picture 80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64" y="3617595"/>
            <a:ext cx="195132" cy="19513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217194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业务产生数据，平台统一整理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3" name="Picture 82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64" y="4016730"/>
            <a:ext cx="195132" cy="19513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217194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智能体和报表用同一套数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64" y="4415866"/>
            <a:ext cx="195132" cy="19513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17194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问答、评价、处置结果回流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7" name="Picture 86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64" y="4815001"/>
            <a:ext cx="195132" cy="19513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217194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反哺定价、营销、调度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94318" y="5382661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0" tIns="0" rIns="177393" bIns="0" rtlCol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需要您支持　</a:t>
            </a:r>
            <a:r>
              <a:rPr sz="13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口径由谁拍板 · 规范强制执行 · 标杆景区与销售配合 · 自建时点决策</a:t>
            </a:r>
            <a:endParaRPr sz="13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3191" y="316763"/>
            <a:ext cx="1843847" cy="1040376"/>
            <a:chOff x="815747" y="507302"/>
            <a:chExt cx="1843847" cy="1040376"/>
          </a:xfrm>
        </p:grpSpPr>
        <p:sp>
          <p:nvSpPr>
            <p:cNvPr id="5" name="文本框 4"/>
            <p:cNvSpPr txBox="1"/>
            <p:nvPr/>
          </p:nvSpPr>
          <p:spPr>
            <a:xfrm>
              <a:off x="815747" y="507302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solidFill>
                    <a:srgbClr val="2CAB93"/>
                  </a:solidFill>
                  <a:latin typeface="Alimama ShuHeiTi Bold" pitchFamily="2" charset="-122"/>
                  <a:ea typeface="Alimama ShuHeiTi Bold" pitchFamily="2" charset="-122"/>
                </a:defRPr>
              </a:lvl1pPr>
            </a:lstStyle>
            <a:p>
              <a:r>
                <a:rPr lang="zh-CN" altLang="en-US" sz="4800" dirty="0">
                  <a:solidFill>
                    <a:schemeClr val="tx1"/>
                  </a:solidFill>
                </a:rPr>
                <a:t>目录</a:t>
              </a:r>
              <a:endParaRPr lang="zh-CN" alt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3577" y="128606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/>
                <a:t>CONTENTS</a:t>
              </a:r>
              <a:endParaRPr lang="zh-CN" altLang="en-US" sz="1050" dirty="0"/>
            </a:p>
          </p:txBody>
        </p:sp>
      </p:grpSp>
      <p:sp>
        <p:nvSpPr>
          <p:cNvPr id="9" name="十字形 8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55" name="组合 54"/>
          <p:cNvGrpSpPr/>
          <p:nvPr>
            <p:custDataLst>
              <p:tags r:id="rId2"/>
            </p:custDataLst>
          </p:nvPr>
        </p:nvGrpSpPr>
        <p:grpSpPr>
          <a:xfrm>
            <a:off x="2099340" y="2281514"/>
            <a:ext cx="7993319" cy="562935"/>
            <a:chOff x="1778000" y="2361285"/>
            <a:chExt cx="7993319" cy="562935"/>
          </a:xfrm>
        </p:grpSpPr>
        <p:grpSp>
          <p:nvGrpSpPr>
            <p:cNvPr id="40" name="组合 39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20" name="椭圆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8" name="矩形: 圆角 27"/>
              <p:cNvSpPr/>
              <p:nvPr>
                <p:custDataLst>
                  <p:tags r:id="rId4"/>
                </p:custDataLst>
              </p:nvPr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31" name="任意多边形: 形状 30"/>
              <p:cNvSpPr/>
              <p:nvPr>
                <p:custDataLst>
                  <p:tags r:id="rId5"/>
                </p:custDataLst>
              </p:nvPr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36" name="文本框 35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文本框 37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42" name="椭圆 41"/>
              <p:cNvSpPr/>
              <p:nvPr>
                <p:custDataLst>
                  <p:tags r:id="rId8"/>
                </p:custDataLst>
              </p:nvPr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48" name="矩形: 圆角 47"/>
              <p:cNvSpPr/>
              <p:nvPr>
                <p:custDataLst>
                  <p:tags r:id="rId9"/>
                </p:custDataLst>
              </p:nvPr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0"/>
                </p:custDataLst>
              </p:nvPr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53" name="文本框 52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文本框 5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智能体平台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>
            <p:custDataLst>
              <p:tags r:id="rId13"/>
            </p:custDataLst>
          </p:nvPr>
        </p:nvGrpSpPr>
        <p:grpSpPr>
          <a:xfrm>
            <a:off x="2099340" y="4093229"/>
            <a:ext cx="7993319" cy="562935"/>
            <a:chOff x="1778000" y="2361285"/>
            <a:chExt cx="7993319" cy="562935"/>
          </a:xfrm>
        </p:grpSpPr>
        <p:grpSp>
          <p:nvGrpSpPr>
            <p:cNvPr id="57" name="组合 56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65" name="椭圆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6" name="矩形: 圆角 65"/>
              <p:cNvSpPr/>
              <p:nvPr>
                <p:custDataLst>
                  <p:tags r:id="rId15"/>
                </p:custDataLst>
              </p:nvPr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16"/>
                </p:custDataLst>
              </p:nvPr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82" name="文本框 81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03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AI＋数据+平台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0" name="矩形: 圆角 59"/>
              <p:cNvSpPr/>
              <p:nvPr>
                <p:custDataLst>
                  <p:tags r:id="rId20"/>
                </p:custDataLst>
              </p:nvPr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1"/>
                </p:custDataLst>
              </p:nvPr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63" name="文本框 62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04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文本框 6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1965746" y="2122247"/>
                  <a:ext cx="2080066" cy="306705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  <a:sym typeface="+mn-ea"/>
                    </a:rPr>
                    <a:t>接下来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4" name="TextBox 83"/>
          <p:cNvSpPr txBox="1"/>
          <p:nvPr>
            <p:custDataLst>
              <p:tags r:id="rId24"/>
            </p:custDataLst>
          </p:nvPr>
        </p:nvSpPr>
        <p:spPr>
          <a:xfrm>
            <a:off x="251460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现状与问题 · 怎么建 · 怎么治理 · 建成后的变化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>
            <p:custDataLst>
              <p:tags r:id="rId25"/>
            </p:custDataLst>
          </p:nvPr>
        </p:nvSpPr>
        <p:spPr>
          <a:xfrm>
            <a:off x="6620256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能做什么 · 先验证 · 再复制 · 后自建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>
            <p:custDataLst>
              <p:tags r:id="rId26"/>
            </p:custDataLst>
          </p:nvPr>
        </p:nvSpPr>
        <p:spPr>
          <a:xfrm>
            <a:off x="2514600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数据怎么流转 · 闭环 · 一个例子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>
            <p:custDataLst>
              <p:tags r:id="rId27"/>
            </p:custDataLst>
          </p:nvPr>
        </p:nvSpPr>
        <p:spPr>
          <a:xfrm>
            <a:off x="6620256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先做的三件事 · 需要的支持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把数据理清、算准、管住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现状与问题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04487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手里的数据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6752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怎么建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3056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数据治理八步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9360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治理保障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41448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六个统一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04487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建成后的变化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工具基本齐了，每天的主流程也跑通了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已经花的钱都在用，接下来是在这个基础上补齐，而不是推倒重来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05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databa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669" y="232986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74850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DataWorks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74850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数据加工“车间”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已买：开发 · 调度 · 找数 · 管资产 · 出数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513307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9070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lu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659" y="2329868"/>
            <a:ext cx="243916" cy="24391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93839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动态数据开放 API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293839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对内对外的数据“窗口”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690701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指标对内对外提供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032296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09690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hart-colum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648" y="2329868"/>
            <a:ext cx="243916" cy="2439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12828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12828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看报表、做分析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09690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报表展示与 AI 问数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551285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28679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warehou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637" y="2329868"/>
            <a:ext cx="243916" cy="24391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331817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湖仓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31817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存数据的“仓库”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28679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部分模型已建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3742364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6233" y="3671407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已经跑通：每天凌晨自动跑一遍的“数据流水线”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699796" y="3671407"/>
            <a:ext cx="319308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 / 游客 / 会员 → 订单 → 维度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原样存一份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173986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ODS</a:t>
            </a:r>
            <a:endParaRPr sz="8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2785993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034344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洗干净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去重、补全、纠错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214012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DWD</a:t>
            </a:r>
            <a:endParaRPr sz="8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ight Arrow 75"/>
          <p:cNvSpPr/>
          <p:nvPr/>
        </p:nvSpPr>
        <p:spPr>
          <a:xfrm>
            <a:off x="4826020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74371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字典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景区、商品等基础信息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254038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DIM</a:t>
            </a:r>
            <a:endParaRPr sz="8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ight Arrow 78"/>
          <p:cNvSpPr/>
          <p:nvPr/>
        </p:nvSpPr>
        <p:spPr>
          <a:xfrm>
            <a:off x="6866046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114397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汇总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按天、按景区算好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294064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DWS</a:t>
            </a:r>
            <a:endParaRPr sz="8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ight Arrow 81"/>
          <p:cNvSpPr/>
          <p:nvPr/>
        </p:nvSpPr>
        <p:spPr>
          <a:xfrm>
            <a:off x="8906073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54424" y="4114891"/>
            <a:ext cx="1738457" cy="88696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成品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报表、接口直接用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10334091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ADS</a:t>
            </a:r>
            <a:endParaRPr sz="8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94318" y="5223601"/>
            <a:ext cx="9898562" cy="585398"/>
          </a:xfrm>
          <a:prstGeom prst="roundRect">
            <a:avLst>
              <a:gd name="adj" fmla="val 15151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triangle-aler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711" y="5383255"/>
            <a:ext cx="266090" cy="26609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544237" y="5223601"/>
            <a:ext cx="1064361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还没建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413467" y="5383255"/>
            <a:ext cx="85050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实时数据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3370407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数据质量检查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610684" y="5383255"/>
            <a:ext cx="85050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5567624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指标口径管理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807901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数据规范落地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问题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六个平时真实遇到的麻烦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每一条都能在日常工作里找到例子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06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19483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711" y="1719483"/>
            <a:ext cx="199567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问题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33480" y="1719483"/>
            <a:ext cx="3947007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平时是什么样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46577" y="1719483"/>
            <a:ext cx="31576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为什么会这样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127488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7363" y="2216185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304882"/>
            <a:ext cx="177393" cy="17739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127488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数据散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33480" y="2127488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想看“售票 + 二消 + 结算”，要从 3 个以上系统导数、手工拼表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46577" y="2127488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没有统一接入；景区、商品、渠道编号各系统不一样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270401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363" y="2792714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p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2881411"/>
            <a:ext cx="177393" cy="17739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270401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一个数多个答案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433480" y="270401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同一天同一景区，看板、对账、接口三处“核销量”不一样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646577" y="270401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公司层面没有统一的指标定义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28054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363" y="336924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le-tex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3457939"/>
            <a:ext cx="177393" cy="1773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328054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没规矩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433480" y="328054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表名随意、字段没说明、出了问题找不到负责人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646577" y="328054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规范只写在文档里，上线没有人卡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94318" y="3857076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7363" y="3945773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pea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034469"/>
            <a:ext cx="177393" cy="17739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3857076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重复干活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433480" y="3857076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订单宽表离线、湖仓各做一份，结果还对不上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646577" y="3857076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没有统一的公共层，各做各的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4433605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52230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riangle-ale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0" y="4610999"/>
            <a:ext cx="177393" cy="17739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97456" y="4433605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数字不准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433480" y="4433605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入园、核销和现场对不上，节假日更明显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646577" y="4433605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补传、重复上报、撤销冲正、时间口径混用，缺逐层核对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94318" y="5010134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7363" y="5098831"/>
            <a:ext cx="354787" cy="354787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ourglas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60" y="5187528"/>
            <a:ext cx="177393" cy="17739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97456" y="5010134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看得慢</a:t>
            </a:r>
            <a:endParaRPr sz="13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433480" y="5010134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高峰期订单、核销第二天才看到，预警靠人盯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46577" y="5010134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只有每天跑一次的离线链路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94318" y="5693100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ght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803971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693100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前五个是“管理问题”，要系统治理；第六个是“能力缺口”，要补实时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我们手里有什么数据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按业务划分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数据按“数据域 → 主题”分门别类，像图书馆分区一样好找、好管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07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eceip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86153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交易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86153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订单、票务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5397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订单数 · 销售额 · 核销次数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15397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792589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已入仓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513307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7296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ckag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832" y="2318781"/>
            <a:ext cx="221742" cy="22174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205142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商品与资源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205142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产品、库存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7296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售罄率 · 库存余量 · 热销产品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7296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11578" y="3112617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部分入仓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032296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9195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22" y="2318781"/>
            <a:ext cx="221742" cy="22174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724131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用户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24131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游客、会员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19195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会员等级 · 复购倾向 · 出游偏好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19195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高敏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830568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已入仓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551285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10940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811" y="2318781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243120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合作方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43120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710940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履约率 · 结算周期 · 供应商等级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710940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349557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已入仓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94318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5397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mega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933062"/>
            <a:ext cx="221742" cy="2217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686153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流量营销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686153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渠道、活动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5397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渠道转化率 · 活动回报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115397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1792589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部分入仓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3513307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7296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activ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3832" y="3933062"/>
            <a:ext cx="221742" cy="22174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205142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05142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日常运营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67296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房态占用率 · 准点率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367296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4311578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部分入仓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32296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19195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wall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822" y="3933062"/>
            <a:ext cx="221742" cy="22174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724131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724131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结算、对账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19195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应结 / 已结金额 · 对账差异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19195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830568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部分入仓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551285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710940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setting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811" y="3933062"/>
            <a:ext cx="221742" cy="22174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243120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内部管理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243120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内部系统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710940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任务运行 · 存储计算成本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710940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9349557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部分入仓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94318" y="5259080"/>
            <a:ext cx="4860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待补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现场设备、外部数据、AI 产生的数据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032296" y="5259080"/>
            <a:ext cx="4860584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难点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节假日高峰、状态多变、离线补传、多景区隔离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六层搭起来，治理管全程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从下往上：数据从哪来 → 存到哪 → 算成什么 → 怎么给出去 → AI 怎么用 → 谁在用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08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4365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应用与服务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谁在用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901298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内部经营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187403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景区运营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473506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伙伴接入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759610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行业报告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45714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数据产品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4318" y="249114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能力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让 AI 能用数据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90129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模型服务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508929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11655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工具服务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2418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评测运营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13863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数据服务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对外的窗口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901298" y="3138632"/>
            <a:ext cx="1518932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动态数据开放 API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508929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1655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72418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一键接入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78611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指标与分析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算好的数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90129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企业标准指标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508929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景区自定义指标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11655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724188" y="3786119"/>
            <a:ext cx="1518932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443360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仓库与车间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901298" y="4433606"/>
            <a:ext cx="1197406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DataWorks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187403" y="4433606"/>
            <a:ext cx="1197406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离线主流程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473506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实时计算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759610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湖仓存储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45714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公共模型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508109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数据来源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数据从哪来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90129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70511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50892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31274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11655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920372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72418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852800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420513" y="1843659"/>
            <a:ext cx="1472366" cy="378735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647" y="2021053"/>
            <a:ext cx="372526" cy="3725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15647" y="2464537"/>
            <a:ext cx="1117579" cy="7095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贯穿每一层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615647" y="3218459"/>
            <a:ext cx="1117579" cy="24835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主数据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数据血缘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统一口径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权限安全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资产运营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94318" y="5790666"/>
            <a:ext cx="896823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已经有的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1997577" y="5790666"/>
            <a:ext cx="118952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要新建 / 升级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470930" y="5790666"/>
            <a:ext cx="532180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思路：统一标准，治理写进研发流程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在已有工具上补齐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工具补齐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七类能力，分清哪些已有、哪些升级、哪些新建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09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68266"/>
            <a:ext cx="6519214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363" y="1768266"/>
            <a:ext cx="88696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能力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91724" y="1768266"/>
            <a:ext cx="1818283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87403" y="1768266"/>
            <a:ext cx="119740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62203" y="1768266"/>
            <a:ext cx="190698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185141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7363" y="2185141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数据集成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1724" y="2185141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批量同步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87403" y="2185141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埋点采集、设备回传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62203" y="2185141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实时采集、标准连接器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2664104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7363" y="2664104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存储计算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1724" y="2664104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离线计算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87403" y="2664104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—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62203" y="2664104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实时计算、湖仓统一存储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3143067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7363" y="3143067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开发运维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91724" y="3143067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开发、运维中心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87403" y="3143067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数据建模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562203" y="3143067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发布卡点、成本治理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94318" y="3622029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7363" y="3622029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191724" y="3622029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数据地图、资产治理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87403" y="3622029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血缘、健康分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562203" y="3622029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质量、标准、分级打码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94318" y="4100992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7363" y="4100992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指标标签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191724" y="4100992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—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87403" y="4100992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—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562203" y="4100992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指标中心、标签系统、景区自定义空间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94318" y="4579955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7363" y="4579955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服务分析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191724" y="4579955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API、数据服务、小Q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187403" y="4579955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562203" y="4579955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嵌入式分析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94318" y="5058918"/>
            <a:ext cx="6519214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7363" y="5058918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能力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191724" y="5058918"/>
            <a:ext cx="18182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—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187403" y="5058918"/>
            <a:ext cx="11974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问数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562203" y="5058918"/>
            <a:ext cx="190698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模型网关、知识检索、评测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735275" y="1768266"/>
            <a:ext cx="3157606" cy="3734135"/>
          </a:xfrm>
          <a:prstGeom prst="roundRect">
            <a:avLst>
              <a:gd name="adj" fmla="val 337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iggy-bank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2668" y="1910181"/>
            <a:ext cx="337047" cy="337047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338413" y="1874702"/>
            <a:ext cx="244803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没有的模块，这样顶上</a:t>
            </a:r>
            <a:endParaRPr sz="13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7894929" y="2415753"/>
            <a:ext cx="2838297" cy="603138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19105" y="2460101"/>
            <a:ext cx="262542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019105" y="2708452"/>
            <a:ext cx="2625425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关键任务后加检查节点，不合格就拦住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894929" y="3107588"/>
            <a:ext cx="2838297" cy="603138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19105" y="3151935"/>
            <a:ext cx="262542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019105" y="3400287"/>
            <a:ext cx="2625425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规范文档 + 发布前检查脚本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7894929" y="3799423"/>
            <a:ext cx="2838297" cy="603138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19105" y="3843771"/>
            <a:ext cx="262542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安全中心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019105" y="4092122"/>
            <a:ext cx="2625425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计算引擎权限 + 打码视图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7894929" y="4491258"/>
            <a:ext cx="2838297" cy="603138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19105" y="4535605"/>
            <a:ext cx="262542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实时计算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19105" y="4783957"/>
            <a:ext cx="2625425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先做小范围试验，验证后再投入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994318" y="5644316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circle-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51" y="5755187"/>
            <a:ext cx="266090" cy="26609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570847" y="5644316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已有投入全部保留；先用现有工具延伸，验证有效再追加投入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治理流程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八步走，一步一步落地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按顺序推进：先定规矩、统一编号，再管质量和口径，最后管好权限、盘点和出口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7084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7084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9" name="Picture 48" descr="book-open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907" y="2052096"/>
            <a:ext cx="301569" cy="3015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53971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表名、字段、码值全公司一个说法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2736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2669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详见“统一规范”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3313739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35481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2011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统一编号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112011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主数据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9" name="Picture 58" descr="id-card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070" y="2052096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95136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景区、商品、渠道、供应商、游客一个编号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668527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3832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编号对照表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5854903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6644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53174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理清来龙去脉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653174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数据血缘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9" name="Picture 68" descr="folder-tre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233" y="2052096"/>
            <a:ext cx="301569" cy="30156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36298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每个数从哪来、到哪去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209690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4996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资产目录、血缘图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8396066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1780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19433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每天体检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9433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9" name="Picture 78" descr="stethoscop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397" y="2052096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77462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算完自动检查，不合格就拦住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75085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6158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质量规则、问题单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9431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7084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统一口径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57084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8" name="Picture 87" descr="sca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907" y="3888119"/>
            <a:ext cx="301569" cy="30156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53971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一个指标一个算法，集团出标准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12736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42669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详见“统一标签”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ight Arrow 91"/>
          <p:cNvSpPr/>
          <p:nvPr/>
        </p:nvSpPr>
        <p:spPr>
          <a:xfrm>
            <a:off x="3313739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35481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6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112011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管好权限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112011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权限安全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98" name="Picture 97" descr="lock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070" y="3888119"/>
            <a:ext cx="301569" cy="30156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95136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数据分级，谁的数据只服务谁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3668527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3832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详见“统一权限”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ight Arrow 101"/>
          <p:cNvSpPr/>
          <p:nvPr/>
        </p:nvSpPr>
        <p:spPr>
          <a:xfrm>
            <a:off x="5854903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076644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7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653174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定期盘点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653174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资产运营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108" name="Picture 107" descr="archiv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233" y="3888119"/>
            <a:ext cx="301569" cy="30156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236298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打健康分，没人用的就下线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6209690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4996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健康分榜、下线清单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2" name="Right Arrow 111"/>
          <p:cNvSpPr/>
          <p:nvPr/>
        </p:nvSpPr>
        <p:spPr>
          <a:xfrm>
            <a:off x="8396066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780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8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9433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919433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数据分发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118" name="Picture 117" descr="send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397" y="3888119"/>
            <a:ext cx="301569" cy="30156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777462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对内对外只走一个“窗口”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875085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66158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接口目录、调用台账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994318" y="5484662"/>
            <a:ext cx="9898562" cy="514441"/>
          </a:xfrm>
          <a:prstGeom prst="roundRect">
            <a:avLst>
              <a:gd name="adj" fmla="val 1724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0" tIns="0" bIns="0" rtlCol="0" anchor="ctr"/>
          <a:lstStyle/>
          <a:p>
            <a:pPr algn="l"/>
            <a:r>
              <a:rPr sz="12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先治一条主线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“订单 → 核销 → 结算”公司最核心、问题最多，先在这条线上把八步走通，再按数据域推广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② 主数据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一个景区只有一个“身份证”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以前同一个景区在票务、分销、财务里各有各的编号，拼数时对不上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11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206508" y="2234519"/>
            <a:ext cx="90470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scenic_id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集团、分园区、子景点分级挂靠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05435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1401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i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8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393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商品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266547" y="2234519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prd_id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3175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票种、套票、二消商品统一编码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397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507317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0389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206508" y="3423056"/>
            <a:ext cx="973693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channel_id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7171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OTA、自营、分销、团队统一分类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05435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1401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882" y="3507317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393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51332" y="3423056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sup_id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3175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同一主体只建一个编码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469585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206508" y="4611593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one_id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7171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手机号、证件号、会员号归并为一人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05435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401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map-p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82" y="4695855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76393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区域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5266547" y="4611593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行政区划码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3175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采用国家标准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158746" y="2048256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8932682" y="2261128"/>
            <a:ext cx="399135" cy="514441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158746" y="2562697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分销系统编号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8932682" y="2775569"/>
            <a:ext cx="399135" cy="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158746" y="3077138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5" name="Connector 84"/>
          <p:cNvCxnSpPr/>
          <p:nvPr/>
        </p:nvCxnSpPr>
        <p:spPr>
          <a:xfrm flipV="1">
            <a:off x="8932682" y="2775569"/>
            <a:ext cx="399135" cy="51444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376166" y="2474000"/>
            <a:ext cx="1516715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对照表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老编号 → 新编号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Down Arrow 86"/>
          <p:cNvSpPr/>
          <p:nvPr/>
        </p:nvSpPr>
        <p:spPr>
          <a:xfrm>
            <a:off x="10028087" y="3148096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58746" y="3494013"/>
            <a:ext cx="3734135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统一编号</a:t>
            </a: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　所有报表、指标、标签只认它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158746" y="4203588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earch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400" y="4380981"/>
            <a:ext cx="248351" cy="2483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673187" y="4239066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先查再建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673187" y="4505157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新建景区、商品、供应商时先查，有就复用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7158746" y="4895423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history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8400" y="5072816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73187" y="493090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变更有记录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673187" y="519699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改编号要审批，保留历史，旧报表能追溯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③ 数据血缘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每个数从哪来、到哪去，一查就清楚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像家谱一样，从源头一直打通到报表、接口和智能体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12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源头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20409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4943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ODS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3291564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9556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洗干净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DWD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454219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46192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汇总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DWS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792815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96817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成品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ADS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70434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47442" y="2154097"/>
            <a:ext cx="1020013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/ 标签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口径认证过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8356152" y="2065401"/>
            <a:ext cx="399134" cy="461223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99636" y="1888007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 flipV="1">
            <a:off x="8356152" y="2508885"/>
            <a:ext cx="399134" cy="17739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799636" y="2331491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开放接口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8356152" y="2526624"/>
            <a:ext cx="399134" cy="425744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799636" y="2774975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3129762"/>
            <a:ext cx="9898562" cy="17739"/>
          </a:xfrm>
          <a:prstGeom prst="roundRect">
            <a:avLst>
              <a:gd name="adj" fmla="val 0"/>
            </a:avLst>
          </a:prstGeom>
          <a:solidFill>
            <a:srgbClr val="C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318" y="3245068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家谱的三个用处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94318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971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3932468"/>
            <a:ext cx="221742" cy="221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03892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查错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89451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报表数字不对，沿家谱往上查，快速找到出错的那一层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52970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12624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it-bran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95" y="3932468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改之前先评估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48103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改表、改口径前，先查哪些报表、接口受影响，通知负责人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7711622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71276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rash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47" y="3932468"/>
            <a:ext cx="221742" cy="22174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21197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清理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906755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没有下游、没人访问的表和任务，进入下线清单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94318" y="4948047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家谱里记三类信息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94318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技术信息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表结构、字段类型、存储量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系统自动采集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352970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含义、口径、负责人、安全等级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开发填写，专员审核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711622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运行信息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几点产出、跑多久、多少人在用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系统自动采集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④ 数据质量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每天体检，五项检查、强弱两档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关键数据算完立刻自动检查，不合格的数据拦在报表外面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13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15469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lipboard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34" y="2265563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86153" y="2101474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完整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86153" y="2385303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不能缺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590860" y="2048256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订单号、景区编号不能空；日订单量比近 7 天平均波动超 30% 报警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4318" y="2793309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7363" y="289974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adge-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34" y="3010616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686153" y="2846527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准确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86153" y="3130356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不能错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90860" y="2793309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金额不能为负；核销时间不能早于下单时间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3538362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27363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arrow-left-righ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4" y="3755669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86153" y="3591579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一致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86153" y="3875410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对得上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590860" y="3538362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仓库里的订单金额汇总 = 业务系统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4283415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7363" y="438985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tim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34" y="4500722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686153" y="4336633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及时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686153" y="4620463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不能晚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590860" y="4283415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核心报表每天 7:00 前算完，晚了报警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5028468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7363" y="513490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fingerprin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34" y="524577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86153" y="5081686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唯一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686153" y="5365516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不重复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590860" y="5028468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订单号不重复；同一张票不能重复核销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070048" y="2048256"/>
            <a:ext cx="1844893" cy="2261768"/>
          </a:xfrm>
          <a:prstGeom prst="roundRect">
            <a:avLst>
              <a:gd name="adj" fmla="val 576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442" y="2190170"/>
            <a:ext cx="319308" cy="319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646577" y="2163561"/>
            <a:ext cx="122401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强规则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247442" y="2695742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用在</a:t>
            </a:r>
            <a:endParaRPr sz="9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247442" y="2908614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核心表、对外接口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247442" y="3227923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不过</a:t>
            </a:r>
            <a:endParaRPr sz="9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247442" y="3440795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拦住下游，通知负责人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247442" y="3760104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时限</a:t>
            </a:r>
            <a:endParaRPr sz="9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247442" y="3972976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当天修好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047988" y="2048256"/>
            <a:ext cx="1844893" cy="22617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ell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5381" y="2190170"/>
            <a:ext cx="319308" cy="31930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624517" y="2163561"/>
            <a:ext cx="122401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弱规则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225381" y="2695742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用在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225381" y="2908614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一般表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225381" y="3227923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不过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225381" y="3440795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只提醒，不拦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225381" y="3760104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时限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225381" y="3972976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一周内修好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7070048" y="4443069"/>
            <a:ext cx="3822832" cy="1330452"/>
          </a:xfrm>
          <a:prstGeom prst="roundRect">
            <a:avLst>
              <a:gd name="adj" fmla="val 8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47442" y="4514027"/>
            <a:ext cx="355674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出了问题怎么办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247442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发现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ight Arrow 94"/>
          <p:cNvSpPr/>
          <p:nvPr/>
        </p:nvSpPr>
        <p:spPr>
          <a:xfrm>
            <a:off x="8008018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158801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拦住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ight Arrow 96"/>
          <p:cNvSpPr/>
          <p:nvPr/>
        </p:nvSpPr>
        <p:spPr>
          <a:xfrm>
            <a:off x="8919377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070162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修复重跑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9830737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981521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登记问题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247442" y="5330037"/>
            <a:ext cx="355674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同类问题出现两次，就补一条规则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④ 数据质量 · 举例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“核销量”怎么做到各处一致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这是数据治理的样板：核销做通了，同样的方法复制到其他指标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14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第一步：先把四个容易混的数分开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核销次数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刷了几次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有效核销票数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有效的票几张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入园人次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进了几人次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去重游客数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实际来了几个人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0" bIns="0" rtlCol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比如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一位年卡游客一天进出 3 次：核销次数 3，入园人次 3，去重游客数 1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第二步：从现场到报表，每一层按“景区 + 日期”对一次数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/ 手持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现场记录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订单与核销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仓库明细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洗干净的数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仓库汇总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按天按景区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 / 接口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大家看到的数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对不上就自动报警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195"/>
              </a:spcBef>
            </a:pPr>
            <a:r>
              <a:rPr sz="12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查原因 → 修复 → 重算</a:t>
            </a:r>
            <a:endParaRPr sz="12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常见原因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195"/>
              </a:spcBef>
            </a:pP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设备离线补传 · 重复上报 · 撤销冲正 · 时间口径混用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53587" y="104775"/>
            <a:ext cx="4084519" cy="562935"/>
            <a:chOff x="1778000" y="2361285"/>
            <a:chExt cx="408451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8451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91335" cy="461665"/>
              <a:chOff x="1249621" y="2030985"/>
              <a:chExt cx="299133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27521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⑦⑧ 资产运营与数据分发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定期盘点，统一出口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没人用的数据按步骤下线，省存储和计算；所有数据只从一个“窗口”出去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15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chiv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140793"/>
            <a:ext cx="337047" cy="3370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59544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⑦ 资产运营：定期盘点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16060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每月打“健康分”，按负责人公示排名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216060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889663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563266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236869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使用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910472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成本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16060" y="344463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没人用的，按步骤下线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59544" y="3799423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发现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24769" y="3799423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90 天没人访问 · 没下游 · 重复 · 临时表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59544" y="4296125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通知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24769" y="4296125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负责人确认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59544" y="4792827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先停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24769" y="4792827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停调度或改只读，观察 30 天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59544" y="5289529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删除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24769" y="5289529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没人反馈再删；有人反馈就恢复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058905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end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140793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131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⑧ 数据分发：统一出口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280647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不再点对点导数、私接数据库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280647" y="3001152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7478053" y="3249503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80647" y="3622029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7" name="Connector 76"/>
          <p:cNvCxnSpPr/>
          <p:nvPr/>
        </p:nvCxnSpPr>
        <p:spPr>
          <a:xfrm flipV="1">
            <a:off x="7478053" y="3559942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788492" y="3001152"/>
            <a:ext cx="1818283" cy="1117579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8492" y="3045500"/>
            <a:ext cx="1818283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77189" y="3595420"/>
            <a:ext cx="1640890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统一鉴权 · 按景区隔离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调用计量 · 全程监控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 flipV="1">
            <a:off x="9606777" y="3098718"/>
            <a:ext cx="221742" cy="461223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828519" y="2974543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景区看板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3" name="Connector 82"/>
          <p:cNvCxnSpPr/>
          <p:nvPr/>
        </p:nvCxnSpPr>
        <p:spPr>
          <a:xfrm flipV="1">
            <a:off x="9606777" y="3400287"/>
            <a:ext cx="221742" cy="15965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828519" y="3276112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营销圈人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5" name="Connector 84"/>
          <p:cNvCxnSpPr/>
          <p:nvPr/>
        </p:nvCxnSpPr>
        <p:spPr>
          <a:xfrm>
            <a:off x="9606777" y="3559942"/>
            <a:ext cx="221742" cy="14191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828519" y="3577681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合作伙伴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7" name="Connector 86"/>
          <p:cNvCxnSpPr/>
          <p:nvPr/>
        </p:nvCxnSpPr>
        <p:spPr>
          <a:xfrm>
            <a:off x="9606777" y="3559942"/>
            <a:ext cx="221742" cy="44348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828519" y="3879250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236299" y="4375952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9343" y="4375952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只查指标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010234" y="4375952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经营看板：销售额、核销量、入园人次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236299" y="4872653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9343" y="4872653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+ 标签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010234" y="4872653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按会员等级看复购率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6236299" y="5369356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9343" y="5369356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标签圈人 + 指标看效果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010234" y="5369356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圈出近 90 天没复购的年卡用户，推活动后看转化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治理怎么保证落实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写进流程、有人负责、有考核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不另起流程、不搞运动；先治“订单 → 核销 → 结算”主线，做通再推广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16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orkflow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043226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写进流程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53971" y="2708452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814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事前 · 定规范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78148" y="3001152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需求确认口径；设计做模型评审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153971" y="3595420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8148" y="363089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事中 · 设卡点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78148" y="3888120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发布自动检查；运行不合格就拦住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153971" y="4482388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78148" y="451786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事后 · 做治理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78148" y="4775088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健康分、整改、复盘补规则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367753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s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495" y="2043226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1676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有人负责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27407" y="2708452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583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数据治理小组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51583" y="3001152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拍板口径争议、审批规范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527407" y="3373678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1583" y="340915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数据负责人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51583" y="3666378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定方案、跨部门协调、对健康分负责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527407" y="4038904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1583" y="4074383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业务数据专员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51583" y="4331604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每个业务线一名，确认口径、验收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527407" y="4704130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1583" y="473960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治理专员 / 开发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651583" y="4996830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维护标准规则；模型落地、问题修复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74118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4118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74118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gau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30" y="2043226"/>
            <a:ext cx="372526" cy="37252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95111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有考核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900841" y="270845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2501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节奏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025018" y="3001152"/>
            <a:ext cx="2619512" cy="1153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两周口径评审 · 每月健康分公示 · 季度复盘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7900841" y="324063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25018" y="3240632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新表规范符合率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695474" y="3240632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100%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900841" y="3772814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5018" y="3772814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核心报表按时产出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695474" y="3772814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≥ 99%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900841" y="430499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25018" y="430499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老板看板认证指标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695474" y="430499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100%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7900841" y="483717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5018" y="483717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核销量各出口差异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695474" y="483717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94318" y="5573359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arg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662056"/>
            <a:ext cx="266090" cy="26609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847" y="5573359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先测基线再定目标；看实际使用和业务结果，不看上了多少看板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建设落地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最终形成“六个统一”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治理是手段，这六件事是结果；每件都能对比“以前”和“以后”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17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148" y="2189576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统一规范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171711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规范只写在文档里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71711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不合规的表发不出去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352970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00" y="2189576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530364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订单、核销第二天才看到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530364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分钟级看到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711622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451" y="2189576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889015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报表、接口、AI 各说各的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889015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三处数字一致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48" y="389255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统一权限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171711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各系统各管各的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171711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一套规则管住所有出口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52970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800" y="3892555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标签复用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530364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各部门各做一套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30364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一个游客一个身份，到处能用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711622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451" y="389255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自助分析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889015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找数据团队要数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889015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业务自己查、自己看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5400400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16060" y="5400400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怎么推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2147376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统接入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ight Arrow 82"/>
          <p:cNvSpPr/>
          <p:nvPr/>
        </p:nvSpPr>
        <p:spPr>
          <a:xfrm>
            <a:off x="3114172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91565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统建模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4258360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435754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统开发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ight Arrow 86"/>
          <p:cNvSpPr/>
          <p:nvPr/>
        </p:nvSpPr>
        <p:spPr>
          <a:xfrm>
            <a:off x="5402549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579943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统服务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777349" y="5400400"/>
            <a:ext cx="402683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先在“订单 → 核销 → 结算”试点；老模型双跑对比再切换，可回退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统一规范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规矩定清楚，并且卡在流程里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表名、字段、码值全公司一个说法；新的卡住、老的分批改、持续有人管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18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5809640" cy="3326129"/>
          </a:xfrm>
          <a:prstGeom prst="roundRect">
            <a:avLst>
              <a:gd name="adj" fmla="val 37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ook-open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210974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4237" y="207427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定什么规矩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260408" y="2500015"/>
            <a:ext cx="635660" cy="408005"/>
          </a:xfrm>
          <a:prstGeom prst="roundRect">
            <a:avLst>
              <a:gd name="adj" fmla="val 1739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dwd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83015" y="2925759"/>
            <a:ext cx="99044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加工层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002505" y="2500015"/>
            <a:ext cx="635660" cy="408005"/>
          </a:xfrm>
          <a:prstGeom prst="roundRect">
            <a:avLst>
              <a:gd name="adj" fmla="val 1739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ord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25111" y="2925759"/>
            <a:ext cx="99044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744602" y="2500015"/>
            <a:ext cx="1456598" cy="408005"/>
          </a:xfrm>
          <a:prstGeom prst="roundRect">
            <a:avLst>
              <a:gd name="adj" fmla="val 17391"/>
            </a:avLst>
          </a:prstGeom>
          <a:solidFill>
            <a:srgbClr val="5B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order_item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67208" y="2925759"/>
            <a:ext cx="1811385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内容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307636" y="2500015"/>
            <a:ext cx="518383" cy="408005"/>
          </a:xfrm>
          <a:prstGeom prst="roundRect">
            <a:avLst>
              <a:gd name="adj" fmla="val 1739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di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130243" y="2925759"/>
            <a:ext cx="873170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更新方式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21153" y="2500015"/>
            <a:ext cx="1649759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= 身份证号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189451" y="3253938"/>
            <a:ext cx="5419373" cy="37252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04756" y="3253938"/>
            <a:ext cx="53218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字段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836938" y="3253938"/>
            <a:ext cx="46565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= scenic_id · 金额 = …_amt · 时间 = …_time · 是否 = is_…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189451" y="3697422"/>
            <a:ext cx="5419373" cy="37252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04756" y="3697422"/>
            <a:ext cx="53218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码值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836938" y="3697422"/>
            <a:ext cx="46565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票种、渠道类型、订单状态等建公共码表，不在代码里写死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216060" y="4158645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建表 8 项必填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216060" y="4469084"/>
            <a:ext cx="68887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中文名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967026" y="4469084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描述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594803" y="4469084"/>
            <a:ext cx="68887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负责人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345769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安全等级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219925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生命周期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094081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分区字段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1216060" y="4797262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字段注释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090216" y="4797262"/>
            <a:ext cx="120134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发生 / 上报时间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025700" y="1985573"/>
            <a:ext cx="3867180" cy="3326129"/>
          </a:xfrm>
          <a:prstGeom prst="roundRect">
            <a:avLst>
              <a:gd name="adj" fmla="val 37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-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832" y="2109749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575620" y="2074270"/>
            <a:ext cx="324630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怎么让规矩落地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203094" y="2544363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09530" y="2721757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309530" y="2721757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753014" y="2579842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 · 卡住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753014" y="2863672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发布前脚本自动检查，不合规直接打回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203094" y="3307156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309530" y="3484549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309530" y="3484549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753014" y="3342634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存量 · 分批改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753014" y="3626464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核心表优先；改名保留兼容视图；AI 补描述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203094" y="4069948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309530" y="4247342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309530" y="424734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53014" y="4105427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持续 · 有人管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753014" y="4389257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资产健康分每月公示，低分限期整改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94318" y="5471358"/>
            <a:ext cx="2904820" cy="443484"/>
          </a:xfrm>
          <a:prstGeom prst="roundRect">
            <a:avLst>
              <a:gd name="adj" fmla="val 16000"/>
            </a:avLst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35478" bIns="35478" rtlCol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规范只写在文档里，没人卡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ight Arrow 89"/>
          <p:cNvSpPr/>
          <p:nvPr/>
        </p:nvSpPr>
        <p:spPr>
          <a:xfrm>
            <a:off x="3987835" y="5604403"/>
            <a:ext cx="22174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298274" y="5471358"/>
            <a:ext cx="2904820" cy="443484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35478" bIns="35478" rtlCol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不合规的表发不出去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7424836" y="5471358"/>
            <a:ext cx="3468044" cy="443484"/>
          </a:xfrm>
          <a:prstGeom prst="roundRect">
            <a:avLst>
              <a:gd name="adj" fmla="val 16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0" bIns="0" rtlCol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衡量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新表规范符合率 100%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统一底座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一份存储，离线 + 实时，同一个逻辑只建一次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订单、核销从“第二天才看到”变成“分钟级看到”；离线和湖仓合一，不再出两套结果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19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10181"/>
            <a:ext cx="1729587" cy="2306116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lug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1" y="2052096"/>
            <a:ext cx="283829" cy="2838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08759" y="2016617"/>
            <a:ext cx="11974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数据进来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127363" y="2495580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业务库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127363" y="2823758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渠道接口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27363" y="3151935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设备事件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127363" y="3480113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行为日志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27363" y="3808293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2741645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936778" y="1910181"/>
            <a:ext cx="1552194" cy="2306116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lin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32" y="2052096"/>
            <a:ext cx="283829" cy="2838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51219" y="2016617"/>
            <a:ext cx="102001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统一接入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069823" y="2495580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接入规范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069823" y="2823758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对象编号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069823" y="3151935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负责人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4506711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701844" y="1910181"/>
            <a:ext cx="2971342" cy="2306116"/>
          </a:xfrm>
          <a:prstGeom prst="roundRect">
            <a:avLst>
              <a:gd name="adj" fmla="val 461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499" y="2052096"/>
            <a:ext cx="283829" cy="28382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16286" y="2016617"/>
            <a:ext cx="243916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湖仓一体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834890" y="2495580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离线计算 · DataWorks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834890" y="2823758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实时计算 · 订单核销先行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34890" y="3151935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 → 成品分层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834890" y="3480113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共用业务定义和质量规则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ight Arrow 66"/>
          <p:cNvSpPr/>
          <p:nvPr/>
        </p:nvSpPr>
        <p:spPr>
          <a:xfrm>
            <a:off x="7690926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86059" y="1910181"/>
            <a:ext cx="1507845" cy="2306116"/>
          </a:xfrm>
          <a:prstGeom prst="roundRect">
            <a:avLst>
              <a:gd name="adj" fmla="val 705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search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714" y="2052096"/>
            <a:ext cx="283829" cy="28382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00501" y="2016617"/>
            <a:ext cx="97566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分析查询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019105" y="2495580"/>
            <a:ext cx="1241755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稳定查询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019105" y="2823758"/>
            <a:ext cx="1241755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负载隔离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9411644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606777" y="1910181"/>
            <a:ext cx="1286103" cy="2306116"/>
          </a:xfrm>
          <a:prstGeom prst="roundRect">
            <a:avLst>
              <a:gd name="adj" fmla="val 827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end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32" y="2052096"/>
            <a:ext cx="283829" cy="28382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121219" y="2016617"/>
            <a:ext cx="75392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给谁用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739823" y="2495580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739823" y="2823758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739823" y="3151935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4464649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36233" y="4393692"/>
            <a:ext cx="620877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离线和湖仓合一：同一个逻辑只建一次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94318" y="4801697"/>
            <a:ext cx="2550033" cy="549920"/>
          </a:xfrm>
          <a:prstGeom prst="roundRect">
            <a:avLst>
              <a:gd name="adj" fmla="val 12903"/>
            </a:avLst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35478" bIns="35478" rtlCol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离线、湖仓各做一份，结果不一样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ight Arrow 82"/>
          <p:cNvSpPr/>
          <p:nvPr/>
        </p:nvSpPr>
        <p:spPr>
          <a:xfrm>
            <a:off x="3633048" y="4987960"/>
            <a:ext cx="22174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943487" y="4801697"/>
            <a:ext cx="2550033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35478" bIns="35478" rtlCol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公共层只建一次，改口径只改一处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6715262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盘点重叠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ight Arrow 85"/>
          <p:cNvSpPr/>
          <p:nvPr/>
        </p:nvSpPr>
        <p:spPr>
          <a:xfrm>
            <a:off x="7435479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586263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定保留版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ight Arrow 87"/>
          <p:cNvSpPr/>
          <p:nvPr/>
        </p:nvSpPr>
        <p:spPr>
          <a:xfrm>
            <a:off x="8306482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457266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下游改引用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ight Arrow 89"/>
          <p:cNvSpPr/>
          <p:nvPr/>
        </p:nvSpPr>
        <p:spPr>
          <a:xfrm>
            <a:off x="9177484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328269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双跑对比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ight Arrow 91"/>
          <p:cNvSpPr/>
          <p:nvPr/>
        </p:nvSpPr>
        <p:spPr>
          <a:xfrm>
            <a:off x="10048487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199272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下线重复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994318" y="5529011"/>
            <a:ext cx="9898562" cy="461223"/>
          </a:xfrm>
          <a:prstGeom prst="roundRect">
            <a:avLst>
              <a:gd name="adj" fmla="val 1923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za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626577"/>
            <a:ext cx="266090" cy="26609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570847" y="5529011"/>
            <a:ext cx="9144640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效果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订单、核销：第二天看到 → 分钟级看到；结构变更、补数重算、高峰压测都有预案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统一标签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一个口径，报表、接口、AI 三处一致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= 数一数（卖了多少、来了多少）；标签 = 贴个签（年卡用户、喜欢夜游）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20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74702"/>
            <a:ext cx="580964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l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711" y="196339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26498" y="192792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口径说清楚：一个指标拆成四件事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171711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算什么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支付金额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15684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575338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加条件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线上成人票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19310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978964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什么时间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近 7 天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222937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382592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按什么看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71711" y="2992282"/>
            <a:ext cx="5454852" cy="44348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= 近 7 天线上渠道成人票支付金额（按景区）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025700" y="1874702"/>
            <a:ext cx="386718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adg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094" y="1963399"/>
            <a:ext cx="266090" cy="2660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7880" y="1927920"/>
            <a:ext cx="3512393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新指标四步认证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203094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起草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7934843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29976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确认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业务负责人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8861724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6857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拍板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治理小组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9788606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3739" y="2318186"/>
            <a:ext cx="731748" cy="585398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记录版本</a:t>
            </a:r>
            <a:endParaRPr sz="8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203094" y="2992282"/>
            <a:ext cx="351239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认证过的才能进老板看板、接口和 AI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94318" y="3763944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两级体系：集团出标准，景区可以自己加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94318" y="4136471"/>
            <a:ext cx="2793949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1711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企业标准指标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71711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统一定义 · 版本管理 · 业务认证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全公司一个口径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010009" y="4136471"/>
            <a:ext cx="2793949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9DD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403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景区自定义空间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87403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A / B / C 相互隔离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不能同名覆盖企业标准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167390" y="5289529"/>
            <a:ext cx="1463497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← 好用的沉淀为标准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025700" y="3763944"/>
            <a:ext cx="386718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同一个出口，三处数字一致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025700" y="4136471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96" y="4189689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98227" y="4136471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8755287" y="4296125"/>
            <a:ext cx="310439" cy="390265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25700" y="4508997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lu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396" y="4562214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98227" y="4508997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8755287" y="4668652"/>
            <a:ext cx="310439" cy="17739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25700" y="4881524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o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6" y="4934741"/>
            <a:ext cx="212872" cy="21287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398227" y="4881524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问数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 flipV="1">
            <a:off x="8755287" y="4686391"/>
            <a:ext cx="310439" cy="354787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10075" y="4296125"/>
            <a:ext cx="1782805" cy="798271"/>
          </a:xfrm>
          <a:prstGeom prst="roundRect">
            <a:avLst>
              <a:gd name="adj" fmla="val 1111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三处数字一致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开会不用先对数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94318" y="5653186"/>
            <a:ext cx="9898562" cy="372526"/>
          </a:xfrm>
          <a:prstGeom prst="roundRect">
            <a:avLst>
              <a:gd name="adj" fmla="val 2380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706404"/>
            <a:ext cx="266090" cy="26609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570847" y="5653186"/>
            <a:ext cx="91446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衡量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认证指标覆盖率；老板看板认证指标 100%；核销量各出口 0 差异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统一权限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数据分级，谁能看什么一套规则管到底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越敏感管得越严；谁的数据只服务谁；所有出口用同一套规则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21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01311"/>
            <a:ext cx="3680917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先分级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56099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高敏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810329" y="2256099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5634" y="2256099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手机号、证件号、人脸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加密打码，明文不进大模型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841498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810329" y="2841498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5634" y="2841498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单景区经营、价格、结算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 / 供应商隔离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3426896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810329" y="3426896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5634" y="3426896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日志、设备状态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内部按角色授权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4012295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公开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810329" y="4012295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5634" y="4012295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已发布的报告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可以公开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41326" y="1901311"/>
            <a:ext cx="354787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再定谁能看什么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961339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公开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205311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449284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693257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高敏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41326" y="2575407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集团管理层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961339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205311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449284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看汇总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693257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941326" y="2885846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961339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205311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449284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按项目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693257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审批打码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941326" y="3196285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961339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205311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449284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本业务线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693257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941326" y="3506723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5961339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205311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本景区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449284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本景区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693257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授权打码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41326" y="381716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961339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205311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本供应商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8449284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本供应商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693257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941326" y="412760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外部伙伴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961339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205311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449284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匿名汇总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693257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4941326" y="4438040"/>
            <a:ext cx="5951555" cy="283829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　</a:t>
            </a: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不单独开权限，继承提问人的权限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94318" y="4810566"/>
            <a:ext cx="3680917" cy="727313"/>
          </a:xfrm>
          <a:prstGeom prst="roundRect">
            <a:avLst>
              <a:gd name="adj" fmla="val 12195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1711" y="4846045"/>
            <a:ext cx="3414826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底线：谁的数据只服务谁</a:t>
            </a:r>
            <a:endParaRPr sz="11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71711" y="5112136"/>
            <a:ext cx="3414826" cy="4080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景区数据只给该景区 · 供应商数据只给该供应商 · 对外只给匿名汇总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941326" y="4810566"/>
            <a:ext cx="5951555" cy="727313"/>
          </a:xfrm>
          <a:prstGeom prst="roundRect">
            <a:avLst>
              <a:gd name="adj" fmla="val 1219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18719" y="4846045"/>
            <a:ext cx="2660904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权限闭环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511871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申请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610857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709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审批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ight Arrow 100"/>
          <p:cNvSpPr/>
          <p:nvPr/>
        </p:nvSpPr>
        <p:spPr>
          <a:xfrm>
            <a:off x="726695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43547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最小授权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ight Arrow 102"/>
          <p:cNvSpPr/>
          <p:nvPr/>
        </p:nvSpPr>
        <p:spPr>
          <a:xfrm>
            <a:off x="842533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59386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全程留痕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Right Arrow 104"/>
          <p:cNvSpPr/>
          <p:nvPr/>
        </p:nvSpPr>
        <p:spPr>
          <a:xfrm>
            <a:off x="958371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75224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到期回收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994318" y="5626577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71711" y="5626577"/>
            <a:ext cx="96324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同一套规则管住每个出口　</a:t>
            </a: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数据仓库 · 数据地图 · 开放 API · 小Q · 标签平台 · AI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标签复用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一个游客一个身份，一处加工、到处能用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订单、会员、年卡、人脸归并成同一个游客；营销、分析、AI、景区都从同一处取标签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22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ceipt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63" y="2145822"/>
            <a:ext cx="248351" cy="248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2150" y="204825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2590860" y="2269998"/>
            <a:ext cx="399135" cy="6031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4318" y="259817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ser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2695742"/>
            <a:ext cx="248351" cy="2483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82150" y="259817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2590860" y="2819918"/>
            <a:ext cx="399135" cy="5321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318" y="314809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3245662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82150" y="314809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2590860" y="2873136"/>
            <a:ext cx="399135" cy="49670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318" y="369801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an-fac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795582"/>
            <a:ext cx="248351" cy="24835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82150" y="369801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人脸识别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 flipV="1">
            <a:off x="2590860" y="2873136"/>
            <a:ext cx="399135" cy="104662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34343" y="2429652"/>
            <a:ext cx="159654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同一个游客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OneID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4719584" y="2766700"/>
            <a:ext cx="248351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74370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统一生产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基于公共模型加工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6670912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92654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统一管理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 · 负责人 · 生命周期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ight Arrow 64"/>
          <p:cNvSpPr/>
          <p:nvPr/>
        </p:nvSpPr>
        <p:spPr>
          <a:xfrm>
            <a:off x="8489198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10939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统一服务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一个出口提供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025699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841710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分析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65772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47373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050035" y="3582709"/>
            <a:ext cx="88696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谁来用 →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1711" y="4363242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给谁打标签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191725" y="4363242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 / 会员 · 供应商 · 景区 · 渠道 · 商品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71711" y="4842205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标签类型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191725" y="4842205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基础属性 · 统计类 · 规则类 · 模型预测类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54471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1864" y="4363242"/>
            <a:ext cx="457232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边界</a:t>
            </a:r>
            <a:endParaRPr sz="11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231864" y="4664811"/>
            <a:ext cx="4572320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景区只用本景区的标签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1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不做敏感个人信息标签；对外不提供个人层面标签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即席自助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业务自己查、自己看，少找人要数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从统一的模型、指标、标签出发；数据团队从临时取数转向建模型、做分析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23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3226"/>
            <a:ext cx="1862632" cy="2394813"/>
          </a:xfrm>
          <a:prstGeom prst="roundRect">
            <a:avLst>
              <a:gd name="adj" fmla="val 571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统一出发点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580"/>
              </a:spcBef>
            </a:pPr>
            <a:r>
              <a:rPr sz="12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模型</a:t>
            </a:r>
            <a:endParaRPr sz="12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580"/>
              </a:spcBef>
            </a:pPr>
            <a:r>
              <a:rPr sz="12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</a:t>
            </a:r>
            <a:endParaRPr sz="12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580"/>
              </a:spcBef>
            </a:pPr>
            <a:r>
              <a:rPr sz="12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</a:t>
            </a:r>
            <a:endParaRPr sz="12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2945648" y="3134197"/>
            <a:ext cx="24835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00435" y="2043226"/>
            <a:ext cx="3015691" cy="2394813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hart-colum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5568" y="2185141"/>
            <a:ext cx="319308" cy="319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903573" y="2149662"/>
            <a:ext cx="230611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即席自助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477828" y="2690713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指标检索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852629" y="2690713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明细探索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477828" y="3222894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可视化计算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852629" y="3222894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自定义看板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477828" y="3755075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报表订阅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ight Arrow 53"/>
          <p:cNvSpPr/>
          <p:nvPr/>
        </p:nvSpPr>
        <p:spPr>
          <a:xfrm>
            <a:off x="6404823" y="3134197"/>
            <a:ext cx="24835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759610" y="2043226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rown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655" y="2247229"/>
            <a:ext cx="301569" cy="30156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74052" y="2043226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总部经营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759610" y="2859237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riefcas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655" y="3063240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274052" y="2859237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759610" y="3675247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landmar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655" y="3879250"/>
            <a:ext cx="301569" cy="30156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74052" y="3675247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533546" y="2043226"/>
            <a:ext cx="2359334" cy="2394813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533546" y="2043226"/>
            <a:ext cx="2359334" cy="319308"/>
          </a:xfrm>
          <a:prstGeom prst="roundRect">
            <a:avLst>
              <a:gd name="adj" fmla="val 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66591" y="2149662"/>
            <a:ext cx="106436" cy="106436"/>
          </a:xfrm>
          <a:prstGeom prst="ellipse">
            <a:avLst/>
          </a:prstGeom>
          <a:solidFill>
            <a:srgbClr val="E07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43985" y="2149662"/>
            <a:ext cx="106436" cy="106436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21378" y="2149662"/>
            <a:ext cx="106436" cy="106436"/>
          </a:xfrm>
          <a:prstGeom prst="ellipse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87469" y="2043226"/>
            <a:ext cx="147236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自定义看板（示意）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799636" y="3577681"/>
            <a:ext cx="248351" cy="53218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172163" y="3267242"/>
            <a:ext cx="248351" cy="84261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544690" y="3444636"/>
            <a:ext cx="248351" cy="66522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917216" y="3045500"/>
            <a:ext cx="248351" cy="1064361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289743" y="3222894"/>
            <a:ext cx="248351" cy="886968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55288" y="2468971"/>
            <a:ext cx="200454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××景区 · 本周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94318" y="4642043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问数与报表同源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共用指标定义和权限，问出来的数和报表一致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54471" y="4642043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从临时取数、对数，转向建模型、做分析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94318" y="5369356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6060" y="5369356"/>
            <a:ext cx="1153058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最终产出</a:t>
            </a:r>
            <a:endParaRPr sz="11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2324769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企业指标中心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491132" y="5475792"/>
            <a:ext cx="131862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景区专属指标空间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4916195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统一标签服务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082558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统一语义服务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248921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自助分析平台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对各业务线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每个人都用上靠谱的数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从管理层到景区，九类角色的变化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24  ·  AI＋数据平台 · 01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row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322" y="2340361"/>
            <a:ext cx="257220" cy="2572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36938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管理层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36938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驾驶舱全用认证指标，不用先对数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352970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30364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i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74" y="2340361"/>
            <a:ext cx="257220" cy="2572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195590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95590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核销口径统一，差异自动定位；节假日实时看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11622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89015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cula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625" y="2340361"/>
            <a:ext cx="257220" cy="2572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554241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54241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业务与财务逐层对账，差异自动列原因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1711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out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322" y="3475680"/>
            <a:ext cx="257220" cy="2572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36938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36938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销量、佣金、返利口径统一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352970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30364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ega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974" y="3475680"/>
            <a:ext cx="257220" cy="2572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195590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95590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标签圈人、指标看效果，复盘自动完成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711622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889015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heads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625" y="3475680"/>
            <a:ext cx="257220" cy="2572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54241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 / 客户成功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554241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景区经营报告自动生成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94318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od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0322" y="4610998"/>
            <a:ext cx="257220" cy="2572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36938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产品研发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836938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上线前定好口径，上线即有数据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352970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30364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databas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74" y="4610998"/>
            <a:ext cx="257220" cy="2572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195590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95590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从取数对数转向建模型、做分析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711622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89015" y="4482388"/>
            <a:ext cx="514441" cy="514441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landmar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7625" y="4610998"/>
            <a:ext cx="257220" cy="25722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554241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/ 供应商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554241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直接用标准指标，不够用自己加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94318" y="5395965"/>
            <a:ext cx="9898562" cy="514441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zap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9451" y="5520141"/>
            <a:ext cx="266090" cy="26609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570847" y="5395965"/>
            <a:ext cx="9144640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为第二部分打基础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数据可信、有口径、有权限，AI 接上去才能答得准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围绕三个目标，一条线建下去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智能体平台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现状与底气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04487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能做哪些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6752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建设思路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3056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跑通商业模式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9360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快速占领市场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41448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建自己的平台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04487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风险与底线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已有智能体，来自三个地方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 = 能听懂问题、还能帮你办事的 AI 助手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26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05746"/>
            <a:ext cx="6474866" cy="1197406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0087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user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887" y="2207315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83140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Coze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81386" y="2127488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工作流配置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792589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智能助手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791907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791224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智能导览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790541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旅拍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704118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伴游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92589" y="2845932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给游客用 · 标准化、配置化输出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236198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9451" y="3431331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2" y="3542202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92589" y="3413592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企业合作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410736" y="345794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合作接入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792589" y="3839337"/>
            <a:ext cx="61496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1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792589" y="4176384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给听障游客用 · 接入合作方的专业能力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4566650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451" y="476178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art-colum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22" y="4872654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92589" y="4744044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10736" y="478839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平台自带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792589" y="5169789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2791907" y="5169789"/>
            <a:ext cx="1206276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智能数据解读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792589" y="5506836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给景区和内部管理者用 · 直接用小Q 的 AI 能力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01364" y="1843659"/>
            <a:ext cx="2838297" cy="4213098"/>
          </a:xfrm>
          <a:prstGeom prst="roundRect">
            <a:avLst>
              <a:gd name="adj" fmla="val 1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90061" y="1932355"/>
            <a:ext cx="2660904" cy="4035704"/>
          </a:xfrm>
          <a:prstGeom prst="roundRect">
            <a:avLst>
              <a:gd name="adj" fmla="val 8333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21378" y="1958963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090061" y="2154097"/>
            <a:ext cx="2660904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3106" y="2225055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673" y="2322621"/>
            <a:ext cx="195132" cy="19513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10939" y="2198445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 · 示意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10939" y="2446797"/>
            <a:ext cx="195132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● 在线</a:t>
            </a:r>
            <a:endParaRPr sz="85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626862" y="2863672"/>
            <a:ext cx="1991057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明天上午去，几点开园？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8223106" y="3307156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明天 8:00 开园。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刷身份证或人脸就能入园，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不用换票。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073117" y="410542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帮我买两张成人票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223106" y="4548911"/>
            <a:ext cx="2014857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已选好明天成人票 2 张，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点这里去支付 →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223106" y="5480226"/>
            <a:ext cx="239481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0500" y="5480226"/>
            <a:ext cx="17739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有问题尽管问我…</a:t>
            </a:r>
            <a:endParaRPr sz="900" b="0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10307481" y="5506836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700" y="5560053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我们凭什么能做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系统在现场、数据在手里、客户在用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别人只能做“通用聊天”，我们能做“帮景区和游客办事”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27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3547872" cy="3680917"/>
          </a:xfrm>
          <a:prstGeom prst="roundRect">
            <a:avLst>
              <a:gd name="adj" fmla="val 3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194566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xe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408" y="206761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1927920"/>
            <a:ext cx="266090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产品积累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92589" y="2211750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多条产品线，系统装在景区现场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71711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ticket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48" y="2814888"/>
            <a:ext cx="248351" cy="2483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812602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ferris-whee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039" y="2814888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238347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景区业态管理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171711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ctivity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48" y="3488984"/>
            <a:ext cx="248351" cy="24835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景区运营管理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812602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alle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039" y="3488984"/>
            <a:ext cx="248351" cy="24835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238347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景区财务管理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1171711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monitor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4163080"/>
            <a:ext cx="248351" cy="24835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景区智慧终端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812602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rain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039" y="4163080"/>
            <a:ext cx="248351" cy="248351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238347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数字大脑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171711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martphon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148" y="4837175"/>
            <a:ext cx="248351" cy="24835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812602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egaphon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9039" y="4837175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238347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719584" y="1786006"/>
            <a:ext cx="3547872" cy="3680917"/>
          </a:xfrm>
          <a:prstGeom prst="roundRect">
            <a:avLst>
              <a:gd name="adj" fmla="val 3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14717" y="194566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ba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6675" y="2067618"/>
            <a:ext cx="243916" cy="24391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517855" y="1927920"/>
            <a:ext cx="266090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数据在手里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17855" y="2211750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办事要用的数据，都在我们系统里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896977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receipt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3413" y="2814888"/>
            <a:ext cx="248351" cy="24835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322722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交易与客流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537868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tag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4304" y="2814888"/>
            <a:ext cx="248351" cy="248351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963613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售票与分销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4896977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erris-whee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413" y="3488984"/>
            <a:ext cx="248351" cy="248351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322722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九大业态系统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537868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calendar-check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4304" y="3488984"/>
            <a:ext cx="248351" cy="248351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963613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年卡与预约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896977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file-text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3413" y="4163080"/>
            <a:ext cx="248351" cy="24835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322722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订单与结算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6537868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users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4304" y="4163080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963613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会员与营销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896977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scan-face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03413" y="4837175"/>
            <a:ext cx="248351" cy="248351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322722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闸机与物联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537868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badge-check_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4304" y="4837175"/>
            <a:ext cx="248351" cy="24835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963613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认证指标与标签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8444849" y="1786006"/>
            <a:ext cx="2448031" cy="3680917"/>
          </a:xfrm>
          <a:prstGeom prst="roundRect">
            <a:avLst>
              <a:gd name="adj" fmla="val 507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639982" y="1945660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handshake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55288" y="2060966"/>
            <a:ext cx="257220" cy="2572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243120" y="1927920"/>
            <a:ext cx="156106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客户在用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243120" y="2211750"/>
            <a:ext cx="15610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大量景区已用我们的票务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622243" y="2655234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99636" y="2726192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接口现成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799636" y="3054370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系统已对接，基本零开发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8622243" y="3542202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99636" y="3613160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信任已有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799636" y="3941338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老客户，成交最快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8622243" y="4429170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99636" y="4500128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入口现成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799636" y="4828306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小程序、公众号、APP、终端都在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994318" y="5626577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shield-check_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9451" y="5737448"/>
            <a:ext cx="266090" cy="26609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570847" y="5626577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结论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别人做通用聊天，我们做“能办事”的智能体 —— 这是我们的护城河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游客端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覆盖游前、游中、游后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实心为已有，空心为基于现有系统和数据可以扩展的 —— 都要做，只是先后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28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1260408" y="2180706"/>
            <a:ext cx="9366382" cy="0"/>
          </a:xfrm>
          <a:prstGeom prst="line">
            <a:avLst/>
          </a:prstGeom>
          <a:ln w="381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301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930" y="2038791"/>
            <a:ext cx="283829" cy="28382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4824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游前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56129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想去 · 了解 · 买票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650799"/>
            <a:ext cx="2882646" cy="2971342"/>
          </a:xfrm>
          <a:prstGeom prst="roundRect">
            <a:avLst>
              <a:gd name="adj" fmla="val 369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171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7171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景区咨询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03699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行程规划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7171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购票预约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03699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门票候补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71711" y="3732900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171711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006447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智能助手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171711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旅游规划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198869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智能购票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171711" y="4770653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预约与候补提醒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143053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68" y="2038791"/>
            <a:ext cx="283829" cy="28382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80828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游中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62133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 · 游玩 · 消费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054358" y="2650799"/>
            <a:ext cx="3955877" cy="2971342"/>
          </a:xfrm>
          <a:prstGeom prst="roundRect">
            <a:avLst>
              <a:gd name="adj" fmla="val 358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3175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23175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入园核验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09703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导览讲解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962324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陪伴互动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827610" y="3049935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无障碍服务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23175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乐园项目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09703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演出观看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962324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游船乘坐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827610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餐饮购物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23175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停车租赁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097038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酒店温泉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3175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231751" y="4344908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智能导览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066487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伴游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822627" y="4344908"/>
            <a:ext cx="501629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386344" y="4344908"/>
            <a:ext cx="1450192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乐园排队与项目推荐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423175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演出选座推荐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33750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餐饮二消推荐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443258" y="4708565"/>
            <a:ext cx="772647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停车引导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231751" y="5072222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自助机语音购票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7632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240" y="2038791"/>
            <a:ext cx="283829" cy="28382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941551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游后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754605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回味 · 分享 · 再来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187629" y="2650799"/>
            <a:ext cx="2705252" cy="2971342"/>
          </a:xfrm>
          <a:prstGeom prst="roundRect">
            <a:avLst>
              <a:gd name="adj" fmla="val 39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502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836502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拍照留念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230309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游记分享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36502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点评反馈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230309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年卡复游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836502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积分权益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36502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8365021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旅拍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9121162" y="4344908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游记与行程总结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36502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点评分享助手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947077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年卡服务助手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994318" y="5755187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748240" y="5755187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可扩展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68254" y="5755187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实心为已有，空心为基于积累可扩展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景区端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从经营、运营到安全调度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票务、业态、财务、营销、调度的系统都是我们的，扩展有基础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29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art-lin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63" y="1892442"/>
            <a:ext cx="230611" cy="2306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55541" y="1786006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经营分析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24769" y="178600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经营问数 · 经营洞察 · 日报周报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53493" y="1874702"/>
            <a:ext cx="862822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智能问数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369534" y="1874702"/>
            <a:ext cx="862822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智能洞察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85575" y="1874702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经营日报周报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273066" y="1874702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报表解读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94318" y="2282708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2389144"/>
            <a:ext cx="230611" cy="23061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55541" y="2282708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票务运营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24769" y="2282708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定价库存 · 分销渠道 · 团队报名 · 检票核销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453493" y="2371404"/>
            <a:ext cx="114615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AI 运营助手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652871" y="2371404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分销渠道助手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640362" y="2371404"/>
            <a:ext cx="105746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旅行社报团助手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751043" y="2371404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检票异常解释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738534" y="2371404"/>
            <a:ext cx="105746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窗口售票员助手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2779410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885846"/>
            <a:ext cx="230611" cy="23061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55541" y="2779410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业态运营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324769" y="2779410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 · 演出 · 游船 · 酒店 · 温泉 · 餐饮 · 停车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453493" y="2868107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业态经营助手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94318" y="3276112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ell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382548"/>
            <a:ext cx="230611" cy="23061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455541" y="3276112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运营服务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24769" y="327611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 · 分时预约 · 候补 · 免证 · 一卡通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453493" y="3364809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消息通知预警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440984" y="3364809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工单调度处置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3772814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calculator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3879250"/>
            <a:ext cx="230611" cy="23061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455541" y="3772814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24769" y="3772814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 · 发票 · 报表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4453493" y="3861511"/>
            <a:ext cx="86282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对账助手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369534" y="3861511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发票助手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94318" y="4269516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megaphon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4375952"/>
            <a:ext cx="230611" cy="23061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455541" y="4269516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324769" y="426951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 · 人群 · 全民营销 · 活动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4453493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会员画像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194604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人群圈选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935715" y="4358213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营销文案生成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6923206" y="4358213"/>
            <a:ext cx="81108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推广员助手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787507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活动复盘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94318" y="4766218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iren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363" y="4872654"/>
            <a:ext cx="230611" cy="230611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455541" y="4766218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安全调度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324769" y="4766218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客流秩序 · 车船调度 · 防火生态 · 气象设施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4453493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旅游安全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194604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秩序治理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935715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车辆调度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676826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游船调度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417937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森林防火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8159048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生态监测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900160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气象服务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9641270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设施监测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994318" y="5262920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cpu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363" y="5369356"/>
            <a:ext cx="230611" cy="23061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455541" y="5262920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设备终端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324769" y="5262920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· 自助机 · 窗口 · 边云网关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4453493" y="5351617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设备运维诊断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994318" y="5866058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748240" y="5866058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可扩展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768254" y="5866058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安全调度即“景区 AI 调度中枢”；实心为已有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建设思路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围绕三个目标，走一条建设流程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先用成熟平台把事做成、把钱赚到，再快速铺开，最后建成自己的平台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30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6983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98878"/>
            <a:ext cx="266090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建设目标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targe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756" y="2646365"/>
            <a:ext cx="266090" cy="2660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36938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跑通商业模式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36938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能卖、能赚钱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367753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5147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o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92" y="2646365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10373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快速占领市场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210373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铺得快、交付快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741188" y="2380274"/>
            <a:ext cx="3151692" cy="842619"/>
          </a:xfrm>
          <a:prstGeom prst="roundRect">
            <a:avLst>
              <a:gd name="adj" fmla="val 1263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18581" y="2513319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uilding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626" y="264636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83807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建成自己的平台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83807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更省钱、更可控、有壁垒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3515593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6233" y="3444636"/>
            <a:ext cx="443484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建设流程：一条线走下来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9431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选场景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210081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251595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借成熟平台搭建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335808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50887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标杆试点验证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ight Arrow 67"/>
          <p:cNvSpPr/>
          <p:nvPr/>
        </p:nvSpPr>
        <p:spPr>
          <a:xfrm>
            <a:off x="4615364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66149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定价与交付定型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ight Arrow 69"/>
          <p:cNvSpPr/>
          <p:nvPr/>
        </p:nvSpPr>
        <p:spPr>
          <a:xfrm>
            <a:off x="587264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23427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按业态标准化复制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ight Arrow 71"/>
          <p:cNvSpPr/>
          <p:nvPr/>
        </p:nvSpPr>
        <p:spPr>
          <a:xfrm>
            <a:off x="712991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80704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沉淀知识、接口、数据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ight Arrow 73"/>
          <p:cNvSpPr/>
          <p:nvPr/>
        </p:nvSpPr>
        <p:spPr>
          <a:xfrm>
            <a:off x="8387196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53798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时机成熟自建平台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ight Arrow 75"/>
          <p:cNvSpPr/>
          <p:nvPr/>
        </p:nvSpPr>
        <p:spPr>
          <a:xfrm>
            <a:off x="9644473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79525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0" rIns="35478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平稳迁移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94318" y="4642043"/>
            <a:ext cx="4869453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318" y="4713000"/>
            <a:ext cx="486945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为了跑通商业模式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23427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23427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为了快速占领市场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537981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37981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为了建成自己的平台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94318" y="4996830"/>
            <a:ext cx="98985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起步依托 Coze · 火山方舟 · 羚羊小Q；自建时以数字大脑作为智能体管理台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94318" y="535161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16060" y="5351617"/>
            <a:ext cx="141914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贯穿始终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2502164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借平台，不交资产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976502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数据从第一天回流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5450840" y="5493532"/>
            <a:ext cx="109688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守住安全底线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6654159" y="5493532"/>
            <a:ext cx="1465467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培养自己的 AI 团队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226064" y="5493532"/>
            <a:ext cx="177442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用成本数据判断自建时机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跑通商业模式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先回答“能不能卖、能不能赚钱”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五个问题要用真实的景区、真实的钱来回答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31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grpSp>
        <p:nvGrpSpPr>
          <p:cNvPr id="21000" name="素材 31"/>
          <p:cNvGrpSpPr/>
          <p:nvPr/>
        </p:nvGrpSpPr>
        <p:grpSpPr>
          <a:xfrm>
            <a:off x="994318" y="2114184"/>
            <a:ext cx="6474866" cy="2683020"/>
            <a:chOff x="1728589" y="2236993"/>
            <a:chExt cx="7979490" cy="3306499"/>
          </a:xfrm>
        </p:grpSpPr>
        <p:grpSp>
          <p:nvGrpSpPr>
            <p:cNvPr id="210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0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0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0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0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0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0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2CAB93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21816F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8FD3C6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BBFAE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E39A57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</p:grpSp>
      <p:pic>
        <p:nvPicPr>
          <p:cNvPr id="21021" name="Picture 21020" descr="user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380" y="2426945"/>
            <a:ext cx="390265" cy="390265"/>
          </a:xfrm>
          <a:prstGeom prst="rect">
            <a:avLst/>
          </a:prstGeom>
        </p:spPr>
      </p:pic>
      <p:sp>
        <p:nvSpPr>
          <p:cNvPr id="21022" name="TextBox 21021"/>
          <p:cNvSpPr txBox="1"/>
          <p:nvPr/>
        </p:nvSpPr>
        <p:spPr>
          <a:xfrm>
            <a:off x="982242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卖给谁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3" name="TextBox 21022"/>
          <p:cNvSpPr txBox="1"/>
          <p:nvPr/>
        </p:nvSpPr>
        <p:spPr>
          <a:xfrm>
            <a:off x="804848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哪类景区最需要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4" name="Picture 21023" descr="box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646" y="3139246"/>
            <a:ext cx="390265" cy="390265"/>
          </a:xfrm>
          <a:prstGeom prst="rect">
            <a:avLst/>
          </a:prstGeom>
        </p:spPr>
      </p:pic>
      <p:sp>
        <p:nvSpPr>
          <p:cNvPr id="21025" name="TextBox 21024"/>
          <p:cNvSpPr txBox="1"/>
          <p:nvPr/>
        </p:nvSpPr>
        <p:spPr>
          <a:xfrm>
            <a:off x="2206508" y="3582730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卖什么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6" name="TextBox 21025"/>
          <p:cNvSpPr txBox="1"/>
          <p:nvPr/>
        </p:nvSpPr>
        <p:spPr>
          <a:xfrm>
            <a:off x="2029114" y="4848615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哪些组合景区最认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7" name="Picture 21026" descr="coin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912" y="2426945"/>
            <a:ext cx="390265" cy="390265"/>
          </a:xfrm>
          <a:prstGeom prst="rect">
            <a:avLst/>
          </a:prstGeom>
        </p:spPr>
      </p:pic>
      <p:sp>
        <p:nvSpPr>
          <p:cNvPr id="21028" name="TextBox 21027"/>
          <p:cNvSpPr txBox="1"/>
          <p:nvPr/>
        </p:nvSpPr>
        <p:spPr>
          <a:xfrm>
            <a:off x="3430774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怎么收钱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9" name="TextBox 21028"/>
          <p:cNvSpPr txBox="1"/>
          <p:nvPr/>
        </p:nvSpPr>
        <p:spPr>
          <a:xfrm>
            <a:off x="3253380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四种方式选哪种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0" name="Picture 21029" descr="calculat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599" y="3139246"/>
            <a:ext cx="390265" cy="390265"/>
          </a:xfrm>
          <a:prstGeom prst="rect">
            <a:avLst/>
          </a:prstGeom>
        </p:spPr>
      </p:pic>
      <p:sp>
        <p:nvSpPr>
          <p:cNvPr id="21031" name="TextBox 21030"/>
          <p:cNvSpPr txBox="1"/>
          <p:nvPr/>
        </p:nvSpPr>
        <p:spPr>
          <a:xfrm>
            <a:off x="4662460" y="3582730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花多少钱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2" name="TextBox 21031"/>
          <p:cNvSpPr txBox="1"/>
          <p:nvPr/>
        </p:nvSpPr>
        <p:spPr>
          <a:xfrm>
            <a:off x="4485067" y="4848615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平台费 + 交付 + 运营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3" name="Picture 21032" descr="thumbs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154" y="2426945"/>
            <a:ext cx="390265" cy="390265"/>
          </a:xfrm>
          <a:prstGeom prst="rect">
            <a:avLst/>
          </a:prstGeom>
        </p:spPr>
      </p:pic>
      <p:sp>
        <p:nvSpPr>
          <p:cNvPr id="21034" name="TextBox 21033"/>
          <p:cNvSpPr txBox="1"/>
          <p:nvPr/>
        </p:nvSpPr>
        <p:spPr>
          <a:xfrm>
            <a:off x="5883016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值不值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5" name="TextBox 21034"/>
          <p:cNvSpPr txBox="1"/>
          <p:nvPr/>
        </p:nvSpPr>
        <p:spPr>
          <a:xfrm>
            <a:off x="5705623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省人、多卖、更满意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6" name="Rounded Rectangle 21035"/>
          <p:cNvSpPr/>
          <p:nvPr/>
        </p:nvSpPr>
        <p:spPr>
          <a:xfrm>
            <a:off x="7983626" y="1998878"/>
            <a:ext cx="2909255" cy="3902659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7" name="Rounded Rectangle 21036"/>
          <p:cNvSpPr/>
          <p:nvPr/>
        </p:nvSpPr>
        <p:spPr>
          <a:xfrm>
            <a:off x="7983626" y="1998878"/>
            <a:ext cx="2909255" cy="549920"/>
          </a:xfrm>
          <a:prstGeom prst="roundRect">
            <a:avLst>
              <a:gd name="adj" fmla="val 2258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Rounded Rectangle 21037"/>
          <p:cNvSpPr/>
          <p:nvPr/>
        </p:nvSpPr>
        <p:spPr>
          <a:xfrm>
            <a:off x="7983626" y="2335926"/>
            <a:ext cx="2909255" cy="21287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39" name="Picture 21038" descr="calculat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19" y="2114184"/>
            <a:ext cx="301569" cy="301569"/>
          </a:xfrm>
          <a:prstGeom prst="rect">
            <a:avLst/>
          </a:prstGeom>
        </p:spPr>
      </p:pic>
      <p:sp>
        <p:nvSpPr>
          <p:cNvPr id="21040" name="TextBox 21039"/>
          <p:cNvSpPr txBox="1"/>
          <p:nvPr/>
        </p:nvSpPr>
        <p:spPr>
          <a:xfrm>
            <a:off x="8560155" y="1998878"/>
            <a:ext cx="2288377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单个景区算一笔账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1" name="TextBox 21040"/>
          <p:cNvSpPr txBox="1"/>
          <p:nvPr/>
        </p:nvSpPr>
        <p:spPr>
          <a:xfrm>
            <a:off x="8205368" y="2735061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endParaRPr sz="17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2" name="TextBox 21041"/>
          <p:cNvSpPr txBox="1"/>
          <p:nvPr/>
        </p:nvSpPr>
        <p:spPr>
          <a:xfrm>
            <a:off x="8604503" y="2735061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一年收入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21043" name="Connector 21042"/>
          <p:cNvCxnSpPr/>
          <p:nvPr/>
        </p:nvCxnSpPr>
        <p:spPr>
          <a:xfrm>
            <a:off x="8205368" y="3231763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4" name="TextBox 21043"/>
          <p:cNvSpPr txBox="1"/>
          <p:nvPr/>
        </p:nvSpPr>
        <p:spPr>
          <a:xfrm>
            <a:off x="8205368" y="328498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−</a:t>
            </a:r>
            <a:endParaRPr sz="17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5" name="TextBox 21044"/>
          <p:cNvSpPr txBox="1"/>
          <p:nvPr/>
        </p:nvSpPr>
        <p:spPr>
          <a:xfrm>
            <a:off x="8604503" y="328498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平台调用费</a:t>
            </a:r>
            <a:endParaRPr sz="13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21046" name="Connector 21045"/>
          <p:cNvCxnSpPr/>
          <p:nvPr/>
        </p:nvCxnSpPr>
        <p:spPr>
          <a:xfrm>
            <a:off x="8205368" y="378168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7" name="TextBox 21046"/>
          <p:cNvSpPr txBox="1"/>
          <p:nvPr/>
        </p:nvSpPr>
        <p:spPr>
          <a:xfrm>
            <a:off x="8205368" y="383490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−</a:t>
            </a:r>
            <a:endParaRPr sz="17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8" name="TextBox 21047"/>
          <p:cNvSpPr txBox="1"/>
          <p:nvPr/>
        </p:nvSpPr>
        <p:spPr>
          <a:xfrm>
            <a:off x="8604503" y="383490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交付成本（摊销）</a:t>
            </a:r>
            <a:endParaRPr sz="13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21049" name="Connector 21048"/>
          <p:cNvCxnSpPr/>
          <p:nvPr/>
        </p:nvCxnSpPr>
        <p:spPr>
          <a:xfrm>
            <a:off x="8205368" y="433160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0" name="TextBox 21049"/>
          <p:cNvSpPr txBox="1"/>
          <p:nvPr/>
        </p:nvSpPr>
        <p:spPr>
          <a:xfrm>
            <a:off x="8205368" y="438482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−</a:t>
            </a:r>
            <a:endParaRPr sz="17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1" name="TextBox 21050"/>
          <p:cNvSpPr txBox="1"/>
          <p:nvPr/>
        </p:nvSpPr>
        <p:spPr>
          <a:xfrm>
            <a:off x="8604503" y="438482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运营支持</a:t>
            </a:r>
            <a:endParaRPr sz="13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21052" name="Connector 21051"/>
          <p:cNvCxnSpPr/>
          <p:nvPr/>
        </p:nvCxnSpPr>
        <p:spPr>
          <a:xfrm>
            <a:off x="8205368" y="488152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3" name="Rounded Rectangle 21052"/>
          <p:cNvSpPr/>
          <p:nvPr/>
        </p:nvSpPr>
        <p:spPr>
          <a:xfrm>
            <a:off x="8161019" y="4996830"/>
            <a:ext cx="2554467" cy="709574"/>
          </a:xfrm>
          <a:prstGeom prst="roundRect">
            <a:avLst>
              <a:gd name="adj" fmla="val 125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＞ 0</a:t>
            </a:r>
            <a:r>
              <a:rPr sz="1250" b="0">
                <a:solidFill>
                  <a:srgbClr val="FCE6D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　才算能赚钱</a:t>
            </a:r>
            <a:endParaRPr sz="1250" b="0">
              <a:solidFill>
                <a:srgbClr val="FCE6D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93912" y="104775"/>
            <a:ext cx="4003869" cy="562935"/>
            <a:chOff x="1778000" y="2361285"/>
            <a:chExt cx="400386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0386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10685" cy="461665"/>
              <a:chOff x="1249621" y="2030985"/>
              <a:chExt cx="291068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19456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怎么收钱、景区认什么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先试两种收费，用数据证明价值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验证期同时试“随票务打包”和“年费订阅”，看哪种成交快、续费稳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32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EFF8F6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04597" y="1967834"/>
            <a:ext cx="816010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建议先试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71711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随票务打包</a:t>
            </a:r>
            <a:endParaRPr sz="15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71711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作为票务增值模块，提高票务年费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1711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适合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已用我们票务的景区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1711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要验证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71711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能否提升续约率和客单价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513307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EFF8F6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923586" y="1967834"/>
            <a:ext cx="816010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建议先试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90701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年费订阅</a:t>
            </a:r>
            <a:endParaRPr sz="15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690701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按景区规模或智能体数量分档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690701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适合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90701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新客户、单独采购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690701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要验证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90701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景区能接受的价位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032296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9690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按效果分成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09690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 AI 带来的购票、二消收入分成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09690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适合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09690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购票、营销类智能体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09690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要验证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09690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增量能否算清楚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551285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28679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按用量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728679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按对话量或调用量计费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728679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适合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728679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大客流景区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728679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要验证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728679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能否接受账单波动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94318" y="4406996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36233" y="4336039"/>
            <a:ext cx="532180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景区认的价值，要用数据证明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94318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5397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user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973" y="4970221"/>
            <a:ext cx="204002" cy="20400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659544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少用人工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15397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智能体解决咨询的比例、省下的客服人力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513307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7296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ti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963" y="4970221"/>
            <a:ext cx="204002" cy="20400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178533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多卖票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67296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智能体带来的线上购票、二消订单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6032296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19195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thumbs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952" y="4970221"/>
            <a:ext cx="204002" cy="20400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697522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游客更满意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9195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满意度、差评率、排队与等待减少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551285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710940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41" y="4970221"/>
            <a:ext cx="204002" cy="204002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216511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管理更省心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710940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报表、对账、预警的人工时间减少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1610205" cy="461665"/>
              <a:chOff x="1249621" y="2030985"/>
              <a:chExt cx="161020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894080" cy="306705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验证模式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怎么验证、怎样算跑通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挑标杆、快速搭、跑一个旺季、让数据说话；五条都满足才转入规模复制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33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Pentagon 43"/>
          <p:cNvSpPr/>
          <p:nvPr/>
        </p:nvSpPr>
        <p:spPr>
          <a:xfrm>
            <a:off x="994318" y="2048256"/>
            <a:ext cx="2674208" cy="514441"/>
          </a:xfrm>
          <a:prstGeom prst="homePlate">
            <a:avLst>
              <a:gd name="adj" fmla="val 35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lag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08" y="2163561"/>
            <a:ext cx="283829" cy="2838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32935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挑标杆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38666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已用我们票务的景区，覆盖主要业态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Chevron 47"/>
          <p:cNvSpPr/>
          <p:nvPr/>
        </p:nvSpPr>
        <p:spPr>
          <a:xfrm>
            <a:off x="3402436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5B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ro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920" y="2163561"/>
            <a:ext cx="283829" cy="2838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218447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快速搭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712875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平台上搭好现有智能体，加高价值新场景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Chevron 51"/>
          <p:cNvSpPr/>
          <p:nvPr/>
        </p:nvSpPr>
        <p:spPr>
          <a:xfrm>
            <a:off x="5810554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u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038" y="2163561"/>
            <a:ext cx="283829" cy="2838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26565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跑一个旺季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20993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节假日最能检验效果和成本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Chevron 55"/>
          <p:cNvSpPr/>
          <p:nvPr/>
        </p:nvSpPr>
        <p:spPr>
          <a:xfrm>
            <a:off x="8218672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refresh-c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56" y="2163561"/>
            <a:ext cx="283829" cy="28382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034683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数据回流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29111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对话、评价、订单第一天就进数据平台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298880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36233" y="3227923"/>
            <a:ext cx="443484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怎样算跑通：五条判断标准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3627059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3015" y="3671407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3015" y="3671407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82150" y="3627059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用起来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457815" y="3627059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持续在用，问题解决率达标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7" name="Picture 66" descr="circle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61" y="3698016"/>
            <a:ext cx="230611" cy="230611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94318" y="4070543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83015" y="4114891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83015" y="4114891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482150" y="4070543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有价值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57815" y="4070543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景区认可的指标有提升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3" name="Picture 72" descr="circle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61" y="4141500"/>
            <a:ext cx="230611" cy="230611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994318" y="4514027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3015" y="4558375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3015" y="4558375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482150" y="4514027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愿付费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457815" y="4514027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按拟定价格付费或明确续费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9" name="Picture 78" descr="circle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61" y="4584984"/>
            <a:ext cx="230611" cy="230611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994318" y="4957511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83015" y="5001859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83015" y="5001859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482150" y="4957511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能赚钱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457815" y="4957511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单景区收入覆盖成本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61" y="5028468"/>
            <a:ext cx="230611" cy="230611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994318" y="5400995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3015" y="5445343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3015" y="5445343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482150" y="5400995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可复制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457815" y="5400995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按标准流程就能上线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91" name="Picture 90" descr="circle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961" y="5471952"/>
            <a:ext cx="230611" cy="230611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7646578" y="3627059"/>
            <a:ext cx="3246302" cy="993404"/>
          </a:xfrm>
          <a:prstGeom prst="roundRect">
            <a:avLst>
              <a:gd name="adj" fmla="val 1071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23972" y="3671407"/>
            <a:ext cx="298021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五条都满足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823972" y="4026194"/>
            <a:ext cx="2980212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模板、定价、交付流程定型，转入规模复制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646578" y="4709160"/>
            <a:ext cx="3246302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23972" y="4753508"/>
            <a:ext cx="29802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没过关</a:t>
            </a:r>
            <a:endParaRPr sz="13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823972" y="5090556"/>
            <a:ext cx="2980212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调整场景组合或定价，再验一轮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还不行的场景停掉，不硬推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1432405" cy="461665"/>
              <a:chOff x="1249621" y="2030985"/>
              <a:chExt cx="143240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716280" cy="306705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  <a:sym typeface="+mn-ea"/>
                  </a:rPr>
                  <a:t>占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市场</a:t>
                </a:r>
                <a:endParaRPr lang="zh-CN" altLang="en-US" sz="1400" b="1" dirty="0">
                  <a:solidFill>
                    <a:schemeClr val="bg1"/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先打老客户，再按业态复制，用 AI 撬新客户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从最容易成交的客户开始，用标杆案例带动同类景区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34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07748"/>
            <a:ext cx="3181258" cy="2084374"/>
          </a:xfrm>
          <a:prstGeom prst="roundRect">
            <a:avLst>
              <a:gd name="adj" fmla="val 59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67402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hou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756" y="2282708"/>
            <a:ext cx="257220" cy="25722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3421654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最先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89451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已用我们票务的景区</a:t>
            </a:r>
            <a:endParaRPr sz="15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89451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打法</a:t>
            </a:r>
            <a:endParaRPr sz="90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89451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随票务续约推，开通即用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89451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</a:t>
            </a:r>
            <a:endParaRPr sz="90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89451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系统已对接，基本零开发；信任已有，成交最快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352970" y="2007748"/>
            <a:ext cx="3181258" cy="2084374"/>
          </a:xfrm>
          <a:prstGeom prst="roundRect">
            <a:avLst>
              <a:gd name="adj" fmla="val 59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48103" y="2167402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cop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061" y="2289360"/>
            <a:ext cx="243916" cy="243916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780306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其次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48103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同业态景区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48103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打法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48103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用标杆案例按业态复制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48103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48103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场景相同，模板直接复用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711622" y="2007748"/>
            <a:ext cx="3181258" cy="2084374"/>
          </a:xfrm>
          <a:prstGeom prst="roundRect">
            <a:avLst>
              <a:gd name="adj" fmla="val 59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06755" y="2167402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user-plu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713" y="2289360"/>
            <a:ext cx="243916" cy="24391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10138958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同步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906755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新客户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906755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打法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906755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智能体做差异化卖点，带动票务签约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906755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</a:t>
            </a:r>
            <a:endParaRPr sz="9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906755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 AI 撬动新客户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4367082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36233" y="4296125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业态先后：客流大、咨询多、线上购票比例高的先做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94318" y="4695261"/>
            <a:ext cx="798271" cy="1197406"/>
          </a:xfrm>
          <a:prstGeom prst="roundRect">
            <a:avLst>
              <a:gd name="adj" fmla="val 1111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第一批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881286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mountain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290" y="4828306"/>
            <a:ext cx="390265" cy="39026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881286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山岳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3176259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265" y="4828306"/>
            <a:ext cx="390265" cy="39026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176259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主题乐园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471233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andmark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238" y="4828306"/>
            <a:ext cx="390265" cy="39026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471233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古镇街区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ight Arrow 82"/>
          <p:cNvSpPr/>
          <p:nvPr/>
        </p:nvSpPr>
        <p:spPr>
          <a:xfrm>
            <a:off x="5810554" y="5183093"/>
            <a:ext cx="266090" cy="230611"/>
          </a:xfrm>
          <a:prstGeom prst="right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09690" y="4695261"/>
            <a:ext cx="798271" cy="1197406"/>
          </a:xfrm>
          <a:prstGeom prst="roundRect">
            <a:avLst>
              <a:gd name="adj" fmla="val 1111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第二批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96658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book-open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4662" y="4828306"/>
            <a:ext cx="390265" cy="390265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7096658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博物馆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8391631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waves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9636" y="4828306"/>
            <a:ext cx="390265" cy="39026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391631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温泉度假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686604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ship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4609" y="4828306"/>
            <a:ext cx="390265" cy="390265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686604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游船演出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怎么复制得快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六步上线，差异全部做成配置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实施人员和渠道伙伴按手册就能独立交付，不占核心研发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35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grpSp>
        <p:nvGrpSpPr>
          <p:cNvPr id="21000" name="素材 24"/>
          <p:cNvGrpSpPr/>
          <p:nvPr/>
        </p:nvGrpSpPr>
        <p:grpSpPr>
          <a:xfrm>
            <a:off x="994318" y="2504655"/>
            <a:ext cx="6740956" cy="1976135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1816F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BBFAE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2CAB93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21816F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8FD3C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2CAB93"/>
                  </a:solidFill>
                  <a:latin typeface="Microsoft YaHei" panose="020B0503020204020204" pitchFamily="2" charset="-122"/>
                </a:rPr>
                <a:t>步骤 01</a:t>
              </a:r>
              <a:endParaRPr lang="en-US" sz="1750" b="1" dirty="0">
                <a:solidFill>
                  <a:srgbClr val="2CAB93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21816F"/>
                  </a:solidFill>
                  <a:latin typeface="Microsoft YaHei" panose="020B0503020204020204" pitchFamily="2" charset="-122"/>
                </a:rPr>
                <a:t>步骤 03</a:t>
              </a:r>
              <a:endParaRPr lang="en-US" sz="1350" dirty="0">
                <a:solidFill>
                  <a:srgbClr val="21816F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8FD3C6"/>
                  </a:solidFill>
                  <a:latin typeface="Microsoft YaHei" panose="020B0503020204020204" pitchFamily="2" charset="-122"/>
                </a:rPr>
                <a:t>步骤 05</a:t>
              </a:r>
              <a:endParaRPr lang="en-US" sz="1350" dirty="0">
                <a:solidFill>
                  <a:srgbClr val="8FD3C6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02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04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06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629" y="2847205"/>
            <a:ext cx="354787" cy="354787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466054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签约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1" name="TextBox 21020"/>
          <p:cNvSpPr txBox="1"/>
          <p:nvPr/>
        </p:nvSpPr>
        <p:spPr>
          <a:xfrm>
            <a:off x="1466054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随续约或新签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03" y="3788455"/>
            <a:ext cx="354787" cy="354787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268329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选模板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4" name="TextBox 21023"/>
          <p:cNvSpPr txBox="1"/>
          <p:nvPr/>
        </p:nvSpPr>
        <p:spPr>
          <a:xfrm>
            <a:off x="2268329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已验证的业态模板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36" y="2847205"/>
            <a:ext cx="354787" cy="354787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307376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配知识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7" name="TextBox 21026"/>
          <p:cNvSpPr txBox="1"/>
          <p:nvPr/>
        </p:nvSpPr>
        <p:spPr>
          <a:xfrm>
            <a:off x="307376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统一采集表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609" y="3788455"/>
            <a:ext cx="354787" cy="354787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76035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绑入口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0" name="TextBox 21029"/>
          <p:cNvSpPr txBox="1"/>
          <p:nvPr/>
        </p:nvSpPr>
        <p:spPr>
          <a:xfrm>
            <a:off x="3876035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 · 终端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725" y="2847205"/>
            <a:ext cx="354787" cy="354787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67515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测试验收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3" name="TextBox 21032"/>
          <p:cNvSpPr txBox="1"/>
          <p:nvPr/>
        </p:nvSpPr>
        <p:spPr>
          <a:xfrm>
            <a:off x="467515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统一测试清单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316" y="3788455"/>
            <a:ext cx="354787" cy="354787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483742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上线运营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6" name="TextBox 21035"/>
          <p:cNvSpPr txBox="1"/>
          <p:nvPr/>
        </p:nvSpPr>
        <p:spPr>
          <a:xfrm>
            <a:off x="5483742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持续出效果报告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7" name="Rounded Rectangle 21036"/>
          <p:cNvSpPr/>
          <p:nvPr/>
        </p:nvSpPr>
        <p:spPr>
          <a:xfrm>
            <a:off x="7957017" y="2034562"/>
            <a:ext cx="2935864" cy="3947007"/>
          </a:xfrm>
          <a:prstGeom prst="roundRect">
            <a:avLst>
              <a:gd name="adj" fmla="val 42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8134410" y="2123259"/>
            <a:ext cx="266977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五个环节标准化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9" name="Rounded Rectangle 21038"/>
          <p:cNvSpPr/>
          <p:nvPr/>
        </p:nvSpPr>
        <p:spPr>
          <a:xfrm>
            <a:off x="8116671" y="2549004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240847" y="258448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1" name="TextBox 21040"/>
          <p:cNvSpPr txBox="1"/>
          <p:nvPr/>
        </p:nvSpPr>
        <p:spPr>
          <a:xfrm>
            <a:off x="8240847" y="2832833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按业态出模板，差异做成配置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2" name="Rounded Rectangle 21041"/>
          <p:cNvSpPr/>
          <p:nvPr/>
        </p:nvSpPr>
        <p:spPr>
          <a:xfrm>
            <a:off x="8116671" y="3205360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240847" y="324083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知识采集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4" name="TextBox 21043"/>
          <p:cNvSpPr txBox="1"/>
          <p:nvPr/>
        </p:nvSpPr>
        <p:spPr>
          <a:xfrm>
            <a:off x="8240847" y="3489190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统一采集表，景区填、实施审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5" name="Rounded Rectangle 21044"/>
          <p:cNvSpPr/>
          <p:nvPr/>
        </p:nvSpPr>
        <p:spPr>
          <a:xfrm>
            <a:off x="8116671" y="3861716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240847" y="3897195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系统接入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7" name="TextBox 21046"/>
          <p:cNvSpPr txBox="1"/>
          <p:nvPr/>
        </p:nvSpPr>
        <p:spPr>
          <a:xfrm>
            <a:off x="8240847" y="4145546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老客户接口现成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8" name="Rounded Rectangle 21047"/>
          <p:cNvSpPr/>
          <p:nvPr/>
        </p:nvSpPr>
        <p:spPr>
          <a:xfrm>
            <a:off x="8116671" y="4518073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240847" y="4553551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实施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0" name="TextBox 21049"/>
          <p:cNvSpPr txBox="1"/>
          <p:nvPr/>
        </p:nvSpPr>
        <p:spPr>
          <a:xfrm>
            <a:off x="8240847" y="480190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手册 + 培训，伙伴可独立交付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1" name="Rounded Rectangle 21050"/>
          <p:cNvSpPr/>
          <p:nvPr/>
        </p:nvSpPr>
        <p:spPr>
          <a:xfrm>
            <a:off x="8116671" y="5174429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240847" y="5209908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验收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3" name="TextBox 21052"/>
          <p:cNvSpPr txBox="1"/>
          <p:nvPr/>
        </p:nvSpPr>
        <p:spPr>
          <a:xfrm>
            <a:off x="8240847" y="545825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统一测试清单，跑完即上线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销售与续费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票务团队带单，用效果报告促续费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卖出去只是开始，持续让景区看到效果，才能续费、加购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36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3226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20620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riefca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887" y="2344795"/>
            <a:ext cx="248351" cy="2483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36938" y="2114184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销售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36938" y="2442362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票务销售团队带单，智能体纳入销售考核；区域渠道伙伴代理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3018891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71711" y="3196285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ta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887" y="3320460"/>
            <a:ext cx="248351" cy="24835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836938" y="3089849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案例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36938" y="3418027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每类业态的标杆做成案例，用数据讲效果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994556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1711" y="4171950"/>
            <a:ext cx="496702" cy="496702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heads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87" y="4296125"/>
            <a:ext cx="248351" cy="24835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836938" y="4065513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客户成功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836938" y="4393692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上线后定期出效果报告：解决多少咨询、带来多少订单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4970221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1711" y="5147614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efresh-c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887" y="5271790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36938" y="5041178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36938" y="5369356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模板统一升级，所有景区同步受益，增加粘性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803958" y="2043226"/>
            <a:ext cx="4088922" cy="3813962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03958" y="2043226"/>
            <a:ext cx="4088922" cy="319308"/>
          </a:xfrm>
          <a:prstGeom prst="roundRect">
            <a:avLst>
              <a:gd name="adj" fmla="val 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37004" y="2149662"/>
            <a:ext cx="106436" cy="106436"/>
          </a:xfrm>
          <a:prstGeom prst="ellipse">
            <a:avLst/>
          </a:prstGeom>
          <a:solidFill>
            <a:srgbClr val="E07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14397" y="2149662"/>
            <a:ext cx="106436" cy="106436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291791" y="2149662"/>
            <a:ext cx="106436" cy="106436"/>
          </a:xfrm>
          <a:prstGeom prst="ellipse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7880" y="2043226"/>
            <a:ext cx="320195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AI 效果月报（示意）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25700" y="2468971"/>
            <a:ext cx="373413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××景区 · ××月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981352" y="2912455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14397" y="2965673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解决咨询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114397" y="3196285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×××</a:t>
            </a:r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次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937117" y="2912455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0162" y="2965673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带来订单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070162" y="3196285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×××</a:t>
            </a:r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单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981352" y="3843771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14397" y="3896989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转人工率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114397" y="4127601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</a:t>
            </a:r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%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937117" y="3843771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70162" y="3896989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游客满意度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070162" y="4127601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××</a:t>
            </a:r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分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7114396" y="5307269"/>
            <a:ext cx="230611" cy="310438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486923" y="5174223"/>
            <a:ext cx="230611" cy="443484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859449" y="5245181"/>
            <a:ext cx="230611" cy="372526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231976" y="5067787"/>
            <a:ext cx="230611" cy="54992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604503" y="5129875"/>
            <a:ext cx="230611" cy="4878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977029" y="4979090"/>
            <a:ext cx="230611" cy="638616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64862" y="4996830"/>
            <a:ext cx="1250624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趋势与建议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由系统自动生成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借平台，不交资产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六样东西必须留在自己手里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这是将来自建平台能低成本切过去的前提，从第一天就要做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37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012283" y="2859237"/>
            <a:ext cx="1862632" cy="18626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90541" y="2637495"/>
            <a:ext cx="2306116" cy="2306116"/>
          </a:xfrm>
          <a:prstGeom prst="ellipse">
            <a:avLst/>
          </a:prstGeom>
          <a:noFill/>
          <a:ln w="1587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o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7509" y="3125327"/>
            <a:ext cx="532180" cy="5321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56632" y="3701856"/>
            <a:ext cx="1773936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留在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自己手里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034357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53971" y="21940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book-ope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42" y="2304882"/>
            <a:ext cx="221742" cy="22174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03892" y="2176272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景区知识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71711" y="2672974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按自有结构存一份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71711" y="2903585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直接导入自建平台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4497842" y="2619756"/>
            <a:ext cx="292699" cy="1170797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94318" y="3364809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3971" y="352446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635334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03892" y="3506724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业务接口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71711" y="4003426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售票、订单、核销、会员接口自己封装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71711" y="4234037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平台直接复用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4497842" y="3790553"/>
            <a:ext cx="292699" cy="159654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94318" y="4695261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53971" y="485491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file-tex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42" y="4965786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4837176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模板设计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71711" y="5333878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流程、提示词、配置写成文档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71711" y="5564489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迁入模板库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 flipV="1">
            <a:off x="4497842" y="3790553"/>
            <a:ext cx="292699" cy="1490106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389357" y="2034357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549012" y="21940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essages-squar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883" y="2304882"/>
            <a:ext cx="221742" cy="22174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098932" y="2176272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交互数据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566751" y="2672974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对话、评价、转人工回流数据平台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566751" y="2903585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做测试题、优化效果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 flipH="1">
            <a:off x="7096658" y="2619756"/>
            <a:ext cx="292699" cy="1170797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389357" y="3364809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549012" y="352446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coin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9883" y="3635334"/>
            <a:ext cx="221742" cy="2217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098932" y="3506724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成本数据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566751" y="4003426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按景区、按智能体记录每月平台费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566751" y="4234037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判断何时自建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 flipH="1" flipV="1">
            <a:off x="7096658" y="3790553"/>
            <a:ext cx="292699" cy="159654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389357" y="4695261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549012" y="485491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st-check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9883" y="4965786"/>
            <a:ext cx="221742" cy="22174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098932" y="4837176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需求清单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66751" y="5333878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记录客户要、平台做不了的功能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566751" y="5564489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自建平台的需求来源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7096658" y="3790553"/>
            <a:ext cx="292699" cy="1490106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为什么最终要自建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借平台 vs 自建平台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起步时借平台最划算；规模越大，借平台的问题越突出，自建的好处越明显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38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635209" y="1963399"/>
            <a:ext cx="2572207" cy="425744"/>
          </a:xfrm>
          <a:prstGeom prst="roundRect">
            <a:avLst>
              <a:gd name="adj" fmla="val 16666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借平台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296112" y="1963399"/>
            <a:ext cx="2572207" cy="425744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957017" y="1963399"/>
            <a:ext cx="2891515" cy="425744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对公司的影响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94318" y="2460101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oins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63" y="2610886"/>
            <a:ext cx="248351" cy="24835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82150" y="2460101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成本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768254" y="2460101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按调用、账号计费，随景区数增长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29158" y="2460101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只付模型调用和自身运维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90061" y="2460101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单景区成本下降，规模越大利润越高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4318" y="3045500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timer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3196285"/>
            <a:ext cx="248351" cy="24835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82150" y="3045500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交付周期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68254" y="3045500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每个景区在外部平台单独配置、调试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29158" y="3045500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集团建一次，景区开通即用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90061" y="3045500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省交付人天，上线更快，承接更多景区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3630899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uzzl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3781684"/>
            <a:ext cx="248351" cy="2483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82150" y="3630899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定制能力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68254" y="3630899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个性需求受平台限制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29158" y="3630899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按需自主扩展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090061" y="3630899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能接大客户和个性项目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4216298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databas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4367082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82150" y="4216298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数据资产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768254" y="4216298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工作流、知识、对话数据在外部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429158" y="4216298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全部在自己手里，回流数据平台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90061" y="4216298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越用越准，数据成为资产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4801697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4952481"/>
            <a:ext cx="248351" cy="24835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482150" y="4801697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风险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68254" y="4801697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平台调价、改规则直接影响报价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429158" y="4801697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自主可控，模型可替换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090061" y="4801697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经营稳定，报价有底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94318" y="5387096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crown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5537880"/>
            <a:ext cx="248351" cy="248351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482150" y="5387096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竞争力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68254" y="5387096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同平台谁都能做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29158" y="5387096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 + 数据 + 平台一体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090061" y="5387096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形成壁垒，提高续约和客单价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建自己的平台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什么时候启动？看成本交叉点和五个信号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满足任意两条就启动自建；不提前，也不拖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39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76704"/>
            <a:ext cx="4789627" cy="3947007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060" y="2083140"/>
            <a:ext cx="3547872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总成本随景区数量变化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127363" y="2420188"/>
          <a:ext cx="4523536" cy="3060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60408" y="5524576"/>
            <a:ext cx="42574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景区数量 →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926873" y="3262807"/>
            <a:ext cx="1685239" cy="319308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交叉点 = 该自建了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050036" y="1976704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83081" y="2065400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coin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82" y="2167402"/>
            <a:ext cx="204002" cy="20400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15262" y="1976704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成本交叉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78759" y="1976704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按记录的成本测算，自建总成本已更低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050036" y="2650799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83081" y="2739496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trending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2" y="2841498"/>
            <a:ext cx="204002" cy="20400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715262" y="2650799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平台费占比上升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78759" y="2650799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平台费占智能体收入的比例持续上升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050036" y="3324895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183081" y="3413592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ircl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82" y="3515593"/>
            <a:ext cx="204002" cy="20400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15262" y="3324895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场景稳定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178759" y="3324895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主力模板已稳定，不再频繁大改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050036" y="3998991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83081" y="4087688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ircle-x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82" y="4189689"/>
            <a:ext cx="204002" cy="20400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15262" y="3998991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平台限制丢单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78759" y="3998991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个性需求、大客户项目因平台限制接不了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050036" y="4673086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83081" y="4761783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hield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82" y="4863785"/>
            <a:ext cx="204002" cy="20400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15262" y="4673086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合规要求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78759" y="4673086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景区或管理方要求数据不出域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050036" y="5364921"/>
            <a:ext cx="4842845" cy="549920"/>
          </a:xfrm>
          <a:prstGeom prst="roundRect">
            <a:avLst>
              <a:gd name="adj" fmla="val 16129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满足任意两条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，就启动自建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建什么、不建什么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钱只花在“壁垒”上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能买的买、能借的借，只自建承载我们业务和数据的部分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40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19013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rai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34" y="2012182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1786006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大模型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763932" y="1963399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采购 / 合作</a:t>
            </a:r>
            <a:endParaRPr sz="11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38732" y="1786006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不自研 · 调用模型服务，多家可替换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2243" y="1786006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投入大，不是我们的优势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2548798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7363" y="266410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ic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34" y="2774975"/>
            <a:ext cx="221742" cy="2217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03892" y="2548798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语音 · 图像 · 数字人 · 手语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763932" y="2726192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采购 / 合作</a:t>
            </a:r>
            <a:endParaRPr sz="11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38732" y="2548798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采购或合作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622243" y="2548798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专业能力，自建不划算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94318" y="3311591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7363" y="342689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workfl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4" y="3537767"/>
            <a:ext cx="221742" cy="22174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703892" y="3311591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编排引擎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763932" y="3488984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3E6F96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开源改造</a:t>
            </a:r>
            <a:endParaRPr sz="1100" b="1">
              <a:solidFill>
                <a:srgbClr val="3E6F96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38732" y="3311591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开源框架二次开发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22243" y="3311591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不从零写，缩短周期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4074383"/>
            <a:ext cx="9898562" cy="674095"/>
          </a:xfrm>
          <a:prstGeom prst="roundRect">
            <a:avLst>
              <a:gd name="adj" fmla="val 131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7363" y="418968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99" y="4296125"/>
            <a:ext cx="230611" cy="23061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03892" y="4074383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管理台 · 能力与知识 · 业务工具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763932" y="4251777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138732" y="4074383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622243" y="4074383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承载我们的业务、数据和交付方式，是壁垒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4837175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95248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34" y="5063352"/>
            <a:ext cx="221742" cy="22174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03892" y="4837175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数据服务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4763932" y="5014569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复用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138732" y="4837175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复用第一部分的数据平台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622243" y="4837175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已经有了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94318" y="5670925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759622"/>
            <a:ext cx="266090" cy="26609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70847" y="5670925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不碰重投入、非优势的部分；把钱和人放在“业务 + 数据 + 交付”上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自建平台长什么样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数字大脑做管理台，底下接数据平台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颜色代表“怎么来”：自建 / 开源改造 / 采购合作 / 复用已有；所有产品线的智能体都在这上面统一管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41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54530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渠道入口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386858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畅游小程序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816355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 APP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245851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675348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公众号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104845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智慧终端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534342" y="1954530"/>
            <a:ext cx="1358539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2415753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智能体应用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386858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游客服务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102253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景区管理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817650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票务财务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533045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安全调度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248442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精准营销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94318" y="2876977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管理台 · 搭建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386858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模板库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102253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可视化编排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817650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配置化生成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533045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多智能体协同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248442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测试与发布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94318" y="3338199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管理台 · 运营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386858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多租户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102253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817650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运行监控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533045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计量到景区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248442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效果评估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94318" y="3799422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能力层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386858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业务工具中心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102253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景区知识库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817650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游客记忆与画像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7533045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测试用例库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248442" y="3799422"/>
            <a:ext cx="1644438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数据服务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94318" y="4260646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引擎层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2386858" y="4260646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3E6F96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编排引擎</a:t>
            </a:r>
            <a:endParaRPr sz="1000" b="0">
              <a:solidFill>
                <a:srgbClr val="3E6F96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531103" y="4260646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3E6F96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检索引擎</a:t>
            </a:r>
            <a:endParaRPr sz="1000" b="0">
              <a:solidFill>
                <a:srgbClr val="3E6F96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675348" y="4260646"/>
            <a:ext cx="2073287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模型网关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8819593" y="4260646"/>
            <a:ext cx="2073287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内容安全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4721869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外部能力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386858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大模型 · 可替换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4531103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语音 · 图像 · 数字人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675348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8819593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94318" y="5183093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数据底座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2386858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531103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6675348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湖仓与实时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8819593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交互数据回流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2315900" y="2841498"/>
            <a:ext cx="8647938" cy="922446"/>
          </a:xfrm>
          <a:prstGeom prst="roundRect">
            <a:avLst>
              <a:gd name="adj" fmla="val 9615"/>
            </a:avLst>
          </a:prstGeom>
          <a:noFill/>
          <a:ln w="1905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94318" y="5697534"/>
            <a:ext cx="565688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648703" y="5697534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3E6F96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开源改造</a:t>
            </a:r>
            <a:endParaRPr sz="950" b="0">
              <a:solidFill>
                <a:srgbClr val="3E6F96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2549469" y="5697534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采购 / 合作</a:t>
            </a:r>
            <a:endParaRPr sz="95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3593134" y="5697534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复用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7520" y="5697534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已有入口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236982" y="5697534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橙色虚线框 = 数字大脑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怎么切过去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五步走，双轨运行、随时可退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不搞一刀切，用同一套测试题对比，达标才切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42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grpSp>
        <p:nvGrpSpPr>
          <p:cNvPr id="21000" name="素材 22"/>
          <p:cNvGrpSpPr/>
          <p:nvPr/>
        </p:nvGrpSpPr>
        <p:grpSpPr>
          <a:xfrm>
            <a:off x="1109624" y="2326969"/>
            <a:ext cx="8248802" cy="2551831"/>
            <a:chOff x="897064" y="2795992"/>
            <a:chExt cx="8850635" cy="2738013"/>
          </a:xfrm>
        </p:grpSpPr>
        <p:sp>
          <p:nvSpPr>
            <p:cNvPr id="210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2CAB93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BBFAE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21816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E39A57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E39A57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0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0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0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  <p:sp>
            <p:nvSpPr>
              <p:cNvPr id="210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0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0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0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  <p:sp>
            <p:nvSpPr>
              <p:cNvPr id="210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sp>
          <p:nvSpPr>
            <p:cNvPr id="210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21816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2CAB93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BBFAE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8FD3C6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025" name="Picture 21024" descr="rocket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705" y="3313050"/>
            <a:ext cx="443484" cy="443484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2267758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01  核心先上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7" name="TextBox 21026"/>
          <p:cNvSpPr txBox="1"/>
          <p:nvPr/>
        </p:nvSpPr>
        <p:spPr>
          <a:xfrm>
            <a:off x="2267758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核心模块、主力智能体先上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8" name="Picture 21027" descr="scal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37" y="3313050"/>
            <a:ext cx="443484" cy="443484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52890" y="4493543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  对比验证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0" name="TextBox 21029"/>
          <p:cNvSpPr txBox="1"/>
          <p:nvPr/>
        </p:nvSpPr>
        <p:spPr>
          <a:xfrm>
            <a:off x="3852890" y="481285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同一套测试题，不低于成熟平台才切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1" name="Picture 21030" descr="user-plu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231" y="3313050"/>
            <a:ext cx="443484" cy="443484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5442284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03  新增先上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3" name="TextBox 21032"/>
          <p:cNvSpPr txBox="1"/>
          <p:nvPr/>
        </p:nvSpPr>
        <p:spPr>
          <a:xfrm>
            <a:off x="5442284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新签景区直接上自建平台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4" name="Picture 21033" descr="repeat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87" y="3313050"/>
            <a:ext cx="443484" cy="443484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7035940" y="4493543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04  存量随续约迁移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6" name="TextBox 21035"/>
          <p:cNvSpPr txBox="1"/>
          <p:nvPr/>
        </p:nvSpPr>
        <p:spPr>
          <a:xfrm>
            <a:off x="7035940" y="481285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双轨运行、逐个迁移、可回退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7" name="Picture 21036" descr="layer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19" y="3313050"/>
            <a:ext cx="443484" cy="443484"/>
          </a:xfrm>
          <a:prstGeom prst="rect">
            <a:avLst/>
          </a:prstGeom>
        </p:spPr>
      </p:pic>
      <p:sp>
        <p:nvSpPr>
          <p:cNvPr id="21038" name="TextBox 21037"/>
          <p:cNvSpPr txBox="1"/>
          <p:nvPr/>
        </p:nvSpPr>
        <p:spPr>
          <a:xfrm>
            <a:off x="8621072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05  成熟平台转补充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9" name="TextBox 21038"/>
          <p:cNvSpPr txBox="1"/>
          <p:nvPr/>
        </p:nvSpPr>
        <p:spPr>
          <a:xfrm>
            <a:off x="8621072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外部平台变成补充能力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0" name="Rounded Rectangle 21039"/>
          <p:cNvSpPr/>
          <p:nvPr/>
        </p:nvSpPr>
        <p:spPr>
          <a:xfrm>
            <a:off x="994318" y="5475705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41" name="Picture 21040" descr="shield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86576"/>
            <a:ext cx="266090" cy="266090"/>
          </a:xfrm>
          <a:prstGeom prst="rect">
            <a:avLst/>
          </a:prstGeom>
        </p:spPr>
      </p:pic>
      <p:sp>
        <p:nvSpPr>
          <p:cNvPr id="21042" name="TextBox 21041"/>
          <p:cNvSpPr txBox="1"/>
          <p:nvPr/>
        </p:nvSpPr>
        <p:spPr>
          <a:xfrm>
            <a:off x="1570847" y="5475705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每一步都可以回退；客户无感知迁移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风险与底线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风险怎么控，底线怎么守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风险提前想好应对；智能体的底线从第一天就守住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43  ·  AI＋数据平台 · 02  智能体平台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76704"/>
            <a:ext cx="4816236" cy="3947007"/>
          </a:xfrm>
          <a:prstGeom prst="roundRect">
            <a:avLst>
              <a:gd name="adj" fmla="val 314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riangle-alert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118619"/>
            <a:ext cx="319308" cy="3193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15196" y="2083140"/>
            <a:ext cx="4106661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四个风险，四个应对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171711" y="2668539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9105" y="272175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投入超预期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49105" y="3023326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小团队先做核心模块，跟着迁移进度分批投入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171711" y="3466810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49105" y="352002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外部平台调价或停服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349105" y="382159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资产在自己手里，模型多家可替换，随时能切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71711" y="4265081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9105" y="431829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团队能力不足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349105" y="4619868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前期就培养自己的 AI 应用团队，自建时延续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171711" y="5063352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49105" y="511656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需求变化快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49105" y="5418140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模板化、配置化，差异放在配置里不改代码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076644" y="1976704"/>
            <a:ext cx="4816236" cy="3947007"/>
          </a:xfrm>
          <a:prstGeom prst="roundRect">
            <a:avLst>
              <a:gd name="adj" fmla="val 314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-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386" y="2118619"/>
            <a:ext cx="319308" cy="31930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97521" y="2083140"/>
            <a:ext cx="4106661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四条底线，贯穿始终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254037" y="2668539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1432" y="272175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只用授权数据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31432" y="3023326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数据按景区隔离，景区只看本景区数据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254037" y="3466810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1432" y="352002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关键动作人工确认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31432" y="382159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退款、调度等处置要人点确认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254037" y="4265081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31432" y="431829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不碰敏感信息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31432" y="4619868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手机号、证件号不进对话和知识库，展示打码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254037" y="5063352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31432" y="511656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不乱承诺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31432" y="5418140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价格、退改以系统为准，答不了就转人工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数据在公司里转起来，越用越准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290925" cy="461665"/>
              <a:chOff x="1249621" y="2030985"/>
              <a:chExt cx="229092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1574800" cy="337185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AI＋数据</a:t>
                </a:r>
                <a:r>
                  <a:rPr lang="en-US" altLang="zh-CN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+</a:t>
                </a:r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数据怎么流转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99048" y="45262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一张门票的例子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数据在公司里怎么转起来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产数 → 治数 → 办事 → 用数，再回流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数据平台让数据可信，智能体让数据办事；两者接上，形成一条完整的数据链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45  ·  AI＋数据平台 · 03  AI＋数据平台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12615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 · 景区 · 内部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475555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 · 终端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687062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 · APP · SaaS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898568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管理层 · 业务线 · 小Q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75555" y="2504450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服务：智能体办事，报表和接口直接用数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806019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办事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 · 报表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475555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游客端智能体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 · 导览 · 伴游 · 旅拍 · 购票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687062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景区端智能体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对账 · 预警 · 调度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898568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报表与接口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直接用数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75555" y="3497854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供给：认证指标 · 统一标签 · 景区知识 · 数据服务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799423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47555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统一接入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 + 实时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13418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湖仓公共模型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 → 成品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79281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· 标签 · 知识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认证口径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45144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数据服务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 · 小Q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475555" y="4491258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生产入湖：交易 · 核销 · 客流 · 设备 · 会员 · 财务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4792827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47555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30487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13418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96350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79281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终端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62213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45144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28076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16511" y="1812615"/>
            <a:ext cx="1676369" cy="3672047"/>
          </a:xfrm>
          <a:prstGeom prst="roundRect">
            <a:avLst>
              <a:gd name="adj" fmla="val 740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49557" y="1919051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④ 回流</a:t>
            </a:r>
            <a:endParaRPr sz="14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349557" y="2300447"/>
            <a:ext cx="1410279" cy="1330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问答记录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游客评价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转人工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预警与工单结果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使用行为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Down Arrow 71"/>
          <p:cNvSpPr/>
          <p:nvPr/>
        </p:nvSpPr>
        <p:spPr>
          <a:xfrm>
            <a:off x="9939390" y="3675247"/>
            <a:ext cx="230611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9557" y="4074383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⑤ 反哺</a:t>
            </a:r>
            <a:endParaRPr sz="14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49557" y="4455779"/>
            <a:ext cx="1410279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调定价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做营销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优化调度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94318" y="564431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5733013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5644316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底座　</a:t>
            </a: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DataWorks · 数据地图 · 资产治理，治理贯穿全程；智能体前期借平台，后期自建管理台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举个例子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一张门票的数据旅程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游客买一张票，数据在公司里转一圈，景区和游客都受益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46  ·  AI＋数据平台 · 03  AI＋数据平台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7" name="Picture 46" descr="ticket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729" y="2171837"/>
            <a:ext cx="337047" cy="33704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71711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买票入园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售票 · 闸机核销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285652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3" name="Picture 52" descr="databas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063" y="2171837"/>
            <a:ext cx="337047" cy="33704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463046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数据进平台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63046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 · 核销 · 客流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576986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9" name="Picture 58" descr="chart-lin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97" y="2171837"/>
            <a:ext cx="337047" cy="33704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754380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算出指标和标签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54380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实时客流 · 游客偏好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576986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5" name="Picture 64" descr="bo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397" y="3901424"/>
            <a:ext cx="337047" cy="33704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754380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智能体办事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754380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客流预警 · 二消推荐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3285652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1" name="Picture 70" descr="refresh-cw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063" y="3901424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463046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结果回流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63046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处置结果 · 推荐转化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94318" y="3724031"/>
            <a:ext cx="2069591" cy="1419148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6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7" name="Picture 76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1729" y="3901424"/>
            <a:ext cx="337047" cy="33704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71711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反哺业务</a:t>
            </a:r>
            <a:endParaRPr sz="14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171711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调预约 · 调营销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ight Arrow 79"/>
          <p:cNvSpPr/>
          <p:nvPr/>
        </p:nvSpPr>
        <p:spPr>
          <a:xfrm>
            <a:off x="3081649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ft Arrow 80"/>
          <p:cNvSpPr/>
          <p:nvPr/>
        </p:nvSpPr>
        <p:spPr>
          <a:xfrm>
            <a:off x="3081649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5372983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eft Arrow 82"/>
          <p:cNvSpPr/>
          <p:nvPr/>
        </p:nvSpPr>
        <p:spPr>
          <a:xfrm>
            <a:off x="5372983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own Arrow 83"/>
          <p:cNvSpPr/>
          <p:nvPr/>
        </p:nvSpPr>
        <p:spPr>
          <a:xfrm>
            <a:off x="6523085" y="3440201"/>
            <a:ext cx="177393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94318" y="5391531"/>
            <a:ext cx="6652259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结果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游客体验更好 · 景区多卖钱、少出事 · 数据和智能体更准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8045714" y="1932355"/>
            <a:ext cx="2847167" cy="4035704"/>
          </a:xfrm>
          <a:prstGeom prst="roundRect">
            <a:avLst>
              <a:gd name="adj" fmla="val 9968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134410" y="2021052"/>
            <a:ext cx="2669773" cy="3858309"/>
          </a:xfrm>
          <a:prstGeom prst="roundRect">
            <a:avLst>
              <a:gd name="adj" fmla="val 8305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070162" y="2047660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134410" y="2242794"/>
            <a:ext cx="2669773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267456" y="2313752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o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5021" y="2411318"/>
            <a:ext cx="195132" cy="19513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755287" y="2287142"/>
            <a:ext cx="196019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 APP · 示意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755287" y="2535494"/>
            <a:ext cx="196019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● 消息通知预警</a:t>
            </a:r>
            <a:endParaRPr sz="85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267456" y="2952369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【客流预警】东门入园排队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变长，预计 20 分钟后接近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预约上限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8267456" y="3750640"/>
            <a:ext cx="1693554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建议：增开闸机，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引导游客从西门入园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9126336" y="437151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收到，已派人处理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267456" y="4815001"/>
            <a:ext cx="1842305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已记录处置结果，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明天的预约名额会参考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8267456" y="5391531"/>
            <a:ext cx="240368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44848" y="5391531"/>
            <a:ext cx="1782805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有问题尽管问我…</a:t>
            </a:r>
            <a:endParaRPr sz="900" b="0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10360700" y="5418140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en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3918" y="5471358"/>
            <a:ext cx="177393" cy="177393"/>
          </a:xfrm>
          <a:prstGeom prst="rect">
            <a:avLst/>
          </a:prstGeom>
        </p:spPr>
      </p:pic>
      <p:sp>
        <p:nvSpPr>
          <p:cNvPr id="2" name="Down Arrow 83"/>
          <p:cNvSpPr/>
          <p:nvPr/>
        </p:nvSpPr>
        <p:spPr>
          <a:xfrm rot="10800000">
            <a:off x="1940290" y="3440201"/>
            <a:ext cx="177393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先做三件事，需要您支持四件事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先在一条主线、几家标杆景区上做出结果，再铺开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47  ·  AI＋数据平台 · 接下来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766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76704"/>
            <a:ext cx="354787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接下来先做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402448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79842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017" y="2695148"/>
            <a:ext cx="230611" cy="23061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92589" y="2526624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数据：主线试点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92589" y="2863672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“订单 → 核销 → 结算”定口径、上卡点、逐层核对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订单、核销实时链路建起来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3582115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1711" y="3759509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17" y="3874815"/>
            <a:ext cx="230611" cy="23061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92589" y="3706290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智能体：标杆验证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792589" y="4043338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挑老客户做标杆，跑一个完整旺季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同时试“随票务打包”和“年费订阅”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4761783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71711" y="4939177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17" y="5054483"/>
            <a:ext cx="230611" cy="23061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92589" y="4885958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打通：统一取数、数据回流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92589" y="5223006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智能体统一从数据平台取数，交互数据回流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知识、接口、模板、成本数据留在手里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582216" y="1976704"/>
            <a:ext cx="4310664" cy="3947007"/>
          </a:xfrm>
          <a:prstGeom prst="roundRect">
            <a:avLst>
              <a:gd name="adj" fmla="val 3146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lag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958" y="2118619"/>
            <a:ext cx="319308" cy="319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03094" y="2083140"/>
            <a:ext cx="3601090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需要支持</a:t>
            </a:r>
            <a:endParaRPr sz="16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424836" y="262419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口径谁拍板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424836" y="294349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成立数据治理小组，口径争议有人定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424836" y="344020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规范强制执行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424836" y="375950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不合规的数据不上线，需公司层面授权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24836" y="425621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标杆与销售配合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24836" y="457552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标杆景区配合试点；智能体纳入销售考核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424836" y="5072222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自建时点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424836" y="539153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定期用成本数据评估，由您决策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  <a:cs typeface="+mn-ea"/>
                <a:sym typeface="+mn-lt"/>
              </a:rPr>
              <a:t>请您指示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88560" y="1850427"/>
            <a:ext cx="2214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dirty="0">
                <a:latin typeface="Alimama ShuHeiTi Bold" pitchFamily="2" charset="-122"/>
                <a:ea typeface="Alimama ShuHeiTi Bold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3984"/>
            <a:chOff x="1253246" y="4118390"/>
            <a:chExt cx="4313944" cy="313984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汇报：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2" charset="-122"/>
                <a:ea typeface="Microsoft YaHei" panose="020B0503020204020204" pitchFamily="2" charset="-122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382135" y="3644286"/>
              <a:ext cx="342773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</a:rPr>
                <a:t>数据可信  ·  智能体落地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3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4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5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6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7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8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9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0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1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2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3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4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5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6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7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8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19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0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1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2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3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4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5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ags/tag26.xml><?xml version="1.0" encoding="utf-8"?>
<p:tagLst xmlns:p="http://schemas.openxmlformats.org/presentationml/2006/main">
  <p:tag name="KSO_WM_DIAGRAM_VIRTUALLY_FRAME" val="{&quot;height&quot;:216.35322834645666,&quot;left&quot;:165.30236220472437,&quot;top&quot;:179.6467716535433,&quot;width&quot;:636.7776377952757}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13457</Words>
  <Application>WPS 演示</Application>
  <PresentationFormat>宽屏</PresentationFormat>
  <Paragraphs>3029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9" baseType="lpstr">
      <vt:lpstr>Arial</vt:lpstr>
      <vt:lpstr>SimSun</vt:lpstr>
      <vt:lpstr>Wingdings</vt:lpstr>
      <vt:lpstr>HarmonyOS Sans SC Light</vt:lpstr>
      <vt:lpstr>阿里巴巴普惠体 2.0 55 Regular</vt:lpstr>
      <vt:lpstr>Microsoft YaHei</vt:lpstr>
      <vt:lpstr>Alimama ShuHeiTi Bold</vt:lpstr>
      <vt:lpstr>HarmonyOS Sans SC Black</vt:lpstr>
      <vt:lpstr>Arial</vt:lpstr>
      <vt:lpstr>Arial Unicode MS</vt:lpstr>
      <vt:lpstr>DengXian</vt:lpstr>
      <vt:lpstr>Symbol</vt:lpstr>
      <vt:lpstr>KSOFAD5C9A82</vt:lpstr>
      <vt:lpstr>FFont-Family</vt:lpstr>
      <vt:lpstr>KSOFF90575B9</vt:lpstr>
      <vt:lpstr>阿里巴巴普惠体 2 55 Regular</vt:lpstr>
      <vt:lpstr>Alimama ShuHeiTi Bold</vt:lpstr>
      <vt:lpstr>HarmonyOS Sans SC Black</vt:lpstr>
      <vt:lpstr>HarmonyOS Sans SC Light</vt:lpstr>
      <vt:lpstr>阿里巴巴普惠体 2.0 55 Regular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
51PPT模板网 唯一访问网址：www.51pptmoban.com。</dc:description>
  <cp:lastModifiedBy>寶安居士</cp:lastModifiedBy>
  <cp:revision>1022</cp:revision>
  <dcterms:created xsi:type="dcterms:W3CDTF">2026-05-24T00:54:00Z</dcterms:created>
  <dcterms:modified xsi:type="dcterms:W3CDTF">2026-10-19T01:27:04Z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