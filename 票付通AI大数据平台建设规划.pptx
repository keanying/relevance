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82"/>
  </p:notesMasterIdLst>
  <p:handoutMasterIdLst>
    <p:handoutMasterId r:id="rId8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</p:sldIdLst>
  <p:sldSz cx="11522075" cy="864044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5759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518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7284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304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88036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3456305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403225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460883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990099"/>
    <a:srgbClr val="FF3399"/>
    <a:srgbClr val="66FF33"/>
    <a:srgbClr val="99FF66"/>
    <a:srgbClr val="FFCC66"/>
    <a:srgbClr val="FF9900"/>
    <a:srgbClr val="FFFFFF"/>
    <a:srgbClr val="FFCC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4" autoAdjust="0"/>
    <p:restoredTop sz="95672" autoAdjust="0"/>
  </p:normalViewPr>
  <p:slideViewPr>
    <p:cSldViewPr showGuides="1">
      <p:cViewPr>
        <p:scale>
          <a:sx n="50" d="100"/>
          <a:sy n="50" d="100"/>
        </p:scale>
        <p:origin x="2814" y="1077"/>
      </p:cViewPr>
      <p:guideLst>
        <p:guide orient="horz" pos="2722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5304"/>
    </p:cViewPr>
  </p:sorterViewPr>
  <p:notesViewPr>
    <p:cSldViewPr>
      <p:cViewPr varScale="1">
        <p:scale>
          <a:sx n="81" d="100"/>
          <a:sy n="81" d="100"/>
        </p:scale>
        <p:origin x="-32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E1A7895-9E8F-4C50-B5E8-7345F3E6B0B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19984-4B2A-48B4-B869-87DEC631B6E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D0698-BD05-4639-9D81-B9F65B9CB3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DEE79-D6A9-404B-B2E7-14B1D35489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594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5189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847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0441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30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25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83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本次汇报讲清一件事：怎么建设我们的 AI + 大数据平台，用它赋能企业、赋能行业。全本分九章，沿着有什么、缺什么、要建什么、要怎么建、价值是什么的思路逐步推进。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全本分九章：建设起点、目标与演进路径、数据治理与资产平台、统一数据底座、指标标签与自助分析、AI 平台与智能应用、业务数据闭环、数据服务与价值转化、建成后的价值与展望。章节顺序沿着有什么、缺什么、要建什么、要怎么建、价值是什么逐步推进。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一页纸讲清整体思路。有什么：十四个数据域、已贯通的离线主流程和三项平台工具。缺什么：质量校验、统一口径、规范、实时、标签和 AI 共用能力。要建什么：治理中枢、统一底座、数据服务、AI 平台，以及业务闭环和对外产品。要怎么建：治理先行，先核心、先内部、先试点再推广。价值：赋能企业降本增效，赋能客户带来续约与收入，赋能行业形成标准与洞察。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 建设起点：现在有什么、缺什么？本章包括：数据资产全景、产品全景与数据来源、离线主流程、已有能力、五类问题与根因、关键数字为什么不准、能力缺口。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数据资产按十四个域盘点：主链六域是主体与组织、资源与商品、渠道与供销、订单交易、预约与核销、结算与财务，覆盖从供给到结算的全链路，是核心资产；另有营销、游客会员、多业态、现场设备、SaaS 客户、平台运行、外部与公共数据、知识与 AI 八类支撑数据。盘点时逐域登记来源、负责人、粒度、更新方式、质量、安全等级和授权用途。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票付通的三条产品线就是数据的来源和使用方。智慧票务覆盖票务、景区业态、运营、财务和智慧终端，是数据的主要产生方；AI 数字大脑面向景区和管理方，包括景数通、景区 AI 调度中枢和票付通 APP；畅游 AI 面向游客，包括畅游小程序、游客 AI 服务和会员营销。平台把智慧票务产生的数据汇聚治理，变成指标、标签和服务，支撑另外两条产品线；它们的使用行为和反馈再回流平台。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离线主流程已经贯通：供应商、游客、会员到订单再到维度，ODS、DWD、DIM、DWS、ADS 全链路打通。骨架已搭好，下一步是补维度、补质量、补实时、补标签。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已有能力覆盖开发、服务、消费三个环节：DataWorks 负责离线开发与调度，动态数据开放 API 把 ADS 指标对内对外提供，Quick BI 负责分析展示；产品侧已有智慧票务、AI 数字大脑和畅游 AI 三条产品线。缺的是中间的治理与指标体系，以及贯穿各层的 AI 能力。已有投入全部保留，在此基础上升级。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五类问题：数据孤岛、口径不一、结构不规范、模型重复、关键数字不准。它们同根同源，根因是缺少统一的标准、模型、口径和校验。只修某一个看板的数，问题会反复出现。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以入园和核销为例，数字不准的原因分布在整条链路上：设备和渠道多头上报、离线补传；业务库重复上报、撤销冲正未处理；数仓混用发生时间与上报时间、口径混淆、跨系统 ID 映射错误；看板与报表之间没有逐层核对，景区个性规则未处理。这些是待逐项排查的方向，不是已确认的根因。缺的是唯一事实源、逐层核对和统一口径。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三列分别是已具备、持续建设、待建设。已具备的四项全部保留并升级；持续建设的是其他主题域和数据标准、地图、血缘；待建设的是质量与核对、实时、统一标签、指标中心与景区自定义、AI 共用能力。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 目标与演进路径：要建成什么样？按什么顺序走？本章包括：总体目标：四个“可”、平台总体架构、平台组件全景、演进路径。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要建成的平台用四个“可”来衡量：数据可信、模型可复用、服务稳定、能力易扩展。它支撑对内赋能、对外商业化和行业成果输出。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平台自下而上分为数据来源、统一底座、指标与分析、数据服务、AI 能力、应用与服务；治理与资产贯穿各层。深色块是已有的 DataWorks、离线主流程、Quick BI 和动态数据开放 API，其余为新建或升级。AI、BI 和 API 使用同一套可信数据、指标和权限。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建设期间需要七组平台组件：数据集成、存储计算、开发运维、数据治理、指标标签、服务分析、AI 能力。深色为已有能力，主要是 DataWorks 的批量同步、离线计算、开发调度，以及动态数据开放 API 和 Quick BI；浅色为在现有基础上升级；虚线为新建。具体选型经验证后确定。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点是离线主流程已贯通。第一阶段治理筑基，让核心数据可信；第二阶段平台统一，让公共能力可复用；第三阶段价值扩展，用客户使用和付费验证价值。三段错开叠加推进，达到标志才扩大范围。数据不可信时扩大 AI 和对外服务，只会放大错误。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 数据治理与资产平台：怎么让数据可信？本章包括：治理体系、规范与发布卡点、核销准确性样板、数据安全分级、AI 提效治理。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治理的目标是让数据找得到、看得懂、用得准，问题能定位，范围能控制。六项能力覆盖从源系统到 AI 的全链路。新增表和任务发布前自动检查；存量按业务影响逐步治理；AI 辅助生成字段说明，由负责人确认。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规范要变成卡点。表名按分层、主题域、业务过程与粒度、更新方式统一，例如 dwd_trd_order_item_di 表示交易域订单项明细、日增量。DDL 强制填写中文名、描述、负责人、安全等级、生命周期、分区字段和字段注释，通用字段区分发生时间与上报时间。新建表发布前自动检查；存量核心表优先整改，AI 批量补描述后负责人确认；持续用资产健康分月度公示。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以入园和核销作为治理样板。先厘清核销次数、有效核销票数、入园人次、去重游客数四个指标；再逐项排查源端采集、重复上报、离线补传、撤销处理、统计时间和对象映射；然后建立从源端到 BI 的逐层核对，差异可追溯、修复并重算。跑通后复制到交易、退款、结算。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数据按四级管控：L4 高敏是个人信息、人脸和政务核验结果；L3 敏感是单景区经营、价格和结算；L2 内部是日志、设备状态和匿名聚合；L1 公开是已发布的报告与规范。权属上，景区数据只服务该景区本人，渠道数据不向其他渠道披露，游客信息在授权范围内使用，政务数据只用核验结果，外部采购数据按合同使用，对外只输出匿名聚合结果。L4 明文不进入大模型。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用来降低治理成本：补全存量元数据、推荐规范命名、发现口径冲突和重复 SQL、推荐质量规则、识别敏感字段、结合血缘分析异常根因。每一项都由对应负责人确认，不以模型推测替代业务定义。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 统一数据底座：怎么让数据统一沉淀、可复用？本章包括：统一数据底座、离线与湖仓合一、主题域补齐。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数据从各类来源统一接入，沉淀到湖仓一体的公共模型。离线依托 DataWorks 承接历史加工、对账和重算；实时复用主流程的模型定义，订单和核销先行。分析查询层为 Quick BI、API 和 AI 提供稳定查询。离线与实时共享业务定义和质量规则，结果可校验。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现状是离线和湖仓各建一套模型，同一逻辑写两遍，结果对不上，改一个口径要改多处。目标是一份存储、一套公共层，离线和实时只是两种计算方式，统一输出指标给 BI、API 和 AI。合并分五步：盘点重叠模型、确定保留版本、下游改为引用公共层、双跑对比、下线重复模型。存量不动、增量按新规范，双跑通过后逐域切换，保留回滚。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已贯通的离线主流程为基线，对照产品全景逐步补齐主题域。优先补齐核销履约（闸机、边云网关、手持终端，作为治理样板，直接关系入园准确性）、渠道分销（分销、报团、返利）和结算财务（报表、对账、发票）。后续补齐商品资源、九类景区业态的二次消费、会员营销（年卡、积分、全民营销），以及 SaaS 客户使用、设备与调度智能体的感知事件。新主题域复用租户、景区、商品、渠道、时间等公共维度。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第五章 指标、标签与自助分析：怎么统一口径和标签，又让景区自主分析？本章包括：指标体系、统一数据标签、自助分析。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企业标准指标由企业统一定义、版本管理、业务认证，统一服务 Quick BI、API 和 AI 问数。景区可以基于本景区明细创建专属指标，相互隔离，只服务本景区，同名不能覆盖企业标准。有共性价值的景区指标，经评审可以沉淀为企业标准。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已有基础标签，但更新慢、场景少、口径不一。统一后，标签基于公共模型统一生产，每个标签登记定义、口径、负责人和生命周期，再通过标签服务提供给营销、分析、AI 和景区。指标回答有多少，标签回答是谁、什么样。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 Quick BI 为分析入口，围绕治理后的模型，完善指标检索、明细探索、可视化计算配置、自定义看板和报表订阅。景区指标定义与权限统一管理，集成到 BI 使用流程，具备条件后以嵌入式方式进入景区 SaaS。企业和景区从统一模型、指标和标签出发完成日常分析；AI 问数与 BI 共用指标定义和权限。预期产出：企业指标中心、景区专属指标空间、统一标签服务、统一语义服务、自助分析平台及业务看板。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第六章 AI 平台与智能应用：AI 在哪里用、怎么保证可信？本章包括：AI 平台、支撑三条产品线的 AI、AI 问数链路。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平台分三层：底层是可信数据，包括指标服务、标签服务、知识库、元数据与血缘、权限隔离；中间是模型、知识、工具、评测四项共用能力；上层是五类 AI 应用。AI 不直接生成数字，只通过受控服务取数。先做辅助数据建设，再做问数，最后做预测与业务助手。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产品线里已经有很多 AI 应用：智慧票务有票务 AI 运营助手、AI 对账助手；AI 数字大脑有景数通的问数与洞察、票付通 APP 的问数与预警，以及景区 AI 调度中枢的八个智能体；畅游 AI 有旅游规划、智能客服、智能购票、伴游和旅拍五个游客智能体。平台不重复建应用，而是提供共用的 AI 能力和可信数据。关键一点：景数通和票付通 APP 都有 AI 问数，必须共用同一套认证指标，同一个问题只有一个答案。各产品的问答日志、纠错和工单结果回流到评测集和知识库。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问数的链路：识别用户与租户，澄清指标和时间范围，匹配已认证的指标，检查权限和查询成本，调用指标服务取数，校验结果，最后附上口径、更新时间和质量状态。缺数据或问题含糊时先澄清，不编造数字。评测集覆盖简单指标、对比归因、模糊问题、越权提问和无数据五类，用正确率、越权阻断率、澄清率、响应时间和单次成本衡量。内部问数和对外的 AI 智慧大脑共用同一套指标服务和评测集。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第七章 业务数据闭环：怎么赋能业务，又让数据回流？本章包括：闭环模型、八条业务闭环、票务闭环样板、智能体闭环样板、五个运行机制。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业务线都要形成闭环：业务产生数据，平台接入治理，加工成指标、标签、预测和洞察，嵌入业务决策和动作；业务动作的结果、反馈、异常和新需求再回流平台，用来修正规则、迭代模型、补充指标。这样数据和模型会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八条业务闭环每条都写清赋能输出和反哺回流。优先跑通票务和订单两条核心闭环，同时做供应商试点、智能体日志回流；渠道闭环随后启动；小程序、营销、外部数据放在推广批次。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票务闭环作为第一个样板：核销与设备数据进入核销标准模型，区分四个口径并做三层核对；输出实时看板、容量预警和客流预测，支撑景区节假日调度；预警处理结果和预测偏差回流，用来调整阈值和迭代模型。价值是关键数字可信、节假日实时掌控、减少结算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智能体闭环作为第二个样板：AI 智慧大脑、AI 客服、AI 伴游等统一通过指标、标签和知识工具取数，答案口径一致、可追溯；用户的提问、纠错、差评回流，用来补指标、补同义词、更新知识库和评测集，会话中的业务诉求也回流为业务洞察。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靠五个机制持续运转：数据前置、统一出口、反馈回流、效果复盘、持续迭代。业务负责人定目标、用结果、给反馈；数据团队建能力、出数据、做复盘；产品研发保证埋点和回流。用回流覆盖率、场景采纳率、迭代周期和业务效果变化衡量闭环是否健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第八章 数据服务与价值转化：平台能力怎么变成服务、产品和行业成果？本章包括：统一数据服务、一键接入、对外数据产品、对外与行业路径、行业成果。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动态数据开放 API 分四步升级：当前是 ADS 指标快速发布；升级后关联标准指标、权限和质量状态；服务化后扩展为指标与标签服务，租户隔离，并作为 AI 的标准取数工具；开放化后集成嵌入式 BI 与 AI，按套餐和计量收费。一套服务同时支撑 Quick BI、业务系统、景区 SaaS、合作伙伴和 AI 智能体，内外口径天然一致。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一键接入是把渠道、景区、设备的重复对接沉淀为连接器：授权开通、选择连接器、AI 辅助字段映射、历史初始化、增量同步、质量检查、试运行、上线与监控。配套开发者门户、文档与 SDK、沙箱、签名鉴权、限流与幂等、调用计量和服务等级。它适用于已适配的标准系统，在授权和环境就绪后配置完成；非标系统进入专项实施。用接入周期中位数与 P90、首次验收通过率衡量。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对外产品有五个方向：面向景区和景区集团的经营分析增强版，按 SaaS 增购订阅；面向季节性强景区的预测与运营助手，按场景订阅；面向渠道伙伴和集成商的数据开放 API，按年费加调用量；面向文旅主管部门的区域文旅监测，按项目加运营服务；面向文旅集团和研究机构的行业研究与基准，按订阅或专题。每个产品按收入和全部直接成本核算，看毛利、续约和复用率。前提是数据来源、授权用途和交付粒度写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对外商业化走内部验证、试点景区、付费试点、标准服务包四步，方向包括景区分析增强版、AI 运营助手、标准 API、嵌入式分析和行业研究。行业输出从经营月报、节假日专题、年度研究，到对标与规范，再到团体标准共建，依托技术创新中心发布。前提是数据边界和授权清楚、成本可核算。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行业成果包括节假日洞察快报、年度行业报告、基准与景气指数、数据与接入规范、高质量数据集和 AI 应用实践指南。方法上公开样本与口径、区分同店变化与新增接入、不把平台样本外推为全国市场、设置最小分组规模、AI 起草由专家审核。依托文旅部技术创新中心发布，规范从企业版到伙伴共建，再按程序推动团体标准。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第九章 建成后的价值与展望：对内、对外、对行业的价值与所需支持本章包括：赋能企业、价值三层递进、建成后的样子、价值衡量、组织与机制、风险与应对、需要的支持。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对内赋能有三类产品：面向管理层和景区运营的经营驾驶舱与节假日作战屏；面向运营、渠道、营销、客户成功的自助分析与 AI 问数；面向全员的主动推送和自动报告。用数流程是在数据门户找数、看口径、申请权限、用模板或提问、拿到带口径的结果、订阅后续变化。用活跃用户、自助完成率、取数周期和业务采纳率衡量，不以上线看板数量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价值逐层递进：对内是基础，降本、增效、控险，数据资产可计量；对外是增长，客户获得自主分析与 AI 辅助，票付通提升续约和客单价并形成新服务收入，以可信数据和广泛连接形成壁垒；对行业是影响力，输出口径、模型和接入规范，发布节假日专题和年度报告，形成合规的高质量数据集。对内价值主要通过八条业务闭环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建成后：管理层的每个经营问题都有口径统一、可追溯的答案；业务团队日常分析自助完成或直接问 AI；数据团队从反复对数转向建设公共能力、主动输出洞察；景区用自己的数据和指标做决策；伙伴标准接入、能力直接集成；票付通成为文旅经营数据报告、对标和规范的重要发布方。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值分三类衡量。对内：降本看退役的模型与任务、释放的存算成本和省下的人天；增效看可查询延迟、需求交付周期和自助完成率；控险看核对差异率、问题关闭时长和越权拦截；闭环看跑通的闭环数、回流覆盖率和采纳率。对外：客户价值、商业价值和接入效率。对行业：影响力、标准化和合作。先建立基线再定目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组织上，数据治理委员会由管理层牵头，裁定口径争议；数据平台部负责建设和运营平台，下设平台与架构、数据研发、治理与指标、产品与 BI、AI 工程、开放与解决方案六个方向。业务线数据负责人定口径、用结果，数据大使传需求、推使用。机制包括月度数据共建会、口径评审、资产健康分公示、代码与 SQL 评审、开发规范手册和月度数据洞察。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主要风险和应对：口径对齐阻力大，靠管理层背书、定义权归业务方；存量切换影响业务，靠双跑验证、观察期和保留回滚；AI 答错或越权，靠只用认证指标、评测回归和权限前置；个人信息与授权合规，靠分类分级、最小化和法务前置；节假日峰值，靠压测、降级预案和节前封版；与现有产品重复建设，靠底座共建、应用分工。资源不足时聚焦核心域，每个阶段都有看得见的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需要六项支持：成立数据治理委员会并明确口径争议的最终裁定人；规范检查作为发布前置条件；认可存量不动、增量按新规范、核对后逐步迁移；技术路线基于现有 DataWorks、动态数据开放 API、Quick BI 延伸，实时与湖仓组件验证后确定；核心人员与资源预算；各业务线指定数据负责人，参与标准指标确认、闭环建设和试点。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总结：治理是基础，平台是载体，AI 与数据服务放大价值；用 AI + 大数据平台赋能企业、赋能行业。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image2.wdp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jpeg"/><Relationship Id="rId4" Type="http://schemas.microsoft.com/office/2007/relationships/hdphoto" Target="../media/image2.wdp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tags" Target="../tags/tag3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 userDrawn="1"/>
        </p:nvSpPr>
        <p:spPr bwMode="auto">
          <a:xfrm>
            <a:off x="-10867" y="1009940"/>
            <a:ext cx="11568081" cy="676892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 bwMode="auto">
          <a:xfrm>
            <a:off x="-8002" y="-18002"/>
            <a:ext cx="11565216" cy="1098098"/>
          </a:xfrm>
          <a:prstGeom prst="rect">
            <a:avLst/>
          </a:prstGeom>
          <a:blipFill dpi="0" rotWithShape="1">
            <a:blip r:embed="rId4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8556379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0399074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-21737" y="1054219"/>
            <a:ext cx="11568081" cy="6768925"/>
          </a:xfrm>
          <a:prstGeom prst="rect">
            <a:avLst/>
          </a:prstGeom>
          <a:gradFill flip="none" rotWithShape="1">
            <a:gsLst>
              <a:gs pos="0">
                <a:srgbClr val="16355B"/>
              </a:gs>
              <a:gs pos="50000">
                <a:srgbClr val="0A2037"/>
              </a:gs>
              <a:gs pos="100000">
                <a:srgbClr val="000D18"/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8" name="图片 11" descr="png素材 (276)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1" name="Picture 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8641556" y="1079639"/>
            <a:ext cx="2877638" cy="3793643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5844573" y="2911649"/>
            <a:ext cx="5677502" cy="4649157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5020744" y="5409059"/>
            <a:ext cx="596267" cy="187521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6368827" y="2920290"/>
            <a:ext cx="5150368" cy="2073974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25149" y="2791147"/>
            <a:ext cx="5448981" cy="1962353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105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92143" y="5076359"/>
            <a:ext cx="2509052" cy="5731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102319" y="1079639"/>
            <a:ext cx="2177672" cy="6481167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4415835" cy="6481167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4821433"/>
            <a:ext cx="4329420" cy="2739373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78976" y="3699740"/>
            <a:ext cx="2511963" cy="1241054"/>
          </a:xfrm>
        </p:spPr>
        <p:txBody>
          <a:bodyPr wrap="square" anchor="ctr" anchorCtr="0">
            <a:normAutofit/>
          </a:bodyPr>
          <a:lstStyle>
            <a:lvl1pPr>
              <a:defRPr sz="4535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44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3914625" cy="4294853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2401797"/>
            <a:ext cx="5763918" cy="5159009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2401797"/>
            <a:ext cx="5236783" cy="2073974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263328" y="4044173"/>
            <a:ext cx="4467204" cy="1874138"/>
          </a:xfrm>
        </p:spPr>
        <p:txBody>
          <a:bodyPr wrap="square" anchor="t">
            <a:normAutofit/>
          </a:bodyPr>
          <a:lstStyle>
            <a:lvl1pPr algn="l">
              <a:defRPr sz="425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59683" y="4169628"/>
            <a:ext cx="4845033" cy="2607913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24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57718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833050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57718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57718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833050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33050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57718" y="1419900"/>
            <a:ext cx="10208438" cy="549819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57718" y="2309860"/>
            <a:ext cx="10205701" cy="38326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270" b="0">
                <a:latin typeface="+mn-lt"/>
                <a:ea typeface="+mn-lt"/>
                <a:cs typeface="+mn-lt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402473" y="1079639"/>
            <a:ext cx="3119602" cy="3664020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8753896" y="2393155"/>
            <a:ext cx="2765298" cy="2341862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127904" y="4691809"/>
            <a:ext cx="1391291" cy="795023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4320223"/>
            <a:ext cx="3076394" cy="3240584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792143" y="1511717"/>
            <a:ext cx="9937223" cy="2834022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56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792143" y="4773233"/>
            <a:ext cx="9937223" cy="1172394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tags" Target="../tags/tag76.xml"/><Relationship Id="rId17" Type="http://schemas.openxmlformats.org/officeDocument/2006/relationships/tags" Target="../tags/tag77.xml"/><Relationship Id="rId18" Type="http://schemas.openxmlformats.org/officeDocument/2006/relationships/tags" Target="../tags/tag78.xml"/><Relationship Id="rId19" Type="http://schemas.openxmlformats.org/officeDocument/2006/relationships/tags" Target="../tags/tag79.xml"/><Relationship Id="rId20" Type="http://schemas.openxmlformats.org/officeDocument/2006/relationships/tags" Target="../tags/tag8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576104" y="346031"/>
            <a:ext cx="10369868" cy="14401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104" y="2016179"/>
            <a:ext cx="10369868" cy="5702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104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97B707-22D4-4B06-9A8A-89EF284804D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6709" y="8008708"/>
            <a:ext cx="3648657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7487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F49717-76DA-4DAA-9161-16E5D566D94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5pPr>
      <a:lvl6pPr marL="57594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6pPr>
      <a:lvl7pPr marL="115189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7pPr>
      <a:lvl8pPr marL="172847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8pPr>
      <a:lvl9pPr marL="230441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9pPr>
    </p:titleStyle>
    <p:bodyStyle>
      <a:lvl1pPr marL="431800" indent="-431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990" indent="-3600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6125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865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459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8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89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47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441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630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225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883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0651918" y="6535221"/>
            <a:ext cx="867756" cy="102498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0801345" y="6535221"/>
            <a:ext cx="718329" cy="573703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57718" y="1419858"/>
            <a:ext cx="10206563" cy="68043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57718" y="2309860"/>
            <a:ext cx="10206563" cy="460582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57718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816687" y="7086721"/>
            <a:ext cx="3888700" cy="345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272970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079639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/>
            <a:endParaRPr lang="zh-CN" altLang="en-US" sz="1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864235" rtl="0" eaLnBrk="1" latinLnBrk="0" hangingPunct="1">
        <a:lnSpc>
          <a:spcPct val="100000"/>
        </a:lnSpc>
        <a:spcBef>
          <a:spcPct val="0"/>
        </a:spcBef>
        <a:buNone/>
        <a:defRPr sz="302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130000"/>
        </a:lnSpc>
        <a:spcBef>
          <a:spcPts val="945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indent="-19494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55015" indent="-15303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74090" indent="-140970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1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67130" indent="-12001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2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84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7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45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94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2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1.png"/><Relationship Id="rId7" Type="http://schemas.openxmlformats.org/officeDocument/2006/relationships/image" Target="../media/image6.png"/><Relationship Id="rId8" Type="http://schemas.openxmlformats.org/officeDocument/2006/relationships/image" Target="../media/image12.png"/><Relationship Id="rId9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42.png"/><Relationship Id="rId7" Type="http://schemas.openxmlformats.org/officeDocument/2006/relationships/image" Target="../media/image13.png"/><Relationship Id="rId8" Type="http://schemas.openxmlformats.org/officeDocument/2006/relationships/image" Target="../media/image4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43.png"/><Relationship Id="rId7" Type="http://schemas.openxmlformats.org/officeDocument/2006/relationships/image" Target="../media/image10.png"/><Relationship Id="rId8" Type="http://schemas.openxmlformats.org/officeDocument/2006/relationships/image" Target="../media/image4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651760"/>
            <a:ext cx="5852160" cy="1737360"/>
          </a:xfrm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2B2F42"/>
                </a:solidFill>
              </a:rPr>
              <a:t>建设 AI + 大数据平台</a:t>
            </a:r>
          </a:p>
          <a:p>
            <a:pPr algn="l"/>
            <a:r>
              <a:rPr sz="3400" b="1">
                <a:solidFill>
                  <a:srgbClr val="2B2F42"/>
                </a:solidFill>
              </a:rPr>
              <a:t>赋能企业，赋能行业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795528" y="5074920"/>
            <a:ext cx="5120640" cy="576072"/>
          </a:xfrm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以治理为基 · 平台为载体 · AI 与数据服务放大价值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776CFD"/>
                </a:solidFill>
              </a:rPr>
              <a:t>票付通数据与 AI 能力建设规划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035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有什么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55064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6035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缺什么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4056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80944" y="6035040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5447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12336" y="6035040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96839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3728" y="6035040"/>
            <a:ext cx="10911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776CFD"/>
                </a:solidFill>
              </a:rPr>
              <a:t>目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9576" y="45720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478"/>
                </a:solidFill>
              </a:rPr>
              <a:t>九个章节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沿五步思路逐步推进：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有什么 → 缺什么 → 要建什么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→ 要怎么建 → 价值是什么</a:t>
            </a:r>
          </a:p>
        </p:txBody>
      </p:sp>
      <p:sp>
        <p:nvSpPr>
          <p:cNvPr id="4" name="Oval 3"/>
          <p:cNvSpPr/>
          <p:nvPr/>
        </p:nvSpPr>
        <p:spPr>
          <a:xfrm>
            <a:off x="5074920" y="148132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74920" y="148132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6712" y="146304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建设起点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5564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现在有什么、缺什么？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5228" y="1591056"/>
            <a:ext cx="1037844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有什么 · 缺什么</a:t>
            </a:r>
          </a:p>
        </p:txBody>
      </p:sp>
      <p:sp>
        <p:nvSpPr>
          <p:cNvPr id="9" name="Oval 8"/>
          <p:cNvSpPr/>
          <p:nvPr/>
        </p:nvSpPr>
        <p:spPr>
          <a:xfrm>
            <a:off x="5337364" y="212140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37364" y="212140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9156" y="21031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目标与演进路径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9156" y="239572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要建成什么样？按什么顺序走？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86416" y="223113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4" name="Oval 13"/>
          <p:cNvSpPr/>
          <p:nvPr/>
        </p:nvSpPr>
        <p:spPr>
          <a:xfrm>
            <a:off x="5559853" y="276148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59853" y="276148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645" y="27432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数据治理与资产平台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645" y="303580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怎么让数据可信？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287121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9" name="Oval 18"/>
          <p:cNvSpPr/>
          <p:nvPr/>
        </p:nvSpPr>
        <p:spPr>
          <a:xfrm>
            <a:off x="5708516" y="340156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8516" y="340156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0308" y="3383279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统一数据底座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0308" y="3675887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怎么让数据统一沉淀、可复用？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86416" y="351129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24" name="Oval 23"/>
          <p:cNvSpPr/>
          <p:nvPr/>
        </p:nvSpPr>
        <p:spPr>
          <a:xfrm>
            <a:off x="5760720" y="404164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60720" y="404164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0233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指标、标签与自助分析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31596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怎么统一口径和标签，又让景区自主分析？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86416" y="415137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29" name="Oval 28"/>
          <p:cNvSpPr/>
          <p:nvPr/>
        </p:nvSpPr>
        <p:spPr>
          <a:xfrm>
            <a:off x="5708516" y="468172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08516" y="468172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0308" y="466344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平台与智能应用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0308" y="495604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AI 在哪里用、怎么保证可信？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86416" y="479145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34" name="Oval 33"/>
          <p:cNvSpPr/>
          <p:nvPr/>
        </p:nvSpPr>
        <p:spPr>
          <a:xfrm>
            <a:off x="5559853" y="5321807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59853" y="5321807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645" y="53035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业务数据闭环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645" y="5596127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怎么赋能业务，又让数据回流？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86416" y="543153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39" name="Oval 38"/>
          <p:cNvSpPr/>
          <p:nvPr/>
        </p:nvSpPr>
        <p:spPr>
          <a:xfrm>
            <a:off x="5337364" y="596188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37364" y="596188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59156" y="59436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数据服务与价值转化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9156" y="6236207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平台能力怎么变成服务、产品和行业成果？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86416" y="6071616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44" name="Oval 43"/>
          <p:cNvSpPr/>
          <p:nvPr/>
        </p:nvSpPr>
        <p:spPr>
          <a:xfrm>
            <a:off x="5074920" y="6601968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74920" y="6601968"/>
            <a:ext cx="475488" cy="4754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96712" y="658368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建成后的价值与展望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96712" y="687628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对内、对外、对行业的价值与所需支持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72116" y="6711696"/>
            <a:ext cx="790956" cy="237744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整体思路：五步推进，九章展开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1777593" cy="3246120"/>
          </a:xfrm>
          <a:prstGeom prst="roundRect">
            <a:avLst>
              <a:gd name="adj" fmla="val 514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578608"/>
            <a:ext cx="603504" cy="60350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729484"/>
            <a:ext cx="301752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7048" y="2697480"/>
            <a:ext cx="86319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383280"/>
            <a:ext cx="1503273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2B2F42"/>
                </a:solidFill>
              </a:rPr>
              <a:t>有什么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931920"/>
            <a:ext cx="1503273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6478"/>
                </a:solidFill>
              </a:rPr>
              <a:t>十四个数据域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离线主流程已贯通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DataWorks · API · Quick BI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5120640"/>
            <a:ext cx="141183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第一章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490825" y="3886200"/>
            <a:ext cx="219456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65145" y="2377440"/>
            <a:ext cx="1777593" cy="3246120"/>
          </a:xfrm>
          <a:prstGeom prst="roundRect">
            <a:avLst>
              <a:gd name="adj" fmla="val 5144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48025" y="2578608"/>
            <a:ext cx="603504" cy="603504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arn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901" y="27294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33825" y="2697480"/>
            <a:ext cx="86319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8025" y="3383280"/>
            <a:ext cx="1503273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2B2F42"/>
                </a:solidFill>
              </a:rPr>
              <a:t>缺什么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8025" y="3931920"/>
            <a:ext cx="1503273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6478"/>
                </a:solidFill>
              </a:rPr>
              <a:t>质量校验、统一口径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规范、实时、标签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AI 共用能力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48025" y="5120640"/>
            <a:ext cx="141183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4551A"/>
                </a:solidFill>
              </a:rPr>
              <a:t>第一章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97603" y="3886200"/>
            <a:ext cx="219456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71923" y="2377440"/>
            <a:ext cx="1777593" cy="3246120"/>
          </a:xfrm>
          <a:prstGeom prst="roundRect">
            <a:avLst>
              <a:gd name="adj" fmla="val 514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54803" y="2578608"/>
            <a:ext cx="603504" cy="60350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ren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679" y="2729484"/>
            <a:ext cx="301752" cy="3017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40603" y="2697480"/>
            <a:ext cx="86319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4803" y="3383280"/>
            <a:ext cx="1503273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2B2F42"/>
                </a:solidFill>
              </a:rPr>
              <a:t>要建什么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4803" y="3931920"/>
            <a:ext cx="1503273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6478"/>
                </a:solidFill>
              </a:rPr>
              <a:t>治理中枢、统一底座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数据服务、AI 平台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业务闭环与对外产品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4803" y="5120640"/>
            <a:ext cx="141183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第二章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704380" y="3886200"/>
            <a:ext cx="219456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78700" y="2377440"/>
            <a:ext cx="1777593" cy="3246120"/>
          </a:xfrm>
          <a:prstGeom prst="roundRect">
            <a:avLst>
              <a:gd name="adj" fmla="val 514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61580" y="2578608"/>
            <a:ext cx="603504" cy="60350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e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2456" y="2729484"/>
            <a:ext cx="301752" cy="3017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47380" y="2697480"/>
            <a:ext cx="86319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1580" y="3383280"/>
            <a:ext cx="1503273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2B2F42"/>
                </a:solidFill>
              </a:rPr>
              <a:t>要怎么建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1580" y="3931920"/>
            <a:ext cx="1503273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6478"/>
                </a:solidFill>
              </a:rPr>
              <a:t>治理先行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先核心 · 先内部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先试点再推广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61580" y="5120640"/>
            <a:ext cx="141183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第三至八章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811158" y="3886200"/>
            <a:ext cx="219456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85478" y="2377440"/>
            <a:ext cx="1777593" cy="3246120"/>
          </a:xfrm>
          <a:prstGeom prst="roundRect">
            <a:avLst>
              <a:gd name="adj" fmla="val 5144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68358" y="2578608"/>
            <a:ext cx="603504" cy="603504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t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9234" y="2729484"/>
            <a:ext cx="301752" cy="3017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54158" y="2697480"/>
            <a:ext cx="86319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8358" y="3383280"/>
            <a:ext cx="1503273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2B2F42"/>
                </a:solidFill>
              </a:rPr>
              <a:t>价值是什么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8358" y="3931920"/>
            <a:ext cx="1503273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6478"/>
                </a:solidFill>
              </a:rPr>
              <a:t>赋能企业：降本增效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赋能客户：续约收入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赋能行业：标准洞察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68358" y="5120640"/>
            <a:ext cx="141183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4551A"/>
                </a:solidFill>
              </a:rPr>
              <a:t>第九章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943600"/>
            <a:ext cx="10204704" cy="64008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6126480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252728" y="5943600"/>
            <a:ext cx="942746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核心　</a:t>
            </a:r>
            <a:r>
              <a:rPr sz="1600" b="0">
                <a:solidFill>
                  <a:srgbClr val="FFFFFF"/>
                </a:solidFill>
              </a:rPr>
              <a:t>建设 AI + 大数据平台，赋能企业、赋能行业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建设起点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现在有什么、缺什么？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数据资产全景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产品全景与数据来源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离线主流程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已有能力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五类问题与根因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关键数字为什么不准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能力缺口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数据资产全景：一条主链，八类支撑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主链六域 · 核心资产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5176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主体与组织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租户 · 景区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33599" y="300837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17064" y="265176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资源与商品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票种 · 库存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92296" y="300837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75760" y="265176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渠道与供销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OTA · 佣金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50992" y="300837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34455" y="265176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订单交易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支付 · 退改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09688" y="300837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93152" y="265176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预约与核销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票券 · 闸机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68384" y="300837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51848" y="265176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结算与财务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清分 · 对账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7947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八类支撑数据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052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营销与增长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活动 · 券 · 投放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50692" y="416052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游客与会员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OneID · 会员 · 标签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43016" y="416052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多业态消费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酒店 · 餐饮 · 停车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5340" y="416052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现场设备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闸机 · 网关 · 终端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292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SaaS 客户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订阅 · 使用 · 工单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50692" y="50292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平台运行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日志 · 性能 · 成本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43016" y="50292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外部与公共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天气 · LBS · 舆情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5340" y="50292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知识与 AI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文档 · 问答 · 评测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03504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18134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603504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难点　</a:t>
            </a:r>
            <a:r>
              <a:rPr sz="1300" b="0">
                <a:solidFill>
                  <a:srgbClr val="FFFFFF"/>
                </a:solidFill>
              </a:rPr>
              <a:t>数据量不是难点，难点在节假日高峰、订单状态变更、离线补传、多租户隔离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产品全景，就是数据来源全景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4343400" cy="3931920"/>
          </a:xfrm>
          <a:prstGeom prst="roundRect">
            <a:avLst>
              <a:gd name="adj" fmla="val 348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4144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44144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数据的主要产生方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2898648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票务管理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7" y="28986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售票 · 检票 · 全渠道分销 · 旅行社报团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3566160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景区业态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7" y="35661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乐园 · 演出 · 游船 · 酒店 · 温泉 · 餐饮零售 · 租赁 · 停车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4233672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423367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年卡 · 分时预约 · 候补 · 一卡通 · 人脸 · 免证 · 分销返利 · 运营助手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" y="4901183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景区财务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4901183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财务报表 · AI 对账 · 电子发票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7" y="5568696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智慧终端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5568696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闸机 · 人脸一体机 · 售取票机 · 手持终端 · 边云网关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074920" y="4160519"/>
            <a:ext cx="310896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40680" y="2331720"/>
            <a:ext cx="1481328" cy="3931920"/>
          </a:xfrm>
          <a:prstGeom prst="roundRect">
            <a:avLst>
              <a:gd name="adj" fmla="val 617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+ 大数据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</a:rPr>
              <a:t>平台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汇聚 · 治理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指标 · 标签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数据服务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9208" y="23317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24231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77272" y="2468879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62088" y="2834639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景数通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834639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汇聚 · 大屏 · 问数 · 洞察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62088" y="3273551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调度中枢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3273551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安全 · 防火 · 生态等八个智能体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2088" y="3712463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票付通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712463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驾驶舱 · 问数 · 预警 · 工单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95160" y="30403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ft Arrow 34"/>
          <p:cNvSpPr/>
          <p:nvPr/>
        </p:nvSpPr>
        <p:spPr>
          <a:xfrm>
            <a:off x="6995160" y="33146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79208" y="43891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448055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77272" y="45262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088" y="489204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畅游小程序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489204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游前 · 游中 · 游后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62088" y="533095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游客 AI 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330952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规划 · 客服 · 购票 · 伴游 · 旅拍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62088" y="576986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会员营销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5769864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积分 · 年卡 · 全民营销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995160" y="50977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ft Arrow 45"/>
          <p:cNvSpPr/>
          <p:nvPr/>
        </p:nvSpPr>
        <p:spPr>
          <a:xfrm>
            <a:off x="6995160" y="53720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8368" y="644652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560820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52728" y="644652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一句话　</a:t>
            </a:r>
            <a:r>
              <a:rPr sz="1250" b="0">
                <a:solidFill>
                  <a:srgbClr val="FFFFFF"/>
                </a:solidFill>
              </a:rPr>
              <a:t>智慧票务产生数据，AI 数字大脑与畅游 AI 使用数据，使用行为再回流平台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离线主流程已贯通，骨架已搭好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业务主线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331720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788920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246120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会员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20440" y="2862072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2514600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订单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2862072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514600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数据分层</a:t>
            </a:r>
          </a:p>
          <a:p>
            <a:pPr algn="l"/>
            <a:r>
              <a:rPr sz="1400" b="1">
                <a:solidFill>
                  <a:srgbClr val="776CFD"/>
                </a:solidFill>
              </a:rPr>
              <a:t>全链路贯通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840480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ODS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贴源层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547872" y="4169663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58768" y="3840480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DWD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明细层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394960" y="4169663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05856" y="3840480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DIM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维度层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42048" y="4169663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52944" y="3840480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汇总层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89136" y="4169663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00032" y="3840480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ADS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应用层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下一步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5029200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补维度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核销、渠道、结算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0248" y="5029200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补质量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规则与逐层核对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28816" y="5029200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补实时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订单、核销先行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87384" y="5029200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补标签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统一标签体系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621792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332220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52728" y="621792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结论　</a:t>
            </a:r>
            <a:r>
              <a:rPr sz="1300" b="0">
                <a:solidFill>
                  <a:srgbClr val="2B2F42"/>
                </a:solidFill>
              </a:rPr>
              <a:t>主流程骨架已搭好，下一步补维度、补质量、补实时、补标签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已有能力：开发、服务、消费三个环节都有工具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2208276" cy="1325880"/>
          </a:xfrm>
          <a:prstGeom prst="roundRect">
            <a:avLst>
              <a:gd name="adj" fmla="val 689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DataWorks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开发与调度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58084" y="2926080"/>
            <a:ext cx="27432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23844" y="2377440"/>
            <a:ext cx="2208276" cy="1325880"/>
          </a:xfrm>
          <a:prstGeom prst="roundRect">
            <a:avLst>
              <a:gd name="adj" fmla="val 6896"/>
            </a:avLst>
          </a:prstGeom>
          <a:solidFill>
            <a:srgbClr val="FDEEE2"/>
          </a:solidFill>
          <a:ln w="1905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B4551A"/>
                </a:solidFill>
              </a:rPr>
              <a:t>治理与指标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B4551A"/>
                </a:solidFill>
              </a:rPr>
              <a:t>待补齐的中枢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23559" y="2926080"/>
            <a:ext cx="27432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9320" y="2377440"/>
            <a:ext cx="2208276" cy="1325880"/>
          </a:xfrm>
          <a:prstGeom prst="roundRect">
            <a:avLst>
              <a:gd name="adj" fmla="val 689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动态数据开放 API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指标对内对外服务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89036" y="2926080"/>
            <a:ext cx="27432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54796" y="2377440"/>
            <a:ext cx="2208276" cy="1325880"/>
          </a:xfrm>
          <a:prstGeom prst="roundRect">
            <a:avLst>
              <a:gd name="adj" fmla="val 689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Quick BI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分析与展示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67328"/>
            <a:ext cx="220827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3844" y="3767328"/>
            <a:ext cx="220827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B4551A"/>
                </a:solidFill>
              </a:rPr>
              <a:t>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767328"/>
            <a:ext cx="220827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4796" y="3767328"/>
            <a:ext cx="220827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消费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976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已有三条产品线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63440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7" y="4800600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o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" y="4949190"/>
            <a:ext cx="297180" cy="2971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18488" y="4773168"/>
            <a:ext cx="215188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5120640"/>
            <a:ext cx="215188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票务 · 业态 · 运营 · 财务 · 终端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6136" y="4663440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19016" y="4800600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ul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606" y="4949190"/>
            <a:ext cx="297180" cy="2971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96256" y="4773168"/>
            <a:ext cx="215188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6256" y="5120640"/>
            <a:ext cx="215188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景数通 · 调度中枢 · 票付通 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13904" y="4663440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96783" y="4800600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373" y="4949190"/>
            <a:ext cx="297180" cy="2971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74024" y="4773168"/>
            <a:ext cx="215188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4024" y="5120640"/>
            <a:ext cx="215188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小程序 · 游客智能体 · 会员营销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9788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ul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044184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52728" y="589788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结论　</a:t>
            </a:r>
            <a:r>
              <a:rPr sz="1300" b="0">
                <a:solidFill>
                  <a:srgbClr val="FFFFFF"/>
                </a:solidFill>
              </a:rPr>
              <a:t>工具都在，缺的是中间的治理与指标体系，以及贯穿各层的 AI 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五类问题，同一个根因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单点修补会反复出现，必须体系化建设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60320"/>
            <a:ext cx="3931920" cy="585216"/>
          </a:xfrm>
          <a:prstGeom prst="roundRect">
            <a:avLst>
              <a:gd name="adj" fmla="val 1562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500" b="1">
                <a:solidFill>
                  <a:srgbClr val="776CFD"/>
                </a:solidFill>
              </a:rPr>
              <a:t>01　</a:t>
            </a:r>
            <a:r>
              <a:rPr sz="1500" b="0">
                <a:solidFill>
                  <a:srgbClr val="2B2F42"/>
                </a:solidFill>
              </a:rPr>
              <a:t>数据分散，孤岛严重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83279"/>
            <a:ext cx="3931920" cy="585216"/>
          </a:xfrm>
          <a:prstGeom prst="roundRect">
            <a:avLst>
              <a:gd name="adj" fmla="val 1562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500" b="1">
                <a:solidFill>
                  <a:srgbClr val="776CFD"/>
                </a:solidFill>
              </a:rPr>
              <a:t>02　</a:t>
            </a:r>
            <a:r>
              <a:rPr sz="1500" b="0">
                <a:solidFill>
                  <a:srgbClr val="2B2F42"/>
                </a:solidFill>
              </a:rPr>
              <a:t>同一指标，口径不同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06240"/>
            <a:ext cx="3931920" cy="585216"/>
          </a:xfrm>
          <a:prstGeom prst="roundRect">
            <a:avLst>
              <a:gd name="adj" fmla="val 1562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500" b="1">
                <a:solidFill>
                  <a:srgbClr val="776CFD"/>
                </a:solidFill>
              </a:rPr>
              <a:t>03　</a:t>
            </a:r>
            <a:r>
              <a:rPr sz="1500" b="0">
                <a:solidFill>
                  <a:srgbClr val="2B2F42"/>
                </a:solidFill>
              </a:rPr>
              <a:t>表、字段、DDL 不规范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29200"/>
            <a:ext cx="3931920" cy="585216"/>
          </a:xfrm>
          <a:prstGeom prst="roundRect">
            <a:avLst>
              <a:gd name="adj" fmla="val 1562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500" b="1">
                <a:solidFill>
                  <a:srgbClr val="776CFD"/>
                </a:solidFill>
              </a:rPr>
              <a:t>04　</a:t>
            </a:r>
            <a:r>
              <a:rPr sz="1500" b="0">
                <a:solidFill>
                  <a:srgbClr val="2B2F42"/>
                </a:solidFill>
              </a:rPr>
              <a:t>离线与湖仓模型重复开发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52160"/>
            <a:ext cx="3931920" cy="585216"/>
          </a:xfrm>
          <a:prstGeom prst="roundRect">
            <a:avLst>
              <a:gd name="adj" fmla="val 1562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500" b="1">
                <a:solidFill>
                  <a:srgbClr val="776CFD"/>
                </a:solidFill>
              </a:rPr>
              <a:t>05　</a:t>
            </a:r>
            <a:r>
              <a:rPr sz="1500" b="0">
                <a:solidFill>
                  <a:srgbClr val="2B2F42"/>
                </a:solidFill>
              </a:rPr>
              <a:t>入园、核销数据不准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90288" y="2852927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90288" y="3675887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90288" y="4498848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90288" y="5321808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90288" y="6144768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74920" y="2852927"/>
            <a:ext cx="0" cy="3291841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74920" y="4498848"/>
            <a:ext cx="914400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66360" y="408736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776CFD"/>
                </a:solidFill>
              </a:rPr>
              <a:t>同根同源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538728"/>
            <a:ext cx="4828032" cy="192024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 rIns="182880" bIns="91440"/>
          <a:lstStyle/>
          <a:p>
            <a:pPr algn="l"/>
            <a:r>
              <a:rPr sz="1300" b="1">
                <a:solidFill>
                  <a:srgbClr val="E4E2FF"/>
                </a:solidFill>
              </a:rPr>
              <a:t>根因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缺少统一的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标准、模型、口径和校验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关键数字为什么不准：以入园、核销为例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闸机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4320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边云网关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0896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手持终端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7472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OTA 回传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87168" y="2834640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2377440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业务库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327904" y="2944368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9384" y="2377440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数仓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41208" y="2944368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52688" y="2377440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看板与报表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77639"/>
            <a:ext cx="1737360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14800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1288" y="4087368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离线补传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多头上报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977639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114800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29000" y="4087368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重复上报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撤销、冲正未处理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39384" y="3977639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544" y="4114800"/>
            <a:ext cx="25603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42304" y="4087368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发生与上报时间混用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口径混淆、ID 映射错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52688" y="3977639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848" y="4114800"/>
            <a:ext cx="25603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55608" y="4087368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没有逐层核对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景区个性规则未处理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20640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以上为待逐项排查的方向，不预判为已确认根因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15000"/>
            <a:ext cx="10204704" cy="640080"/>
          </a:xfrm>
          <a:prstGeom prst="roundRect">
            <a:avLst>
              <a:gd name="adj" fmla="val 1428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ul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897880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52728" y="5715000"/>
            <a:ext cx="942746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E2C8"/>
                </a:solidFill>
              </a:rPr>
              <a:t>缺的是　</a:t>
            </a:r>
            <a:r>
              <a:rPr sz="1500" b="0">
                <a:solidFill>
                  <a:srgbClr val="FFFFFF"/>
                </a:solidFill>
              </a:rPr>
              <a:t>唯一事实源 + 逐层核对 + 统一口径，不是某一段 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能力缺口：哪些已具备，哪些要补齐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已有投入全部保留，治理与 AI 能力叠加其上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第一章 建设起点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11</a:t>
            </a:r>
          </a:p>
        </p:txBody>
      </p:sp>
      <p:pic>
        <p:nvPicPr>
          <p:cNvPr id="11" name="Picture 10" descr="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4203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" y="2523744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已具备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63240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离线主流程模型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30168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DataWorks 离线开发调度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97096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动态数据开放 API 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64024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Quick BI 分析展示</a:t>
            </a:r>
          </a:p>
        </p:txBody>
      </p:sp>
      <p:pic>
        <p:nvPicPr>
          <p:cNvPr id="17" name="Picture 16" descr="activity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16" y="2542032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8096" y="2523744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持续建设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6616" y="3063240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其他维度与主题域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6616" y="3630168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数据标准、地图与血缘</a:t>
            </a:r>
          </a:p>
        </p:txBody>
      </p:sp>
      <p:pic>
        <p:nvPicPr>
          <p:cNvPr id="21" name="Picture 20" descr="clo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864" y="2542032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86344" y="2523744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待建设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74864" y="3063240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数据质量与逐层核对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74864" y="3630168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4864" y="419709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统一数据标签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4864" y="476402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指标中心与景区自定义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74864" y="5330952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AI 共用能力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608076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ren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6195060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52728" y="608076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下一步　</a:t>
            </a:r>
            <a:r>
              <a:rPr sz="1300" b="0">
                <a:solidFill>
                  <a:srgbClr val="2B2F42"/>
                </a:solidFill>
              </a:rPr>
              <a:t>补维度、补质量、补实时、补标签，并把治理和 AI 能力叠加上去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目标与演进路径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要建成什么样？按什么顺序走？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总体目标：四个“可”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平台总体架构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平台组件全景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演进路径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总体目标：四个“可”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第二章 目标与演进路径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2379726" cy="2834640"/>
          </a:xfrm>
          <a:prstGeom prst="roundRect">
            <a:avLst>
              <a:gd name="adj" fmla="val 38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3891" y="2651760"/>
            <a:ext cx="868680" cy="8686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erifi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61" y="2868929"/>
            <a:ext cx="434340" cy="4343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3703320"/>
            <a:ext cx="237972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2B2F42"/>
                </a:solidFill>
              </a:rPr>
              <a:t>数据可信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51960"/>
            <a:ext cx="237972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关键数字可验证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可追溯、可修复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6694" y="2377440"/>
            <a:ext cx="2379726" cy="2834640"/>
          </a:xfrm>
          <a:prstGeom prst="roundRect">
            <a:avLst>
              <a:gd name="adj" fmla="val 38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2216" y="2651760"/>
            <a:ext cx="868680" cy="8686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387" y="2868929"/>
            <a:ext cx="434340" cy="4343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66694" y="3703320"/>
            <a:ext cx="237972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2B2F42"/>
                </a:solidFill>
              </a:rPr>
              <a:t>模型可复用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6694" y="4251960"/>
            <a:ext cx="237972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一次建设、多处使用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新需求优先复用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5020" y="2377440"/>
            <a:ext cx="2379726" cy="2834640"/>
          </a:xfrm>
          <a:prstGeom prst="roundRect">
            <a:avLst>
              <a:gd name="adj" fmla="val 38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30543" y="2651760"/>
            <a:ext cx="868680" cy="8686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713" y="2868929"/>
            <a:ext cx="434340" cy="4343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75020" y="3703320"/>
            <a:ext cx="237972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2B2F42"/>
                </a:solidFill>
              </a:rPr>
              <a:t>服务稳定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5020" y="4251960"/>
            <a:ext cx="237972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有监测、有隔离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可恢复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3346" y="2377440"/>
            <a:ext cx="2379726" cy="2834640"/>
          </a:xfrm>
          <a:prstGeom prst="roundRect">
            <a:avLst>
              <a:gd name="adj" fmla="val 38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8869" y="2651760"/>
            <a:ext cx="868680" cy="8686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6039" y="2868929"/>
            <a:ext cx="434340" cy="4343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83346" y="3703320"/>
            <a:ext cx="237972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2B2F42"/>
                </a:solidFill>
              </a:rPr>
              <a:t>能力易扩展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3346" y="4251960"/>
            <a:ext cx="237972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新业务、新景区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E6478"/>
                </a:solidFill>
              </a:rPr>
              <a:t>配置化接入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32120"/>
            <a:ext cx="10204704" cy="7315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532120"/>
            <a:ext cx="10204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支撑　</a:t>
            </a:r>
            <a:r>
              <a:rPr sz="1800" b="0">
                <a:solidFill>
                  <a:srgbClr val="FFFFFF"/>
                </a:solidFill>
              </a:rPr>
              <a:t>对内赋能 · 对外商业化 · 行业成果输出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平台总体架构：分层建设，治理贯穿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渐变色块为已有能力，白色块为新建或升级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第二章 目标与演进路径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14600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应用与服务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514600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内部经营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3" y="2514600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景区运营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2514600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伙伴接入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514600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行业报告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2514600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数据产品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1868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3218688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91889" y="3218688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7820" y="3218688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工具服务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3750" y="3218688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评测运营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22776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922776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91889" y="392277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17820" y="392277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43750" y="392277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一键接入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26864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指标与分析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462686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企业标准指标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91889" y="462686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景区自定义指标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7820" y="462686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统一标签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3750" y="4626864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330952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统一底座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" y="5330952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16580" y="5330952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离线主流程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67199" y="5330952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17820" y="5330952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8440" y="5330952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公共模型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9060" y="5330952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分析查询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6035040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数据来源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65960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28925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订单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91889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4854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17819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0784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43750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6715" y="6035040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2514600"/>
            <a:ext cx="1947672" cy="4123944"/>
          </a:xfrm>
          <a:prstGeom prst="roundRect">
            <a:avLst>
              <a:gd name="adj" fmla="val 5633"/>
            </a:avLst>
          </a:prstGeom>
          <a:gradFill rotWithShape="1">
            <a:gsLst>
              <a:gs pos="0">
                <a:srgbClr val="776CFD"/>
              </a:gs>
              <a:gs pos="100000">
                <a:srgbClr val="655B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26974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</a:rPr>
              <a:t>治理与资产</a:t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贯穿各层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566160"/>
            <a:ext cx="16459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EDFF"/>
                </a:solidFill>
              </a:rPr>
              <a:t>数据标准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数据地图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数据血缘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数据质量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权限安全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资产目录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平台组件全景：七组能力，已有、升级、新建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第二章 目标与演进路径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75688"/>
            <a:ext cx="384048" cy="219456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057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渐变：已有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207568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057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浅紫：升级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207568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057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虚线：新建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044952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批量同步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021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实时采集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埋点采集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边云回传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737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连接器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1858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存储计算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31858" y="3044952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离线计算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1858" y="35021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1858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31858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分析引擎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5348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开发运维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5348" y="3044952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开发调度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5348" y="35021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数据建模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5348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发布卡点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5348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运行监控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5348" y="48737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成本治理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8838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数据治理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8838" y="30449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8838" y="35021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数据地图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8838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数据血缘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8838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质量与核对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78838" y="48737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分级与脱敏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8838" y="53309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资产运营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2329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指标标签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52329" y="30449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指标中心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2329" y="35021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景区指标空间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52329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52329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统一语义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5819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服务分析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5819" y="3044952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动态开放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5819" y="3502152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5819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5819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嵌入式分析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9309" y="2514600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99309" y="30449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模型网关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99309" y="35021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知识检索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99309" y="39593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智能体工具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99309" y="44165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评测反馈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99309" y="4873752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问数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603504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too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149340"/>
            <a:ext cx="274320" cy="2743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52728" y="603504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DataWorks 承担批量同步、离线计算、开发调度；数据地图、血缘、质量等模块按已购情况启用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演进路径：按成熟度三步走，治理贯穿全程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起点：离线主流程已贯通；达到标志才进入下一阶段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第二章 目标与演进路径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11880"/>
            <a:ext cx="3249168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5D95F1"/>
              </a:gs>
              <a:gs pos="100000">
                <a:srgbClr val="6C95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776472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第一阶段 · 可信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69080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治理筑基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572000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核心数据可信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标准 · 质量 · 核销主题域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5148072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进入下一步：标准指标统一使用，关键数字对账稳定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6136" y="3108960"/>
            <a:ext cx="3249168" cy="2788920"/>
          </a:xfrm>
          <a:prstGeom prst="roundRect">
            <a:avLst>
              <a:gd name="adj" fmla="val 4918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4736" y="3273552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第二阶段 · 可复用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4736" y="3566160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平台统一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736" y="4069080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公共能力可复用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共享模型 · 指标与标签服务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共用能力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9016" y="5148072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进入下一步：公共模型成为默认来源，AI 问数稳定准确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3904" y="2606040"/>
            <a:ext cx="3249168" cy="3291840"/>
          </a:xfrm>
          <a:prstGeom prst="roundRect">
            <a:avLst>
              <a:gd name="adj" fmla="val 4221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2504" y="2770632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第三阶段 · 有价值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2504" y="3063240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价值扩展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2504" y="3566160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产品价值可验证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景区自主分析 · 标准接入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应用 · 行业成果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6783" y="5148072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验证方式：客户使用、续约与付费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035040"/>
            <a:ext cx="3249168" cy="411480"/>
          </a:xfrm>
          <a:prstGeom prst="roundRect">
            <a:avLst>
              <a:gd name="adj" fmla="val 48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AI 提效治理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6136" y="6035040"/>
            <a:ext cx="3249168" cy="411480"/>
          </a:xfrm>
          <a:prstGeom prst="roundRect">
            <a:avLst>
              <a:gd name="adj" fmla="val 48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AI 成为平台原生能力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13904" y="6035040"/>
            <a:ext cx="3249168" cy="411480"/>
          </a:xfrm>
          <a:prstGeom prst="roundRect">
            <a:avLst>
              <a:gd name="adj" fmla="val 48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AI 面向业务与客户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数据治理与资产平台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怎么让数据可信？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治理体系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规范与发布卡点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核销准确性样板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数据安全分级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提效治理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治理体系：六项能力，贯穿全链路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第三章 数据治理与资产平台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47802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61518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450591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命名、类型、DDL、描述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0896" y="233172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03776" y="247802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936" y="2615184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17008" y="2450591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数据地图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7008" y="278892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表、指标、标签一处可查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3424" y="233172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66303" y="247802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463" y="2615184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79536" y="2450591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数据血缘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9536" y="278892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来源可解释，影响可评估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19272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7" y="3465576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360273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54480" y="3438144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76472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完整、准确、及时、一致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20896" y="3319272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03776" y="3465576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936" y="3602736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17008" y="3438144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权限管理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7008" y="3776472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租户隔离、脱敏、留痕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3424" y="3319272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66303" y="3465576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ar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3463" y="3602736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79536" y="3438144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资产运营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9536" y="3776472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版本、成本、复用、退役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4348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治理覆盖的链路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源系统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882357" y="4901184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165821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接入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389811" y="4901184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73275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加工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897265" y="4901184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80729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ADS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404718" y="4901184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688182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API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912172" y="4901184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95636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Quick BI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419626" y="4901184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03090" y="4773168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577840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机制　</a:t>
            </a:r>
            <a:r>
              <a:rPr sz="1250" b="0">
                <a:solidFill>
                  <a:srgbClr val="FFFFFF"/>
                </a:solidFill>
              </a:rPr>
              <a:t>治理委员会裁定口径争议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20896" y="5577840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责任　</a:t>
            </a:r>
            <a:r>
              <a:rPr sz="1250" b="0">
                <a:solidFill>
                  <a:srgbClr val="FFFFFF"/>
                </a:solidFill>
              </a:rPr>
              <a:t>每个域与指标有业务、技术负责人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3424" y="5577840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卡点　</a:t>
            </a:r>
            <a:r>
              <a:rPr sz="1250" b="0">
                <a:solidFill>
                  <a:srgbClr val="FFFFFF"/>
                </a:solidFill>
              </a:rPr>
              <a:t>发布前自动检查，不合规不发布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规范治理：把规范从文档变成卡点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第三章 数据治理与资产平台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5748" y="237744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/>
                <a:ea typeface="Courier New"/>
              </a:rPr>
              <a:t>dwd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5748" y="31546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1588" y="237744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5636" y="237744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/>
                <a:ea typeface="Courier New"/>
              </a:rPr>
              <a:t>trd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5636" y="31546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主题域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1476" y="237744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5524" y="23774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/>
                <a:ea typeface="Courier New"/>
              </a:rPr>
              <a:t>order_item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5524" y="31546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业务过程与粒度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964" y="237744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012" y="237744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/>
                <a:ea typeface="Courier New"/>
              </a:rPr>
              <a:t>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7012" y="31546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更新方式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947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DDL 必填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47088" y="379476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中文名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3794760"/>
            <a:ext cx="6339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描述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0336" y="379476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负责人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8160" y="3794760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安全等级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8384" y="3794760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生命周期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8608" y="3794760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分区字段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8832" y="3794760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字段注释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49056" y="3794760"/>
            <a:ext cx="1700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发生时间与上报时间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00600"/>
            <a:ext cx="309676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新建 · 卡点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发布前自动检查，不合规不发布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864864" y="5212080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12336" y="4800600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存量 · 整改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核心表优先，AI 补描述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418832" y="5212080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66304" y="4800600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持续 · 运营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资产健康分，月度公示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治理样板：入园与核销数据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第三章 数据治理与资产平台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第一步　厘清四个指标，不能互相替代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334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核销次数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按发生时间，扣除撤销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6644" y="26334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3844" y="26334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有效核销票数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至少核销一次的票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6334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6334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入园人次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入园通行次数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7596" y="26334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4796" y="26334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去重游客数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去重后的游客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49039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第二步　逐层核对，差异可追溯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148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源端记录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50008" y="43982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86634" y="41148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加工明细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78274" y="43982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14900" y="41148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汇总指标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06540" y="43982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43166" y="41148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34806" y="43982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71432" y="41148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Quick BI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17252" y="4681728"/>
            <a:ext cx="0" cy="34747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504188" y="5029200"/>
            <a:ext cx="8513064" cy="0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504188" y="4681728"/>
            <a:ext cx="0" cy="347472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0400" y="51206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B4551A"/>
                </a:solidFill>
              </a:rPr>
              <a:t>发现差异 → 追溯 → 修复 → 重算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1500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FFE2C8"/>
                </a:solidFill>
              </a:rPr>
              <a:t>长效　</a:t>
            </a:r>
            <a:r>
              <a:rPr sz="1300" b="0">
                <a:solidFill>
                  <a:srgbClr val="FFFFFF"/>
                </a:solidFill>
              </a:rPr>
              <a:t>关键规则失败，阻断下游发布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571500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FFE2C8"/>
                </a:solidFill>
              </a:rPr>
              <a:t>透明　</a:t>
            </a:r>
            <a:r>
              <a:rPr sz="1300" b="0">
                <a:solidFill>
                  <a:srgbClr val="FFFFFF"/>
                </a:solidFill>
              </a:rPr>
              <a:t>看板与 API 标注更新时间和质量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数据安全：分级管控，权属清楚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第三章 数据治理与资产平台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数据分级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8488" y="2633472"/>
            <a:ext cx="2926080" cy="777240"/>
          </a:xfrm>
          <a:prstGeom prst="roundRect">
            <a:avLst>
              <a:gd name="adj" fmla="val 11764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L4 高敏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个人信息、人脸、政务核验结果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3520439"/>
            <a:ext cx="3566160" cy="777240"/>
          </a:xfrm>
          <a:prstGeom prst="roundRect">
            <a:avLst>
              <a:gd name="adj" fmla="val 11764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L3 敏感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单景区经营、价格、结算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4407408"/>
            <a:ext cx="420624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L2 内部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日志、设备状态、匿名聚合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294376"/>
            <a:ext cx="4846320" cy="777240"/>
          </a:xfrm>
          <a:prstGeom prst="roundRect">
            <a:avLst>
              <a:gd name="adj" fmla="val 1176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L1 公开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已发布的报告与规范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2860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权属边界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2633472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景区数据　</a:t>
            </a:r>
            <a:r>
              <a:rPr sz="1250" b="0">
                <a:solidFill>
                  <a:srgbClr val="5E6478"/>
                </a:solidFill>
              </a:rPr>
              <a:t>只服务该景区本人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218688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渠道数据　</a:t>
            </a:r>
            <a:r>
              <a:rPr sz="1250" b="0">
                <a:solidFill>
                  <a:srgbClr val="5E6478"/>
                </a:solidFill>
              </a:rPr>
              <a:t>不向其他渠道披露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803904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游客信息　</a:t>
            </a:r>
            <a:r>
              <a:rPr sz="1250" b="0">
                <a:solidFill>
                  <a:srgbClr val="5E6478"/>
                </a:solidFill>
              </a:rPr>
              <a:t>在用户授权范围内使用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4389120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政务数据　</a:t>
            </a:r>
            <a:r>
              <a:rPr sz="1250" b="0">
                <a:solidFill>
                  <a:srgbClr val="5E6478"/>
                </a:solidFill>
              </a:rPr>
              <a:t>只用核验结果，不留原始数据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497433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外部采购　</a:t>
            </a:r>
            <a:r>
              <a:rPr sz="1250" b="0">
                <a:solidFill>
                  <a:srgbClr val="5E6478"/>
                </a:solidFill>
              </a:rPr>
              <a:t>按合同约定范围使用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5559552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对外输出　</a:t>
            </a:r>
            <a:r>
              <a:rPr sz="1250" b="0">
                <a:solidFill>
                  <a:srgbClr val="FFFFFF"/>
                </a:solidFill>
              </a:rPr>
              <a:t>仅限匿名聚合结果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30936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2366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52728" y="630936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L4 明文不进入大模型　</a:t>
            </a:r>
            <a:r>
              <a:rPr sz="1200" b="0">
                <a:solidFill>
                  <a:srgbClr val="2B2F42"/>
                </a:solidFill>
              </a:rPr>
              <a:t>字段级打标 · 脱敏 · 行列权限 · 租户隔离 · 访问留痕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AI 提效治理：AI 先做，负责人确认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第三章 数据治理与资产平台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40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5E6478"/>
                </a:solidFill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AI 先做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负责人确认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06040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存量元数据补全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606040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根据表结构与 SQL 生成表和字段描述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78040" y="2770632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2606040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负责人审核后回写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73552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规范命名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273552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推荐规范的表名、字段名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78040" y="3438144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3273552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开发确认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41064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口径冲突发现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941064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识别同名异义、同义异算、相似 SQL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78040" y="4105656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0" y="3941064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治理委员会裁定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08576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质量规则推荐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608576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按字段特征和历史数据推荐规则与阈值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78040" y="4773168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0" y="4608576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技术负责人确认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27608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敏感字段识别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527608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自动识别证件、手机号、人脸并打标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78040" y="5440679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527608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安全负责人复核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943600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异常根因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943600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结合血缘给出可能原因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178040" y="6108192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89520" y="5943600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值班处理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统一数据底座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怎么让数据统一沉淀、可复用？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统一数据底座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离线与湖仓合一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主题域补齐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统一数据底座：一份存储、一套模型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离线与实时是两种计算方式，湖仓负责统一存储与管理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第四章 统一数据底座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060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业务库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632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204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设备事件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77639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行为日志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57400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04872" y="2606040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6478"/>
                </a:solidFill>
              </a:rPr>
              <a:t>统一接入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接入规范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对象标识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负责人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66744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4215" y="2606040"/>
            <a:ext cx="3566160" cy="2212848"/>
          </a:xfrm>
          <a:prstGeom prst="roundRect">
            <a:avLst>
              <a:gd name="adj" fmla="val 6198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269748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湖仓一体 · 公共模型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7096" y="3090672"/>
            <a:ext cx="3200400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离线计算 · DataWorks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7096" y="3547872"/>
            <a:ext cx="3200400" cy="384048"/>
          </a:xfrm>
          <a:prstGeom prst="roundRect">
            <a:avLst>
              <a:gd name="adj" fmla="val 23809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B2F42"/>
                </a:solidFill>
              </a:rPr>
              <a:t>实时计算 · 订单、核销先行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97096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8148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9201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0254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01307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7096" y="4434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776CFD"/>
                </a:solidFill>
              </a:rPr>
              <a:t>共享业务定义与质量规则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653527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1000" y="2606040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6478"/>
                </a:solidFill>
              </a:rPr>
              <a:t>分析查询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稳定查询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负载隔离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262872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10344" y="2697480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0344" y="3410712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0344" y="4123944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166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稳定与扩展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12848" y="512064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结构变更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70324" y="512064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失败恢复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27801" y="512064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补数重算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5278" y="512064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租户隔离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42755" y="512064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高峰压测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89788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bas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012180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52728" y="589788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统一接入、离线与实时处理、湖仓底座、公共模型及标准数据集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离线与湖仓合一：消除重复开发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第四章 统一数据底座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4663440" cy="2331720"/>
          </a:xfrm>
          <a:prstGeom prst="roundRect">
            <a:avLst>
              <a:gd name="adj" fmla="val 5882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5059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现状：两条链路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260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7" y="2926080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05456" y="3044952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34056" y="2926080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离线模型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03903" y="3044952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32503" y="2926080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9300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湖仓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5607" y="3493008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505456" y="3611880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34056" y="3493008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湖仓模型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803903" y="3611880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32503" y="3493008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160520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4551A"/>
                </a:solidFill>
              </a:rPr>
              <a:t>同一逻辑写两遍 · 结果对不上 · 改口径要改多处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413247" y="3291840"/>
            <a:ext cx="411480" cy="34747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16168" y="2331720"/>
            <a:ext cx="4946904" cy="2331720"/>
          </a:xfrm>
          <a:prstGeom prst="roundRect">
            <a:avLst>
              <a:gd name="adj" fmla="val 5882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245059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目标：一个底座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2852928"/>
            <a:ext cx="4489704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公共层 DWD · DIM · DWS（只建一次）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364992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离线计算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5340" y="3364992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289036" y="3794760"/>
            <a:ext cx="201168" cy="22860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44768" y="4069080"/>
            <a:ext cx="4489704" cy="411480"/>
          </a:xfrm>
          <a:prstGeom prst="roundRect">
            <a:avLst>
              <a:gd name="adj" fmla="val 2222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统一指标 → BI · API ·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9377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合并步骤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303520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盘点重叠模型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465222" y="5477256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76118" y="5303520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确定保留版本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582972" y="5477256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93868" y="5303520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下游改为引用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700723" y="5477256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11619" y="5303520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双跑对比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818473" y="5477256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29369" y="5303520"/>
            <a:ext cx="1733702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下线重复模型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035040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存量不动、增量按新规范，双跑通过后逐域切换，保留回滚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以主流程为基线，逐步补齐主题域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对照产品全景：主流程已覆盖交易，业态、设备、财务、会员与感知数据待补齐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第四章 统一数据底座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2743200" cy="352044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182880" bIns="91440"/>
          <a:lstStyle/>
          <a:p>
            <a:pPr algn="l"/>
            <a:r>
              <a:rPr sz="1200" b="1">
                <a:solidFill>
                  <a:srgbClr val="EEEDFF"/>
                </a:solidFill>
              </a:rPr>
              <a:t>基线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离线主流程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已贯通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供应商 / 游客 / 会员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→ 订单 → 维度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20440" y="3931920"/>
            <a:ext cx="384048" cy="32918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331720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优先补齐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331720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B4551A"/>
                </a:solidFill>
              </a:rPr>
              <a:t>1 · 治理样板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核销履约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闸机 · 网关 · 终端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19544" y="2331720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2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渠道分销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分销 · 报团 · 返利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9888" y="2331720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结算财务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报表 · 对账 · 发票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160520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后续补齐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160520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商品资源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票种 · 库存 · 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1958" y="4160520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5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业态消费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乐园 · 演出 · 酒店 · 餐饮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4716" y="4160520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6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会员营销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年卡 · 积分 · 全民营销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7474" y="4160520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7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设备感知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设备 · 智能体 · SaaS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17220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in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8650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52728" y="617220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复用公共维度　</a:t>
            </a:r>
            <a:r>
              <a:rPr sz="1300" b="0">
                <a:solidFill>
                  <a:srgbClr val="2B2F42"/>
                </a:solidFill>
              </a:rPr>
              <a:t>租户 · 景区 · 商品 · 渠道 · 时间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</a:rPr>
              <a:t>指标、标签与自助分析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怎么统一口径和标签，又让景区自主分析？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指标体系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统一数据标签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自助分析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指标体系：企业统一标准，景区保留专属定义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同一出口，按景区隔离；同名不能覆盖企业标准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第五章 指标、标签与自助分析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0690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公共模型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明细 · 维度 · 汇总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60320"/>
            <a:ext cx="3200400" cy="1234440"/>
          </a:xfrm>
          <a:prstGeom prst="roundRect">
            <a:avLst>
              <a:gd name="adj" fmla="val 7407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企业标准指标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统一定义 · 版本管理 · 业务认证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9834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510235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景区自定义指标空间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8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68696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60807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相互隔离，只服务本景区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26060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416052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57150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问数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87168" y="4526280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71800" y="3177540"/>
            <a:ext cx="0" cy="272034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1800" y="317754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1800" y="589788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75120" y="3177540"/>
            <a:ext cx="502920" cy="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78040" y="2971800"/>
            <a:ext cx="0" cy="310896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78040" y="297180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78040" y="452628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78040" y="608076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675120" y="5897880"/>
            <a:ext cx="502920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74920" y="3794760"/>
            <a:ext cx="0" cy="118872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93792" y="422452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B4551A"/>
                </a:solidFill>
              </a:rPr>
              <a:t>评审后沉淀为标准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统一数据标签：一处生产，多处复用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OneID：订单、会员、年卡、人脸识别归并为同一游客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第五章 指标、标签与自助分析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78608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7048" y="2450592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统一生产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83464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基于 DIM / DWS 公共模型加工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77055" y="2743200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97096" y="2331720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578608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65776" y="2450592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283464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口径 · 负责人 · 生命周期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15783" y="2743200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35824" y="2331720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578608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04504" y="2450592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83464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营销 · 分析 · AI · 景区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5760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标签对象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92808" y="3657600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 / 会员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14292" y="3657600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5777" y="3657600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景区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7262" y="3657600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8747" y="3657600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商品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5262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标签类型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92808" y="4251960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基础属性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景区类型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会员等级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9664" y="4251960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统计类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近 30 天购票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客单价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251960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规则类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高频复购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夜游偏好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6" y="4251960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模型预测类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流失风险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复购倾向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77840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ck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71500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52728" y="5577840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边界　</a:t>
            </a:r>
            <a:r>
              <a:rPr sz="1300" b="0">
                <a:solidFill>
                  <a:srgbClr val="2B2F42"/>
                </a:solidFill>
              </a:rPr>
              <a:t>景区只用本景区标签 · 不做敏感个人信息标签 · 对外不提供个体标签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263640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指标回答“有多少”，标签回答“是谁、什么样”；两者共用公共模型和治理体系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自助分析：从统一模型出发，减少临时取数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第五章 指标、标签与自助分析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2286000" cy="2377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统一出发点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模型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指标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标签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3493008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423160"/>
            <a:ext cx="4251960" cy="2377440"/>
          </a:xfrm>
          <a:prstGeom prst="roundRect">
            <a:avLst>
              <a:gd name="adj" fmla="val 5769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0604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87368" y="25877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Quick BI 自助分析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7824" y="3154680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明细探索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8048" y="3154680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可视化计算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611880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自定义看板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0224" y="3611880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报表订阅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20624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景区指标与权限统一管理，集成到 BI 使用流程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72400" y="3493008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2423160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总部经营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跨景区对比 · 标准口径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246120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业务线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日常分析 · 少提需求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069080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景区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嵌入 SaaS · 本景区数据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20640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655BE6"/>
                </a:solidFill>
              </a:rPr>
              <a:t>AI 问数与 BI 同源　</a:t>
            </a:r>
            <a:r>
              <a:rPr sz="1300" b="0">
                <a:solidFill>
                  <a:srgbClr val="2B2F42"/>
                </a:solidFill>
              </a:rPr>
              <a:t>共用指标定义和权限，问出来的数和看板上的数一致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943600"/>
            <a:ext cx="10204704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07161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5943600"/>
            <a:ext cx="942746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企业指标中心 · 景区专属指标空间 · 统一标签服务 · 统一语义服务 · 自助分析平台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AI 平台与智能应用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AI 在哪里用、怎么保证可信？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AI 平台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支撑三条产品线的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AI 问数链路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AI 平台：让 AI 用上可信数据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第六章 AI 平台与智能应用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辅助数据建设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5382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问数与分析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2236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预测与预警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9091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知识助手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5945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业务助手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3756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共用能力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528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模型服务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7096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知识服务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5664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工具服务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4232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评测运营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4340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可信数据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38528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5382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标签服务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52236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知识库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9091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元数据与血缘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5945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权限隔离</a:t>
            </a:r>
          </a:p>
        </p:txBody>
      </p:sp>
      <p:sp>
        <p:nvSpPr>
          <p:cNvPr id="27" name="Up Arrow 26"/>
          <p:cNvSpPr/>
          <p:nvPr/>
        </p:nvSpPr>
        <p:spPr>
          <a:xfrm>
            <a:off x="6281928" y="2926080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6281928" y="3931920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16636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1266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2728" y="516636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AI 不直接生成数字，只通过受控的指标与数据服务取数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98932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推进顺序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38528" y="5989320"/>
            <a:ext cx="15026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1 辅助数据建设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514344" y="6099048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16096" y="5989320"/>
            <a:ext cx="1109472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2 AI 问数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998720" y="6099048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00472" y="5989320"/>
            <a:ext cx="16550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3 预测与业务助手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一套可信底座，支撑三条产品线的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第六章 AI 平台与智能应用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8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" y="281635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票务 AI 运营助手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32004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AI 对账助手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6136" y="2331720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9016" y="2395728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9016" y="281635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景数通 问数 · 洞察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9016" y="32004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APP 问数 · 预警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358444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调度中枢 八个智能体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3904" y="2331720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6783" y="2395728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6783" y="281635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旅游规划 · 智能客服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6783" y="32004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智能购票 · 伴游 · 旅拍</a:t>
            </a:r>
          </a:p>
        </p:txBody>
      </p:sp>
      <p:sp>
        <p:nvSpPr>
          <p:cNvPr id="23" name="Up Arrow 22"/>
          <p:cNvSpPr/>
          <p:nvPr/>
        </p:nvSpPr>
        <p:spPr>
          <a:xfrm>
            <a:off x="5641848" y="4069080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3484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AI 共用能力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38528" y="4434840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模型网关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97096" y="4434840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知识检索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55664" y="4434840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智能体工具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14232" y="4434840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评测反馈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292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可信数据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5029200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认证指标与语义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5382" y="5029200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统一标签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52236" y="5029200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数据服务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9091" y="5029200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实时事件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65945" y="5029200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权限隔离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60720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897880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5760720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4551A"/>
                </a:solidFill>
              </a:rPr>
              <a:t>关键　</a:t>
            </a:r>
            <a:r>
              <a:rPr sz="1250" b="0">
                <a:solidFill>
                  <a:srgbClr val="2B2F42"/>
                </a:solidFill>
              </a:rPr>
              <a:t>景数通、票付通 APP 都有 AI 问数，共用一套认证指标：同一个问题只有一个答案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各产品的问答日志、纠错和工单结果，回流到评测集与知识库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AI 问数：答得准、有出处、答不了就澄清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第六章 AI 平台与智能应用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识别用户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与租户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17627" y="285292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55371" y="237744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澄清指标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与时间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4630" y="285292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2374" y="237744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匹配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认证指标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1634" y="285292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9378" y="237744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权限与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成本检查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08637" y="285292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46381" y="237744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调用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5641" y="285292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3385" y="237744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校验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结果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02644" y="285292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0388" y="2377440"/>
            <a:ext cx="1222683" cy="1143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附口径、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时间、质量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9476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9136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评测集覆盖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" y="438912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简单指标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17192" y="438912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对比归因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7416" y="438912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模糊问题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40" y="438912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越权提问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4828031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无数据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75020" y="379476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3620" y="39136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衡量方式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3620" y="438912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正确率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81444" y="4389120"/>
            <a:ext cx="10911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越权阻断率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4067" y="438912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澄清率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1891" y="438912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响应时间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3620" y="4828031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单次成本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7784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724144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52728" y="557784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内外同源　</a:t>
            </a:r>
            <a:r>
              <a:rPr sz="1300" b="0">
                <a:solidFill>
                  <a:srgbClr val="FFFFFF"/>
                </a:solidFill>
              </a:rPr>
              <a:t>内部问数、景数通、票付通 APP 共用指标服务和评测集；每次变更都回归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业务数据闭环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怎么赋能业务，又让数据回流？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闭环模型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八条业务闭环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票务闭环样板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智能体闭环样板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五个运行机制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业务数据闭环：用得上数据，也回得来数据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第七章 业务数据闭环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业务产生数据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交易 · 行为 · 供给 · 外部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2377440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平台接入与治理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标准 · 质量 · 模型 · 实时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2" y="5623560"/>
            <a:ext cx="301752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输出价值数据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指标 · 标签 · 预测 · 洞察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23560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业务使用与行动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决策 · 运营 · 营销 · 服务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75887" y="2880360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54312" y="3383280"/>
            <a:ext cx="0" cy="224028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675887" y="6126480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67128" y="3383280"/>
            <a:ext cx="0" cy="2240280"/>
          </a:xfrm>
          <a:prstGeom prst="line">
            <a:avLst/>
          </a:prstGeom>
          <a:ln w="4445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89120" y="248716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采集与治理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4340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300" b="1">
                <a:solidFill>
                  <a:srgbClr val="776CFD"/>
                </a:solidFill>
              </a:rPr>
              <a:t>加工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62179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赋能：嵌入决策与动作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8620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反哺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结果 · 反馈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异常 · 新需求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200" b="1">
                <a:solidFill>
                  <a:srgbClr val="776CFD"/>
                </a:solidFill>
              </a:rPr>
              <a:t>越用越准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26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0">
                <a:solidFill>
                  <a:srgbClr val="5E6478"/>
                </a:solidFill>
              </a:rPr>
              <a:t>没有反哺的赋能，只是一次性交付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八条业务闭环：先跑通两条，再按批次复制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第七章 业务数据闭环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4688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0620" y="24871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29718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9352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实时看板 · 预警 · 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34290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3924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核销异常 · 预测偏差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0692" y="23317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5284" y="24688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订单交易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2944" y="24871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5284" y="29718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5636" y="29352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驾驶舱 · 对账定位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5284" y="34290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5636" y="33924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差错处理 · 口径反馈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3317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7608" y="24688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268" y="24871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优先试点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29718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9352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经营报告 · 健康度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07608" y="34290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3924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使用行为 · 续约结果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35340" y="23317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9932" y="24688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智能体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43592" y="24871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优先起步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9932" y="29718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0284" y="29352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可信指标 · 标签 · 知识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9932" y="34290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0284" y="33924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提问 · 纠错 · 高频问题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42519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渠道分销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66620" y="42702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随后启动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" y="47548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47183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渠道 ROI · 价格监控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59" y="52120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51755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策略效果 · 接口异常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50692" y="41148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5284" y="42519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8944" y="42702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15284" y="47548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45636" y="47183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转化漏斗 · 推荐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15284" y="52120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45636" y="51755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曝光转化 · 实验结论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41148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42519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51268" y="42702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07608" y="47548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47183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自动复盘 · 人群圈选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07608" y="52120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1755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活动效果 · 人群响应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35340" y="41148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9932" y="42519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592" y="42702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9932" y="47548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0284" y="47183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预测特征 · 口碑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99932" y="52120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0284" y="51755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实际贡献 · 续采决策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59893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15568" y="5961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实线框：优先启动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35808" y="59893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93008" y="5961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虚线框：后续批次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票务闭环（样板一）：让入园、核销数字可信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第七章 业务数据闭环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核销与设备数据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闸机 · 网关 · 票券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23774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核销标准模型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四个口径 · 三层核对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5715000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实时看板与预警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容量预警 · 客流预测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150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景区运营调度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节假日实时作战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52928" y="2834640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30368" y="3291840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52928" y="6172200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5648" y="3291840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49240" y="43434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4048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预警处理结果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预测与实际偏差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37744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774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37744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票种、库存、预约、核销、设备事件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24612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24612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24612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核销事件标准模型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订单与核销实时链路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11480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1480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11480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赋能看板、预警、预测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回流异常与偏差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4983479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983479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983479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先做样板，共建上报规范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每个节假日后复盘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585216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585216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85216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关键数字可信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节假日实时掌控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智能体闭环（样板二）：AI 越用越准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第七章 业务数据闭环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可信数据工具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指标 · 标签 · 知识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23774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智能体作答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口径一致、可追溯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57150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用户交互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提问 · 纠错 · 差评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150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平台持续补齐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补指标 · 补知识 · 评测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52928" y="2834640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30368" y="3291840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52928" y="6172200"/>
            <a:ext cx="1280159" cy="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5648" y="3291840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26080" y="245059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26364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8404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未覆盖的指标需求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口径歧义、高频问题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会话中的业务诉求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37744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3774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37744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景数通、APP 问数及游客智能体的交互数据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24612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24612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24612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统一取数工具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统一交互日志与评测集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11480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11480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11480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赋能可信答案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回流需求、歧义与纠错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4983479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983479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983479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上线即接入日志和评测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每月分析失败案例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5852160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585216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585216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答案越用越准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需求自动发现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闭环怎么持续运转：五个机制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第七章 业务数据闭环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1783080" cy="109728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FFFF"/>
                </a:solidFill>
              </a:rPr>
              <a:t>数据前置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上线前定埋点与口径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1448" y="2926080"/>
            <a:ext cx="322326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63774" y="2377440"/>
            <a:ext cx="1783080" cy="109728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FFFF"/>
                </a:solidFill>
              </a:rPr>
              <a:t>统一出口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指标、标签、API 输出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46854" y="2926080"/>
            <a:ext cx="322326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69180" y="2377440"/>
            <a:ext cx="1783080" cy="109728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FFFF"/>
                </a:solidFill>
              </a:rPr>
              <a:t>反馈回流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结果按事件标识回流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52260" y="2926080"/>
            <a:ext cx="322326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74586" y="2377440"/>
            <a:ext cx="1783080" cy="109728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FFFF"/>
                </a:solidFill>
              </a:rPr>
              <a:t>效果复盘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按月及节假日复盘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7666" y="2926080"/>
            <a:ext cx="322326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79992" y="2377440"/>
            <a:ext cx="1783080" cy="109728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FFFF"/>
                </a:solidFill>
              </a:rPr>
              <a:t>持续迭代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规则与模型版本化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71532" y="3474720"/>
            <a:ext cx="0" cy="365760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549907" y="3840480"/>
            <a:ext cx="8421625" cy="0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49907" y="3474720"/>
            <a:ext cx="0" cy="36576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91840" y="393192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B4551A"/>
                </a:solidFill>
              </a:rPr>
              <a:t>循环往复，闭环越转越准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26280"/>
            <a:ext cx="327964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7" y="4681728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4818888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54480" y="464515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业务负责人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8348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定目标 · 用结果 · 给反馈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4526280"/>
            <a:ext cx="327964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03776" y="4681728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936" y="481888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17008" y="464515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7008" y="498348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建能力 · 出数据 · 做复盘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4526280"/>
            <a:ext cx="327964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66303" y="4681728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od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463" y="481888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79536" y="464515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产品研发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9536" y="498348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保埋点 · 保回流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71500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ctiv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861304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52728" y="571500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闭环健康度　</a:t>
            </a:r>
            <a:r>
              <a:rPr sz="1300" b="0">
                <a:solidFill>
                  <a:srgbClr val="FFFFFF"/>
                </a:solidFill>
              </a:rPr>
              <a:t>回流覆盖率 · 场景采纳率 · 迭代周期 · 业务效果变化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数据服务与价值转化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平台能力怎么变成服务、产品和行业成果？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统一数据服务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一键接入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对外数据产品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对外与行业路径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行业成果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数据服务：动态数据开放 API 升级为统一出口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第八章 数据服务与价值转化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688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当前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7048" y="2468880"/>
            <a:ext cx="2194560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1">
                <a:solidFill>
                  <a:srgbClr val="FFFFFF"/>
                </a:solidFill>
              </a:rPr>
              <a:t>ADS 指标快速发布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546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升级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7048" y="3154680"/>
            <a:ext cx="288036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关联标准指标 · 权限 · 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8404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服务化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7048" y="3840480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指标与标签服务 · 租户隔离 · AI 工具化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开放化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27048" y="4526280"/>
            <a:ext cx="4251960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嵌入式 BI 与 AI 集成 · 套餐与计量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49240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n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477255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52728" y="5349240"/>
            <a:ext cx="434339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一键接入　</a:t>
            </a:r>
            <a:r>
              <a:rPr sz="1200" b="0">
                <a:solidFill>
                  <a:srgbClr val="2B2F42"/>
                </a:solidFill>
              </a:rPr>
              <a:t>标准连接器 · 接入向导 · 运行监测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169164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统一指标与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标签服务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55279" y="4206240"/>
            <a:ext cx="320041" cy="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75320" y="2697480"/>
            <a:ext cx="0" cy="301752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1080" y="242316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269748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41080" y="320040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业务系统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347472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41080" y="393192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景区 SaaS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75320" y="420624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466344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合作伙伴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75320" y="493776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41080" y="544068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智能体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75320" y="571500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63640" y="493776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一套服务</a:t>
            </a:r>
          </a:p>
          <a:p>
            <a:pPr algn="ctr"/>
            <a:r>
              <a:rPr sz="1200" b="1">
                <a:solidFill>
                  <a:srgbClr val="776CFD"/>
                </a:solidFill>
              </a:rPr>
              <a:t>内外口径一致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一键接入：把重复对接做成配置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第八章 数据服务与价值转化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2194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1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授权开通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2766060"/>
            <a:ext cx="475487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28415" y="2377440"/>
            <a:ext cx="2194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2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选择连接器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22975" y="2766060"/>
            <a:ext cx="475489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98464" y="2377440"/>
            <a:ext cx="219456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655BE6"/>
                </a:solidFill>
              </a:rPr>
              <a:t>3 · AI 辅助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655BE6"/>
                </a:solidFill>
              </a:rPr>
              <a:t>字段映射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93023" y="2766060"/>
            <a:ext cx="475489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68512" y="2377440"/>
            <a:ext cx="2194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4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历史初始化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8512" y="3749039"/>
            <a:ext cx="2194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5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增量同步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193023" y="4137660"/>
            <a:ext cx="475489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98464" y="3749039"/>
            <a:ext cx="2194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6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质量检查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522975" y="4137660"/>
            <a:ext cx="475489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28415" y="3749039"/>
            <a:ext cx="2194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7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试运行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852928" y="4137660"/>
            <a:ext cx="475487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3749039"/>
            <a:ext cx="2194560" cy="777240"/>
          </a:xfrm>
          <a:prstGeom prst="roundRect">
            <a:avLst>
              <a:gd name="adj" fmla="val 11764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1">
                <a:solidFill>
                  <a:srgbClr val="FFFFFF"/>
                </a:solidFill>
              </a:rPr>
              <a:t>8</a:t>
            </a:r>
          </a:p>
          <a:p>
            <a:pPr algn="l"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</a:rPr>
              <a:t>上线与监控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65792" y="3154680"/>
            <a:ext cx="0" cy="594359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4800600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配套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35607" y="4800600"/>
            <a:ext cx="10911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8232" y="4800600"/>
            <a:ext cx="108813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文档与 SDK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7808" y="4800600"/>
            <a:ext cx="633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沙箱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3232" y="480060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签名鉴权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3456" y="4800600"/>
            <a:ext cx="10911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限流与幂等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36080" y="480060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调用计量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66304" y="480060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服务等级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66928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B4551A"/>
                </a:solidFill>
              </a:rPr>
              <a:t>适用　</a:t>
            </a:r>
            <a:r>
              <a:rPr sz="1250" b="0">
                <a:solidFill>
                  <a:srgbClr val="2B2F42"/>
                </a:solidFill>
              </a:rPr>
              <a:t>已适配的标准系统；非标系统进入专项实施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566928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衡量　</a:t>
            </a:r>
            <a:r>
              <a:rPr sz="1250" b="0">
                <a:solidFill>
                  <a:srgbClr val="FFFFFF"/>
                </a:solidFill>
              </a:rPr>
              <a:t>接入周期中位数与 P90 · 首次验收通过率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对外产品：谁买、买什么、怎么收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第八章 数据服务与价值转化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6887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景区经营分析增强版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986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景区、景区集团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统一分析、对标、预警、问数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SaaS 增购订阅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3317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2064" y="246887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预测与运营助手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064" y="28986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季节性强的景区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客流预测、备勤建议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场景订阅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3424" y="23317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4592" y="246887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数据开放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4592" y="28986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渠道伙伴、集成商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标准接入、指标调用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年费 + 调用量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2336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区域文旅监测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59028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文旅主管部门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客流、消费、安全研判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项目 + 运营服务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0896" y="402336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2064" y="416052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行业研究与基准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064" y="459028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文旅集团、研究机构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报告、匿名对标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订阅或专题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3424" y="402336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4592" y="416052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E2C8"/>
                </a:solidFill>
              </a:rPr>
              <a:t>按产品核算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4592" y="459028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</a:rPr>
              <a:t>收入、交付人天、云资源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模型调用、外部数据、客服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看毛利、续约、复用率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85216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998464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52728" y="585216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前提　</a:t>
            </a:r>
            <a:r>
              <a:rPr sz="1300" b="0">
                <a:solidFill>
                  <a:srgbClr val="2B2F42"/>
                </a:solidFill>
              </a:rPr>
              <a:t>数据来源、授权用途、交付粒度写清楚；不因数据进入平台就推定可以销售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对外与行业：从试点验证到规模输出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第八章 数据服务与价值转化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45</a:t>
            </a:r>
          </a:p>
        </p:txBody>
      </p:sp>
      <p:pic>
        <p:nvPicPr>
          <p:cNvPr id="10" name="Picture 9" descr="star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4128" y="2267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商业化路径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0048"/>
            <a:ext cx="2242566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内部验证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92374" y="284378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2414" y="2670048"/>
            <a:ext cx="2242566" cy="566928"/>
          </a:xfrm>
          <a:prstGeom prst="roundRect">
            <a:avLst>
              <a:gd name="adj" fmla="val 16129"/>
            </a:avLst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试点景区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46420" y="284378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66460" y="2670048"/>
            <a:ext cx="2242566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付费试点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00466" y="284378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20506" y="2670048"/>
            <a:ext cx="2242566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标准服务包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9000"/>
            <a:ext cx="13959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景区分析增强版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5792" y="3429000"/>
            <a:ext cx="115519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运营助手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2424" y="3429000"/>
            <a:ext cx="9357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标准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9600" y="3429000"/>
            <a:ext cx="1091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嵌入式分析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2224" y="3429000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行业研究</a:t>
            </a:r>
          </a:p>
        </p:txBody>
      </p:sp>
      <p:pic>
        <p:nvPicPr>
          <p:cNvPr id="24" name="Picture 23" descr="boo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1480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4128" y="40965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行业输出路径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98848"/>
            <a:ext cx="1748332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经营月报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79852" y="4672584"/>
            <a:ext cx="219456" cy="219456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72460" y="4498848"/>
            <a:ext cx="1748332" cy="566928"/>
          </a:xfrm>
          <a:prstGeom prst="roundRect">
            <a:avLst>
              <a:gd name="adj" fmla="val 16129"/>
            </a:avLst>
          </a:prstGeom>
          <a:solidFill>
            <a:srgbClr val="FB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节假日专题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93945" y="4672584"/>
            <a:ext cx="219456" cy="219456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86553" y="4498848"/>
            <a:ext cx="1748332" cy="566928"/>
          </a:xfrm>
          <a:prstGeom prst="roundRect">
            <a:avLst>
              <a:gd name="adj" fmla="val 16129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年度研究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708038" y="4672584"/>
            <a:ext cx="219456" cy="219456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00646" y="4498848"/>
            <a:ext cx="1748332" cy="566928"/>
          </a:xfrm>
          <a:prstGeom prst="roundRect">
            <a:avLst>
              <a:gd name="adj" fmla="val 16129"/>
            </a:avLst>
          </a:prstGeom>
          <a:solidFill>
            <a:srgbClr val="F3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对标与规范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22131" y="4672584"/>
            <a:ext cx="219456" cy="219456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14739" y="4498848"/>
            <a:ext cx="1748332" cy="566928"/>
          </a:xfrm>
          <a:prstGeom prst="roundRect">
            <a:avLst>
              <a:gd name="adj" fmla="val 16129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团体标准共建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6928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81558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566928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边界　</a:t>
            </a:r>
            <a:r>
              <a:rPr sz="1300" b="0">
                <a:solidFill>
                  <a:srgbClr val="FFFFFF"/>
                </a:solidFill>
              </a:rPr>
              <a:t>单景区数据只服务该景区 · 对外只提供匿名聚合 · 授权清楚 · 成本可核算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行业成果：可验证的方法，可信的结论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第八章 数据服务与价值转化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59" y="246887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260603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7048" y="244144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节假日洞察快报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78892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预订、核销、渠道变化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0896" y="233172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85488" y="246887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648" y="2606039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9576" y="244144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年度行业报告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9576" y="278892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数字经营与典型实践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3424" y="233172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48015" y="246887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5176" y="2606039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2103" y="244144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基准与景气指数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2103" y="278892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同类景区匿名对标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29183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" y="342899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verifie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19" y="3566159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7048" y="340156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数据与接入规范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374903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模型、口径、接口契约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20896" y="329183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85488" y="342899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648" y="3566159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89576" y="340156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高质量数据集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9576" y="374903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交易、核销、客流脱敏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3424" y="329183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48015" y="342899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5176" y="3566159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52103" y="340156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应用实践指南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2103" y="374903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问数评测、知识治理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3891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方法论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73659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公开样本与口径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26740" y="473659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区分同店与新增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95113" y="473659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不外推全国市场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63486" y="473659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最小分组规模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31859" y="473659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起草，专家审核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62356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lob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769864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52728" y="562356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发布渠道　</a:t>
            </a:r>
            <a:r>
              <a:rPr sz="1300" b="0">
                <a:solidFill>
                  <a:srgbClr val="FFFFFF"/>
                </a:solidFill>
              </a:rPr>
              <a:t>依托文旅部技术创新中心；规范从企业版到伙伴共建，再推动团体标准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建成后的价值与展望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对内、对外、对行业的价值与所需支持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赋能企业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价值三层递进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建成后的样子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价值衡量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组织与机制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风险与应对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需要的支持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整体思路 · 本章所处位置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赋能企业：从找人要数，到数据找人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1460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" y="301752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经营驾驶舱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0156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E2C8"/>
                </a:solidFill>
              </a:rPr>
              <a:t>管理层 · 景区运营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74903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核心指标一屏看全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节假日实时作战屏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移动端随时查看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6136" y="2331720"/>
            <a:ext cx="3249168" cy="2240280"/>
          </a:xfrm>
          <a:prstGeom prst="roundRect">
            <a:avLst>
              <a:gd name="adj" fmla="val 40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36" y="251460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64736" y="301752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自助分析与 AI 问数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4736" y="340156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运营 · 渠道 · 营销 · 客户成功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736" y="374903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标准分析模板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拖拽或提问取数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结果带口径与更新时间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3904" y="233172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end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504" y="2514600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42504" y="301752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主动推送与自动报告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2504" y="340156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B4551A"/>
                </a:solidFill>
              </a:rPr>
              <a:t>全员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2504" y="374903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指标异常自动预警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节假日前客流播报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日报、周报自动生成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54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用数流程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7492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数据门户找数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147316" y="520293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12492" y="507492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看指标口径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901440" y="520293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66616" y="507492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申请权限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655564" y="520293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20740" y="507492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模板或提问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409688" y="520293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74864" y="507492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带口径的结果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163812" y="520293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28988" y="5074920"/>
            <a:ext cx="1434084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订阅变化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5216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998464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52728" y="585216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衡量　</a:t>
            </a:r>
            <a:r>
              <a:rPr sz="1300" b="0">
                <a:solidFill>
                  <a:srgbClr val="FFFFFF"/>
                </a:solidFill>
              </a:rPr>
              <a:t>活跃用户 · 自助完成率 · 取数周期 · 业务采纳率，不以上线看板数量衡量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价值逐层递进：赋能企业 → 赋能客户 → 赋能行业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20440"/>
            <a:ext cx="3249168" cy="3291840"/>
          </a:xfrm>
          <a:prstGeom prst="roundRect">
            <a:avLst>
              <a:gd name="adj" fmla="val 281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95928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赋能企业内部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5120640"/>
            <a:ext cx="288340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655BE6"/>
                </a:solidFill>
              </a:rPr>
              <a:t>降本　</a:t>
            </a:r>
            <a:r>
              <a:rPr sz="1250" b="0">
                <a:solidFill>
                  <a:srgbClr val="2B2F42"/>
                </a:solidFill>
              </a:rPr>
              <a:t>重复模型退役，人力释放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655BE6"/>
                </a:solidFill>
              </a:rPr>
              <a:t>增效　</a:t>
            </a:r>
            <a:r>
              <a:rPr sz="1250" b="0">
                <a:solidFill>
                  <a:srgbClr val="2B2F42"/>
                </a:solidFill>
              </a:rPr>
              <a:t>T+1 到分钟级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655BE6"/>
                </a:solidFill>
              </a:rPr>
              <a:t>控险　</a:t>
            </a:r>
            <a:r>
              <a:rPr sz="1250" b="0">
                <a:solidFill>
                  <a:srgbClr val="2B2F42"/>
                </a:solidFill>
              </a:rPr>
              <a:t>差错可发现、可追溯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655BE6"/>
                </a:solidFill>
              </a:rPr>
              <a:t>资产　</a:t>
            </a:r>
            <a:r>
              <a:rPr sz="1250" b="0">
                <a:solidFill>
                  <a:srgbClr val="2B2F42"/>
                </a:solidFill>
              </a:rPr>
              <a:t>数据资产可计量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6136" y="2971800"/>
            <a:ext cx="3249168" cy="3840480"/>
          </a:xfrm>
          <a:prstGeom prst="roundRect">
            <a:avLst>
              <a:gd name="adj" fmla="val 281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6" y="315468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E2C8"/>
                </a:solidFill>
              </a:rPr>
              <a:t>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3447288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FFFFFF"/>
                </a:solidFill>
              </a:rPr>
              <a:t>赋能客户与伙伴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5120640"/>
            <a:ext cx="288340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E2C8"/>
                </a:solidFill>
              </a:rPr>
              <a:t>客户　</a:t>
            </a:r>
            <a:r>
              <a:rPr sz="1250" b="0">
                <a:solidFill>
                  <a:srgbClr val="FFFFFF"/>
                </a:solidFill>
              </a:rPr>
              <a:t>自主分析与 AI 辅助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FFE2C8"/>
                </a:solidFill>
              </a:rPr>
              <a:t>收入　</a:t>
            </a:r>
            <a:r>
              <a:rPr sz="1250" b="0">
                <a:solidFill>
                  <a:srgbClr val="FFFFFF"/>
                </a:solidFill>
              </a:rPr>
              <a:t>续约、客单价、新服务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FFE2C8"/>
                </a:solidFill>
              </a:rPr>
              <a:t>伙伴　</a:t>
            </a:r>
            <a:r>
              <a:rPr sz="1250" b="0">
                <a:solidFill>
                  <a:srgbClr val="FFFFFF"/>
                </a:solidFill>
              </a:rPr>
              <a:t>标准接入、直接集成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FFE2C8"/>
                </a:solidFill>
              </a:rPr>
              <a:t>壁垒　</a:t>
            </a:r>
            <a:r>
              <a:rPr sz="1250" b="0">
                <a:solidFill>
                  <a:srgbClr val="FFFFFF"/>
                </a:solidFill>
              </a:rPr>
              <a:t>可信数据与广泛连接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3904" y="2423160"/>
            <a:ext cx="3249168" cy="4389120"/>
          </a:xfrm>
          <a:prstGeom prst="roundRect">
            <a:avLst>
              <a:gd name="adj" fmla="val 2814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2504" y="260604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FFFF"/>
                </a:solidFill>
              </a:rPr>
              <a:t>影响力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2504" y="2898648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赋能行业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2504" y="5120640"/>
            <a:ext cx="2883408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</a:rPr>
              <a:t>标准　</a:t>
            </a:r>
            <a:r>
              <a:rPr sz="1250" b="0">
                <a:solidFill>
                  <a:srgbClr val="2B2F42"/>
                </a:solidFill>
              </a:rPr>
              <a:t>口径、模型、接入规范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FFFFFF"/>
                </a:solidFill>
              </a:rPr>
              <a:t>洞察　</a:t>
            </a:r>
            <a:r>
              <a:rPr sz="1250" b="0">
                <a:solidFill>
                  <a:srgbClr val="2B2F42"/>
                </a:solidFill>
              </a:rPr>
              <a:t>节假日专题与年度报告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FFFFFF"/>
                </a:solidFill>
              </a:rPr>
              <a:t>数据要素　</a:t>
            </a:r>
            <a:r>
              <a:rPr sz="1250" b="0">
                <a:solidFill>
                  <a:srgbClr val="2B2F42"/>
                </a:solidFill>
              </a:rPr>
              <a:t>合规高质量数据集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1">
                <a:solidFill>
                  <a:srgbClr val="FFFFFF"/>
                </a:solidFill>
              </a:rPr>
              <a:t>品牌　</a:t>
            </a:r>
            <a:r>
              <a:rPr sz="1250" b="0">
                <a:solidFill>
                  <a:srgbClr val="2B2F42"/>
                </a:solidFill>
              </a:rPr>
              <a:t>文旅数据与 AI 专业地位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建成后的样子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265176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2816352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09928" y="2514600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管理层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898648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每个经营问题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都有可追溯的答案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0896" y="2331720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2064" y="265176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56" y="2816352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72456" y="2514600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业务团队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2456" y="2898648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日常分析自助完成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或直接问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3424" y="2331720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84592" y="265176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184" y="2816352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34984" y="2514600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4984" y="2898648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从反复对数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转向建能力、出洞察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94760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" y="4114800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om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7" y="4279392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09928" y="3977640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景区客户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4361688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用自己的数据和指标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做经营决策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20896" y="3794760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2064" y="4114800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in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656" y="4279392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72456" y="3977640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合作伙伴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2456" y="4361688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标准场景配置化接入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能力直接集成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3424" y="3794760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84592" y="4114800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lob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184" y="4279392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34984" y="3977640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行业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4984" y="4361688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文旅数据报告、对标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与规范的重要发布方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440680"/>
            <a:ext cx="10204704" cy="7315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440680"/>
            <a:ext cx="10204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数据可信 · 模型可复用 · 服务稳定 · 能力易扩展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价值怎么衡量：每类价值都有指标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68880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655BE6"/>
                </a:solidFill>
              </a:rPr>
              <a:t>赋能企业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降本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310127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退役模型与任务、释放存算、省下人天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712463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增效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05072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可查询延迟、交付周期、自助完成率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07408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控险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70001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核对差异率、问题关闭时长、越权拦截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10235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539496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跑通闭环数、回流覆盖率、采纳率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6136" y="2331720"/>
            <a:ext cx="3249168" cy="3520440"/>
          </a:xfrm>
          <a:prstGeom prst="roundRect">
            <a:avLst>
              <a:gd name="adj" fmla="val 281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4736" y="2468880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FFFFFF"/>
                </a:solidFill>
              </a:rPr>
              <a:t>赋能客户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4736" y="3017520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客户价值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4736" y="3310127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自助分析景区数、活跃度、满意度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4736" y="3712463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商业价值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4736" y="4005072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付费客户、收入、续约率、毛利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4736" y="4407408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接入效率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4736" y="470001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接入周期、首次验收通过率、调用量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13904" y="2331720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2504" y="2468880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赋能行业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2504" y="3017520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影响力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2504" y="3310127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报告发布与引用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2504" y="3712463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标准化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2504" y="4005072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规范被伙伴采纳、标准立项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2504" y="4407408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合作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2504" y="470001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研究合作、商机转化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6080760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ctivit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1792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52728" y="6080760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先建立基线再定目标；以实际使用和业务结果衡量，不以上线看板数量衡量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组织与机制：谁负责、怎么协同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331720"/>
            <a:ext cx="2962656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数据治理委员会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管理层牵头 · 裁定口径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3429000"/>
            <a:ext cx="2962656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数据平台部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建设与运营平台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290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业务线数据负责人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定口径 · 用结果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4112" y="34290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数据大使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传需求 · 推使用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063240"/>
            <a:ext cx="0" cy="365760"/>
          </a:xfrm>
          <a:prstGeom prst="line">
            <a:avLst/>
          </a:prstGeom>
          <a:ln w="25400">
            <a:solidFill>
              <a:srgbClr val="655B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67328" y="3794760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42048" y="3794760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4800600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平台与架构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8964" y="4800600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数据研发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9560" y="4800600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治理与指标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20156" y="4800600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产品与 BI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0752" y="4800600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AI 工程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1348" y="4800600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开放与解决方案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416052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59230" y="4480560"/>
            <a:ext cx="8602980" cy="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59230" y="448056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79826" y="448056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00422" y="448056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21018" y="448056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41614" y="448056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62210" y="4480560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5760720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机制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5607" y="5760720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月度数据共建会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3032" y="576072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口径评审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3256" y="5760720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资产健康分公示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5760720"/>
            <a:ext cx="143865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代码与 SQL 评审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70776" y="5760720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开发规范手册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5799" y="5760720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月度数据洞察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风险与应对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871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口径对齐阻力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2216" y="24963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9535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管理层背书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定义权归业务方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0896" y="23317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24871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存量切换影响业务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4744" y="24963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2064" y="29535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双跑验证、观察期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保留回滚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3317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4592" y="24871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答错、越权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77272" y="24963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4592" y="29535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只用认证指标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评测回归、权限前置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319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0873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个人信息与授权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52216" y="40965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5537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分类分级、最小化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法务前置审核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20896" y="39319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2064" y="40873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节假日峰值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14744" y="40965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2064" y="45537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压测、降级预案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节前封版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3424" y="39319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84592" y="40873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与现有产品重复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77272" y="40965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4592" y="45537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底座共建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应用分工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66928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815584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66928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资源不足时　</a:t>
            </a:r>
            <a:r>
              <a:rPr sz="1300" b="0">
                <a:solidFill>
                  <a:srgbClr val="FFFFFF"/>
                </a:solidFill>
              </a:rPr>
              <a:t>聚焦核心域，不贪多求全；每个阶段都有看得见的成果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9888"/>
            <a:ext cx="10204704" cy="640080"/>
          </a:xfrm>
        </p:spPr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655BE6"/>
                </a:solidFill>
              </a:rPr>
              <a:t>需要的支持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72116" y="1133856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价值是什么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49740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要怎么建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7363" y="1133856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要建什么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7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1211" y="1133856"/>
            <a:ext cx="562356" cy="21945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5E6478"/>
                </a:solidFill>
              </a:rPr>
              <a:t>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票付通 AI 大数据平台建设规划 · 第九章 建成后的价值与展望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279648" cy="1691640"/>
          </a:xfrm>
          <a:prstGeom prst="roundRect">
            <a:avLst>
              <a:gd name="adj" fmla="val 540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256032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2724912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09928" y="25603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834639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口径决策机制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91388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成立数据治理委员会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明确最终裁定人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0896" y="2331720"/>
            <a:ext cx="3279648" cy="1691640"/>
          </a:xfrm>
          <a:prstGeom prst="roundRect">
            <a:avLst>
              <a:gd name="adj" fmla="val 540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2064" y="256032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56" y="2724912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72456" y="25603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2456" y="2834639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规范强制力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355848"/>
            <a:ext cx="291388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规范检查作为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发布前置条件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3424" y="2331720"/>
            <a:ext cx="3279648" cy="1691640"/>
          </a:xfrm>
          <a:prstGeom prst="roundRect">
            <a:avLst>
              <a:gd name="adj" fmla="val 540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84592" y="256032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e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184" y="2724912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34984" y="25603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4984" y="2834639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存量策略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2024" y="3355848"/>
            <a:ext cx="291388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存量不动、增量新规范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核对后逐步迁移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06240"/>
            <a:ext cx="3279648" cy="1691640"/>
          </a:xfrm>
          <a:prstGeom prst="roundRect">
            <a:avLst>
              <a:gd name="adj" fmla="val 540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434840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lou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7" y="4599431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09928" y="44348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9928" y="4709159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技术路线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230368"/>
            <a:ext cx="291388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基于现有工具延伸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实时与湖仓验证后定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20896" y="4206240"/>
            <a:ext cx="3279648" cy="1691640"/>
          </a:xfrm>
          <a:prstGeom prst="roundRect">
            <a:avLst>
              <a:gd name="adj" fmla="val 540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22064" y="4434840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t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656" y="4599431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72456" y="44348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2456" y="4709159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资源投入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9496" y="5230368"/>
            <a:ext cx="291388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核心人员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与资源预算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3424" y="4206240"/>
            <a:ext cx="3279648" cy="1691640"/>
          </a:xfrm>
          <a:prstGeom prst="roundRect">
            <a:avLst>
              <a:gd name="adj" fmla="val 540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84592" y="4434840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trus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184" y="4599431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34984" y="44348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4984" y="4709159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业务配合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2024" y="5230368"/>
            <a:ext cx="291388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各业务线指定数据负责人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参与指标确认与闭环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治理是基础，平台是载体</a:t>
            </a:r>
          </a:p>
          <a:p>
            <a:pPr algn="ctr"/>
            <a:r>
              <a:rPr sz="3600" b="1">
                <a:solidFill>
                  <a:srgbClr val="FFFFFF"/>
                </a:solidFill>
              </a:rPr>
              <a:t>AI 与数据服务放大价值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800" b="0">
                <a:solidFill>
                  <a:srgbClr val="EEEDFF"/>
                </a:solidFill>
              </a:rPr>
              <a:t>赋能企业 · 赋能行业　|　谢谢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heme/theme1.xml><?xml version="1.0" encoding="utf-8"?>
<a:theme xmlns:a="http://schemas.openxmlformats.org/drawingml/2006/main" name="第一PPT模板网：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13ee637-1583-4e68-adee-a086e9f023e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chemeClr val="bg1">
              <a:lumMod val="75000"/>
            </a:schemeClr>
          </a:solidFill>
        </a:ln>
        <a:scene3d>
          <a:camera prst="orthographicFront"/>
          <a:lightRig rig="flat" dir="t"/>
        </a:scene3d>
        <a:sp3d>
          <a:extrusionClr>
            <a:schemeClr val="bg1"/>
          </a:extrusionClr>
          <a:contourClr>
            <a:schemeClr val="bg1"/>
          </a:contourClr>
        </a:sp3d>
      </a:spPr>
      <a:bodyPr rtlCol="0" anchor="ctr"/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40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21268</Words>
  <Application>WPS 演示</Application>
  <PresentationFormat>自定义</PresentationFormat>
  <Paragraphs>3534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120" baseType="lpstr">
      <vt:lpstr>Arial</vt:lpstr>
      <vt:lpstr>SimSun</vt:lpstr>
      <vt:lpstr>Wingdings</vt:lpstr>
      <vt:lpstr>Microsoft YaHei</vt:lpstr>
      <vt:lpstr>Calibri</vt:lpstr>
      <vt:lpstr>Arial Unicode MS</vt:lpstr>
      <vt:lpstr>STXihei</vt:lpstr>
      <vt:lpstr>Calibri</vt:lpstr>
      <vt:lpstr>苹方 特粗</vt:lpstr>
      <vt:lpstr>OPPOSans B</vt:lpstr>
      <vt:lpstr>Microsoft YaHei UI Bold</vt:lpstr>
      <vt:lpstr>Microsoft YaHei UI Regular</vt:lpstr>
      <vt:lpstr>Arial</vt:lpstr>
      <vt:lpstr>DM Sans Regular</vt:lpstr>
      <vt:lpstr>FFont-Family</vt:lpstr>
      <vt:lpstr>Barlow Medium</vt:lpstr>
      <vt:lpstr>Helvetica Neue</vt:lpstr>
      <vt:lpstr>Microsoft YaHei Bold</vt:lpstr>
      <vt:lpstr>Helvetica Neue Medium</vt:lpstr>
      <vt:lpstr>Arial Unicode MS</vt:lpstr>
      <vt:lpstr>Gilroy ExtraBold</vt:lpstr>
      <vt:lpstr>OPPOSans R</vt:lpstr>
      <vt:lpstr>DengXian</vt:lpstr>
      <vt:lpstr>Jost-Bold</vt:lpstr>
      <vt:lpstr>思源宋体 CN Heavy</vt:lpstr>
      <vt:lpstr>Barlow Bold</vt:lpstr>
      <vt:lpstr>思源黑体 CN Normal</vt:lpstr>
      <vt:lpstr>SimHei</vt:lpstr>
      <vt:lpstr>Barlow SemiBold</vt:lpstr>
      <vt:lpstr>阿里巴巴普惠体 2.0 45 Light</vt:lpstr>
      <vt:lpstr>Alibaba PuHuiTi 3.0 55 Regular</vt:lpstr>
      <vt:lpstr>Roboto Regular</vt:lpstr>
      <vt:lpstr>思源黑体 CN Regular</vt:lpstr>
      <vt:lpstr>Alibaba PuHuiTi 3.0 55 Regular</vt:lpstr>
      <vt:lpstr>Barlow SemiBold</vt:lpstr>
      <vt:lpstr>Helvetica Neue</vt:lpstr>
      <vt:lpstr>Wingdings</vt:lpstr>
      <vt:lpstr>Microsoft YaHei</vt:lpstr>
      <vt:lpstr>+mn-ea微软雅黑</vt:lpstr>
      <vt:lpstr>+mn-lt微软雅黑</vt:lpstr>
      <vt:lpstr>第一PPT模板网：www.1ppt.com</vt:lpstr>
      <vt:lpstr>Office 主题​​</vt:lpstr>
      <vt:lpstr>点击输入总结内容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</dc:title>
  <dc:creator>www.1ppt.com</dc:creator>
  <cp:keywords>第一PPT www.1ppt.com</cp:keywords>
  <dc:description>http://www.1ppt.com</dc:description>
  <cp:category>http://www.1ppt.com</cp:category>
  <cp:lastModifiedBy>寶安居士</cp:lastModifiedBy>
  <cp:revision>1446</cp:revision>
  <dcterms:created xsi:type="dcterms:W3CDTF">2009-02-11T05:37:00Z</dcterms:created>
  <dcterms:modified xsi:type="dcterms:W3CDTF">2026-10-14T11:53:47Z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锐普图表</vt:lpwstr>
  </property>
  <property fmtid="{D5CDD505-2E9C-101B-9397-08002B2CF9AE}" pid="3" name="SlideDescription">
    <vt:lpwstr/>
  </property>
  <property fmtid="{D5CDD505-2E9C-101B-9397-08002B2CF9AE}" pid="4" name="ICV">
    <vt:lpwstr>B14B338463114CB1AA48C40141CB66E8_12</vt:lpwstr>
  </property>
  <property fmtid="{D5CDD505-2E9C-101B-9397-08002B2CF9AE}" pid="5" name="KSOProductBuildVer">
    <vt:lpwstr>2052-12.1.0.29161</vt:lpwstr>
  </property>
</Properties>
</file>