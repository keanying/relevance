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2" r:id="rId3"/>
  </p:sldMasterIdLst>
  <p:notesMasterIdLst>
    <p:notesMasterId r:id="rId82"/>
  </p:notesMasterIdLst>
  <p:handoutMasterIdLst>
    <p:handoutMasterId r:id="rId83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  <p:sldId id="298" r:id="rId51"/>
    <p:sldId id="299" r:id="rId52"/>
    <p:sldId id="300" r:id="rId53"/>
    <p:sldId id="301" r:id="rId54"/>
    <p:sldId id="302" r:id="rId55"/>
    <p:sldId id="303" r:id="rId56"/>
  </p:sldIdLst>
  <p:sldSz cx="11522075" cy="8640445"/>
  <p:notesSz cx="6858000" cy="9144000"/>
  <p:defaultTextStyle>
    <a:defPPr>
      <a:defRPr lang="zh-CN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1pPr>
    <a:lvl2pPr marL="57594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2pPr>
    <a:lvl3pPr marL="115189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3pPr>
    <a:lvl4pPr marL="172847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4pPr>
    <a:lvl5pPr marL="230441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5pPr>
    <a:lvl6pPr marL="2880360" algn="l" defTabSz="115189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6pPr>
    <a:lvl7pPr marL="3456305" algn="l" defTabSz="115189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7pPr>
    <a:lvl8pPr marL="4032250" algn="l" defTabSz="115189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8pPr>
    <a:lvl9pPr marL="4608830" algn="l" defTabSz="115189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22" userDrawn="1">
          <p15:clr>
            <a:srgbClr val="A4A3A4"/>
          </p15:clr>
        </p15:guide>
        <p15:guide id="2" pos="362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990099"/>
    <a:srgbClr val="FF3399"/>
    <a:srgbClr val="66FF33"/>
    <a:srgbClr val="99FF66"/>
    <a:srgbClr val="FFCC66"/>
    <a:srgbClr val="FF9900"/>
    <a:srgbClr val="FFFFFF"/>
    <a:srgbClr val="FFCC00"/>
    <a:srgbClr val="0020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634" autoAdjust="0"/>
    <p:restoredTop sz="95672" autoAdjust="0"/>
  </p:normalViewPr>
  <p:slideViewPr>
    <p:cSldViewPr showGuides="1">
      <p:cViewPr>
        <p:scale>
          <a:sx n="50" d="100"/>
          <a:sy n="50" d="100"/>
        </p:scale>
        <p:origin x="2814" y="1077"/>
      </p:cViewPr>
      <p:guideLst>
        <p:guide orient="horz" pos="2722"/>
        <p:guide pos="3629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50" d="100"/>
        <a:sy n="150" d="100"/>
      </p:scale>
      <p:origin x="0" y="5304"/>
    </p:cViewPr>
  </p:sorterViewPr>
  <p:notesViewPr>
    <p:cSldViewPr>
      <p:cViewPr varScale="1">
        <p:scale>
          <a:sx n="81" d="100"/>
          <a:sy n="81" d="100"/>
        </p:scale>
        <p:origin x="-3288" y="-10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82" Type="http://schemas.openxmlformats.org/officeDocument/2006/relationships/notesMaster" Target="notesMasters/notesMaster1.xml"/><Relationship Id="rId83" Type="http://schemas.openxmlformats.org/officeDocument/2006/relationships/handoutMaster" Target="handoutMasters/handoutMaster1.xml"/><Relationship Id="rId84" Type="http://schemas.openxmlformats.org/officeDocument/2006/relationships/presProps" Target="presProps.xml"/><Relationship Id="rId85" Type="http://schemas.openxmlformats.org/officeDocument/2006/relationships/viewProps" Target="viewProps.xml"/><Relationship Id="rId8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AE1A7895-9E8F-4C50-B5E8-7345F3E6B0B6}" type="datetimeFigureOut">
              <a:rPr lang="zh-CN" altLang="en-US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41C19984-4B2A-48B4-B869-87DEC631B6E0}" type="slidenum">
              <a:rPr lang="zh-CN" altLang="en-US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ED0698-BD05-4639-9D81-B9F65B9CB3B9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0DEE79-D6A9-404B-B2E7-14B1D3548937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1pPr>
    <a:lvl2pPr marL="575945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2pPr>
    <a:lvl3pPr marL="115189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3pPr>
    <a:lvl4pPr marL="172847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4pPr>
    <a:lvl5pPr marL="2304415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5pPr>
    <a:lvl6pPr marL="288036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6pPr>
    <a:lvl7pPr marL="3456305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7pPr>
    <a:lvl8pPr marL="403225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8pPr>
    <a:lvl9pPr marL="460883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本次汇报讲清一件事：怎么建设我们的 AI + 大数据平台，用它赋能企业、赋能行业。整本按五步展开：有什么、缺什么、要建什么、要怎么建、价值是什么。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整本按五步推进：有什么、缺什么、要建什么、要怎么建、价值是什么。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一页纸讲清整体思路。有什么：十四个数据域、已贯通的离线主流程和三项平台工具。缺什么：质量校验、统一口径、规范、实时、标签和 AI 共用能力。要建什么：治理中枢、统一底座、数据服务、AI 平台，以及业务闭环和对外产品。要怎么建：治理先行，先核心、先内部、先试点再推广。价值：赋能企业降本增效，赋能客户带来续约与收入，赋能行业形成标准与洞察。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步：有什么。数据家底与已有能力。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数据资产按十四个域盘点：主链六域是主体与组织、资源与商品、渠道与供销、订单交易、预约与核销、结算与财务，覆盖从供给到结算的全链路，是核心资产；另有营销、游客会员、多业态、现场设备、SaaS 客户、平台运行、外部与公共数据、知识与 AI 八类支撑数据。盘点时逐域登记来源、负责人、粒度、更新方式、质量、安全等级和授权用途。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离线主流程已经贯通：供应商、游客、会员到订单再到维度，ODS、DWD、DIM、DWS、ADS 全链路打通。骨架已搭好，下一步是补维度、补质量、补实时、补标签。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已有能力覆盖开发、服务、消费三个环节：DataWorks 负责离线开发与调度，动态数据开放 API 把 ADS 指标对内对外提供，Quick BI 负责分析展示；对外已有 AI 智慧大脑、畅游AI、边云网关等产品。缺的是中间的治理与指标体系，以及贯穿各层的 AI 能力。已有投入全部保留，在此基础上升级。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 步：缺什么。问题、根因与能力缺口。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五类问题：数据孤岛、口径不一、结构不规范、模型重复、关键数字不准。它们同根同源，根因是缺少统一的标准、模型、口径和校验。只修某一个看板的数，问题会反复出现。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以入园和核销为例，数字不准的原因分布在整条链路上：设备和渠道多头上报、离线补传；业务库重复上报、撤销冲正未处理；数仓混用发生时间与上报时间、口径混淆、跨系统 ID 映射错误；看板与报表之间没有逐层核对，景区个性规则未处理。这些是待逐项排查的方向，不是已确认的根因。缺的是唯一事实源、逐层核对和统一口径。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三列分别是已具备、持续建设、待建设。已具备的四项全部保留并升级；持续建设的是其他主题域和数据标准、地图、血缘；待建设的是质量与核对、实时、统一标签、指标中心与景区自定义、AI 共用能力。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步：要建什么。一个平台，赋能企业与行业。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要建成的平台用四个“可”来衡量：数据可信、模型可复用、服务稳定、能力易扩展。它支撑对内赋能、对外商业化和行业成果输出。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平台自下而上分为数据来源、统一底座、指标与分析、数据服务、AI 能力、应用与服务；治理与资产贯穿各层。深色块是已有的 DataWorks、离线主流程、Quick BI 和动态数据开放 API，其余为新建或升级。AI、BI 和 API 使用同一套可信数据、指标和权限。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建设期间需要七组平台组件：数据集成、存储计算、开发运维、数据治理、指标标签、服务分析、AI 能力。深色为已有能力，主要是 DataWorks 的批量同步、离线计算、开发调度，以及动态数据开放 API 和 Quick BI；浅色为在现有基础上升级；虚线为新建。具体选型经验证后确定。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治理的目标是让数据找得到、看得懂、用得准，问题能定位，范围能控制。六项能力覆盖从源系统到 AI 的全链路。新增表和任务发布前自动检查；存量按业务影响逐步治理；AI 辅助生成字段说明，由负责人确认。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企业标准指标由企业统一定义、版本管理、业务认证，统一服务 Quick BI、API 和 AI 问数。景区可以基于本景区明细创建专属指标，相互隔离，只服务本景区，同名不能覆盖企业标准。有共性价值的景区指标，经评审可以沉淀为企业标准。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数据从各类来源统一接入，沉淀到湖仓一体的公共模型。离线依托 DataWorks 承接历史加工、对账和重算；实时复用主流程的模型定义，订单和核销先行。分析查询层为 Quick BI、API 和 AI 提供稳定查询。离线与实时共享业务定义和质量规则，结果可校验。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已有基础标签，但更新慢、场景少、口径不一。统一后，标签基于公共模型统一生产，每个标签登记定义、口径、负责人和生命周期，再通过标签服务提供给营销、分析、AI 和景区。指标回答有多少，标签回答是谁、什么样。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动态数据开放 API 分四步升级：当前是 ADS 指标快速发布；升级后关联标准指标、权限和质量状态；服务化后扩展为指标与标签服务，租户隔离，并作为 AI 的标准取数工具；开放化后集成嵌入式 BI 与 AI，按套餐和计量收费。一套服务同时支撑 Quick BI、业务系统、景区 SaaS、合作伙伴和 AI 智能体，内外口径天然一致。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平台分三层：底层是可信数据，包括指标服务、标签服务、知识库、元数据与血缘、权限隔离；中间是模型、知识、工具、评测四项共用能力；上层是五类 AI 应用。AI 不直接生成数字，只通过受控服务取数。先做辅助数据建设，再做问数，最后做预测与业务助手。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每条业务线都要形成闭环：业务产生数据，平台接入治理，加工成指标、标签、预测和洞察，嵌入业务决策和动作；业务动作的结果、反馈、异常和新需求再回流平台，用来修正规则、迭代模型、补充指标。这样数据和模型会越用越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八条业务闭环每条都写清赋能输出和反哺回流。优先跑通票务和订单两条核心闭环，同时做供应商试点、智能体日志回流；渠道闭环随后启动；小程序、营销、外部数据放在推广批次。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对外产品有五个方向：面向景区和景区集团的经营分析增强版，按 SaaS 增购订阅；面向季节性强景区的预测与运营助手，按场景订阅；面向渠道伙伴和集成商的数据开放 API，按年费加调用量；面向文旅主管部门的区域文旅监测，按项目加运营服务；面向文旅集团和研究机构的行业研究与基准，按订阅或专题。每个产品按收入和全部直接成本核算，看毛利、续约和复用率。前提是数据来源、授权用途和交付粒度写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行业成果包括节假日洞察快报、年度行业报告、基准与景气指数、数据与接入规范、高质量数据集和 AI 应用实践指南。方法上公开样本与口径、区分同店变化与新增接入、不把平台样本外推为全国市场、设置最小分组规模、AI 起草由专家审核。依托文旅部技术创新中心发布，规范从企业版到伙伴共建，再按程序推动团体标准。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4 步：要怎么建。治理先行，按成熟度推进。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起点是离线主流程已贯通。第一阶段治理筑基，让核心数据可信；第二阶段平台统一，让公共能力可复用；第三阶段价值扩展，用客户使用和付费验证价值。三段错开叠加推进，达到标志才扩大范围。数据不可信时扩大 AI 和对外服务，只会放大错误。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规范要变成卡点。表名按分层、主题域、业务过程与粒度、更新方式统一，例如 dwd_trd_order_item_di 表示交易域订单项明细、日增量。DDL 强制填写中文名、描述、负责人、安全等级、生命周期、分区字段和字段注释，通用字段区分发生时间与上报时间。新建表发布前自动检查；存量核心表优先整改，AI 批量补描述后负责人确认；持续用资产健康分月度公示。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以入园和核销作为治理样板。先厘清核销次数、有效核销票数、入园人次、去重游客数四个指标；再逐项排查源端采集、重复上报、离线补传、撤销处理、统计时间和对象映射；然后建立从源端到 BI 的逐层核对，差异可追溯、修复并重算。跑通后复制到交易、退款、结算。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数据按四级管控：L4 高敏是个人信息、人脸和政务核验结果；L3 敏感是单景区经营、价格和结算；L2 内部是日志、设备状态和匿名聚合；L1 公开是已发布的报告与规范。权属上，景区数据只服务该景区本人，渠道数据不向其他渠道披露，游客信息在授权范围内使用，政务数据只用核验结果，外部采购数据按合同使用，对外只输出匿名聚合结果。L4 明文不进入大模型。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用来降低治理成本：补全存量元数据、推荐规范命名、发现口径冲突和重复 SQL、推荐质量规则、识别敏感字段、结合血缘分析异常根因。每一项都由对应负责人确认，不以模型推测替代业务定义。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现状是离线和湖仓各建一套模型，同一逻辑写两遍，结果对不上，改一个口径要改多处。目标是一份存储、一套公共层，离线和实时只是两种计算方式，统一输出指标给 BI、API 和 AI。合并分五步：盘点重叠模型、确定保留版本、下游改为引用公共层、双跑对比、下线重复模型。存量不动、增量按新规范，双跑通过后逐域切换，保留回滚。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已贯通的离线主流程作为公共模型基线。优先补核销履约、渠道分销、结算三个主题域，其中核销履约同时作为治理样板；后续补商品资源、营销、SaaS 客户与设备。新增主题域复用主流程的公共维度，不重复建设。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问数的链路：识别用户与租户，澄清指标和时间范围，匹配已认证的指标，检查权限和查询成本，调用指标服务取数，校验结果，最后附上口径、更新时间和质量状态。缺数据或问题含糊时先澄清，不编造数字。评测集覆盖简单指标、对比归因、模糊问题、越权提问和无数据五类，用正确率、越权阻断率、澄清率、响应时间和单次成本衡量。内部问数和对外的 AI 智慧大脑共用同一套指标服务和评测集。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票务闭环作为第一个样板：核销与设备数据进入核销标准模型，区分四个口径并做三层核对；输出实时看板、容量预警和客流预测，支撑景区节假日调度；预警处理结果和预测偏差回流，用来调整阈值和迭代模型。价值是关键数字可信、节假日实时掌控、减少结算争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智能体闭环作为第二个样板：AI 智慧大脑、AI 客服、AI 伴游等统一通过指标、标签和知识工具取数，答案口径一致、可追溯；用户的提问、纠错、差评回流，用来补指标、补同义词、更新知识库和评测集，会话中的业务诉求也回流为业务洞察。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闭环靠五个机制持续运转：数据前置、统一出口、反馈回流、效果复盘、持续迭代。业务负责人定目标、用结果、给反馈；数据团队建能力、出数据、做复盘；产品研发保证埋点和回流。用回流覆盖率、场景采纳率、迭代周期和业务效果变化衡量闭环是否健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一键接入是把渠道、景区、设备的重复对接沉淀为连接器：授权开通、选择连接器、AI 辅助字段映射、历史初始化、增量同步、质量检查、试运行、上线与监控。配套开发者门户、文档与 SDK、沙箱、签名鉴权、限流与幂等、调用计量和服务等级。它适用于已适配的标准系统，在授权和环境就绪后配置完成；非标系统进入专项实施。用接入周期中位数与 P90、首次验收通过率衡量。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对外商业化走内部验证、试点景区、付费试点、标准服务包四步，方向包括景区分析增强版、AI 运营助手、标准 API、嵌入式分析和行业研究。行业输出从经营月报、节假日专题、年度研究，到对标与规范，再到团体标准共建，依托技术创新中心发布。前提是数据边界和授权清楚、成本可核算。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组织上，数据治理委员会由管理层牵头，裁定口径争议；数据平台部负责建设和运营平台，下设平台与架构、数据研发、治理与指标、产品与 BI、AI 工程、开放与解决方案六个方向。业务线数据负责人定口径、用结果，数据大使传需求、推使用。机制包括月度数据共建会、口径评审、资产健康分公示、代码与 SQL 评审、开发规范手册和月度数据洞察。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主要风险和应对：口径对齐阻力大，靠管理层背书、定义权归业务方；存量切换影响业务，靠双跑验证、观察期和保留回滚；AI 答错或越权，靠只用认证指标、评测回归和权限前置；个人信息与授权合规，靠分类分级、最小化和法务前置；节假日峰值，靠压测、降级预案和节前封版；与现有产品重复建设，靠底座共建、应用分工。资源不足时聚焦核心域，每个阶段都有看得见的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步：价值是什么。赋能企业，赋能行业。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对内赋能有三类产品：面向管理层和景区运营的经营驾驶舱与节假日作战屏；面向运营、渠道、营销、客户成功的自助分析与 AI 问数；面向全员的主动推送和自动报告。用数流程是在数据门户找数、看口径、申请权限、用模板或提问、拿到带口径的结果、订阅后续变化。用活跃用户、自助完成率、取数周期和业务采纳率衡量，不以上线看板数量衡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价值逐层递进：对内是基础，降本、增效、控险，数据资产可计量；对外是增长，客户获得自主分析与 AI 辅助，票付通提升续约和客单价并形成新服务收入，以可信数据和广泛连接形成壁垒；对行业是影响力，输出口径、模型和接入规范，发布节假日专题和年度报告，形成合规的高质量数据集。对内价值主要通过八条业务闭环实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建成后：管理层的每个经营问题都有口径统一、可追溯的答案；业务团队日常分析自助完成或直接问 AI；数据团队从反复对数转向建设公共能力、主动输出洞察；景区用自己的数据和指标做决策；伙伴标准接入、能力直接集成；票付通成为文旅经营数据报告、对标和规范的重要发布方。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价值分三类衡量。对内：降本看退役的模型与任务、释放的存算成本和省下的人天；增效看可查询延迟、需求交付周期和自助完成率；控险看核对差异率、问题关闭时长和越权拦截；闭环看跑通的闭环数、回流覆盖率和采纳率。对外：客户价值、商业价值和接入效率。对行业：影响力、标准化和合作。先建立基线再定目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需要六项支持：成立数据治理委员会并明确口径争议的最终裁定人；规范检查作为发布前置条件；认可存量不动、增量按新规范、核对后逐步迁移；技术路线基于现有 DataWorks、动态数据开放 API、Quick BI 延伸，实时与湖仓组件验证后确定；核心人员与资源预算；各业务线指定数据负责人，参与标准指标确认、闭环建设和试点。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总结：治理是基础，平台是载体，AI 与数据服务放大价值；用 AI + 大数据平台赋能企业、赋能行业。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microsoft.com/office/2007/relationships/hdphoto" Target="../media/image2.wdp"/><Relationship Id="rId4" Type="http://schemas.openxmlformats.org/officeDocument/2006/relationships/image" Target="../media/image3.jpe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hyperlink" Target="http://www.1ppt.com/tubiao/" TargetMode="Externa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1.jpeg"/><Relationship Id="rId4" Type="http://schemas.microsoft.com/office/2007/relationships/hdphoto" Target="../media/image2.wdp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hyperlink" Target="http://www.1ppt.com/tubiao/" TargetMode="Externa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Relationship Id="rId7" Type="http://schemas.openxmlformats.org/officeDocument/2006/relationships/tags" Target="../tags/tag6.xml"/><Relationship Id="rId8" Type="http://schemas.openxmlformats.org/officeDocument/2006/relationships/tags" Target="../tags/tag7.xml"/><Relationship Id="rId9" Type="http://schemas.openxmlformats.org/officeDocument/2006/relationships/tags" Target="../tags/tag8.xml"/><Relationship Id="rId10" Type="http://schemas.openxmlformats.org/officeDocument/2006/relationships/tags" Target="../tags/tag9.xml"/><Relationship Id="rId11" Type="http://schemas.openxmlformats.org/officeDocument/2006/relationships/tags" Target="../tags/tag10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tags" Target="../tags/tag14.xml"/><Relationship Id="rId6" Type="http://schemas.openxmlformats.org/officeDocument/2006/relationships/tags" Target="../tags/tag15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Relationship Id="rId8" Type="http://schemas.openxmlformats.org/officeDocument/2006/relationships/tags" Target="../tags/tag2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tags" Target="../tags/tag26.xml"/><Relationship Id="rId6" Type="http://schemas.openxmlformats.org/officeDocument/2006/relationships/tags" Target="../tags/tag27.xml"/><Relationship Id="rId7" Type="http://schemas.openxmlformats.org/officeDocument/2006/relationships/tags" Target="../tags/tag28.xml"/><Relationship Id="rId8" Type="http://schemas.openxmlformats.org/officeDocument/2006/relationships/tags" Target="../tags/tag29.xml"/><Relationship Id="rId9" Type="http://schemas.openxmlformats.org/officeDocument/2006/relationships/tags" Target="../tags/tag30.xml"/><Relationship Id="rId10" Type="http://schemas.openxmlformats.org/officeDocument/2006/relationships/tags" Target="../tags/tag3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32.xml"/><Relationship Id="rId3" Type="http://schemas.openxmlformats.org/officeDocument/2006/relationships/tags" Target="../tags/tag33.xml"/><Relationship Id="rId4" Type="http://schemas.openxmlformats.org/officeDocument/2006/relationships/tags" Target="../tags/tag34.xml"/><Relationship Id="rId5" Type="http://schemas.openxmlformats.org/officeDocument/2006/relationships/tags" Target="../tags/tag35.xml"/><Relationship Id="rId6" Type="http://schemas.openxmlformats.org/officeDocument/2006/relationships/tags" Target="../tags/tag36.xml"/><Relationship Id="rId7" Type="http://schemas.openxmlformats.org/officeDocument/2006/relationships/tags" Target="../tags/tag37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38.xml"/><Relationship Id="rId3" Type="http://schemas.openxmlformats.org/officeDocument/2006/relationships/tags" Target="../tags/tag39.xml"/><Relationship Id="rId4" Type="http://schemas.openxmlformats.org/officeDocument/2006/relationships/tags" Target="../tags/tag40.xml"/><Relationship Id="rId5" Type="http://schemas.openxmlformats.org/officeDocument/2006/relationships/tags" Target="../tags/tag41.xml"/><Relationship Id="rId6" Type="http://schemas.openxmlformats.org/officeDocument/2006/relationships/tags" Target="../tags/tag42.xml"/><Relationship Id="rId7" Type="http://schemas.openxmlformats.org/officeDocument/2006/relationships/tags" Target="../tags/tag43.xml"/><Relationship Id="rId8" Type="http://schemas.openxmlformats.org/officeDocument/2006/relationships/tags" Target="../tags/tag44.xml"/><Relationship Id="rId9" Type="http://schemas.openxmlformats.org/officeDocument/2006/relationships/tags" Target="../tags/tag45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46.xml"/><Relationship Id="rId3" Type="http://schemas.openxmlformats.org/officeDocument/2006/relationships/tags" Target="../tags/tag47.xml"/><Relationship Id="rId4" Type="http://schemas.openxmlformats.org/officeDocument/2006/relationships/tags" Target="../tags/tag48.xml"/><Relationship Id="rId5" Type="http://schemas.openxmlformats.org/officeDocument/2006/relationships/tags" Target="../tags/tag49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50.xml"/><Relationship Id="rId3" Type="http://schemas.openxmlformats.org/officeDocument/2006/relationships/tags" Target="../tags/tag51.xml"/><Relationship Id="rId4" Type="http://schemas.openxmlformats.org/officeDocument/2006/relationships/tags" Target="../tags/tag5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53.xml"/><Relationship Id="rId3" Type="http://schemas.openxmlformats.org/officeDocument/2006/relationships/tags" Target="../tags/tag54.xml"/><Relationship Id="rId4" Type="http://schemas.openxmlformats.org/officeDocument/2006/relationships/tags" Target="../tags/tag55.xml"/><Relationship Id="rId5" Type="http://schemas.openxmlformats.org/officeDocument/2006/relationships/tags" Target="../tags/tag56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57.xml"/><Relationship Id="rId3" Type="http://schemas.openxmlformats.org/officeDocument/2006/relationships/tags" Target="../tags/tag58.xml"/><Relationship Id="rId4" Type="http://schemas.openxmlformats.org/officeDocument/2006/relationships/tags" Target="../tags/tag59.xml"/><Relationship Id="rId5" Type="http://schemas.openxmlformats.org/officeDocument/2006/relationships/tags" Target="../tags/tag60.xml"/><Relationship Id="rId6" Type="http://schemas.openxmlformats.org/officeDocument/2006/relationships/tags" Target="../tags/tag6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62.xml"/><Relationship Id="rId3" Type="http://schemas.openxmlformats.org/officeDocument/2006/relationships/tags" Target="../tags/tag63.xml"/><Relationship Id="rId4" Type="http://schemas.openxmlformats.org/officeDocument/2006/relationships/tags" Target="../tags/tag64.xml"/><Relationship Id="rId5" Type="http://schemas.openxmlformats.org/officeDocument/2006/relationships/tags" Target="../tags/tag65.xml"/><Relationship Id="rId6" Type="http://schemas.openxmlformats.org/officeDocument/2006/relationships/tags" Target="../tags/tag66.xml"/><Relationship Id="rId7" Type="http://schemas.openxmlformats.org/officeDocument/2006/relationships/tags" Target="../tags/tag67.xml"/><Relationship Id="rId8" Type="http://schemas.openxmlformats.org/officeDocument/2006/relationships/tags" Target="../tags/tag68.xml"/><Relationship Id="rId9" Type="http://schemas.openxmlformats.org/officeDocument/2006/relationships/tags" Target="../tags/tag69.xml"/><Relationship Id="rId10" Type="http://schemas.openxmlformats.org/officeDocument/2006/relationships/tags" Target="../tags/tag70.xml"/><Relationship Id="rId11" Type="http://schemas.openxmlformats.org/officeDocument/2006/relationships/tags" Target="../tags/tag7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8000" contrast="33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p:blipFill>
        <p:spPr bwMode="auto">
          <a:xfrm>
            <a:off x="-14963" y="999071"/>
            <a:ext cx="11583047" cy="676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" name="矩形 11"/>
          <p:cNvSpPr/>
          <p:nvPr userDrawn="1"/>
        </p:nvSpPr>
        <p:spPr bwMode="auto">
          <a:xfrm>
            <a:off x="-10867" y="1009940"/>
            <a:ext cx="11568081" cy="6768925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65000"/>
                  <a:lumOff val="35000"/>
                </a:schemeClr>
              </a:gs>
              <a:gs pos="50000">
                <a:schemeClr val="tx1">
                  <a:lumMod val="75000"/>
                  <a:lumOff val="25000"/>
                </a:schemeClr>
              </a:gs>
              <a:gs pos="100000">
                <a:schemeClr val="tx1">
                  <a:lumMod val="95000"/>
                  <a:lumOff val="5000"/>
                </a:schemeClr>
              </a:gs>
            </a:gsLst>
            <a:path path="circle">
              <a:fillToRect l="50000" t="50000" r="50000" b="50000"/>
            </a:path>
            <a:tileRect/>
          </a:gradFill>
          <a:ln w="25400">
            <a:noFill/>
          </a:ln>
          <a:effectLst/>
          <a:scene3d>
            <a:camera prst="orthographicFront"/>
            <a:lightRig rig="flat" dir="t"/>
          </a:scene3d>
          <a:sp3d>
            <a:extrusionClr>
              <a:schemeClr val="bg1"/>
            </a:extrusionClr>
            <a:contourClr>
              <a:schemeClr val="bg1"/>
            </a:contourClr>
          </a:sp3d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15214" tIns="57607" rIns="115214" bIns="57607" rtlCol="0" anchor="ctr"/>
          <a:lstStyle/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endParaRPr lang="zh-CN" altLang="en-US" sz="1800"/>
          </a:p>
        </p:txBody>
      </p:sp>
      <p:sp>
        <p:nvSpPr>
          <p:cNvPr id="5" name="矩形 4"/>
          <p:cNvSpPr/>
          <p:nvPr userDrawn="1"/>
        </p:nvSpPr>
        <p:spPr bwMode="auto">
          <a:xfrm>
            <a:off x="-8002" y="-18002"/>
            <a:ext cx="11565216" cy="1098098"/>
          </a:xfrm>
          <a:prstGeom prst="rect">
            <a:avLst/>
          </a:prstGeom>
          <a:blipFill dpi="0" rotWithShape="1">
            <a:blip r:embed="rId4"/>
            <a:srcRect/>
            <a:tile tx="-2457450" ty="0" sx="59000" sy="59000" flip="x" algn="r"/>
          </a:blipFill>
          <a:ln w="0">
            <a:noFill/>
          </a:ln>
          <a:scene3d>
            <a:camera prst="perspectiveFront"/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2" name="矩形 1"/>
          <p:cNvSpPr/>
          <p:nvPr userDrawn="1"/>
        </p:nvSpPr>
        <p:spPr>
          <a:xfrm>
            <a:off x="-10002" y="7612673"/>
            <a:ext cx="11578086" cy="1028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pic>
        <p:nvPicPr>
          <p:cNvPr id="6" name="Picture 6"/>
          <p:cNvPicPr>
            <a:picLocks noChangeAspect="1" noChangeArrowheads="1"/>
          </p:cNvPicPr>
          <p:nvPr userDrawn="1"/>
        </p:nvPicPr>
        <p:blipFill>
          <a:blip r:embed="rId5"/>
          <a:srcRect/>
          <a:stretch>
            <a:fillRect/>
          </a:stretch>
        </p:blipFill>
        <p:spPr bwMode="auto">
          <a:xfrm flipH="1">
            <a:off x="4176598" y="7994682"/>
            <a:ext cx="7345323" cy="3480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" name="图片 11" descr="png素材 (276).png"/>
          <p:cNvPicPr>
            <a:picLocks noChangeAspect="1"/>
          </p:cNvPicPr>
          <p:nvPr userDrawn="1"/>
        </p:nvPicPr>
        <p:blipFill>
          <a:blip r:embed="rId6"/>
          <a:srcRect/>
          <a:stretch>
            <a:fillRect/>
          </a:stretch>
        </p:blipFill>
        <p:spPr bwMode="auto">
          <a:xfrm>
            <a:off x="0" y="3344"/>
            <a:ext cx="990155" cy="9900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 userDrawn="1"/>
        </p:nvSpPr>
        <p:spPr bwMode="auto">
          <a:xfrm>
            <a:off x="5942508" y="419131"/>
            <a:ext cx="5569659" cy="467995"/>
          </a:xfrm>
          <a:prstGeom prst="rect">
            <a:avLst/>
          </a:prstGeom>
          <a:noFill/>
        </p:spPr>
        <p:txBody>
          <a:bodyPr wrap="square" lIns="115214" tIns="57607" rIns="115214" bIns="57607">
            <a:spAutoFit/>
            <a:scene3d>
              <a:camera prst="orthographicFront">
                <a:rot lat="0" lon="0" rev="0"/>
              </a:camera>
              <a:lightRig rig="contrasting" dir="t">
                <a:rot lat="0" lon="0" rev="4500000"/>
              </a:lightRig>
            </a:scene3d>
            <a:sp3d contourW="6350" prstMaterial="metal">
              <a:bevelT w="127000" h="31750" prst="relaxedInset"/>
              <a:contourClr>
                <a:schemeClr val="accent1">
                  <a:shade val="75000"/>
                </a:schemeClr>
              </a:contourClr>
            </a:sp3d>
          </a:bodyPr>
          <a:lstStyle/>
          <a:p>
            <a:pPr marL="0" marR="0" indent="0" algn="ctr" defTabSz="115189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</a:rPr>
              <a:t>『</a:t>
            </a:r>
            <a:r>
              <a:rPr lang="zh-CN" altLang="en-US" sz="23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  <a:cs typeface="Arial Unicode MS" charset="0"/>
                <a:sym typeface="Arial Unicode MS" charset="0"/>
              </a:rPr>
              <a:t>PPT</a:t>
            </a:r>
            <a:r>
              <a:rPr lang="en-US" altLang="zh-CN" sz="2300" spc="378" baseline="0" dirty="0">
                <a:solidFill>
                  <a:schemeClr val="bg1"/>
                </a:solidFill>
                <a:latin typeface="+mn-lt"/>
                <a:ea typeface="+mn-ea"/>
              </a:rPr>
              <a:t>』—</a:t>
            </a:r>
            <a:r>
              <a:rPr lang="zh-CN" altLang="en-US" sz="2300" spc="378" baseline="0" dirty="0">
                <a:solidFill>
                  <a:schemeClr val="bg1"/>
                </a:solidFill>
                <a:latin typeface="+mn-lt"/>
                <a:ea typeface="+mn-ea"/>
              </a:rPr>
              <a:t> </a:t>
            </a:r>
            <a:r>
              <a:rPr lang="en-US" altLang="zh-CN" sz="2300" b="0" spc="0" dirty="0">
                <a:solidFill>
                  <a:schemeClr val="bg1"/>
                </a:solidFill>
                <a:latin typeface="+mn-lt"/>
                <a:ea typeface="+mn-ea"/>
                <a:cs typeface="Arial Unicode MS" charset="0"/>
                <a:sym typeface="Arial Unicode MS" charset="0"/>
              </a:rPr>
              <a:t>WWW.1PPT.COM</a:t>
            </a:r>
            <a:endParaRPr lang="zh-CN" altLang="en-US" sz="2300" b="0" spc="0" dirty="0">
              <a:solidFill>
                <a:schemeClr val="bg1"/>
              </a:solidFill>
              <a:latin typeface="+mn-lt"/>
              <a:ea typeface="+mn-ea"/>
              <a:cs typeface="Arial Unicode MS" charset="0"/>
              <a:sym typeface="Arial Unicode MS" charset="0"/>
            </a:endParaRPr>
          </a:p>
        </p:txBody>
      </p:sp>
      <p:sp>
        <p:nvSpPr>
          <p:cNvPr id="9" name="TextBox 8"/>
          <p:cNvSpPr txBox="1"/>
          <p:nvPr userDrawn="1"/>
        </p:nvSpPr>
        <p:spPr bwMode="auto">
          <a:xfrm>
            <a:off x="4218542" y="7997014"/>
            <a:ext cx="6749215" cy="391160"/>
          </a:xfrm>
          <a:prstGeom prst="rect">
            <a:avLst/>
          </a:prstGeom>
          <a:noFill/>
        </p:spPr>
        <p:txBody>
          <a:bodyPr lIns="115214" tIns="57607" rIns="115214" bIns="57607">
            <a:spAutoFit/>
          </a:bodyPr>
          <a:lstStyle/>
          <a:p>
            <a:pPr>
              <a:defRPr/>
            </a:pPr>
            <a:r>
              <a:rPr lang="zh-CN" altLang="en-US" sz="18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1800" spc="378" dirty="0">
                <a:solidFill>
                  <a:schemeClr val="bg1"/>
                </a:solidFill>
                <a:latin typeface="+mn-lt"/>
                <a:ea typeface="+mn-ea"/>
              </a:rPr>
              <a:t>PPT HTTP://WWW.1PPT.COM</a:t>
            </a:r>
            <a:endParaRPr lang="zh-CN" altLang="en-US" sz="1800" spc="378" dirty="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10" name="Freeform 2670"/>
          <p:cNvSpPr>
            <a:spLocks noEditPoints="1"/>
          </p:cNvSpPr>
          <p:nvPr userDrawn="1"/>
        </p:nvSpPr>
        <p:spPr bwMode="auto">
          <a:xfrm>
            <a:off x="3510617" y="7903864"/>
            <a:ext cx="508092" cy="512045"/>
          </a:xfrm>
          <a:custGeom>
            <a:avLst/>
            <a:gdLst>
              <a:gd name="T0" fmla="*/ 73 w 300"/>
              <a:gd name="T1" fmla="*/ 144 h 302"/>
              <a:gd name="T2" fmla="*/ 58 w 300"/>
              <a:gd name="T3" fmla="*/ 153 h 302"/>
              <a:gd name="T4" fmla="*/ 41 w 300"/>
              <a:gd name="T5" fmla="*/ 156 h 302"/>
              <a:gd name="T6" fmla="*/ 15 w 300"/>
              <a:gd name="T7" fmla="*/ 156 h 302"/>
              <a:gd name="T8" fmla="*/ 4 w 300"/>
              <a:gd name="T9" fmla="*/ 151 h 302"/>
              <a:gd name="T10" fmla="*/ 2 w 300"/>
              <a:gd name="T11" fmla="*/ 147 h 302"/>
              <a:gd name="T12" fmla="*/ 0 w 300"/>
              <a:gd name="T13" fmla="*/ 113 h 302"/>
              <a:gd name="T14" fmla="*/ 0 w 300"/>
              <a:gd name="T15" fmla="*/ 104 h 302"/>
              <a:gd name="T16" fmla="*/ 7 w 300"/>
              <a:gd name="T17" fmla="*/ 90 h 302"/>
              <a:gd name="T18" fmla="*/ 82 w 300"/>
              <a:gd name="T19" fmla="*/ 12 h 302"/>
              <a:gd name="T20" fmla="*/ 89 w 300"/>
              <a:gd name="T21" fmla="*/ 7 h 302"/>
              <a:gd name="T22" fmla="*/ 104 w 300"/>
              <a:gd name="T23" fmla="*/ 2 h 302"/>
              <a:gd name="T24" fmla="*/ 113 w 300"/>
              <a:gd name="T25" fmla="*/ 0 h 302"/>
              <a:gd name="T26" fmla="*/ 129 w 300"/>
              <a:gd name="T27" fmla="*/ 3 h 302"/>
              <a:gd name="T28" fmla="*/ 142 w 300"/>
              <a:gd name="T29" fmla="*/ 12 h 302"/>
              <a:gd name="T30" fmla="*/ 148 w 300"/>
              <a:gd name="T31" fmla="*/ 19 h 302"/>
              <a:gd name="T32" fmla="*/ 154 w 300"/>
              <a:gd name="T33" fmla="*/ 34 h 302"/>
              <a:gd name="T34" fmla="*/ 154 w 300"/>
              <a:gd name="T35" fmla="*/ 43 h 302"/>
              <a:gd name="T36" fmla="*/ 152 w 300"/>
              <a:gd name="T37" fmla="*/ 59 h 302"/>
              <a:gd name="T38" fmla="*/ 142 w 300"/>
              <a:gd name="T39" fmla="*/ 73 h 302"/>
              <a:gd name="T40" fmla="*/ 21 w 300"/>
              <a:gd name="T41" fmla="*/ 97 h 302"/>
              <a:gd name="T42" fmla="*/ 18 w 300"/>
              <a:gd name="T43" fmla="*/ 100 h 302"/>
              <a:gd name="T44" fmla="*/ 15 w 300"/>
              <a:gd name="T45" fmla="*/ 109 h 302"/>
              <a:gd name="T46" fmla="*/ 15 w 300"/>
              <a:gd name="T47" fmla="*/ 118 h 302"/>
              <a:gd name="T48" fmla="*/ 19 w 300"/>
              <a:gd name="T49" fmla="*/ 117 h 302"/>
              <a:gd name="T50" fmla="*/ 22 w 300"/>
              <a:gd name="T51" fmla="*/ 118 h 302"/>
              <a:gd name="T52" fmla="*/ 30 w 300"/>
              <a:gd name="T53" fmla="*/ 120 h 302"/>
              <a:gd name="T54" fmla="*/ 33 w 300"/>
              <a:gd name="T55" fmla="*/ 123 h 302"/>
              <a:gd name="T56" fmla="*/ 37 w 300"/>
              <a:gd name="T57" fmla="*/ 130 h 302"/>
              <a:gd name="T58" fmla="*/ 38 w 300"/>
              <a:gd name="T59" fmla="*/ 136 h 302"/>
              <a:gd name="T60" fmla="*/ 38 w 300"/>
              <a:gd name="T61" fmla="*/ 141 h 302"/>
              <a:gd name="T62" fmla="*/ 41 w 300"/>
              <a:gd name="T63" fmla="*/ 141 h 302"/>
              <a:gd name="T64" fmla="*/ 52 w 300"/>
              <a:gd name="T65" fmla="*/ 138 h 302"/>
              <a:gd name="T66" fmla="*/ 59 w 300"/>
              <a:gd name="T67" fmla="*/ 134 h 302"/>
              <a:gd name="T68" fmla="*/ 62 w 300"/>
              <a:gd name="T69" fmla="*/ 130 h 302"/>
              <a:gd name="T70" fmla="*/ 65 w 300"/>
              <a:gd name="T71" fmla="*/ 122 h 302"/>
              <a:gd name="T72" fmla="*/ 65 w 300"/>
              <a:gd name="T73" fmla="*/ 117 h 302"/>
              <a:gd name="T74" fmla="*/ 63 w 300"/>
              <a:gd name="T75" fmla="*/ 106 h 302"/>
              <a:gd name="T76" fmla="*/ 58 w 300"/>
              <a:gd name="T77" fmla="*/ 97 h 302"/>
              <a:gd name="T78" fmla="*/ 54 w 300"/>
              <a:gd name="T79" fmla="*/ 94 h 302"/>
              <a:gd name="T80" fmla="*/ 44 w 300"/>
              <a:gd name="T81" fmla="*/ 90 h 302"/>
              <a:gd name="T82" fmla="*/ 38 w 300"/>
              <a:gd name="T83" fmla="*/ 90 h 302"/>
              <a:gd name="T84" fmla="*/ 30 w 300"/>
              <a:gd name="T85" fmla="*/ 91 h 302"/>
              <a:gd name="T86" fmla="*/ 21 w 300"/>
              <a:gd name="T87" fmla="*/ 97 h 302"/>
              <a:gd name="T88" fmla="*/ 81 w 300"/>
              <a:gd name="T89" fmla="*/ 113 h 302"/>
              <a:gd name="T90" fmla="*/ 132 w 300"/>
              <a:gd name="T91" fmla="*/ 62 h 302"/>
              <a:gd name="T92" fmla="*/ 137 w 300"/>
              <a:gd name="T93" fmla="*/ 54 h 302"/>
              <a:gd name="T94" fmla="*/ 139 w 300"/>
              <a:gd name="T95" fmla="*/ 43 h 302"/>
              <a:gd name="T96" fmla="*/ 139 w 300"/>
              <a:gd name="T97" fmla="*/ 37 h 302"/>
              <a:gd name="T98" fmla="*/ 135 w 300"/>
              <a:gd name="T99" fmla="*/ 28 h 302"/>
              <a:gd name="T100" fmla="*/ 132 w 300"/>
              <a:gd name="T101" fmla="*/ 24 h 302"/>
              <a:gd name="T102" fmla="*/ 123 w 300"/>
              <a:gd name="T103" fmla="*/ 18 h 302"/>
              <a:gd name="T104" fmla="*/ 113 w 300"/>
              <a:gd name="T105" fmla="*/ 15 h 302"/>
              <a:gd name="T106" fmla="*/ 107 w 300"/>
              <a:gd name="T107" fmla="*/ 16 h 302"/>
              <a:gd name="T108" fmla="*/ 97 w 300"/>
              <a:gd name="T109" fmla="*/ 21 h 302"/>
              <a:gd name="T110" fmla="*/ 41 w 300"/>
              <a:gd name="T111" fmla="*/ 74 h 302"/>
              <a:gd name="T112" fmla="*/ 49 w 300"/>
              <a:gd name="T113" fmla="*/ 75 h 302"/>
              <a:gd name="T114" fmla="*/ 63 w 300"/>
              <a:gd name="T115" fmla="*/ 82 h 302"/>
              <a:gd name="T116" fmla="*/ 69 w 300"/>
              <a:gd name="T117" fmla="*/ 86 h 302"/>
              <a:gd name="T118" fmla="*/ 77 w 300"/>
              <a:gd name="T119" fmla="*/ 99 h 302"/>
              <a:gd name="T120" fmla="*/ 81 w 300"/>
              <a:gd name="T121" fmla="*/ 113 h 302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w 300"/>
              <a:gd name="T184" fmla="*/ 0 h 302"/>
              <a:gd name="T185" fmla="*/ 300 w 300"/>
              <a:gd name="T186" fmla="*/ 302 h 302"/>
            </a:gdLst>
            <a:ahLst/>
            <a:cxnLst>
              <a:cxn ang="T122">
                <a:pos x="T0" y="T1"/>
              </a:cxn>
              <a:cxn ang="T123">
                <a:pos x="T2" y="T3"/>
              </a:cxn>
              <a:cxn ang="T124">
                <a:pos x="T4" y="T5"/>
              </a:cxn>
              <a:cxn ang="T125">
                <a:pos x="T6" y="T7"/>
              </a:cxn>
              <a:cxn ang="T126">
                <a:pos x="T8" y="T9"/>
              </a:cxn>
              <a:cxn ang="T127">
                <a:pos x="T10" y="T11"/>
              </a:cxn>
              <a:cxn ang="T128">
                <a:pos x="T12" y="T13"/>
              </a:cxn>
              <a:cxn ang="T129">
                <a:pos x="T14" y="T15"/>
              </a:cxn>
              <a:cxn ang="T130">
                <a:pos x="T16" y="T17"/>
              </a:cxn>
              <a:cxn ang="T131">
                <a:pos x="T18" y="T19"/>
              </a:cxn>
              <a:cxn ang="T132">
                <a:pos x="T20" y="T21"/>
              </a:cxn>
              <a:cxn ang="T133">
                <a:pos x="T22" y="T23"/>
              </a:cxn>
              <a:cxn ang="T134">
                <a:pos x="T24" y="T25"/>
              </a:cxn>
              <a:cxn ang="T135">
                <a:pos x="T26" y="T27"/>
              </a:cxn>
              <a:cxn ang="T136">
                <a:pos x="T28" y="T29"/>
              </a:cxn>
              <a:cxn ang="T137">
                <a:pos x="T30" y="T31"/>
              </a:cxn>
              <a:cxn ang="T138">
                <a:pos x="T32" y="T33"/>
              </a:cxn>
              <a:cxn ang="T139">
                <a:pos x="T34" y="T35"/>
              </a:cxn>
              <a:cxn ang="T140">
                <a:pos x="T36" y="T37"/>
              </a:cxn>
              <a:cxn ang="T141">
                <a:pos x="T38" y="T39"/>
              </a:cxn>
              <a:cxn ang="T142">
                <a:pos x="T40" y="T41"/>
              </a:cxn>
              <a:cxn ang="T143">
                <a:pos x="T42" y="T43"/>
              </a:cxn>
              <a:cxn ang="T144">
                <a:pos x="T44" y="T45"/>
              </a:cxn>
              <a:cxn ang="T145">
                <a:pos x="T46" y="T47"/>
              </a:cxn>
              <a:cxn ang="T146">
                <a:pos x="T48" y="T49"/>
              </a:cxn>
              <a:cxn ang="T147">
                <a:pos x="T50" y="T51"/>
              </a:cxn>
              <a:cxn ang="T148">
                <a:pos x="T52" y="T53"/>
              </a:cxn>
              <a:cxn ang="T149">
                <a:pos x="T54" y="T55"/>
              </a:cxn>
              <a:cxn ang="T150">
                <a:pos x="T56" y="T57"/>
              </a:cxn>
              <a:cxn ang="T151">
                <a:pos x="T58" y="T59"/>
              </a:cxn>
              <a:cxn ang="T152">
                <a:pos x="T60" y="T61"/>
              </a:cxn>
              <a:cxn ang="T153">
                <a:pos x="T62" y="T63"/>
              </a:cxn>
              <a:cxn ang="T154">
                <a:pos x="T64" y="T65"/>
              </a:cxn>
              <a:cxn ang="T155">
                <a:pos x="T66" y="T67"/>
              </a:cxn>
              <a:cxn ang="T156">
                <a:pos x="T68" y="T69"/>
              </a:cxn>
              <a:cxn ang="T157">
                <a:pos x="T70" y="T71"/>
              </a:cxn>
              <a:cxn ang="T158">
                <a:pos x="T72" y="T73"/>
              </a:cxn>
              <a:cxn ang="T159">
                <a:pos x="T74" y="T75"/>
              </a:cxn>
              <a:cxn ang="T160">
                <a:pos x="T76" y="T77"/>
              </a:cxn>
              <a:cxn ang="T161">
                <a:pos x="T78" y="T79"/>
              </a:cxn>
              <a:cxn ang="T162">
                <a:pos x="T80" y="T81"/>
              </a:cxn>
              <a:cxn ang="T163">
                <a:pos x="T82" y="T83"/>
              </a:cxn>
              <a:cxn ang="T164">
                <a:pos x="T84" y="T85"/>
              </a:cxn>
              <a:cxn ang="T165">
                <a:pos x="T86" y="T87"/>
              </a:cxn>
              <a:cxn ang="T166">
                <a:pos x="T88" y="T89"/>
              </a:cxn>
              <a:cxn ang="T167">
                <a:pos x="T90" y="T91"/>
              </a:cxn>
              <a:cxn ang="T168">
                <a:pos x="T92" y="T93"/>
              </a:cxn>
              <a:cxn ang="T169">
                <a:pos x="T94" y="T95"/>
              </a:cxn>
              <a:cxn ang="T170">
                <a:pos x="T96" y="T97"/>
              </a:cxn>
              <a:cxn ang="T171">
                <a:pos x="T98" y="T99"/>
              </a:cxn>
              <a:cxn ang="T172">
                <a:pos x="T100" y="T101"/>
              </a:cxn>
              <a:cxn ang="T173">
                <a:pos x="T102" y="T103"/>
              </a:cxn>
              <a:cxn ang="T174">
                <a:pos x="T104" y="T105"/>
              </a:cxn>
              <a:cxn ang="T175">
                <a:pos x="T106" y="T107"/>
              </a:cxn>
              <a:cxn ang="T176">
                <a:pos x="T108" y="T109"/>
              </a:cxn>
              <a:cxn ang="T177">
                <a:pos x="T110" y="T111"/>
              </a:cxn>
              <a:cxn ang="T178">
                <a:pos x="T112" y="T113"/>
              </a:cxn>
              <a:cxn ang="T179">
                <a:pos x="T114" y="T115"/>
              </a:cxn>
              <a:cxn ang="T180">
                <a:pos x="T116" y="T117"/>
              </a:cxn>
              <a:cxn ang="T181">
                <a:pos x="T118" y="T119"/>
              </a:cxn>
              <a:cxn ang="T182">
                <a:pos x="T120" y="T121"/>
              </a:cxn>
            </a:cxnLst>
            <a:rect l="T183" t="T184" r="T185" b="T186"/>
            <a:pathLst>
              <a:path w="300" h="302">
                <a:moveTo>
                  <a:pt x="140" y="278"/>
                </a:moveTo>
                <a:lnTo>
                  <a:pt x="140" y="278"/>
                </a:lnTo>
                <a:lnTo>
                  <a:pt x="128" y="288"/>
                </a:lnTo>
                <a:lnTo>
                  <a:pt x="114" y="296"/>
                </a:lnTo>
                <a:lnTo>
                  <a:pt x="98" y="300"/>
                </a:lnTo>
                <a:lnTo>
                  <a:pt x="82" y="302"/>
                </a:lnTo>
                <a:lnTo>
                  <a:pt x="30" y="302"/>
                </a:lnTo>
                <a:lnTo>
                  <a:pt x="18" y="300"/>
                </a:lnTo>
                <a:lnTo>
                  <a:pt x="8" y="292"/>
                </a:lnTo>
                <a:lnTo>
                  <a:pt x="2" y="284"/>
                </a:lnTo>
                <a:lnTo>
                  <a:pt x="0" y="272"/>
                </a:lnTo>
                <a:lnTo>
                  <a:pt x="0" y="218"/>
                </a:lnTo>
                <a:lnTo>
                  <a:pt x="0" y="202"/>
                </a:lnTo>
                <a:lnTo>
                  <a:pt x="6" y="188"/>
                </a:lnTo>
                <a:lnTo>
                  <a:pt x="14" y="174"/>
                </a:lnTo>
                <a:lnTo>
                  <a:pt x="24" y="160"/>
                </a:lnTo>
                <a:lnTo>
                  <a:pt x="160" y="24"/>
                </a:lnTo>
                <a:lnTo>
                  <a:pt x="172" y="14"/>
                </a:lnTo>
                <a:lnTo>
                  <a:pt x="186" y="6"/>
                </a:lnTo>
                <a:lnTo>
                  <a:pt x="202" y="2"/>
                </a:lnTo>
                <a:lnTo>
                  <a:pt x="218" y="0"/>
                </a:lnTo>
                <a:lnTo>
                  <a:pt x="234" y="2"/>
                </a:lnTo>
                <a:lnTo>
                  <a:pt x="250" y="6"/>
                </a:lnTo>
                <a:lnTo>
                  <a:pt x="264" y="14"/>
                </a:lnTo>
                <a:lnTo>
                  <a:pt x="276" y="24"/>
                </a:lnTo>
                <a:lnTo>
                  <a:pt x="288" y="38"/>
                </a:lnTo>
                <a:lnTo>
                  <a:pt x="294" y="52"/>
                </a:lnTo>
                <a:lnTo>
                  <a:pt x="300" y="66"/>
                </a:lnTo>
                <a:lnTo>
                  <a:pt x="300" y="84"/>
                </a:lnTo>
                <a:lnTo>
                  <a:pt x="300" y="100"/>
                </a:lnTo>
                <a:lnTo>
                  <a:pt x="294" y="116"/>
                </a:lnTo>
                <a:lnTo>
                  <a:pt x="288" y="130"/>
                </a:lnTo>
                <a:lnTo>
                  <a:pt x="276" y="142"/>
                </a:lnTo>
                <a:lnTo>
                  <a:pt x="140" y="278"/>
                </a:lnTo>
                <a:close/>
                <a:moveTo>
                  <a:pt x="42" y="186"/>
                </a:moveTo>
                <a:lnTo>
                  <a:pt x="42" y="186"/>
                </a:lnTo>
                <a:lnTo>
                  <a:pt x="36" y="194"/>
                </a:lnTo>
                <a:lnTo>
                  <a:pt x="32" y="202"/>
                </a:lnTo>
                <a:lnTo>
                  <a:pt x="30" y="210"/>
                </a:lnTo>
                <a:lnTo>
                  <a:pt x="30" y="218"/>
                </a:lnTo>
                <a:lnTo>
                  <a:pt x="30" y="228"/>
                </a:lnTo>
                <a:lnTo>
                  <a:pt x="38" y="226"/>
                </a:lnTo>
                <a:lnTo>
                  <a:pt x="44" y="228"/>
                </a:lnTo>
                <a:lnTo>
                  <a:pt x="52" y="230"/>
                </a:lnTo>
                <a:lnTo>
                  <a:pt x="58" y="232"/>
                </a:lnTo>
                <a:lnTo>
                  <a:pt x="64" y="238"/>
                </a:lnTo>
                <a:lnTo>
                  <a:pt x="68" y="244"/>
                </a:lnTo>
                <a:lnTo>
                  <a:pt x="72" y="250"/>
                </a:lnTo>
                <a:lnTo>
                  <a:pt x="74" y="256"/>
                </a:lnTo>
                <a:lnTo>
                  <a:pt x="74" y="264"/>
                </a:lnTo>
                <a:lnTo>
                  <a:pt x="74" y="272"/>
                </a:lnTo>
                <a:lnTo>
                  <a:pt x="82" y="272"/>
                </a:lnTo>
                <a:lnTo>
                  <a:pt x="92" y="270"/>
                </a:lnTo>
                <a:lnTo>
                  <a:pt x="100" y="268"/>
                </a:lnTo>
                <a:lnTo>
                  <a:pt x="108" y="266"/>
                </a:lnTo>
                <a:lnTo>
                  <a:pt x="116" y="260"/>
                </a:lnTo>
                <a:lnTo>
                  <a:pt x="120" y="252"/>
                </a:lnTo>
                <a:lnTo>
                  <a:pt x="124" y="244"/>
                </a:lnTo>
                <a:lnTo>
                  <a:pt x="126" y="236"/>
                </a:lnTo>
                <a:lnTo>
                  <a:pt x="128" y="226"/>
                </a:lnTo>
                <a:lnTo>
                  <a:pt x="126" y="216"/>
                </a:lnTo>
                <a:lnTo>
                  <a:pt x="124" y="206"/>
                </a:lnTo>
                <a:lnTo>
                  <a:pt x="118" y="198"/>
                </a:lnTo>
                <a:lnTo>
                  <a:pt x="112" y="190"/>
                </a:lnTo>
                <a:lnTo>
                  <a:pt x="104" y="182"/>
                </a:lnTo>
                <a:lnTo>
                  <a:pt x="94" y="178"/>
                </a:lnTo>
                <a:lnTo>
                  <a:pt x="86" y="174"/>
                </a:lnTo>
                <a:lnTo>
                  <a:pt x="74" y="174"/>
                </a:lnTo>
                <a:lnTo>
                  <a:pt x="66" y="174"/>
                </a:lnTo>
                <a:lnTo>
                  <a:pt x="58" y="176"/>
                </a:lnTo>
                <a:lnTo>
                  <a:pt x="50" y="180"/>
                </a:lnTo>
                <a:lnTo>
                  <a:pt x="42" y="186"/>
                </a:lnTo>
                <a:close/>
                <a:moveTo>
                  <a:pt x="158" y="218"/>
                </a:moveTo>
                <a:lnTo>
                  <a:pt x="256" y="120"/>
                </a:lnTo>
                <a:lnTo>
                  <a:pt x="262" y="112"/>
                </a:lnTo>
                <a:lnTo>
                  <a:pt x="266" y="104"/>
                </a:lnTo>
                <a:lnTo>
                  <a:pt x="270" y="94"/>
                </a:lnTo>
                <a:lnTo>
                  <a:pt x="270" y="84"/>
                </a:lnTo>
                <a:lnTo>
                  <a:pt x="270" y="72"/>
                </a:lnTo>
                <a:lnTo>
                  <a:pt x="266" y="64"/>
                </a:lnTo>
                <a:lnTo>
                  <a:pt x="262" y="54"/>
                </a:lnTo>
                <a:lnTo>
                  <a:pt x="256" y="46"/>
                </a:lnTo>
                <a:lnTo>
                  <a:pt x="248" y="40"/>
                </a:lnTo>
                <a:lnTo>
                  <a:pt x="238" y="34"/>
                </a:lnTo>
                <a:lnTo>
                  <a:pt x="228" y="32"/>
                </a:lnTo>
                <a:lnTo>
                  <a:pt x="218" y="30"/>
                </a:lnTo>
                <a:lnTo>
                  <a:pt x="208" y="32"/>
                </a:lnTo>
                <a:lnTo>
                  <a:pt x="198" y="34"/>
                </a:lnTo>
                <a:lnTo>
                  <a:pt x="188" y="40"/>
                </a:lnTo>
                <a:lnTo>
                  <a:pt x="180" y="46"/>
                </a:lnTo>
                <a:lnTo>
                  <a:pt x="82" y="144"/>
                </a:lnTo>
                <a:lnTo>
                  <a:pt x="96" y="146"/>
                </a:lnTo>
                <a:lnTo>
                  <a:pt x="110" y="152"/>
                </a:lnTo>
                <a:lnTo>
                  <a:pt x="122" y="158"/>
                </a:lnTo>
                <a:lnTo>
                  <a:pt x="134" y="168"/>
                </a:lnTo>
                <a:lnTo>
                  <a:pt x="142" y="180"/>
                </a:lnTo>
                <a:lnTo>
                  <a:pt x="150" y="192"/>
                </a:lnTo>
                <a:lnTo>
                  <a:pt x="154" y="204"/>
                </a:lnTo>
                <a:lnTo>
                  <a:pt x="158" y="218"/>
                </a:lnTo>
                <a:close/>
              </a:path>
            </a:pathLst>
          </a:custGeom>
          <a:gradFill rotWithShape="1">
            <a:gsLst>
              <a:gs pos="0">
                <a:srgbClr val="FF6600"/>
              </a:gs>
              <a:gs pos="100000">
                <a:srgbClr val="FF3300"/>
              </a:gs>
            </a:gsLst>
            <a:lin ang="5400000" scaled="1"/>
          </a:gradFill>
          <a:ln w="9525">
            <a:noFill/>
            <a:round/>
          </a:ln>
        </p:spPr>
        <p:txBody>
          <a:bodyPr lIns="115214" tIns="57607" rIns="115214" bIns="57607"/>
          <a:lstStyle/>
          <a:p>
            <a:endParaRPr lang="zh-CN" altLang="en-US" sz="1100">
              <a:latin typeface="+mn-lt"/>
              <a:ea typeface="+mn-ea"/>
            </a:endParaRPr>
          </a:p>
        </p:txBody>
      </p:sp>
      <p:sp>
        <p:nvSpPr>
          <p:cNvPr id="11" name="矩形 10"/>
          <p:cNvSpPr/>
          <p:nvPr userDrawn="1"/>
        </p:nvSpPr>
        <p:spPr bwMode="auto">
          <a:xfrm>
            <a:off x="3492660" y="18556379"/>
            <a:ext cx="5081165" cy="453634"/>
          </a:xfrm>
          <a:prstGeom prst="rect">
            <a:avLst/>
          </a:prstGeom>
          <a:noFill/>
          <a:ln w="25400">
            <a:noFill/>
          </a:ln>
          <a:effectLst/>
          <a:scene3d>
            <a:camera prst="orthographicFront"/>
            <a:lightRig rig="flat" dir="t"/>
          </a:scene3d>
          <a:sp3d>
            <a:extrusionClr>
              <a:schemeClr val="bg1"/>
            </a:extrusionClr>
            <a:contourClr>
              <a:schemeClr val="bg1"/>
            </a:contourClr>
          </a:sp3d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15214" tIns="57607" rIns="115214" bIns="57607" rtlCol="0" anchor="ctr"/>
          <a:lstStyle/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r>
              <a:rPr lang="zh-CN" altLang="en-US" sz="1800" dirty="0"/>
              <a:t>第一</a:t>
            </a:r>
            <a:r>
              <a:rPr lang="en-US" altLang="zh-CN" sz="1800" dirty="0"/>
              <a:t>PPT</a:t>
            </a:r>
            <a:r>
              <a:rPr lang="zh-CN" altLang="en-US" sz="1800" dirty="0"/>
              <a:t>模板网</a:t>
            </a:r>
            <a:endParaRPr lang="en-US" altLang="zh-CN" sz="1800" dirty="0"/>
          </a:p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r>
              <a:rPr lang="en-US" altLang="zh-CN" sz="1800" dirty="0">
                <a:hlinkClick r:id="rId7"/>
              </a:rPr>
              <a:t>www.1ppt.com/tubiao/</a:t>
            </a:r>
            <a:r>
              <a:rPr lang="en-US" altLang="zh-CN" sz="1800" dirty="0"/>
              <a:t>  </a:t>
            </a:r>
            <a:endParaRPr lang="zh-CN" altLang="en-US" sz="180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 userDrawn="1"/>
        </p:nvSpPr>
        <p:spPr bwMode="auto">
          <a:xfrm>
            <a:off x="-8002" y="-18002"/>
            <a:ext cx="11576085" cy="1098098"/>
          </a:xfrm>
          <a:prstGeom prst="rect">
            <a:avLst/>
          </a:prstGeom>
          <a:blipFill dpi="0" rotWithShape="1">
            <a:blip r:embed="rId2"/>
            <a:srcRect/>
            <a:tile tx="-2457450" ty="0" sx="59000" sy="59000" flip="x" algn="r"/>
          </a:blipFill>
          <a:ln w="0">
            <a:noFill/>
          </a:ln>
          <a:scene3d>
            <a:camera prst="perspectiveFront"/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2" name="矩形 1"/>
          <p:cNvSpPr/>
          <p:nvPr userDrawn="1"/>
        </p:nvSpPr>
        <p:spPr>
          <a:xfrm>
            <a:off x="-10002" y="7612673"/>
            <a:ext cx="11578086" cy="1028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pic>
        <p:nvPicPr>
          <p:cNvPr id="4" name="Picture 2"/>
          <p:cNvPicPr>
            <a:picLocks noChangeAspect="1" noChangeArrowheads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8000" contrast="33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p:blipFill>
        <p:spPr bwMode="auto">
          <a:xfrm>
            <a:off x="-14963" y="999071"/>
            <a:ext cx="11583047" cy="676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6"/>
          <p:cNvPicPr>
            <a:picLocks noChangeAspect="1" noChangeArrowheads="1"/>
          </p:cNvPicPr>
          <p:nvPr userDrawn="1"/>
        </p:nvPicPr>
        <p:blipFill>
          <a:blip r:embed="rId5"/>
          <a:srcRect/>
          <a:stretch>
            <a:fillRect/>
          </a:stretch>
        </p:blipFill>
        <p:spPr bwMode="auto">
          <a:xfrm flipH="1">
            <a:off x="4176598" y="7994682"/>
            <a:ext cx="7345323" cy="3480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" name="图片 11" descr="png素材 (276).png"/>
          <p:cNvPicPr>
            <a:picLocks noChangeAspect="1"/>
          </p:cNvPicPr>
          <p:nvPr userDrawn="1"/>
        </p:nvPicPr>
        <p:blipFill>
          <a:blip r:embed="rId6"/>
          <a:srcRect/>
          <a:stretch>
            <a:fillRect/>
          </a:stretch>
        </p:blipFill>
        <p:spPr bwMode="auto">
          <a:xfrm>
            <a:off x="0" y="3344"/>
            <a:ext cx="990155" cy="9900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 userDrawn="1"/>
        </p:nvSpPr>
        <p:spPr bwMode="auto">
          <a:xfrm>
            <a:off x="5942508" y="419131"/>
            <a:ext cx="5569659" cy="467995"/>
          </a:xfrm>
          <a:prstGeom prst="rect">
            <a:avLst/>
          </a:prstGeom>
          <a:noFill/>
        </p:spPr>
        <p:txBody>
          <a:bodyPr wrap="square" lIns="115214" tIns="57607" rIns="115214" bIns="57607">
            <a:spAutoFit/>
            <a:scene3d>
              <a:camera prst="orthographicFront">
                <a:rot lat="0" lon="0" rev="0"/>
              </a:camera>
              <a:lightRig rig="contrasting" dir="t">
                <a:rot lat="0" lon="0" rev="4500000"/>
              </a:lightRig>
            </a:scene3d>
            <a:sp3d contourW="6350" prstMaterial="metal">
              <a:bevelT w="127000" h="31750" prst="relaxedInset"/>
              <a:contourClr>
                <a:schemeClr val="accent1">
                  <a:shade val="75000"/>
                </a:schemeClr>
              </a:contourClr>
            </a:sp3d>
          </a:bodyPr>
          <a:lstStyle/>
          <a:p>
            <a:pPr marL="0" marR="0" indent="0" algn="ctr" defTabSz="115189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</a:rPr>
              <a:t>『</a:t>
            </a:r>
            <a:r>
              <a:rPr lang="zh-CN" altLang="en-US" sz="23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  <a:cs typeface="Arial Unicode MS" charset="0"/>
                <a:sym typeface="Arial Unicode MS" charset="0"/>
              </a:rPr>
              <a:t>PPT</a:t>
            </a:r>
            <a:r>
              <a:rPr lang="en-US" altLang="zh-CN" sz="2300" spc="378" baseline="0" dirty="0">
                <a:solidFill>
                  <a:schemeClr val="bg1"/>
                </a:solidFill>
                <a:latin typeface="+mn-lt"/>
                <a:ea typeface="+mn-ea"/>
              </a:rPr>
              <a:t>』—</a:t>
            </a:r>
            <a:r>
              <a:rPr lang="zh-CN" altLang="en-US" sz="2300" spc="378" baseline="0" dirty="0">
                <a:solidFill>
                  <a:schemeClr val="bg1"/>
                </a:solidFill>
                <a:latin typeface="+mn-lt"/>
                <a:ea typeface="+mn-ea"/>
              </a:rPr>
              <a:t> </a:t>
            </a:r>
            <a:r>
              <a:rPr lang="en-US" altLang="zh-CN" sz="2300" b="0" spc="0" dirty="0">
                <a:solidFill>
                  <a:schemeClr val="bg1"/>
                </a:solidFill>
                <a:latin typeface="+mn-lt"/>
                <a:ea typeface="+mn-ea"/>
                <a:cs typeface="Arial Unicode MS" charset="0"/>
                <a:sym typeface="Arial Unicode MS" charset="0"/>
              </a:rPr>
              <a:t>WWW.1PPT.COM</a:t>
            </a:r>
            <a:endParaRPr lang="zh-CN" altLang="en-US" sz="2300" b="0" spc="0" dirty="0">
              <a:solidFill>
                <a:schemeClr val="bg1"/>
              </a:solidFill>
              <a:latin typeface="+mn-lt"/>
              <a:ea typeface="+mn-ea"/>
              <a:cs typeface="Arial Unicode MS" charset="0"/>
              <a:sym typeface="Arial Unicode MS" charset="0"/>
            </a:endParaRPr>
          </a:p>
        </p:txBody>
      </p:sp>
      <p:sp>
        <p:nvSpPr>
          <p:cNvPr id="9" name="TextBox 8"/>
          <p:cNvSpPr txBox="1"/>
          <p:nvPr userDrawn="1"/>
        </p:nvSpPr>
        <p:spPr bwMode="auto">
          <a:xfrm>
            <a:off x="4218542" y="7997014"/>
            <a:ext cx="6749215" cy="391160"/>
          </a:xfrm>
          <a:prstGeom prst="rect">
            <a:avLst/>
          </a:prstGeom>
          <a:noFill/>
        </p:spPr>
        <p:txBody>
          <a:bodyPr lIns="115214" tIns="57607" rIns="115214" bIns="57607">
            <a:spAutoFit/>
          </a:bodyPr>
          <a:lstStyle/>
          <a:p>
            <a:pPr>
              <a:defRPr/>
            </a:pPr>
            <a:r>
              <a:rPr lang="zh-CN" altLang="en-US" sz="18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1800" spc="378" dirty="0">
                <a:solidFill>
                  <a:schemeClr val="bg1"/>
                </a:solidFill>
                <a:latin typeface="+mn-lt"/>
                <a:ea typeface="+mn-ea"/>
              </a:rPr>
              <a:t>PPT HTTP://WWW.1PPT.COM</a:t>
            </a:r>
            <a:endParaRPr lang="zh-CN" altLang="en-US" sz="1800" spc="378" dirty="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10" name="Freeform 2670"/>
          <p:cNvSpPr>
            <a:spLocks noEditPoints="1"/>
          </p:cNvSpPr>
          <p:nvPr userDrawn="1"/>
        </p:nvSpPr>
        <p:spPr bwMode="auto">
          <a:xfrm>
            <a:off x="3510617" y="7903864"/>
            <a:ext cx="508092" cy="512045"/>
          </a:xfrm>
          <a:custGeom>
            <a:avLst/>
            <a:gdLst>
              <a:gd name="T0" fmla="*/ 73 w 300"/>
              <a:gd name="T1" fmla="*/ 144 h 302"/>
              <a:gd name="T2" fmla="*/ 58 w 300"/>
              <a:gd name="T3" fmla="*/ 153 h 302"/>
              <a:gd name="T4" fmla="*/ 41 w 300"/>
              <a:gd name="T5" fmla="*/ 156 h 302"/>
              <a:gd name="T6" fmla="*/ 15 w 300"/>
              <a:gd name="T7" fmla="*/ 156 h 302"/>
              <a:gd name="T8" fmla="*/ 4 w 300"/>
              <a:gd name="T9" fmla="*/ 151 h 302"/>
              <a:gd name="T10" fmla="*/ 2 w 300"/>
              <a:gd name="T11" fmla="*/ 147 h 302"/>
              <a:gd name="T12" fmla="*/ 0 w 300"/>
              <a:gd name="T13" fmla="*/ 113 h 302"/>
              <a:gd name="T14" fmla="*/ 0 w 300"/>
              <a:gd name="T15" fmla="*/ 104 h 302"/>
              <a:gd name="T16" fmla="*/ 7 w 300"/>
              <a:gd name="T17" fmla="*/ 90 h 302"/>
              <a:gd name="T18" fmla="*/ 82 w 300"/>
              <a:gd name="T19" fmla="*/ 12 h 302"/>
              <a:gd name="T20" fmla="*/ 89 w 300"/>
              <a:gd name="T21" fmla="*/ 7 h 302"/>
              <a:gd name="T22" fmla="*/ 104 w 300"/>
              <a:gd name="T23" fmla="*/ 2 h 302"/>
              <a:gd name="T24" fmla="*/ 113 w 300"/>
              <a:gd name="T25" fmla="*/ 0 h 302"/>
              <a:gd name="T26" fmla="*/ 129 w 300"/>
              <a:gd name="T27" fmla="*/ 3 h 302"/>
              <a:gd name="T28" fmla="*/ 142 w 300"/>
              <a:gd name="T29" fmla="*/ 12 h 302"/>
              <a:gd name="T30" fmla="*/ 148 w 300"/>
              <a:gd name="T31" fmla="*/ 19 h 302"/>
              <a:gd name="T32" fmla="*/ 154 w 300"/>
              <a:gd name="T33" fmla="*/ 34 h 302"/>
              <a:gd name="T34" fmla="*/ 154 w 300"/>
              <a:gd name="T35" fmla="*/ 43 h 302"/>
              <a:gd name="T36" fmla="*/ 152 w 300"/>
              <a:gd name="T37" fmla="*/ 59 h 302"/>
              <a:gd name="T38" fmla="*/ 142 w 300"/>
              <a:gd name="T39" fmla="*/ 73 h 302"/>
              <a:gd name="T40" fmla="*/ 21 w 300"/>
              <a:gd name="T41" fmla="*/ 97 h 302"/>
              <a:gd name="T42" fmla="*/ 18 w 300"/>
              <a:gd name="T43" fmla="*/ 100 h 302"/>
              <a:gd name="T44" fmla="*/ 15 w 300"/>
              <a:gd name="T45" fmla="*/ 109 h 302"/>
              <a:gd name="T46" fmla="*/ 15 w 300"/>
              <a:gd name="T47" fmla="*/ 118 h 302"/>
              <a:gd name="T48" fmla="*/ 19 w 300"/>
              <a:gd name="T49" fmla="*/ 117 h 302"/>
              <a:gd name="T50" fmla="*/ 22 w 300"/>
              <a:gd name="T51" fmla="*/ 118 h 302"/>
              <a:gd name="T52" fmla="*/ 30 w 300"/>
              <a:gd name="T53" fmla="*/ 120 h 302"/>
              <a:gd name="T54" fmla="*/ 33 w 300"/>
              <a:gd name="T55" fmla="*/ 123 h 302"/>
              <a:gd name="T56" fmla="*/ 37 w 300"/>
              <a:gd name="T57" fmla="*/ 130 h 302"/>
              <a:gd name="T58" fmla="*/ 38 w 300"/>
              <a:gd name="T59" fmla="*/ 136 h 302"/>
              <a:gd name="T60" fmla="*/ 38 w 300"/>
              <a:gd name="T61" fmla="*/ 141 h 302"/>
              <a:gd name="T62" fmla="*/ 41 w 300"/>
              <a:gd name="T63" fmla="*/ 141 h 302"/>
              <a:gd name="T64" fmla="*/ 52 w 300"/>
              <a:gd name="T65" fmla="*/ 138 h 302"/>
              <a:gd name="T66" fmla="*/ 59 w 300"/>
              <a:gd name="T67" fmla="*/ 134 h 302"/>
              <a:gd name="T68" fmla="*/ 62 w 300"/>
              <a:gd name="T69" fmla="*/ 130 h 302"/>
              <a:gd name="T70" fmla="*/ 65 w 300"/>
              <a:gd name="T71" fmla="*/ 122 h 302"/>
              <a:gd name="T72" fmla="*/ 65 w 300"/>
              <a:gd name="T73" fmla="*/ 117 h 302"/>
              <a:gd name="T74" fmla="*/ 63 w 300"/>
              <a:gd name="T75" fmla="*/ 106 h 302"/>
              <a:gd name="T76" fmla="*/ 58 w 300"/>
              <a:gd name="T77" fmla="*/ 97 h 302"/>
              <a:gd name="T78" fmla="*/ 54 w 300"/>
              <a:gd name="T79" fmla="*/ 94 h 302"/>
              <a:gd name="T80" fmla="*/ 44 w 300"/>
              <a:gd name="T81" fmla="*/ 90 h 302"/>
              <a:gd name="T82" fmla="*/ 38 w 300"/>
              <a:gd name="T83" fmla="*/ 90 h 302"/>
              <a:gd name="T84" fmla="*/ 30 w 300"/>
              <a:gd name="T85" fmla="*/ 91 h 302"/>
              <a:gd name="T86" fmla="*/ 21 w 300"/>
              <a:gd name="T87" fmla="*/ 97 h 302"/>
              <a:gd name="T88" fmla="*/ 81 w 300"/>
              <a:gd name="T89" fmla="*/ 113 h 302"/>
              <a:gd name="T90" fmla="*/ 132 w 300"/>
              <a:gd name="T91" fmla="*/ 62 h 302"/>
              <a:gd name="T92" fmla="*/ 137 w 300"/>
              <a:gd name="T93" fmla="*/ 54 h 302"/>
              <a:gd name="T94" fmla="*/ 139 w 300"/>
              <a:gd name="T95" fmla="*/ 43 h 302"/>
              <a:gd name="T96" fmla="*/ 139 w 300"/>
              <a:gd name="T97" fmla="*/ 37 h 302"/>
              <a:gd name="T98" fmla="*/ 135 w 300"/>
              <a:gd name="T99" fmla="*/ 28 h 302"/>
              <a:gd name="T100" fmla="*/ 132 w 300"/>
              <a:gd name="T101" fmla="*/ 24 h 302"/>
              <a:gd name="T102" fmla="*/ 123 w 300"/>
              <a:gd name="T103" fmla="*/ 18 h 302"/>
              <a:gd name="T104" fmla="*/ 113 w 300"/>
              <a:gd name="T105" fmla="*/ 15 h 302"/>
              <a:gd name="T106" fmla="*/ 107 w 300"/>
              <a:gd name="T107" fmla="*/ 16 h 302"/>
              <a:gd name="T108" fmla="*/ 97 w 300"/>
              <a:gd name="T109" fmla="*/ 21 h 302"/>
              <a:gd name="T110" fmla="*/ 41 w 300"/>
              <a:gd name="T111" fmla="*/ 74 h 302"/>
              <a:gd name="T112" fmla="*/ 49 w 300"/>
              <a:gd name="T113" fmla="*/ 75 h 302"/>
              <a:gd name="T114" fmla="*/ 63 w 300"/>
              <a:gd name="T115" fmla="*/ 82 h 302"/>
              <a:gd name="T116" fmla="*/ 69 w 300"/>
              <a:gd name="T117" fmla="*/ 86 h 302"/>
              <a:gd name="T118" fmla="*/ 77 w 300"/>
              <a:gd name="T119" fmla="*/ 99 h 302"/>
              <a:gd name="T120" fmla="*/ 81 w 300"/>
              <a:gd name="T121" fmla="*/ 113 h 302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w 300"/>
              <a:gd name="T184" fmla="*/ 0 h 302"/>
              <a:gd name="T185" fmla="*/ 300 w 300"/>
              <a:gd name="T186" fmla="*/ 302 h 302"/>
            </a:gdLst>
            <a:ahLst/>
            <a:cxnLst>
              <a:cxn ang="T122">
                <a:pos x="T0" y="T1"/>
              </a:cxn>
              <a:cxn ang="T123">
                <a:pos x="T2" y="T3"/>
              </a:cxn>
              <a:cxn ang="T124">
                <a:pos x="T4" y="T5"/>
              </a:cxn>
              <a:cxn ang="T125">
                <a:pos x="T6" y="T7"/>
              </a:cxn>
              <a:cxn ang="T126">
                <a:pos x="T8" y="T9"/>
              </a:cxn>
              <a:cxn ang="T127">
                <a:pos x="T10" y="T11"/>
              </a:cxn>
              <a:cxn ang="T128">
                <a:pos x="T12" y="T13"/>
              </a:cxn>
              <a:cxn ang="T129">
                <a:pos x="T14" y="T15"/>
              </a:cxn>
              <a:cxn ang="T130">
                <a:pos x="T16" y="T17"/>
              </a:cxn>
              <a:cxn ang="T131">
                <a:pos x="T18" y="T19"/>
              </a:cxn>
              <a:cxn ang="T132">
                <a:pos x="T20" y="T21"/>
              </a:cxn>
              <a:cxn ang="T133">
                <a:pos x="T22" y="T23"/>
              </a:cxn>
              <a:cxn ang="T134">
                <a:pos x="T24" y="T25"/>
              </a:cxn>
              <a:cxn ang="T135">
                <a:pos x="T26" y="T27"/>
              </a:cxn>
              <a:cxn ang="T136">
                <a:pos x="T28" y="T29"/>
              </a:cxn>
              <a:cxn ang="T137">
                <a:pos x="T30" y="T31"/>
              </a:cxn>
              <a:cxn ang="T138">
                <a:pos x="T32" y="T33"/>
              </a:cxn>
              <a:cxn ang="T139">
                <a:pos x="T34" y="T35"/>
              </a:cxn>
              <a:cxn ang="T140">
                <a:pos x="T36" y="T37"/>
              </a:cxn>
              <a:cxn ang="T141">
                <a:pos x="T38" y="T39"/>
              </a:cxn>
              <a:cxn ang="T142">
                <a:pos x="T40" y="T41"/>
              </a:cxn>
              <a:cxn ang="T143">
                <a:pos x="T42" y="T43"/>
              </a:cxn>
              <a:cxn ang="T144">
                <a:pos x="T44" y="T45"/>
              </a:cxn>
              <a:cxn ang="T145">
                <a:pos x="T46" y="T47"/>
              </a:cxn>
              <a:cxn ang="T146">
                <a:pos x="T48" y="T49"/>
              </a:cxn>
              <a:cxn ang="T147">
                <a:pos x="T50" y="T51"/>
              </a:cxn>
              <a:cxn ang="T148">
                <a:pos x="T52" y="T53"/>
              </a:cxn>
              <a:cxn ang="T149">
                <a:pos x="T54" y="T55"/>
              </a:cxn>
              <a:cxn ang="T150">
                <a:pos x="T56" y="T57"/>
              </a:cxn>
              <a:cxn ang="T151">
                <a:pos x="T58" y="T59"/>
              </a:cxn>
              <a:cxn ang="T152">
                <a:pos x="T60" y="T61"/>
              </a:cxn>
              <a:cxn ang="T153">
                <a:pos x="T62" y="T63"/>
              </a:cxn>
              <a:cxn ang="T154">
                <a:pos x="T64" y="T65"/>
              </a:cxn>
              <a:cxn ang="T155">
                <a:pos x="T66" y="T67"/>
              </a:cxn>
              <a:cxn ang="T156">
                <a:pos x="T68" y="T69"/>
              </a:cxn>
              <a:cxn ang="T157">
                <a:pos x="T70" y="T71"/>
              </a:cxn>
              <a:cxn ang="T158">
                <a:pos x="T72" y="T73"/>
              </a:cxn>
              <a:cxn ang="T159">
                <a:pos x="T74" y="T75"/>
              </a:cxn>
              <a:cxn ang="T160">
                <a:pos x="T76" y="T77"/>
              </a:cxn>
              <a:cxn ang="T161">
                <a:pos x="T78" y="T79"/>
              </a:cxn>
              <a:cxn ang="T162">
                <a:pos x="T80" y="T81"/>
              </a:cxn>
              <a:cxn ang="T163">
                <a:pos x="T82" y="T83"/>
              </a:cxn>
              <a:cxn ang="T164">
                <a:pos x="T84" y="T85"/>
              </a:cxn>
              <a:cxn ang="T165">
                <a:pos x="T86" y="T87"/>
              </a:cxn>
              <a:cxn ang="T166">
                <a:pos x="T88" y="T89"/>
              </a:cxn>
              <a:cxn ang="T167">
                <a:pos x="T90" y="T91"/>
              </a:cxn>
              <a:cxn ang="T168">
                <a:pos x="T92" y="T93"/>
              </a:cxn>
              <a:cxn ang="T169">
                <a:pos x="T94" y="T95"/>
              </a:cxn>
              <a:cxn ang="T170">
                <a:pos x="T96" y="T97"/>
              </a:cxn>
              <a:cxn ang="T171">
                <a:pos x="T98" y="T99"/>
              </a:cxn>
              <a:cxn ang="T172">
                <a:pos x="T100" y="T101"/>
              </a:cxn>
              <a:cxn ang="T173">
                <a:pos x="T102" y="T103"/>
              </a:cxn>
              <a:cxn ang="T174">
                <a:pos x="T104" y="T105"/>
              </a:cxn>
              <a:cxn ang="T175">
                <a:pos x="T106" y="T107"/>
              </a:cxn>
              <a:cxn ang="T176">
                <a:pos x="T108" y="T109"/>
              </a:cxn>
              <a:cxn ang="T177">
                <a:pos x="T110" y="T111"/>
              </a:cxn>
              <a:cxn ang="T178">
                <a:pos x="T112" y="T113"/>
              </a:cxn>
              <a:cxn ang="T179">
                <a:pos x="T114" y="T115"/>
              </a:cxn>
              <a:cxn ang="T180">
                <a:pos x="T116" y="T117"/>
              </a:cxn>
              <a:cxn ang="T181">
                <a:pos x="T118" y="T119"/>
              </a:cxn>
              <a:cxn ang="T182">
                <a:pos x="T120" y="T121"/>
              </a:cxn>
            </a:cxnLst>
            <a:rect l="T183" t="T184" r="T185" b="T186"/>
            <a:pathLst>
              <a:path w="300" h="302">
                <a:moveTo>
                  <a:pt x="140" y="278"/>
                </a:moveTo>
                <a:lnTo>
                  <a:pt x="140" y="278"/>
                </a:lnTo>
                <a:lnTo>
                  <a:pt x="128" y="288"/>
                </a:lnTo>
                <a:lnTo>
                  <a:pt x="114" y="296"/>
                </a:lnTo>
                <a:lnTo>
                  <a:pt x="98" y="300"/>
                </a:lnTo>
                <a:lnTo>
                  <a:pt x="82" y="302"/>
                </a:lnTo>
                <a:lnTo>
                  <a:pt x="30" y="302"/>
                </a:lnTo>
                <a:lnTo>
                  <a:pt x="18" y="300"/>
                </a:lnTo>
                <a:lnTo>
                  <a:pt x="8" y="292"/>
                </a:lnTo>
                <a:lnTo>
                  <a:pt x="2" y="284"/>
                </a:lnTo>
                <a:lnTo>
                  <a:pt x="0" y="272"/>
                </a:lnTo>
                <a:lnTo>
                  <a:pt x="0" y="218"/>
                </a:lnTo>
                <a:lnTo>
                  <a:pt x="0" y="202"/>
                </a:lnTo>
                <a:lnTo>
                  <a:pt x="6" y="188"/>
                </a:lnTo>
                <a:lnTo>
                  <a:pt x="14" y="174"/>
                </a:lnTo>
                <a:lnTo>
                  <a:pt x="24" y="160"/>
                </a:lnTo>
                <a:lnTo>
                  <a:pt x="160" y="24"/>
                </a:lnTo>
                <a:lnTo>
                  <a:pt x="172" y="14"/>
                </a:lnTo>
                <a:lnTo>
                  <a:pt x="186" y="6"/>
                </a:lnTo>
                <a:lnTo>
                  <a:pt x="202" y="2"/>
                </a:lnTo>
                <a:lnTo>
                  <a:pt x="218" y="0"/>
                </a:lnTo>
                <a:lnTo>
                  <a:pt x="234" y="2"/>
                </a:lnTo>
                <a:lnTo>
                  <a:pt x="250" y="6"/>
                </a:lnTo>
                <a:lnTo>
                  <a:pt x="264" y="14"/>
                </a:lnTo>
                <a:lnTo>
                  <a:pt x="276" y="24"/>
                </a:lnTo>
                <a:lnTo>
                  <a:pt x="288" y="38"/>
                </a:lnTo>
                <a:lnTo>
                  <a:pt x="294" y="52"/>
                </a:lnTo>
                <a:lnTo>
                  <a:pt x="300" y="66"/>
                </a:lnTo>
                <a:lnTo>
                  <a:pt x="300" y="84"/>
                </a:lnTo>
                <a:lnTo>
                  <a:pt x="300" y="100"/>
                </a:lnTo>
                <a:lnTo>
                  <a:pt x="294" y="116"/>
                </a:lnTo>
                <a:lnTo>
                  <a:pt x="288" y="130"/>
                </a:lnTo>
                <a:lnTo>
                  <a:pt x="276" y="142"/>
                </a:lnTo>
                <a:lnTo>
                  <a:pt x="140" y="278"/>
                </a:lnTo>
                <a:close/>
                <a:moveTo>
                  <a:pt x="42" y="186"/>
                </a:moveTo>
                <a:lnTo>
                  <a:pt x="42" y="186"/>
                </a:lnTo>
                <a:lnTo>
                  <a:pt x="36" y="194"/>
                </a:lnTo>
                <a:lnTo>
                  <a:pt x="32" y="202"/>
                </a:lnTo>
                <a:lnTo>
                  <a:pt x="30" y="210"/>
                </a:lnTo>
                <a:lnTo>
                  <a:pt x="30" y="218"/>
                </a:lnTo>
                <a:lnTo>
                  <a:pt x="30" y="228"/>
                </a:lnTo>
                <a:lnTo>
                  <a:pt x="38" y="226"/>
                </a:lnTo>
                <a:lnTo>
                  <a:pt x="44" y="228"/>
                </a:lnTo>
                <a:lnTo>
                  <a:pt x="52" y="230"/>
                </a:lnTo>
                <a:lnTo>
                  <a:pt x="58" y="232"/>
                </a:lnTo>
                <a:lnTo>
                  <a:pt x="64" y="238"/>
                </a:lnTo>
                <a:lnTo>
                  <a:pt x="68" y="244"/>
                </a:lnTo>
                <a:lnTo>
                  <a:pt x="72" y="250"/>
                </a:lnTo>
                <a:lnTo>
                  <a:pt x="74" y="256"/>
                </a:lnTo>
                <a:lnTo>
                  <a:pt x="74" y="264"/>
                </a:lnTo>
                <a:lnTo>
                  <a:pt x="74" y="272"/>
                </a:lnTo>
                <a:lnTo>
                  <a:pt x="82" y="272"/>
                </a:lnTo>
                <a:lnTo>
                  <a:pt x="92" y="270"/>
                </a:lnTo>
                <a:lnTo>
                  <a:pt x="100" y="268"/>
                </a:lnTo>
                <a:lnTo>
                  <a:pt x="108" y="266"/>
                </a:lnTo>
                <a:lnTo>
                  <a:pt x="116" y="260"/>
                </a:lnTo>
                <a:lnTo>
                  <a:pt x="120" y="252"/>
                </a:lnTo>
                <a:lnTo>
                  <a:pt x="124" y="244"/>
                </a:lnTo>
                <a:lnTo>
                  <a:pt x="126" y="236"/>
                </a:lnTo>
                <a:lnTo>
                  <a:pt x="128" y="226"/>
                </a:lnTo>
                <a:lnTo>
                  <a:pt x="126" y="216"/>
                </a:lnTo>
                <a:lnTo>
                  <a:pt x="124" y="206"/>
                </a:lnTo>
                <a:lnTo>
                  <a:pt x="118" y="198"/>
                </a:lnTo>
                <a:lnTo>
                  <a:pt x="112" y="190"/>
                </a:lnTo>
                <a:lnTo>
                  <a:pt x="104" y="182"/>
                </a:lnTo>
                <a:lnTo>
                  <a:pt x="94" y="178"/>
                </a:lnTo>
                <a:lnTo>
                  <a:pt x="86" y="174"/>
                </a:lnTo>
                <a:lnTo>
                  <a:pt x="74" y="174"/>
                </a:lnTo>
                <a:lnTo>
                  <a:pt x="66" y="174"/>
                </a:lnTo>
                <a:lnTo>
                  <a:pt x="58" y="176"/>
                </a:lnTo>
                <a:lnTo>
                  <a:pt x="50" y="180"/>
                </a:lnTo>
                <a:lnTo>
                  <a:pt x="42" y="186"/>
                </a:lnTo>
                <a:close/>
                <a:moveTo>
                  <a:pt x="158" y="218"/>
                </a:moveTo>
                <a:lnTo>
                  <a:pt x="256" y="120"/>
                </a:lnTo>
                <a:lnTo>
                  <a:pt x="262" y="112"/>
                </a:lnTo>
                <a:lnTo>
                  <a:pt x="266" y="104"/>
                </a:lnTo>
                <a:lnTo>
                  <a:pt x="270" y="94"/>
                </a:lnTo>
                <a:lnTo>
                  <a:pt x="270" y="84"/>
                </a:lnTo>
                <a:lnTo>
                  <a:pt x="270" y="72"/>
                </a:lnTo>
                <a:lnTo>
                  <a:pt x="266" y="64"/>
                </a:lnTo>
                <a:lnTo>
                  <a:pt x="262" y="54"/>
                </a:lnTo>
                <a:lnTo>
                  <a:pt x="256" y="46"/>
                </a:lnTo>
                <a:lnTo>
                  <a:pt x="248" y="40"/>
                </a:lnTo>
                <a:lnTo>
                  <a:pt x="238" y="34"/>
                </a:lnTo>
                <a:lnTo>
                  <a:pt x="228" y="32"/>
                </a:lnTo>
                <a:lnTo>
                  <a:pt x="218" y="30"/>
                </a:lnTo>
                <a:lnTo>
                  <a:pt x="208" y="32"/>
                </a:lnTo>
                <a:lnTo>
                  <a:pt x="198" y="34"/>
                </a:lnTo>
                <a:lnTo>
                  <a:pt x="188" y="40"/>
                </a:lnTo>
                <a:lnTo>
                  <a:pt x="180" y="46"/>
                </a:lnTo>
                <a:lnTo>
                  <a:pt x="82" y="144"/>
                </a:lnTo>
                <a:lnTo>
                  <a:pt x="96" y="146"/>
                </a:lnTo>
                <a:lnTo>
                  <a:pt x="110" y="152"/>
                </a:lnTo>
                <a:lnTo>
                  <a:pt x="122" y="158"/>
                </a:lnTo>
                <a:lnTo>
                  <a:pt x="134" y="168"/>
                </a:lnTo>
                <a:lnTo>
                  <a:pt x="142" y="180"/>
                </a:lnTo>
                <a:lnTo>
                  <a:pt x="150" y="192"/>
                </a:lnTo>
                <a:lnTo>
                  <a:pt x="154" y="204"/>
                </a:lnTo>
                <a:lnTo>
                  <a:pt x="158" y="218"/>
                </a:lnTo>
                <a:close/>
              </a:path>
            </a:pathLst>
          </a:custGeom>
          <a:gradFill rotWithShape="1">
            <a:gsLst>
              <a:gs pos="0">
                <a:srgbClr val="FF6600"/>
              </a:gs>
              <a:gs pos="100000">
                <a:srgbClr val="FF3300"/>
              </a:gs>
            </a:gsLst>
            <a:lin ang="5400000" scaled="1"/>
          </a:gradFill>
          <a:ln w="9525">
            <a:noFill/>
            <a:round/>
          </a:ln>
        </p:spPr>
        <p:txBody>
          <a:bodyPr lIns="115214" tIns="57607" rIns="115214" bIns="57607"/>
          <a:lstStyle/>
          <a:p>
            <a:endParaRPr lang="zh-CN" altLang="en-US" sz="1100">
              <a:latin typeface="+mn-lt"/>
              <a:ea typeface="+mn-ea"/>
            </a:endParaRPr>
          </a:p>
        </p:txBody>
      </p:sp>
      <p:sp>
        <p:nvSpPr>
          <p:cNvPr id="11" name="矩形 10"/>
          <p:cNvSpPr/>
          <p:nvPr userDrawn="1"/>
        </p:nvSpPr>
        <p:spPr bwMode="auto">
          <a:xfrm>
            <a:off x="3492660" y="10399074"/>
            <a:ext cx="5081165" cy="453634"/>
          </a:xfrm>
          <a:prstGeom prst="rect">
            <a:avLst/>
          </a:prstGeom>
          <a:noFill/>
          <a:ln w="25400">
            <a:noFill/>
          </a:ln>
          <a:effectLst/>
          <a:scene3d>
            <a:camera prst="orthographicFront"/>
            <a:lightRig rig="flat" dir="t"/>
          </a:scene3d>
          <a:sp3d>
            <a:extrusionClr>
              <a:schemeClr val="bg1"/>
            </a:extrusionClr>
            <a:contourClr>
              <a:schemeClr val="bg1"/>
            </a:contourClr>
          </a:sp3d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15214" tIns="57607" rIns="115214" bIns="57607" rtlCol="0" anchor="ctr"/>
          <a:lstStyle/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r>
              <a:rPr lang="zh-CN" altLang="en-US" sz="1800" dirty="0"/>
              <a:t>第一</a:t>
            </a:r>
            <a:r>
              <a:rPr lang="en-US" altLang="zh-CN" sz="1800" dirty="0"/>
              <a:t>PPT</a:t>
            </a:r>
            <a:r>
              <a:rPr lang="zh-CN" altLang="en-US" sz="1800" dirty="0"/>
              <a:t>模板网</a:t>
            </a:r>
            <a:endParaRPr lang="en-US" altLang="zh-CN" sz="1800" dirty="0"/>
          </a:p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r>
              <a:rPr lang="en-US" altLang="zh-CN" sz="1800" dirty="0">
                <a:hlinkClick r:id="rId7"/>
              </a:rPr>
              <a:t>www.1ppt.com/tubiao/</a:t>
            </a:r>
            <a:r>
              <a:rPr lang="en-US" altLang="zh-CN" sz="1800" dirty="0"/>
              <a:t>  </a:t>
            </a:r>
            <a:endParaRPr lang="zh-CN" alt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 userDrawn="1"/>
        </p:nvSpPr>
        <p:spPr bwMode="auto">
          <a:xfrm>
            <a:off x="-21737" y="1054219"/>
            <a:ext cx="11568081" cy="6768925"/>
          </a:xfrm>
          <a:prstGeom prst="rect">
            <a:avLst/>
          </a:prstGeom>
          <a:gradFill flip="none" rotWithShape="1">
            <a:gsLst>
              <a:gs pos="0">
                <a:srgbClr val="16355B"/>
              </a:gs>
              <a:gs pos="50000">
                <a:srgbClr val="0A2037"/>
              </a:gs>
              <a:gs pos="100000">
                <a:srgbClr val="000D18"/>
              </a:gs>
            </a:gsLst>
            <a:path path="circle">
              <a:fillToRect l="50000" t="50000" r="50000" b="50000"/>
            </a:path>
            <a:tileRect/>
          </a:gradFill>
          <a:ln w="25400">
            <a:noFill/>
          </a:ln>
          <a:effectLst/>
          <a:scene3d>
            <a:camera prst="orthographicFront"/>
            <a:lightRig rig="flat" dir="t"/>
          </a:scene3d>
          <a:sp3d>
            <a:extrusionClr>
              <a:schemeClr val="bg1"/>
            </a:extrusionClr>
            <a:contourClr>
              <a:schemeClr val="bg1"/>
            </a:contourClr>
          </a:sp3d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15214" tIns="57607" rIns="115214" bIns="57607" rtlCol="0" anchor="ctr"/>
          <a:lstStyle/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endParaRPr lang="zh-CN" altLang="en-US" sz="1800"/>
          </a:p>
        </p:txBody>
      </p:sp>
      <p:sp>
        <p:nvSpPr>
          <p:cNvPr id="7" name="矩形 6"/>
          <p:cNvSpPr/>
          <p:nvPr userDrawn="1"/>
        </p:nvSpPr>
        <p:spPr bwMode="auto">
          <a:xfrm>
            <a:off x="-8002" y="-18002"/>
            <a:ext cx="11576085" cy="1098098"/>
          </a:xfrm>
          <a:prstGeom prst="rect">
            <a:avLst/>
          </a:prstGeom>
          <a:blipFill dpi="0" rotWithShape="1">
            <a:blip r:embed="rId2"/>
            <a:srcRect/>
            <a:tile tx="-2457450" ty="0" sx="59000" sy="59000" flip="x" algn="r"/>
          </a:blipFill>
          <a:ln w="0">
            <a:noFill/>
          </a:ln>
          <a:scene3d>
            <a:camera prst="perspectiveFront"/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pic>
        <p:nvPicPr>
          <p:cNvPr id="8" name="图片 11" descr="png素材 (276).png"/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 bwMode="auto">
          <a:xfrm>
            <a:off x="0" y="3344"/>
            <a:ext cx="990155" cy="9900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矩形 8"/>
          <p:cNvSpPr/>
          <p:nvPr userDrawn="1"/>
        </p:nvSpPr>
        <p:spPr bwMode="auto">
          <a:xfrm>
            <a:off x="5942508" y="419131"/>
            <a:ext cx="5569659" cy="467995"/>
          </a:xfrm>
          <a:prstGeom prst="rect">
            <a:avLst/>
          </a:prstGeom>
          <a:noFill/>
        </p:spPr>
        <p:txBody>
          <a:bodyPr wrap="square" lIns="115214" tIns="57607" rIns="115214" bIns="57607">
            <a:spAutoFit/>
            <a:scene3d>
              <a:camera prst="orthographicFront">
                <a:rot lat="0" lon="0" rev="0"/>
              </a:camera>
              <a:lightRig rig="contrasting" dir="t">
                <a:rot lat="0" lon="0" rev="4500000"/>
              </a:lightRig>
            </a:scene3d>
            <a:sp3d contourW="6350" prstMaterial="metal">
              <a:bevelT w="127000" h="31750" prst="relaxedInset"/>
              <a:contourClr>
                <a:schemeClr val="accent1">
                  <a:shade val="75000"/>
                </a:schemeClr>
              </a:contourClr>
            </a:sp3d>
          </a:bodyPr>
          <a:lstStyle/>
          <a:p>
            <a:pPr marL="0" marR="0" indent="0" algn="ctr" defTabSz="115189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</a:rPr>
              <a:t>『</a:t>
            </a:r>
            <a:r>
              <a:rPr lang="zh-CN" altLang="en-US" sz="23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  <a:cs typeface="Arial Unicode MS" charset="0"/>
                <a:sym typeface="Arial Unicode MS" charset="0"/>
              </a:rPr>
              <a:t>PPT</a:t>
            </a:r>
            <a:r>
              <a:rPr lang="en-US" altLang="zh-CN" sz="2300" spc="378" baseline="0" dirty="0">
                <a:solidFill>
                  <a:schemeClr val="bg1"/>
                </a:solidFill>
                <a:latin typeface="+mn-lt"/>
                <a:ea typeface="+mn-ea"/>
              </a:rPr>
              <a:t>』—</a:t>
            </a:r>
            <a:r>
              <a:rPr lang="zh-CN" altLang="en-US" sz="2300" spc="378" baseline="0" dirty="0">
                <a:solidFill>
                  <a:schemeClr val="bg1"/>
                </a:solidFill>
                <a:latin typeface="+mn-lt"/>
                <a:ea typeface="+mn-ea"/>
              </a:rPr>
              <a:t> </a:t>
            </a:r>
            <a:r>
              <a:rPr lang="en-US" altLang="zh-CN" sz="2300" b="0" spc="0" dirty="0">
                <a:solidFill>
                  <a:schemeClr val="bg1"/>
                </a:solidFill>
                <a:latin typeface="+mn-lt"/>
                <a:ea typeface="+mn-ea"/>
                <a:cs typeface="Arial Unicode MS" charset="0"/>
                <a:sym typeface="Arial Unicode MS" charset="0"/>
              </a:rPr>
              <a:t>WWW.1PPT.COM</a:t>
            </a:r>
            <a:endParaRPr lang="zh-CN" altLang="en-US" sz="2300" b="0" spc="0" dirty="0">
              <a:solidFill>
                <a:schemeClr val="bg1"/>
              </a:solidFill>
              <a:latin typeface="+mn-lt"/>
              <a:ea typeface="+mn-ea"/>
              <a:cs typeface="Arial Unicode MS" charset="0"/>
              <a:sym typeface="Arial Unicode MS" charset="0"/>
            </a:endParaRPr>
          </a:p>
        </p:txBody>
      </p:sp>
      <p:sp>
        <p:nvSpPr>
          <p:cNvPr id="10" name="矩形 9"/>
          <p:cNvSpPr/>
          <p:nvPr userDrawn="1"/>
        </p:nvSpPr>
        <p:spPr>
          <a:xfrm>
            <a:off x="-10002" y="7612673"/>
            <a:ext cx="11578086" cy="1028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pic>
        <p:nvPicPr>
          <p:cNvPr id="11" name="Picture 6"/>
          <p:cNvPicPr>
            <a:picLocks noChangeAspect="1" noChangeArrowheads="1"/>
          </p:cNvPicPr>
          <p:nvPr userDrawn="1"/>
        </p:nvPicPr>
        <p:blipFill>
          <a:blip r:embed="rId4"/>
          <a:srcRect/>
          <a:stretch>
            <a:fillRect/>
          </a:stretch>
        </p:blipFill>
        <p:spPr bwMode="auto">
          <a:xfrm flipH="1">
            <a:off x="4176598" y="7994682"/>
            <a:ext cx="7345323" cy="3480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" name="TextBox 11"/>
          <p:cNvSpPr txBox="1"/>
          <p:nvPr userDrawn="1"/>
        </p:nvSpPr>
        <p:spPr bwMode="auto">
          <a:xfrm>
            <a:off x="4218542" y="7997014"/>
            <a:ext cx="6749215" cy="391160"/>
          </a:xfrm>
          <a:prstGeom prst="rect">
            <a:avLst/>
          </a:prstGeom>
          <a:noFill/>
        </p:spPr>
        <p:txBody>
          <a:bodyPr lIns="115214" tIns="57607" rIns="115214" bIns="57607">
            <a:spAutoFit/>
          </a:bodyPr>
          <a:lstStyle/>
          <a:p>
            <a:pPr>
              <a:defRPr/>
            </a:pPr>
            <a:r>
              <a:rPr lang="zh-CN" altLang="en-US" sz="18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1800" spc="378" dirty="0">
                <a:solidFill>
                  <a:schemeClr val="bg1"/>
                </a:solidFill>
                <a:latin typeface="+mn-lt"/>
                <a:ea typeface="+mn-ea"/>
              </a:rPr>
              <a:t>PPT HTTP://WWW.1PPT.COM</a:t>
            </a:r>
            <a:endParaRPr lang="zh-CN" altLang="en-US" sz="1800" spc="378" dirty="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13" name="Freeform 2670"/>
          <p:cNvSpPr>
            <a:spLocks noEditPoints="1"/>
          </p:cNvSpPr>
          <p:nvPr userDrawn="1"/>
        </p:nvSpPr>
        <p:spPr bwMode="auto">
          <a:xfrm>
            <a:off x="3510617" y="7903864"/>
            <a:ext cx="508092" cy="512045"/>
          </a:xfrm>
          <a:custGeom>
            <a:avLst/>
            <a:gdLst>
              <a:gd name="T0" fmla="*/ 73 w 300"/>
              <a:gd name="T1" fmla="*/ 144 h 302"/>
              <a:gd name="T2" fmla="*/ 58 w 300"/>
              <a:gd name="T3" fmla="*/ 153 h 302"/>
              <a:gd name="T4" fmla="*/ 41 w 300"/>
              <a:gd name="T5" fmla="*/ 156 h 302"/>
              <a:gd name="T6" fmla="*/ 15 w 300"/>
              <a:gd name="T7" fmla="*/ 156 h 302"/>
              <a:gd name="T8" fmla="*/ 4 w 300"/>
              <a:gd name="T9" fmla="*/ 151 h 302"/>
              <a:gd name="T10" fmla="*/ 2 w 300"/>
              <a:gd name="T11" fmla="*/ 147 h 302"/>
              <a:gd name="T12" fmla="*/ 0 w 300"/>
              <a:gd name="T13" fmla="*/ 113 h 302"/>
              <a:gd name="T14" fmla="*/ 0 w 300"/>
              <a:gd name="T15" fmla="*/ 104 h 302"/>
              <a:gd name="T16" fmla="*/ 7 w 300"/>
              <a:gd name="T17" fmla="*/ 90 h 302"/>
              <a:gd name="T18" fmla="*/ 82 w 300"/>
              <a:gd name="T19" fmla="*/ 12 h 302"/>
              <a:gd name="T20" fmla="*/ 89 w 300"/>
              <a:gd name="T21" fmla="*/ 7 h 302"/>
              <a:gd name="T22" fmla="*/ 104 w 300"/>
              <a:gd name="T23" fmla="*/ 2 h 302"/>
              <a:gd name="T24" fmla="*/ 113 w 300"/>
              <a:gd name="T25" fmla="*/ 0 h 302"/>
              <a:gd name="T26" fmla="*/ 129 w 300"/>
              <a:gd name="T27" fmla="*/ 3 h 302"/>
              <a:gd name="T28" fmla="*/ 142 w 300"/>
              <a:gd name="T29" fmla="*/ 12 h 302"/>
              <a:gd name="T30" fmla="*/ 148 w 300"/>
              <a:gd name="T31" fmla="*/ 19 h 302"/>
              <a:gd name="T32" fmla="*/ 154 w 300"/>
              <a:gd name="T33" fmla="*/ 34 h 302"/>
              <a:gd name="T34" fmla="*/ 154 w 300"/>
              <a:gd name="T35" fmla="*/ 43 h 302"/>
              <a:gd name="T36" fmla="*/ 152 w 300"/>
              <a:gd name="T37" fmla="*/ 59 h 302"/>
              <a:gd name="T38" fmla="*/ 142 w 300"/>
              <a:gd name="T39" fmla="*/ 73 h 302"/>
              <a:gd name="T40" fmla="*/ 21 w 300"/>
              <a:gd name="T41" fmla="*/ 97 h 302"/>
              <a:gd name="T42" fmla="*/ 18 w 300"/>
              <a:gd name="T43" fmla="*/ 100 h 302"/>
              <a:gd name="T44" fmla="*/ 15 w 300"/>
              <a:gd name="T45" fmla="*/ 109 h 302"/>
              <a:gd name="T46" fmla="*/ 15 w 300"/>
              <a:gd name="T47" fmla="*/ 118 h 302"/>
              <a:gd name="T48" fmla="*/ 19 w 300"/>
              <a:gd name="T49" fmla="*/ 117 h 302"/>
              <a:gd name="T50" fmla="*/ 22 w 300"/>
              <a:gd name="T51" fmla="*/ 118 h 302"/>
              <a:gd name="T52" fmla="*/ 30 w 300"/>
              <a:gd name="T53" fmla="*/ 120 h 302"/>
              <a:gd name="T54" fmla="*/ 33 w 300"/>
              <a:gd name="T55" fmla="*/ 123 h 302"/>
              <a:gd name="T56" fmla="*/ 37 w 300"/>
              <a:gd name="T57" fmla="*/ 130 h 302"/>
              <a:gd name="T58" fmla="*/ 38 w 300"/>
              <a:gd name="T59" fmla="*/ 136 h 302"/>
              <a:gd name="T60" fmla="*/ 38 w 300"/>
              <a:gd name="T61" fmla="*/ 141 h 302"/>
              <a:gd name="T62" fmla="*/ 41 w 300"/>
              <a:gd name="T63" fmla="*/ 141 h 302"/>
              <a:gd name="T64" fmla="*/ 52 w 300"/>
              <a:gd name="T65" fmla="*/ 138 h 302"/>
              <a:gd name="T66" fmla="*/ 59 w 300"/>
              <a:gd name="T67" fmla="*/ 134 h 302"/>
              <a:gd name="T68" fmla="*/ 62 w 300"/>
              <a:gd name="T69" fmla="*/ 130 h 302"/>
              <a:gd name="T70" fmla="*/ 65 w 300"/>
              <a:gd name="T71" fmla="*/ 122 h 302"/>
              <a:gd name="T72" fmla="*/ 65 w 300"/>
              <a:gd name="T73" fmla="*/ 117 h 302"/>
              <a:gd name="T74" fmla="*/ 63 w 300"/>
              <a:gd name="T75" fmla="*/ 106 h 302"/>
              <a:gd name="T76" fmla="*/ 58 w 300"/>
              <a:gd name="T77" fmla="*/ 97 h 302"/>
              <a:gd name="T78" fmla="*/ 54 w 300"/>
              <a:gd name="T79" fmla="*/ 94 h 302"/>
              <a:gd name="T80" fmla="*/ 44 w 300"/>
              <a:gd name="T81" fmla="*/ 90 h 302"/>
              <a:gd name="T82" fmla="*/ 38 w 300"/>
              <a:gd name="T83" fmla="*/ 90 h 302"/>
              <a:gd name="T84" fmla="*/ 30 w 300"/>
              <a:gd name="T85" fmla="*/ 91 h 302"/>
              <a:gd name="T86" fmla="*/ 21 w 300"/>
              <a:gd name="T87" fmla="*/ 97 h 302"/>
              <a:gd name="T88" fmla="*/ 81 w 300"/>
              <a:gd name="T89" fmla="*/ 113 h 302"/>
              <a:gd name="T90" fmla="*/ 132 w 300"/>
              <a:gd name="T91" fmla="*/ 62 h 302"/>
              <a:gd name="T92" fmla="*/ 137 w 300"/>
              <a:gd name="T93" fmla="*/ 54 h 302"/>
              <a:gd name="T94" fmla="*/ 139 w 300"/>
              <a:gd name="T95" fmla="*/ 43 h 302"/>
              <a:gd name="T96" fmla="*/ 139 w 300"/>
              <a:gd name="T97" fmla="*/ 37 h 302"/>
              <a:gd name="T98" fmla="*/ 135 w 300"/>
              <a:gd name="T99" fmla="*/ 28 h 302"/>
              <a:gd name="T100" fmla="*/ 132 w 300"/>
              <a:gd name="T101" fmla="*/ 24 h 302"/>
              <a:gd name="T102" fmla="*/ 123 w 300"/>
              <a:gd name="T103" fmla="*/ 18 h 302"/>
              <a:gd name="T104" fmla="*/ 113 w 300"/>
              <a:gd name="T105" fmla="*/ 15 h 302"/>
              <a:gd name="T106" fmla="*/ 107 w 300"/>
              <a:gd name="T107" fmla="*/ 16 h 302"/>
              <a:gd name="T108" fmla="*/ 97 w 300"/>
              <a:gd name="T109" fmla="*/ 21 h 302"/>
              <a:gd name="T110" fmla="*/ 41 w 300"/>
              <a:gd name="T111" fmla="*/ 74 h 302"/>
              <a:gd name="T112" fmla="*/ 49 w 300"/>
              <a:gd name="T113" fmla="*/ 75 h 302"/>
              <a:gd name="T114" fmla="*/ 63 w 300"/>
              <a:gd name="T115" fmla="*/ 82 h 302"/>
              <a:gd name="T116" fmla="*/ 69 w 300"/>
              <a:gd name="T117" fmla="*/ 86 h 302"/>
              <a:gd name="T118" fmla="*/ 77 w 300"/>
              <a:gd name="T119" fmla="*/ 99 h 302"/>
              <a:gd name="T120" fmla="*/ 81 w 300"/>
              <a:gd name="T121" fmla="*/ 113 h 302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w 300"/>
              <a:gd name="T184" fmla="*/ 0 h 302"/>
              <a:gd name="T185" fmla="*/ 300 w 300"/>
              <a:gd name="T186" fmla="*/ 302 h 302"/>
            </a:gdLst>
            <a:ahLst/>
            <a:cxnLst>
              <a:cxn ang="T122">
                <a:pos x="T0" y="T1"/>
              </a:cxn>
              <a:cxn ang="T123">
                <a:pos x="T2" y="T3"/>
              </a:cxn>
              <a:cxn ang="T124">
                <a:pos x="T4" y="T5"/>
              </a:cxn>
              <a:cxn ang="T125">
                <a:pos x="T6" y="T7"/>
              </a:cxn>
              <a:cxn ang="T126">
                <a:pos x="T8" y="T9"/>
              </a:cxn>
              <a:cxn ang="T127">
                <a:pos x="T10" y="T11"/>
              </a:cxn>
              <a:cxn ang="T128">
                <a:pos x="T12" y="T13"/>
              </a:cxn>
              <a:cxn ang="T129">
                <a:pos x="T14" y="T15"/>
              </a:cxn>
              <a:cxn ang="T130">
                <a:pos x="T16" y="T17"/>
              </a:cxn>
              <a:cxn ang="T131">
                <a:pos x="T18" y="T19"/>
              </a:cxn>
              <a:cxn ang="T132">
                <a:pos x="T20" y="T21"/>
              </a:cxn>
              <a:cxn ang="T133">
                <a:pos x="T22" y="T23"/>
              </a:cxn>
              <a:cxn ang="T134">
                <a:pos x="T24" y="T25"/>
              </a:cxn>
              <a:cxn ang="T135">
                <a:pos x="T26" y="T27"/>
              </a:cxn>
              <a:cxn ang="T136">
                <a:pos x="T28" y="T29"/>
              </a:cxn>
              <a:cxn ang="T137">
                <a:pos x="T30" y="T31"/>
              </a:cxn>
              <a:cxn ang="T138">
                <a:pos x="T32" y="T33"/>
              </a:cxn>
              <a:cxn ang="T139">
                <a:pos x="T34" y="T35"/>
              </a:cxn>
              <a:cxn ang="T140">
                <a:pos x="T36" y="T37"/>
              </a:cxn>
              <a:cxn ang="T141">
                <a:pos x="T38" y="T39"/>
              </a:cxn>
              <a:cxn ang="T142">
                <a:pos x="T40" y="T41"/>
              </a:cxn>
              <a:cxn ang="T143">
                <a:pos x="T42" y="T43"/>
              </a:cxn>
              <a:cxn ang="T144">
                <a:pos x="T44" y="T45"/>
              </a:cxn>
              <a:cxn ang="T145">
                <a:pos x="T46" y="T47"/>
              </a:cxn>
              <a:cxn ang="T146">
                <a:pos x="T48" y="T49"/>
              </a:cxn>
              <a:cxn ang="T147">
                <a:pos x="T50" y="T51"/>
              </a:cxn>
              <a:cxn ang="T148">
                <a:pos x="T52" y="T53"/>
              </a:cxn>
              <a:cxn ang="T149">
                <a:pos x="T54" y="T55"/>
              </a:cxn>
              <a:cxn ang="T150">
                <a:pos x="T56" y="T57"/>
              </a:cxn>
              <a:cxn ang="T151">
                <a:pos x="T58" y="T59"/>
              </a:cxn>
              <a:cxn ang="T152">
                <a:pos x="T60" y="T61"/>
              </a:cxn>
              <a:cxn ang="T153">
                <a:pos x="T62" y="T63"/>
              </a:cxn>
              <a:cxn ang="T154">
                <a:pos x="T64" y="T65"/>
              </a:cxn>
              <a:cxn ang="T155">
                <a:pos x="T66" y="T67"/>
              </a:cxn>
              <a:cxn ang="T156">
                <a:pos x="T68" y="T69"/>
              </a:cxn>
              <a:cxn ang="T157">
                <a:pos x="T70" y="T71"/>
              </a:cxn>
              <a:cxn ang="T158">
                <a:pos x="T72" y="T73"/>
              </a:cxn>
              <a:cxn ang="T159">
                <a:pos x="T74" y="T75"/>
              </a:cxn>
              <a:cxn ang="T160">
                <a:pos x="T76" y="T77"/>
              </a:cxn>
              <a:cxn ang="T161">
                <a:pos x="T78" y="T79"/>
              </a:cxn>
              <a:cxn ang="T162">
                <a:pos x="T80" y="T81"/>
              </a:cxn>
              <a:cxn ang="T163">
                <a:pos x="T82" y="T83"/>
              </a:cxn>
              <a:cxn ang="T164">
                <a:pos x="T84" y="T85"/>
              </a:cxn>
              <a:cxn ang="T165">
                <a:pos x="T86" y="T87"/>
              </a:cxn>
              <a:cxn ang="T166">
                <a:pos x="T88" y="T89"/>
              </a:cxn>
              <a:cxn ang="T167">
                <a:pos x="T90" y="T91"/>
              </a:cxn>
              <a:cxn ang="T168">
                <a:pos x="T92" y="T93"/>
              </a:cxn>
              <a:cxn ang="T169">
                <a:pos x="T94" y="T95"/>
              </a:cxn>
              <a:cxn ang="T170">
                <a:pos x="T96" y="T97"/>
              </a:cxn>
              <a:cxn ang="T171">
                <a:pos x="T98" y="T99"/>
              </a:cxn>
              <a:cxn ang="T172">
                <a:pos x="T100" y="T101"/>
              </a:cxn>
              <a:cxn ang="T173">
                <a:pos x="T102" y="T103"/>
              </a:cxn>
              <a:cxn ang="T174">
                <a:pos x="T104" y="T105"/>
              </a:cxn>
              <a:cxn ang="T175">
                <a:pos x="T106" y="T107"/>
              </a:cxn>
              <a:cxn ang="T176">
                <a:pos x="T108" y="T109"/>
              </a:cxn>
              <a:cxn ang="T177">
                <a:pos x="T110" y="T111"/>
              </a:cxn>
              <a:cxn ang="T178">
                <a:pos x="T112" y="T113"/>
              </a:cxn>
              <a:cxn ang="T179">
                <a:pos x="T114" y="T115"/>
              </a:cxn>
              <a:cxn ang="T180">
                <a:pos x="T116" y="T117"/>
              </a:cxn>
              <a:cxn ang="T181">
                <a:pos x="T118" y="T119"/>
              </a:cxn>
              <a:cxn ang="T182">
                <a:pos x="T120" y="T121"/>
              </a:cxn>
            </a:cxnLst>
            <a:rect l="T183" t="T184" r="T185" b="T186"/>
            <a:pathLst>
              <a:path w="300" h="302">
                <a:moveTo>
                  <a:pt x="140" y="278"/>
                </a:moveTo>
                <a:lnTo>
                  <a:pt x="140" y="278"/>
                </a:lnTo>
                <a:lnTo>
                  <a:pt x="128" y="288"/>
                </a:lnTo>
                <a:lnTo>
                  <a:pt x="114" y="296"/>
                </a:lnTo>
                <a:lnTo>
                  <a:pt x="98" y="300"/>
                </a:lnTo>
                <a:lnTo>
                  <a:pt x="82" y="302"/>
                </a:lnTo>
                <a:lnTo>
                  <a:pt x="30" y="302"/>
                </a:lnTo>
                <a:lnTo>
                  <a:pt x="18" y="300"/>
                </a:lnTo>
                <a:lnTo>
                  <a:pt x="8" y="292"/>
                </a:lnTo>
                <a:lnTo>
                  <a:pt x="2" y="284"/>
                </a:lnTo>
                <a:lnTo>
                  <a:pt x="0" y="272"/>
                </a:lnTo>
                <a:lnTo>
                  <a:pt x="0" y="218"/>
                </a:lnTo>
                <a:lnTo>
                  <a:pt x="0" y="202"/>
                </a:lnTo>
                <a:lnTo>
                  <a:pt x="6" y="188"/>
                </a:lnTo>
                <a:lnTo>
                  <a:pt x="14" y="174"/>
                </a:lnTo>
                <a:lnTo>
                  <a:pt x="24" y="160"/>
                </a:lnTo>
                <a:lnTo>
                  <a:pt x="160" y="24"/>
                </a:lnTo>
                <a:lnTo>
                  <a:pt x="172" y="14"/>
                </a:lnTo>
                <a:lnTo>
                  <a:pt x="186" y="6"/>
                </a:lnTo>
                <a:lnTo>
                  <a:pt x="202" y="2"/>
                </a:lnTo>
                <a:lnTo>
                  <a:pt x="218" y="0"/>
                </a:lnTo>
                <a:lnTo>
                  <a:pt x="234" y="2"/>
                </a:lnTo>
                <a:lnTo>
                  <a:pt x="250" y="6"/>
                </a:lnTo>
                <a:lnTo>
                  <a:pt x="264" y="14"/>
                </a:lnTo>
                <a:lnTo>
                  <a:pt x="276" y="24"/>
                </a:lnTo>
                <a:lnTo>
                  <a:pt x="288" y="38"/>
                </a:lnTo>
                <a:lnTo>
                  <a:pt x="294" y="52"/>
                </a:lnTo>
                <a:lnTo>
                  <a:pt x="300" y="66"/>
                </a:lnTo>
                <a:lnTo>
                  <a:pt x="300" y="84"/>
                </a:lnTo>
                <a:lnTo>
                  <a:pt x="300" y="100"/>
                </a:lnTo>
                <a:lnTo>
                  <a:pt x="294" y="116"/>
                </a:lnTo>
                <a:lnTo>
                  <a:pt x="288" y="130"/>
                </a:lnTo>
                <a:lnTo>
                  <a:pt x="276" y="142"/>
                </a:lnTo>
                <a:lnTo>
                  <a:pt x="140" y="278"/>
                </a:lnTo>
                <a:close/>
                <a:moveTo>
                  <a:pt x="42" y="186"/>
                </a:moveTo>
                <a:lnTo>
                  <a:pt x="42" y="186"/>
                </a:lnTo>
                <a:lnTo>
                  <a:pt x="36" y="194"/>
                </a:lnTo>
                <a:lnTo>
                  <a:pt x="32" y="202"/>
                </a:lnTo>
                <a:lnTo>
                  <a:pt x="30" y="210"/>
                </a:lnTo>
                <a:lnTo>
                  <a:pt x="30" y="218"/>
                </a:lnTo>
                <a:lnTo>
                  <a:pt x="30" y="228"/>
                </a:lnTo>
                <a:lnTo>
                  <a:pt x="38" y="226"/>
                </a:lnTo>
                <a:lnTo>
                  <a:pt x="44" y="228"/>
                </a:lnTo>
                <a:lnTo>
                  <a:pt x="52" y="230"/>
                </a:lnTo>
                <a:lnTo>
                  <a:pt x="58" y="232"/>
                </a:lnTo>
                <a:lnTo>
                  <a:pt x="64" y="238"/>
                </a:lnTo>
                <a:lnTo>
                  <a:pt x="68" y="244"/>
                </a:lnTo>
                <a:lnTo>
                  <a:pt x="72" y="250"/>
                </a:lnTo>
                <a:lnTo>
                  <a:pt x="74" y="256"/>
                </a:lnTo>
                <a:lnTo>
                  <a:pt x="74" y="264"/>
                </a:lnTo>
                <a:lnTo>
                  <a:pt x="74" y="272"/>
                </a:lnTo>
                <a:lnTo>
                  <a:pt x="82" y="272"/>
                </a:lnTo>
                <a:lnTo>
                  <a:pt x="92" y="270"/>
                </a:lnTo>
                <a:lnTo>
                  <a:pt x="100" y="268"/>
                </a:lnTo>
                <a:lnTo>
                  <a:pt x="108" y="266"/>
                </a:lnTo>
                <a:lnTo>
                  <a:pt x="116" y="260"/>
                </a:lnTo>
                <a:lnTo>
                  <a:pt x="120" y="252"/>
                </a:lnTo>
                <a:lnTo>
                  <a:pt x="124" y="244"/>
                </a:lnTo>
                <a:lnTo>
                  <a:pt x="126" y="236"/>
                </a:lnTo>
                <a:lnTo>
                  <a:pt x="128" y="226"/>
                </a:lnTo>
                <a:lnTo>
                  <a:pt x="126" y="216"/>
                </a:lnTo>
                <a:lnTo>
                  <a:pt x="124" y="206"/>
                </a:lnTo>
                <a:lnTo>
                  <a:pt x="118" y="198"/>
                </a:lnTo>
                <a:lnTo>
                  <a:pt x="112" y="190"/>
                </a:lnTo>
                <a:lnTo>
                  <a:pt x="104" y="182"/>
                </a:lnTo>
                <a:lnTo>
                  <a:pt x="94" y="178"/>
                </a:lnTo>
                <a:lnTo>
                  <a:pt x="86" y="174"/>
                </a:lnTo>
                <a:lnTo>
                  <a:pt x="74" y="174"/>
                </a:lnTo>
                <a:lnTo>
                  <a:pt x="66" y="174"/>
                </a:lnTo>
                <a:lnTo>
                  <a:pt x="58" y="176"/>
                </a:lnTo>
                <a:lnTo>
                  <a:pt x="50" y="180"/>
                </a:lnTo>
                <a:lnTo>
                  <a:pt x="42" y="186"/>
                </a:lnTo>
                <a:close/>
                <a:moveTo>
                  <a:pt x="158" y="218"/>
                </a:moveTo>
                <a:lnTo>
                  <a:pt x="256" y="120"/>
                </a:lnTo>
                <a:lnTo>
                  <a:pt x="262" y="112"/>
                </a:lnTo>
                <a:lnTo>
                  <a:pt x="266" y="104"/>
                </a:lnTo>
                <a:lnTo>
                  <a:pt x="270" y="94"/>
                </a:lnTo>
                <a:lnTo>
                  <a:pt x="270" y="84"/>
                </a:lnTo>
                <a:lnTo>
                  <a:pt x="270" y="72"/>
                </a:lnTo>
                <a:lnTo>
                  <a:pt x="266" y="64"/>
                </a:lnTo>
                <a:lnTo>
                  <a:pt x="262" y="54"/>
                </a:lnTo>
                <a:lnTo>
                  <a:pt x="256" y="46"/>
                </a:lnTo>
                <a:lnTo>
                  <a:pt x="248" y="40"/>
                </a:lnTo>
                <a:lnTo>
                  <a:pt x="238" y="34"/>
                </a:lnTo>
                <a:lnTo>
                  <a:pt x="228" y="32"/>
                </a:lnTo>
                <a:lnTo>
                  <a:pt x="218" y="30"/>
                </a:lnTo>
                <a:lnTo>
                  <a:pt x="208" y="32"/>
                </a:lnTo>
                <a:lnTo>
                  <a:pt x="198" y="34"/>
                </a:lnTo>
                <a:lnTo>
                  <a:pt x="188" y="40"/>
                </a:lnTo>
                <a:lnTo>
                  <a:pt x="180" y="46"/>
                </a:lnTo>
                <a:lnTo>
                  <a:pt x="82" y="144"/>
                </a:lnTo>
                <a:lnTo>
                  <a:pt x="96" y="146"/>
                </a:lnTo>
                <a:lnTo>
                  <a:pt x="110" y="152"/>
                </a:lnTo>
                <a:lnTo>
                  <a:pt x="122" y="158"/>
                </a:lnTo>
                <a:lnTo>
                  <a:pt x="134" y="168"/>
                </a:lnTo>
                <a:lnTo>
                  <a:pt x="142" y="180"/>
                </a:lnTo>
                <a:lnTo>
                  <a:pt x="150" y="192"/>
                </a:lnTo>
                <a:lnTo>
                  <a:pt x="154" y="204"/>
                </a:lnTo>
                <a:lnTo>
                  <a:pt x="158" y="218"/>
                </a:lnTo>
                <a:close/>
              </a:path>
            </a:pathLst>
          </a:custGeom>
          <a:gradFill rotWithShape="1">
            <a:gsLst>
              <a:gs pos="0">
                <a:srgbClr val="FF6600"/>
              </a:gs>
              <a:gs pos="100000">
                <a:srgbClr val="FF3300"/>
              </a:gs>
            </a:gsLst>
            <a:lin ang="5400000" scaled="1"/>
          </a:gradFill>
          <a:ln w="9525">
            <a:noFill/>
            <a:round/>
          </a:ln>
        </p:spPr>
        <p:txBody>
          <a:bodyPr lIns="115214" tIns="57607" rIns="115214" bIns="57607"/>
          <a:lstStyle/>
          <a:p>
            <a:endParaRPr lang="zh-CN" altLang="en-US" sz="1100">
              <a:latin typeface="+mn-lt"/>
              <a:ea typeface="+mn-ea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@path_Ellipse 9 (Stroke)-2050&amp;12778"/>
          <p:cNvSpPr/>
          <p:nvPr userDrawn="1">
            <p:custDataLst>
              <p:tags r:id="rId2"/>
            </p:custDataLst>
          </p:nvPr>
        </p:nvSpPr>
        <p:spPr>
          <a:xfrm>
            <a:off x="8641556" y="1079639"/>
            <a:ext cx="2877638" cy="3793643"/>
          </a:xfrm>
          <a:custGeom>
            <a:avLst/>
            <a:gdLst/>
            <a:ahLst/>
            <a:cxnLst/>
            <a:rect l="l" t="t" r="r" b="b"/>
            <a:pathLst>
              <a:path w="3044952" h="4014216">
                <a:moveTo>
                  <a:pt x="694944" y="0"/>
                </a:moveTo>
                <a:cubicBezTo>
                  <a:pt x="576072" y="301752"/>
                  <a:pt x="512064" y="621792"/>
                  <a:pt x="512064" y="969264"/>
                </a:cubicBezTo>
                <a:cubicBezTo>
                  <a:pt x="512064" y="2368296"/>
                  <a:pt x="1645920" y="3502152"/>
                  <a:pt x="3044952" y="3502152"/>
                </a:cubicBezTo>
                <a:lnTo>
                  <a:pt x="3044952" y="4014216"/>
                </a:lnTo>
                <a:cubicBezTo>
                  <a:pt x="1362456" y="4014216"/>
                  <a:pt x="0" y="2651760"/>
                  <a:pt x="0" y="969264"/>
                </a:cubicBezTo>
                <a:cubicBezTo>
                  <a:pt x="0" y="630936"/>
                  <a:pt x="54864" y="301752"/>
                  <a:pt x="155448" y="0"/>
                </a:cubicBezTo>
                <a:lnTo>
                  <a:pt x="694944" y="0"/>
                </a:lnTo>
              </a:path>
            </a:pathLst>
          </a:custGeom>
          <a:solidFill>
            <a:schemeClr val="accent1">
              <a:alpha val="10000"/>
            </a:schemeClr>
          </a:solidFill>
        </p:spPr>
        <p:txBody>
          <a:bodyPr/>
          <a:lstStyle/>
          <a:p>
            <a:pPr defTabSz="914400" fontAlgn="auto"/>
            <a:endParaRPr lang="zh-CN" altLang="en-US" sz="1700">
              <a:latin typeface="+mn-lt"/>
              <a:ea typeface="+mn-ea"/>
            </a:endParaRPr>
          </a:p>
        </p:txBody>
      </p:sp>
      <p:sp>
        <p:nvSpPr>
          <p:cNvPr id="9" name="Ellipse 3 (Stroke)_#color-2050&amp;12715"/>
          <p:cNvSpPr/>
          <p:nvPr userDrawn="1">
            <p:custDataLst>
              <p:tags r:id="rId3"/>
            </p:custDataLst>
          </p:nvPr>
        </p:nvSpPr>
        <p:spPr>
          <a:xfrm>
            <a:off x="5844573" y="2911649"/>
            <a:ext cx="5677502" cy="4649157"/>
          </a:xfrm>
          <a:custGeom>
            <a:avLst/>
            <a:gdLst/>
            <a:ahLst/>
            <a:cxnLst/>
            <a:rect l="l" t="t" r="r" b="b"/>
            <a:pathLst>
              <a:path w="6007608" h="4919472">
                <a:moveTo>
                  <a:pt x="6007608" y="640080"/>
                </a:moveTo>
                <a:cubicBezTo>
                  <a:pt x="5394960" y="237744"/>
                  <a:pt x="4663440" y="0"/>
                  <a:pt x="3877056" y="0"/>
                </a:cubicBezTo>
                <a:cubicBezTo>
                  <a:pt x="1737360" y="0"/>
                  <a:pt x="0" y="1737360"/>
                  <a:pt x="0" y="3877056"/>
                </a:cubicBezTo>
                <a:cubicBezTo>
                  <a:pt x="0" y="4233672"/>
                  <a:pt x="45720" y="4581144"/>
                  <a:pt x="137160" y="4919472"/>
                </a:cubicBezTo>
                <a:lnTo>
                  <a:pt x="676656" y="4919472"/>
                </a:lnTo>
                <a:cubicBezTo>
                  <a:pt x="566928" y="4590288"/>
                  <a:pt x="512064" y="4233672"/>
                  <a:pt x="512064" y="3877056"/>
                </a:cubicBezTo>
                <a:cubicBezTo>
                  <a:pt x="512064" y="2011680"/>
                  <a:pt x="2011680" y="512064"/>
                  <a:pt x="3877056" y="512064"/>
                </a:cubicBezTo>
                <a:cubicBezTo>
                  <a:pt x="4681728" y="512064"/>
                  <a:pt x="5422392" y="795528"/>
                  <a:pt x="6007608" y="1271016"/>
                </a:cubicBezTo>
                <a:lnTo>
                  <a:pt x="6007608" y="640080"/>
                </a:lnTo>
              </a:path>
            </a:pathLst>
          </a:custGeom>
          <a:solidFill>
            <a:schemeClr val="accent1"/>
          </a:solidFill>
        </p:spPr>
      </p:sp>
      <p:sp>
        <p:nvSpPr>
          <p:cNvPr id="11" name="Ellipse 8 (Stroke)_#color-2050&amp;12718"/>
          <p:cNvSpPr/>
          <p:nvPr userDrawn="1">
            <p:custDataLst>
              <p:tags r:id="rId4"/>
            </p:custDataLst>
          </p:nvPr>
        </p:nvSpPr>
        <p:spPr>
          <a:xfrm>
            <a:off x="5020744" y="5409059"/>
            <a:ext cx="596267" cy="1875218"/>
          </a:xfrm>
          <a:custGeom>
            <a:avLst/>
            <a:gdLst/>
            <a:ahLst/>
            <a:cxnLst/>
            <a:rect l="l" t="t" r="r" b="b"/>
            <a:pathLst>
              <a:path w="630936" h="1984248">
                <a:moveTo>
                  <a:pt x="438912" y="9144"/>
                </a:moveTo>
                <a:cubicBezTo>
                  <a:pt x="576072" y="45720"/>
                  <a:pt x="658368" y="182880"/>
                  <a:pt x="621792" y="320040"/>
                </a:cubicBezTo>
                <a:cubicBezTo>
                  <a:pt x="512064" y="749808"/>
                  <a:pt x="475488" y="1216152"/>
                  <a:pt x="539496" y="1691640"/>
                </a:cubicBezTo>
                <a:cubicBezTo>
                  <a:pt x="557784" y="1828800"/>
                  <a:pt x="457200" y="1956816"/>
                  <a:pt x="320040" y="1975104"/>
                </a:cubicBezTo>
                <a:cubicBezTo>
                  <a:pt x="182880" y="1993392"/>
                  <a:pt x="54864" y="1901952"/>
                  <a:pt x="36576" y="1755648"/>
                </a:cubicBezTo>
                <a:cubicBezTo>
                  <a:pt x="-36576" y="1216152"/>
                  <a:pt x="0" y="685800"/>
                  <a:pt x="128016" y="192024"/>
                </a:cubicBezTo>
                <a:cubicBezTo>
                  <a:pt x="164592" y="54864"/>
                  <a:pt x="301752" y="-27432"/>
                  <a:pt x="438912" y="9144"/>
                </a:cubicBezTo>
              </a:path>
            </a:pathLst>
          </a:custGeom>
          <a:solidFill>
            <a:schemeClr val="accent1"/>
          </a:solidFill>
        </p:spPr>
      </p:sp>
      <p:sp>
        <p:nvSpPr>
          <p:cNvPr id="12" name="Ellipse 4 (Stroke)_#color_$accent2_$accent2-2050&amp;12721"/>
          <p:cNvSpPr/>
          <p:nvPr userDrawn="1">
            <p:custDataLst>
              <p:tags r:id="rId5"/>
            </p:custDataLst>
          </p:nvPr>
        </p:nvSpPr>
        <p:spPr>
          <a:xfrm>
            <a:off x="6368827" y="2920290"/>
            <a:ext cx="5150368" cy="2073974"/>
          </a:xfrm>
          <a:custGeom>
            <a:avLst/>
            <a:gdLst/>
            <a:ahLst/>
            <a:cxnLst/>
            <a:rect l="l" t="t" r="r" b="b"/>
            <a:pathLst>
              <a:path w="5449824" h="2194560">
                <a:moveTo>
                  <a:pt x="5449824" y="640080"/>
                </a:moveTo>
                <a:lnTo>
                  <a:pt x="5449824" y="1280160"/>
                </a:lnTo>
                <a:cubicBezTo>
                  <a:pt x="4864608" y="795528"/>
                  <a:pt x="4123944" y="512064"/>
                  <a:pt x="3310128" y="512064"/>
                </a:cubicBezTo>
                <a:cubicBezTo>
                  <a:pt x="2112264" y="512064"/>
                  <a:pt x="1060704" y="1133856"/>
                  <a:pt x="466344" y="2075688"/>
                </a:cubicBezTo>
                <a:cubicBezTo>
                  <a:pt x="393192" y="2194560"/>
                  <a:pt x="237744" y="2221992"/>
                  <a:pt x="118872" y="2148840"/>
                </a:cubicBezTo>
                <a:cubicBezTo>
                  <a:pt x="0" y="2075688"/>
                  <a:pt x="-36576" y="1920240"/>
                  <a:pt x="36576" y="1801368"/>
                </a:cubicBezTo>
                <a:cubicBezTo>
                  <a:pt x="722376" y="722376"/>
                  <a:pt x="1929384" y="0"/>
                  <a:pt x="3310128" y="0"/>
                </a:cubicBezTo>
                <a:cubicBezTo>
                  <a:pt x="4096512" y="0"/>
                  <a:pt x="4837176" y="237744"/>
                  <a:pt x="5449824" y="640080"/>
                </a:cubicBezTo>
              </a:path>
            </a:pathLst>
          </a:custGeom>
          <a:gradFill>
            <a:gsLst>
              <a:gs pos="0">
                <a:schemeClr val="accent1">
                  <a:lumMod val="75000"/>
                  <a:alpha val="70000"/>
                </a:schemeClr>
              </a:gs>
              <a:gs pos="70313">
                <a:schemeClr val="accent2">
                  <a:alpha val="0"/>
                </a:schemeClr>
              </a:gs>
            </a:gsLst>
            <a:lin ang="74674" scaled="0"/>
          </a:gradFill>
          <a:ln w="25400">
            <a:noFill/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13" name="Ellipse 10 (Stroke)_#color-2050&amp;12724"/>
          <p:cNvSpPr/>
          <p:nvPr userDrawn="1">
            <p:custDataLst>
              <p:tags r:id="rId6"/>
            </p:custDataLst>
          </p:nvPr>
        </p:nvSpPr>
        <p:spPr>
          <a:xfrm>
            <a:off x="0" y="1079639"/>
            <a:ext cx="1650537" cy="1564122"/>
          </a:xfrm>
          <a:custGeom>
            <a:avLst/>
            <a:gdLst/>
            <a:ahLst/>
            <a:cxnLst/>
            <a:rect l="l" t="t" r="r" b="b"/>
            <a:pathLst>
              <a:path w="1746504" h="1655064">
                <a:moveTo>
                  <a:pt x="0" y="1133856"/>
                </a:moveTo>
                <a:cubicBezTo>
                  <a:pt x="384048" y="1051560"/>
                  <a:pt x="731520" y="841248"/>
                  <a:pt x="978408" y="502920"/>
                </a:cubicBezTo>
                <a:cubicBezTo>
                  <a:pt x="1088136" y="347472"/>
                  <a:pt x="1170432" y="173736"/>
                  <a:pt x="1216152" y="0"/>
                </a:cubicBezTo>
                <a:lnTo>
                  <a:pt x="1746504" y="0"/>
                </a:lnTo>
                <a:cubicBezTo>
                  <a:pt x="1682496" y="274320"/>
                  <a:pt x="1563624" y="548640"/>
                  <a:pt x="1389888" y="795528"/>
                </a:cubicBezTo>
                <a:cubicBezTo>
                  <a:pt x="1042416" y="1271016"/>
                  <a:pt x="539496" y="1563624"/>
                  <a:pt x="0" y="1655064"/>
                </a:cubicBezTo>
                <a:lnTo>
                  <a:pt x="0" y="1133856"/>
                </a:lnTo>
              </a:path>
            </a:pathLst>
          </a:custGeom>
          <a:solidFill>
            <a:schemeClr val="accent1">
              <a:alpha val="10000"/>
            </a:schemeClr>
          </a:solidFill>
        </p:spPr>
      </p:sp>
      <p:sp>
        <p:nvSpPr>
          <p:cNvPr id="2" name="标题 1"/>
          <p:cNvSpPr>
            <a:spLocks noGrp="1"/>
          </p:cNvSpPr>
          <p:nvPr>
            <p:ph type="ctrTitle"/>
            <p:custDataLst>
              <p:tags r:id="rId7"/>
            </p:custDataLst>
          </p:nvPr>
        </p:nvSpPr>
        <p:spPr>
          <a:xfrm>
            <a:off x="825149" y="2791147"/>
            <a:ext cx="5448981" cy="1962353"/>
          </a:xfrm>
        </p:spPr>
        <p:txBody>
          <a:bodyPr wrap="square" anchor="b" anchorCtr="0">
            <a:normAutofit/>
          </a:bodyPr>
          <a:lstStyle>
            <a:lvl1pPr algn="l">
              <a:lnSpc>
                <a:spcPct val="100000"/>
              </a:lnSpc>
              <a:defRPr sz="5105">
                <a:solidFill>
                  <a:schemeClr val="tx1"/>
                </a:solidFill>
                <a:latin typeface="+mj-ea"/>
                <a:ea typeface="+mj-ea"/>
                <a:cs typeface="+mj-ea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9"/>
            </p:custDataLst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0"/>
            </p:custDataLst>
          </p:nvPr>
        </p:nvSpPr>
        <p:spPr>
          <a:xfrm>
            <a:off x="8137465" y="7086721"/>
            <a:ext cx="2592467" cy="345062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4" name="署名占位符 10"/>
          <p:cNvSpPr>
            <a:spLocks noGrp="1"/>
          </p:cNvSpPr>
          <p:nvPr>
            <p:ph type="body" sz="quarter" idx="17" hasCustomPrompt="1"/>
            <p:custDataLst>
              <p:tags r:id="rId11"/>
            </p:custDataLst>
          </p:nvPr>
        </p:nvSpPr>
        <p:spPr>
          <a:xfrm>
            <a:off x="792143" y="5076359"/>
            <a:ext cx="2509052" cy="57310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2270">
                <a:solidFill>
                  <a:srgbClr val="FFFFFF"/>
                </a:solidFill>
                <a:latin typeface="+mn-ea"/>
                <a:ea typeface="+mn-ea"/>
                <a:cs typeface="+mn-ea"/>
              </a:defRPr>
            </a:lvl1pPr>
          </a:lstStyle>
          <a:p>
            <a:pPr lvl="0"/>
            <a:r>
              <a:rPr lang="zh-CN" altLang="en-US" dirty="0"/>
              <a:t>署名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</a:defRPr>
            </a:lvl1pPr>
            <a:lvl2pPr>
              <a:defRPr>
                <a:latin typeface="+mn-ea"/>
                <a:ea typeface="+mn-ea"/>
                <a:cs typeface="+mn-ea"/>
              </a:defRPr>
            </a:lvl2pPr>
            <a:lvl3pPr>
              <a:defRPr>
                <a:latin typeface="+mn-ea"/>
                <a:ea typeface="+mn-ea"/>
                <a:cs typeface="+mn-ea"/>
              </a:defRPr>
            </a:lvl3pPr>
            <a:lvl4pPr>
              <a:defRPr>
                <a:latin typeface="+mn-ea"/>
                <a:ea typeface="+mn-ea"/>
                <a:cs typeface="+mn-ea"/>
              </a:defRPr>
            </a:lvl4pPr>
            <a:lvl5pPr>
              <a:defRPr>
                <a:latin typeface="+mn-ea"/>
                <a:ea typeface="+mn-ea"/>
                <a:cs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0" name="标题 9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75 (Stroke)_#color-2050&amp;12727"/>
          <p:cNvSpPr/>
          <p:nvPr userDrawn="1">
            <p:custDataLst>
              <p:tags r:id="rId2"/>
            </p:custDataLst>
          </p:nvPr>
        </p:nvSpPr>
        <p:spPr>
          <a:xfrm>
            <a:off x="3102319" y="1079639"/>
            <a:ext cx="2177672" cy="6481167"/>
          </a:xfrm>
          <a:custGeom>
            <a:avLst/>
            <a:gdLst/>
            <a:ahLst/>
            <a:cxnLst/>
            <a:rect l="l" t="t" r="r" b="b"/>
            <a:pathLst>
              <a:path w="2304288" h="6858000">
                <a:moveTo>
                  <a:pt x="0" y="6858000"/>
                </a:moveTo>
                <a:lnTo>
                  <a:pt x="813816" y="6858000"/>
                </a:lnTo>
                <a:cubicBezTo>
                  <a:pt x="1728216" y="6007608"/>
                  <a:pt x="2304288" y="4782312"/>
                  <a:pt x="2304288" y="3429000"/>
                </a:cubicBezTo>
                <a:cubicBezTo>
                  <a:pt x="2304288" y="2075688"/>
                  <a:pt x="1728216" y="850392"/>
                  <a:pt x="813816" y="0"/>
                </a:cubicBezTo>
                <a:lnTo>
                  <a:pt x="0" y="0"/>
                </a:lnTo>
                <a:cubicBezTo>
                  <a:pt x="1088136" y="749808"/>
                  <a:pt x="1801368" y="2011680"/>
                  <a:pt x="1801368" y="3429000"/>
                </a:cubicBezTo>
                <a:cubicBezTo>
                  <a:pt x="1801368" y="4846320"/>
                  <a:pt x="1088136" y="6108192"/>
                  <a:pt x="0" y="6858000"/>
                </a:cubicBezTo>
              </a:path>
            </a:pathLst>
          </a:custGeom>
          <a:solidFill>
            <a:schemeClr val="accent1">
              <a:alpha val="10000"/>
            </a:schemeClr>
          </a:solidFill>
        </p:spPr>
      </p:sp>
      <p:sp>
        <p:nvSpPr>
          <p:cNvPr id="5" name="Ellipse 3 (Stroke)_#color-2050&amp;12730"/>
          <p:cNvSpPr/>
          <p:nvPr userDrawn="1">
            <p:custDataLst>
              <p:tags r:id="rId3"/>
            </p:custDataLst>
          </p:nvPr>
        </p:nvSpPr>
        <p:spPr>
          <a:xfrm>
            <a:off x="0" y="1079639"/>
            <a:ext cx="4415835" cy="6481167"/>
          </a:xfrm>
          <a:custGeom>
            <a:avLst/>
            <a:gdLst/>
            <a:ahLst/>
            <a:cxnLst/>
            <a:rect l="l" t="t" r="r" b="b"/>
            <a:pathLst>
              <a:path w="4672584" h="6858000">
                <a:moveTo>
                  <a:pt x="0" y="6848856"/>
                </a:moveTo>
                <a:lnTo>
                  <a:pt x="0" y="6858000"/>
                </a:lnTo>
                <a:lnTo>
                  <a:pt x="45720" y="6858000"/>
                </a:lnTo>
                <a:cubicBezTo>
                  <a:pt x="27432" y="6858000"/>
                  <a:pt x="18288" y="6848856"/>
                  <a:pt x="0" y="6848856"/>
                </a:cubicBezTo>
                <a:moveTo>
                  <a:pt x="1261872" y="6858000"/>
                </a:moveTo>
                <a:cubicBezTo>
                  <a:pt x="1463040" y="6821424"/>
                  <a:pt x="1664208" y="6766560"/>
                  <a:pt x="1856232" y="6693408"/>
                </a:cubicBezTo>
                <a:cubicBezTo>
                  <a:pt x="3666744" y="6035040"/>
                  <a:pt x="4590288" y="4032504"/>
                  <a:pt x="3931920" y="2221992"/>
                </a:cubicBezTo>
                <a:cubicBezTo>
                  <a:pt x="3493008" y="1033272"/>
                  <a:pt x="2478024" y="228600"/>
                  <a:pt x="1316736" y="0"/>
                </a:cubicBezTo>
                <a:lnTo>
                  <a:pt x="2752344" y="0"/>
                </a:lnTo>
                <a:cubicBezTo>
                  <a:pt x="3493008" y="457200"/>
                  <a:pt x="4096512" y="1152144"/>
                  <a:pt x="4425696" y="2039112"/>
                </a:cubicBezTo>
                <a:cubicBezTo>
                  <a:pt x="5093208" y="3877056"/>
                  <a:pt x="4343400" y="5888736"/>
                  <a:pt x="2734056" y="6858000"/>
                </a:cubicBezTo>
                <a:lnTo>
                  <a:pt x="1261872" y="6858000"/>
                </a:lnTo>
              </a:path>
            </a:pathLst>
          </a:custGeom>
          <a:solidFill>
            <a:schemeClr val="accent1"/>
          </a:solidFill>
        </p:spPr>
      </p:sp>
      <p:sp>
        <p:nvSpPr>
          <p:cNvPr id="6" name="Ellipse 4 (Stroke)_#color_$accent2_$accent2-2050&amp;12733"/>
          <p:cNvSpPr/>
          <p:nvPr userDrawn="1">
            <p:custDataLst>
              <p:tags r:id="rId4"/>
            </p:custDataLst>
          </p:nvPr>
        </p:nvSpPr>
        <p:spPr>
          <a:xfrm>
            <a:off x="0" y="4821433"/>
            <a:ext cx="4329420" cy="2739373"/>
          </a:xfrm>
          <a:custGeom>
            <a:avLst/>
            <a:gdLst/>
            <a:ahLst/>
            <a:cxnLst/>
            <a:rect l="l" t="t" r="r" b="b"/>
            <a:pathLst>
              <a:path w="4581144" h="2898648">
                <a:moveTo>
                  <a:pt x="4078224" y="201168"/>
                </a:moveTo>
                <a:cubicBezTo>
                  <a:pt x="3831336" y="1335024"/>
                  <a:pt x="3035808" y="2313432"/>
                  <a:pt x="1865376" y="2743200"/>
                </a:cubicBezTo>
                <a:cubicBezTo>
                  <a:pt x="1682496" y="2807208"/>
                  <a:pt x="1499616" y="2862072"/>
                  <a:pt x="1307592" y="2898648"/>
                </a:cubicBezTo>
                <a:lnTo>
                  <a:pt x="2715768" y="2898648"/>
                </a:lnTo>
                <a:cubicBezTo>
                  <a:pt x="3685032" y="2322576"/>
                  <a:pt x="4343400" y="1371600"/>
                  <a:pt x="4572000" y="310896"/>
                </a:cubicBezTo>
                <a:cubicBezTo>
                  <a:pt x="4599432" y="173736"/>
                  <a:pt x="4517136" y="36576"/>
                  <a:pt x="4379976" y="9144"/>
                </a:cubicBezTo>
                <a:cubicBezTo>
                  <a:pt x="4242816" y="-27432"/>
                  <a:pt x="4105656" y="64008"/>
                  <a:pt x="4078224" y="201168"/>
                </a:cubicBezTo>
                <a:moveTo>
                  <a:pt x="9144" y="2898648"/>
                </a:moveTo>
                <a:cubicBezTo>
                  <a:pt x="9144" y="2898648"/>
                  <a:pt x="0" y="2898648"/>
                  <a:pt x="0" y="2898648"/>
                </a:cubicBezTo>
                <a:lnTo>
                  <a:pt x="0" y="2898648"/>
                </a:lnTo>
                <a:lnTo>
                  <a:pt x="9144" y="2898648"/>
                </a:lnTo>
              </a:path>
            </a:pathLst>
          </a:custGeom>
          <a:gradFill>
            <a:gsLst>
              <a:gs pos="100000">
                <a:schemeClr val="accent1">
                  <a:lumMod val="75000"/>
                  <a:alpha val="70000"/>
                </a:schemeClr>
              </a:gs>
              <a:gs pos="73000">
                <a:schemeClr val="accent2">
                  <a:alpha val="0"/>
                </a:schemeClr>
              </a:gs>
            </a:gsLst>
            <a:lin ang="0" scaled="0"/>
          </a:gradFill>
          <a:ln w="25400">
            <a:noFill/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78976" y="3699740"/>
            <a:ext cx="2511963" cy="1241054"/>
          </a:xfrm>
        </p:spPr>
        <p:txBody>
          <a:bodyPr wrap="square" anchor="ctr" anchorCtr="0">
            <a:normAutofit/>
          </a:bodyPr>
          <a:lstStyle>
            <a:lvl1pPr>
              <a:defRPr sz="4535">
                <a:latin typeface="+mj-ea"/>
                <a:ea typeface="+mj-ea"/>
                <a:cs typeface="+mj-ea"/>
              </a:defRPr>
            </a:lvl1pPr>
          </a:lstStyle>
          <a:p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g_#color-2050&amp;12358"/>
          <p:cNvSpPr/>
          <p:nvPr userDrawn="1">
            <p:custDataLst>
              <p:tags r:id="rId2"/>
            </p:custDataLst>
          </p:nvPr>
        </p:nvSpPr>
        <p:spPr>
          <a:xfrm>
            <a:off x="1440" y="1079639"/>
            <a:ext cx="11519194" cy="6481167"/>
          </a:xfrm>
          <a:custGeom>
            <a:avLst/>
            <a:gdLst/>
            <a:ahLst/>
            <a:cxnLst/>
            <a:rect l="l" t="t" r="r" b="b"/>
            <a:pathLst>
              <a:path w="12188952" h="6858000">
                <a:moveTo>
                  <a:pt x="0" y="0"/>
                </a:moveTo>
                <a:lnTo>
                  <a:pt x="12188952" y="0"/>
                </a:lnTo>
                <a:lnTo>
                  <a:pt x="12188952" y="6858000"/>
                </a:lnTo>
                <a:lnTo>
                  <a:pt x="0" y="6858000"/>
                </a:lnTo>
                <a:lnTo>
                  <a:pt x="0" y="0"/>
                </a:lnTo>
              </a:path>
            </a:pathLst>
          </a:custGeom>
          <a:solidFill>
            <a:schemeClr val="accent1"/>
          </a:solidFill>
        </p:spPr>
      </p:sp>
      <p:sp>
        <p:nvSpPr>
          <p:cNvPr id="9" name="Ellipse 5 (Stroke)_#color-2050&amp;12736"/>
          <p:cNvSpPr/>
          <p:nvPr userDrawn="1">
            <p:custDataLst>
              <p:tags r:id="rId3"/>
            </p:custDataLst>
          </p:nvPr>
        </p:nvSpPr>
        <p:spPr>
          <a:xfrm>
            <a:off x="0" y="1079639"/>
            <a:ext cx="3914625" cy="4294853"/>
          </a:xfrm>
          <a:custGeom>
            <a:avLst/>
            <a:gdLst/>
            <a:ahLst/>
            <a:cxnLst/>
            <a:rect l="l" t="t" r="r" b="b"/>
            <a:pathLst>
              <a:path w="4142232" h="4544568">
                <a:moveTo>
                  <a:pt x="0" y="4032504"/>
                </a:moveTo>
                <a:cubicBezTo>
                  <a:pt x="91440" y="4032504"/>
                  <a:pt x="173736" y="4041648"/>
                  <a:pt x="265176" y="4041648"/>
                </a:cubicBezTo>
                <a:cubicBezTo>
                  <a:pt x="2121408" y="4041648"/>
                  <a:pt x="3630168" y="2532888"/>
                  <a:pt x="3630168" y="676656"/>
                </a:cubicBezTo>
                <a:cubicBezTo>
                  <a:pt x="3630168" y="438912"/>
                  <a:pt x="3611880" y="219456"/>
                  <a:pt x="3566160" y="0"/>
                </a:cubicBezTo>
                <a:lnTo>
                  <a:pt x="4078224" y="0"/>
                </a:lnTo>
                <a:cubicBezTo>
                  <a:pt x="4123944" y="219456"/>
                  <a:pt x="4142232" y="448056"/>
                  <a:pt x="4142232" y="676656"/>
                </a:cubicBezTo>
                <a:cubicBezTo>
                  <a:pt x="4142232" y="2816352"/>
                  <a:pt x="2404872" y="4544568"/>
                  <a:pt x="265176" y="4544568"/>
                </a:cubicBezTo>
                <a:cubicBezTo>
                  <a:pt x="173736" y="4544568"/>
                  <a:pt x="91440" y="4544568"/>
                  <a:pt x="0" y="4535424"/>
                </a:cubicBezTo>
                <a:lnTo>
                  <a:pt x="0" y="4032504"/>
                </a:lnTo>
              </a:path>
            </a:pathLst>
          </a:custGeom>
          <a:solidFill>
            <a:schemeClr val="accent1">
              <a:lumMod val="40000"/>
              <a:lumOff val="60000"/>
              <a:alpha val="75000"/>
            </a:schemeClr>
          </a:solidFill>
        </p:spPr>
      </p:sp>
      <p:sp>
        <p:nvSpPr>
          <p:cNvPr id="10" name="Ellipse 3 (Stroke)_#color_$lt1_$lt1-2050&amp;12739"/>
          <p:cNvSpPr/>
          <p:nvPr userDrawn="1">
            <p:custDataLst>
              <p:tags r:id="rId4"/>
            </p:custDataLst>
          </p:nvPr>
        </p:nvSpPr>
        <p:spPr>
          <a:xfrm>
            <a:off x="0" y="2401797"/>
            <a:ext cx="5763918" cy="5159009"/>
          </a:xfrm>
          <a:custGeom>
            <a:avLst/>
            <a:gdLst/>
            <a:ahLst/>
            <a:cxnLst/>
            <a:rect l="l" t="t" r="r" b="b"/>
            <a:pathLst>
              <a:path w="6099048" h="5458968">
                <a:moveTo>
                  <a:pt x="5760720" y="5458968"/>
                </a:moveTo>
                <a:cubicBezTo>
                  <a:pt x="5971032" y="4974336"/>
                  <a:pt x="6099048" y="4434840"/>
                  <a:pt x="6099048" y="3877056"/>
                </a:cubicBezTo>
                <a:cubicBezTo>
                  <a:pt x="6099048" y="1737360"/>
                  <a:pt x="4361688" y="0"/>
                  <a:pt x="2221992" y="0"/>
                </a:cubicBezTo>
                <a:cubicBezTo>
                  <a:pt x="1399032" y="0"/>
                  <a:pt x="630936" y="256032"/>
                  <a:pt x="0" y="704088"/>
                </a:cubicBezTo>
                <a:lnTo>
                  <a:pt x="0" y="1344168"/>
                </a:lnTo>
                <a:cubicBezTo>
                  <a:pt x="594360" y="822960"/>
                  <a:pt x="1371600" y="512064"/>
                  <a:pt x="2221992" y="512064"/>
                </a:cubicBezTo>
                <a:cubicBezTo>
                  <a:pt x="4078224" y="512064"/>
                  <a:pt x="5586984" y="2011680"/>
                  <a:pt x="5586984" y="3877056"/>
                </a:cubicBezTo>
                <a:cubicBezTo>
                  <a:pt x="5586984" y="4443984"/>
                  <a:pt x="5440680" y="4992624"/>
                  <a:pt x="5193792" y="5458968"/>
                </a:cubicBezTo>
                <a:lnTo>
                  <a:pt x="5760720" y="5458968"/>
                </a:lnTo>
              </a:path>
            </a:pathLst>
          </a:custGeom>
          <a:gradFill>
            <a:gsLst>
              <a:gs pos="41000">
                <a:schemeClr val="lt1">
                  <a:alpha val="45000"/>
                </a:schemeClr>
              </a:gs>
              <a:gs pos="0">
                <a:srgbClr val="FFFFFF">
                  <a:alpha val="0"/>
                </a:srgbClr>
              </a:gs>
              <a:gs pos="100000">
                <a:schemeClr val="lt1">
                  <a:alpha val="0"/>
                </a:schemeClr>
              </a:gs>
            </a:gsLst>
            <a:lin ang="5400000" scaled="0"/>
          </a:gradFill>
          <a:ln w="25400">
            <a:noFill/>
          </a:ln>
          <a:effectLst/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11" name="Ellipse 4 (Stroke)_#color_$lt1_$accent1-2050&amp;12742"/>
          <p:cNvSpPr/>
          <p:nvPr userDrawn="1">
            <p:custDataLst>
              <p:tags r:id="rId5"/>
            </p:custDataLst>
          </p:nvPr>
        </p:nvSpPr>
        <p:spPr>
          <a:xfrm>
            <a:off x="0" y="2401797"/>
            <a:ext cx="5236783" cy="2073974"/>
          </a:xfrm>
          <a:custGeom>
            <a:avLst/>
            <a:gdLst/>
            <a:ahLst/>
            <a:cxnLst/>
            <a:rect l="l" t="t" r="r" b="b"/>
            <a:pathLst>
              <a:path w="5541264" h="2194560">
                <a:moveTo>
                  <a:pt x="0" y="1353312"/>
                </a:moveTo>
                <a:lnTo>
                  <a:pt x="0" y="704088"/>
                </a:lnTo>
                <a:cubicBezTo>
                  <a:pt x="630936" y="265176"/>
                  <a:pt x="1399032" y="0"/>
                  <a:pt x="2231136" y="0"/>
                </a:cubicBezTo>
                <a:cubicBezTo>
                  <a:pt x="3602736" y="0"/>
                  <a:pt x="4809744" y="722376"/>
                  <a:pt x="5495544" y="1801368"/>
                </a:cubicBezTo>
                <a:cubicBezTo>
                  <a:pt x="5568696" y="1920240"/>
                  <a:pt x="5541264" y="2075688"/>
                  <a:pt x="5422392" y="2148840"/>
                </a:cubicBezTo>
                <a:cubicBezTo>
                  <a:pt x="5303520" y="2221992"/>
                  <a:pt x="5148072" y="2194560"/>
                  <a:pt x="5065776" y="2075688"/>
                </a:cubicBezTo>
                <a:cubicBezTo>
                  <a:pt x="4471416" y="1133856"/>
                  <a:pt x="3419856" y="512064"/>
                  <a:pt x="2231136" y="512064"/>
                </a:cubicBezTo>
                <a:cubicBezTo>
                  <a:pt x="1371600" y="512064"/>
                  <a:pt x="594360" y="822960"/>
                  <a:pt x="0" y="1353312"/>
                </a:cubicBezTo>
              </a:path>
            </a:pathLst>
          </a:custGeom>
          <a:gradFill>
            <a:gsLst>
              <a:gs pos="81000">
                <a:schemeClr val="lt1">
                  <a:alpha val="100000"/>
                </a:schemeClr>
              </a:gs>
              <a:gs pos="0">
                <a:schemeClr val="accent1">
                  <a:alpha val="100000"/>
                </a:schemeClr>
              </a:gs>
            </a:gsLst>
            <a:lin ang="74674" scaled="0"/>
          </a:gradFill>
          <a:ln w="25400">
            <a:noFill/>
          </a:ln>
          <a:effectLst/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2" name="标题 1"/>
          <p:cNvSpPr>
            <a:spLocks noGrp="1"/>
          </p:cNvSpPr>
          <p:nvPr userDrawn="1">
            <p:ph type="title"/>
            <p:custDataLst>
              <p:tags r:id="rId6"/>
            </p:custDataLst>
          </p:nvPr>
        </p:nvSpPr>
        <p:spPr>
          <a:xfrm>
            <a:off x="6263328" y="4044173"/>
            <a:ext cx="4467204" cy="1874138"/>
          </a:xfrm>
        </p:spPr>
        <p:txBody>
          <a:bodyPr wrap="square" anchor="t">
            <a:normAutofit/>
          </a:bodyPr>
          <a:lstStyle>
            <a:lvl1pPr algn="l">
              <a:defRPr sz="4255">
                <a:solidFill>
                  <a:schemeClr val="lt1">
                    <a:lumMod val="100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8" name="节编号 3"/>
          <p:cNvSpPr>
            <a:spLocks noGrp="1"/>
          </p:cNvSpPr>
          <p:nvPr userDrawn="1">
            <p:ph type="body" sz="quarter" idx="13" hasCustomPrompt="1"/>
            <p:custDataLst>
              <p:tags r:id="rId7"/>
            </p:custDataLst>
          </p:nvPr>
        </p:nvSpPr>
        <p:spPr>
          <a:xfrm>
            <a:off x="459683" y="4169628"/>
            <a:ext cx="4845033" cy="2607913"/>
          </a:xfrm>
        </p:spPr>
        <p:txBody>
          <a:bodyPr wrap="square" anchor="b">
            <a:normAutofit/>
          </a:bodyPr>
          <a:lstStyle>
            <a:lvl1pPr marL="0" indent="0" algn="ctr">
              <a:buNone/>
              <a:defRPr sz="11245" b="1">
                <a:solidFill>
                  <a:schemeClr val="lt1">
                    <a:lumMod val="100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>
            <a:pPr lvl="0"/>
            <a:r>
              <a:rPr lang="zh-CN" altLang="en-US" dirty="0"/>
              <a:t>节编号</a:t>
            </a:r>
            <a:endParaRPr lang="zh-CN" altLang="en-US" dirty="0"/>
          </a:p>
        </p:txBody>
      </p:sp>
      <p:sp>
        <p:nvSpPr>
          <p:cNvPr id="4" name="日期占位符 4"/>
          <p:cNvSpPr>
            <a:spLocks noGrp="1"/>
          </p:cNvSpPr>
          <p:nvPr userDrawn="1">
            <p:ph type="dt" sz="half" idx="10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5"/>
          <p:cNvSpPr>
            <a:spLocks noGrp="1"/>
          </p:cNvSpPr>
          <p:nvPr userDrawn="1">
            <p:ph type="ftr" sz="quarter" idx="11"/>
            <p:custDataLst>
              <p:tags r:id="rId9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6"/>
          <p:cNvSpPr>
            <a:spLocks noGrp="1"/>
          </p:cNvSpPr>
          <p:nvPr userDrawn="1">
            <p:ph type="sldNum" sz="quarter" idx="12"/>
            <p:custDataLst>
              <p:tags r:id="rId10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 wrap="square" lIns="0" tIns="0" rIns="0" bIns="0" rtlCol="0" anchor="b">
            <a:normAutofit/>
          </a:bodyPr>
          <a:lstStyle>
            <a:lvl1pPr>
              <a:defRPr lang="zh-CN" altLang="en-US" dirty="0">
                <a:latin typeface="+mj-lt"/>
                <a:ea typeface="+mj-lt"/>
                <a:cs typeface="+mj-lt"/>
              </a:defRPr>
            </a:lvl1pPr>
          </a:lstStyle>
          <a:p>
            <a:pPr lvl="0"/>
            <a:r>
              <a:rPr lang="zh-CN" altLang="en-US" dirty="0"/>
              <a:t>单击此处编辑母版标题样式</a:t>
            </a:r>
            <a:endParaRPr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57718" y="2309860"/>
            <a:ext cx="5031306" cy="4607932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</a:defRPr>
            </a:lvl1pPr>
            <a:lvl2pPr>
              <a:defRPr>
                <a:latin typeface="+mn-ea"/>
                <a:ea typeface="+mn-ea"/>
                <a:cs typeface="+mn-ea"/>
              </a:defRPr>
            </a:lvl2pPr>
            <a:lvl3pPr>
              <a:defRPr>
                <a:latin typeface="+mn-ea"/>
                <a:ea typeface="+mn-ea"/>
                <a:cs typeface="+mn-ea"/>
              </a:defRPr>
            </a:lvl3pPr>
            <a:lvl4pPr>
              <a:defRPr>
                <a:latin typeface="+mn-ea"/>
                <a:ea typeface="+mn-ea"/>
                <a:cs typeface="+mn-ea"/>
              </a:defRPr>
            </a:lvl4pPr>
            <a:lvl5pPr>
              <a:defRPr>
                <a:latin typeface="+mn-ea"/>
                <a:ea typeface="+mn-ea"/>
                <a:cs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5833050" y="2309860"/>
            <a:ext cx="5031306" cy="4607932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</a:defRPr>
            </a:lvl1pPr>
            <a:lvl2pPr>
              <a:defRPr>
                <a:latin typeface="+mn-ea"/>
                <a:ea typeface="+mn-ea"/>
                <a:cs typeface="+mn-ea"/>
              </a:defRPr>
            </a:lvl2pPr>
            <a:lvl3pPr>
              <a:defRPr>
                <a:latin typeface="+mn-ea"/>
                <a:ea typeface="+mn-ea"/>
                <a:cs typeface="+mn-ea"/>
              </a:defRPr>
            </a:lvl3pPr>
            <a:lvl4pPr>
              <a:defRPr>
                <a:latin typeface="+mn-ea"/>
                <a:ea typeface="+mn-ea"/>
                <a:cs typeface="+mn-ea"/>
              </a:defRPr>
            </a:lvl4pPr>
            <a:lvl5pPr>
              <a:defRPr>
                <a:latin typeface="+mn-ea"/>
                <a:ea typeface="+mn-ea"/>
                <a:cs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>
          <a:xfrm>
            <a:off x="657718" y="2309860"/>
            <a:ext cx="5031306" cy="3887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270" b="1">
                <a:latin typeface="+mn-ea"/>
                <a:ea typeface="+mn-ea"/>
                <a:cs typeface="+mn-ea"/>
              </a:defRPr>
            </a:lvl1pPr>
            <a:lvl2pPr marL="431800" indent="0">
              <a:buNone/>
              <a:defRPr sz="1890" b="1"/>
            </a:lvl2pPr>
            <a:lvl3pPr marL="864235" indent="0">
              <a:buNone/>
              <a:defRPr sz="1700" b="1"/>
            </a:lvl3pPr>
            <a:lvl4pPr marL="1296035" indent="0">
              <a:buNone/>
              <a:defRPr sz="1510" b="1"/>
            </a:lvl4pPr>
            <a:lvl5pPr marL="1728470" indent="0">
              <a:buNone/>
              <a:defRPr sz="1510" b="1"/>
            </a:lvl5pPr>
            <a:lvl6pPr marL="2160270" indent="0">
              <a:buNone/>
              <a:defRPr sz="1510" b="1"/>
            </a:lvl6pPr>
            <a:lvl7pPr marL="2592705" indent="0">
              <a:buNone/>
              <a:defRPr sz="1510" b="1"/>
            </a:lvl7pPr>
            <a:lvl8pPr marL="3024505" indent="0">
              <a:buNone/>
              <a:defRPr sz="1510" b="1"/>
            </a:lvl8pPr>
            <a:lvl9pPr marL="3456940" indent="0">
              <a:buNone/>
              <a:defRPr sz="151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57718" y="2851705"/>
            <a:ext cx="5031306" cy="4063985"/>
          </a:xfrm>
        </p:spPr>
        <p:txBody>
          <a:bodyPr wrap="square">
            <a:normAutofit/>
          </a:bodyPr>
          <a:lstStyle>
            <a:lvl1pPr>
              <a:defRPr sz="2080">
                <a:latin typeface="+mn-ea"/>
                <a:ea typeface="+mn-ea"/>
                <a:cs typeface="+mn-ea"/>
              </a:defRPr>
            </a:lvl1pPr>
            <a:lvl2pPr>
              <a:defRPr>
                <a:latin typeface="+mn-ea"/>
                <a:ea typeface="+mn-ea"/>
                <a:cs typeface="+mn-ea"/>
              </a:defRPr>
            </a:lvl2pPr>
            <a:lvl3pPr>
              <a:defRPr>
                <a:latin typeface="+mn-ea"/>
                <a:ea typeface="+mn-ea"/>
                <a:cs typeface="+mn-ea"/>
              </a:defRPr>
            </a:lvl3pPr>
            <a:lvl4pPr>
              <a:defRPr>
                <a:latin typeface="+mn-ea"/>
                <a:ea typeface="+mn-ea"/>
                <a:cs typeface="+mn-ea"/>
              </a:defRPr>
            </a:lvl4pPr>
            <a:lvl5pPr>
              <a:defRPr>
                <a:latin typeface="+mn-ea"/>
                <a:ea typeface="+mn-ea"/>
                <a:cs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  <p:custDataLst>
              <p:tags r:id="rId4"/>
            </p:custDataLst>
          </p:nvPr>
        </p:nvSpPr>
        <p:spPr>
          <a:xfrm>
            <a:off x="5833050" y="2309860"/>
            <a:ext cx="5031306" cy="3887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270" b="1">
                <a:latin typeface="+mn-ea"/>
                <a:ea typeface="+mn-ea"/>
                <a:cs typeface="+mn-ea"/>
              </a:defRPr>
            </a:lvl1pPr>
            <a:lvl2pPr marL="431800" indent="0">
              <a:buNone/>
              <a:defRPr sz="1890" b="1"/>
            </a:lvl2pPr>
            <a:lvl3pPr marL="864235" indent="0">
              <a:buNone/>
              <a:defRPr sz="1700" b="1"/>
            </a:lvl3pPr>
            <a:lvl4pPr marL="1296035" indent="0">
              <a:buNone/>
              <a:defRPr sz="1510" b="1"/>
            </a:lvl4pPr>
            <a:lvl5pPr marL="1728470" indent="0">
              <a:buNone/>
              <a:defRPr sz="1510" b="1"/>
            </a:lvl5pPr>
            <a:lvl6pPr marL="2160270" indent="0">
              <a:buNone/>
              <a:defRPr sz="1510" b="1"/>
            </a:lvl6pPr>
            <a:lvl7pPr marL="2592705" indent="0">
              <a:buNone/>
              <a:defRPr sz="1510" b="1"/>
            </a:lvl7pPr>
            <a:lvl8pPr marL="3024505" indent="0">
              <a:buNone/>
              <a:defRPr sz="1510" b="1"/>
            </a:lvl8pPr>
            <a:lvl9pPr marL="3456940" indent="0">
              <a:buNone/>
              <a:defRPr sz="151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5833050" y="2851705"/>
            <a:ext cx="5031306" cy="4063985"/>
          </a:xfrm>
        </p:spPr>
        <p:txBody>
          <a:bodyPr wrap="square">
            <a:normAutofit/>
          </a:bodyPr>
          <a:lstStyle>
            <a:lvl1pPr>
              <a:defRPr sz="2080">
                <a:latin typeface="+mn-ea"/>
                <a:ea typeface="+mn-ea"/>
                <a:cs typeface="+mn-ea"/>
              </a:defRPr>
            </a:lvl1pPr>
            <a:lvl2pPr>
              <a:defRPr>
                <a:latin typeface="+mn-ea"/>
                <a:ea typeface="+mn-ea"/>
                <a:cs typeface="+mn-ea"/>
              </a:defRPr>
            </a:lvl2pPr>
            <a:lvl3pPr>
              <a:defRPr>
                <a:latin typeface="+mn-ea"/>
                <a:ea typeface="+mn-ea"/>
                <a:cs typeface="+mn-ea"/>
              </a:defRPr>
            </a:lvl3pPr>
            <a:lvl4pPr>
              <a:defRPr>
                <a:latin typeface="+mn-ea"/>
                <a:ea typeface="+mn-ea"/>
                <a:cs typeface="+mn-ea"/>
              </a:defRPr>
            </a:lvl4pPr>
            <a:lvl5pPr>
              <a:defRPr>
                <a:latin typeface="+mn-ea"/>
                <a:ea typeface="+mn-ea"/>
                <a:cs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2" name="灯片编号占位符 11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3" name="标题 12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j-lt"/>
                <a:ea typeface="+mj-lt"/>
                <a:cs typeface="+mj-lt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1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57718" y="1419900"/>
            <a:ext cx="10208438" cy="5498190"/>
          </a:xfrm>
        </p:spPr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</a:defRPr>
            </a:lvl1pPr>
            <a:lvl2pPr>
              <a:defRPr>
                <a:latin typeface="+mn-lt"/>
                <a:ea typeface="+mn-lt"/>
                <a:cs typeface="+mn-lt"/>
              </a:defRPr>
            </a:lvl2pPr>
            <a:lvl3pPr>
              <a:defRPr>
                <a:latin typeface="+mn-lt"/>
                <a:ea typeface="+mn-lt"/>
                <a:cs typeface="+mn-lt"/>
              </a:defRPr>
            </a:lvl3pPr>
            <a:lvl4pPr>
              <a:defRPr>
                <a:latin typeface="+mn-lt"/>
                <a:ea typeface="+mn-lt"/>
                <a:cs typeface="+mn-lt"/>
              </a:defRPr>
            </a:lvl4pPr>
            <a:lvl5pPr>
              <a:defRPr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57718" y="2309860"/>
            <a:ext cx="10205701" cy="383269"/>
          </a:xfrm>
        </p:spPr>
        <p:txBody>
          <a:bodyPr wrap="square" anchor="t">
            <a:normAutofit/>
          </a:bodyPr>
          <a:lstStyle>
            <a:lvl1pPr marL="0" indent="0">
              <a:buNone/>
              <a:defRPr sz="2270" b="0">
                <a:latin typeface="+mn-lt"/>
                <a:ea typeface="+mn-lt"/>
                <a:cs typeface="+mn-lt"/>
              </a:defRPr>
            </a:lvl1pPr>
            <a:lvl2pPr marL="431800" indent="0">
              <a:buNone/>
              <a:defRPr sz="1890" b="1"/>
            </a:lvl2pPr>
            <a:lvl3pPr marL="864235" indent="0">
              <a:buNone/>
              <a:defRPr sz="1700" b="1"/>
            </a:lvl3pPr>
            <a:lvl4pPr marL="1296035" indent="0">
              <a:buNone/>
              <a:defRPr sz="1510" b="1"/>
            </a:lvl4pPr>
            <a:lvl5pPr marL="1728470" indent="0">
              <a:buNone/>
              <a:defRPr sz="1510" b="1"/>
            </a:lvl5pPr>
            <a:lvl6pPr marL="2160270" indent="0">
              <a:buNone/>
              <a:defRPr sz="1510" b="1"/>
            </a:lvl6pPr>
            <a:lvl7pPr marL="2592705" indent="0">
              <a:buNone/>
              <a:defRPr sz="1510" b="1"/>
            </a:lvl7pPr>
            <a:lvl8pPr marL="3024505" indent="0">
              <a:buNone/>
              <a:defRPr sz="1510" b="1"/>
            </a:lvl8pPr>
            <a:lvl9pPr marL="3456940" indent="0">
              <a:buNone/>
              <a:defRPr sz="1510" b="1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bg_#color-2050&amp;12433"/>
          <p:cNvSpPr/>
          <p:nvPr userDrawn="1">
            <p:custDataLst>
              <p:tags r:id="rId2"/>
            </p:custDataLst>
          </p:nvPr>
        </p:nvSpPr>
        <p:spPr>
          <a:xfrm>
            <a:off x="0" y="1079639"/>
            <a:ext cx="11519194" cy="6481167"/>
          </a:xfrm>
          <a:custGeom>
            <a:avLst/>
            <a:gdLst/>
            <a:ahLst/>
            <a:cxnLst/>
            <a:rect l="l" t="t" r="r" b="b"/>
            <a:pathLst>
              <a:path w="12188952" h="6858000">
                <a:moveTo>
                  <a:pt x="0" y="0"/>
                </a:moveTo>
                <a:lnTo>
                  <a:pt x="12188952" y="0"/>
                </a:lnTo>
                <a:lnTo>
                  <a:pt x="12188952" y="6858000"/>
                </a:lnTo>
                <a:lnTo>
                  <a:pt x="0" y="6858000"/>
                </a:lnTo>
                <a:lnTo>
                  <a:pt x="0" y="0"/>
                </a:lnTo>
              </a:path>
            </a:pathLst>
          </a:custGeom>
          <a:solidFill>
            <a:schemeClr val="accent1"/>
          </a:solidFill>
        </p:spPr>
      </p:sp>
      <p:sp>
        <p:nvSpPr>
          <p:cNvPr id="15" name="Ellipse 3_#color_$lt1_$lt1-2050&amp;12754"/>
          <p:cNvSpPr/>
          <p:nvPr userDrawn="1">
            <p:custDataLst>
              <p:tags r:id="rId3"/>
            </p:custDataLst>
          </p:nvPr>
        </p:nvSpPr>
        <p:spPr>
          <a:xfrm>
            <a:off x="8402473" y="1079639"/>
            <a:ext cx="3119602" cy="3664020"/>
          </a:xfrm>
          <a:custGeom>
            <a:avLst/>
            <a:gdLst/>
            <a:ahLst/>
            <a:cxnLst/>
            <a:rect l="l" t="t" r="r" b="b"/>
            <a:pathLst>
              <a:path w="3300984" h="3877056">
                <a:moveTo>
                  <a:pt x="512064" y="0"/>
                </a:moveTo>
                <a:lnTo>
                  <a:pt x="0" y="0"/>
                </a:lnTo>
                <a:cubicBezTo>
                  <a:pt x="-27432" y="1920240"/>
                  <a:pt x="1380744" y="3584448"/>
                  <a:pt x="3300984" y="3877056"/>
                </a:cubicBezTo>
                <a:lnTo>
                  <a:pt x="3300984" y="3355848"/>
                </a:lnTo>
                <a:cubicBezTo>
                  <a:pt x="1664208" y="3081528"/>
                  <a:pt x="484632" y="1645920"/>
                  <a:pt x="512064" y="0"/>
                </a:cubicBezTo>
              </a:path>
            </a:pathLst>
          </a:custGeom>
          <a:gradFill>
            <a:gsLst>
              <a:gs pos="69000">
                <a:srgbClr val="FFFFFF">
                  <a:alpha val="100000"/>
                </a:srgbClr>
              </a:gs>
              <a:gs pos="82000">
                <a:schemeClr val="lt1">
                  <a:alpha val="0"/>
                </a:schemeClr>
              </a:gs>
              <a:gs pos="0">
                <a:schemeClr val="lt1">
                  <a:alpha val="0"/>
                </a:schemeClr>
              </a:gs>
            </a:gsLst>
            <a:lin ang="5400000" scaled="0"/>
          </a:gradFill>
          <a:ln w="25400">
            <a:noFill/>
          </a:ln>
          <a:effectLst/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16" name="Ellipse 4 (Stroke)_#color_$lt1_$accent1-2050&amp;12757"/>
          <p:cNvSpPr/>
          <p:nvPr userDrawn="1">
            <p:custDataLst>
              <p:tags r:id="rId4"/>
            </p:custDataLst>
          </p:nvPr>
        </p:nvSpPr>
        <p:spPr>
          <a:xfrm>
            <a:off x="8753896" y="2393155"/>
            <a:ext cx="2765298" cy="2341862"/>
          </a:xfrm>
          <a:custGeom>
            <a:avLst/>
            <a:gdLst/>
            <a:ahLst/>
            <a:cxnLst/>
            <a:rect l="l" t="t" r="r" b="b"/>
            <a:pathLst>
              <a:path w="2926080" h="2478024">
                <a:moveTo>
                  <a:pt x="2926080" y="2478024"/>
                </a:moveTo>
                <a:lnTo>
                  <a:pt x="2926080" y="1965960"/>
                </a:lnTo>
                <a:cubicBezTo>
                  <a:pt x="1837944" y="1783080"/>
                  <a:pt x="941832" y="1078992"/>
                  <a:pt x="484632" y="137160"/>
                </a:cubicBezTo>
                <a:cubicBezTo>
                  <a:pt x="420624" y="18288"/>
                  <a:pt x="265176" y="-36576"/>
                  <a:pt x="137160" y="27432"/>
                </a:cubicBezTo>
                <a:cubicBezTo>
                  <a:pt x="18288" y="91440"/>
                  <a:pt x="-36576" y="237744"/>
                  <a:pt x="27432" y="365760"/>
                </a:cubicBezTo>
                <a:cubicBezTo>
                  <a:pt x="566928" y="1472184"/>
                  <a:pt x="1627632" y="2286000"/>
                  <a:pt x="2926080" y="2478024"/>
                </a:cubicBezTo>
              </a:path>
            </a:pathLst>
          </a:custGeom>
          <a:gradFill>
            <a:gsLst>
              <a:gs pos="0">
                <a:schemeClr val="lt1">
                  <a:alpha val="80000"/>
                </a:schemeClr>
              </a:gs>
              <a:gs pos="100000">
                <a:schemeClr val="accent1">
                  <a:alpha val="100000"/>
                </a:schemeClr>
              </a:gs>
            </a:gsLst>
            <a:lin ang="74674" scaled="0"/>
          </a:gradFill>
          <a:ln w="25400">
            <a:noFill/>
          </a:ln>
          <a:effectLst/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17" name="Ellipse 8 (Stroke)_#color-2050&amp;12760"/>
          <p:cNvSpPr/>
          <p:nvPr userDrawn="1">
            <p:custDataLst>
              <p:tags r:id="rId5"/>
            </p:custDataLst>
          </p:nvPr>
        </p:nvSpPr>
        <p:spPr>
          <a:xfrm>
            <a:off x="10127904" y="4691809"/>
            <a:ext cx="1391291" cy="795023"/>
          </a:xfrm>
          <a:custGeom>
            <a:avLst/>
            <a:gdLst/>
            <a:ahLst/>
            <a:cxnLst/>
            <a:rect l="l" t="t" r="r" b="b"/>
            <a:pathLst>
              <a:path w="1472184" h="841248">
                <a:moveTo>
                  <a:pt x="1472184" y="329184"/>
                </a:moveTo>
                <a:lnTo>
                  <a:pt x="1472184" y="841248"/>
                </a:lnTo>
                <a:cubicBezTo>
                  <a:pt x="1005840" y="795528"/>
                  <a:pt x="557784" y="676656"/>
                  <a:pt x="146304" y="484632"/>
                </a:cubicBezTo>
                <a:cubicBezTo>
                  <a:pt x="18288" y="429768"/>
                  <a:pt x="-36576" y="274320"/>
                  <a:pt x="27432" y="146304"/>
                </a:cubicBezTo>
                <a:cubicBezTo>
                  <a:pt x="82296" y="18288"/>
                  <a:pt x="237744" y="-36576"/>
                  <a:pt x="356616" y="27432"/>
                </a:cubicBezTo>
                <a:cubicBezTo>
                  <a:pt x="704088" y="182880"/>
                  <a:pt x="1078992" y="292608"/>
                  <a:pt x="1472184" y="329184"/>
                </a:cubicBezTo>
              </a:path>
            </a:pathLst>
          </a:custGeom>
          <a:solidFill>
            <a:schemeClr val="lt1">
              <a:alpha val="40000"/>
            </a:schemeClr>
          </a:solidFill>
        </p:spPr>
      </p:sp>
      <p:sp>
        <p:nvSpPr>
          <p:cNvPr id="19" name="Ellipse 9_#color-2050&amp;12763"/>
          <p:cNvSpPr/>
          <p:nvPr userDrawn="1">
            <p:custDataLst>
              <p:tags r:id="rId6"/>
            </p:custDataLst>
          </p:nvPr>
        </p:nvSpPr>
        <p:spPr>
          <a:xfrm>
            <a:off x="0" y="4320223"/>
            <a:ext cx="3076394" cy="3240584"/>
          </a:xfrm>
          <a:custGeom>
            <a:avLst/>
            <a:gdLst/>
            <a:ahLst/>
            <a:cxnLst/>
            <a:rect l="l" t="t" r="r" b="b"/>
            <a:pathLst>
              <a:path w="3255264" h="3429000">
                <a:moveTo>
                  <a:pt x="3227832" y="3429000"/>
                </a:moveTo>
                <a:cubicBezTo>
                  <a:pt x="3246120" y="3300984"/>
                  <a:pt x="3255264" y="3172968"/>
                  <a:pt x="3255264" y="3044952"/>
                </a:cubicBezTo>
                <a:cubicBezTo>
                  <a:pt x="3255264" y="1362456"/>
                  <a:pt x="1883664" y="0"/>
                  <a:pt x="201168" y="0"/>
                </a:cubicBezTo>
                <a:cubicBezTo>
                  <a:pt x="137160" y="0"/>
                  <a:pt x="64008" y="0"/>
                  <a:pt x="0" y="9144"/>
                </a:cubicBezTo>
                <a:lnTo>
                  <a:pt x="0" y="512064"/>
                </a:lnTo>
                <a:cubicBezTo>
                  <a:pt x="64008" y="512064"/>
                  <a:pt x="137160" y="512064"/>
                  <a:pt x="201168" y="512064"/>
                </a:cubicBezTo>
                <a:cubicBezTo>
                  <a:pt x="1609344" y="512064"/>
                  <a:pt x="2743200" y="1645920"/>
                  <a:pt x="2743200" y="3044952"/>
                </a:cubicBezTo>
                <a:cubicBezTo>
                  <a:pt x="2743200" y="3172968"/>
                  <a:pt x="2734056" y="3300984"/>
                  <a:pt x="2715768" y="3429000"/>
                </a:cubicBezTo>
                <a:lnTo>
                  <a:pt x="3227832" y="3429000"/>
                </a:lnTo>
              </a:path>
            </a:pathLst>
          </a:custGeom>
          <a:solidFill>
            <a:schemeClr val="accent1">
              <a:lumMod val="40000"/>
              <a:lumOff val="60000"/>
              <a:alpha val="75000"/>
            </a:schemeClr>
          </a:solidFill>
        </p:spPr>
      </p:sp>
      <p:sp>
        <p:nvSpPr>
          <p:cNvPr id="2" name="标题 1"/>
          <p:cNvSpPr>
            <a:spLocks noGrp="1"/>
          </p:cNvSpPr>
          <p:nvPr userDrawn="1">
            <p:ph type="ctrTitle" hasCustomPrompt="1"/>
            <p:custDataLst>
              <p:tags r:id="rId7"/>
            </p:custDataLst>
          </p:nvPr>
        </p:nvSpPr>
        <p:spPr>
          <a:xfrm>
            <a:off x="792143" y="1511717"/>
            <a:ext cx="9937223" cy="2834022"/>
          </a:xfrm>
        </p:spPr>
        <p:txBody>
          <a:bodyPr wrap="square" anchor="b">
            <a:normAutofit/>
          </a:bodyPr>
          <a:lstStyle>
            <a:lvl1pPr algn="ctr">
              <a:lnSpc>
                <a:spcPct val="100000"/>
              </a:lnSpc>
              <a:defRPr sz="7560">
                <a:solidFill>
                  <a:schemeClr val="lt1">
                    <a:lumMod val="100000"/>
                  </a:schemeClr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CN" altLang="en-US" dirty="0"/>
              <a:t>单击编辑母版标题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 userDrawn="1">
            <p:ph type="dt" sz="half" idx="10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 userDrawn="1">
            <p:ph type="ftr" sz="quarter" idx="11"/>
            <p:custDataLst>
              <p:tags r:id="rId9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 userDrawn="1">
            <p:ph type="sldNum" sz="quarter" idx="12"/>
            <p:custDataLst>
              <p:tags r:id="rId10"/>
            </p:custDataLst>
          </p:nvPr>
        </p:nvSpPr>
        <p:spPr>
          <a:xfrm>
            <a:off x="8137465" y="7086721"/>
            <a:ext cx="2592467" cy="345062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4" name="署名占位符 10"/>
          <p:cNvSpPr>
            <a:spLocks noGrp="1"/>
          </p:cNvSpPr>
          <p:nvPr userDrawn="1">
            <p:ph type="body" sz="quarter" idx="17" hasCustomPrompt="1"/>
            <p:custDataLst>
              <p:tags r:id="rId11"/>
            </p:custDataLst>
          </p:nvPr>
        </p:nvSpPr>
        <p:spPr>
          <a:xfrm>
            <a:off x="792143" y="4773233"/>
            <a:ext cx="9937223" cy="1172394"/>
          </a:xfrm>
        </p:spPr>
        <p:txBody>
          <a:bodyPr wrap="square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270">
                <a:solidFill>
                  <a:schemeClr val="lt1">
                    <a:lumMod val="100000"/>
                  </a:schemeClr>
                </a:solidFill>
                <a:latin typeface="+mn-lt"/>
                <a:ea typeface="+mn-lt"/>
                <a:cs typeface="+mn-lt"/>
              </a:defRPr>
            </a:lvl1pPr>
          </a:lstStyle>
          <a:p>
            <a:pPr lvl="0"/>
            <a:r>
              <a:rPr lang="zh-CN" altLang="en-US" dirty="0"/>
              <a:t>署名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tags" Target="../tags/tag72.xml"/><Relationship Id="rId13" Type="http://schemas.openxmlformats.org/officeDocument/2006/relationships/tags" Target="../tags/tag73.xml"/><Relationship Id="rId14" Type="http://schemas.openxmlformats.org/officeDocument/2006/relationships/tags" Target="../tags/tag74.xml"/><Relationship Id="rId15" Type="http://schemas.openxmlformats.org/officeDocument/2006/relationships/tags" Target="../tags/tag75.xml"/><Relationship Id="rId16" Type="http://schemas.openxmlformats.org/officeDocument/2006/relationships/tags" Target="../tags/tag76.xml"/><Relationship Id="rId17" Type="http://schemas.openxmlformats.org/officeDocument/2006/relationships/tags" Target="../tags/tag77.xml"/><Relationship Id="rId18" Type="http://schemas.openxmlformats.org/officeDocument/2006/relationships/tags" Target="../tags/tag78.xml"/><Relationship Id="rId19" Type="http://schemas.openxmlformats.org/officeDocument/2006/relationships/tags" Target="../tags/tag79.xml"/><Relationship Id="rId20" Type="http://schemas.openxmlformats.org/officeDocument/2006/relationships/tags" Target="../tags/tag80.xml"/><Relationship Id="rId2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标题占位符 1"/>
          <p:cNvSpPr>
            <a:spLocks noGrp="1"/>
          </p:cNvSpPr>
          <p:nvPr>
            <p:ph type="title"/>
          </p:nvPr>
        </p:nvSpPr>
        <p:spPr bwMode="auto">
          <a:xfrm>
            <a:off x="576104" y="346031"/>
            <a:ext cx="10369868" cy="144012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15214" tIns="57607" rIns="115214" bIns="57607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2051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576104" y="2016179"/>
            <a:ext cx="10369868" cy="5702504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15214" tIns="57607" rIns="115214" bIns="57607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576104" y="8008708"/>
            <a:ext cx="2688484" cy="460041"/>
          </a:xfrm>
          <a:prstGeom prst="rect">
            <a:avLst/>
          </a:prstGeom>
        </p:spPr>
        <p:txBody>
          <a:bodyPr vert="horz" lIns="115214" tIns="57607" rIns="115214" bIns="57607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5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7E97B707-22D4-4B06-9A8A-89EF284804D8}" type="datetimeFigureOut">
              <a:rPr lang="zh-CN" altLang="en-US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936709" y="8008708"/>
            <a:ext cx="3648657" cy="460041"/>
          </a:xfrm>
          <a:prstGeom prst="rect">
            <a:avLst/>
          </a:prstGeom>
        </p:spPr>
        <p:txBody>
          <a:bodyPr vert="horz" lIns="115214" tIns="57607" rIns="115214" bIns="57607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5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257487" y="8008708"/>
            <a:ext cx="2688484" cy="460041"/>
          </a:xfrm>
          <a:prstGeom prst="rect">
            <a:avLst/>
          </a:prstGeom>
        </p:spPr>
        <p:txBody>
          <a:bodyPr vert="horz" lIns="115214" tIns="57607" rIns="115214" bIns="57607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5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53F49717-76DA-4DAA-9161-16E5D566D94E}" type="slidenum">
              <a:rPr lang="zh-CN" altLang="en-US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55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5pPr>
      <a:lvl6pPr marL="575945" algn="ctr" rtl="0" fontAlgn="base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6pPr>
      <a:lvl7pPr marL="1151890" algn="ctr" rtl="0" fontAlgn="base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7pPr>
      <a:lvl8pPr marL="1728470" algn="ctr" rtl="0" fontAlgn="base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8pPr>
      <a:lvl9pPr marL="2304415" algn="ctr" rtl="0" fontAlgn="base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9pPr>
    </p:titleStyle>
    <p:bodyStyle>
      <a:lvl1pPr marL="431800" indent="-4318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1pPr>
      <a:lvl2pPr marL="935990" indent="-360045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500" kern="1200">
          <a:solidFill>
            <a:schemeClr val="tx1"/>
          </a:solidFill>
          <a:latin typeface="+mn-lt"/>
          <a:ea typeface="+mn-ea"/>
          <a:cs typeface="+mn-cs"/>
        </a:defRPr>
      </a:lvl2pPr>
      <a:lvl3pPr marL="1440180" indent="-28829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016125" indent="-28829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500" kern="1200">
          <a:solidFill>
            <a:schemeClr val="tx1"/>
          </a:solidFill>
          <a:latin typeface="+mn-lt"/>
          <a:ea typeface="+mn-ea"/>
          <a:cs typeface="+mn-cs"/>
        </a:defRPr>
      </a:lvl4pPr>
      <a:lvl5pPr marL="2592070" indent="-28829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500" kern="1200">
          <a:solidFill>
            <a:schemeClr val="tx1"/>
          </a:solidFill>
          <a:latin typeface="+mn-lt"/>
          <a:ea typeface="+mn-ea"/>
          <a:cs typeface="+mn-cs"/>
        </a:defRPr>
      </a:lvl5pPr>
      <a:lvl6pPr marL="3168650" indent="-288290" algn="l" defTabSz="11518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6pPr>
      <a:lvl7pPr marL="3744595" indent="-288290" algn="l" defTabSz="11518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7pPr>
      <a:lvl8pPr marL="4320540" indent="-288290" algn="l" defTabSz="11518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8pPr>
      <a:lvl9pPr marL="4896485" indent="-288290" algn="l" defTabSz="11518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1pPr>
      <a:lvl2pPr marL="575945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115189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72847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04415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8036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56305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403225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60883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llipse 5 (Stroke)_#color-2050&amp;12748"/>
          <p:cNvSpPr/>
          <p:nvPr userDrawn="1">
            <p:custDataLst>
              <p:tags r:id="rId12"/>
            </p:custDataLst>
          </p:nvPr>
        </p:nvSpPr>
        <p:spPr>
          <a:xfrm>
            <a:off x="0" y="1079639"/>
            <a:ext cx="1650537" cy="1564122"/>
          </a:xfrm>
          <a:custGeom>
            <a:avLst/>
            <a:gdLst/>
            <a:ahLst/>
            <a:cxnLst/>
            <a:rect l="l" t="t" r="r" b="b"/>
            <a:pathLst>
              <a:path w="1746504" h="1655064">
                <a:moveTo>
                  <a:pt x="0" y="1133856"/>
                </a:moveTo>
                <a:cubicBezTo>
                  <a:pt x="384048" y="1051560"/>
                  <a:pt x="731520" y="841248"/>
                  <a:pt x="978408" y="502920"/>
                </a:cubicBezTo>
                <a:cubicBezTo>
                  <a:pt x="1088136" y="347472"/>
                  <a:pt x="1170432" y="173736"/>
                  <a:pt x="1216152" y="0"/>
                </a:cubicBezTo>
                <a:lnTo>
                  <a:pt x="1746504" y="0"/>
                </a:lnTo>
                <a:cubicBezTo>
                  <a:pt x="1682496" y="274320"/>
                  <a:pt x="1563624" y="548640"/>
                  <a:pt x="1389888" y="795528"/>
                </a:cubicBezTo>
                <a:cubicBezTo>
                  <a:pt x="1042416" y="1271016"/>
                  <a:pt x="539496" y="1563624"/>
                  <a:pt x="0" y="1655064"/>
                </a:cubicBezTo>
                <a:lnTo>
                  <a:pt x="0" y="1133856"/>
                </a:lnTo>
              </a:path>
            </a:pathLst>
          </a:custGeom>
          <a:solidFill>
            <a:schemeClr val="accent1">
              <a:alpha val="10000"/>
            </a:schemeClr>
          </a:solidFill>
        </p:spPr>
        <p:txBody>
          <a:bodyPr/>
          <a:lstStyle/>
          <a:p>
            <a:pPr defTabSz="914400" fontAlgn="auto"/>
            <a:endParaRPr lang="zh-CN" altLang="en-US" sz="1700">
              <a:latin typeface="+mn-lt"/>
              <a:ea typeface="+mn-ea"/>
            </a:endParaRPr>
          </a:p>
        </p:txBody>
      </p:sp>
      <p:sp>
        <p:nvSpPr>
          <p:cNvPr id="8" name="Ellipse 3 (Stroke)_#color-2050&amp;12745"/>
          <p:cNvSpPr/>
          <p:nvPr userDrawn="1">
            <p:custDataLst>
              <p:tags r:id="rId13"/>
            </p:custDataLst>
          </p:nvPr>
        </p:nvSpPr>
        <p:spPr>
          <a:xfrm>
            <a:off x="10651918" y="6535221"/>
            <a:ext cx="867756" cy="1024985"/>
          </a:xfrm>
          <a:custGeom>
            <a:avLst/>
            <a:gdLst/>
            <a:ahLst/>
            <a:cxnLst/>
            <a:rect l="l" t="t" r="r" b="b"/>
            <a:pathLst>
              <a:path w="3236976" h="3822192">
                <a:moveTo>
                  <a:pt x="3236976" y="0"/>
                </a:moveTo>
                <a:cubicBezTo>
                  <a:pt x="1399032" y="301752"/>
                  <a:pt x="0" y="1901952"/>
                  <a:pt x="0" y="3822192"/>
                </a:cubicBezTo>
                <a:lnTo>
                  <a:pt x="512064" y="3822192"/>
                </a:lnTo>
                <a:cubicBezTo>
                  <a:pt x="512064" y="2176272"/>
                  <a:pt x="1682496" y="813816"/>
                  <a:pt x="3236976" y="512064"/>
                </a:cubicBezTo>
                <a:lnTo>
                  <a:pt x="3236976" y="0"/>
                </a:lnTo>
              </a:path>
            </a:pathLst>
          </a:custGeom>
          <a:solidFill>
            <a:schemeClr val="accent1">
              <a:alpha val="10000"/>
            </a:schemeClr>
          </a:solidFill>
        </p:spPr>
      </p:sp>
      <p:sp>
        <p:nvSpPr>
          <p:cNvPr id="10" name="Ellipse 4 (Stroke)_#color_$accent2_$accent2-2050&amp;12751"/>
          <p:cNvSpPr/>
          <p:nvPr userDrawn="1">
            <p:custDataLst>
              <p:tags r:id="rId14"/>
            </p:custDataLst>
          </p:nvPr>
        </p:nvSpPr>
        <p:spPr>
          <a:xfrm>
            <a:off x="10801345" y="6535221"/>
            <a:ext cx="718329" cy="573703"/>
          </a:xfrm>
          <a:custGeom>
            <a:avLst/>
            <a:gdLst/>
            <a:ahLst/>
            <a:cxnLst/>
            <a:rect l="l" t="t" r="r" b="b"/>
            <a:pathLst>
              <a:path w="2679192" h="2139696">
                <a:moveTo>
                  <a:pt x="2679192" y="0"/>
                </a:moveTo>
                <a:lnTo>
                  <a:pt x="2679192" y="512064"/>
                </a:lnTo>
                <a:cubicBezTo>
                  <a:pt x="1746504" y="694944"/>
                  <a:pt x="960120" y="1252728"/>
                  <a:pt x="466344" y="2020824"/>
                </a:cubicBezTo>
                <a:cubicBezTo>
                  <a:pt x="393192" y="2139696"/>
                  <a:pt x="237744" y="2176272"/>
                  <a:pt x="118872" y="2103120"/>
                </a:cubicBezTo>
                <a:cubicBezTo>
                  <a:pt x="0" y="2020824"/>
                  <a:pt x="-36576" y="1865376"/>
                  <a:pt x="36576" y="1746504"/>
                </a:cubicBezTo>
                <a:cubicBezTo>
                  <a:pt x="621792" y="832104"/>
                  <a:pt x="1572768" y="182880"/>
                  <a:pt x="2679192" y="0"/>
                </a:cubicBezTo>
              </a:path>
            </a:pathLst>
          </a:custGeom>
          <a:gradFill>
            <a:gsLst>
              <a:gs pos="0">
                <a:schemeClr val="accent2">
                  <a:alpha val="10000"/>
                </a:schemeClr>
              </a:gs>
              <a:gs pos="70313">
                <a:schemeClr val="accent2">
                  <a:alpha val="0"/>
                </a:schemeClr>
              </a:gs>
            </a:gsLst>
            <a:lin ang="74674" scaled="0"/>
          </a:gradFill>
          <a:ln w="25400">
            <a:noFill/>
          </a:ln>
          <a:effectLst/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2" name="标题占位符 1"/>
          <p:cNvSpPr>
            <a:spLocks noGrp="1"/>
          </p:cNvSpPr>
          <p:nvPr>
            <p:ph type="title"/>
            <p:custDataLst>
              <p:tags r:id="rId15"/>
            </p:custDataLst>
          </p:nvPr>
        </p:nvSpPr>
        <p:spPr>
          <a:xfrm>
            <a:off x="657718" y="1419858"/>
            <a:ext cx="10206563" cy="680438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6"/>
            </p:custDataLst>
          </p:nvPr>
        </p:nvSpPr>
        <p:spPr>
          <a:xfrm>
            <a:off x="657718" y="2309860"/>
            <a:ext cx="10206563" cy="4605829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7"/>
            </p:custDataLst>
          </p:nvPr>
        </p:nvSpPr>
        <p:spPr>
          <a:xfrm>
            <a:off x="657718" y="7086721"/>
            <a:ext cx="2592467" cy="34506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1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8"/>
            </p:custDataLst>
          </p:nvPr>
        </p:nvSpPr>
        <p:spPr>
          <a:xfrm>
            <a:off x="3816687" y="7086721"/>
            <a:ext cx="3888700" cy="3450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1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9"/>
            </p:custDataLst>
          </p:nvPr>
        </p:nvSpPr>
        <p:spPr>
          <a:xfrm>
            <a:off x="8272970" y="7086721"/>
            <a:ext cx="2592467" cy="34506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r">
              <a:defRPr sz="11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1" name="KSO_TEMPLATE" hidden="1"/>
          <p:cNvSpPr/>
          <p:nvPr userDrawn="1">
            <p:custDataLst>
              <p:tags r:id="rId20"/>
            </p:custDataLst>
          </p:nvPr>
        </p:nvSpPr>
        <p:spPr>
          <a:xfrm>
            <a:off x="0" y="1079639"/>
            <a:ext cx="0" cy="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 defTabSz="914400" fontAlgn="auto"/>
            <a:endParaRPr lang="zh-CN" altLang="en-US" sz="17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</p:sldLayoutIdLst>
  <p:txStyles>
    <p:titleStyle>
      <a:lvl1pPr algn="l" defTabSz="864235" rtl="0" eaLnBrk="1" latinLnBrk="0" hangingPunct="1">
        <a:lnSpc>
          <a:spcPct val="100000"/>
        </a:lnSpc>
        <a:spcBef>
          <a:spcPct val="0"/>
        </a:spcBef>
        <a:buNone/>
        <a:defRPr sz="3025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15900" indent="-215900" algn="l" defTabSz="864235" rtl="0" eaLnBrk="1" latinLnBrk="0" hangingPunct="1">
        <a:lnSpc>
          <a:spcPct val="130000"/>
        </a:lnSpc>
        <a:spcBef>
          <a:spcPts val="945"/>
        </a:spcBef>
        <a:buFont typeface="Arial" panose="020B0604020202020204" pitchFamily="34" charset="0"/>
        <a:buChar char="•"/>
        <a:defRPr sz="2270" kern="1200">
          <a:solidFill>
            <a:schemeClr val="tx1"/>
          </a:solidFill>
          <a:latin typeface="+mn-lt"/>
          <a:ea typeface="+mn-ea"/>
          <a:cs typeface="+mn-cs"/>
        </a:defRPr>
      </a:lvl1pPr>
      <a:lvl2pPr marL="508635" indent="-194945" algn="l" defTabSz="864235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9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755015" indent="-153035" algn="l" defTabSz="864235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7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974090" indent="-140970" algn="l" defTabSz="864235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51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167130" indent="-120015" algn="l" defTabSz="864235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325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376170" indent="-215900" algn="l" defTabSz="864235" rtl="0" eaLnBrk="1" latinLnBrk="0" hangingPunct="1">
        <a:lnSpc>
          <a:spcPct val="90000"/>
        </a:lnSpc>
        <a:spcBef>
          <a:spcPct val="95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808605" indent="-215900" algn="l" defTabSz="864235" rtl="0" eaLnBrk="1" latinLnBrk="0" hangingPunct="1">
        <a:lnSpc>
          <a:spcPct val="90000"/>
        </a:lnSpc>
        <a:spcBef>
          <a:spcPct val="95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3240405" indent="-215900" algn="l" defTabSz="864235" rtl="0" eaLnBrk="1" latinLnBrk="0" hangingPunct="1">
        <a:lnSpc>
          <a:spcPct val="90000"/>
        </a:lnSpc>
        <a:spcBef>
          <a:spcPct val="95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672840" indent="-215900" algn="l" defTabSz="864235" rtl="0" eaLnBrk="1" latinLnBrk="0" hangingPunct="1">
        <a:lnSpc>
          <a:spcPct val="90000"/>
        </a:lnSpc>
        <a:spcBef>
          <a:spcPct val="95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43180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864235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296035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72847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16027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592705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3024505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45694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6.png"/><Relationship Id="rId4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1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Relationship Id="rId4" Type="http://schemas.openxmlformats.org/officeDocument/2006/relationships/image" Target="../media/image24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3.png"/><Relationship Id="rId4" Type="http://schemas.openxmlformats.org/officeDocument/2006/relationships/image" Target="../media/image24.png"/><Relationship Id="rId5" Type="http://schemas.openxmlformats.org/officeDocument/2006/relationships/image" Target="../media/image28.png"/><Relationship Id="rId6" Type="http://schemas.openxmlformats.org/officeDocument/2006/relationships/image" Target="../media/image20.png"/><Relationship Id="rId7" Type="http://schemas.openxmlformats.org/officeDocument/2006/relationships/image" Target="../media/image6.png"/><Relationship Id="rId8" Type="http://schemas.openxmlformats.org/officeDocument/2006/relationships/image" Target="../media/image12.png"/><Relationship Id="rId9" Type="http://schemas.openxmlformats.org/officeDocument/2006/relationships/image" Target="../media/image3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6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2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1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8.png"/><Relationship Id="rId4" Type="http://schemas.openxmlformats.org/officeDocument/2006/relationships/image" Target="../media/image25.png"/><Relationship Id="rId5" Type="http://schemas.openxmlformats.org/officeDocument/2006/relationships/image" Target="../media/image4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28.png"/><Relationship Id="rId4" Type="http://schemas.openxmlformats.org/officeDocument/2006/relationships/image" Target="../media/image25.png"/><Relationship Id="rId5" Type="http://schemas.openxmlformats.org/officeDocument/2006/relationships/image" Target="../media/image6.png"/><Relationship Id="rId6" Type="http://schemas.openxmlformats.org/officeDocument/2006/relationships/image" Target="../media/image41.png"/><Relationship Id="rId7" Type="http://schemas.openxmlformats.org/officeDocument/2006/relationships/image" Target="../media/image21.png"/><Relationship Id="rId8" Type="http://schemas.openxmlformats.org/officeDocument/2006/relationships/image" Target="../media/image34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3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14.png"/><Relationship Id="rId4" Type="http://schemas.openxmlformats.org/officeDocument/2006/relationships/image" Target="../media/image27.png"/><Relationship Id="rId5" Type="http://schemas.openxmlformats.org/officeDocument/2006/relationships/image" Target="../media/image9.png"/><Relationship Id="rId6" Type="http://schemas.openxmlformats.org/officeDocument/2006/relationships/image" Target="../media/image15.png"/><Relationship Id="rId7" Type="http://schemas.openxmlformats.org/officeDocument/2006/relationships/image" Target="../media/image10.png"/><Relationship Id="rId8" Type="http://schemas.openxmlformats.org/officeDocument/2006/relationships/image" Target="../media/image4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2651760"/>
            <a:ext cx="5852160" cy="1737360"/>
          </a:xfrm>
        </p:spPr>
        <p:txBody>
          <a:bodyPr wrap="square" lIns="0" tIns="0" rIns="0" bIns="0" anchor="ctr"/>
          <a:lstStyle/>
          <a:p>
            <a:pPr algn="l"/>
            <a:r>
              <a:rPr sz="3400" b="1">
                <a:solidFill>
                  <a:srgbClr val="2B2F42"/>
                </a:solidFill>
              </a:rPr>
              <a:t>建设 AI + 大数据平台</a:t>
            </a:r>
          </a:p>
          <a:p>
            <a:pPr algn="l"/>
            <a:r>
              <a:rPr sz="3400" b="1">
                <a:solidFill>
                  <a:srgbClr val="2B2F42"/>
                </a:solidFill>
              </a:rPr>
              <a:t>赋能企业，赋能行业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7" sz="quarter"/>
          </p:nvPr>
        </p:nvSpPr>
        <p:spPr>
          <a:xfrm>
            <a:off x="795528" y="5074920"/>
            <a:ext cx="5120640" cy="576072"/>
          </a:xfrm>
        </p:spPr>
        <p:txBody>
          <a:bodyPr wrap="square" tIns="0" bIns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以治理为基 · 平台为载体 · AI 与数据服务放大价值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585216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776CFD"/>
                </a:solidFill>
              </a:rPr>
              <a:t>票付通数据与 AI 能力建设规划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6035040"/>
            <a:ext cx="786384" cy="38404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655BE6"/>
                </a:solidFill>
              </a:rPr>
              <a:t>有什么</a:t>
            </a:r>
          </a:p>
        </p:txBody>
      </p:sp>
      <p:sp>
        <p:nvSpPr>
          <p:cNvPr id="6" name="Right Arrow 5"/>
          <p:cNvSpPr/>
          <p:nvPr/>
        </p:nvSpPr>
        <p:spPr>
          <a:xfrm>
            <a:off x="1655064" y="6135624"/>
            <a:ext cx="201168" cy="182880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1952" y="6035040"/>
            <a:ext cx="786384" cy="38404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655BE6"/>
                </a:solidFill>
              </a:rPr>
              <a:t>缺什么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734056" y="6135624"/>
            <a:ext cx="201168" cy="182880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80944" y="6035040"/>
            <a:ext cx="938784" cy="38404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655BE6"/>
                </a:solidFill>
              </a:rPr>
              <a:t>要建什么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965447" y="6135624"/>
            <a:ext cx="201168" cy="182880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12336" y="6035040"/>
            <a:ext cx="938784" cy="38404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655BE6"/>
                </a:solidFill>
              </a:rPr>
              <a:t>要怎么建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196839" y="6135624"/>
            <a:ext cx="201168" cy="182880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43728" y="6035040"/>
            <a:ext cx="1091184" cy="38404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655BE6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tIns="0" rIns="0" bIns="0" anchor="ctr"/>
          <a:lstStyle/>
          <a:p>
            <a:pPr algn="l"/>
            <a:r>
              <a:rPr sz="3600" b="1">
                <a:solidFill>
                  <a:srgbClr val="776CFD"/>
                </a:solidFill>
              </a:rPr>
              <a:t>目 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9576" y="4983480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5E6478"/>
                </a:solidFill>
              </a:rPr>
              <a:t>五步讲清</a:t>
            </a:r>
          </a:p>
          <a:p>
            <a:pPr algn="l"/>
            <a:r>
              <a:rPr sz="1300" b="0">
                <a:solidFill>
                  <a:srgbClr val="5E6478"/>
                </a:solidFill>
              </a:rPr>
              <a:t>AI + 大数据平台怎么建</a:t>
            </a:r>
          </a:p>
        </p:txBody>
      </p:sp>
      <p:sp>
        <p:nvSpPr>
          <p:cNvPr id="4" name="Oval 3"/>
          <p:cNvSpPr/>
          <p:nvPr/>
        </p:nvSpPr>
        <p:spPr>
          <a:xfrm>
            <a:off x="5486400" y="1600200"/>
            <a:ext cx="658368" cy="65836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0" y="1600200"/>
            <a:ext cx="658368" cy="65836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618488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000" b="1">
                <a:solidFill>
                  <a:srgbClr val="2B2F42"/>
                </a:solidFill>
              </a:rPr>
              <a:t>有什么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984248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5E6478"/>
                </a:solidFill>
              </a:rPr>
              <a:t>数据家底与已有能力</a:t>
            </a:r>
          </a:p>
        </p:txBody>
      </p:sp>
      <p:sp>
        <p:nvSpPr>
          <p:cNvPr id="8" name="Oval 7"/>
          <p:cNvSpPr/>
          <p:nvPr/>
        </p:nvSpPr>
        <p:spPr>
          <a:xfrm>
            <a:off x="5989320" y="2715768"/>
            <a:ext cx="658368" cy="65836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989320" y="2715768"/>
            <a:ext cx="658368" cy="65836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734056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000" b="1">
                <a:solidFill>
                  <a:srgbClr val="2B2F42"/>
                </a:solidFill>
              </a:rPr>
              <a:t>缺什么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3099815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5E6478"/>
                </a:solidFill>
              </a:rPr>
              <a:t>问题、根因与能力缺口</a:t>
            </a:r>
          </a:p>
        </p:txBody>
      </p:sp>
      <p:sp>
        <p:nvSpPr>
          <p:cNvPr id="12" name="Oval 11"/>
          <p:cNvSpPr/>
          <p:nvPr/>
        </p:nvSpPr>
        <p:spPr>
          <a:xfrm>
            <a:off x="6172200" y="3831335"/>
            <a:ext cx="658368" cy="65836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72200" y="3831335"/>
            <a:ext cx="658368" cy="65836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3849623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000" b="1">
                <a:solidFill>
                  <a:srgbClr val="2B2F42"/>
                </a:solidFill>
              </a:rPr>
              <a:t>要建什么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4215383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5E6478"/>
                </a:solidFill>
              </a:rPr>
              <a:t>一个平台，赋能企业与行业</a:t>
            </a:r>
          </a:p>
        </p:txBody>
      </p:sp>
      <p:sp>
        <p:nvSpPr>
          <p:cNvPr id="16" name="Oval 15"/>
          <p:cNvSpPr/>
          <p:nvPr/>
        </p:nvSpPr>
        <p:spPr>
          <a:xfrm>
            <a:off x="5989320" y="4946904"/>
            <a:ext cx="658368" cy="65836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89320" y="4946904"/>
            <a:ext cx="658368" cy="65836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4965192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000" b="1">
                <a:solidFill>
                  <a:srgbClr val="2B2F42"/>
                </a:solidFill>
              </a:rPr>
              <a:t>要怎么建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5330952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5E6478"/>
                </a:solidFill>
              </a:rPr>
              <a:t>治理先行，按成熟度推进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0" y="6062472"/>
            <a:ext cx="658368" cy="65836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486400" y="6062472"/>
            <a:ext cx="658368" cy="65836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6080759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000" b="1">
                <a:solidFill>
                  <a:srgbClr val="2B2F42"/>
                </a:solidFill>
              </a:rPr>
              <a:t>价值是什么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6446520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5E6478"/>
                </a:solidFill>
              </a:rPr>
              <a:t>赋能企业，赋能行业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整体思路：五步讲清 AI + 大数据平台怎么建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价值是什么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要怎么建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有什么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总览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377440"/>
            <a:ext cx="1777593" cy="3246120"/>
          </a:xfrm>
          <a:prstGeom prst="roundRect">
            <a:avLst>
              <a:gd name="adj" fmla="val 5144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2578608"/>
            <a:ext cx="603504" cy="60350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atabas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2729484"/>
            <a:ext cx="301752" cy="301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27048" y="2697480"/>
            <a:ext cx="86319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776CFD"/>
                </a:solidFill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3383280"/>
            <a:ext cx="1503273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800" b="1">
                <a:solidFill>
                  <a:srgbClr val="2B2F42"/>
                </a:solidFill>
              </a:rPr>
              <a:t>有什么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" y="3931920"/>
            <a:ext cx="1503273" cy="1554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E6478"/>
                </a:solidFill>
              </a:rPr>
              <a:t>十四个数据域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200" b="0">
                <a:solidFill>
                  <a:srgbClr val="5E6478"/>
                </a:solidFill>
              </a:rPr>
              <a:t>离线主流程已贯通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200" b="0">
                <a:solidFill>
                  <a:srgbClr val="5E6478"/>
                </a:solidFill>
              </a:rPr>
              <a:t>DataWorks · API · Quick BI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490825" y="3886200"/>
            <a:ext cx="219456" cy="219456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65145" y="2377440"/>
            <a:ext cx="1777593" cy="3246120"/>
          </a:xfrm>
          <a:prstGeom prst="roundRect">
            <a:avLst>
              <a:gd name="adj" fmla="val 5144"/>
            </a:avLst>
          </a:prstGeom>
          <a:solidFill>
            <a:srgbClr val="FDEEE2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948025" y="2578608"/>
            <a:ext cx="603504" cy="603504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warning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8901" y="2729484"/>
            <a:ext cx="301752" cy="30175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633825" y="2697480"/>
            <a:ext cx="86319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B4551A"/>
                </a:solidFill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48025" y="3383280"/>
            <a:ext cx="1503273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800" b="1">
                <a:solidFill>
                  <a:srgbClr val="2B2F42"/>
                </a:solidFill>
              </a:rPr>
              <a:t>缺什么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48025" y="3931920"/>
            <a:ext cx="1503273" cy="1554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E6478"/>
                </a:solidFill>
              </a:rPr>
              <a:t>质量校验、统一口径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200" b="0">
                <a:solidFill>
                  <a:srgbClr val="5E6478"/>
                </a:solidFill>
              </a:rPr>
              <a:t>规范、实时、标签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200" b="0">
                <a:solidFill>
                  <a:srgbClr val="5E6478"/>
                </a:solidFill>
              </a:rPr>
              <a:t>AI 共用能力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4597603" y="3886200"/>
            <a:ext cx="219456" cy="219456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871923" y="2377440"/>
            <a:ext cx="1777593" cy="3246120"/>
          </a:xfrm>
          <a:prstGeom prst="roundRect">
            <a:avLst>
              <a:gd name="adj" fmla="val 5144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054803" y="2578608"/>
            <a:ext cx="603504" cy="60350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wrench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05679" y="2729484"/>
            <a:ext cx="301752" cy="30175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740603" y="2697480"/>
            <a:ext cx="86319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776CFD"/>
                </a:solidFill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54803" y="3383280"/>
            <a:ext cx="1503273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800" b="1">
                <a:solidFill>
                  <a:srgbClr val="2B2F42"/>
                </a:solidFill>
              </a:rPr>
              <a:t>要建什么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54803" y="3931920"/>
            <a:ext cx="1503273" cy="1554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E6478"/>
                </a:solidFill>
              </a:rPr>
              <a:t>治理中枢、统一底座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200" b="0">
                <a:solidFill>
                  <a:srgbClr val="5E6478"/>
                </a:solidFill>
              </a:rPr>
              <a:t>数据服务、AI 平台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200" b="0">
                <a:solidFill>
                  <a:srgbClr val="5E6478"/>
                </a:solidFill>
              </a:rPr>
              <a:t>业务闭环与对外产品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6704380" y="3886200"/>
            <a:ext cx="219456" cy="219456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978700" y="2377440"/>
            <a:ext cx="1777593" cy="3246120"/>
          </a:xfrm>
          <a:prstGeom prst="roundRect">
            <a:avLst>
              <a:gd name="adj" fmla="val 5144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161580" y="2578608"/>
            <a:ext cx="603504" cy="60350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gear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2456" y="2729484"/>
            <a:ext cx="301752" cy="30175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847380" y="2697480"/>
            <a:ext cx="86319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776CFD"/>
                </a:solidFill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61580" y="3383280"/>
            <a:ext cx="1503273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800" b="1">
                <a:solidFill>
                  <a:srgbClr val="2B2F42"/>
                </a:solidFill>
              </a:rPr>
              <a:t>要怎么建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1580" y="3931920"/>
            <a:ext cx="1503273" cy="1554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E6478"/>
                </a:solidFill>
              </a:rPr>
              <a:t>治理先行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200" b="0">
                <a:solidFill>
                  <a:srgbClr val="5E6478"/>
                </a:solidFill>
              </a:rPr>
              <a:t>先核心 · 先内部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200" b="0">
                <a:solidFill>
                  <a:srgbClr val="5E6478"/>
                </a:solidFill>
              </a:rPr>
              <a:t>先试点再推广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8811158" y="3886200"/>
            <a:ext cx="219456" cy="219456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085478" y="2377440"/>
            <a:ext cx="1777593" cy="3246120"/>
          </a:xfrm>
          <a:prstGeom prst="roundRect">
            <a:avLst>
              <a:gd name="adj" fmla="val 5144"/>
            </a:avLst>
          </a:prstGeom>
          <a:solidFill>
            <a:srgbClr val="FDEEE2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268358" y="2578608"/>
            <a:ext cx="603504" cy="603504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tar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19234" y="2729484"/>
            <a:ext cx="301752" cy="30175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954158" y="2697480"/>
            <a:ext cx="86319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B4551A"/>
                </a:solidFill>
              </a:rPr>
              <a:t>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68358" y="3383280"/>
            <a:ext cx="1503273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800" b="1">
                <a:solidFill>
                  <a:srgbClr val="2B2F42"/>
                </a:solidFill>
              </a:rPr>
              <a:t>价值是什么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68358" y="3931920"/>
            <a:ext cx="1503273" cy="1554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E6478"/>
                </a:solidFill>
              </a:rPr>
              <a:t>赋能企业：降本增效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200" b="0">
                <a:solidFill>
                  <a:srgbClr val="5E6478"/>
                </a:solidFill>
              </a:rPr>
              <a:t>赋能客户：续约收入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200" b="0">
                <a:solidFill>
                  <a:srgbClr val="5E6478"/>
                </a:solidFill>
              </a:rPr>
              <a:t>赋能行业：标准洞察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943600"/>
            <a:ext cx="10204704" cy="640080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bol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9536" y="6126480"/>
            <a:ext cx="274320" cy="27432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252728" y="5943600"/>
            <a:ext cx="9427464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FFFFFF"/>
                </a:solidFill>
              </a:rPr>
              <a:t>核心　</a:t>
            </a:r>
            <a:r>
              <a:rPr sz="1600" b="0">
                <a:solidFill>
                  <a:srgbClr val="FFFFFF"/>
                </a:solidFill>
              </a:rPr>
              <a:t>建设 AI + 大数据平台，赋能企业、赋能行业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63440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有什么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800" b="0">
                <a:solidFill>
                  <a:srgbClr val="EEEDFF"/>
                </a:solidFill>
              </a:rPr>
              <a:t>数据家底与已有能力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本部分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数据资产全景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离线主流程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已有平台与产品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有什么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459736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06624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缺什么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507992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4879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556248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03136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要怎么建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604504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851392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数据资产全景：一条主链，八类支撑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价值是什么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要怎么建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有什么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01 有什么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286000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主链六域 · 核心资产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51760"/>
            <a:ext cx="1411224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</a:rPr>
              <a:t>主体与组织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00" b="0">
                <a:solidFill>
                  <a:srgbClr val="FFFFFF"/>
                </a:solidFill>
              </a:rPr>
              <a:t>租户 · 景区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133599" y="3008376"/>
            <a:ext cx="219456" cy="201168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417064" y="2651760"/>
            <a:ext cx="1411224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</a:rPr>
              <a:t>资源与商品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00" b="0">
                <a:solidFill>
                  <a:srgbClr val="FFFFFF"/>
                </a:solidFill>
              </a:rPr>
              <a:t>票种 · 库存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892296" y="3008376"/>
            <a:ext cx="219456" cy="201168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75760" y="2651760"/>
            <a:ext cx="1411224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</a:rPr>
              <a:t>渠道与供销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00" b="0">
                <a:solidFill>
                  <a:srgbClr val="FFFFFF"/>
                </a:solidFill>
              </a:rPr>
              <a:t>OTA · 佣金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650992" y="3008376"/>
            <a:ext cx="219456" cy="201168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34455" y="2651760"/>
            <a:ext cx="1411224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</a:rPr>
              <a:t>订单交易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00" b="0">
                <a:solidFill>
                  <a:srgbClr val="FFFFFF"/>
                </a:solidFill>
              </a:rPr>
              <a:t>支付 · 退改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409688" y="3008376"/>
            <a:ext cx="219456" cy="201168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93152" y="2651760"/>
            <a:ext cx="1411224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</a:rPr>
              <a:t>预约与核销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00" b="0">
                <a:solidFill>
                  <a:srgbClr val="FFFFFF"/>
                </a:solidFill>
              </a:rPr>
              <a:t>票券 · 闸机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168384" y="3008376"/>
            <a:ext cx="219456" cy="201168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451848" y="2651760"/>
            <a:ext cx="1411224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</a:rPr>
              <a:t>结算与财务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00" b="0">
                <a:solidFill>
                  <a:srgbClr val="FFFFFF"/>
                </a:solidFill>
              </a:rPr>
              <a:t>清分 · 对账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794760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八类支撑数据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16052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营销与增长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活动 · 券 · 投放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50692" y="416052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游客与会员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OneID · 会员 · 标签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43016" y="416052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多业态消费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酒店 · 餐饮 · 停车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35340" y="416052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现场设备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闸机 · 网关 · 终端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02920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SaaS 客户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订阅 · 使用 · 工单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50692" y="502920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平台运行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日志 · 性能 · 成本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843016" y="502920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外部与公共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天气 · LBS · 舆情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35340" y="502920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知识与 AI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文档 · 问答 · 评测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603504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bulb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181344"/>
            <a:ext cx="274320" cy="2743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252728" y="603504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难点　</a:t>
            </a:r>
            <a:r>
              <a:rPr sz="1300" b="0">
                <a:solidFill>
                  <a:srgbClr val="FFFFFF"/>
                </a:solidFill>
              </a:rPr>
              <a:t>数据量不是难点，难点在节假日高峰、订单状态变更、离线补传、多租户隔离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离线主流程已贯通，骨架已搭好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价值是什么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要怎么建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有什么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01 有什么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74320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776CFD"/>
                </a:solidFill>
              </a:rPr>
              <a:t>业务主线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0" y="2331720"/>
            <a:ext cx="137160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供应商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2788920"/>
            <a:ext cx="137160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游客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0" y="3246120"/>
            <a:ext cx="137160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会员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520440" y="2862072"/>
            <a:ext cx="320040" cy="23774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977639" y="2514600"/>
            <a:ext cx="1737360" cy="822960"/>
          </a:xfrm>
          <a:prstGeom prst="roundRect">
            <a:avLst>
              <a:gd name="adj" fmla="val 1111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订单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852160" y="2862072"/>
            <a:ext cx="320040" cy="23774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09360" y="2514600"/>
            <a:ext cx="1737360" cy="822960"/>
          </a:xfrm>
          <a:prstGeom prst="roundRect">
            <a:avLst>
              <a:gd name="adj" fmla="val 1111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维度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931920"/>
            <a:ext cx="128016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776CFD"/>
                </a:solidFill>
              </a:rPr>
              <a:t>数据分层</a:t>
            </a:r>
          </a:p>
          <a:p>
            <a:pPr algn="l"/>
            <a:r>
              <a:rPr sz="1400" b="1">
                <a:solidFill>
                  <a:srgbClr val="776CFD"/>
                </a:solidFill>
              </a:rPr>
              <a:t>全链路贯通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11680" y="3840480"/>
            <a:ext cx="1463040" cy="868680"/>
          </a:xfrm>
          <a:prstGeom prst="roundRect">
            <a:avLst>
              <a:gd name="adj" fmla="val 10526"/>
            </a:avLst>
          </a:prstGeom>
          <a:gradFill rotWithShape="1">
            <a:gsLst>
              <a:gs pos="0">
                <a:srgbClr val="655BE6"/>
              </a:gs>
              <a:gs pos="100000">
                <a:srgbClr val="776CF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ODS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贴源层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547872" y="4169663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858768" y="3840480"/>
            <a:ext cx="1463040" cy="868680"/>
          </a:xfrm>
          <a:prstGeom prst="roundRect">
            <a:avLst>
              <a:gd name="adj" fmla="val 10526"/>
            </a:avLst>
          </a:prstGeom>
          <a:gradFill rotWithShape="1">
            <a:gsLst>
              <a:gs pos="0">
                <a:srgbClr val="655BE6"/>
              </a:gs>
              <a:gs pos="100000">
                <a:srgbClr val="776CF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DWD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明细层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394960" y="4169663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705856" y="3840480"/>
            <a:ext cx="1463040" cy="868680"/>
          </a:xfrm>
          <a:prstGeom prst="roundRect">
            <a:avLst>
              <a:gd name="adj" fmla="val 10526"/>
            </a:avLst>
          </a:prstGeom>
          <a:gradFill rotWithShape="1">
            <a:gsLst>
              <a:gs pos="0">
                <a:srgbClr val="655BE6"/>
              </a:gs>
              <a:gs pos="100000">
                <a:srgbClr val="776CF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DIM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维度层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242048" y="4169663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552944" y="3840480"/>
            <a:ext cx="1463040" cy="868680"/>
          </a:xfrm>
          <a:prstGeom prst="roundRect">
            <a:avLst>
              <a:gd name="adj" fmla="val 10526"/>
            </a:avLst>
          </a:prstGeom>
          <a:gradFill rotWithShape="1">
            <a:gsLst>
              <a:gs pos="0">
                <a:srgbClr val="655BE6"/>
              </a:gs>
              <a:gs pos="100000">
                <a:srgbClr val="776CF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DWS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汇总层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089136" y="4169663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00032" y="3840480"/>
            <a:ext cx="1463040" cy="868680"/>
          </a:xfrm>
          <a:prstGeom prst="roundRect">
            <a:avLst>
              <a:gd name="adj" fmla="val 10526"/>
            </a:avLst>
          </a:prstGeom>
          <a:gradFill rotWithShape="1">
            <a:gsLst>
              <a:gs pos="0">
                <a:srgbClr val="655BE6"/>
              </a:gs>
              <a:gs pos="100000">
                <a:srgbClr val="776CF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ADS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应用层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25780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B4551A"/>
                </a:solidFill>
              </a:rPr>
              <a:t>下一步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011680" y="5029200"/>
            <a:ext cx="2075688" cy="868680"/>
          </a:xfrm>
          <a:prstGeom prst="roundRect">
            <a:avLst>
              <a:gd name="adj" fmla="val 10526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补维度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核销、渠道、结算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70248" y="5029200"/>
            <a:ext cx="2075688" cy="868680"/>
          </a:xfrm>
          <a:prstGeom prst="roundRect">
            <a:avLst>
              <a:gd name="adj" fmla="val 10526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补质量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规则与逐层核对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28816" y="5029200"/>
            <a:ext cx="2075688" cy="868680"/>
          </a:xfrm>
          <a:prstGeom prst="roundRect">
            <a:avLst>
              <a:gd name="adj" fmla="val 10526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补实时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订单、核销先行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87384" y="5029200"/>
            <a:ext cx="2075688" cy="868680"/>
          </a:xfrm>
          <a:prstGeom prst="roundRect">
            <a:avLst>
              <a:gd name="adj" fmla="val 10526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补标签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统一标签体系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6217920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che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332220"/>
            <a:ext cx="274320" cy="27432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52728" y="6217920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655BE6"/>
                </a:solidFill>
              </a:rPr>
              <a:t>结论　</a:t>
            </a:r>
            <a:r>
              <a:rPr sz="1300" b="0">
                <a:solidFill>
                  <a:srgbClr val="2B2F42"/>
                </a:solidFill>
              </a:rPr>
              <a:t>主流程骨架已搭好，下一步补维度、补质量、补实时、补标签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已有能力：开发、服务、消费三个环节都有工具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价值是什么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要怎么建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有什么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01 有什么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377440"/>
            <a:ext cx="2208276" cy="1325880"/>
          </a:xfrm>
          <a:prstGeom prst="roundRect">
            <a:avLst>
              <a:gd name="adj" fmla="val 6896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</a:rPr>
              <a:t>DataWorks</a:t>
            </a:r>
          </a:p>
          <a:p>
            <a:pPr algn="ctr">
              <a:spcBef>
                <a:spcPts val="400"/>
              </a:spcBef>
            </a:pPr>
            <a:r>
              <a:rPr sz="1200" b="0">
                <a:solidFill>
                  <a:srgbClr val="FFFFFF"/>
                </a:solidFill>
              </a:rPr>
              <a:t>开发与调度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958084" y="2926080"/>
            <a:ext cx="274320" cy="23774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23844" y="2377440"/>
            <a:ext cx="2208276" cy="1325880"/>
          </a:xfrm>
          <a:prstGeom prst="roundRect">
            <a:avLst>
              <a:gd name="adj" fmla="val 6896"/>
            </a:avLst>
          </a:prstGeom>
          <a:solidFill>
            <a:srgbClr val="FDEEE2"/>
          </a:solidFill>
          <a:ln w="1905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B4551A"/>
                </a:solidFill>
              </a:rPr>
              <a:t>治理与指标</a:t>
            </a:r>
          </a:p>
          <a:p>
            <a:pPr algn="ctr">
              <a:spcBef>
                <a:spcPts val="400"/>
              </a:spcBef>
            </a:pPr>
            <a:r>
              <a:rPr sz="1200" b="0">
                <a:solidFill>
                  <a:srgbClr val="B4551A"/>
                </a:solidFill>
              </a:rPr>
              <a:t>待补齐的中枢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623559" y="2926080"/>
            <a:ext cx="274320" cy="23774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89320" y="2377440"/>
            <a:ext cx="2208276" cy="1325880"/>
          </a:xfrm>
          <a:prstGeom prst="roundRect">
            <a:avLst>
              <a:gd name="adj" fmla="val 6896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</a:rPr>
              <a:t>动态数据开放 API</a:t>
            </a:r>
          </a:p>
          <a:p>
            <a:pPr algn="ctr">
              <a:spcBef>
                <a:spcPts val="400"/>
              </a:spcBef>
            </a:pPr>
            <a:r>
              <a:rPr sz="1200" b="0">
                <a:solidFill>
                  <a:srgbClr val="FFFFFF"/>
                </a:solidFill>
              </a:rPr>
              <a:t>指标对内对外服务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289036" y="2926080"/>
            <a:ext cx="274320" cy="23774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54796" y="2377440"/>
            <a:ext cx="2208276" cy="1325880"/>
          </a:xfrm>
          <a:prstGeom prst="roundRect">
            <a:avLst>
              <a:gd name="adj" fmla="val 6896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</a:rPr>
              <a:t>Quick BI</a:t>
            </a:r>
          </a:p>
          <a:p>
            <a:pPr algn="ctr">
              <a:spcBef>
                <a:spcPts val="400"/>
              </a:spcBef>
            </a:pPr>
            <a:r>
              <a:rPr sz="1200" b="0">
                <a:solidFill>
                  <a:srgbClr val="FFFFFF"/>
                </a:solidFill>
              </a:rPr>
              <a:t>分析与展示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767328"/>
            <a:ext cx="220827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1">
                <a:solidFill>
                  <a:srgbClr val="776CFD"/>
                </a:solidFill>
              </a:rPr>
              <a:t>开发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23844" y="3767328"/>
            <a:ext cx="220827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1">
                <a:solidFill>
                  <a:srgbClr val="B4551A"/>
                </a:solidFill>
              </a:rPr>
              <a:t>缺口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3767328"/>
            <a:ext cx="220827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1">
                <a:solidFill>
                  <a:srgbClr val="776CFD"/>
                </a:solidFill>
              </a:rPr>
              <a:t>服务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54796" y="3767328"/>
            <a:ext cx="220827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1">
                <a:solidFill>
                  <a:srgbClr val="776CFD"/>
                </a:solidFill>
              </a:rPr>
              <a:t>消费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297680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已有 AI 与现场产品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663440"/>
            <a:ext cx="3249168" cy="868680"/>
          </a:xfrm>
          <a:prstGeom prst="roundRect">
            <a:avLst>
              <a:gd name="adj" fmla="val 1052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1247" y="4800600"/>
            <a:ext cx="594360" cy="59436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bulb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838" y="4949190"/>
            <a:ext cx="297180" cy="2971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18488" y="4773168"/>
            <a:ext cx="2151888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B2F42"/>
                </a:solidFill>
              </a:rPr>
              <a:t>AI 智慧大脑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18488" y="5120640"/>
            <a:ext cx="2151888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经营问数与决策辅助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36136" y="4663440"/>
            <a:ext cx="3249168" cy="868680"/>
          </a:xfrm>
          <a:prstGeom prst="roundRect">
            <a:avLst>
              <a:gd name="adj" fmla="val 1052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319016" y="4800600"/>
            <a:ext cx="594360" cy="59436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us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7606" y="4949190"/>
            <a:ext cx="297180" cy="2971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096256" y="4773168"/>
            <a:ext cx="2151888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B2F42"/>
                </a:solidFill>
              </a:rPr>
              <a:t>畅游AI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96256" y="5120640"/>
            <a:ext cx="2151888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AI 客服、AI 伴游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13904" y="4663440"/>
            <a:ext cx="3249168" cy="868680"/>
          </a:xfrm>
          <a:prstGeom prst="roundRect">
            <a:avLst>
              <a:gd name="adj" fmla="val 1052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796783" y="4800600"/>
            <a:ext cx="594360" cy="59436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clou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5373" y="4949190"/>
            <a:ext cx="297180" cy="29718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574024" y="4773168"/>
            <a:ext cx="2151888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B2F42"/>
                </a:solidFill>
              </a:rPr>
              <a:t>边云网关 BYGS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74024" y="5120640"/>
            <a:ext cx="2151888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离线核销与边缘处理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9788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bulb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044184"/>
            <a:ext cx="274320" cy="27432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252728" y="589788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结论　</a:t>
            </a:r>
            <a:r>
              <a:rPr sz="1300" b="0">
                <a:solidFill>
                  <a:srgbClr val="FFFFFF"/>
                </a:solidFill>
              </a:rPr>
              <a:t>工具都在，缺的是中间的治理与指标体系，以及贯穿各层的 AI 能力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63440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缺什么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800" b="0">
                <a:solidFill>
                  <a:srgbClr val="EEEDFF"/>
                </a:solidFill>
              </a:rPr>
              <a:t>问题、根因与能力缺口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本部分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五类问题与根因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关键数字为什么不准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能力缺口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有什么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459736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06624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缺什么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507992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4879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556248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03136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要怎么建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604504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851392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五类问题，同一个根因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011680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5E6478"/>
                </a:solidFill>
              </a:rPr>
              <a:t>单点修补会反复出现，必须体系化建设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价值是什么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要怎么建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缺什么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有什么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02 缺什么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60320"/>
            <a:ext cx="3931920" cy="585216"/>
          </a:xfrm>
          <a:prstGeom prst="roundRect">
            <a:avLst>
              <a:gd name="adj" fmla="val 1562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/>
            <a:r>
              <a:rPr sz="1500" b="1">
                <a:solidFill>
                  <a:srgbClr val="776CFD"/>
                </a:solidFill>
              </a:rPr>
              <a:t>01　</a:t>
            </a:r>
            <a:r>
              <a:rPr sz="1500" b="0">
                <a:solidFill>
                  <a:srgbClr val="2B2F42"/>
                </a:solidFill>
              </a:rPr>
              <a:t>数据分散，孤岛严重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383279"/>
            <a:ext cx="3931920" cy="585216"/>
          </a:xfrm>
          <a:prstGeom prst="roundRect">
            <a:avLst>
              <a:gd name="adj" fmla="val 1562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/>
            <a:r>
              <a:rPr sz="1500" b="1">
                <a:solidFill>
                  <a:srgbClr val="776CFD"/>
                </a:solidFill>
              </a:rPr>
              <a:t>02　</a:t>
            </a:r>
            <a:r>
              <a:rPr sz="1500" b="0">
                <a:solidFill>
                  <a:srgbClr val="2B2F42"/>
                </a:solidFill>
              </a:rPr>
              <a:t>同一指标，口径不同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206240"/>
            <a:ext cx="3931920" cy="585216"/>
          </a:xfrm>
          <a:prstGeom prst="roundRect">
            <a:avLst>
              <a:gd name="adj" fmla="val 1562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/>
            <a:r>
              <a:rPr sz="1500" b="1">
                <a:solidFill>
                  <a:srgbClr val="776CFD"/>
                </a:solidFill>
              </a:rPr>
              <a:t>03　</a:t>
            </a:r>
            <a:r>
              <a:rPr sz="1500" b="0">
                <a:solidFill>
                  <a:srgbClr val="2B2F42"/>
                </a:solidFill>
              </a:rPr>
              <a:t>表、字段、DDL 不规范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5029200"/>
            <a:ext cx="3931920" cy="585216"/>
          </a:xfrm>
          <a:prstGeom prst="roundRect">
            <a:avLst>
              <a:gd name="adj" fmla="val 1562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/>
            <a:r>
              <a:rPr sz="1500" b="1">
                <a:solidFill>
                  <a:srgbClr val="776CFD"/>
                </a:solidFill>
              </a:rPr>
              <a:t>04　</a:t>
            </a:r>
            <a:r>
              <a:rPr sz="1500" b="0">
                <a:solidFill>
                  <a:srgbClr val="2B2F42"/>
                </a:solidFill>
              </a:rPr>
              <a:t>离线与湖仓模型重复开发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852160"/>
            <a:ext cx="3931920" cy="585216"/>
          </a:xfrm>
          <a:prstGeom prst="roundRect">
            <a:avLst>
              <a:gd name="adj" fmla="val 1562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/>
            <a:r>
              <a:rPr sz="1500" b="1">
                <a:solidFill>
                  <a:srgbClr val="776CFD"/>
                </a:solidFill>
              </a:rPr>
              <a:t>05　</a:t>
            </a:r>
            <a:r>
              <a:rPr sz="1500" b="0">
                <a:solidFill>
                  <a:srgbClr val="2B2F42"/>
                </a:solidFill>
              </a:rPr>
              <a:t>入园、核销数据不准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90288" y="2852927"/>
            <a:ext cx="484632" cy="0"/>
          </a:xfrm>
          <a:prstGeom prst="line">
            <a:avLst/>
          </a:prstGeom>
          <a:ln w="22225">
            <a:solidFill>
              <a:srgbClr val="C7C2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590288" y="3675887"/>
            <a:ext cx="484632" cy="0"/>
          </a:xfrm>
          <a:prstGeom prst="line">
            <a:avLst/>
          </a:prstGeom>
          <a:ln w="22225">
            <a:solidFill>
              <a:srgbClr val="C7C2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590288" y="4498848"/>
            <a:ext cx="484632" cy="0"/>
          </a:xfrm>
          <a:prstGeom prst="line">
            <a:avLst/>
          </a:prstGeom>
          <a:ln w="22225">
            <a:solidFill>
              <a:srgbClr val="C7C2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590288" y="5321808"/>
            <a:ext cx="484632" cy="0"/>
          </a:xfrm>
          <a:prstGeom prst="line">
            <a:avLst/>
          </a:prstGeom>
          <a:ln w="22225">
            <a:solidFill>
              <a:srgbClr val="C7C2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590288" y="6144768"/>
            <a:ext cx="484632" cy="0"/>
          </a:xfrm>
          <a:prstGeom prst="line">
            <a:avLst/>
          </a:prstGeom>
          <a:ln w="22225">
            <a:solidFill>
              <a:srgbClr val="C7C2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74920" y="2852927"/>
            <a:ext cx="0" cy="3291841"/>
          </a:xfrm>
          <a:prstGeom prst="line">
            <a:avLst/>
          </a:prstGeom>
          <a:ln w="22225">
            <a:solidFill>
              <a:srgbClr val="C7C2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74920" y="4498848"/>
            <a:ext cx="914400" cy="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166360" y="4087368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776CFD"/>
                </a:solidFill>
              </a:rPr>
              <a:t>同根同源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35040" y="3538728"/>
            <a:ext cx="4828032" cy="1920240"/>
          </a:xfrm>
          <a:prstGeom prst="roundRect">
            <a:avLst>
              <a:gd name="adj" fmla="val 476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91440" rIns="182880" bIns="91440"/>
          <a:lstStyle/>
          <a:p>
            <a:pPr algn="l"/>
            <a:r>
              <a:rPr sz="1300" b="1">
                <a:solidFill>
                  <a:srgbClr val="E4E2FF"/>
                </a:solidFill>
              </a:rPr>
              <a:t>根因</a:t>
            </a:r>
          </a:p>
          <a:p>
            <a:pPr algn="l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</a:rPr>
              <a:t>缺少统一的</a:t>
            </a:r>
          </a:p>
          <a:p>
            <a:pPr algn="l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</a:rPr>
              <a:t>标准、模型、口径和校验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关键数字为什么不准：以入园、核销为例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价值是什么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要怎么建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有什么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02 缺什么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377440"/>
            <a:ext cx="1737360" cy="310896"/>
          </a:xfrm>
          <a:prstGeom prst="roundRect">
            <a:avLst>
              <a:gd name="adj" fmla="val 2941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闸机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743200"/>
            <a:ext cx="1737360" cy="310896"/>
          </a:xfrm>
          <a:prstGeom prst="roundRect">
            <a:avLst>
              <a:gd name="adj" fmla="val 2941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边云网关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108960"/>
            <a:ext cx="1737360" cy="310896"/>
          </a:xfrm>
          <a:prstGeom prst="roundRect">
            <a:avLst>
              <a:gd name="adj" fmla="val 2941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手持终端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474720"/>
            <a:ext cx="1737360" cy="310896"/>
          </a:xfrm>
          <a:prstGeom prst="roundRect">
            <a:avLst>
              <a:gd name="adj" fmla="val 2941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OTA 回传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487168" y="2834640"/>
            <a:ext cx="320040" cy="23774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26080" y="2377440"/>
            <a:ext cx="2310384" cy="13716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587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B2F42"/>
                </a:solidFill>
              </a:rPr>
              <a:t>业务库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327904" y="2944368"/>
            <a:ext cx="320040" cy="23774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739384" y="2377440"/>
            <a:ext cx="2310384" cy="13716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587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B2F42"/>
                </a:solidFill>
              </a:rPr>
              <a:t>数仓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141208" y="2944368"/>
            <a:ext cx="320040" cy="23774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52688" y="2377440"/>
            <a:ext cx="2310384" cy="13716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587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B2F42"/>
                </a:solidFill>
              </a:rPr>
              <a:t>看板与报表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977639"/>
            <a:ext cx="1737360" cy="960120"/>
          </a:xfrm>
          <a:prstGeom prst="roundRect">
            <a:avLst>
              <a:gd name="adj" fmla="val 9523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warning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4114800"/>
            <a:ext cx="256032" cy="25603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61288" y="4087368"/>
            <a:ext cx="114300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离线补传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多头上报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26080" y="3977639"/>
            <a:ext cx="2310384" cy="960120"/>
          </a:xfrm>
          <a:prstGeom prst="roundRect">
            <a:avLst>
              <a:gd name="adj" fmla="val 9523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warning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4114800"/>
            <a:ext cx="256032" cy="25603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429000" y="4087368"/>
            <a:ext cx="1716024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重复上报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撤销、冲正未处理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39384" y="3977639"/>
            <a:ext cx="2310384" cy="960120"/>
          </a:xfrm>
          <a:prstGeom prst="roundRect">
            <a:avLst>
              <a:gd name="adj" fmla="val 9523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warning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544" y="4114800"/>
            <a:ext cx="256032" cy="25603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242304" y="4087368"/>
            <a:ext cx="1716024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发生与上报时间混用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口径混淆、ID 映射错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52688" y="3977639"/>
            <a:ext cx="2310384" cy="960120"/>
          </a:xfrm>
          <a:prstGeom prst="roundRect">
            <a:avLst>
              <a:gd name="adj" fmla="val 9523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warning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9848" y="4114800"/>
            <a:ext cx="256032" cy="25603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055608" y="4087368"/>
            <a:ext cx="1716024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没有逐层核对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景区个性规则未处理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5120640"/>
            <a:ext cx="10204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5E6478"/>
                </a:solidFill>
              </a:rPr>
              <a:t>以上为待逐项排查的方向，不预判为已确认根因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715000"/>
            <a:ext cx="10204704" cy="640080"/>
          </a:xfrm>
          <a:prstGeom prst="roundRect">
            <a:avLst>
              <a:gd name="adj" fmla="val 14285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bulb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5897880"/>
            <a:ext cx="274320" cy="27432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52728" y="5715000"/>
            <a:ext cx="9427464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FFE2C8"/>
                </a:solidFill>
              </a:rPr>
              <a:t>缺的是　</a:t>
            </a:r>
            <a:r>
              <a:rPr sz="1500" b="0">
                <a:solidFill>
                  <a:srgbClr val="FFFFFF"/>
                </a:solidFill>
              </a:rPr>
              <a:t>唯一事实源 + 逐层核对 + 统一口径，不是某一段 SQL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能力缺口：哪些已具备，哪些要补齐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011680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5E6478"/>
                </a:solidFill>
              </a:rPr>
              <a:t>已有投入全部保留，治理与 AI 能力叠加其上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价值是什么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要怎么建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缺什么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有什么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02 缺什么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11</a:t>
            </a:r>
          </a:p>
        </p:txBody>
      </p:sp>
      <p:pic>
        <p:nvPicPr>
          <p:cNvPr id="11" name="Picture 10" descr="che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542032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69848" y="2523744"/>
            <a:ext cx="273100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776CFD"/>
                </a:solidFill>
              </a:rPr>
              <a:t>已具备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063240"/>
            <a:ext cx="3188208" cy="4572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1">
                <a:solidFill>
                  <a:srgbClr val="FFFFFF"/>
                </a:solidFill>
              </a:rPr>
              <a:t>离线主流程模型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630168"/>
            <a:ext cx="3188208" cy="4572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1">
                <a:solidFill>
                  <a:srgbClr val="FFFFFF"/>
                </a:solidFill>
              </a:rPr>
              <a:t>DataWorks 离线开发调度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197096"/>
            <a:ext cx="3188208" cy="4572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1">
                <a:solidFill>
                  <a:srgbClr val="FFFFFF"/>
                </a:solidFill>
              </a:rPr>
              <a:t>动态数据开放 API 服务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764024"/>
            <a:ext cx="3188208" cy="4572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1">
                <a:solidFill>
                  <a:srgbClr val="FFFFFF"/>
                </a:solidFill>
              </a:rPr>
              <a:t>Quick BI 分析展示</a:t>
            </a:r>
          </a:p>
        </p:txBody>
      </p:sp>
      <p:pic>
        <p:nvPicPr>
          <p:cNvPr id="17" name="Picture 16" descr="activity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6616" y="2542032"/>
            <a:ext cx="310896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8096" y="2523744"/>
            <a:ext cx="273100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776CFD"/>
                </a:solidFill>
              </a:rPr>
              <a:t>持续建设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66616" y="3063240"/>
            <a:ext cx="3188208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0">
                <a:solidFill>
                  <a:srgbClr val="2B2F42"/>
                </a:solidFill>
              </a:rPr>
              <a:t>其他维度与主题域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66616" y="3630168"/>
            <a:ext cx="3188208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0">
                <a:solidFill>
                  <a:srgbClr val="2B2F42"/>
                </a:solidFill>
              </a:rPr>
              <a:t>数据标准、地图与血缘</a:t>
            </a:r>
          </a:p>
        </p:txBody>
      </p:sp>
      <p:pic>
        <p:nvPicPr>
          <p:cNvPr id="21" name="Picture 20" descr="clock_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4864" y="2542032"/>
            <a:ext cx="310896" cy="3108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086344" y="2523744"/>
            <a:ext cx="273100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B4551A"/>
                </a:solidFill>
              </a:rPr>
              <a:t>待建设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74864" y="3063240"/>
            <a:ext cx="3188208" cy="457200"/>
          </a:xfrm>
          <a:prstGeom prst="roundRect">
            <a:avLst>
              <a:gd name="adj" fmla="val 20000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0">
                <a:solidFill>
                  <a:srgbClr val="2B2F42"/>
                </a:solidFill>
              </a:rPr>
              <a:t>数据质量与逐层核对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74864" y="3630168"/>
            <a:ext cx="3188208" cy="457200"/>
          </a:xfrm>
          <a:prstGeom prst="roundRect">
            <a:avLst>
              <a:gd name="adj" fmla="val 20000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0">
                <a:solidFill>
                  <a:srgbClr val="2B2F42"/>
                </a:solidFill>
              </a:rPr>
              <a:t>实时计算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74864" y="4197096"/>
            <a:ext cx="3188208" cy="457200"/>
          </a:xfrm>
          <a:prstGeom prst="roundRect">
            <a:avLst>
              <a:gd name="adj" fmla="val 20000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0">
                <a:solidFill>
                  <a:srgbClr val="2B2F42"/>
                </a:solidFill>
              </a:rPr>
              <a:t>统一数据标签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74864" y="4764024"/>
            <a:ext cx="3188208" cy="457200"/>
          </a:xfrm>
          <a:prstGeom prst="roundRect">
            <a:avLst>
              <a:gd name="adj" fmla="val 20000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0">
                <a:solidFill>
                  <a:srgbClr val="2B2F42"/>
                </a:solidFill>
              </a:rPr>
              <a:t>指标中心与景区自定义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74864" y="5330952"/>
            <a:ext cx="3188208" cy="457200"/>
          </a:xfrm>
          <a:prstGeom prst="roundRect">
            <a:avLst>
              <a:gd name="adj" fmla="val 20000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0">
                <a:solidFill>
                  <a:srgbClr val="2B2F42"/>
                </a:solidFill>
              </a:rPr>
              <a:t>AI 共用能力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6080760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wrench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536" y="6195060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52728" y="6080760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655BE6"/>
                </a:solidFill>
              </a:rPr>
              <a:t>下一步　</a:t>
            </a:r>
            <a:r>
              <a:rPr sz="1300" b="0">
                <a:solidFill>
                  <a:srgbClr val="2B2F42"/>
                </a:solidFill>
              </a:rPr>
              <a:t>补维度、补质量、补实时、补标签，并把治理和 AI 能力叠加上去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63440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800" b="0">
                <a:solidFill>
                  <a:srgbClr val="EEEDFF"/>
                </a:solidFill>
              </a:rPr>
              <a:t>一个平台，赋能企业与行业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本部分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总体目标与架构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平台组件全景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治理与指标体系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统一底座与标签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数据服务与 AI 平台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业务数据闭环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对外产品与行业成果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有什么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459736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06624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缺什么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507992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4879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要建什么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556248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03136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要怎么建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604504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851392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总体目标：四个“可”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价值是什么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要怎么建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有什么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03 要建什么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377440"/>
            <a:ext cx="2379726" cy="2834640"/>
          </a:xfrm>
          <a:prstGeom prst="roundRect">
            <a:avLst>
              <a:gd name="adj" fmla="val 384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13891" y="2651760"/>
            <a:ext cx="868680" cy="86868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verified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1061" y="2868929"/>
            <a:ext cx="434340" cy="4343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8368" y="3703320"/>
            <a:ext cx="237972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2000" b="1">
                <a:solidFill>
                  <a:srgbClr val="2B2F42"/>
                </a:solidFill>
              </a:rPr>
              <a:t>数据可信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251960"/>
            <a:ext cx="2379726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5E6478"/>
                </a:solidFill>
              </a:rPr>
              <a:t>关键数字可验证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5E6478"/>
                </a:solidFill>
              </a:rPr>
              <a:t>可追溯、可修复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66694" y="2377440"/>
            <a:ext cx="2379726" cy="2834640"/>
          </a:xfrm>
          <a:prstGeom prst="roundRect">
            <a:avLst>
              <a:gd name="adj" fmla="val 384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022216" y="2651760"/>
            <a:ext cx="868680" cy="86868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in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9387" y="2868929"/>
            <a:ext cx="434340" cy="4343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266694" y="3703320"/>
            <a:ext cx="237972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2000" b="1">
                <a:solidFill>
                  <a:srgbClr val="2B2F42"/>
                </a:solidFill>
              </a:rPr>
              <a:t>模型可复用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6694" y="4251960"/>
            <a:ext cx="2379726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5E6478"/>
                </a:solidFill>
              </a:rPr>
              <a:t>一次建设、多处使用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5E6478"/>
                </a:solidFill>
              </a:rPr>
              <a:t>新需求优先复用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75020" y="2377440"/>
            <a:ext cx="2379726" cy="2834640"/>
          </a:xfrm>
          <a:prstGeom prst="roundRect">
            <a:avLst>
              <a:gd name="adj" fmla="val 384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630543" y="2651760"/>
            <a:ext cx="868680" cy="86868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hiel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7713" y="2868929"/>
            <a:ext cx="434340" cy="4343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875020" y="3703320"/>
            <a:ext cx="237972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2000" b="1">
                <a:solidFill>
                  <a:srgbClr val="2B2F42"/>
                </a:solidFill>
              </a:rPr>
              <a:t>服务稳定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75020" y="4251960"/>
            <a:ext cx="2379726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5E6478"/>
                </a:solidFill>
              </a:rPr>
              <a:t>有监测、有隔离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5E6478"/>
                </a:solidFill>
              </a:rPr>
              <a:t>可恢复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83346" y="2377440"/>
            <a:ext cx="2379726" cy="2834640"/>
          </a:xfrm>
          <a:prstGeom prst="roundRect">
            <a:avLst>
              <a:gd name="adj" fmla="val 384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38869" y="2651760"/>
            <a:ext cx="868680" cy="86868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bol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6039" y="2868929"/>
            <a:ext cx="434340" cy="4343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483346" y="3703320"/>
            <a:ext cx="237972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2000" b="1">
                <a:solidFill>
                  <a:srgbClr val="2B2F42"/>
                </a:solidFill>
              </a:rPr>
              <a:t>能力易扩展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83346" y="4251960"/>
            <a:ext cx="2379726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5E6478"/>
                </a:solidFill>
              </a:rPr>
              <a:t>新业务、新景区</a:t>
            </a:r>
          </a:p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5E6478"/>
                </a:solidFill>
              </a:rPr>
              <a:t>配置化接入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532120"/>
            <a:ext cx="10204704" cy="731520"/>
          </a:xfrm>
          <a:prstGeom prst="roundRect">
            <a:avLst>
              <a:gd name="adj" fmla="val 15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5532120"/>
            <a:ext cx="10204704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支撑　</a:t>
            </a:r>
            <a:r>
              <a:rPr sz="1800" b="0">
                <a:solidFill>
                  <a:srgbClr val="FFFFFF"/>
                </a:solidFill>
              </a:rPr>
              <a:t>对内赋能 · 对外商业化 · 行业成果输出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平台总体架构：分层建设，治理贯穿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011680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5E6478"/>
                </a:solidFill>
              </a:rPr>
              <a:t>渐变色块为已有能力，白色块为新建或升级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价值是什么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要怎么建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缺什么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有什么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03 要建什么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14600"/>
            <a:ext cx="1216152" cy="603504"/>
          </a:xfrm>
          <a:prstGeom prst="roundRect">
            <a:avLst>
              <a:gd name="adj" fmla="val 1515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应用与服务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65960" y="2514600"/>
            <a:ext cx="1289303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内部经营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46703" y="2514600"/>
            <a:ext cx="1289303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景区运营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27448" y="2514600"/>
            <a:ext cx="1289303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伙伴接入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08192" y="2514600"/>
            <a:ext cx="1289303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行业报告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88936" y="2514600"/>
            <a:ext cx="1289303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数据产品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218688"/>
            <a:ext cx="1216152" cy="603504"/>
          </a:xfrm>
          <a:prstGeom prst="roundRect">
            <a:avLst>
              <a:gd name="adj" fmla="val 1515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AI 能力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965960" y="3218688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模型服务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91889" y="3218688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知识服务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17820" y="3218688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工具服务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43750" y="3218688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评测运营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3922776"/>
            <a:ext cx="1216152" cy="603504"/>
          </a:xfrm>
          <a:prstGeom prst="roundRect">
            <a:avLst>
              <a:gd name="adj" fmla="val 1515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数据服务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65960" y="3922776"/>
            <a:ext cx="1634489" cy="603504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动态数据开放 API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91889" y="3922776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指标服务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17820" y="3922776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标签服务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43750" y="3922776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一键接入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626864"/>
            <a:ext cx="1216152" cy="603504"/>
          </a:xfrm>
          <a:prstGeom prst="roundRect">
            <a:avLst>
              <a:gd name="adj" fmla="val 1515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指标与分析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65960" y="4626864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企业标准指标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91889" y="4626864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景区自定义指标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17820" y="4626864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统一标签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43750" y="4626864"/>
            <a:ext cx="1634489" cy="603504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Quick BI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330952"/>
            <a:ext cx="1216152" cy="603504"/>
          </a:xfrm>
          <a:prstGeom prst="roundRect">
            <a:avLst>
              <a:gd name="adj" fmla="val 1515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统一底座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965960" y="5330952"/>
            <a:ext cx="1059180" cy="603504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DataWorks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16580" y="5330952"/>
            <a:ext cx="1059180" cy="603504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离线主流程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67199" y="5330952"/>
            <a:ext cx="1059180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实时计算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17820" y="5330952"/>
            <a:ext cx="1059180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湖仓存储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68440" y="5330952"/>
            <a:ext cx="1059180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公共模型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19060" y="5330952"/>
            <a:ext cx="1059180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分析查询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6035040"/>
            <a:ext cx="1216152" cy="603504"/>
          </a:xfrm>
          <a:prstGeom prst="roundRect">
            <a:avLst>
              <a:gd name="adj" fmla="val 1515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数据来源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965960" y="6035040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票务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828925" y="6035040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订单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91889" y="6035040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小程序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54854" y="6035040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供应商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17819" y="6035040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营销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80784" y="6035040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渠道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143750" y="6035040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设备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06715" y="6035040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外部数据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15400" y="2514600"/>
            <a:ext cx="1947672" cy="4123944"/>
          </a:xfrm>
          <a:prstGeom prst="roundRect">
            <a:avLst>
              <a:gd name="adj" fmla="val 5633"/>
            </a:avLst>
          </a:prstGeom>
          <a:gradFill rotWithShape="1">
            <a:gsLst>
              <a:gs pos="0">
                <a:srgbClr val="776CFD"/>
              </a:gs>
              <a:gs pos="100000">
                <a:srgbClr val="655BE6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98280" y="2697480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FFFFFF"/>
                </a:solidFill>
              </a:rPr>
              <a:t>治理与资产</a:t>
            </a:r>
          </a:p>
          <a:p>
            <a:pPr algn="l"/>
            <a:r>
              <a:rPr sz="1400" b="1">
                <a:solidFill>
                  <a:srgbClr val="FFFFFF"/>
                </a:solidFill>
              </a:rPr>
              <a:t>贯穿各层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98280" y="3566160"/>
            <a:ext cx="1645920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EDFF"/>
                </a:solidFill>
              </a:rPr>
              <a:t>数据标准</a:t>
            </a:r>
          </a:p>
          <a:p>
            <a:pPr algn="l">
              <a:lnSpc>
                <a:spcPct val="110000"/>
              </a:lnSpc>
              <a:spcBef>
                <a:spcPts val="900"/>
              </a:spcBef>
            </a:pPr>
            <a:r>
              <a:rPr sz="1300" b="0">
                <a:solidFill>
                  <a:srgbClr val="EEEDFF"/>
                </a:solidFill>
              </a:rPr>
              <a:t>数据地图</a:t>
            </a:r>
          </a:p>
          <a:p>
            <a:pPr algn="l">
              <a:lnSpc>
                <a:spcPct val="110000"/>
              </a:lnSpc>
              <a:spcBef>
                <a:spcPts val="900"/>
              </a:spcBef>
            </a:pPr>
            <a:r>
              <a:rPr sz="1300" b="0">
                <a:solidFill>
                  <a:srgbClr val="EEEDFF"/>
                </a:solidFill>
              </a:rPr>
              <a:t>数据血缘</a:t>
            </a:r>
          </a:p>
          <a:p>
            <a:pPr algn="l">
              <a:lnSpc>
                <a:spcPct val="110000"/>
              </a:lnSpc>
              <a:spcBef>
                <a:spcPts val="900"/>
              </a:spcBef>
            </a:pPr>
            <a:r>
              <a:rPr sz="1300" b="0">
                <a:solidFill>
                  <a:srgbClr val="EEEDFF"/>
                </a:solidFill>
              </a:rPr>
              <a:t>数据质量</a:t>
            </a:r>
          </a:p>
          <a:p>
            <a:pPr algn="l">
              <a:lnSpc>
                <a:spcPct val="110000"/>
              </a:lnSpc>
              <a:spcBef>
                <a:spcPts val="900"/>
              </a:spcBef>
            </a:pPr>
            <a:r>
              <a:rPr sz="1300" b="0">
                <a:solidFill>
                  <a:srgbClr val="EEEDFF"/>
                </a:solidFill>
              </a:rPr>
              <a:t>权限安全</a:t>
            </a:r>
          </a:p>
          <a:p>
            <a:pPr algn="l">
              <a:lnSpc>
                <a:spcPct val="110000"/>
              </a:lnSpc>
              <a:spcBef>
                <a:spcPts val="900"/>
              </a:spcBef>
            </a:pPr>
            <a:r>
              <a:rPr sz="1300" b="0">
                <a:solidFill>
                  <a:srgbClr val="EEEDFF"/>
                </a:solidFill>
              </a:rPr>
              <a:t>资产目录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平台组件全景：七组能力，已有、升级、新建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价值是什么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要怎么建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有什么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03 要建什么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075688"/>
            <a:ext cx="384048" cy="219456"/>
          </a:xfrm>
          <a:prstGeom prst="roundRect">
            <a:avLst>
              <a:gd name="adj" fmla="val 2083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205740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渐变：已有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41448" y="207568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98648" y="205740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浅紫：升级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528" y="207568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8" y="205740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虚线：新建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514600"/>
            <a:ext cx="1363762" cy="438912"/>
          </a:xfrm>
          <a:prstGeom prst="roundRect">
            <a:avLst>
              <a:gd name="adj" fmla="val 208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数据集成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044952"/>
            <a:ext cx="1363762" cy="384048"/>
          </a:xfrm>
          <a:prstGeom prst="roundRect">
            <a:avLst>
              <a:gd name="adj" fmla="val 2380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批量同步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502152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实时采集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959352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埋点采集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416552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边云回传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873752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连接器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31858" y="2514600"/>
            <a:ext cx="1363762" cy="438912"/>
          </a:xfrm>
          <a:prstGeom prst="roundRect">
            <a:avLst>
              <a:gd name="adj" fmla="val 208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存储计算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31858" y="3044952"/>
            <a:ext cx="1363762" cy="384048"/>
          </a:xfrm>
          <a:prstGeom prst="roundRect">
            <a:avLst>
              <a:gd name="adj" fmla="val 2380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离线计算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31858" y="3502152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实时计算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31858" y="3959352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湖仓存储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31858" y="4416552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分析引擎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05348" y="2514600"/>
            <a:ext cx="1363762" cy="438912"/>
          </a:xfrm>
          <a:prstGeom prst="roundRect">
            <a:avLst>
              <a:gd name="adj" fmla="val 208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开发运维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05348" y="3044952"/>
            <a:ext cx="1363762" cy="384048"/>
          </a:xfrm>
          <a:prstGeom prst="roundRect">
            <a:avLst>
              <a:gd name="adj" fmla="val 2380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开发调度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05348" y="3502152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数据建模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05348" y="3959352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发布卡点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05348" y="4416552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运行监控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05348" y="4873752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成本治理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78838" y="2514600"/>
            <a:ext cx="1363762" cy="438912"/>
          </a:xfrm>
          <a:prstGeom prst="roundRect">
            <a:avLst>
              <a:gd name="adj" fmla="val 208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数据治理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78838" y="3044952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数据标准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78838" y="3502152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数据地图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78838" y="3959352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数据血缘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78838" y="4416552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质量与核对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78838" y="4873752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分级与脱敏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78838" y="5330952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资产运营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52329" y="2514600"/>
            <a:ext cx="1363762" cy="438912"/>
          </a:xfrm>
          <a:prstGeom prst="roundRect">
            <a:avLst>
              <a:gd name="adj" fmla="val 208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指标标签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52329" y="3044952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指标中心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52329" y="3502152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景区指标空间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52329" y="3959352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标签平台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52329" y="4416552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统一语义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25819" y="2514600"/>
            <a:ext cx="1363762" cy="438912"/>
          </a:xfrm>
          <a:prstGeom prst="roundRect">
            <a:avLst>
              <a:gd name="adj" fmla="val 208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服务分析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25819" y="3044952"/>
            <a:ext cx="1363762" cy="384048"/>
          </a:xfrm>
          <a:prstGeom prst="roundRect">
            <a:avLst>
              <a:gd name="adj" fmla="val 2380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动态开放 API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25819" y="3502152"/>
            <a:ext cx="1363762" cy="384048"/>
          </a:xfrm>
          <a:prstGeom prst="roundRect">
            <a:avLst>
              <a:gd name="adj" fmla="val 2380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Quick BI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25819" y="3959352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开发者门户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25819" y="4416552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嵌入式分析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499309" y="2514600"/>
            <a:ext cx="1363762" cy="438912"/>
          </a:xfrm>
          <a:prstGeom prst="roundRect">
            <a:avLst>
              <a:gd name="adj" fmla="val 208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AI 能力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499309" y="3044952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模型网关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499309" y="3502152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知识检索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499309" y="3959352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智能体工具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499309" y="4416552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评测反馈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499309" y="4873752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AI 问数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58368" y="6035040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tool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149340"/>
            <a:ext cx="274320" cy="27432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252728" y="6035040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2B2F42"/>
                </a:solidFill>
              </a:rPr>
              <a:t>DataWorks 承担批量同步、离线计算、开发调度；数据地图、血缘、质量等模块按已购情况启用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治理体系：六项能力，贯穿全链路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价值是什么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要怎么建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有什么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03 要建什么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331720"/>
            <a:ext cx="3279648" cy="841248"/>
          </a:xfrm>
          <a:prstGeom prst="roundRect">
            <a:avLst>
              <a:gd name="adj" fmla="val 1086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2478024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oo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7" y="2615184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54480" y="2450591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数据标准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788920"/>
            <a:ext cx="227380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命名、类型、DDL、描述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20896" y="2331720"/>
            <a:ext cx="3279648" cy="841248"/>
          </a:xfrm>
          <a:prstGeom prst="roundRect">
            <a:avLst>
              <a:gd name="adj" fmla="val 1086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303776" y="2478024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earch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0936" y="2615184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17008" y="2450591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数据地图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7008" y="2788920"/>
            <a:ext cx="227380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表、指标、标签一处可查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83424" y="2331720"/>
            <a:ext cx="3279648" cy="841248"/>
          </a:xfrm>
          <a:prstGeom prst="roundRect">
            <a:avLst>
              <a:gd name="adj" fmla="val 1086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66303" y="2478024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lin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3463" y="2615184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479536" y="2450591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数据血缘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79536" y="2788920"/>
            <a:ext cx="227380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来源可解释，影响可评估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19272"/>
            <a:ext cx="3279648" cy="841248"/>
          </a:xfrm>
          <a:prstGeom prst="roundRect">
            <a:avLst>
              <a:gd name="adj" fmla="val 1086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41247" y="3465576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8407" y="3602736"/>
            <a:ext cx="274320" cy="2743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54480" y="3438144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数据质量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3776472"/>
            <a:ext cx="227380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完整、准确、及时、一致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20896" y="3319272"/>
            <a:ext cx="3279648" cy="841248"/>
          </a:xfrm>
          <a:prstGeom prst="roundRect">
            <a:avLst>
              <a:gd name="adj" fmla="val 1086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303776" y="3465576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o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0936" y="3602736"/>
            <a:ext cx="274320" cy="2743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017008" y="3438144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权限管理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17008" y="3776472"/>
            <a:ext cx="227380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租户隔离、脱敏、留痕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83424" y="3319272"/>
            <a:ext cx="3279648" cy="841248"/>
          </a:xfrm>
          <a:prstGeom prst="roundRect">
            <a:avLst>
              <a:gd name="adj" fmla="val 1086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766303" y="3465576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char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3463" y="3602736"/>
            <a:ext cx="274320" cy="27432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479536" y="3438144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资产运营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9536" y="3776472"/>
            <a:ext cx="227380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版本、成本、复用、退役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4434840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治理覆盖的链路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8368" y="4773168"/>
            <a:ext cx="1159981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源系统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1882357" y="4901184"/>
            <a:ext cx="219456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165821" y="4773168"/>
            <a:ext cx="1159981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接入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3389811" y="4901184"/>
            <a:ext cx="219456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673275" y="4773168"/>
            <a:ext cx="1159981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加工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4897265" y="4901184"/>
            <a:ext cx="219456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180729" y="4773168"/>
            <a:ext cx="1159981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ADS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6404718" y="4901184"/>
            <a:ext cx="219456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688182" y="4773168"/>
            <a:ext cx="1159981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API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7912172" y="4901184"/>
            <a:ext cx="219456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8195636" y="4773168"/>
            <a:ext cx="1159981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Quick BI</a:t>
            </a:r>
          </a:p>
        </p:txBody>
      </p:sp>
      <p:sp>
        <p:nvSpPr>
          <p:cNvPr id="52" name="Right Arrow 51"/>
          <p:cNvSpPr/>
          <p:nvPr/>
        </p:nvSpPr>
        <p:spPr>
          <a:xfrm>
            <a:off x="9419626" y="4901184"/>
            <a:ext cx="219456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703090" y="4773168"/>
            <a:ext cx="1159981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AI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58368" y="5577840"/>
            <a:ext cx="3279648" cy="621792"/>
          </a:xfrm>
          <a:prstGeom prst="roundRect">
            <a:avLst>
              <a:gd name="adj" fmla="val 14705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FFE2C8"/>
                </a:solidFill>
              </a:rPr>
              <a:t>机制　</a:t>
            </a:r>
            <a:r>
              <a:rPr sz="1250" b="0">
                <a:solidFill>
                  <a:srgbClr val="FFFFFF"/>
                </a:solidFill>
              </a:rPr>
              <a:t>治理委员会裁定口径争议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120896" y="5577840"/>
            <a:ext cx="3279648" cy="621792"/>
          </a:xfrm>
          <a:prstGeom prst="roundRect">
            <a:avLst>
              <a:gd name="adj" fmla="val 14705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FFE2C8"/>
                </a:solidFill>
              </a:rPr>
              <a:t>责任　</a:t>
            </a:r>
            <a:r>
              <a:rPr sz="1250" b="0">
                <a:solidFill>
                  <a:srgbClr val="FFFFFF"/>
                </a:solidFill>
              </a:rPr>
              <a:t>每个域与指标有业务、技术负责人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583424" y="5577840"/>
            <a:ext cx="3279648" cy="621792"/>
          </a:xfrm>
          <a:prstGeom prst="roundRect">
            <a:avLst>
              <a:gd name="adj" fmla="val 14705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FFE2C8"/>
                </a:solidFill>
              </a:rPr>
              <a:t>卡点　</a:t>
            </a:r>
            <a:r>
              <a:rPr sz="1250" b="0">
                <a:solidFill>
                  <a:srgbClr val="FFFFFF"/>
                </a:solidFill>
              </a:rPr>
              <a:t>发布前自动检查，不合规不发布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指标体系：企业统一标准，景区保留专属定义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011680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5E6478"/>
                </a:solidFill>
              </a:rPr>
              <a:t>同一出口，按景区隔离；同名不能覆盖企业标准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价值是什么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要怎么建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缺什么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有什么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03 要建什么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06908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公共模型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明细 · 维度 · 汇总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2560320"/>
            <a:ext cx="3200400" cy="1234440"/>
          </a:xfrm>
          <a:prstGeom prst="roundRect">
            <a:avLst>
              <a:gd name="adj" fmla="val 7407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企业标准指标</a:t>
            </a:r>
          </a:p>
          <a:p>
            <a:pPr algn="ctr">
              <a:spcBef>
                <a:spcPts val="400"/>
              </a:spcBef>
            </a:pPr>
            <a:r>
              <a:rPr sz="1200" b="0">
                <a:solidFill>
                  <a:srgbClr val="FFFFFF"/>
                </a:solidFill>
              </a:rPr>
              <a:t>统一定义 · 版本管理 · 业务认证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4983480"/>
            <a:ext cx="3200400" cy="1828800"/>
          </a:xfrm>
          <a:prstGeom prst="roundRect">
            <a:avLst>
              <a:gd name="adj" fmla="val 5000"/>
            </a:avLst>
          </a:prstGeom>
          <a:solidFill>
            <a:srgbClr val="FDEEE2"/>
          </a:solidFill>
          <a:ln w="15875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5102352"/>
            <a:ext cx="27432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景区自定义指标空间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03320" y="5559552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景区 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6008" y="5559552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景区 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68696" y="5559552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景区 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6080760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相互隔离，只服务本景区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62672" y="2606040"/>
            <a:ext cx="3200400" cy="731520"/>
          </a:xfrm>
          <a:prstGeom prst="roundRect">
            <a:avLst>
              <a:gd name="adj" fmla="val 125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Quick BI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62672" y="4160520"/>
            <a:ext cx="3200400" cy="731520"/>
          </a:xfrm>
          <a:prstGeom prst="roundRect">
            <a:avLst>
              <a:gd name="adj" fmla="val 125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动态数据开放 API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62672" y="5715000"/>
            <a:ext cx="3200400" cy="731520"/>
          </a:xfrm>
          <a:prstGeom prst="roundRect">
            <a:avLst>
              <a:gd name="adj" fmla="val 125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AI 问数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487168" y="4526280"/>
            <a:ext cx="484632" cy="0"/>
          </a:xfrm>
          <a:prstGeom prst="line">
            <a:avLst/>
          </a:prstGeom>
          <a:ln w="22225">
            <a:solidFill>
              <a:srgbClr val="C7C2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971800" y="3177540"/>
            <a:ext cx="0" cy="2720340"/>
          </a:xfrm>
          <a:prstGeom prst="line">
            <a:avLst/>
          </a:prstGeom>
          <a:ln w="22225">
            <a:solidFill>
              <a:srgbClr val="C7C2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971800" y="3177540"/>
            <a:ext cx="502920" cy="0"/>
          </a:xfrm>
          <a:prstGeom prst="line">
            <a:avLst/>
          </a:prstGeom>
          <a:ln w="22225">
            <a:solidFill>
              <a:srgbClr val="C7C2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971800" y="5897880"/>
            <a:ext cx="502920" cy="0"/>
          </a:xfrm>
          <a:prstGeom prst="line">
            <a:avLst/>
          </a:prstGeom>
          <a:ln w="22225">
            <a:solidFill>
              <a:srgbClr val="C7C2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675120" y="3177540"/>
            <a:ext cx="502920" cy="0"/>
          </a:xfrm>
          <a:prstGeom prst="line">
            <a:avLst/>
          </a:prstGeom>
          <a:ln w="285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178040" y="2971800"/>
            <a:ext cx="0" cy="3108960"/>
          </a:xfrm>
          <a:prstGeom prst="line">
            <a:avLst/>
          </a:prstGeom>
          <a:ln w="285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178040" y="2971800"/>
            <a:ext cx="484632" cy="0"/>
          </a:xfrm>
          <a:prstGeom prst="line">
            <a:avLst/>
          </a:prstGeom>
          <a:ln w="2857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178040" y="4526280"/>
            <a:ext cx="484632" cy="0"/>
          </a:xfrm>
          <a:prstGeom prst="line">
            <a:avLst/>
          </a:prstGeom>
          <a:ln w="2857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178040" y="6080760"/>
            <a:ext cx="484632" cy="0"/>
          </a:xfrm>
          <a:prstGeom prst="line">
            <a:avLst/>
          </a:prstGeom>
          <a:ln w="2857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675120" y="5897880"/>
            <a:ext cx="502920" cy="0"/>
          </a:xfrm>
          <a:prstGeom prst="line">
            <a:avLst/>
          </a:prstGeom>
          <a:ln w="22225">
            <a:solidFill>
              <a:srgbClr val="F08A3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5074920" y="3794760"/>
            <a:ext cx="0" cy="1188720"/>
          </a:xfrm>
          <a:prstGeom prst="line">
            <a:avLst/>
          </a:prstGeom>
          <a:ln w="28575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193792" y="4224528"/>
            <a:ext cx="155448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B4551A"/>
                </a:solidFill>
              </a:rPr>
              <a:t>评审后沉淀为标准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统一数据底座：一份存储、一套模型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011680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5E6478"/>
                </a:solidFill>
              </a:rPr>
              <a:t>离线与实时是两种计算方式，湖仓负责统一存储与管理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价值是什么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要怎么建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缺什么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有什么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03 要建什么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06040"/>
            <a:ext cx="132588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业务库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063240"/>
            <a:ext cx="132588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渠道接口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520440"/>
            <a:ext cx="132588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设备事件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977639"/>
            <a:ext cx="132588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行为日志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434840"/>
            <a:ext cx="132588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外部数据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057400" y="3611880"/>
            <a:ext cx="274320" cy="219456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404872" y="2606040"/>
            <a:ext cx="1188720" cy="221284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5E6478"/>
                </a:solidFill>
              </a:rPr>
              <a:t>统一接入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5E6478"/>
                </a:solidFill>
              </a:rPr>
              <a:t>接入规范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5E6478"/>
                </a:solidFill>
              </a:rPr>
              <a:t>对象标识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5E6478"/>
                </a:solidFill>
              </a:rPr>
              <a:t>负责人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666744" y="3611880"/>
            <a:ext cx="274320" cy="219456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014215" y="2606040"/>
            <a:ext cx="3566160" cy="2212848"/>
          </a:xfrm>
          <a:prstGeom prst="roundRect">
            <a:avLst>
              <a:gd name="adj" fmla="val 6198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97096" y="2697480"/>
            <a:ext cx="320040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776CFD"/>
                </a:solidFill>
              </a:rPr>
              <a:t>湖仓一体 · 公共模型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97096" y="3090672"/>
            <a:ext cx="3200400" cy="384048"/>
          </a:xfrm>
          <a:prstGeom prst="roundRect">
            <a:avLst>
              <a:gd name="adj" fmla="val 2380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离线计算 · DataWorks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97096" y="3547872"/>
            <a:ext cx="3200400" cy="384048"/>
          </a:xfrm>
          <a:prstGeom prst="roundRect">
            <a:avLst>
              <a:gd name="adj" fmla="val 23809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2B2F42"/>
                </a:solidFill>
              </a:rPr>
              <a:t>实时计算 · 订单、核销先行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97096" y="4023360"/>
            <a:ext cx="59618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55BE6"/>
                </a:solidFill>
              </a:rPr>
              <a:t>ODS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48148" y="4023360"/>
            <a:ext cx="59618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55BE6"/>
                </a:solidFill>
              </a:rPr>
              <a:t>DWD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99201" y="4023360"/>
            <a:ext cx="59618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55BE6"/>
                </a:solidFill>
              </a:rPr>
              <a:t>DIM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254" y="4023360"/>
            <a:ext cx="59618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55BE6"/>
                </a:solidFill>
              </a:rPr>
              <a:t>DWS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01307" y="4023360"/>
            <a:ext cx="59618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55BE6"/>
                </a:solidFill>
              </a:rPr>
              <a:t>ADS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97096" y="44348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776CFD"/>
                </a:solidFill>
              </a:rPr>
              <a:t>共享业务定义与质量规则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653527" y="3611880"/>
            <a:ext cx="274320" cy="219456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01000" y="2606040"/>
            <a:ext cx="1188720" cy="221284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5E6478"/>
                </a:solidFill>
              </a:rPr>
              <a:t>分析查询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5E6478"/>
                </a:solidFill>
              </a:rPr>
              <a:t>稳定查询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5E6478"/>
                </a:solidFill>
              </a:rPr>
              <a:t>负载隔离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9262872" y="3611880"/>
            <a:ext cx="274320" cy="219456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610344" y="2697480"/>
            <a:ext cx="1252728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Quick BI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10344" y="3410712"/>
            <a:ext cx="1252728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API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10344" y="4123944"/>
            <a:ext cx="1252728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16636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稳定与扩展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212848" y="5120640"/>
            <a:ext cx="1620316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结构变更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970324" y="5120640"/>
            <a:ext cx="1620316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失败恢复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727801" y="5120640"/>
            <a:ext cx="1620316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补数重算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485278" y="5120640"/>
            <a:ext cx="1620316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租户隔离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42755" y="5120640"/>
            <a:ext cx="1620316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高峰压测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8368" y="5897880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databas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012180"/>
            <a:ext cx="274320" cy="27432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252728" y="5897880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655BE6"/>
                </a:solidFill>
              </a:rPr>
              <a:t>预期产出　</a:t>
            </a:r>
            <a:r>
              <a:rPr sz="1200" b="0">
                <a:solidFill>
                  <a:srgbClr val="2B2F42"/>
                </a:solidFill>
              </a:rPr>
              <a:t>统一接入、离线与实时处理、湖仓底座、公共模型及标准数据集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统一数据标签：一处生产，多处复用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价值是什么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要怎么建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有什么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03 要建什么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331720"/>
            <a:ext cx="3127248" cy="1051560"/>
          </a:xfrm>
          <a:prstGeom prst="roundRect">
            <a:avLst>
              <a:gd name="adj" fmla="val 8695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ea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2578608"/>
            <a:ext cx="45720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27048" y="2450592"/>
            <a:ext cx="216712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FFFFFF"/>
                </a:solidFill>
              </a:rPr>
              <a:t>统一生产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27048" y="2834640"/>
            <a:ext cx="216712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EEEDFF"/>
                </a:solidFill>
              </a:rPr>
              <a:t>基于 DIM / DWS 公共模型加工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877055" y="2743200"/>
            <a:ext cx="228600" cy="219456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97096" y="2331720"/>
            <a:ext cx="3127248" cy="1051560"/>
          </a:xfrm>
          <a:prstGeom prst="roundRect">
            <a:avLst>
              <a:gd name="adj" fmla="val 8695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oo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5696" y="2578608"/>
            <a:ext cx="457200" cy="457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65776" y="2450592"/>
            <a:ext cx="216712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FFFFFF"/>
                </a:solidFill>
              </a:rPr>
              <a:t>统一管理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65776" y="2834640"/>
            <a:ext cx="216712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EEEDFF"/>
                </a:solidFill>
              </a:rPr>
              <a:t>口径 · 负责人 · 生命周期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415783" y="2743200"/>
            <a:ext cx="228600" cy="219456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735824" y="2331720"/>
            <a:ext cx="3127248" cy="1051560"/>
          </a:xfrm>
          <a:prstGeom prst="roundRect">
            <a:avLst>
              <a:gd name="adj" fmla="val 8695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en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4424" y="2578608"/>
            <a:ext cx="457200" cy="457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604504" y="2450592"/>
            <a:ext cx="216712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FFFFFF"/>
                </a:solidFill>
              </a:rPr>
              <a:t>统一服务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04504" y="2834640"/>
            <a:ext cx="216712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EEEDFF"/>
                </a:solidFill>
              </a:rPr>
              <a:t>营销 · 分析 · AI · 景区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657600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标签对象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92808" y="3657600"/>
            <a:ext cx="1684324" cy="384048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游客 / 会员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14292" y="3657600"/>
            <a:ext cx="1684324" cy="384048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供应商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535777" y="3657600"/>
            <a:ext cx="1684324" cy="384048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景区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57262" y="3657600"/>
            <a:ext cx="1684324" cy="384048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渠道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78747" y="3657600"/>
            <a:ext cx="1684324" cy="384048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商品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4526280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标签类型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92808" y="4251960"/>
            <a:ext cx="2139696" cy="960120"/>
          </a:xfrm>
          <a:prstGeom prst="roundRect">
            <a:avLst>
              <a:gd name="adj" fmla="val 9523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基础属性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景区类型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会员等级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69664" y="4251960"/>
            <a:ext cx="2139696" cy="960120"/>
          </a:xfrm>
          <a:prstGeom prst="roundRect">
            <a:avLst>
              <a:gd name="adj" fmla="val 9523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统计类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近 30 天购票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客单价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46520" y="4251960"/>
            <a:ext cx="2139696" cy="960120"/>
          </a:xfrm>
          <a:prstGeom prst="roundRect">
            <a:avLst>
              <a:gd name="adj" fmla="val 9523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规则类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高频复购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夜游偏好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723376" y="4251960"/>
            <a:ext cx="2139696" cy="960120"/>
          </a:xfrm>
          <a:prstGeom prst="roundRect">
            <a:avLst>
              <a:gd name="adj" fmla="val 9523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模型预测类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流失风险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复购倾向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577840"/>
            <a:ext cx="10204704" cy="548640"/>
          </a:xfrm>
          <a:prstGeom prst="roundRect">
            <a:avLst>
              <a:gd name="adj" fmla="val 16666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lock_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536" y="5715000"/>
            <a:ext cx="274320" cy="2743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252728" y="5577840"/>
            <a:ext cx="9427464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4551A"/>
                </a:solidFill>
              </a:rPr>
              <a:t>边界　</a:t>
            </a:r>
            <a:r>
              <a:rPr sz="1300" b="0">
                <a:solidFill>
                  <a:srgbClr val="2B2F42"/>
                </a:solidFill>
              </a:rPr>
              <a:t>景区只用本景区标签 · 不做敏感个人信息标签 · 对外不提供个体标签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263640"/>
            <a:ext cx="10204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5E6478"/>
                </a:solidFill>
              </a:rPr>
              <a:t>指标回答“有多少”，标签回答“是谁、什么样”；两者共用公共模型和治理体系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数据服务：动态数据开放 API 升级为统一出口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价值是什么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要怎么建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有什么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03 要建什么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468880"/>
            <a:ext cx="77724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B2F42"/>
                </a:solidFill>
              </a:rPr>
              <a:t>当前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27048" y="2468880"/>
            <a:ext cx="2194560" cy="530352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/>
            <a:r>
              <a:rPr sz="1200" b="1">
                <a:solidFill>
                  <a:srgbClr val="FFFFFF"/>
                </a:solidFill>
              </a:rPr>
              <a:t>ADS 指标快速发布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154680"/>
            <a:ext cx="77724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B2F42"/>
                </a:solidFill>
              </a:rPr>
              <a:t>升级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27048" y="3154680"/>
            <a:ext cx="2880360" cy="530352"/>
          </a:xfrm>
          <a:prstGeom prst="roundRect">
            <a:avLst>
              <a:gd name="adj" fmla="val 1724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/>
            <a:r>
              <a:rPr sz="1200" b="0">
                <a:solidFill>
                  <a:srgbClr val="2B2F42"/>
                </a:solidFill>
              </a:rPr>
              <a:t>关联标准指标 · 权限 · 质量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840480"/>
            <a:ext cx="77724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B2F42"/>
                </a:solidFill>
              </a:rPr>
              <a:t>服务化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27048" y="3840480"/>
            <a:ext cx="3566160" cy="530352"/>
          </a:xfrm>
          <a:prstGeom prst="roundRect">
            <a:avLst>
              <a:gd name="adj" fmla="val 17241"/>
            </a:avLst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/>
            <a:r>
              <a:rPr sz="1200" b="0">
                <a:solidFill>
                  <a:srgbClr val="2B2F42"/>
                </a:solidFill>
              </a:rPr>
              <a:t>指标与标签服务 · 租户隔离 · AI 工具化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526280"/>
            <a:ext cx="77724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B2F42"/>
                </a:solidFill>
              </a:rPr>
              <a:t>开放化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27048" y="4526280"/>
            <a:ext cx="4251960" cy="530352"/>
          </a:xfrm>
          <a:prstGeom prst="roundRect">
            <a:avLst>
              <a:gd name="adj" fmla="val 17241"/>
            </a:avLst>
          </a:prstGeom>
          <a:solidFill>
            <a:srgbClr val="F7C5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/>
            <a:r>
              <a:rPr sz="1200" b="0">
                <a:solidFill>
                  <a:srgbClr val="2B2F42"/>
                </a:solidFill>
              </a:rPr>
              <a:t>嵌入式 BI 与 AI 集成 · 套餐与计量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349240"/>
            <a:ext cx="5120640" cy="530352"/>
          </a:xfrm>
          <a:prstGeom prst="roundRect">
            <a:avLst>
              <a:gd name="adj" fmla="val 1724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in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477255"/>
            <a:ext cx="274320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52728" y="5349240"/>
            <a:ext cx="434339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655BE6"/>
                </a:solidFill>
              </a:rPr>
              <a:t>一键接入　</a:t>
            </a:r>
            <a:r>
              <a:rPr sz="1200" b="0">
                <a:solidFill>
                  <a:srgbClr val="2B2F42"/>
                </a:solidFill>
              </a:rPr>
              <a:t>标准连接器 · 接入向导 · 运行监测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703320"/>
            <a:ext cx="1691640" cy="1005840"/>
          </a:xfrm>
          <a:prstGeom prst="roundRect">
            <a:avLst>
              <a:gd name="adj" fmla="val 909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统一指标与</a:t>
            </a:r>
          </a:p>
          <a:p>
            <a:pPr algn="ctr"/>
            <a:r>
              <a:rPr sz="1400" b="1">
                <a:solidFill>
                  <a:srgbClr val="FFFFFF"/>
                </a:solidFill>
              </a:rPr>
              <a:t>标签服务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955279" y="4206240"/>
            <a:ext cx="320041" cy="0"/>
          </a:xfrm>
          <a:prstGeom prst="line">
            <a:avLst/>
          </a:prstGeom>
          <a:ln w="25400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275320" y="2697480"/>
            <a:ext cx="0" cy="3017520"/>
          </a:xfrm>
          <a:prstGeom prst="line">
            <a:avLst/>
          </a:prstGeom>
          <a:ln w="25400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641080" y="2423160"/>
            <a:ext cx="2221992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Quick BI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275320" y="2697480"/>
            <a:ext cx="365760" cy="0"/>
          </a:xfrm>
          <a:prstGeom prst="line">
            <a:avLst/>
          </a:prstGeom>
          <a:ln w="2540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641080" y="3200400"/>
            <a:ext cx="2221992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业务系统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275320" y="3474720"/>
            <a:ext cx="365760" cy="0"/>
          </a:xfrm>
          <a:prstGeom prst="line">
            <a:avLst/>
          </a:prstGeom>
          <a:ln w="2540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641080" y="3931920"/>
            <a:ext cx="2221992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景区 SaaS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275320" y="4206240"/>
            <a:ext cx="365760" cy="0"/>
          </a:xfrm>
          <a:prstGeom prst="line">
            <a:avLst/>
          </a:prstGeom>
          <a:ln w="2540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641080" y="4663440"/>
            <a:ext cx="2221992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合作伙伴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275320" y="4937760"/>
            <a:ext cx="365760" cy="0"/>
          </a:xfrm>
          <a:prstGeom prst="line">
            <a:avLst/>
          </a:prstGeom>
          <a:ln w="2540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641080" y="5440680"/>
            <a:ext cx="2221992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AI 智能体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275320" y="5715000"/>
            <a:ext cx="365760" cy="0"/>
          </a:xfrm>
          <a:prstGeom prst="line">
            <a:avLst/>
          </a:prstGeom>
          <a:ln w="2540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263640" y="4937760"/>
            <a:ext cx="182880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1">
                <a:solidFill>
                  <a:srgbClr val="776CFD"/>
                </a:solidFill>
              </a:rPr>
              <a:t>一套服务</a:t>
            </a:r>
          </a:p>
          <a:p>
            <a:pPr algn="ctr"/>
            <a:r>
              <a:rPr sz="1200" b="1">
                <a:solidFill>
                  <a:srgbClr val="776CFD"/>
                </a:solidFill>
              </a:rPr>
              <a:t>内外口径一致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AI 平台：让 AI 用上可信数据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价值是什么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要怎么建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有什么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03 要建什么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331720"/>
            <a:ext cx="118872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AI 应用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38528" y="2331720"/>
            <a:ext cx="1697126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辅助数据建设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5382" y="2331720"/>
            <a:ext cx="1697126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问数与分析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52236" y="2331720"/>
            <a:ext cx="1697126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预测与预警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59091" y="2331720"/>
            <a:ext cx="1697126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知识助手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65945" y="2331720"/>
            <a:ext cx="1697126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业务助手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337560"/>
            <a:ext cx="118872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共用能力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38528" y="3337560"/>
            <a:ext cx="2148840" cy="530352"/>
          </a:xfrm>
          <a:prstGeom prst="roundRect">
            <a:avLst>
              <a:gd name="adj" fmla="val 1724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模型服务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97096" y="3337560"/>
            <a:ext cx="2148840" cy="530352"/>
          </a:xfrm>
          <a:prstGeom prst="roundRect">
            <a:avLst>
              <a:gd name="adj" fmla="val 1724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知识服务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55664" y="3337560"/>
            <a:ext cx="2148840" cy="530352"/>
          </a:xfrm>
          <a:prstGeom prst="roundRect">
            <a:avLst>
              <a:gd name="adj" fmla="val 1724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工具服务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14232" y="3337560"/>
            <a:ext cx="2148840" cy="530352"/>
          </a:xfrm>
          <a:prstGeom prst="roundRect">
            <a:avLst>
              <a:gd name="adj" fmla="val 1724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评测运营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343400"/>
            <a:ext cx="118872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可信数据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38528" y="4343400"/>
            <a:ext cx="1697126" cy="530352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指标服务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45382" y="4343400"/>
            <a:ext cx="1697126" cy="530352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标签服务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52236" y="4343400"/>
            <a:ext cx="1697126" cy="530352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知识库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59091" y="4343400"/>
            <a:ext cx="1697126" cy="530352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元数据与血缘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65945" y="4343400"/>
            <a:ext cx="1697126" cy="530352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权限隔离</a:t>
            </a:r>
          </a:p>
        </p:txBody>
      </p:sp>
      <p:sp>
        <p:nvSpPr>
          <p:cNvPr id="27" name="Up Arrow 26"/>
          <p:cNvSpPr/>
          <p:nvPr/>
        </p:nvSpPr>
        <p:spPr>
          <a:xfrm>
            <a:off x="6281928" y="2926080"/>
            <a:ext cx="237744" cy="347472"/>
          </a:xfrm>
          <a:prstGeom prst="up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Up Arrow 27"/>
          <p:cNvSpPr/>
          <p:nvPr/>
        </p:nvSpPr>
        <p:spPr>
          <a:xfrm>
            <a:off x="6281928" y="3931920"/>
            <a:ext cx="237744" cy="347472"/>
          </a:xfrm>
          <a:prstGeom prst="up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516636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shield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312664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52728" y="516636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原则　</a:t>
            </a:r>
            <a:r>
              <a:rPr sz="1300" b="0">
                <a:solidFill>
                  <a:srgbClr val="FFFFFF"/>
                </a:solidFill>
              </a:rPr>
              <a:t>AI 不直接生成数字，只通过受控的指标与数据服务取数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5989320"/>
            <a:ext cx="118872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4551A"/>
                </a:solidFill>
              </a:rPr>
              <a:t>推进顺序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938528" y="5989320"/>
            <a:ext cx="1502664" cy="411480"/>
          </a:xfrm>
          <a:prstGeom prst="roundRect">
            <a:avLst>
              <a:gd name="adj" fmla="val 48888"/>
            </a:avLst>
          </a:prstGeom>
          <a:solidFill>
            <a:srgbClr val="FDEEE2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1 辅助数据建设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3514344" y="6099048"/>
            <a:ext cx="228600" cy="182880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816096" y="5989320"/>
            <a:ext cx="1109472" cy="411480"/>
          </a:xfrm>
          <a:prstGeom prst="roundRect">
            <a:avLst>
              <a:gd name="adj" fmla="val 48888"/>
            </a:avLst>
          </a:prstGeom>
          <a:solidFill>
            <a:srgbClr val="FDEEE2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2 AI 问数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4998720" y="6099048"/>
            <a:ext cx="228600" cy="182880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300472" y="5989320"/>
            <a:ext cx="1655064" cy="411480"/>
          </a:xfrm>
          <a:prstGeom prst="roundRect">
            <a:avLst>
              <a:gd name="adj" fmla="val 48888"/>
            </a:avLst>
          </a:prstGeom>
          <a:solidFill>
            <a:srgbClr val="FDEEE2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3 预测与业务助手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业务数据闭环：用得上数据，也回得来数据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价值是什么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要怎么建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有什么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03 要建什么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377440"/>
            <a:ext cx="3017520" cy="1005840"/>
          </a:xfrm>
          <a:prstGeom prst="roundRect">
            <a:avLst>
              <a:gd name="adj" fmla="val 909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业务产生数据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5E6478"/>
                </a:solidFill>
              </a:rPr>
              <a:t>交易 · 行为 · 供给 · 外部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45552" y="2377440"/>
            <a:ext cx="3017520" cy="100584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平台接入与治理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5E6478"/>
                </a:solidFill>
              </a:rPr>
              <a:t>标准 · 质量 · 模型 · 实时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45552" y="5623560"/>
            <a:ext cx="3017520" cy="1005840"/>
          </a:xfrm>
          <a:prstGeom prst="roundRect">
            <a:avLst>
              <a:gd name="adj" fmla="val 909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输出价值数据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FFFFFF"/>
                </a:solidFill>
              </a:rPr>
              <a:t>指标 · 标签 · 预测 · 洞察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623560"/>
            <a:ext cx="3017520" cy="1005840"/>
          </a:xfrm>
          <a:prstGeom prst="roundRect">
            <a:avLst>
              <a:gd name="adj" fmla="val 909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业务使用与行动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5E6478"/>
                </a:solidFill>
              </a:rPr>
              <a:t>决策 · 运营 · 营销 · 服务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75887" y="2880360"/>
            <a:ext cx="4169665" cy="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354312" y="3383280"/>
            <a:ext cx="0" cy="224028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3675887" y="6126480"/>
            <a:ext cx="4169665" cy="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167128" y="3383280"/>
            <a:ext cx="0" cy="2240280"/>
          </a:xfrm>
          <a:prstGeom prst="line">
            <a:avLst/>
          </a:prstGeom>
          <a:ln w="44450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389120" y="2487168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776CFD"/>
                </a:solidFill>
              </a:rPr>
              <a:t>采集与治理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343400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300" b="1">
                <a:solidFill>
                  <a:srgbClr val="776CFD"/>
                </a:solidFill>
              </a:rPr>
              <a:t>加工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6217920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776CFD"/>
                </a:solidFill>
              </a:rPr>
              <a:t>赋能：嵌入决策与动作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3886200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551A"/>
                </a:solidFill>
              </a:rPr>
              <a:t>反哺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551A"/>
                </a:solidFill>
              </a:rPr>
              <a:t>结果 · 反馈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551A"/>
                </a:solidFill>
              </a:rPr>
              <a:t>异常 · 新需求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3886200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3200" b="1">
                <a:solidFill>
                  <a:srgbClr val="776CFD"/>
                </a:solidFill>
              </a:rPr>
              <a:t>越用越准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452628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0">
                <a:solidFill>
                  <a:srgbClr val="5E6478"/>
                </a:solidFill>
              </a:rPr>
              <a:t>没有反哺的赋能，只是一次性交付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八条业务闭环：先跑通两条，再按批次复制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价值是什么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要怎么建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有什么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03 要建什么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33172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2468879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票务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20620" y="2487168"/>
            <a:ext cx="528320" cy="274320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优先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59" y="29718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29352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实时看板 · 预警 · 预测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59" y="34290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33924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核销异常 · 预测偏差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50692" y="233172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15284" y="2468879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订单交易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12944" y="2487168"/>
            <a:ext cx="528320" cy="274320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优先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15284" y="29718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45636" y="29352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驾驶舱 · 对账定位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15284" y="34290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45636" y="33924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差错处理 · 口径反馈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43016" y="233172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07608" y="2468879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供应商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51268" y="2487168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优先试点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07608" y="29718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29352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经营报告 · 健康度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07608" y="34290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33924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使用行为 · 续约结果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35340" y="233172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9932" y="2468879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智能体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943592" y="2487168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优先起步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99932" y="29718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0284" y="29352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可信指标 · 标签 · 知识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99932" y="34290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30284" y="33924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提问 · 纠错 · 高频问题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411480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FFFFF"/>
          </a:solidFill>
          <a:ln w="15875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59" y="4251960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渠道分销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166620" y="4270248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B4551A"/>
                </a:solidFill>
              </a:rPr>
              <a:t>随后启动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59" y="47548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53312" y="47183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渠道 ROI · 价格监控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59" y="52120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53312" y="51755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策略效果 · 接口异常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50692" y="411480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FFFFF"/>
          </a:solidFill>
          <a:ln w="15875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15284" y="4251960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小程序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758944" y="4270248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B4551A"/>
                </a:solidFill>
              </a:rPr>
              <a:t>推广批次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15284" y="47548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45636" y="47183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转化漏斗 · 推荐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415284" y="52120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45636" y="51755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曝光转化 · 实验结论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843016" y="411480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FFFFF"/>
          </a:solidFill>
          <a:ln w="15875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007608" y="4251960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营销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351268" y="4270248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B4551A"/>
                </a:solidFill>
              </a:rPr>
              <a:t>推广批次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07608" y="47548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37960" y="47183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自动复盘 · 人群圈选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07608" y="52120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37960" y="51755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活动效果 · 人群响应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435340" y="411480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FFFFF"/>
          </a:solidFill>
          <a:ln w="15875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599932" y="4251960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外部数据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943592" y="4270248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B4551A"/>
                </a:solidFill>
              </a:rPr>
              <a:t>推广批次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599932" y="47548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30284" y="47183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预测特征 · 口碑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599932" y="52120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30284" y="51755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实际贡献 · 续采决策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58368" y="5989320"/>
            <a:ext cx="365760" cy="219456"/>
          </a:xfrm>
          <a:prstGeom prst="roundRect">
            <a:avLst>
              <a:gd name="adj" fmla="val 20833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15568" y="596188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实线框：优先启动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035808" y="5989320"/>
            <a:ext cx="36576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493008" y="596188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虚线框：后续批次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对外产品：谁买、买什么、怎么收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价值是什么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要怎么建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有什么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03 要建什么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331720"/>
            <a:ext cx="3279648" cy="1536192"/>
          </a:xfrm>
          <a:prstGeom prst="roundRect">
            <a:avLst>
              <a:gd name="adj" fmla="val 595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468879"/>
            <a:ext cx="291388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776CFD"/>
                </a:solidFill>
              </a:rPr>
              <a:t>景区经营分析增强版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898648"/>
            <a:ext cx="291388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2F42"/>
                </a:solidFill>
              </a:rPr>
              <a:t>客户　</a:t>
            </a:r>
            <a:r>
              <a:rPr sz="1200" b="0">
                <a:solidFill>
                  <a:srgbClr val="5E6478"/>
                </a:solidFill>
              </a:rPr>
              <a:t>景区、景区集团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价值　</a:t>
            </a:r>
            <a:r>
              <a:rPr sz="1200" b="0">
                <a:solidFill>
                  <a:srgbClr val="5E6478"/>
                </a:solidFill>
              </a:rPr>
              <a:t>统一分析、对标、预警、问数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收费　</a:t>
            </a:r>
            <a:r>
              <a:rPr sz="1200" b="0">
                <a:solidFill>
                  <a:srgbClr val="5E6478"/>
                </a:solidFill>
              </a:rPr>
              <a:t>SaaS 增购订阅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20896" y="2331720"/>
            <a:ext cx="3279648" cy="1536192"/>
          </a:xfrm>
          <a:prstGeom prst="roundRect">
            <a:avLst>
              <a:gd name="adj" fmla="val 595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2064" y="2468879"/>
            <a:ext cx="291388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776CFD"/>
                </a:solidFill>
              </a:rPr>
              <a:t>预测与运营助手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2064" y="2898648"/>
            <a:ext cx="291388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2F42"/>
                </a:solidFill>
              </a:rPr>
              <a:t>客户　</a:t>
            </a:r>
            <a:r>
              <a:rPr sz="1200" b="0">
                <a:solidFill>
                  <a:srgbClr val="5E6478"/>
                </a:solidFill>
              </a:rPr>
              <a:t>季节性强的景区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价值　</a:t>
            </a:r>
            <a:r>
              <a:rPr sz="1200" b="0">
                <a:solidFill>
                  <a:srgbClr val="5E6478"/>
                </a:solidFill>
              </a:rPr>
              <a:t>客流预测、备勤建议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收费　</a:t>
            </a:r>
            <a:r>
              <a:rPr sz="1200" b="0">
                <a:solidFill>
                  <a:srgbClr val="5E6478"/>
                </a:solidFill>
              </a:rPr>
              <a:t>场景订阅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3424" y="2331720"/>
            <a:ext cx="3279648" cy="1536192"/>
          </a:xfrm>
          <a:prstGeom prst="roundRect">
            <a:avLst>
              <a:gd name="adj" fmla="val 595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84592" y="2468879"/>
            <a:ext cx="291388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776CFD"/>
                </a:solidFill>
              </a:rPr>
              <a:t>数据开放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84592" y="2898648"/>
            <a:ext cx="291388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2F42"/>
                </a:solidFill>
              </a:rPr>
              <a:t>客户　</a:t>
            </a:r>
            <a:r>
              <a:rPr sz="1200" b="0">
                <a:solidFill>
                  <a:srgbClr val="5E6478"/>
                </a:solidFill>
              </a:rPr>
              <a:t>渠道伙伴、集成商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价值　</a:t>
            </a:r>
            <a:r>
              <a:rPr sz="1200" b="0">
                <a:solidFill>
                  <a:srgbClr val="5E6478"/>
                </a:solidFill>
              </a:rPr>
              <a:t>标准接入、指标调用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收费　</a:t>
            </a:r>
            <a:r>
              <a:rPr sz="1200" b="0">
                <a:solidFill>
                  <a:srgbClr val="5E6478"/>
                </a:solidFill>
              </a:rPr>
              <a:t>年费 + 调用量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023360"/>
            <a:ext cx="3279648" cy="1536192"/>
          </a:xfrm>
          <a:prstGeom prst="roundRect">
            <a:avLst>
              <a:gd name="adj" fmla="val 595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4160520"/>
            <a:ext cx="291388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B4551A"/>
                </a:solidFill>
              </a:rPr>
              <a:t>区域文旅监测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" y="4590288"/>
            <a:ext cx="291388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2F42"/>
                </a:solidFill>
              </a:rPr>
              <a:t>客户　</a:t>
            </a:r>
            <a:r>
              <a:rPr sz="1200" b="0">
                <a:solidFill>
                  <a:srgbClr val="5E6478"/>
                </a:solidFill>
              </a:rPr>
              <a:t>文旅主管部门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价值　</a:t>
            </a:r>
            <a:r>
              <a:rPr sz="1200" b="0">
                <a:solidFill>
                  <a:srgbClr val="5E6478"/>
                </a:solidFill>
              </a:rPr>
              <a:t>客流、消费、安全研判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收费　</a:t>
            </a:r>
            <a:r>
              <a:rPr sz="1200" b="0">
                <a:solidFill>
                  <a:srgbClr val="5E6478"/>
                </a:solidFill>
              </a:rPr>
              <a:t>项目 + 运营服务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20896" y="4023360"/>
            <a:ext cx="3279648" cy="1536192"/>
          </a:xfrm>
          <a:prstGeom prst="roundRect">
            <a:avLst>
              <a:gd name="adj" fmla="val 595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22064" y="4160520"/>
            <a:ext cx="291388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B4551A"/>
                </a:solidFill>
              </a:rPr>
              <a:t>行业研究与基准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2064" y="4590288"/>
            <a:ext cx="291388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2F42"/>
                </a:solidFill>
              </a:rPr>
              <a:t>客户　</a:t>
            </a:r>
            <a:r>
              <a:rPr sz="1200" b="0">
                <a:solidFill>
                  <a:srgbClr val="5E6478"/>
                </a:solidFill>
              </a:rPr>
              <a:t>文旅集团、研究机构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价值　</a:t>
            </a:r>
            <a:r>
              <a:rPr sz="1200" b="0">
                <a:solidFill>
                  <a:srgbClr val="5E6478"/>
                </a:solidFill>
              </a:rPr>
              <a:t>报告、匿名对标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收费　</a:t>
            </a:r>
            <a:r>
              <a:rPr sz="1200" b="0">
                <a:solidFill>
                  <a:srgbClr val="5E6478"/>
                </a:solidFill>
              </a:rPr>
              <a:t>订阅或专题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3424" y="4023360"/>
            <a:ext cx="3279648" cy="1536192"/>
          </a:xfrm>
          <a:prstGeom prst="roundRect">
            <a:avLst>
              <a:gd name="adj" fmla="val 5952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84592" y="4160520"/>
            <a:ext cx="291388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FFE2C8"/>
                </a:solidFill>
              </a:rPr>
              <a:t>按产品核算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84592" y="4590288"/>
            <a:ext cx="291388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FFFFF"/>
                </a:solidFill>
              </a:rPr>
              <a:t>收入、交付人天、云资源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FFFFFF"/>
                </a:solidFill>
              </a:rPr>
              <a:t>模型调用、外部数据、客服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FFFFFF"/>
                </a:solidFill>
              </a:rPr>
              <a:t>看毛利、续约、复用率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85216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ock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998464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52728" y="585216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4551A"/>
                </a:solidFill>
              </a:rPr>
              <a:t>前提　</a:t>
            </a:r>
            <a:r>
              <a:rPr sz="1300" b="0">
                <a:solidFill>
                  <a:srgbClr val="2B2F42"/>
                </a:solidFill>
              </a:rPr>
              <a:t>数据来源、授权用途、交付粒度写清楚；不因数据进入平台就推定可以销售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行业成果：可验证的方法，可信的结论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价值是什么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要怎么建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有什么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03 要建什么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331720"/>
            <a:ext cx="3279648" cy="822960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59" y="2468879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o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19" y="2606039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27048" y="2441448"/>
            <a:ext cx="231952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B2F42"/>
                </a:solidFill>
              </a:rPr>
              <a:t>节假日洞察快报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788920"/>
            <a:ext cx="231952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预订、核销、渠道变化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20896" y="2331720"/>
            <a:ext cx="3279648" cy="822960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285488" y="2468879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oo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2648" y="2606039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989576" y="2441448"/>
            <a:ext cx="231952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B2F42"/>
                </a:solidFill>
              </a:rPr>
              <a:t>年度行业报告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9576" y="2788920"/>
            <a:ext cx="231952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数字经营与典型实践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83424" y="2331720"/>
            <a:ext cx="3279648" cy="822960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48015" y="2468879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har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5176" y="2606039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452103" y="2441448"/>
            <a:ext cx="231952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B2F42"/>
                </a:solidFill>
              </a:rPr>
              <a:t>基准与景气指数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2103" y="2788920"/>
            <a:ext cx="231952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同类景区匿名对标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291839"/>
            <a:ext cx="3279648" cy="822960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2959" y="3428999"/>
            <a:ext cx="548640" cy="548640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verified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19" y="3566159"/>
            <a:ext cx="274320" cy="2743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7048" y="3401568"/>
            <a:ext cx="231952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B2F42"/>
                </a:solidFill>
              </a:rPr>
              <a:t>数据与接入规范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7048" y="3749039"/>
            <a:ext cx="231952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模型、口径、接口契约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20896" y="3291839"/>
            <a:ext cx="3279648" cy="822960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285488" y="3428999"/>
            <a:ext cx="548640" cy="548640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databas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22648" y="3566159"/>
            <a:ext cx="274320" cy="2743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989576" y="3401568"/>
            <a:ext cx="231952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B2F42"/>
                </a:solidFill>
              </a:rPr>
              <a:t>高质量数据集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89576" y="3749039"/>
            <a:ext cx="231952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交易、核销、客流脱敏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83424" y="3291839"/>
            <a:ext cx="3279648" cy="822960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748015" y="3428999"/>
            <a:ext cx="548640" cy="548640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bulb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85176" y="3566159"/>
            <a:ext cx="274320" cy="27432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452103" y="3401568"/>
            <a:ext cx="231952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B2F42"/>
                </a:solidFill>
              </a:rPr>
              <a:t>AI 应用实践指南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52103" y="3749039"/>
            <a:ext cx="231952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问数评测、知识治理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4389120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方法论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8368" y="4736592"/>
            <a:ext cx="1931212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公开样本与口径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26740" y="4736592"/>
            <a:ext cx="1931212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区分同店与新增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95113" y="4736592"/>
            <a:ext cx="1931212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不外推全国市场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863486" y="4736592"/>
            <a:ext cx="1931212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最小分组规模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31859" y="4736592"/>
            <a:ext cx="1931212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AI 起草，专家审核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" y="562356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globe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9536" y="5769864"/>
            <a:ext cx="274320" cy="2743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252728" y="562356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发布渠道　</a:t>
            </a:r>
            <a:r>
              <a:rPr sz="1300" b="0">
                <a:solidFill>
                  <a:srgbClr val="FFFFFF"/>
                </a:solidFill>
              </a:rPr>
              <a:t>依托文旅部技术创新中心；规范从企业版到伙伴共建，再推动团体标准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63440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要怎么建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800" b="0">
                <a:solidFill>
                  <a:srgbClr val="EEEDFF"/>
                </a:solidFill>
              </a:rPr>
              <a:t>治理先行，按成熟度推进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本部分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演进路径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规范、样板、安全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AI 提效治理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湖仓合一与主题域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AI 问数链路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闭环样板与机制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一键接入与对外路径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组织与风险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有什么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459736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06624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缺什么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507992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4879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556248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03136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要怎么建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604504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851392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演进路径：按成熟度三步走，治理贯穿全程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011680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5E6478"/>
                </a:solidFill>
              </a:rPr>
              <a:t>起点：离线主流程已贯通；达到标志才进入下一阶段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价值是什么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要怎么建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缺什么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有什么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04 要怎么建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611880"/>
            <a:ext cx="3249168" cy="22860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5D95F1"/>
              </a:gs>
              <a:gs pos="100000">
                <a:srgbClr val="6C95FD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3776472"/>
            <a:ext cx="279196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第一阶段 · 可信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4069080"/>
            <a:ext cx="279196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</a:rPr>
              <a:t>治理筑基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4572000"/>
            <a:ext cx="279196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</a:rPr>
              <a:t>核心数据可信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FFFFFF"/>
                </a:solidFill>
              </a:rPr>
              <a:t>标准 · 质量 · 核销主题域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7" y="5148072"/>
            <a:ext cx="2883408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/>
            <a:r>
              <a:rPr sz="1150" b="1">
                <a:solidFill>
                  <a:srgbClr val="655BE6"/>
                </a:solidFill>
              </a:rPr>
              <a:t>进入下一步：标准指标统一使用，关键数字对账稳定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36136" y="3108960"/>
            <a:ext cx="3249168" cy="2788920"/>
          </a:xfrm>
          <a:prstGeom prst="roundRect">
            <a:avLst>
              <a:gd name="adj" fmla="val 4918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64736" y="3273552"/>
            <a:ext cx="279196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第二阶段 · 可复用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64736" y="3566160"/>
            <a:ext cx="279196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</a:rPr>
              <a:t>平台统一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4736" y="4069080"/>
            <a:ext cx="279196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</a:rPr>
              <a:t>公共能力可复用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FFFFFF"/>
                </a:solidFill>
              </a:rPr>
              <a:t>共享模型 · 指标与标签服务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FFFFFF"/>
                </a:solidFill>
              </a:rPr>
              <a:t>AI 共用能力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19016" y="5148072"/>
            <a:ext cx="2883408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/>
            <a:r>
              <a:rPr sz="1150" b="1">
                <a:solidFill>
                  <a:srgbClr val="655BE6"/>
                </a:solidFill>
              </a:rPr>
              <a:t>进入下一步：公共模型成为默认来源，AI 问数稳定准确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13904" y="2606040"/>
            <a:ext cx="3249168" cy="3291840"/>
          </a:xfrm>
          <a:prstGeom prst="roundRect">
            <a:avLst>
              <a:gd name="adj" fmla="val 4221"/>
            </a:avLst>
          </a:prstGeom>
          <a:gradFill rotWithShape="1">
            <a:gsLst>
              <a:gs pos="0">
                <a:srgbClr val="655BE6"/>
              </a:gs>
              <a:gs pos="100000">
                <a:srgbClr val="776CFD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42504" y="2770632"/>
            <a:ext cx="279196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第三阶段 · 有价值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2504" y="3063240"/>
            <a:ext cx="279196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</a:rPr>
              <a:t>价值扩展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42504" y="3566160"/>
            <a:ext cx="279196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</a:rPr>
              <a:t>产品价值可验证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FFFFFF"/>
                </a:solidFill>
              </a:rPr>
              <a:t>景区自主分析 · 标准接入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FFFFFF"/>
                </a:solidFill>
              </a:rPr>
              <a:t>AI 应用 · 行业成果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96783" y="5148072"/>
            <a:ext cx="2883408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/>
            <a:r>
              <a:rPr sz="1150" b="1">
                <a:solidFill>
                  <a:srgbClr val="655BE6"/>
                </a:solidFill>
              </a:rPr>
              <a:t>验证方式：客户使用、续约与付费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6035040"/>
            <a:ext cx="3249168" cy="411480"/>
          </a:xfrm>
          <a:prstGeom prst="roundRect">
            <a:avLst>
              <a:gd name="adj" fmla="val 48888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655BE6"/>
                </a:solidFill>
              </a:rPr>
              <a:t>AI 提效治理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36136" y="6035040"/>
            <a:ext cx="3249168" cy="411480"/>
          </a:xfrm>
          <a:prstGeom prst="roundRect">
            <a:avLst>
              <a:gd name="adj" fmla="val 48888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655BE6"/>
                </a:solidFill>
              </a:rPr>
              <a:t>AI 成为平台原生能力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13904" y="6035040"/>
            <a:ext cx="3249168" cy="411480"/>
          </a:xfrm>
          <a:prstGeom prst="roundRect">
            <a:avLst>
              <a:gd name="adj" fmla="val 48888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655BE6"/>
                </a:solidFill>
              </a:rPr>
              <a:t>AI 面向业务与客户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规范治理：把规范从文档变成卡点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价值是什么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要怎么建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有什么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04 要怎么建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55748" y="2377440"/>
            <a:ext cx="1005840" cy="685800"/>
          </a:xfrm>
          <a:prstGeom prst="roundRect">
            <a:avLst>
              <a:gd name="adj" fmla="val 133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Courier New"/>
                <a:ea typeface="Courier New"/>
              </a:rPr>
              <a:t>dwd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55748" y="315468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分层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1588" y="2377440"/>
            <a:ext cx="384048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600" b="1">
                <a:solidFill>
                  <a:srgbClr val="C7C2FD"/>
                </a:solidFill>
              </a:rPr>
              <a:t>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45636" y="2377440"/>
            <a:ext cx="1005840" cy="685800"/>
          </a:xfrm>
          <a:prstGeom prst="roundRect">
            <a:avLst>
              <a:gd name="adj" fmla="val 13333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Courier New"/>
                <a:ea typeface="Courier New"/>
              </a:rPr>
              <a:t>trd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45636" y="315468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主题域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1476" y="2377440"/>
            <a:ext cx="384048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600" b="1">
                <a:solidFill>
                  <a:srgbClr val="C7C2FD"/>
                </a:solidFill>
              </a:rPr>
              <a:t>_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35524" y="2377440"/>
            <a:ext cx="2377440" cy="685800"/>
          </a:xfrm>
          <a:prstGeom prst="roundRect">
            <a:avLst>
              <a:gd name="adj" fmla="val 13333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B2F42"/>
                </a:solidFill>
                <a:latin typeface="Courier New"/>
                <a:ea typeface="Courier New"/>
              </a:rPr>
              <a:t>order_item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5524" y="31546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业务过程与粒度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12964" y="2377440"/>
            <a:ext cx="384048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600" b="1">
                <a:solidFill>
                  <a:srgbClr val="C7C2FD"/>
                </a:solidFill>
              </a:rPr>
              <a:t>_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7012" y="2377440"/>
            <a:ext cx="868680" cy="685800"/>
          </a:xfrm>
          <a:prstGeom prst="roundRect">
            <a:avLst>
              <a:gd name="adj" fmla="val 13333"/>
            </a:avLst>
          </a:prstGeom>
          <a:solidFill>
            <a:srgbClr val="F7C5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B2F42"/>
                </a:solidFill>
                <a:latin typeface="Courier New"/>
                <a:ea typeface="Courier New"/>
              </a:rPr>
              <a:t>di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7012" y="3154680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更新方式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794760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DDL 必填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47088" y="3794760"/>
            <a:ext cx="7863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中文名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24912" y="3794760"/>
            <a:ext cx="6339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描述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50336" y="3794760"/>
            <a:ext cx="7863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负责人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8160" y="3794760"/>
            <a:ext cx="9387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安全等级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58384" y="3794760"/>
            <a:ext cx="9387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生命周期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88608" y="3794760"/>
            <a:ext cx="9387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分区字段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18832" y="3794760"/>
            <a:ext cx="9387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字段注释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49056" y="3794760"/>
            <a:ext cx="17007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发生时间与上报时间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4800600"/>
            <a:ext cx="3096768" cy="1051560"/>
          </a:xfrm>
          <a:prstGeom prst="roundRect">
            <a:avLst>
              <a:gd name="adj" fmla="val 8695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新建 · 卡点</a:t>
            </a:r>
          </a:p>
          <a:p>
            <a:pPr algn="ctr">
              <a:spcBef>
                <a:spcPts val="400"/>
              </a:spcBef>
            </a:pPr>
            <a:r>
              <a:rPr sz="1200" b="0">
                <a:solidFill>
                  <a:srgbClr val="FFFFFF"/>
                </a:solidFill>
              </a:rPr>
              <a:t>发布前自动检查，不合规不发布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3864864" y="5212080"/>
            <a:ext cx="237744" cy="219456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212336" y="4800600"/>
            <a:ext cx="3096768" cy="1051560"/>
          </a:xfrm>
          <a:prstGeom prst="roundRect">
            <a:avLst>
              <a:gd name="adj" fmla="val 869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存量 · 整改</a:t>
            </a:r>
          </a:p>
          <a:p>
            <a:pPr algn="ctr">
              <a:spcBef>
                <a:spcPts val="400"/>
              </a:spcBef>
            </a:pPr>
            <a:r>
              <a:rPr sz="1200" b="0">
                <a:solidFill>
                  <a:srgbClr val="5E6478"/>
                </a:solidFill>
              </a:rPr>
              <a:t>核心表优先，AI 补描述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7418832" y="5212080"/>
            <a:ext cx="237744" cy="219456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766304" y="4800600"/>
            <a:ext cx="3096768" cy="1051560"/>
          </a:xfrm>
          <a:prstGeom prst="roundRect">
            <a:avLst>
              <a:gd name="adj" fmla="val 8695"/>
            </a:avLst>
          </a:prstGeom>
          <a:solidFill>
            <a:srgbClr val="FDEEE2"/>
          </a:solidFill>
          <a:ln w="1270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持续 · 运营</a:t>
            </a:r>
          </a:p>
          <a:p>
            <a:pPr algn="ctr">
              <a:spcBef>
                <a:spcPts val="400"/>
              </a:spcBef>
            </a:pPr>
            <a:r>
              <a:rPr sz="1200" b="0">
                <a:solidFill>
                  <a:srgbClr val="5E6478"/>
                </a:solidFill>
              </a:rPr>
              <a:t>资产健康分，月度公示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治理样板：入园与核销数据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价值是什么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要怎么建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有什么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04 要怎么建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28600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第一步　厘清四个指标，不能互相替代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33472"/>
            <a:ext cx="2208276" cy="868680"/>
          </a:xfrm>
          <a:prstGeom prst="roundRect">
            <a:avLst>
              <a:gd name="adj" fmla="val 1052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核销次数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5E6478"/>
                </a:solidFill>
              </a:rPr>
              <a:t>按发生时间，扣除撤销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66644" y="2633472"/>
            <a:ext cx="45720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400" b="1">
                <a:solidFill>
                  <a:srgbClr val="F08A3C"/>
                </a:solidFill>
              </a:rPr>
              <a:t>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3844" y="2633472"/>
            <a:ext cx="2208276" cy="868680"/>
          </a:xfrm>
          <a:prstGeom prst="roundRect">
            <a:avLst>
              <a:gd name="adj" fmla="val 1052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有效核销票数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5E6478"/>
                </a:solidFill>
              </a:rPr>
              <a:t>至少核销一次的票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2120" y="2633472"/>
            <a:ext cx="45720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400" b="1">
                <a:solidFill>
                  <a:srgbClr val="F08A3C"/>
                </a:solidFill>
              </a:rPr>
              <a:t>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2633472"/>
            <a:ext cx="2208276" cy="868680"/>
          </a:xfrm>
          <a:prstGeom prst="roundRect">
            <a:avLst>
              <a:gd name="adj" fmla="val 1052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入园人次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5E6478"/>
                </a:solidFill>
              </a:rPr>
              <a:t>入园通行次数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7596" y="2633472"/>
            <a:ext cx="45720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400" b="1">
                <a:solidFill>
                  <a:srgbClr val="F08A3C"/>
                </a:solidFill>
              </a:rPr>
              <a:t>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54796" y="2633472"/>
            <a:ext cx="2208276" cy="868680"/>
          </a:xfrm>
          <a:prstGeom prst="roundRect">
            <a:avLst>
              <a:gd name="adj" fmla="val 1052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去重游客数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5E6478"/>
                </a:solidFill>
              </a:rPr>
              <a:t>去重后的游客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49039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第二步　逐层核对，差异可追溯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114800"/>
            <a:ext cx="1691640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源端记录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350008" y="4398264"/>
            <a:ext cx="436626" cy="0"/>
          </a:xfrm>
          <a:prstGeom prst="line">
            <a:avLst/>
          </a:prstGeom>
          <a:ln w="25400">
            <a:solidFill>
              <a:srgbClr val="776CFD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786634" y="4114800"/>
            <a:ext cx="1691640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加工明细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478274" y="4398264"/>
            <a:ext cx="436626" cy="0"/>
          </a:xfrm>
          <a:prstGeom prst="line">
            <a:avLst/>
          </a:prstGeom>
          <a:ln w="25400">
            <a:solidFill>
              <a:srgbClr val="776CFD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914900" y="4114800"/>
            <a:ext cx="1691640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汇总指标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606540" y="4398264"/>
            <a:ext cx="436626" cy="0"/>
          </a:xfrm>
          <a:prstGeom prst="line">
            <a:avLst/>
          </a:prstGeom>
          <a:ln w="25400">
            <a:solidFill>
              <a:srgbClr val="776CFD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043166" y="4114800"/>
            <a:ext cx="1691640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API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734806" y="4398264"/>
            <a:ext cx="436626" cy="0"/>
          </a:xfrm>
          <a:prstGeom prst="line">
            <a:avLst/>
          </a:prstGeom>
          <a:ln w="25400">
            <a:solidFill>
              <a:srgbClr val="776CFD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171432" y="4114800"/>
            <a:ext cx="1691640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Quick BI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0017252" y="4681728"/>
            <a:ext cx="0" cy="347472"/>
          </a:xfrm>
          <a:prstGeom prst="line">
            <a:avLst/>
          </a:prstGeom>
          <a:ln w="285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504188" y="5029200"/>
            <a:ext cx="8513064" cy="0"/>
          </a:xfrm>
          <a:prstGeom prst="line">
            <a:avLst/>
          </a:prstGeom>
          <a:ln w="285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1504188" y="4681728"/>
            <a:ext cx="0" cy="347472"/>
          </a:xfrm>
          <a:prstGeom prst="line">
            <a:avLst/>
          </a:prstGeom>
          <a:ln w="28575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200400" y="5120640"/>
            <a:ext cx="512064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B4551A"/>
                </a:solidFill>
              </a:rPr>
              <a:t>发现差异 → 追溯 → 修复 → 重算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715000"/>
            <a:ext cx="5010912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/>
            <a:r>
              <a:rPr sz="1300" b="1">
                <a:solidFill>
                  <a:srgbClr val="FFE2C8"/>
                </a:solidFill>
              </a:rPr>
              <a:t>长效　</a:t>
            </a:r>
            <a:r>
              <a:rPr sz="1300" b="0">
                <a:solidFill>
                  <a:srgbClr val="FFFFFF"/>
                </a:solidFill>
              </a:rPr>
              <a:t>关键规则失败，阻断下游发布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852160" y="5715000"/>
            <a:ext cx="5010912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/>
            <a:r>
              <a:rPr sz="1300" b="1">
                <a:solidFill>
                  <a:srgbClr val="FFE2C8"/>
                </a:solidFill>
              </a:rPr>
              <a:t>透明　</a:t>
            </a:r>
            <a:r>
              <a:rPr sz="1300" b="0">
                <a:solidFill>
                  <a:srgbClr val="FFFFFF"/>
                </a:solidFill>
              </a:rPr>
              <a:t>看板与 API 标注更新时间和质量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数据安全：分级管控，权属清楚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价值是什么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要怎么建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有什么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04 要怎么建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286000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数据分级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18488" y="2633472"/>
            <a:ext cx="2926080" cy="777240"/>
          </a:xfrm>
          <a:prstGeom prst="roundRect">
            <a:avLst>
              <a:gd name="adj" fmla="val 11764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L4 高敏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个人信息、人脸、政务核验结果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98448" y="3520439"/>
            <a:ext cx="3566160" cy="777240"/>
          </a:xfrm>
          <a:prstGeom prst="roundRect">
            <a:avLst>
              <a:gd name="adj" fmla="val 11764"/>
            </a:avLst>
          </a:prstGeom>
          <a:solidFill>
            <a:srgbClr val="F7C5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L3 敏感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单景区经营、价格、结算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8408" y="4407408"/>
            <a:ext cx="4206240" cy="777240"/>
          </a:xfrm>
          <a:prstGeom prst="roundRect">
            <a:avLst>
              <a:gd name="adj" fmla="val 11764"/>
            </a:avLst>
          </a:prstGeom>
          <a:solidFill>
            <a:srgbClr val="E4E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L2 内部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日志、设备状态、匿名聚合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5294376"/>
            <a:ext cx="4846320" cy="777240"/>
          </a:xfrm>
          <a:prstGeom prst="roundRect">
            <a:avLst>
              <a:gd name="adj" fmla="val 11764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L1 公开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已发布的报告与规范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286000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权属边界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0" y="2633472"/>
            <a:ext cx="5010912" cy="493776"/>
          </a:xfrm>
          <a:prstGeom prst="roundRect">
            <a:avLst>
              <a:gd name="adj" fmla="val 18518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2B2F42"/>
                </a:solidFill>
              </a:rPr>
              <a:t>景区数据　</a:t>
            </a:r>
            <a:r>
              <a:rPr sz="1250" b="0">
                <a:solidFill>
                  <a:srgbClr val="5E6478"/>
                </a:solidFill>
              </a:rPr>
              <a:t>只服务该景区本人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3218688"/>
            <a:ext cx="5010912" cy="493776"/>
          </a:xfrm>
          <a:prstGeom prst="roundRect">
            <a:avLst>
              <a:gd name="adj" fmla="val 18518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2B2F42"/>
                </a:solidFill>
              </a:rPr>
              <a:t>渠道数据　</a:t>
            </a:r>
            <a:r>
              <a:rPr sz="1250" b="0">
                <a:solidFill>
                  <a:srgbClr val="5E6478"/>
                </a:solidFill>
              </a:rPr>
              <a:t>不向其他渠道披露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803904"/>
            <a:ext cx="5010912" cy="493776"/>
          </a:xfrm>
          <a:prstGeom prst="roundRect">
            <a:avLst>
              <a:gd name="adj" fmla="val 18518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2B2F42"/>
                </a:solidFill>
              </a:rPr>
              <a:t>游客信息　</a:t>
            </a:r>
            <a:r>
              <a:rPr sz="1250" b="0">
                <a:solidFill>
                  <a:srgbClr val="5E6478"/>
                </a:solidFill>
              </a:rPr>
              <a:t>在用户授权范围内使用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52160" y="4389120"/>
            <a:ext cx="5010912" cy="493776"/>
          </a:xfrm>
          <a:prstGeom prst="roundRect">
            <a:avLst>
              <a:gd name="adj" fmla="val 18518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2B2F42"/>
                </a:solidFill>
              </a:rPr>
              <a:t>政务数据　</a:t>
            </a:r>
            <a:r>
              <a:rPr sz="1250" b="0">
                <a:solidFill>
                  <a:srgbClr val="5E6478"/>
                </a:solidFill>
              </a:rPr>
              <a:t>只用核验结果，不留原始数据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4974336"/>
            <a:ext cx="5010912" cy="493776"/>
          </a:xfrm>
          <a:prstGeom prst="roundRect">
            <a:avLst>
              <a:gd name="adj" fmla="val 18518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2B2F42"/>
                </a:solidFill>
              </a:rPr>
              <a:t>外部采购　</a:t>
            </a:r>
            <a:r>
              <a:rPr sz="1250" b="0">
                <a:solidFill>
                  <a:srgbClr val="5E6478"/>
                </a:solidFill>
              </a:rPr>
              <a:t>按合同约定范围使用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5559552"/>
            <a:ext cx="5010912" cy="493776"/>
          </a:xfrm>
          <a:prstGeom prst="roundRect">
            <a:avLst>
              <a:gd name="adj" fmla="val 18518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FFE2C8"/>
                </a:solidFill>
              </a:rPr>
              <a:t>对外输出　</a:t>
            </a:r>
            <a:r>
              <a:rPr sz="1250" b="0">
                <a:solidFill>
                  <a:srgbClr val="FFFFFF"/>
                </a:solidFill>
              </a:rPr>
              <a:t>仅限匿名聚合结果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6309360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423660"/>
            <a:ext cx="274320" cy="2743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52728" y="6309360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655BE6"/>
                </a:solidFill>
              </a:rPr>
              <a:t>L4 明文不进入大模型　</a:t>
            </a:r>
            <a:r>
              <a:rPr sz="1200" b="0">
                <a:solidFill>
                  <a:srgbClr val="2B2F42"/>
                </a:solidFill>
              </a:rPr>
              <a:t>字段级打标 · 脱敏 · 行列权限 · 租户隔离 · 访问留痕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AI 提效治理：AI 先做，负责人确认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价值是什么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要怎么建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有什么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04 要怎么建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24028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5E6478"/>
                </a:solidFill>
              </a:rPr>
              <a:t>场景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2402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776CFD"/>
                </a:solidFill>
              </a:rPr>
              <a:t>AI 先做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2402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B4551A"/>
                </a:solidFill>
              </a:rPr>
              <a:t>负责人确认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606040"/>
            <a:ext cx="1965960" cy="530352"/>
          </a:xfrm>
          <a:prstGeom prst="roundRect">
            <a:avLst>
              <a:gd name="adj" fmla="val 1724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存量元数据补全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2606040"/>
            <a:ext cx="4343400" cy="530352"/>
          </a:xfrm>
          <a:prstGeom prst="roundRect">
            <a:avLst>
              <a:gd name="adj" fmla="val 17241"/>
            </a:avLst>
          </a:prstGeom>
          <a:solidFill>
            <a:srgbClr val="DF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根据表结构与 SQL 生成表和字段描述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178040" y="2770632"/>
            <a:ext cx="292608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589520" y="2606040"/>
            <a:ext cx="32735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负责人审核后回写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273552"/>
            <a:ext cx="1965960" cy="530352"/>
          </a:xfrm>
          <a:prstGeom prst="roundRect">
            <a:avLst>
              <a:gd name="adj" fmla="val 1724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规范命名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3273552"/>
            <a:ext cx="4343400" cy="530352"/>
          </a:xfrm>
          <a:prstGeom prst="roundRect">
            <a:avLst>
              <a:gd name="adj" fmla="val 17241"/>
            </a:avLst>
          </a:prstGeom>
          <a:solidFill>
            <a:srgbClr val="DF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推荐规范的表名、字段名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178040" y="3438144"/>
            <a:ext cx="292608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589520" y="3273552"/>
            <a:ext cx="32735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开发确认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941064"/>
            <a:ext cx="1965960" cy="530352"/>
          </a:xfrm>
          <a:prstGeom prst="roundRect">
            <a:avLst>
              <a:gd name="adj" fmla="val 1724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口径冲突发现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0" y="3941064"/>
            <a:ext cx="4343400" cy="530352"/>
          </a:xfrm>
          <a:prstGeom prst="roundRect">
            <a:avLst>
              <a:gd name="adj" fmla="val 17241"/>
            </a:avLst>
          </a:prstGeom>
          <a:solidFill>
            <a:srgbClr val="DF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识别同名异义、同义异算、相似 SQL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178040" y="4105656"/>
            <a:ext cx="292608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589520" y="3941064"/>
            <a:ext cx="32735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治理委员会裁定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608576"/>
            <a:ext cx="1965960" cy="530352"/>
          </a:xfrm>
          <a:prstGeom prst="roundRect">
            <a:avLst>
              <a:gd name="adj" fmla="val 1724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质量规则推荐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4608576"/>
            <a:ext cx="4343400" cy="530352"/>
          </a:xfrm>
          <a:prstGeom prst="roundRect">
            <a:avLst>
              <a:gd name="adj" fmla="val 17241"/>
            </a:avLst>
          </a:prstGeom>
          <a:solidFill>
            <a:srgbClr val="DF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按字段特征和历史数据推荐规则与阈值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178040" y="4773168"/>
            <a:ext cx="292608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589520" y="4608576"/>
            <a:ext cx="32735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技术负责人确认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276088"/>
            <a:ext cx="1965960" cy="530352"/>
          </a:xfrm>
          <a:prstGeom prst="roundRect">
            <a:avLst>
              <a:gd name="adj" fmla="val 1724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敏感字段识别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0" y="5276088"/>
            <a:ext cx="4343400" cy="530352"/>
          </a:xfrm>
          <a:prstGeom prst="roundRect">
            <a:avLst>
              <a:gd name="adj" fmla="val 17241"/>
            </a:avLst>
          </a:prstGeom>
          <a:solidFill>
            <a:srgbClr val="DF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自动识别证件、手机号、人脸并打标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7178040" y="5440679"/>
            <a:ext cx="292608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589520" y="5276088"/>
            <a:ext cx="32735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安全负责人复核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943600"/>
            <a:ext cx="1965960" cy="530352"/>
          </a:xfrm>
          <a:prstGeom prst="roundRect">
            <a:avLst>
              <a:gd name="adj" fmla="val 1724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异常根因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0" y="5943600"/>
            <a:ext cx="4343400" cy="530352"/>
          </a:xfrm>
          <a:prstGeom prst="roundRect">
            <a:avLst>
              <a:gd name="adj" fmla="val 17241"/>
            </a:avLst>
          </a:prstGeom>
          <a:solidFill>
            <a:srgbClr val="DF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结合血缘给出可能原因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7178040" y="6108192"/>
            <a:ext cx="292608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589520" y="5943600"/>
            <a:ext cx="32735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值班处理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离线与湖仓合一：消除重复开发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价值是什么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要怎么建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有什么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04 要怎么建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331720"/>
            <a:ext cx="4663440" cy="2331720"/>
          </a:xfrm>
          <a:prstGeom prst="roundRect">
            <a:avLst>
              <a:gd name="adj" fmla="val 5882"/>
            </a:avLst>
          </a:prstGeom>
          <a:solidFill>
            <a:srgbClr val="FDEEE2"/>
          </a:solidFill>
          <a:ln w="15875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450592"/>
            <a:ext cx="365760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B4551A"/>
                </a:solidFill>
              </a:rPr>
              <a:t>现状：两条链路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2926080"/>
            <a:ext cx="5486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B2F42"/>
                </a:solidFill>
              </a:rPr>
              <a:t>离线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35607" y="2926080"/>
            <a:ext cx="1024128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源数据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505456" y="3044952"/>
            <a:ext cx="182880" cy="164592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734056" y="2926080"/>
            <a:ext cx="1024128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离线模型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803903" y="3044952"/>
            <a:ext cx="182880" cy="164592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32503" y="2926080"/>
            <a:ext cx="1024128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指标 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3493008"/>
            <a:ext cx="5486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B2F42"/>
                </a:solidFill>
              </a:rPr>
              <a:t>湖仓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35607" y="3493008"/>
            <a:ext cx="1024128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源数据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2505456" y="3611880"/>
            <a:ext cx="182880" cy="164592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734056" y="3493008"/>
            <a:ext cx="1024128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湖仓模型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3803903" y="3611880"/>
            <a:ext cx="182880" cy="164592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032503" y="3493008"/>
            <a:ext cx="1024128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指标 A′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4160520"/>
            <a:ext cx="4297679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B4551A"/>
                </a:solidFill>
              </a:rPr>
              <a:t>同一逻辑写两遍 · 结果对不上 · 改口径要改多处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5413247" y="3291840"/>
            <a:ext cx="411480" cy="347472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916168" y="2331720"/>
            <a:ext cx="4946904" cy="2331720"/>
          </a:xfrm>
          <a:prstGeom prst="roundRect">
            <a:avLst>
              <a:gd name="adj" fmla="val 5882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44768" y="2450592"/>
            <a:ext cx="365760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776CFD"/>
                </a:solidFill>
              </a:rPr>
              <a:t>目标：一个底座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44768" y="2852928"/>
            <a:ext cx="4489704" cy="411480"/>
          </a:xfrm>
          <a:prstGeom prst="roundRect">
            <a:avLst>
              <a:gd name="adj" fmla="val 22222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公共层 DWD · DIM · DWS（只建一次）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44768" y="3364992"/>
            <a:ext cx="219913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离线计算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35340" y="3364992"/>
            <a:ext cx="219913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实时计算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8289036" y="3794760"/>
            <a:ext cx="201168" cy="228600"/>
          </a:xfrm>
          <a:prstGeom prst="down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44768" y="4069080"/>
            <a:ext cx="4489704" cy="411480"/>
          </a:xfrm>
          <a:prstGeom prst="roundRect">
            <a:avLst>
              <a:gd name="adj" fmla="val 22222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统一指标 → BI · API · 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4937760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合并步骤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303520"/>
            <a:ext cx="1733702" cy="548640"/>
          </a:xfrm>
          <a:prstGeom prst="roundRect">
            <a:avLst>
              <a:gd name="adj" fmla="val 16666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盘点重叠模型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2465222" y="5477256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776118" y="5303520"/>
            <a:ext cx="1733702" cy="548640"/>
          </a:xfrm>
          <a:prstGeom prst="roundRect">
            <a:avLst>
              <a:gd name="adj" fmla="val 16666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确定保留版本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4582972" y="5477256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893868" y="5303520"/>
            <a:ext cx="1733702" cy="548640"/>
          </a:xfrm>
          <a:prstGeom prst="roundRect">
            <a:avLst>
              <a:gd name="adj" fmla="val 16666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下游改为引用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6700723" y="5477256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011619" y="5303520"/>
            <a:ext cx="1733702" cy="548640"/>
          </a:xfrm>
          <a:prstGeom prst="roundRect">
            <a:avLst>
              <a:gd name="adj" fmla="val 16666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双跑对比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8818473" y="5477256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129369" y="5303520"/>
            <a:ext cx="1733702" cy="548640"/>
          </a:xfrm>
          <a:prstGeom prst="roundRect">
            <a:avLst>
              <a:gd name="adj" fmla="val 16666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下线重复模型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035040"/>
            <a:ext cx="10204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存量不动、增量按新规范，双跑通过后逐域切换，保留回滚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以主流程为基线，逐步补齐主题域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价值是什么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要怎么建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有什么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04 要怎么建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331720"/>
            <a:ext cx="2743200" cy="3520440"/>
          </a:xfrm>
          <a:prstGeom prst="roundRect">
            <a:avLst>
              <a:gd name="adj" fmla="val 333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182880" bIns="91440"/>
          <a:lstStyle/>
          <a:p>
            <a:pPr algn="l"/>
            <a:r>
              <a:rPr sz="1200" b="1">
                <a:solidFill>
                  <a:srgbClr val="EEEDFF"/>
                </a:solidFill>
              </a:rPr>
              <a:t>基线</a:t>
            </a:r>
          </a:p>
          <a:p>
            <a:pPr algn="l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</a:rPr>
              <a:t>离线主流程</a:t>
            </a:r>
          </a:p>
          <a:p>
            <a:pPr algn="l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</a:rPr>
              <a:t>已贯通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供应商 / 游客 / 会员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→ 订单 → 维度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520440" y="3931920"/>
            <a:ext cx="384048" cy="32918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0" y="2331720"/>
            <a:ext cx="914400" cy="1691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优先补齐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2331720"/>
            <a:ext cx="1853184" cy="1691640"/>
          </a:xfrm>
          <a:prstGeom prst="roundRect">
            <a:avLst>
              <a:gd name="adj" fmla="val 5405"/>
            </a:avLst>
          </a:prstGeom>
          <a:solidFill>
            <a:srgbClr val="FDEEE2"/>
          </a:solidFill>
          <a:ln w="1905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bIns="91440"/>
          <a:lstStyle/>
          <a:p>
            <a:pPr algn="l"/>
            <a:r>
              <a:rPr sz="1100" b="1">
                <a:solidFill>
                  <a:srgbClr val="B4551A"/>
                </a:solidFill>
              </a:rPr>
              <a:t>1 · 治理样板</a:t>
            </a:r>
          </a:p>
          <a:p>
            <a:pPr algn="l">
              <a:spcBef>
                <a:spcPts val="400"/>
              </a:spcBef>
            </a:pPr>
            <a:r>
              <a:rPr sz="1700" b="1">
                <a:solidFill>
                  <a:srgbClr val="2B2F42"/>
                </a:solidFill>
              </a:rPr>
              <a:t>核销履约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5E6478"/>
                </a:solidFill>
              </a:rPr>
              <a:t>关系入园准确性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19544" y="2331720"/>
            <a:ext cx="1853184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bIns="91440"/>
          <a:lstStyle/>
          <a:p>
            <a:pPr algn="l"/>
            <a:r>
              <a:rPr sz="1100" b="1">
                <a:solidFill>
                  <a:srgbClr val="776CFD"/>
                </a:solidFill>
              </a:rPr>
              <a:t>2</a:t>
            </a:r>
          </a:p>
          <a:p>
            <a:pPr algn="l">
              <a:spcBef>
                <a:spcPts val="400"/>
              </a:spcBef>
            </a:pPr>
            <a:r>
              <a:rPr sz="1700" b="1">
                <a:solidFill>
                  <a:srgbClr val="2B2F42"/>
                </a:solidFill>
              </a:rPr>
              <a:t>渠道分销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5E6478"/>
                </a:solidFill>
              </a:rPr>
              <a:t>渠道 ROI 与价格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9888" y="2331720"/>
            <a:ext cx="1853184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bIns="91440"/>
          <a:lstStyle/>
          <a:p>
            <a:pPr algn="l"/>
            <a:r>
              <a:rPr sz="1100" b="1">
                <a:solidFill>
                  <a:srgbClr val="776CFD"/>
                </a:solidFill>
              </a:rPr>
              <a:t>3</a:t>
            </a:r>
          </a:p>
          <a:p>
            <a:pPr algn="l">
              <a:spcBef>
                <a:spcPts val="400"/>
              </a:spcBef>
            </a:pPr>
            <a:r>
              <a:rPr sz="1700" b="1">
                <a:solidFill>
                  <a:srgbClr val="2B2F42"/>
                </a:solidFill>
              </a:rPr>
              <a:t>结算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5E6478"/>
                </a:solidFill>
              </a:rPr>
              <a:t>与财务逐层核对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4160520"/>
            <a:ext cx="914400" cy="1691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后续补齐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4160520"/>
            <a:ext cx="1853184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bIns="91440"/>
          <a:lstStyle/>
          <a:p>
            <a:pPr algn="l"/>
            <a:r>
              <a:rPr sz="1100" b="1">
                <a:solidFill>
                  <a:srgbClr val="776CFD"/>
                </a:solidFill>
              </a:rPr>
              <a:t>4</a:t>
            </a:r>
          </a:p>
          <a:p>
            <a:pPr algn="l">
              <a:spcBef>
                <a:spcPts val="400"/>
              </a:spcBef>
            </a:pPr>
            <a:r>
              <a:rPr sz="1700" b="1">
                <a:solidFill>
                  <a:srgbClr val="2B2F42"/>
                </a:solidFill>
              </a:rPr>
              <a:t>商品资源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5E6478"/>
                </a:solidFill>
              </a:rPr>
              <a:t>票种、库存、价格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19544" y="4160520"/>
            <a:ext cx="1853184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bIns="91440"/>
          <a:lstStyle/>
          <a:p>
            <a:pPr algn="l"/>
            <a:r>
              <a:rPr sz="1100" b="1">
                <a:solidFill>
                  <a:srgbClr val="776CFD"/>
                </a:solidFill>
              </a:rPr>
              <a:t>5</a:t>
            </a:r>
          </a:p>
          <a:p>
            <a:pPr algn="l">
              <a:spcBef>
                <a:spcPts val="400"/>
              </a:spcBef>
            </a:pPr>
            <a:r>
              <a:rPr sz="1700" b="1">
                <a:solidFill>
                  <a:srgbClr val="2B2F42"/>
                </a:solidFill>
              </a:rPr>
              <a:t>营销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5E6478"/>
                </a:solidFill>
              </a:rPr>
              <a:t>活动全链路打通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9888" y="4160520"/>
            <a:ext cx="1853184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bIns="91440"/>
          <a:lstStyle/>
          <a:p>
            <a:pPr algn="l"/>
            <a:r>
              <a:rPr sz="1100" b="1">
                <a:solidFill>
                  <a:srgbClr val="776CFD"/>
                </a:solidFill>
              </a:rPr>
              <a:t>6</a:t>
            </a:r>
          </a:p>
          <a:p>
            <a:pPr algn="l">
              <a:spcBef>
                <a:spcPts val="400"/>
              </a:spcBef>
            </a:pPr>
            <a:r>
              <a:rPr sz="1700" b="1">
                <a:solidFill>
                  <a:srgbClr val="2B2F42"/>
                </a:solidFill>
              </a:rPr>
              <a:t>SaaS 与设备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5E6478"/>
                </a:solidFill>
              </a:rPr>
              <a:t>客户使用与设备事件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6172200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in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286500"/>
            <a:ext cx="274320" cy="274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52728" y="6172200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655BE6"/>
                </a:solidFill>
              </a:rPr>
              <a:t>复用公共维度　</a:t>
            </a:r>
            <a:r>
              <a:rPr sz="1300" b="0">
                <a:solidFill>
                  <a:srgbClr val="2B2F42"/>
                </a:solidFill>
              </a:rPr>
              <a:t>租户 · 景区 · 商品 · 渠道 · 时间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AI 问数：答得准、有出处、答不了就澄清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价值是什么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要怎么建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有什么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04 要怎么建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377440"/>
            <a:ext cx="1222683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776CFD"/>
                </a:solidFill>
              </a:rPr>
              <a:t>1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识别用户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与租户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917627" y="2852928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155371" y="2377440"/>
            <a:ext cx="1222683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776CFD"/>
                </a:solidFill>
              </a:rPr>
              <a:t>2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澄清指标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与时间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414630" y="2852928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2374" y="2377440"/>
            <a:ext cx="1222683" cy="1143000"/>
          </a:xfrm>
          <a:prstGeom prst="roundRect">
            <a:avLst>
              <a:gd name="adj" fmla="val 8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776CFD"/>
                </a:solidFill>
              </a:rPr>
              <a:t>3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匹配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认证指标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911634" y="2852928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49378" y="2377440"/>
            <a:ext cx="1222683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776CFD"/>
                </a:solidFill>
              </a:rPr>
              <a:t>4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权限与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成本检查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408637" y="2852928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46381" y="2377440"/>
            <a:ext cx="1222683" cy="1143000"/>
          </a:xfrm>
          <a:prstGeom prst="roundRect">
            <a:avLst>
              <a:gd name="adj" fmla="val 8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776CFD"/>
                </a:solidFill>
              </a:rPr>
              <a:t>5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调用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指标服务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905641" y="2852928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43385" y="2377440"/>
            <a:ext cx="1222683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776CFD"/>
                </a:solidFill>
              </a:rPr>
              <a:t>6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校验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结果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402644" y="2852928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40388" y="2377440"/>
            <a:ext cx="1222683" cy="1143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7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FFFFFF"/>
                </a:solidFill>
              </a:rPr>
              <a:t>附口径、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FFFFFF"/>
                </a:solidFill>
              </a:rPr>
              <a:t>时间、质量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794760"/>
            <a:ext cx="4988052" cy="1417320"/>
          </a:xfrm>
          <a:prstGeom prst="roundRect">
            <a:avLst>
              <a:gd name="adj" fmla="val 645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3913632"/>
            <a:ext cx="27432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评测集覆盖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6968" y="4389120"/>
            <a:ext cx="938784" cy="34747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简单指标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17192" y="4389120"/>
            <a:ext cx="938784" cy="34747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对比归因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947416" y="4389120"/>
            <a:ext cx="938784" cy="34747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模糊问题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977640" y="4389120"/>
            <a:ext cx="938784" cy="34747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越权提问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6968" y="4828031"/>
            <a:ext cx="786384" cy="34747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无数据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75020" y="3794760"/>
            <a:ext cx="4988052" cy="1417320"/>
          </a:xfrm>
          <a:prstGeom prst="roundRect">
            <a:avLst>
              <a:gd name="adj" fmla="val 645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03620" y="3913632"/>
            <a:ext cx="27432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衡量方式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03620" y="4389120"/>
            <a:ext cx="786384" cy="347472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正确率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981444" y="4389120"/>
            <a:ext cx="1091184" cy="347472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越权阻断率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64067" y="4389120"/>
            <a:ext cx="786384" cy="347472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澄清率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41891" y="4389120"/>
            <a:ext cx="938784" cy="347472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响应时间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03620" y="4828031"/>
            <a:ext cx="938784" cy="347472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单次成本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57784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lin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724144"/>
            <a:ext cx="274320" cy="27432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252728" y="557784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内外同源　</a:t>
            </a:r>
            <a:r>
              <a:rPr sz="1300" b="0">
                <a:solidFill>
                  <a:srgbClr val="FFFFFF"/>
                </a:solidFill>
              </a:rPr>
              <a:t>内部问数与 AI 智慧大脑共用指标服务和评测集；每次变更都回归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票务闭环（样板一）：让入园、核销数字可信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价值是什么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要怎么建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有什么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04 要怎么建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377440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核销与设备数据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闸机 · 网关 · 票券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33087" y="2377440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核销标准模型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四个口径 · 三层核对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33087" y="5715000"/>
            <a:ext cx="2194560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实时看板与预警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FFFFFF"/>
                </a:solidFill>
              </a:rPr>
              <a:t>容量预警 · 客流预测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715000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EDFF"/>
                </a:solidFill>
              </a:rPr>
              <a:t>景区运营调度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EEEDFF"/>
                </a:solidFill>
              </a:rPr>
              <a:t>节假日实时作战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852928" y="2834640"/>
            <a:ext cx="1280159" cy="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230368" y="3291840"/>
            <a:ext cx="0" cy="242316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852928" y="6172200"/>
            <a:ext cx="1280159" cy="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755648" y="3291840"/>
            <a:ext cx="0" cy="2423160"/>
          </a:xfrm>
          <a:prstGeom prst="line">
            <a:avLst/>
          </a:prstGeom>
          <a:ln w="38100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349240" y="43434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776CFD"/>
                </a:solidFill>
              </a:rPr>
              <a:t>赋能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840480"/>
            <a:ext cx="210312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551A"/>
                </a:solidFill>
              </a:rPr>
              <a:t>反哺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551A"/>
                </a:solidFill>
              </a:rPr>
              <a:t>预警处理结果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551A"/>
                </a:solidFill>
              </a:rPr>
              <a:t>预测与实际偏差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29400" y="2377440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377440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有什么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79" y="2377440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票种、库存、预约、核销、设备事件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29400" y="3246120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12280" y="3246120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怎么建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26679" y="3246120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核销事件标准模型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订单与核销实时链路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29400" y="4114800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114800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要做什么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79" y="4114800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赋能看板、预警、预测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回流异常与偏差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29400" y="4983479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4983479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要怎么做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4983479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先做样板，共建上报规范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每个节假日后复盘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29400" y="5852160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12280" y="5852160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价值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26679" y="5852160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</a:rPr>
              <a:t>关键数字可信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</a:rPr>
              <a:t>节假日实时掌控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智能体闭环（样板二）：AI 越用越准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价值是什么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要怎么建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有什么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04 要怎么建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377440"/>
            <a:ext cx="2194560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可信数据工具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FFFFFF"/>
                </a:solidFill>
              </a:rPr>
              <a:t>指标 · 标签 · 知识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33087" y="2377440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EDFF"/>
                </a:solidFill>
              </a:rPr>
              <a:t>智能体作答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EEEDFF"/>
                </a:solidFill>
              </a:rPr>
              <a:t>口径一致、可追溯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33087" y="5715000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用户交互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提问 · 纠错 · 差评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715000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FDEEE2"/>
          </a:solidFill>
          <a:ln w="1905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平台持续补齐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补指标 · 补知识 · 评测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852928" y="2834640"/>
            <a:ext cx="1280159" cy="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230368" y="3291840"/>
            <a:ext cx="0" cy="242316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852928" y="6172200"/>
            <a:ext cx="1280159" cy="0"/>
          </a:xfrm>
          <a:prstGeom prst="line">
            <a:avLst/>
          </a:prstGeom>
          <a:ln w="38100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755648" y="3291840"/>
            <a:ext cx="0" cy="2423160"/>
          </a:xfrm>
          <a:prstGeom prst="line">
            <a:avLst/>
          </a:prstGeom>
          <a:ln w="38100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926080" y="2450592"/>
            <a:ext cx="1143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776CFD"/>
                </a:solidFill>
              </a:rPr>
              <a:t>赋能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6263640"/>
            <a:ext cx="1143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B4551A"/>
                </a:solidFill>
              </a:rPr>
              <a:t>反哺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3840480"/>
            <a:ext cx="310896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551A"/>
                </a:solidFill>
              </a:rPr>
              <a:t>未覆盖的指标需求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551A"/>
                </a:solidFill>
              </a:rPr>
              <a:t>口径歧义、高频问题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551A"/>
                </a:solidFill>
              </a:rPr>
              <a:t>会话中的业务诉求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2377440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12280" y="2377440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有什么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2377440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AI 智慧大脑、AI 客服、AI 伴游等交互数据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29400" y="3246120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246120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怎么建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26679" y="3246120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统一取数工具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统一交互日志与评测集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29400" y="4114800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4114800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要做什么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79" y="4114800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赋能可信答案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回流需求、歧义与纠错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4983479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4983479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要怎么做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26679" y="4983479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上线即接入日志和评测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每月分析失败案例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29400" y="5852160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12280" y="5852160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价值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26679" y="5852160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</a:rPr>
              <a:t>答案越用越准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</a:rPr>
              <a:t>需求自动发现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闭环怎么持续运转：五个机制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价值是什么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要怎么建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有什么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04 要怎么建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377440"/>
            <a:ext cx="1783080" cy="1097280"/>
          </a:xfrm>
          <a:prstGeom prst="roundRect">
            <a:avLst>
              <a:gd name="adj" fmla="val 833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EDFF"/>
                </a:solidFill>
              </a:rPr>
              <a:t>1</a:t>
            </a:r>
          </a:p>
          <a:p>
            <a:pPr algn="ctr">
              <a:spcBef>
                <a:spcPts val="200"/>
              </a:spcBef>
            </a:pPr>
            <a:r>
              <a:rPr sz="1600" b="1">
                <a:solidFill>
                  <a:srgbClr val="FFFFFF"/>
                </a:solidFill>
              </a:rPr>
              <a:t>数据前置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FFFFFF"/>
                </a:solidFill>
              </a:rPr>
              <a:t>上线前定埋点与口径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441448" y="2926080"/>
            <a:ext cx="322326" cy="0"/>
          </a:xfrm>
          <a:prstGeom prst="line">
            <a:avLst/>
          </a:prstGeom>
          <a:ln w="2857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763774" y="2377440"/>
            <a:ext cx="1783080" cy="1097280"/>
          </a:xfrm>
          <a:prstGeom prst="roundRect">
            <a:avLst>
              <a:gd name="adj" fmla="val 833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EDFF"/>
                </a:solidFill>
              </a:rPr>
              <a:t>2</a:t>
            </a:r>
          </a:p>
          <a:p>
            <a:pPr algn="ctr">
              <a:spcBef>
                <a:spcPts val="200"/>
              </a:spcBef>
            </a:pPr>
            <a:r>
              <a:rPr sz="1600" b="1">
                <a:solidFill>
                  <a:srgbClr val="FFFFFF"/>
                </a:solidFill>
              </a:rPr>
              <a:t>统一出口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FFFFFF"/>
                </a:solidFill>
              </a:rPr>
              <a:t>指标、标签、API 输出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46854" y="2926080"/>
            <a:ext cx="322326" cy="0"/>
          </a:xfrm>
          <a:prstGeom prst="line">
            <a:avLst/>
          </a:prstGeom>
          <a:ln w="2857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869180" y="2377440"/>
            <a:ext cx="1783080" cy="1097280"/>
          </a:xfrm>
          <a:prstGeom prst="roundRect">
            <a:avLst>
              <a:gd name="adj" fmla="val 833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EDFF"/>
                </a:solidFill>
              </a:rPr>
              <a:t>3</a:t>
            </a:r>
          </a:p>
          <a:p>
            <a:pPr algn="ctr">
              <a:spcBef>
                <a:spcPts val="200"/>
              </a:spcBef>
            </a:pPr>
            <a:r>
              <a:rPr sz="1600" b="1">
                <a:solidFill>
                  <a:srgbClr val="FFFFFF"/>
                </a:solidFill>
              </a:rPr>
              <a:t>反馈回流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FFFFFF"/>
                </a:solidFill>
              </a:rPr>
              <a:t>结果按事件标识回流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652260" y="2926080"/>
            <a:ext cx="322326" cy="0"/>
          </a:xfrm>
          <a:prstGeom prst="line">
            <a:avLst/>
          </a:prstGeom>
          <a:ln w="2857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974586" y="2377440"/>
            <a:ext cx="1783080" cy="1097280"/>
          </a:xfrm>
          <a:prstGeom prst="roundRect">
            <a:avLst>
              <a:gd name="adj" fmla="val 833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EDFF"/>
                </a:solidFill>
              </a:rPr>
              <a:t>4</a:t>
            </a:r>
          </a:p>
          <a:p>
            <a:pPr algn="ctr">
              <a:spcBef>
                <a:spcPts val="200"/>
              </a:spcBef>
            </a:pPr>
            <a:r>
              <a:rPr sz="1600" b="1">
                <a:solidFill>
                  <a:srgbClr val="FFFFFF"/>
                </a:solidFill>
              </a:rPr>
              <a:t>效果复盘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FFFFFF"/>
                </a:solidFill>
              </a:rPr>
              <a:t>按月及节假日复盘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57666" y="2926080"/>
            <a:ext cx="322326" cy="0"/>
          </a:xfrm>
          <a:prstGeom prst="line">
            <a:avLst/>
          </a:prstGeom>
          <a:ln w="2857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079992" y="2377440"/>
            <a:ext cx="1783080" cy="1097280"/>
          </a:xfrm>
          <a:prstGeom prst="roundRect">
            <a:avLst>
              <a:gd name="adj" fmla="val 833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EDFF"/>
                </a:solidFill>
              </a:rPr>
              <a:t>5</a:t>
            </a:r>
          </a:p>
          <a:p>
            <a:pPr algn="ctr">
              <a:spcBef>
                <a:spcPts val="200"/>
              </a:spcBef>
            </a:pPr>
            <a:r>
              <a:rPr sz="1600" b="1">
                <a:solidFill>
                  <a:srgbClr val="FFFFFF"/>
                </a:solidFill>
              </a:rPr>
              <a:t>持续迭代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FFFFFF"/>
                </a:solidFill>
              </a:rPr>
              <a:t>规则与模型版本化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971532" y="3474720"/>
            <a:ext cx="0" cy="365760"/>
          </a:xfrm>
          <a:prstGeom prst="line">
            <a:avLst/>
          </a:prstGeom>
          <a:ln w="285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1549907" y="3840480"/>
            <a:ext cx="8421625" cy="0"/>
          </a:xfrm>
          <a:prstGeom prst="line">
            <a:avLst/>
          </a:prstGeom>
          <a:ln w="285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549907" y="3474720"/>
            <a:ext cx="0" cy="365760"/>
          </a:xfrm>
          <a:prstGeom prst="line">
            <a:avLst/>
          </a:prstGeom>
          <a:ln w="28575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291840" y="3931920"/>
            <a:ext cx="493776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B4551A"/>
                </a:solidFill>
              </a:rPr>
              <a:t>循环往复，闭环越转越准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26280"/>
            <a:ext cx="3279648" cy="868680"/>
          </a:xfrm>
          <a:prstGeom prst="roundRect">
            <a:avLst>
              <a:gd name="adj" fmla="val 1052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1247" y="4681728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7" y="4818888"/>
            <a:ext cx="274320" cy="2743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554480" y="4645152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业务负责人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983480"/>
            <a:ext cx="227380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定目标 · 用结果 · 给反馈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20896" y="4526280"/>
            <a:ext cx="3279648" cy="868680"/>
          </a:xfrm>
          <a:prstGeom prst="roundRect">
            <a:avLst>
              <a:gd name="adj" fmla="val 1052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303776" y="4681728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databas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0936" y="4818888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017008" y="4645152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数据团队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17008" y="4983480"/>
            <a:ext cx="227380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建能力 · 出数据 · 做复盘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83424" y="4526280"/>
            <a:ext cx="3279648" cy="868680"/>
          </a:xfrm>
          <a:prstGeom prst="roundRect">
            <a:avLst>
              <a:gd name="adj" fmla="val 1052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766303" y="4681728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cod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3463" y="4818888"/>
            <a:ext cx="274320" cy="2743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479536" y="4645152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产品研发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9536" y="4983480"/>
            <a:ext cx="227380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保埋点 · 保回流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571500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activity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536" y="5861304"/>
            <a:ext cx="274320" cy="2743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252728" y="571500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闭环健康度　</a:t>
            </a:r>
            <a:r>
              <a:rPr sz="1300" b="0">
                <a:solidFill>
                  <a:srgbClr val="FFFFFF"/>
                </a:solidFill>
              </a:rPr>
              <a:t>回流覆盖率 · 场景采纳率 · 迭代周期 · 业务效果变化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一键接入：把重复对接做成配置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价值是什么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要怎么建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有什么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04 要怎么建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377440"/>
            <a:ext cx="2194560" cy="777240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100" b="1">
                <a:solidFill>
                  <a:srgbClr val="FFFFFF"/>
                </a:solidFill>
              </a:rPr>
              <a:t>1</a:t>
            </a:r>
          </a:p>
          <a:p>
            <a:pPr algn="l">
              <a:spcBef>
                <a:spcPts val="100"/>
              </a:spcBef>
            </a:pPr>
            <a:r>
              <a:rPr sz="1500" b="1">
                <a:solidFill>
                  <a:srgbClr val="FFFFFF"/>
                </a:solidFill>
              </a:rPr>
              <a:t>授权开通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852928" y="2766060"/>
            <a:ext cx="475487" cy="0"/>
          </a:xfrm>
          <a:prstGeom prst="line">
            <a:avLst/>
          </a:prstGeom>
          <a:ln w="2857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328415" y="2377440"/>
            <a:ext cx="2194560" cy="777240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100" b="1">
                <a:solidFill>
                  <a:srgbClr val="FFFFFF"/>
                </a:solidFill>
              </a:rPr>
              <a:t>2</a:t>
            </a:r>
          </a:p>
          <a:p>
            <a:pPr algn="l">
              <a:spcBef>
                <a:spcPts val="100"/>
              </a:spcBef>
            </a:pPr>
            <a:r>
              <a:rPr sz="1500" b="1">
                <a:solidFill>
                  <a:srgbClr val="FFFFFF"/>
                </a:solidFill>
              </a:rPr>
              <a:t>选择连接器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22975" y="2766060"/>
            <a:ext cx="475489" cy="0"/>
          </a:xfrm>
          <a:prstGeom prst="line">
            <a:avLst/>
          </a:prstGeom>
          <a:ln w="2857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998464" y="2377440"/>
            <a:ext cx="2194560" cy="777240"/>
          </a:xfrm>
          <a:prstGeom prst="roundRect">
            <a:avLst>
              <a:gd name="adj" fmla="val 11764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100" b="1">
                <a:solidFill>
                  <a:srgbClr val="655BE6"/>
                </a:solidFill>
              </a:rPr>
              <a:t>3 · AI 辅助</a:t>
            </a:r>
          </a:p>
          <a:p>
            <a:pPr algn="l">
              <a:spcBef>
                <a:spcPts val="100"/>
              </a:spcBef>
            </a:pPr>
            <a:r>
              <a:rPr sz="1500" b="1">
                <a:solidFill>
                  <a:srgbClr val="655BE6"/>
                </a:solidFill>
              </a:rPr>
              <a:t>字段映射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193023" y="2766060"/>
            <a:ext cx="475489" cy="0"/>
          </a:xfrm>
          <a:prstGeom prst="line">
            <a:avLst/>
          </a:prstGeom>
          <a:ln w="2857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668512" y="2377440"/>
            <a:ext cx="2194560" cy="777240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100" b="1">
                <a:solidFill>
                  <a:srgbClr val="FFFFFF"/>
                </a:solidFill>
              </a:rPr>
              <a:t>4</a:t>
            </a:r>
          </a:p>
          <a:p>
            <a:pPr algn="l">
              <a:spcBef>
                <a:spcPts val="100"/>
              </a:spcBef>
            </a:pPr>
            <a:r>
              <a:rPr sz="1500" b="1">
                <a:solidFill>
                  <a:srgbClr val="FFFFFF"/>
                </a:solidFill>
              </a:rPr>
              <a:t>历史初始化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68512" y="3749039"/>
            <a:ext cx="2194560" cy="777240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100" b="1">
                <a:solidFill>
                  <a:srgbClr val="FFFFFF"/>
                </a:solidFill>
              </a:rPr>
              <a:t>5</a:t>
            </a:r>
          </a:p>
          <a:p>
            <a:pPr algn="l">
              <a:spcBef>
                <a:spcPts val="100"/>
              </a:spcBef>
            </a:pPr>
            <a:r>
              <a:rPr sz="1500" b="1">
                <a:solidFill>
                  <a:srgbClr val="FFFFFF"/>
                </a:solidFill>
              </a:rPr>
              <a:t>增量同步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8193023" y="4137660"/>
            <a:ext cx="475489" cy="0"/>
          </a:xfrm>
          <a:prstGeom prst="line">
            <a:avLst/>
          </a:prstGeom>
          <a:ln w="2857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998464" y="3749039"/>
            <a:ext cx="2194560" cy="777240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100" b="1">
                <a:solidFill>
                  <a:srgbClr val="FFFFFF"/>
                </a:solidFill>
              </a:rPr>
              <a:t>6</a:t>
            </a:r>
          </a:p>
          <a:p>
            <a:pPr algn="l">
              <a:spcBef>
                <a:spcPts val="100"/>
              </a:spcBef>
            </a:pPr>
            <a:r>
              <a:rPr sz="1500" b="1">
                <a:solidFill>
                  <a:srgbClr val="FFFFFF"/>
                </a:solidFill>
              </a:rPr>
              <a:t>质量检查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5522975" y="4137660"/>
            <a:ext cx="475489" cy="0"/>
          </a:xfrm>
          <a:prstGeom prst="line">
            <a:avLst/>
          </a:prstGeom>
          <a:ln w="2857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328415" y="3749039"/>
            <a:ext cx="2194560" cy="777240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100" b="1">
                <a:solidFill>
                  <a:srgbClr val="FFFFFF"/>
                </a:solidFill>
              </a:rPr>
              <a:t>7</a:t>
            </a:r>
          </a:p>
          <a:p>
            <a:pPr algn="l">
              <a:spcBef>
                <a:spcPts val="100"/>
              </a:spcBef>
            </a:pPr>
            <a:r>
              <a:rPr sz="1500" b="1">
                <a:solidFill>
                  <a:srgbClr val="FFFFFF"/>
                </a:solidFill>
              </a:rPr>
              <a:t>试运行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2852928" y="4137660"/>
            <a:ext cx="475487" cy="0"/>
          </a:xfrm>
          <a:prstGeom prst="line">
            <a:avLst/>
          </a:prstGeom>
          <a:ln w="2857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58368" y="3749039"/>
            <a:ext cx="2194560" cy="777240"/>
          </a:xfrm>
          <a:prstGeom prst="roundRect">
            <a:avLst>
              <a:gd name="adj" fmla="val 11764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100" b="1">
                <a:solidFill>
                  <a:srgbClr val="FFFFFF"/>
                </a:solidFill>
              </a:rPr>
              <a:t>8</a:t>
            </a:r>
          </a:p>
          <a:p>
            <a:pPr algn="l">
              <a:spcBef>
                <a:spcPts val="100"/>
              </a:spcBef>
            </a:pPr>
            <a:r>
              <a:rPr sz="1500" b="1">
                <a:solidFill>
                  <a:srgbClr val="FFFFFF"/>
                </a:solidFill>
              </a:rPr>
              <a:t>上线与监控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765792" y="3154680"/>
            <a:ext cx="0" cy="594359"/>
          </a:xfrm>
          <a:prstGeom prst="line">
            <a:avLst/>
          </a:prstGeom>
          <a:ln w="2857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58368" y="4800600"/>
            <a:ext cx="73152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配套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435607" y="4800600"/>
            <a:ext cx="10911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开发者门户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18232" y="4800600"/>
            <a:ext cx="108813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文档与 SDK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97808" y="4800600"/>
            <a:ext cx="6339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沙箱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23232" y="4800600"/>
            <a:ext cx="9387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签名鉴权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53456" y="4800600"/>
            <a:ext cx="10911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限流与幂等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36080" y="4800600"/>
            <a:ext cx="9387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调用计量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66304" y="4800600"/>
            <a:ext cx="9387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服务等级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669280"/>
            <a:ext cx="5010912" cy="566928"/>
          </a:xfrm>
          <a:prstGeom prst="roundRect">
            <a:avLst>
              <a:gd name="adj" fmla="val 16129"/>
            </a:avLst>
          </a:prstGeom>
          <a:solidFill>
            <a:srgbClr val="FDEEE2"/>
          </a:solidFill>
          <a:ln w="1270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/>
            <a:r>
              <a:rPr sz="1250" b="1">
                <a:solidFill>
                  <a:srgbClr val="B4551A"/>
                </a:solidFill>
              </a:rPr>
              <a:t>适用　</a:t>
            </a:r>
            <a:r>
              <a:rPr sz="1250" b="0">
                <a:solidFill>
                  <a:srgbClr val="2B2F42"/>
                </a:solidFill>
              </a:rPr>
              <a:t>已适配的标准系统；非标系统进入专项实施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852160" y="5669280"/>
            <a:ext cx="5010912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/>
            <a:r>
              <a:rPr sz="1250" b="1">
                <a:solidFill>
                  <a:srgbClr val="FFE2C8"/>
                </a:solidFill>
              </a:rPr>
              <a:t>衡量　</a:t>
            </a:r>
            <a:r>
              <a:rPr sz="1250" b="0">
                <a:solidFill>
                  <a:srgbClr val="FFFFFF"/>
                </a:solidFill>
              </a:rPr>
              <a:t>接入周期中位数与 P90 · 首次验收通过率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对外与行业：从试点验证到规模输出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价值是什么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要怎么建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有什么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04 要怎么建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39</a:t>
            </a:r>
          </a:p>
        </p:txBody>
      </p:sp>
      <p:pic>
        <p:nvPicPr>
          <p:cNvPr id="10" name="Picture 9" descr="star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286000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24128" y="2267712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776CFD"/>
                </a:solidFill>
              </a:rPr>
              <a:t>商业化路径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670048"/>
            <a:ext cx="2242566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内部验证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992374" y="2843784"/>
            <a:ext cx="237744" cy="219456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12414" y="2670048"/>
            <a:ext cx="2242566" cy="566928"/>
          </a:xfrm>
          <a:prstGeom prst="roundRect">
            <a:avLst>
              <a:gd name="adj" fmla="val 16129"/>
            </a:avLst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试点景区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646420" y="2843784"/>
            <a:ext cx="237744" cy="219456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66460" y="2670048"/>
            <a:ext cx="2242566" cy="566928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付费试点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300466" y="2843784"/>
            <a:ext cx="237744" cy="219456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20506" y="2670048"/>
            <a:ext cx="2242566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标准服务包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429000"/>
            <a:ext cx="13959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景区分析增强版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45792" y="3429000"/>
            <a:ext cx="1155191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AI 运营助手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92424" y="3429000"/>
            <a:ext cx="935736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标准 API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19600" y="3429000"/>
            <a:ext cx="10911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嵌入式分析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02224" y="3429000"/>
            <a:ext cx="9387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行业研究</a:t>
            </a:r>
          </a:p>
        </p:txBody>
      </p:sp>
      <p:pic>
        <p:nvPicPr>
          <p:cNvPr id="24" name="Picture 23" descr="book_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114800"/>
            <a:ext cx="274320" cy="2743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024128" y="4096512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B4551A"/>
                </a:solidFill>
              </a:rPr>
              <a:t>行业输出路径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498848"/>
            <a:ext cx="1748332" cy="566928"/>
          </a:xfrm>
          <a:prstGeom prst="roundRect">
            <a:avLst>
              <a:gd name="adj" fmla="val 16129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经营月报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2479852" y="4672584"/>
            <a:ext cx="219456" cy="219456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772460" y="4498848"/>
            <a:ext cx="1748332" cy="566928"/>
          </a:xfrm>
          <a:prstGeom prst="roundRect">
            <a:avLst>
              <a:gd name="adj" fmla="val 16129"/>
            </a:avLst>
          </a:prstGeom>
          <a:solidFill>
            <a:srgbClr val="FBD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节假日专题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4593945" y="4672584"/>
            <a:ext cx="219456" cy="219456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886553" y="4498848"/>
            <a:ext cx="1748332" cy="566928"/>
          </a:xfrm>
          <a:prstGeom prst="roundRect">
            <a:avLst>
              <a:gd name="adj" fmla="val 16129"/>
            </a:avLst>
          </a:prstGeom>
          <a:solidFill>
            <a:srgbClr val="F7C5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年度研究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6708038" y="4672584"/>
            <a:ext cx="219456" cy="219456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000646" y="4498848"/>
            <a:ext cx="1748332" cy="566928"/>
          </a:xfrm>
          <a:prstGeom prst="roundRect">
            <a:avLst>
              <a:gd name="adj" fmla="val 16129"/>
            </a:avLst>
          </a:prstGeom>
          <a:solidFill>
            <a:srgbClr val="F3A6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对标与规范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8822131" y="4672584"/>
            <a:ext cx="219456" cy="219456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114739" y="4498848"/>
            <a:ext cx="1748332" cy="566928"/>
          </a:xfrm>
          <a:prstGeom prst="roundRect">
            <a:avLst>
              <a:gd name="adj" fmla="val 16129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团体标准共建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66928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lo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" y="5815584"/>
            <a:ext cx="274320" cy="2743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252728" y="566928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边界　</a:t>
            </a:r>
            <a:r>
              <a:rPr sz="1300" b="0">
                <a:solidFill>
                  <a:srgbClr val="FFFFFF"/>
                </a:solidFill>
              </a:rPr>
              <a:t>单景区数据只服务该景区 · 对外只提供匿名聚合 · 授权清楚 · 成本可核算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组织与机制：谁负责、怎么协同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价值是什么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要怎么建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有什么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04 要怎么建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2331720"/>
            <a:ext cx="2962656" cy="731520"/>
          </a:xfrm>
          <a:prstGeom prst="roundRect">
            <a:avLst>
              <a:gd name="adj" fmla="val 125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数据治理委员会</a:t>
            </a:r>
          </a:p>
          <a:p>
            <a:pPr algn="ctr">
              <a:spcBef>
                <a:spcPts val="100"/>
              </a:spcBef>
            </a:pPr>
            <a:r>
              <a:rPr sz="1150" b="0">
                <a:solidFill>
                  <a:srgbClr val="FFFFFF"/>
                </a:solidFill>
              </a:rPr>
              <a:t>管理层牵头 · 裁定口径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9392" y="3429000"/>
            <a:ext cx="2962656" cy="731520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数据平台部</a:t>
            </a:r>
          </a:p>
          <a:p>
            <a:pPr algn="ctr">
              <a:spcBef>
                <a:spcPts val="100"/>
              </a:spcBef>
            </a:pPr>
            <a:r>
              <a:rPr sz="1150" b="0">
                <a:solidFill>
                  <a:srgbClr val="FFFFFF"/>
                </a:solidFill>
              </a:rPr>
              <a:t>建设与运营平台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429000"/>
            <a:ext cx="3108960" cy="731520"/>
          </a:xfrm>
          <a:prstGeom prst="roundRect">
            <a:avLst>
              <a:gd name="adj" fmla="val 12500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业务线数据负责人</a:t>
            </a:r>
          </a:p>
          <a:p>
            <a:pPr algn="ctr">
              <a:spcBef>
                <a:spcPts val="100"/>
              </a:spcBef>
            </a:pPr>
            <a:r>
              <a:rPr sz="1150" b="0">
                <a:solidFill>
                  <a:srgbClr val="5E6478"/>
                </a:solidFill>
              </a:rPr>
              <a:t>定口径 · 用结果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54112" y="3429000"/>
            <a:ext cx="3108960" cy="731520"/>
          </a:xfrm>
          <a:prstGeom prst="roundRect">
            <a:avLst>
              <a:gd name="adj" fmla="val 12500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数据大使</a:t>
            </a:r>
          </a:p>
          <a:p>
            <a:pPr algn="ctr">
              <a:spcBef>
                <a:spcPts val="100"/>
              </a:spcBef>
            </a:pPr>
            <a:r>
              <a:rPr sz="1150" b="0">
                <a:solidFill>
                  <a:srgbClr val="5E6478"/>
                </a:solidFill>
              </a:rPr>
              <a:t>传需求 · 推使用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760720" y="3063240"/>
            <a:ext cx="0" cy="365760"/>
          </a:xfrm>
          <a:prstGeom prst="line">
            <a:avLst/>
          </a:prstGeom>
          <a:ln w="25400">
            <a:solidFill>
              <a:srgbClr val="655B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67328" y="3794760"/>
            <a:ext cx="512064" cy="0"/>
          </a:xfrm>
          <a:prstGeom prst="line">
            <a:avLst/>
          </a:prstGeom>
          <a:ln w="22225">
            <a:solidFill>
              <a:srgbClr val="F08A3C"/>
            </a:solidFill>
            <a:prstDash val="dash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42048" y="3794760"/>
            <a:ext cx="512064" cy="0"/>
          </a:xfrm>
          <a:prstGeom prst="line">
            <a:avLst/>
          </a:prstGeom>
          <a:ln w="22225">
            <a:solidFill>
              <a:srgbClr val="F08A3C"/>
            </a:solidFill>
            <a:prstDash val="dash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58368" y="4800600"/>
            <a:ext cx="1601724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F42"/>
                </a:solidFill>
              </a:rPr>
              <a:t>平台与架构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78964" y="4800600"/>
            <a:ext cx="1601724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F42"/>
                </a:solidFill>
              </a:rPr>
              <a:t>数据研发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99560" y="4800600"/>
            <a:ext cx="1601724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F42"/>
                </a:solidFill>
              </a:rPr>
              <a:t>治理与指标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20156" y="4800600"/>
            <a:ext cx="1601724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F42"/>
                </a:solidFill>
              </a:rPr>
              <a:t>产品与 BI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40752" y="4800600"/>
            <a:ext cx="1601724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F42"/>
                </a:solidFill>
              </a:rPr>
              <a:t>AI 工程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61348" y="4800600"/>
            <a:ext cx="1601724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F42"/>
                </a:solidFill>
              </a:rPr>
              <a:t>开放与解决方案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760720" y="4160520"/>
            <a:ext cx="0" cy="32004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459230" y="4480560"/>
            <a:ext cx="8602980" cy="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459230" y="4480560"/>
            <a:ext cx="0" cy="32004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179826" y="4480560"/>
            <a:ext cx="0" cy="32004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900422" y="4480560"/>
            <a:ext cx="0" cy="32004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621018" y="4480560"/>
            <a:ext cx="0" cy="32004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341614" y="4480560"/>
            <a:ext cx="0" cy="32004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062210" y="4480560"/>
            <a:ext cx="0" cy="32004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368" y="5760720"/>
            <a:ext cx="73152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机制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5607" y="5760720"/>
            <a:ext cx="13959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月度数据共建会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923032" y="5760720"/>
            <a:ext cx="9387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口径评审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53256" y="5760720"/>
            <a:ext cx="13959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资产健康分公示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40680" y="5760720"/>
            <a:ext cx="143865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代码与 SQL 评审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970776" y="5760720"/>
            <a:ext cx="12435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开发规范手册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05799" y="5760720"/>
            <a:ext cx="12435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月度数据洞察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风险与应对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价值是什么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要怎么建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有什么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04 要怎么建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331720"/>
            <a:ext cx="3279648" cy="1444752"/>
          </a:xfrm>
          <a:prstGeom prst="roundRect">
            <a:avLst>
              <a:gd name="adj" fmla="val 632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487168"/>
            <a:ext cx="2365248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口径对齐阻力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52216" y="2496312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2953512"/>
            <a:ext cx="2913888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E6478"/>
                </a:solidFill>
              </a:rPr>
              <a:t>管理层背书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5E6478"/>
                </a:solidFill>
              </a:rPr>
              <a:t>定义权归业务方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20896" y="2331720"/>
            <a:ext cx="3279648" cy="1444752"/>
          </a:xfrm>
          <a:prstGeom prst="roundRect">
            <a:avLst>
              <a:gd name="adj" fmla="val 632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2064" y="2487168"/>
            <a:ext cx="2365248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存量切换影响业务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14744" y="2496312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2064" y="2953512"/>
            <a:ext cx="2913888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E6478"/>
                </a:solidFill>
              </a:rPr>
              <a:t>双跑验证、观察期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5E6478"/>
                </a:solidFill>
              </a:rPr>
              <a:t>保留回滚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3424" y="2331720"/>
            <a:ext cx="3279648" cy="1444752"/>
          </a:xfrm>
          <a:prstGeom prst="roundRect">
            <a:avLst>
              <a:gd name="adj" fmla="val 632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84592" y="2487168"/>
            <a:ext cx="2365248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AI 答错、越权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77272" y="2496312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84592" y="2953512"/>
            <a:ext cx="2913888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E6478"/>
                </a:solidFill>
              </a:rPr>
              <a:t>只用认证指标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5E6478"/>
                </a:solidFill>
              </a:rPr>
              <a:t>评测回归、权限前置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3931920"/>
            <a:ext cx="3279648" cy="1444752"/>
          </a:xfrm>
          <a:prstGeom prst="roundRect">
            <a:avLst>
              <a:gd name="adj" fmla="val 632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087368"/>
            <a:ext cx="2365248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个人信息与授权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52216" y="4096511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" y="4553712"/>
            <a:ext cx="2913888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E6478"/>
                </a:solidFill>
              </a:rPr>
              <a:t>分类分级、最小化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5E6478"/>
                </a:solidFill>
              </a:rPr>
              <a:t>法务前置审核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20896" y="3931920"/>
            <a:ext cx="3279648" cy="1444752"/>
          </a:xfrm>
          <a:prstGeom prst="roundRect">
            <a:avLst>
              <a:gd name="adj" fmla="val 632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22064" y="4087368"/>
            <a:ext cx="2365248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节假日峰值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14744" y="4096511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22064" y="4553712"/>
            <a:ext cx="2913888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E6478"/>
                </a:solidFill>
              </a:rPr>
              <a:t>压测、降级预案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5E6478"/>
                </a:solidFill>
              </a:rPr>
              <a:t>节前封版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3424" y="3931920"/>
            <a:ext cx="3279648" cy="1444752"/>
          </a:xfrm>
          <a:prstGeom prst="roundRect">
            <a:avLst>
              <a:gd name="adj" fmla="val 632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84592" y="4087368"/>
            <a:ext cx="2365248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与现有产品重复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177272" y="4096511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55BE6"/>
                </a:solidFill>
              </a:rPr>
              <a:t>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84592" y="4553712"/>
            <a:ext cx="2913888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E6478"/>
                </a:solidFill>
              </a:rPr>
              <a:t>底座共建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5E6478"/>
                </a:solidFill>
              </a:rPr>
              <a:t>应用分工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66928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bulb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815584"/>
            <a:ext cx="274320" cy="2743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252728" y="566928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资源不足时　</a:t>
            </a:r>
            <a:r>
              <a:rPr sz="1300" b="0">
                <a:solidFill>
                  <a:srgbClr val="FFFFFF"/>
                </a:solidFill>
              </a:rPr>
              <a:t>聚焦核心域，不贪多求全；每个阶段都有看得见的成果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63440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价值是什么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800" b="0">
                <a:solidFill>
                  <a:srgbClr val="EEEDFF"/>
                </a:solidFill>
              </a:rPr>
              <a:t>赋能企业，赋能行业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本部分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赋能企业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价值三层递进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建成后的样子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价值衡量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需要的支持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有什么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459736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06624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缺什么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507992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4879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556248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03136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要怎么建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604504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851392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赋能企业：从找人要数，到数据找人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价值是什么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要怎么建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有什么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05 价值是什么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331720"/>
            <a:ext cx="3249168" cy="2240280"/>
          </a:xfrm>
          <a:prstGeom prst="roundRect">
            <a:avLst>
              <a:gd name="adj" fmla="val 408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2514600"/>
            <a:ext cx="411480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6968" y="3017520"/>
            <a:ext cx="288340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FFFFFF"/>
                </a:solidFill>
              </a:rPr>
              <a:t>经营驾驶舱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3401568"/>
            <a:ext cx="288340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FFE2C8"/>
                </a:solidFill>
              </a:rPr>
              <a:t>管理层 · 景区运营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749039"/>
            <a:ext cx="2883408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</a:rPr>
              <a:t>核心指标一屏看全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1200" b="0">
                <a:solidFill>
                  <a:srgbClr val="FFFFFF"/>
                </a:solidFill>
              </a:rPr>
              <a:t>节假日实时作战屏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1200" b="0">
                <a:solidFill>
                  <a:srgbClr val="FFFFFF"/>
                </a:solidFill>
              </a:rPr>
              <a:t>移动端随时查看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36136" y="2331720"/>
            <a:ext cx="3249168" cy="2240280"/>
          </a:xfrm>
          <a:prstGeom prst="roundRect">
            <a:avLst>
              <a:gd name="adj" fmla="val 408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earch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4736" y="2514600"/>
            <a:ext cx="411480" cy="4114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364736" y="3017520"/>
            <a:ext cx="288340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FFFFFF"/>
                </a:solidFill>
              </a:rPr>
              <a:t>自助分析与 AI 问数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64736" y="3401568"/>
            <a:ext cx="288340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EEEDFF"/>
                </a:solidFill>
              </a:rPr>
              <a:t>运营 · 渠道 · 营销 · 客户成功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4736" y="3749039"/>
            <a:ext cx="2883408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</a:rPr>
              <a:t>标准分析模板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1200" b="0">
                <a:solidFill>
                  <a:srgbClr val="FFFFFF"/>
                </a:solidFill>
              </a:rPr>
              <a:t>拖拽或提问取数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1200" b="0">
                <a:solidFill>
                  <a:srgbClr val="FFFFFF"/>
                </a:solidFill>
              </a:rPr>
              <a:t>结果带口径与更新时间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13904" y="2331720"/>
            <a:ext cx="3249168" cy="2240280"/>
          </a:xfrm>
          <a:prstGeom prst="roundRect">
            <a:avLst>
              <a:gd name="adj" fmla="val 4081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end_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2504" y="2514600"/>
            <a:ext cx="411480" cy="4114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842504" y="3017520"/>
            <a:ext cx="288340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主动推送与自动报告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2504" y="3401568"/>
            <a:ext cx="288340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B4551A"/>
                </a:solidFill>
              </a:rPr>
              <a:t>全员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42504" y="3749039"/>
            <a:ext cx="2883408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指标异常自动预警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1200" b="0">
                <a:solidFill>
                  <a:srgbClr val="2B2F42"/>
                </a:solidFill>
              </a:rPr>
              <a:t>节假日前客流播报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1200" b="0">
                <a:solidFill>
                  <a:srgbClr val="2B2F42"/>
                </a:solidFill>
              </a:rPr>
              <a:t>日报、周报自动生成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754880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用数流程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074920"/>
            <a:ext cx="1434084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>
                <a:solidFill>
                  <a:srgbClr val="2B2F42"/>
                </a:solidFill>
              </a:rPr>
              <a:t>数据门户找数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2147316" y="5202936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412492" y="5074920"/>
            <a:ext cx="1434084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>
                <a:solidFill>
                  <a:srgbClr val="2B2F42"/>
                </a:solidFill>
              </a:rPr>
              <a:t>看指标口径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3901440" y="5202936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166616" y="5074920"/>
            <a:ext cx="1434084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>
                <a:solidFill>
                  <a:srgbClr val="2B2F42"/>
                </a:solidFill>
              </a:rPr>
              <a:t>申请权限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5655564" y="5202936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920740" y="5074920"/>
            <a:ext cx="1434084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>
                <a:solidFill>
                  <a:srgbClr val="2B2F42"/>
                </a:solidFill>
              </a:rPr>
              <a:t>模板或提问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7409688" y="5202936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674864" y="5074920"/>
            <a:ext cx="1434084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>
                <a:solidFill>
                  <a:srgbClr val="2B2F42"/>
                </a:solidFill>
              </a:rPr>
              <a:t>带口径的结果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163812" y="5202936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28988" y="5074920"/>
            <a:ext cx="1434084" cy="4572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订阅变化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5216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char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998464"/>
            <a:ext cx="274320" cy="27432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252728" y="585216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衡量　</a:t>
            </a:r>
            <a:r>
              <a:rPr sz="1300" b="0">
                <a:solidFill>
                  <a:srgbClr val="FFFFFF"/>
                </a:solidFill>
              </a:rPr>
              <a:t>活跃用户 · 自助完成率 · 取数周期 · 业务采纳率，不以上线看板数量衡量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价值逐层递进：赋能企业 → 赋能客户 → 赋能行业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价值是什么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要怎么建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有什么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05 价值是什么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520440"/>
            <a:ext cx="3249168" cy="3291840"/>
          </a:xfrm>
          <a:prstGeom prst="roundRect">
            <a:avLst>
              <a:gd name="adj" fmla="val 2814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3703320"/>
            <a:ext cx="279196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776CFD"/>
                </a:solidFill>
              </a:rPr>
              <a:t>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995928"/>
            <a:ext cx="2791968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2B2F42"/>
                </a:solidFill>
              </a:rPr>
              <a:t>赋能企业内部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5120640"/>
            <a:ext cx="2883408" cy="1554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655BE6"/>
                </a:solidFill>
              </a:rPr>
              <a:t>降本　</a:t>
            </a:r>
            <a:r>
              <a:rPr sz="1250" b="0">
                <a:solidFill>
                  <a:srgbClr val="2B2F42"/>
                </a:solidFill>
              </a:rPr>
              <a:t>重复模型退役，人力释放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1">
                <a:solidFill>
                  <a:srgbClr val="655BE6"/>
                </a:solidFill>
              </a:rPr>
              <a:t>增效　</a:t>
            </a:r>
            <a:r>
              <a:rPr sz="1250" b="0">
                <a:solidFill>
                  <a:srgbClr val="2B2F42"/>
                </a:solidFill>
              </a:rPr>
              <a:t>T+1 到分钟级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1">
                <a:solidFill>
                  <a:srgbClr val="655BE6"/>
                </a:solidFill>
              </a:rPr>
              <a:t>控险　</a:t>
            </a:r>
            <a:r>
              <a:rPr sz="1250" b="0">
                <a:solidFill>
                  <a:srgbClr val="2B2F42"/>
                </a:solidFill>
              </a:rPr>
              <a:t>差错可发现、可追溯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1">
                <a:solidFill>
                  <a:srgbClr val="655BE6"/>
                </a:solidFill>
              </a:rPr>
              <a:t>资产　</a:t>
            </a:r>
            <a:r>
              <a:rPr sz="1250" b="0">
                <a:solidFill>
                  <a:srgbClr val="2B2F42"/>
                </a:solidFill>
              </a:rPr>
              <a:t>数据资产可计量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36136" y="2971800"/>
            <a:ext cx="3249168" cy="3840480"/>
          </a:xfrm>
          <a:prstGeom prst="roundRect">
            <a:avLst>
              <a:gd name="adj" fmla="val 2814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4736" y="3154680"/>
            <a:ext cx="279196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FFE2C8"/>
                </a:solidFill>
              </a:rPr>
              <a:t>增长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4736" y="3447288"/>
            <a:ext cx="2791968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FFFFFF"/>
                </a:solidFill>
              </a:rPr>
              <a:t>赋能客户与伙伴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4736" y="5120640"/>
            <a:ext cx="2883408" cy="1554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E2C8"/>
                </a:solidFill>
              </a:rPr>
              <a:t>客户　</a:t>
            </a:r>
            <a:r>
              <a:rPr sz="1250" b="0">
                <a:solidFill>
                  <a:srgbClr val="FFFFFF"/>
                </a:solidFill>
              </a:rPr>
              <a:t>自主分析与 AI 辅助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1">
                <a:solidFill>
                  <a:srgbClr val="FFE2C8"/>
                </a:solidFill>
              </a:rPr>
              <a:t>收入　</a:t>
            </a:r>
            <a:r>
              <a:rPr sz="1250" b="0">
                <a:solidFill>
                  <a:srgbClr val="FFFFFF"/>
                </a:solidFill>
              </a:rPr>
              <a:t>续约、客单价、新服务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1">
                <a:solidFill>
                  <a:srgbClr val="FFE2C8"/>
                </a:solidFill>
              </a:rPr>
              <a:t>伙伴　</a:t>
            </a:r>
            <a:r>
              <a:rPr sz="1250" b="0">
                <a:solidFill>
                  <a:srgbClr val="FFFFFF"/>
                </a:solidFill>
              </a:rPr>
              <a:t>标准接入、直接集成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1">
                <a:solidFill>
                  <a:srgbClr val="FFE2C8"/>
                </a:solidFill>
              </a:rPr>
              <a:t>壁垒　</a:t>
            </a:r>
            <a:r>
              <a:rPr sz="1250" b="0">
                <a:solidFill>
                  <a:srgbClr val="FFFFFF"/>
                </a:solidFill>
              </a:rPr>
              <a:t>可信数据与广泛连接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13904" y="2423160"/>
            <a:ext cx="3249168" cy="4389120"/>
          </a:xfrm>
          <a:prstGeom prst="roundRect">
            <a:avLst>
              <a:gd name="adj" fmla="val 2814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42504" y="2606040"/>
            <a:ext cx="279196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FFFFFF"/>
                </a:solidFill>
              </a:rPr>
              <a:t>影响力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2504" y="2898648"/>
            <a:ext cx="2791968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2B2F42"/>
                </a:solidFill>
              </a:rPr>
              <a:t>赋能行业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42504" y="5120640"/>
            <a:ext cx="2883408" cy="1554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</a:rPr>
              <a:t>标准　</a:t>
            </a:r>
            <a:r>
              <a:rPr sz="1250" b="0">
                <a:solidFill>
                  <a:srgbClr val="2B2F42"/>
                </a:solidFill>
              </a:rPr>
              <a:t>口径、模型、接入规范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1">
                <a:solidFill>
                  <a:srgbClr val="FFFFFF"/>
                </a:solidFill>
              </a:rPr>
              <a:t>洞察　</a:t>
            </a:r>
            <a:r>
              <a:rPr sz="1250" b="0">
                <a:solidFill>
                  <a:srgbClr val="2B2F42"/>
                </a:solidFill>
              </a:rPr>
              <a:t>节假日专题与年度报告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1">
                <a:solidFill>
                  <a:srgbClr val="FFFFFF"/>
                </a:solidFill>
              </a:rPr>
              <a:t>数据要素　</a:t>
            </a:r>
            <a:r>
              <a:rPr sz="1250" b="0">
                <a:solidFill>
                  <a:srgbClr val="2B2F42"/>
                </a:solidFill>
              </a:rPr>
              <a:t>合规高质量数据集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1">
                <a:solidFill>
                  <a:srgbClr val="FFFFFF"/>
                </a:solidFill>
              </a:rPr>
              <a:t>品牌　</a:t>
            </a:r>
            <a:r>
              <a:rPr sz="1250" b="0">
                <a:solidFill>
                  <a:srgbClr val="2B2F42"/>
                </a:solidFill>
              </a:rPr>
              <a:t>文旅数据与 AI 专业地位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建成后的样子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价值是什么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要怎么建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有什么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05 价值是什么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331720"/>
            <a:ext cx="3279648" cy="1298448"/>
          </a:xfrm>
          <a:prstGeom prst="roundRect">
            <a:avLst>
              <a:gd name="adj" fmla="val 704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6" y="2651760"/>
            <a:ext cx="658368" cy="65836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7" y="2816352"/>
            <a:ext cx="329184" cy="329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709928" y="2514600"/>
            <a:ext cx="2136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管理层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9928" y="2898648"/>
            <a:ext cx="2136648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每个经营问题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都有可追溯的答案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20896" y="2331720"/>
            <a:ext cx="3279648" cy="1298448"/>
          </a:xfrm>
          <a:prstGeom prst="roundRect">
            <a:avLst>
              <a:gd name="adj" fmla="val 704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322064" y="2651760"/>
            <a:ext cx="658368" cy="65836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earch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6656" y="2816352"/>
            <a:ext cx="329184" cy="32918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172456" y="2514600"/>
            <a:ext cx="2136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业务团队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72456" y="2898648"/>
            <a:ext cx="2136648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日常分析自助完成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或直接问 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83424" y="2331720"/>
            <a:ext cx="3279648" cy="1298448"/>
          </a:xfrm>
          <a:prstGeom prst="roundRect">
            <a:avLst>
              <a:gd name="adj" fmla="val 704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84592" y="2651760"/>
            <a:ext cx="658368" cy="65836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atabas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9184" y="2816352"/>
            <a:ext cx="329184" cy="32918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634984" y="2514600"/>
            <a:ext cx="2136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数据团队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4984" y="2898648"/>
            <a:ext cx="2136648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从反复对数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转向建能力、出洞察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794760"/>
            <a:ext cx="3279648" cy="1298448"/>
          </a:xfrm>
          <a:prstGeom prst="roundRect">
            <a:avLst>
              <a:gd name="adj" fmla="val 704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9536" y="4114800"/>
            <a:ext cx="658368" cy="658368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hom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127" y="4279392"/>
            <a:ext cx="329184" cy="32918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709928" y="3977640"/>
            <a:ext cx="2136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景区客户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09928" y="4361688"/>
            <a:ext cx="2136648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用自己的数据和指标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做经营决策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20896" y="3794760"/>
            <a:ext cx="3279648" cy="1298448"/>
          </a:xfrm>
          <a:prstGeom prst="roundRect">
            <a:avLst>
              <a:gd name="adj" fmla="val 704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322064" y="4114800"/>
            <a:ext cx="658368" cy="658368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in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86656" y="4279392"/>
            <a:ext cx="329184" cy="32918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172456" y="3977640"/>
            <a:ext cx="2136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合作伙伴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72456" y="4361688"/>
            <a:ext cx="2136648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标准场景配置化接入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能力直接集成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83424" y="3794760"/>
            <a:ext cx="3279648" cy="1298448"/>
          </a:xfrm>
          <a:prstGeom prst="roundRect">
            <a:avLst>
              <a:gd name="adj" fmla="val 704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784592" y="4114800"/>
            <a:ext cx="658368" cy="658368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globe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49184" y="4279392"/>
            <a:ext cx="329184" cy="32918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634984" y="3977640"/>
            <a:ext cx="2136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行业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34984" y="4361688"/>
            <a:ext cx="2136648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文旅数据报告、对标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与规范的重要发布方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5440680"/>
            <a:ext cx="10204704" cy="731520"/>
          </a:xfrm>
          <a:prstGeom prst="roundRect">
            <a:avLst>
              <a:gd name="adj" fmla="val 15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440680"/>
            <a:ext cx="10204704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数据可信 · 模型可复用 · 服务稳定 · 能力易扩展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价值怎么衡量：每类价值都有指标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价值是什么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要怎么建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有什么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05 价值是什么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331720"/>
            <a:ext cx="3249168" cy="3520440"/>
          </a:xfrm>
          <a:prstGeom prst="roundRect">
            <a:avLst>
              <a:gd name="adj" fmla="val 2814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468880"/>
            <a:ext cx="2791968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655BE6"/>
                </a:solidFill>
              </a:rPr>
              <a:t>赋能企业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017520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降本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3310127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退役模型与任务、释放存算、省下人天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712463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增效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005072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可查询延迟、交付周期、自助完成率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4407408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控险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4700016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核对差异率、问题关闭时长、越权拦截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5102352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闭环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5394960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跑通闭环数、回流覆盖率、采纳率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36136" y="2331720"/>
            <a:ext cx="3249168" cy="3520440"/>
          </a:xfrm>
          <a:prstGeom prst="roundRect">
            <a:avLst>
              <a:gd name="adj" fmla="val 2814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64736" y="2468880"/>
            <a:ext cx="2791968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FFFFFF"/>
                </a:solidFill>
              </a:rPr>
              <a:t>赋能客户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4736" y="3017520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FFFFFF"/>
                </a:solidFill>
              </a:rPr>
              <a:t>客户价值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4736" y="3310127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EEEDFF"/>
                </a:solidFill>
              </a:rPr>
              <a:t>自助分析景区数、活跃度、满意度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4736" y="3712463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FFFFFF"/>
                </a:solidFill>
              </a:rPr>
              <a:t>商业价值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4736" y="4005072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EEEDFF"/>
                </a:solidFill>
              </a:rPr>
              <a:t>付费客户、收入、续约率、毛利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64736" y="4407408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FFFFFF"/>
                </a:solidFill>
              </a:rPr>
              <a:t>接入效率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4736" y="4700016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EEEDFF"/>
                </a:solidFill>
              </a:rPr>
              <a:t>接入周期、首次验收通过率、调用量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13904" y="2331720"/>
            <a:ext cx="3249168" cy="3520440"/>
          </a:xfrm>
          <a:prstGeom prst="roundRect">
            <a:avLst>
              <a:gd name="adj" fmla="val 2814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42504" y="2468880"/>
            <a:ext cx="2791968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B4551A"/>
                </a:solidFill>
              </a:rPr>
              <a:t>赋能行业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42504" y="3017520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影响力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42504" y="3310127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报告发布与引用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2504" y="3712463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标准化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42504" y="4005072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规范被伙伴采纳、标准立项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42504" y="4407408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合作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42504" y="4700016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研究合作、商机转化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6080760"/>
            <a:ext cx="10204704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activity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217920"/>
            <a:ext cx="274320" cy="27432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252728" y="6080760"/>
            <a:ext cx="9427464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原则　</a:t>
            </a:r>
            <a:r>
              <a:rPr sz="1300" b="0">
                <a:solidFill>
                  <a:srgbClr val="FFFFFF"/>
                </a:solidFill>
              </a:rPr>
              <a:t>先建立基线再定目标；以实际使用和业务结果衡量，不以上线看板数量衡量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89888"/>
            <a:ext cx="10204704" cy="640080"/>
          </a:xfrm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655BE6"/>
                </a:solidFill>
              </a:rPr>
              <a:t>需要的支持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72116" y="1133856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价值是什么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49740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要怎么建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27363" y="1133856"/>
            <a:ext cx="6766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要建什么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9287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11211" y="1133856"/>
            <a:ext cx="562356" cy="219456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0">
                <a:solidFill>
                  <a:srgbClr val="5E6478"/>
                </a:solidFill>
              </a:rPr>
              <a:t>有什么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票付通 AI 大数据平台建设规划 · 05 价值是什么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331720"/>
            <a:ext cx="3279648" cy="1691640"/>
          </a:xfrm>
          <a:prstGeom prst="roundRect">
            <a:avLst>
              <a:gd name="adj" fmla="val 540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6" y="2560320"/>
            <a:ext cx="658368" cy="65836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7" y="2724912"/>
            <a:ext cx="329184" cy="329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709928" y="25603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776CFD"/>
                </a:solidFill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9928" y="2834639"/>
            <a:ext cx="2136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口径决策机制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355848"/>
            <a:ext cx="2913888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成立数据治理委员会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明确最终裁定人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20896" y="2331720"/>
            <a:ext cx="3279648" cy="1691640"/>
          </a:xfrm>
          <a:prstGeom prst="roundRect">
            <a:avLst>
              <a:gd name="adj" fmla="val 540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2064" y="2560320"/>
            <a:ext cx="658368" cy="65836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o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6656" y="2724912"/>
            <a:ext cx="329184" cy="32918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172456" y="25603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776CFD"/>
                </a:solidFill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72456" y="2834639"/>
            <a:ext cx="2136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规范强制力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9496" y="3355848"/>
            <a:ext cx="2913888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规范检查作为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发布前置条件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3424" y="2331720"/>
            <a:ext cx="3279648" cy="1691640"/>
          </a:xfrm>
          <a:prstGeom prst="roundRect">
            <a:avLst>
              <a:gd name="adj" fmla="val 540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84592" y="2560320"/>
            <a:ext cx="658368" cy="65836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ea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9184" y="2724912"/>
            <a:ext cx="329184" cy="32918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634984" y="25603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776CFD"/>
                </a:solidFill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4984" y="2834639"/>
            <a:ext cx="2136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存量策略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2024" y="3355848"/>
            <a:ext cx="2913888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存量不动、增量新规范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核对后逐步迁移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206240"/>
            <a:ext cx="3279648" cy="1691640"/>
          </a:xfrm>
          <a:prstGeom prst="roundRect">
            <a:avLst>
              <a:gd name="adj" fmla="val 540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59536" y="4434840"/>
            <a:ext cx="658368" cy="65836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cloud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127" y="4599431"/>
            <a:ext cx="329184" cy="32918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709928" y="44348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776CFD"/>
                </a:solidFill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9928" y="4709159"/>
            <a:ext cx="2136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技术路线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" y="5230368"/>
            <a:ext cx="2913888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基于现有工具延伸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实时与湖仓验证后定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20896" y="4206240"/>
            <a:ext cx="3279648" cy="1691640"/>
          </a:xfrm>
          <a:prstGeom prst="roundRect">
            <a:avLst>
              <a:gd name="adj" fmla="val 540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322064" y="4434840"/>
            <a:ext cx="658368" cy="658368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star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86656" y="4599431"/>
            <a:ext cx="329184" cy="32918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172456" y="44348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B4551A"/>
                </a:solidFill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72456" y="4709159"/>
            <a:ext cx="2136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资源投入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49496" y="5230368"/>
            <a:ext cx="2913888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核心人员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与资源预算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83424" y="4206240"/>
            <a:ext cx="3279648" cy="1691640"/>
          </a:xfrm>
          <a:prstGeom prst="roundRect">
            <a:avLst>
              <a:gd name="adj" fmla="val 540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784592" y="4434840"/>
            <a:ext cx="658368" cy="658368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trus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49184" y="4599431"/>
            <a:ext cx="329184" cy="329184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634984" y="44348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B4551A"/>
                </a:solidFill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34984" y="4709159"/>
            <a:ext cx="2136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业务配合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12024" y="5230368"/>
            <a:ext cx="2913888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各业务线指定数据负责人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参与指标确认与闭环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0" tIns="0" rIns="0" bIns="0" anchor="ctr"/>
          <a:lstStyle/>
          <a:p>
            <a:pPr algn="ctr"/>
            <a:r>
              <a:rPr sz="3600" b="1">
                <a:solidFill>
                  <a:srgbClr val="FFFFFF"/>
                </a:solidFill>
              </a:rPr>
              <a:t>治理是基础，平台是载体</a:t>
            </a:r>
          </a:p>
          <a:p>
            <a:pPr algn="ctr"/>
            <a:r>
              <a:rPr sz="3600" b="1">
                <a:solidFill>
                  <a:srgbClr val="FFFFFF"/>
                </a:solidFill>
              </a:rPr>
              <a:t>AI 与数据服务放大价值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7" sz="quarter"/>
          </p:nvPr>
        </p:nvSpPr>
        <p:spPr/>
        <p:txBody>
          <a:bodyPr wrap="square" lIns="0" tIns="0" rIns="0" bIns="0" anchor="ctr"/>
          <a:lstStyle/>
          <a:p>
            <a:pPr algn="ctr"/>
            <a:r>
              <a:rPr sz="1800" b="0">
                <a:solidFill>
                  <a:srgbClr val="EEEDFF"/>
                </a:solidFill>
              </a:rPr>
              <a:t>赋能企业 · 赋能行业　|　谢谢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4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5"/>
  <p:tag name="KSO_WM_UNIT_LAYERLEVEL" val="1"/>
  <p:tag name="KSO_WM_TAG_VERSION" val="3.0"/>
  <p:tag name="KSO_WM_BEAUTIFY_FLAG" val="#wm#"/>
  <p:tag name="KSO_WM_UNIT_TYPE" val="i"/>
  <p:tag name="KSO_WM_UNIT_INDEX" val="5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6"/>
  <p:tag name="KSO_WM_UNIT_LAYERLEVEL" val="1"/>
  <p:tag name="KSO_WM_TAG_VERSION" val="3.0"/>
  <p:tag name="KSO_WM_BEAUTIFY_FLAG" val="#wm#"/>
  <p:tag name="KSO_WM_UNIT_TYPE" val="i"/>
  <p:tag name="KSO_WM_UNIT_INDEX" val="6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TYPE" val="a"/>
  <p:tag name="KSO_WM_UNIT_INDEX" val="1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f*1"/>
  <p:tag name="KSO_WM_UNIT_LAYERLEVEL" val="1"/>
  <p:tag name="KSO_WM_TAG_VERSION" val="3.0"/>
  <p:tag name="KSO_WM_BEAUTIFY_FLAG" val="#wm#"/>
  <p:tag name="KSO_WM_UNIT_SUBTYPE" val="b"/>
  <p:tag name="KSO_WM_UNIT_PRESET_TEXT" val="署名占位符"/>
  <p:tag name="KSO_WM_UNIT_NOCLEAR" val="0"/>
  <p:tag name="KSO_WM_UNIT_VALUE" val="8"/>
  <p:tag name="KSO_WM_UNIT_TYPE" val="f"/>
  <p:tag name="KSO_WM_UNIT_INDEX" val="1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6"/>
  <p:tag name="KSO_WM_UNIT_TYPE" val="a"/>
  <p:tag name="KSO_WM_UNIT_INDEX" val="1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4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14"/>
  <p:tag name="KSO_WM_UNIT_TYPE" val="a"/>
  <p:tag name="KSO_WM_UNIT_INDEX" val="1"/>
</p:tagLst>
</file>

<file path=ppt/tags/tag28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ID" val="_4*e*1"/>
  <p:tag name="KSO_WM_UNIT_LAYERLEVEL" val="1"/>
  <p:tag name="KSO_WM_TAG_VERSION" val="3.0"/>
  <p:tag name="KSO_WM_BEAUTIFY_FLAG" val="#wm#"/>
  <p:tag name="KSO_WM_UNIT_PRESET_TEXT" val="节编号"/>
  <p:tag name="KSO_WM_UNIT_NOCLEAR" val="0"/>
  <p:tag name="KSO_WM_UNIT_VALUE" val="13"/>
  <p:tag name="KSO_WM_UNIT_TYPE" val="e"/>
  <p:tag name="KSO_WM_UNIT_INDEX" val="1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TYPE" val="f"/>
  <p:tag name="KSO_WM_UNIT_INDEX" val="1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f*2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TYPE" val="f"/>
  <p:tag name="KSO_WM_UNIT_INDEX" val="2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a*1_1"/>
  <p:tag name="KSO_WM_UNIT_LAYERLEVEL" val="1_1"/>
  <p:tag name="KSO_WM_TAG_VERSION" val="3.0"/>
  <p:tag name="KSO_WM_BEAUTIFY_FLAG" val="#wm#"/>
  <p:tag name="KSO_WM_UNIT_PRESET_TEXT" val="单击此处编辑母版文本样式"/>
  <p:tag name="KSO_WM_UNIT_NOCLEAR" val="0"/>
  <p:tag name="KSO_WM_UNIT_TYPE" val="h_a"/>
  <p:tag name="KSO_WM_UNIT_INDEX" val="1_1"/>
  <p:tag name="KSO_WM_UNIT_ISCONTENTSTITLE" val="0"/>
  <p:tag name="KSO_WM_UNIT_ISNUMDGMTITLE" val="0"/>
  <p:tag name="KSO_WM_UNIT_VALUE" val="19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f*1_1"/>
  <p:tag name="KSO_WM_UNIT_LAYERLEVEL" val="1_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TYPE" val="h_f"/>
  <p:tag name="KSO_WM_UNIT_INDEX" val="1_1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a*2_1"/>
  <p:tag name="KSO_WM_UNIT_LAYERLEVEL" val="1_1"/>
  <p:tag name="KSO_WM_TAG_VERSION" val="3.0"/>
  <p:tag name="KSO_WM_BEAUTIFY_FLAG" val="#wm#"/>
  <p:tag name="KSO_WM_UNIT_PRESET_TEXT" val="单击此处编辑母版文本样式"/>
  <p:tag name="KSO_WM_UNIT_NOCLEAR" val="0"/>
  <p:tag name="KSO_WM_UNIT_TYPE" val="h_a"/>
  <p:tag name="KSO_WM_UNIT_INDEX" val="2_1"/>
  <p:tag name="KSO_WM_UNIT_ISCONTENTSTITLE" val="0"/>
  <p:tag name="KSO_WM_UNIT_ISNUMDGMTITLE" val="0"/>
  <p:tag name="KSO_WM_UNIT_VALUE" val="19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f*2_1"/>
  <p:tag name="KSO_WM_UNIT_LAYERLEVEL" val="1_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TYPE" val="h_f"/>
  <p:tag name="KSO_WM_UNIT_INDEX" val="2_1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96"/>
  <p:tag name="KSO_WM_UNIT_TYPE" val="f"/>
  <p:tag name="KSO_WM_UNIT_INDEX" val="1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b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副标题样式"/>
  <p:tag name="KSO_WM_UNIT_NOCLEAR" val="0"/>
  <p:tag name="KSO_WM_UNIT_VALUE" val="40"/>
  <p:tag name="KSO_WM_UNIT_TYPE" val="b"/>
  <p:tag name="KSO_WM_UNIT_INDEX" val="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4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5"/>
  <p:tag name="KSO_WM_UNIT_LAYERLEVEL" val="1"/>
  <p:tag name="KSO_WM_TAG_VERSION" val="3.0"/>
  <p:tag name="KSO_WM_BEAUTIFY_FLAG" val="#wm#"/>
  <p:tag name="KSO_WM_UNIT_TYPE" val="i"/>
  <p:tag name="KSO_WM_UNIT_INDEX" val="5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TYPE" val="a"/>
  <p:tag name="KSO_WM_UNIT_INDEX" val="1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  <p:tag name="KSO_WM_UNIT_NOCLEAR" val="0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f*1"/>
  <p:tag name="KSO_WM_UNIT_LAYERLEVEL" val="1"/>
  <p:tag name="KSO_WM_TAG_VERSION" val="3.0"/>
  <p:tag name="KSO_WM_BEAUTIFY_FLAG" val="#wm#"/>
  <p:tag name="KSO_WM_UNIT_SUBTYPE" val="b"/>
  <p:tag name="KSO_WM_UNIT_PRESET_TEXT" val="署名占位符"/>
  <p:tag name="KSO_WM_UNIT_NOCLEAR" val="0"/>
  <p:tag name="KSO_WM_UNIT_VALUE" val="8"/>
  <p:tag name="KSO_WM_UNIT_TYPE" val="f"/>
  <p:tag name="KSO_WM_UNIT_INDEX" val="1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a*1"/>
  <p:tag name="KSO_WM_UNIT_LAYERLEVEL" val="1"/>
  <p:tag name="KSO_WM_TAG_VERSION" val="1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  <p:tag name="KSO_WM_UNIT_VALUE" val="25"/>
  <p:tag name="KSO_WM_TEMPLATE_CATEGORY" val="custom"/>
  <p:tag name="KSO_WM_TEMPLATE_INDEX" val="20233105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f*1"/>
  <p:tag name="KSO_WM_UNIT_LAYERLEVEL" val="1"/>
  <p:tag name="KSO_WM_TAG_VERSION" val="1.0"/>
  <p:tag name="KSO_WM_BEAUTIFY_FLAG" val="#wm#"/>
  <p:tag name="KSO_WM_UNIT_SUBTYPE" val="a"/>
  <p:tag name="KSO_WM_UNIT_PRESET_TEXT" val="单击此处编辑母版文本样式&#10;第二级&#10;第三级&#10;第四级&#10;第五级"/>
  <p:tag name="KSO_WM_UNIT_NOCLEAR" val="0"/>
  <p:tag name="KSO_WM_UNIT_TYPE" val="f"/>
  <p:tag name="KSO_WM_UNIT_INDEX" val="1"/>
  <p:tag name="KSO_WM_TEMPLATE_CATEGORY" val="custom"/>
  <p:tag name="KSO_WM_TEMPLATE_INDEX" val="20233105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80.xml><?xml version="1.0" encoding="utf-8"?>
<p:tagLst xmlns:p="http://schemas.openxmlformats.org/presentationml/2006/main">
  <p:tag name="KSO_WM_TEMPLATE_SUBCATEGORY" val="29"/>
  <p:tag name="KSO_WM_TEMPLATE_MASTER_TYPE" val="0"/>
  <p:tag name="KSO_WM_TEMPLATE_COLOR_TYPE" val="0"/>
  <p:tag name="KSO_WM_TAG_VERSION" val="3.0"/>
  <p:tag name="KSO_WM_BEAUTIFY_FLAG" val="#wm#"/>
  <p:tag name="KSO_WM_TEMPLATE_CATEGORY" val="custom"/>
  <p:tag name="KSO_WM_TEMPLATE_INDEX" val="20233105"/>
  <p:tag name="KSO_WM_TEMPLATE_THUMBS_INDEX" val="1、9"/>
</p:tagLst>
</file>

<file path=ppt/theme/theme1.xml><?xml version="1.0" encoding="utf-8"?>
<a:theme xmlns:a="http://schemas.openxmlformats.org/drawingml/2006/main" name="第一PPT模板网：www.1ppt.c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413ee637-1583-4e68-adee-a086e9f023ee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25400">
          <a:solidFill>
            <a:schemeClr val="bg1">
              <a:lumMod val="75000"/>
            </a:schemeClr>
          </a:solidFill>
        </a:ln>
        <a:scene3d>
          <a:camera prst="orthographicFront"/>
          <a:lightRig rig="flat" dir="t"/>
        </a:scene3d>
        <a:sp3d>
          <a:extrusionClr>
            <a:schemeClr val="bg1"/>
          </a:extrusionClr>
          <a:contourClr>
            <a:schemeClr val="bg1"/>
          </a:contourClr>
        </a:sp3d>
      </a:spPr>
      <a:bodyPr rtlCol="0" anchor="ctr"/>
      <a:lstStyle>
        <a:defPPr marL="0" algn="ctr" eaLnBrk="0" fontAlgn="ctr" hangingPunct="0">
          <a:spcBef>
            <a:spcPts val="0"/>
          </a:spcBef>
          <a:spcAft>
            <a:spcPts val="0"/>
          </a:spcAft>
          <a:buClr>
            <a:srgbClr val="FF0000"/>
          </a:buClr>
          <a:buSzPct val="70000"/>
          <a:tabLst>
            <a:tab pos="136525" algn="l"/>
          </a:tabLst>
          <a:defRPr sz="1400"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自定义 85">
      <a:dk1>
        <a:srgbClr val="000000"/>
      </a:dk1>
      <a:lt1>
        <a:srgbClr val="FFFFFF"/>
      </a:lt1>
      <a:dk2>
        <a:srgbClr val="44546A"/>
      </a:dk2>
      <a:lt2>
        <a:srgbClr val="FFFFFF"/>
      </a:lt2>
      <a:accent1>
        <a:srgbClr val="776CFD"/>
      </a:accent1>
      <a:accent2>
        <a:srgbClr val="5D95F1"/>
      </a:accent2>
      <a:accent3>
        <a:srgbClr val="655BE6"/>
      </a:accent3>
      <a:accent4>
        <a:srgbClr val="6C95FD"/>
      </a:accent4>
      <a:accent5>
        <a:srgbClr val="64DCBF"/>
      </a:accent5>
      <a:accent6>
        <a:srgbClr val="33C2FF"/>
      </a:accent6>
      <a:hlink>
        <a:srgbClr val="658BD5"/>
      </a:hlink>
      <a:folHlink>
        <a:srgbClr val="A16AA5"/>
      </a:folHlink>
    </a:clrScheme>
    <a:fontScheme name="自定义 32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21268</Words>
  <Application>WPS 演示</Application>
  <PresentationFormat>自定义</PresentationFormat>
  <Paragraphs>3534</Paragraphs>
  <Slides>78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40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78</vt:i4>
      </vt:variant>
    </vt:vector>
  </HeadingPairs>
  <TitlesOfParts>
    <vt:vector size="120" baseType="lpstr">
      <vt:lpstr>Arial</vt:lpstr>
      <vt:lpstr>SimSun</vt:lpstr>
      <vt:lpstr>Wingdings</vt:lpstr>
      <vt:lpstr>Microsoft YaHei</vt:lpstr>
      <vt:lpstr>Calibri</vt:lpstr>
      <vt:lpstr>Arial Unicode MS</vt:lpstr>
      <vt:lpstr>STXihei</vt:lpstr>
      <vt:lpstr>Calibri</vt:lpstr>
      <vt:lpstr>苹方 特粗</vt:lpstr>
      <vt:lpstr>OPPOSans B</vt:lpstr>
      <vt:lpstr>Microsoft YaHei UI Bold</vt:lpstr>
      <vt:lpstr>Microsoft YaHei UI Regular</vt:lpstr>
      <vt:lpstr>Arial</vt:lpstr>
      <vt:lpstr>DM Sans Regular</vt:lpstr>
      <vt:lpstr>FFont-Family</vt:lpstr>
      <vt:lpstr>Barlow Medium</vt:lpstr>
      <vt:lpstr>Helvetica Neue</vt:lpstr>
      <vt:lpstr>Microsoft YaHei Bold</vt:lpstr>
      <vt:lpstr>Helvetica Neue Medium</vt:lpstr>
      <vt:lpstr>Arial Unicode MS</vt:lpstr>
      <vt:lpstr>Gilroy ExtraBold</vt:lpstr>
      <vt:lpstr>OPPOSans R</vt:lpstr>
      <vt:lpstr>DengXian</vt:lpstr>
      <vt:lpstr>Jost-Bold</vt:lpstr>
      <vt:lpstr>思源宋体 CN Heavy</vt:lpstr>
      <vt:lpstr>Barlow Bold</vt:lpstr>
      <vt:lpstr>思源黑体 CN Normal</vt:lpstr>
      <vt:lpstr>SimHei</vt:lpstr>
      <vt:lpstr>Barlow SemiBold</vt:lpstr>
      <vt:lpstr>阿里巴巴普惠体 2.0 45 Light</vt:lpstr>
      <vt:lpstr>Alibaba PuHuiTi 3.0 55 Regular</vt:lpstr>
      <vt:lpstr>Roboto Regular</vt:lpstr>
      <vt:lpstr>思源黑体 CN Regular</vt:lpstr>
      <vt:lpstr>Alibaba PuHuiTi 3.0 55 Regular</vt:lpstr>
      <vt:lpstr>Barlow SemiBold</vt:lpstr>
      <vt:lpstr>Helvetica Neue</vt:lpstr>
      <vt:lpstr>Wingdings</vt:lpstr>
      <vt:lpstr>Microsoft YaHei</vt:lpstr>
      <vt:lpstr>+mn-ea微软雅黑</vt:lpstr>
      <vt:lpstr>+mn-lt微软雅黑</vt:lpstr>
      <vt:lpstr>第一PPT模板网：www.1ppt.com</vt:lpstr>
      <vt:lpstr>Office 主题​​</vt:lpstr>
      <vt:lpstr>点击输入总结内容</vt:lpstr>
      <vt:lpstr>目 录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第一PPT，www.1ppt.com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第一PPT</dc:title>
  <dc:creator>www.1ppt.com</dc:creator>
  <cp:keywords>第一PPT www.1ppt.com</cp:keywords>
  <dc:description>http://www.1ppt.com</dc:description>
  <cp:category>http://www.1ppt.com</cp:category>
  <cp:lastModifiedBy>寶安居士</cp:lastModifiedBy>
  <cp:revision>1446</cp:revision>
  <dcterms:created xsi:type="dcterms:W3CDTF">2009-02-11T05:37:00Z</dcterms:created>
  <dcterms:modified xsi:type="dcterms:W3CDTF">2026-10-14T11:53:47Z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">
    <vt:lpwstr>锐普图表</vt:lpwstr>
  </property>
  <property fmtid="{D5CDD505-2E9C-101B-9397-08002B2CF9AE}" pid="3" name="SlideDescription">
    <vt:lpwstr/>
  </property>
  <property fmtid="{D5CDD505-2E9C-101B-9397-08002B2CF9AE}" pid="4" name="ICV">
    <vt:lpwstr>B14B338463114CB1AA48C40141CB66E8_12</vt:lpwstr>
  </property>
  <property fmtid="{D5CDD505-2E9C-101B-9397-08002B2CF9AE}" pid="5" name="KSOProductBuildVer">
    <vt:lpwstr>2052-12.1.0.29161</vt:lpwstr>
  </property>
</Properties>
</file>