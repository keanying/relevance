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3"/>
  </p:sldMasterIdLst>
  <p:notesMasterIdLst>
    <p:notesMasterId r:id="rId82"/>
  </p:notesMasterIdLst>
  <p:handoutMasterIdLst>
    <p:handoutMasterId r:id="rId8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</p:sldIdLst>
  <p:sldSz cx="11522075" cy="8640445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1pPr>
    <a:lvl2pPr marL="5759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2pPr>
    <a:lvl3pPr marL="11518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3pPr>
    <a:lvl4pPr marL="172847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4pPr>
    <a:lvl5pPr marL="230441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5pPr>
    <a:lvl6pPr marL="288036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6pPr>
    <a:lvl7pPr marL="3456305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7pPr>
    <a:lvl8pPr marL="403225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8pPr>
    <a:lvl9pPr marL="460883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2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990099"/>
    <a:srgbClr val="FF3399"/>
    <a:srgbClr val="66FF33"/>
    <a:srgbClr val="99FF66"/>
    <a:srgbClr val="FFCC66"/>
    <a:srgbClr val="FF9900"/>
    <a:srgbClr val="FFFFFF"/>
    <a:srgbClr val="FFCC0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4" autoAdjust="0"/>
    <p:restoredTop sz="95672" autoAdjust="0"/>
  </p:normalViewPr>
  <p:slideViewPr>
    <p:cSldViewPr showGuides="1">
      <p:cViewPr>
        <p:scale>
          <a:sx n="50" d="100"/>
          <a:sy n="50" d="100"/>
        </p:scale>
        <p:origin x="2814" y="1077"/>
      </p:cViewPr>
      <p:guideLst>
        <p:guide orient="horz" pos="2722"/>
        <p:guide pos="362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5304"/>
    </p:cViewPr>
  </p:sorterViewPr>
  <p:notesViewPr>
    <p:cSldViewPr>
      <p:cViewPr varScale="1">
        <p:scale>
          <a:sx n="81" d="100"/>
          <a:sy n="81" d="100"/>
        </p:scale>
        <p:origin x="-3288" y="-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E1A7895-9E8F-4C50-B5E8-7345F3E6B0B6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1C19984-4B2A-48B4-B869-87DEC631B6E0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D0698-BD05-4639-9D81-B9F65B9CB3B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0DEE79-D6A9-404B-B2E7-14B1D354893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594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5189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847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30441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8036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5630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3225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60883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本次汇报讲清一件事：怎么建设我们的 AI + 大数据平台，用它赋能企业、赋能行业。全本分九章，沿着有什么、缺什么、要建什么、要怎么建、价值是什么的思路逐步推进。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汇报分八个部分：现状与挑战、目标与蓝图、治理筑基、平台统一、AI 赋能、赋能企业、赋能行业、价值与保障。顺序沿着有什么、缺什么、要建什么、要怎么建、价值是什么逐步推进：先讲家底和问题，再讲要建成什么，然后按治理筑基、平台统一、AI 赋能三步讲怎么建，再讲如何赋能企业和行业，最后讲价值和需要的支持。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先讲结论。一个判断：我们的数据家底厚、离线主流程骨架已经在，但数据还不够可信，而 AI 应用越铺越开，会把口径不一、数字不准的问题放大。一个目标：建成数据可信、模型可复用、服务稳定、能力易扩展的 AI + 大数据平台。三步建设：治理筑基、平台统一、AI 赋能。两个赋能：对内跑通八条业务数据闭环，对外通过数据服务、产品和行业报告规范赋能行业。三层价值：企业降本增效、客户与伙伴增长、行业标准与洞察。需要的支持：口径决策机制、规范强制力、资源投入和业务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 现状与挑战：家底厚、骨架在，但数据还不够可信。本部分包括：数据家底、产品全景与数据来源、离线主流程、已有能力、五类问题与根因、关键数字为什么不准、为什么是现在、能力盘点。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数据资产按十四个域盘点：主链六域是主体与组织、资源与商品、渠道与供销、订单交易、预约与核销、结算与财务，覆盖从供给到结算的全链路，是核心资产；另有营销、游客会员、多业态、现场设备、SaaS 客户、平台运行、外部与公共数据、知识与 AI 八类支撑数据。盘点时逐域登记来源、负责人、粒度、更新方式、质量、安全等级和授权用途。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票付通的三条产品线就是数据的来源和使用方。智慧票务覆盖票务、景区业态、运营、财务和智慧终端，是数据的主要产生方；AI 数字大脑面向景区和管理方，包括景数通、景区 AI 调度中枢和票付通 APP；畅游 AI 面向游客，包括畅游小程序、游客 AI 服务和会员营销。平台把智慧票务产生的数据汇聚治理，变成指标、标签和服务，支撑另外两条产品线；它们的使用行为和反馈再回流平台。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离线主流程已经贯通：供应商、游客、会员到订单再到维度，ODS、DWD、DIM、DWS、ADS 全链路打通。骨架已搭好，下一步是补维度、补质量、补实时、补标签。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已有能力覆盖开发、服务、消费三个环节：DataWorks 负责离线开发与调度，动态数据开放 API 把 ADS 指标对内对外提供，Quick BI 负责分析展示。缺的是中间的治理与指标体系，以及贯穿各层的 AI 能力。产品侧已有智慧票务、AI 数字大脑和畅游 AI 三条产品线。已有投入全部保留，在此基础上升级。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五类问题：数据孤岛、口径不一、结构不规范、模型重复、关键数字不准。它们同根同源，根因是缺少统一的标准、模型、口径和校验。只修某一个看板的数，问题会反复出现。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以入园和核销为例，数字不准的原因分布在整条链路上：设备和渠道多头上报、离线补传；业务库重复上报、撤销冲正未处理；数仓混用发生时间与上报时间、口径混淆、跨系统 ID 映射错误；看板与报表之间没有逐层核对，景区个性规则未处理。这些是待逐项排查的方向，不是已确认的根因。缺的是唯一事实源、逐层核对和统一口径。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为什么要现在做。产品线上的 AI 已经铺开：三条产品线都在用数据，AI 应用和智能体有十九个，其中景数通和票付通 APP 两个入口都能 AI 问数。如果底层口径不一、数字不准，AI 不会消除问题，反而会放大问题：同一个问题得到多个答案，错误数字被自动推送到一线，对外数据产品失去客户信任。所以必须先治理、建底座，AI 才会放大价值，而不是放大问题。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三列分别是已具备、持续建设、待建设。已具备的四项全部保留并升级；持续建设的是其他主题域和数据标准、地图、血缘；待建设的是质量与核对、实时、统一标签、指标中心与景区自定义、AI 共用能力。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 目标与蓝图：一个平台，两个赋能。本部分包括：建设目标、总体架构、平台组件、演进路径。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要建成的平台用四个“可”来衡量：数据可信、模型可复用、服务稳定、能力易扩展。它支撑对内赋能、对外商业化和行业成果输出。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平台自下而上分为数据来源、统一底座、指标与分析、数据服务、AI 能力、应用与服务；治理与资产贯穿各层。深色块是已有的 DataWorks、离线主流程、Quick BI 和动态数据开放 API，其余为新建或升级。AI、BI 和 API 使用同一套可信数据、指标和权限。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建设期间需要七组平台组件：数据集成、存储计算、开发运维、数据治理、指标标签、服务分析、AI 能力。深色为已有能力，主要是 DataWorks 的批量同步、离线计算、开发调度，以及动态数据开放 API 和 Quick BI；浅色为在现有基础上升级；虚线为新建。具体选型经验证后确定。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起点是离线主流程已贯通。第一阶段治理筑基，让核心数据可信；第二阶段平台统一，让公共能力可复用；第三阶段价值扩展，用客户使用和付费验证价值。三段错开叠加推进，达到标志才扩大范围。数据不可信时扩大 AI 和对外服务，只会放大错误。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 治理筑基：先让数据可信。本部分包括：治理体系、规范落地、核销治理样板、数据安全、AI 提效治理。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治理的目标是让数据找得到、看得懂、用得准，问题能定位，范围能控制。六项能力覆盖从源系统到 AI 的全链路。新增表和任务发布前自动检查；存量按业务影响逐步治理；AI 辅助生成字段说明，由负责人确认。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规范要变成卡点。表名按分层、主题域、业务过程与粒度、更新方式统一，例如 dwd_trd_order_item_di 表示交易域订单项明细、日增量。DDL 强制填写中文名、描述、负责人、安全等级、生命周期、分区字段和字段注释，通用字段区分发生时间与上报时间。新建表发布前自动检查；存量核心表优先整改，AI 批量补描述后负责人确认；持续用资产健康分月度公示。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以入园和核销作为治理样板。先厘清核销次数、有效核销票数、入园人次、去重游客数四个指标；再逐项排查源端采集、重复上报、离线补传、撤销处理、统计时间和对象映射；然后建立从源端到 BI 的逐层核对，差异可追溯、修复并重算。跑通后复制到交易、退款、结算。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数据按四级管控：L4 高敏是个人信息、人脸和政务核验结果；L3 敏感是单景区经营、价格和结算；L2 内部是日志、设备状态和匿名聚合；L1 公开是已发布的报告与规范。权属上，景区数据只服务该景区本人，渠道数据不向其他渠道披露，游客信息在授权范围内使用，政务数据只用核验结果，外部采购数据按合同使用，对外只输出匿名聚合结果。L4 明文不进入大模型。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用来降低治理成本：补全存量元数据、推荐规范命名、发现口径冲突和重复 SQL、推荐质量规则、识别敏感字段、结合血缘分析异常根因。每一项都由对应负责人确认，不以模型推测替代业务定义。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 平台统一：一份数据、一套口径、一个出口。本部分包括：统一底座、离线与湖仓合一、主题域补齐、指标体系、统一标签、自助分析、统一数据服务。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数据从各类来源统一接入，沉淀到湖仓一体的公共模型。离线依托 DataWorks 承接历史加工、对账和重算；实时复用主流程的模型定义，订单和核销先行。分析查询层为 Quick BI、API 和 AI 提供稳定查询。离线与实时共享业务定义和质量规则，结果可校验。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现状是离线和湖仓各建一套模型，同一逻辑写两遍，结果对不上，改一个口径要改多处。目标是一份存储、一套公共层，离线和实时只是两种计算方式，统一输出指标给 BI、API 和 AI。合并分五步：盘点重叠模型、确定保留版本、下游改为引用公共层、双跑对比、下线重复模型。存量不动、增量按新规范，双跑通过后逐域切换，保留回滚。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已贯通的离线主流程为基线，对照产品全景逐步补齐主题域。优先补齐核销履约（闸机、边云网关、手持终端，作为治理样板，直接关系入园准确性）、渠道分销（分销、报团、返利）和结算财务（报表、对账、发票）。后续补齐商品资源、九类景区业态的二次消费、会员营销（年卡、积分、全民营销），以及 SaaS 客户使用、设备与调度智能体的感知事件。新主题域复用租户、景区、商品、渠道、时间等公共维度。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企业标准指标由企业统一定义、版本管理、业务认证，统一服务 Quick BI、API 和 AI 问数。景区可以基于本景区明细创建专属指标，相互隔离，只服务本景区，同名不能覆盖企业标准。有共性价值的景区指标，经评审可以沉淀为企业标准。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已有基础标签，但更新慢、场景少、口径不一。统一后，标签基于公共模型统一生产，每个标签登记定义、口径、负责人和生命周期，再通过标签服务提供给营销、分析、AI 和景区。指标回答有多少，标签回答是谁、什么样。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 Quick BI 为分析入口，围绕治理后的模型，完善指标检索、明细探索、可视化计算配置、自定义看板和报表订阅。景区指标定义与权限统一管理，集成到 BI 使用流程，具备条件后以嵌入式方式进入景区 SaaS。企业和景区从统一模型、指标和标签出发完成日常分析；AI 问数与 BI 共用指标定义和权限。预期产出：企业指标中心、景区专属指标空间、统一标签服务、统一语义服务、自助分析平台及业务看板。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动态数据开放 API 分四步升级：当前是 ADS 指标快速发布；升级后关联标准指标、权限和质量状态；服务化后扩展为指标与标签服务，租户隔离，并作为 AI 的标准取数工具；开放化后集成嵌入式 BI 与 AI，按套餐和计量收费。一套服务同时支撑 Quick BI、业务系统、景区 SaaS、合作伙伴和 AI 智能体，内外口径天然一致。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第五部分 AI 赋能：让 AI 用上可信数据。本部分包括：AI 平台、支撑三条产品线的 AI、AI 问数。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平台分三层：底层是可信数据，包括指标服务、标签服务、知识库、元数据与血缘、权限隔离；中间是模型、知识、工具、评测四项共用能力；上层是五类 AI 应用。AI 不直接生成数字，只通过受控服务取数。先做辅助数据建设，再做问数，最后做预测与业务助手。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产品线里已经有很多 AI 应用：智慧票务有票务 AI 运营助手、AI 对账助手；AI 数字大脑有景数通的问数与洞察、票付通 APP 的问数与预警，以及景区 AI 调度中枢的八个智能体；畅游 AI 有旅游规划、智能客服、智能购票、伴游和旅拍五个游客智能体。平台不重复建应用，而是提供共用的 AI 能力和可信数据。关键一点：景数通和票付通 APP 都有 AI 问数，必须共用同一套认证指标，同一个问题只有一个答案。各产品的问答日志、纠错和工单结果回流到评测集和知识库。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问数的链路：识别用户与租户，澄清指标和时间范围，匹配已认证的指标，检查权限和查询成本，调用指标服务取数，校验结果，最后附上口径、更新时间和质量状态。缺数据或问题含糊时先澄清，不编造数字。评测集覆盖简单指标、对比归因、模糊问题、越权提问和无数据五类，用正确率、越权阻断率、澄清率、响应时间和单次成本衡量。内部问数和对外的 AI 智慧大脑共用同一套指标服务和评测集。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第六部分 赋能企业：数据赋能业务，业务反哺数据。本部分包括：业务闭环模型、八条业务闭环、票务闭环样板、智能体闭环样板、五个运行机制、赋能企业成效。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条业务线都要形成闭环：业务产生数据，平台接入治理，加工成指标、标签、预测和洞察，嵌入业务决策和动作；业务动作的结果、反馈、异常和新需求再回流平台，用来修正规则、迭代模型、补充指标。这样数据和模型会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八条业务闭环每条都写清赋能输出和反哺回流。优先跑通票务和订单两条核心闭环，同时做供应商试点、智能体日志回流；渠道闭环随后启动；小程序、营销、外部数据放在推广批次。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票务闭环作为第一个样板：核销与设备数据进入核销标准模型，区分四个口径并做三层核对；输出实时看板、容量预警和客流预测，支撑景区节假日调度；预警处理结果和预测偏差回流，用来调整阈值和迭代模型。价值是关键数字可信、节假日实时掌控、减少结算争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智能体闭环作为第二个样板：AI 智慧大脑、AI 客服、AI 伴游等统一通过指标、标签和知识工具取数，答案口径一致、可追溯；用户的提问、纠错、差评回流，用来补指标、补同义词、更新知识库和评测集，会话中的业务诉求也回流为业务洞察。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闭环靠五个机制持续运转：数据前置、统一出口、反馈回流、效果复盘、持续迭代。业务负责人定目标、用结果、给反馈；数据团队建能力、出数据、做复盘；产品研发保证埋点和回流。用回流覆盖率、场景采纳率、迭代周期和业务效果变化衡量闭环是否健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对内赋能有三类产品：面向管理层和景区运营的经营驾驶舱与节假日作战屏；面向运营、渠道、营销、客户成功的自助分析与 AI 问数；面向全员的主动推送和自动报告。用数流程是在数据门户找数、看口径、申请权限、用模板或提问、拿到带口径的结果、订阅后续变化。用活跃用户、自助完成率、取数周期和业务采纳率衡量，不以上线看板数量衡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第七部分 赋能行业：从数据服务到行业标准。本部分包括：一键接入、对外数据产品、商业化与行业路径、行业成果。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一键接入是把渠道、景区、设备的重复对接沉淀为连接器：授权开通、选择连接器、AI 辅助字段映射、历史初始化、增量同步、质量检查、试运行、上线与监控。配套开发者门户、文档与 SDK、沙箱、签名鉴权、限流与幂等、调用计量和服务等级。它适用于已适配的标准系统，在授权和环境就绪后配置完成；非标系统进入专项实施。用接入周期中位数与 P90、首次验收通过率衡量。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对外产品有五个方向：面向景区和景区集团的经营分析增强版，按 SaaS 增购订阅；面向季节性强景区的预测与运营助手，按场景订阅；面向渠道伙伴和集成商的数据开放 API，按年费加调用量；面向文旅主管部门的区域文旅监测，按项目加运营服务；面向文旅集团和研究机构的行业研究与基准，按订阅或专题。每个产品按收入和全部直接成本核算，看毛利、续约和复用率。前提是数据来源、授权用途和交付粒度写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对外商业化走内部验证、试点景区、付费试点、标准服务包四步，方向包括景区分析增强版、AI 运营助手、标准 API、嵌入式分析和行业研究。行业输出从经营月报、节假日专题、年度研究，到对标与规范，再到团体标准共建，依托技术创新中心发布。前提是数据边界和授权清楚、成本可核算。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行业成果包括节假日洞察快报、年度行业报告、基准与景气指数、数据与接入规范、高质量数据集和 AI 应用实践指南。方法上公开样本与口径、区分同店变化与新增接入、不把平台样本外推为全国市场、设置最小分组规模、AI 起草由专家审核。依托文旅部技术创新中心发布，规范从企业版到伙伴共建，再按程序推动团体标准。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第八部分 价值与保障：价值逐层放大，保障落地。本部分包括：价值逐层放大、建成之后、价值衡量、组织保障、风险与应对、需要的支持。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平台的价值逐层放大。第一层赋能企业内部：重复模型退役、人力释放，数据从 T+1 到分钟级，差错可发现可追溯，数据资产可计量。第二层赋能客户：景区自主分析与 AI 辅助，带来续约、客单价提升和新服务收入。第三层赋能伙伴：标准接入、直接集成，形成可信数据与广泛连接的壁垒。第四层赋能行业：输出口径、模型、接入规范，发布节假日专题与年度报告，形成合规高质量数据集，建立文旅数据与 AI 的专业地位。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建成后：管理层的每个经营问题都有口径统一、可追溯的答案；业务团队日常分析自助完成或直接问 AI；数据团队从反复对数转向建设公共能力、主动输出洞察；景区用自己的数据和指标做决策；伙伴标准接入、能力直接集成；票付通成为文旅经营数据报告、对标和规范的重要发布方。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价值分三类衡量。对内：降本看退役的模型与任务、释放的存算成本和省下的人天；增效看可查询延迟、需求交付周期和自助完成率；控险看核对差异率、问题关闭时长和越权拦截；闭环看跑通的闭环数、回流覆盖率和采纳率。对外：客户价值、商业价值和接入效率。对行业：影响力、标准化和合作。先建立基线再定目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组织上，数据治理委员会由管理层牵头，裁定口径争议；数据平台部负责建设和运营平台，下设平台与架构、数据研发、治理与指标、产品与 BI、AI 工程、开放与解决方案六个方向。业务线数据负责人定口径、用结果，数据大使传需求、推使用。机制包括月度数据共建会、口径评审、资产健康分公示、代码与 SQL 评审、开发规范手册和月度数据洞察。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主要风险和应对：口径对齐阻力大，靠管理层背书、定义权归业务方；存量切换影响业务，靠双跑验证、观察期和保留回滚；AI 答错或越权，靠只用认证指标、评测回归和权限前置；个人信息与授权合规，靠分类分级、最小化和法务前置；节假日峰值，靠压测、降级预案和节前封版；与现有产品重复建设，靠底座共建、应用分工。资源不足时聚焦核心域，每个阶段都有看得见的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需要六项支持：成立数据治理委员会并明确口径争议的最终裁定人；规范检查作为发布前置条件；认可存量不动、增量按新规范、核对后逐步迁移；技术路线基于现有 DataWorks、动态数据开放 API、Quick BI 延伸，实时与湖仓组件验证后确定；核心人员与资源预算；各业务线指定数据负责人，参与标准指标确认、闭环建设和试点。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总结：治理是基础，平台是载体，AI 与数据服务放大价值；用 AI + 大数据平台赋能企业、赋能行业。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microsoft.com/office/2007/relationships/hdphoto" Target="../media/image2.wdp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1.jpeg"/><Relationship Id="rId4" Type="http://schemas.microsoft.com/office/2007/relationships/hdphoto" Target="../media/image2.wdp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Relationship Id="rId8" Type="http://schemas.openxmlformats.org/officeDocument/2006/relationships/tags" Target="../tags/tag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tags" Target="../tags/tag26.xml"/><Relationship Id="rId6" Type="http://schemas.openxmlformats.org/officeDocument/2006/relationships/tags" Target="../tags/tag27.xml"/><Relationship Id="rId7" Type="http://schemas.openxmlformats.org/officeDocument/2006/relationships/tags" Target="../tags/tag28.xml"/><Relationship Id="rId8" Type="http://schemas.openxmlformats.org/officeDocument/2006/relationships/tags" Target="../tags/tag29.xml"/><Relationship Id="rId9" Type="http://schemas.openxmlformats.org/officeDocument/2006/relationships/tags" Target="../tags/tag30.xml"/><Relationship Id="rId10" Type="http://schemas.openxmlformats.org/officeDocument/2006/relationships/tags" Target="../tags/tag3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2.xml"/><Relationship Id="rId3" Type="http://schemas.openxmlformats.org/officeDocument/2006/relationships/tags" Target="../tags/tag33.xml"/><Relationship Id="rId4" Type="http://schemas.openxmlformats.org/officeDocument/2006/relationships/tags" Target="../tags/tag34.xml"/><Relationship Id="rId5" Type="http://schemas.openxmlformats.org/officeDocument/2006/relationships/tags" Target="../tags/tag35.xml"/><Relationship Id="rId6" Type="http://schemas.openxmlformats.org/officeDocument/2006/relationships/tags" Target="../tags/tag36.xml"/><Relationship Id="rId7" Type="http://schemas.openxmlformats.org/officeDocument/2006/relationships/tags" Target="../tags/tag37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tags" Target="../tags/tag49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tags" Target="../tags/tag59.xml"/><Relationship Id="rId5" Type="http://schemas.openxmlformats.org/officeDocument/2006/relationships/tags" Target="../tags/tag60.xml"/><Relationship Id="rId6" Type="http://schemas.openxmlformats.org/officeDocument/2006/relationships/tags" Target="../tags/tag6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tags" Target="../tags/tag70.xml"/><Relationship Id="rId11" Type="http://schemas.openxmlformats.org/officeDocument/2006/relationships/tags" Target="../tags/tag7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矩形 11"/>
          <p:cNvSpPr/>
          <p:nvPr userDrawn="1"/>
        </p:nvSpPr>
        <p:spPr bwMode="auto">
          <a:xfrm>
            <a:off x="-10867" y="1009940"/>
            <a:ext cx="11568081" cy="6768925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</a:schemeClr>
              </a:gs>
              <a:gs pos="50000">
                <a:schemeClr val="tx1">
                  <a:lumMod val="75000"/>
                  <a:lumOff val="25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5" name="矩形 4"/>
          <p:cNvSpPr/>
          <p:nvPr userDrawn="1"/>
        </p:nvSpPr>
        <p:spPr bwMode="auto">
          <a:xfrm>
            <a:off x="-8002" y="-18002"/>
            <a:ext cx="11565216" cy="1098098"/>
          </a:xfrm>
          <a:prstGeom prst="rect">
            <a:avLst/>
          </a:prstGeom>
          <a:blipFill dpi="0" rotWithShape="1">
            <a:blip r:embed="rId4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8556379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0399074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 bwMode="auto">
          <a:xfrm>
            <a:off x="-21737" y="1054219"/>
            <a:ext cx="11568081" cy="6768925"/>
          </a:xfrm>
          <a:prstGeom prst="rect">
            <a:avLst/>
          </a:prstGeom>
          <a:gradFill flip="none" rotWithShape="1">
            <a:gsLst>
              <a:gs pos="0">
                <a:srgbClr val="16355B"/>
              </a:gs>
              <a:gs pos="50000">
                <a:srgbClr val="0A2037"/>
              </a:gs>
              <a:gs pos="100000">
                <a:srgbClr val="000D18"/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7" name="矩形 6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8" name="图片 11" descr="png素材 (276).png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矩形 8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11" name="Picture 6"/>
          <p:cNvPicPr>
            <a:picLocks noChangeAspect="1" noChangeArrowheads="1"/>
          </p:cNvPicPr>
          <p:nvPr userDrawn="1"/>
        </p:nvPicPr>
        <p:blipFill>
          <a:blip r:embed="rId4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3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@path_Ellipse 9 (Stroke)-2050&amp;12778"/>
          <p:cNvSpPr/>
          <p:nvPr userDrawn="1">
            <p:custDataLst>
              <p:tags r:id="rId2"/>
            </p:custDataLst>
          </p:nvPr>
        </p:nvSpPr>
        <p:spPr>
          <a:xfrm>
            <a:off x="8641556" y="1079639"/>
            <a:ext cx="2877638" cy="3793643"/>
          </a:xfrm>
          <a:custGeom>
            <a:avLst/>
            <a:gdLst/>
            <a:ahLst/>
            <a:cxnLst/>
            <a:rect l="l" t="t" r="r" b="b"/>
            <a:pathLst>
              <a:path w="3044952" h="4014216">
                <a:moveTo>
                  <a:pt x="694944" y="0"/>
                </a:moveTo>
                <a:cubicBezTo>
                  <a:pt x="576072" y="301752"/>
                  <a:pt x="512064" y="621792"/>
                  <a:pt x="512064" y="969264"/>
                </a:cubicBezTo>
                <a:cubicBezTo>
                  <a:pt x="512064" y="2368296"/>
                  <a:pt x="1645920" y="3502152"/>
                  <a:pt x="3044952" y="3502152"/>
                </a:cubicBezTo>
                <a:lnTo>
                  <a:pt x="3044952" y="4014216"/>
                </a:lnTo>
                <a:cubicBezTo>
                  <a:pt x="1362456" y="4014216"/>
                  <a:pt x="0" y="2651760"/>
                  <a:pt x="0" y="969264"/>
                </a:cubicBezTo>
                <a:cubicBezTo>
                  <a:pt x="0" y="630936"/>
                  <a:pt x="54864" y="301752"/>
                  <a:pt x="155448" y="0"/>
                </a:cubicBezTo>
                <a:lnTo>
                  <a:pt x="694944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9" name="Ellipse 3 (Stroke)_#color-2050&amp;12715"/>
          <p:cNvSpPr/>
          <p:nvPr userDrawn="1">
            <p:custDataLst>
              <p:tags r:id="rId3"/>
            </p:custDataLst>
          </p:nvPr>
        </p:nvSpPr>
        <p:spPr>
          <a:xfrm>
            <a:off x="5844573" y="2911649"/>
            <a:ext cx="5677502" cy="4649157"/>
          </a:xfrm>
          <a:custGeom>
            <a:avLst/>
            <a:gdLst/>
            <a:ahLst/>
            <a:cxnLst/>
            <a:rect l="l" t="t" r="r" b="b"/>
            <a:pathLst>
              <a:path w="6007608" h="4919472">
                <a:moveTo>
                  <a:pt x="6007608" y="640080"/>
                </a:moveTo>
                <a:cubicBezTo>
                  <a:pt x="5394960" y="237744"/>
                  <a:pt x="4663440" y="0"/>
                  <a:pt x="3877056" y="0"/>
                </a:cubicBezTo>
                <a:cubicBezTo>
                  <a:pt x="1737360" y="0"/>
                  <a:pt x="0" y="1737360"/>
                  <a:pt x="0" y="3877056"/>
                </a:cubicBezTo>
                <a:cubicBezTo>
                  <a:pt x="0" y="4233672"/>
                  <a:pt x="45720" y="4581144"/>
                  <a:pt x="137160" y="4919472"/>
                </a:cubicBezTo>
                <a:lnTo>
                  <a:pt x="676656" y="4919472"/>
                </a:lnTo>
                <a:cubicBezTo>
                  <a:pt x="566928" y="4590288"/>
                  <a:pt x="512064" y="4233672"/>
                  <a:pt x="512064" y="3877056"/>
                </a:cubicBezTo>
                <a:cubicBezTo>
                  <a:pt x="512064" y="2011680"/>
                  <a:pt x="2011680" y="512064"/>
                  <a:pt x="3877056" y="512064"/>
                </a:cubicBezTo>
                <a:cubicBezTo>
                  <a:pt x="4681728" y="512064"/>
                  <a:pt x="5422392" y="795528"/>
                  <a:pt x="6007608" y="1271016"/>
                </a:cubicBezTo>
                <a:lnTo>
                  <a:pt x="6007608" y="64008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1" name="Ellipse 8 (Stroke)_#color-2050&amp;12718"/>
          <p:cNvSpPr/>
          <p:nvPr userDrawn="1">
            <p:custDataLst>
              <p:tags r:id="rId4"/>
            </p:custDataLst>
          </p:nvPr>
        </p:nvSpPr>
        <p:spPr>
          <a:xfrm>
            <a:off x="5020744" y="5409059"/>
            <a:ext cx="596267" cy="1875218"/>
          </a:xfrm>
          <a:custGeom>
            <a:avLst/>
            <a:gdLst/>
            <a:ahLst/>
            <a:cxnLst/>
            <a:rect l="l" t="t" r="r" b="b"/>
            <a:pathLst>
              <a:path w="630936" h="1984248">
                <a:moveTo>
                  <a:pt x="438912" y="9144"/>
                </a:moveTo>
                <a:cubicBezTo>
                  <a:pt x="576072" y="45720"/>
                  <a:pt x="658368" y="182880"/>
                  <a:pt x="621792" y="320040"/>
                </a:cubicBezTo>
                <a:cubicBezTo>
                  <a:pt x="512064" y="749808"/>
                  <a:pt x="475488" y="1216152"/>
                  <a:pt x="539496" y="1691640"/>
                </a:cubicBezTo>
                <a:cubicBezTo>
                  <a:pt x="557784" y="1828800"/>
                  <a:pt x="457200" y="1956816"/>
                  <a:pt x="320040" y="1975104"/>
                </a:cubicBezTo>
                <a:cubicBezTo>
                  <a:pt x="182880" y="1993392"/>
                  <a:pt x="54864" y="1901952"/>
                  <a:pt x="36576" y="1755648"/>
                </a:cubicBezTo>
                <a:cubicBezTo>
                  <a:pt x="-36576" y="1216152"/>
                  <a:pt x="0" y="685800"/>
                  <a:pt x="128016" y="192024"/>
                </a:cubicBezTo>
                <a:cubicBezTo>
                  <a:pt x="164592" y="54864"/>
                  <a:pt x="301752" y="-27432"/>
                  <a:pt x="438912" y="9144"/>
                </a:cubicBezTo>
              </a:path>
            </a:pathLst>
          </a:custGeom>
          <a:solidFill>
            <a:schemeClr val="accent1"/>
          </a:solidFill>
        </p:spPr>
      </p:sp>
      <p:sp>
        <p:nvSpPr>
          <p:cNvPr id="12" name="Ellipse 4 (Stroke)_#color_$accent2_$accent2-2050&amp;12721"/>
          <p:cNvSpPr/>
          <p:nvPr userDrawn="1">
            <p:custDataLst>
              <p:tags r:id="rId5"/>
            </p:custDataLst>
          </p:nvPr>
        </p:nvSpPr>
        <p:spPr>
          <a:xfrm>
            <a:off x="6368827" y="2920290"/>
            <a:ext cx="5150368" cy="2073974"/>
          </a:xfrm>
          <a:custGeom>
            <a:avLst/>
            <a:gdLst/>
            <a:ahLst/>
            <a:cxnLst/>
            <a:rect l="l" t="t" r="r" b="b"/>
            <a:pathLst>
              <a:path w="5449824" h="2194560">
                <a:moveTo>
                  <a:pt x="5449824" y="640080"/>
                </a:moveTo>
                <a:lnTo>
                  <a:pt x="5449824" y="1280160"/>
                </a:lnTo>
                <a:cubicBezTo>
                  <a:pt x="4864608" y="795528"/>
                  <a:pt x="4123944" y="512064"/>
                  <a:pt x="3310128" y="512064"/>
                </a:cubicBezTo>
                <a:cubicBezTo>
                  <a:pt x="2112264" y="512064"/>
                  <a:pt x="1060704" y="1133856"/>
                  <a:pt x="466344" y="2075688"/>
                </a:cubicBezTo>
                <a:cubicBezTo>
                  <a:pt x="393192" y="2194560"/>
                  <a:pt x="237744" y="2221992"/>
                  <a:pt x="118872" y="2148840"/>
                </a:cubicBezTo>
                <a:cubicBezTo>
                  <a:pt x="0" y="2075688"/>
                  <a:pt x="-36576" y="1920240"/>
                  <a:pt x="36576" y="1801368"/>
                </a:cubicBezTo>
                <a:cubicBezTo>
                  <a:pt x="722376" y="722376"/>
                  <a:pt x="1929384" y="0"/>
                  <a:pt x="3310128" y="0"/>
                </a:cubicBezTo>
                <a:cubicBezTo>
                  <a:pt x="4096512" y="0"/>
                  <a:pt x="4837176" y="237744"/>
                  <a:pt x="5449824" y="640080"/>
                </a:cubicBezTo>
              </a:path>
            </a:pathLst>
          </a:custGeom>
          <a:gradFill>
            <a:gsLst>
              <a:gs pos="0">
                <a:schemeClr val="accent1">
                  <a:lumMod val="75000"/>
                  <a:alpha val="7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3" name="Ellipse 10 (Stroke)_#color-2050&amp;12724"/>
          <p:cNvSpPr/>
          <p:nvPr userDrawn="1">
            <p:custDataLst>
              <p:tags r:id="rId6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7"/>
            </p:custDataLst>
          </p:nvPr>
        </p:nvSpPr>
        <p:spPr>
          <a:xfrm>
            <a:off x="825149" y="2791147"/>
            <a:ext cx="5448981" cy="1962353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105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1"/>
            </p:custDataLst>
          </p:nvPr>
        </p:nvSpPr>
        <p:spPr>
          <a:xfrm>
            <a:off x="792143" y="5076359"/>
            <a:ext cx="2509052" cy="57310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rgbClr val="FFFFFF"/>
                </a:solidFill>
                <a:latin typeface="+mn-ea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75 (Stroke)_#color-2050&amp;12727"/>
          <p:cNvSpPr/>
          <p:nvPr userDrawn="1">
            <p:custDataLst>
              <p:tags r:id="rId2"/>
            </p:custDataLst>
          </p:nvPr>
        </p:nvSpPr>
        <p:spPr>
          <a:xfrm>
            <a:off x="3102319" y="1079639"/>
            <a:ext cx="2177672" cy="6481167"/>
          </a:xfrm>
          <a:custGeom>
            <a:avLst/>
            <a:gdLst/>
            <a:ahLst/>
            <a:cxnLst/>
            <a:rect l="l" t="t" r="r" b="b"/>
            <a:pathLst>
              <a:path w="2304288" h="6858000">
                <a:moveTo>
                  <a:pt x="0" y="6858000"/>
                </a:moveTo>
                <a:lnTo>
                  <a:pt x="813816" y="6858000"/>
                </a:lnTo>
                <a:cubicBezTo>
                  <a:pt x="1728216" y="6007608"/>
                  <a:pt x="2304288" y="4782312"/>
                  <a:pt x="2304288" y="3429000"/>
                </a:cubicBezTo>
                <a:cubicBezTo>
                  <a:pt x="2304288" y="2075688"/>
                  <a:pt x="1728216" y="850392"/>
                  <a:pt x="813816" y="0"/>
                </a:cubicBezTo>
                <a:lnTo>
                  <a:pt x="0" y="0"/>
                </a:lnTo>
                <a:cubicBezTo>
                  <a:pt x="1088136" y="749808"/>
                  <a:pt x="1801368" y="2011680"/>
                  <a:pt x="1801368" y="3429000"/>
                </a:cubicBezTo>
                <a:cubicBezTo>
                  <a:pt x="1801368" y="4846320"/>
                  <a:pt x="1088136" y="6108192"/>
                  <a:pt x="0" y="6858000"/>
                </a:cubicBez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5" name="Ellipse 3 (Stroke)_#color-2050&amp;12730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4415835" cy="6481167"/>
          </a:xfrm>
          <a:custGeom>
            <a:avLst/>
            <a:gdLst/>
            <a:ahLst/>
            <a:cxnLst/>
            <a:rect l="l" t="t" r="r" b="b"/>
            <a:pathLst>
              <a:path w="4672584" h="6858000">
                <a:moveTo>
                  <a:pt x="0" y="6848856"/>
                </a:moveTo>
                <a:lnTo>
                  <a:pt x="0" y="6858000"/>
                </a:lnTo>
                <a:lnTo>
                  <a:pt x="45720" y="6858000"/>
                </a:lnTo>
                <a:cubicBezTo>
                  <a:pt x="27432" y="6858000"/>
                  <a:pt x="18288" y="6848856"/>
                  <a:pt x="0" y="6848856"/>
                </a:cubicBezTo>
                <a:moveTo>
                  <a:pt x="1261872" y="6858000"/>
                </a:moveTo>
                <a:cubicBezTo>
                  <a:pt x="1463040" y="6821424"/>
                  <a:pt x="1664208" y="6766560"/>
                  <a:pt x="1856232" y="6693408"/>
                </a:cubicBezTo>
                <a:cubicBezTo>
                  <a:pt x="3666744" y="6035040"/>
                  <a:pt x="4590288" y="4032504"/>
                  <a:pt x="3931920" y="2221992"/>
                </a:cubicBezTo>
                <a:cubicBezTo>
                  <a:pt x="3493008" y="1033272"/>
                  <a:pt x="2478024" y="228600"/>
                  <a:pt x="1316736" y="0"/>
                </a:cubicBezTo>
                <a:lnTo>
                  <a:pt x="2752344" y="0"/>
                </a:lnTo>
                <a:cubicBezTo>
                  <a:pt x="3493008" y="457200"/>
                  <a:pt x="4096512" y="1152144"/>
                  <a:pt x="4425696" y="2039112"/>
                </a:cubicBezTo>
                <a:cubicBezTo>
                  <a:pt x="5093208" y="3877056"/>
                  <a:pt x="4343400" y="5888736"/>
                  <a:pt x="2734056" y="6858000"/>
                </a:cubicBezTo>
                <a:lnTo>
                  <a:pt x="1261872" y="685800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6" name="Ellipse 4 (Stroke)_#color_$accent2_$accent2-2050&amp;12733"/>
          <p:cNvSpPr/>
          <p:nvPr userDrawn="1">
            <p:custDataLst>
              <p:tags r:id="rId4"/>
            </p:custDataLst>
          </p:nvPr>
        </p:nvSpPr>
        <p:spPr>
          <a:xfrm>
            <a:off x="0" y="4821433"/>
            <a:ext cx="4329420" cy="2739373"/>
          </a:xfrm>
          <a:custGeom>
            <a:avLst/>
            <a:gdLst/>
            <a:ahLst/>
            <a:cxnLst/>
            <a:rect l="l" t="t" r="r" b="b"/>
            <a:pathLst>
              <a:path w="4581144" h="2898648">
                <a:moveTo>
                  <a:pt x="4078224" y="201168"/>
                </a:moveTo>
                <a:cubicBezTo>
                  <a:pt x="3831336" y="1335024"/>
                  <a:pt x="3035808" y="2313432"/>
                  <a:pt x="1865376" y="2743200"/>
                </a:cubicBezTo>
                <a:cubicBezTo>
                  <a:pt x="1682496" y="2807208"/>
                  <a:pt x="1499616" y="2862072"/>
                  <a:pt x="1307592" y="2898648"/>
                </a:cubicBezTo>
                <a:lnTo>
                  <a:pt x="2715768" y="2898648"/>
                </a:lnTo>
                <a:cubicBezTo>
                  <a:pt x="3685032" y="2322576"/>
                  <a:pt x="4343400" y="1371600"/>
                  <a:pt x="4572000" y="310896"/>
                </a:cubicBezTo>
                <a:cubicBezTo>
                  <a:pt x="4599432" y="173736"/>
                  <a:pt x="4517136" y="36576"/>
                  <a:pt x="4379976" y="9144"/>
                </a:cubicBezTo>
                <a:cubicBezTo>
                  <a:pt x="4242816" y="-27432"/>
                  <a:pt x="4105656" y="64008"/>
                  <a:pt x="4078224" y="201168"/>
                </a:cubicBezTo>
                <a:moveTo>
                  <a:pt x="9144" y="2898648"/>
                </a:moveTo>
                <a:cubicBezTo>
                  <a:pt x="9144" y="2898648"/>
                  <a:pt x="0" y="2898648"/>
                  <a:pt x="0" y="2898648"/>
                </a:cubicBezTo>
                <a:lnTo>
                  <a:pt x="0" y="2898648"/>
                </a:lnTo>
                <a:lnTo>
                  <a:pt x="9144" y="2898648"/>
                </a:lnTo>
              </a:path>
            </a:pathLst>
          </a:custGeom>
          <a:gradFill>
            <a:gsLst>
              <a:gs pos="100000">
                <a:schemeClr val="accent1">
                  <a:lumMod val="75000"/>
                  <a:alpha val="70000"/>
                </a:schemeClr>
              </a:gs>
              <a:gs pos="73000">
                <a:schemeClr val="accent2">
                  <a:alpha val="0"/>
                </a:schemeClr>
              </a:gs>
            </a:gsLst>
            <a:lin ang="0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78976" y="3699740"/>
            <a:ext cx="2511963" cy="1241054"/>
          </a:xfrm>
        </p:spPr>
        <p:txBody>
          <a:bodyPr wrap="square" anchor="ctr" anchorCtr="0">
            <a:normAutofit/>
          </a:bodyPr>
          <a:lstStyle>
            <a:lvl1pPr>
              <a:defRPr sz="4535"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_#color-2050&amp;12358"/>
          <p:cNvSpPr/>
          <p:nvPr userDrawn="1">
            <p:custDataLst>
              <p:tags r:id="rId2"/>
            </p:custDataLst>
          </p:nvPr>
        </p:nvSpPr>
        <p:spPr>
          <a:xfrm>
            <a:off x="144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9" name="Ellipse 5 (Stroke)_#color-2050&amp;12736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3914625" cy="4294853"/>
          </a:xfrm>
          <a:custGeom>
            <a:avLst/>
            <a:gdLst/>
            <a:ahLst/>
            <a:cxnLst/>
            <a:rect l="l" t="t" r="r" b="b"/>
            <a:pathLst>
              <a:path w="4142232" h="4544568">
                <a:moveTo>
                  <a:pt x="0" y="4032504"/>
                </a:moveTo>
                <a:cubicBezTo>
                  <a:pt x="91440" y="4032504"/>
                  <a:pt x="173736" y="4041648"/>
                  <a:pt x="265176" y="4041648"/>
                </a:cubicBezTo>
                <a:cubicBezTo>
                  <a:pt x="2121408" y="4041648"/>
                  <a:pt x="3630168" y="2532888"/>
                  <a:pt x="3630168" y="676656"/>
                </a:cubicBezTo>
                <a:cubicBezTo>
                  <a:pt x="3630168" y="438912"/>
                  <a:pt x="3611880" y="219456"/>
                  <a:pt x="3566160" y="0"/>
                </a:cubicBezTo>
                <a:lnTo>
                  <a:pt x="4078224" y="0"/>
                </a:lnTo>
                <a:cubicBezTo>
                  <a:pt x="4123944" y="219456"/>
                  <a:pt x="4142232" y="448056"/>
                  <a:pt x="4142232" y="676656"/>
                </a:cubicBezTo>
                <a:cubicBezTo>
                  <a:pt x="4142232" y="2816352"/>
                  <a:pt x="2404872" y="4544568"/>
                  <a:pt x="265176" y="4544568"/>
                </a:cubicBezTo>
                <a:cubicBezTo>
                  <a:pt x="173736" y="4544568"/>
                  <a:pt x="91440" y="4544568"/>
                  <a:pt x="0" y="4535424"/>
                </a:cubicBezTo>
                <a:lnTo>
                  <a:pt x="0" y="4032504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10" name="Ellipse 3 (Stroke)_#color_$lt1_$lt1-2050&amp;12739"/>
          <p:cNvSpPr/>
          <p:nvPr userDrawn="1">
            <p:custDataLst>
              <p:tags r:id="rId4"/>
            </p:custDataLst>
          </p:nvPr>
        </p:nvSpPr>
        <p:spPr>
          <a:xfrm>
            <a:off x="0" y="2401797"/>
            <a:ext cx="5763918" cy="5159009"/>
          </a:xfrm>
          <a:custGeom>
            <a:avLst/>
            <a:gdLst/>
            <a:ahLst/>
            <a:cxnLst/>
            <a:rect l="l" t="t" r="r" b="b"/>
            <a:pathLst>
              <a:path w="6099048" h="5458968">
                <a:moveTo>
                  <a:pt x="5760720" y="5458968"/>
                </a:moveTo>
                <a:cubicBezTo>
                  <a:pt x="5971032" y="4974336"/>
                  <a:pt x="6099048" y="4434840"/>
                  <a:pt x="6099048" y="3877056"/>
                </a:cubicBezTo>
                <a:cubicBezTo>
                  <a:pt x="6099048" y="1737360"/>
                  <a:pt x="4361688" y="0"/>
                  <a:pt x="2221992" y="0"/>
                </a:cubicBezTo>
                <a:cubicBezTo>
                  <a:pt x="1399032" y="0"/>
                  <a:pt x="630936" y="256032"/>
                  <a:pt x="0" y="704088"/>
                </a:cubicBezTo>
                <a:lnTo>
                  <a:pt x="0" y="1344168"/>
                </a:lnTo>
                <a:cubicBezTo>
                  <a:pt x="594360" y="822960"/>
                  <a:pt x="1371600" y="512064"/>
                  <a:pt x="2221992" y="512064"/>
                </a:cubicBezTo>
                <a:cubicBezTo>
                  <a:pt x="4078224" y="512064"/>
                  <a:pt x="5586984" y="2011680"/>
                  <a:pt x="5586984" y="3877056"/>
                </a:cubicBezTo>
                <a:cubicBezTo>
                  <a:pt x="5586984" y="4443984"/>
                  <a:pt x="5440680" y="4992624"/>
                  <a:pt x="5193792" y="5458968"/>
                </a:cubicBezTo>
                <a:lnTo>
                  <a:pt x="5760720" y="5458968"/>
                </a:lnTo>
              </a:path>
            </a:pathLst>
          </a:custGeom>
          <a:gradFill>
            <a:gsLst>
              <a:gs pos="41000">
                <a:schemeClr val="lt1">
                  <a:alpha val="45000"/>
                </a:schemeClr>
              </a:gs>
              <a:gs pos="0">
                <a:srgbClr val="FFFFFF">
                  <a:alpha val="0"/>
                </a:srgbClr>
              </a:gs>
              <a:gs pos="10000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1" name="Ellipse 4 (Stroke)_#color_$lt1_$accent1-2050&amp;12742"/>
          <p:cNvSpPr/>
          <p:nvPr userDrawn="1">
            <p:custDataLst>
              <p:tags r:id="rId5"/>
            </p:custDataLst>
          </p:nvPr>
        </p:nvSpPr>
        <p:spPr>
          <a:xfrm>
            <a:off x="0" y="2401797"/>
            <a:ext cx="5236783" cy="2073974"/>
          </a:xfrm>
          <a:custGeom>
            <a:avLst/>
            <a:gdLst/>
            <a:ahLst/>
            <a:cxnLst/>
            <a:rect l="l" t="t" r="r" b="b"/>
            <a:pathLst>
              <a:path w="5541264" h="2194560">
                <a:moveTo>
                  <a:pt x="0" y="1353312"/>
                </a:moveTo>
                <a:lnTo>
                  <a:pt x="0" y="704088"/>
                </a:lnTo>
                <a:cubicBezTo>
                  <a:pt x="630936" y="265176"/>
                  <a:pt x="1399032" y="0"/>
                  <a:pt x="2231136" y="0"/>
                </a:cubicBezTo>
                <a:cubicBezTo>
                  <a:pt x="3602736" y="0"/>
                  <a:pt x="4809744" y="722376"/>
                  <a:pt x="5495544" y="1801368"/>
                </a:cubicBezTo>
                <a:cubicBezTo>
                  <a:pt x="5568696" y="1920240"/>
                  <a:pt x="5541264" y="2075688"/>
                  <a:pt x="5422392" y="2148840"/>
                </a:cubicBezTo>
                <a:cubicBezTo>
                  <a:pt x="5303520" y="2221992"/>
                  <a:pt x="5148072" y="2194560"/>
                  <a:pt x="5065776" y="2075688"/>
                </a:cubicBezTo>
                <a:cubicBezTo>
                  <a:pt x="4471416" y="1133856"/>
                  <a:pt x="3419856" y="512064"/>
                  <a:pt x="2231136" y="512064"/>
                </a:cubicBezTo>
                <a:cubicBezTo>
                  <a:pt x="1371600" y="512064"/>
                  <a:pt x="594360" y="822960"/>
                  <a:pt x="0" y="1353312"/>
                </a:cubicBezTo>
              </a:path>
            </a:pathLst>
          </a:custGeom>
          <a:gradFill>
            <a:gsLst>
              <a:gs pos="81000">
                <a:schemeClr val="lt1">
                  <a:alpha val="100000"/>
                </a:schemeClr>
              </a:gs>
              <a:gs pos="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 userDrawn="1">
            <p:ph type="title"/>
            <p:custDataLst>
              <p:tags r:id="rId6"/>
            </p:custDataLst>
          </p:nvPr>
        </p:nvSpPr>
        <p:spPr>
          <a:xfrm>
            <a:off x="6263328" y="4044173"/>
            <a:ext cx="4467204" cy="1874138"/>
          </a:xfrm>
        </p:spPr>
        <p:txBody>
          <a:bodyPr wrap="square" anchor="t">
            <a:normAutofit/>
          </a:bodyPr>
          <a:lstStyle>
            <a:lvl1pPr algn="l">
              <a:defRPr sz="4255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 userDrawn="1">
            <p:ph type="body" sz="quarter" idx="13" hasCustomPrompt="1"/>
            <p:custDataLst>
              <p:tags r:id="rId7"/>
            </p:custDataLst>
          </p:nvPr>
        </p:nvSpPr>
        <p:spPr>
          <a:xfrm>
            <a:off x="459683" y="4169628"/>
            <a:ext cx="4845033" cy="2607913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11245" b="1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>
                <a:latin typeface="+mj-lt"/>
                <a:ea typeface="+mj-lt"/>
                <a:cs typeface="+mj-lt"/>
              </a:defRPr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57718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833050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57718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57718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5833050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5833050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57718" y="1419900"/>
            <a:ext cx="10208438" cy="549819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</a:defRPr>
            </a:lvl1pPr>
            <a:lvl2pPr>
              <a:defRPr>
                <a:latin typeface="+mn-lt"/>
                <a:ea typeface="+mn-lt"/>
                <a:cs typeface="+mn-lt"/>
              </a:defRPr>
            </a:lvl2pPr>
            <a:lvl3pPr>
              <a:defRPr>
                <a:latin typeface="+mn-lt"/>
                <a:ea typeface="+mn-lt"/>
                <a:cs typeface="+mn-lt"/>
              </a:defRPr>
            </a:lvl3pPr>
            <a:lvl4pPr>
              <a:defRPr>
                <a:latin typeface="+mn-lt"/>
                <a:ea typeface="+mn-lt"/>
                <a:cs typeface="+mn-lt"/>
              </a:defRPr>
            </a:lvl4pPr>
            <a:lvl5pPr>
              <a:defRPr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57718" y="2309860"/>
            <a:ext cx="10205701" cy="383269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270" b="0">
                <a:latin typeface="+mn-lt"/>
                <a:ea typeface="+mn-lt"/>
                <a:cs typeface="+mn-lt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_#color-2050&amp;12433"/>
          <p:cNvSpPr/>
          <p:nvPr userDrawn="1">
            <p:custDataLst>
              <p:tags r:id="rId2"/>
            </p:custDataLst>
          </p:nvPr>
        </p:nvSpPr>
        <p:spPr>
          <a:xfrm>
            <a:off x="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5" name="Ellipse 3_#color_$lt1_$lt1-2050&amp;12754"/>
          <p:cNvSpPr/>
          <p:nvPr userDrawn="1">
            <p:custDataLst>
              <p:tags r:id="rId3"/>
            </p:custDataLst>
          </p:nvPr>
        </p:nvSpPr>
        <p:spPr>
          <a:xfrm>
            <a:off x="8402473" y="1079639"/>
            <a:ext cx="3119602" cy="3664020"/>
          </a:xfrm>
          <a:custGeom>
            <a:avLst/>
            <a:gdLst/>
            <a:ahLst/>
            <a:cxnLst/>
            <a:rect l="l" t="t" r="r" b="b"/>
            <a:pathLst>
              <a:path w="3300984" h="3877056">
                <a:moveTo>
                  <a:pt x="512064" y="0"/>
                </a:moveTo>
                <a:lnTo>
                  <a:pt x="0" y="0"/>
                </a:lnTo>
                <a:cubicBezTo>
                  <a:pt x="-27432" y="1920240"/>
                  <a:pt x="1380744" y="3584448"/>
                  <a:pt x="3300984" y="3877056"/>
                </a:cubicBezTo>
                <a:lnTo>
                  <a:pt x="3300984" y="3355848"/>
                </a:lnTo>
                <a:cubicBezTo>
                  <a:pt x="1664208" y="3081528"/>
                  <a:pt x="484632" y="1645920"/>
                  <a:pt x="512064" y="0"/>
                </a:cubicBezTo>
              </a:path>
            </a:pathLst>
          </a:custGeom>
          <a:gradFill>
            <a:gsLst>
              <a:gs pos="69000">
                <a:srgbClr val="FFFFFF">
                  <a:alpha val="100000"/>
                </a:srgbClr>
              </a:gs>
              <a:gs pos="82000">
                <a:schemeClr val="lt1">
                  <a:alpha val="0"/>
                </a:schemeClr>
              </a:gs>
              <a:gs pos="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6" name="Ellipse 4 (Stroke)_#color_$lt1_$accent1-2050&amp;12757"/>
          <p:cNvSpPr/>
          <p:nvPr userDrawn="1">
            <p:custDataLst>
              <p:tags r:id="rId4"/>
            </p:custDataLst>
          </p:nvPr>
        </p:nvSpPr>
        <p:spPr>
          <a:xfrm>
            <a:off x="8753896" y="2393155"/>
            <a:ext cx="2765298" cy="2341862"/>
          </a:xfrm>
          <a:custGeom>
            <a:avLst/>
            <a:gdLst/>
            <a:ahLst/>
            <a:cxnLst/>
            <a:rect l="l" t="t" r="r" b="b"/>
            <a:pathLst>
              <a:path w="2926080" h="2478024">
                <a:moveTo>
                  <a:pt x="2926080" y="2478024"/>
                </a:moveTo>
                <a:lnTo>
                  <a:pt x="2926080" y="1965960"/>
                </a:lnTo>
                <a:cubicBezTo>
                  <a:pt x="1837944" y="1783080"/>
                  <a:pt x="941832" y="1078992"/>
                  <a:pt x="484632" y="137160"/>
                </a:cubicBezTo>
                <a:cubicBezTo>
                  <a:pt x="420624" y="18288"/>
                  <a:pt x="265176" y="-36576"/>
                  <a:pt x="137160" y="27432"/>
                </a:cubicBezTo>
                <a:cubicBezTo>
                  <a:pt x="18288" y="91440"/>
                  <a:pt x="-36576" y="237744"/>
                  <a:pt x="27432" y="365760"/>
                </a:cubicBezTo>
                <a:cubicBezTo>
                  <a:pt x="566928" y="1472184"/>
                  <a:pt x="1627632" y="2286000"/>
                  <a:pt x="2926080" y="2478024"/>
                </a:cubicBezTo>
              </a:path>
            </a:pathLst>
          </a:custGeom>
          <a:gradFill>
            <a:gsLst>
              <a:gs pos="0">
                <a:schemeClr val="lt1">
                  <a:alpha val="8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7" name="Ellipse 8 (Stroke)_#color-2050&amp;12760"/>
          <p:cNvSpPr/>
          <p:nvPr userDrawn="1">
            <p:custDataLst>
              <p:tags r:id="rId5"/>
            </p:custDataLst>
          </p:nvPr>
        </p:nvSpPr>
        <p:spPr>
          <a:xfrm>
            <a:off x="10127904" y="4691809"/>
            <a:ext cx="1391291" cy="795023"/>
          </a:xfrm>
          <a:custGeom>
            <a:avLst/>
            <a:gdLst/>
            <a:ahLst/>
            <a:cxnLst/>
            <a:rect l="l" t="t" r="r" b="b"/>
            <a:pathLst>
              <a:path w="1472184" h="841248">
                <a:moveTo>
                  <a:pt x="1472184" y="329184"/>
                </a:moveTo>
                <a:lnTo>
                  <a:pt x="1472184" y="841248"/>
                </a:lnTo>
                <a:cubicBezTo>
                  <a:pt x="1005840" y="795528"/>
                  <a:pt x="557784" y="676656"/>
                  <a:pt x="146304" y="484632"/>
                </a:cubicBezTo>
                <a:cubicBezTo>
                  <a:pt x="18288" y="429768"/>
                  <a:pt x="-36576" y="274320"/>
                  <a:pt x="27432" y="146304"/>
                </a:cubicBezTo>
                <a:cubicBezTo>
                  <a:pt x="82296" y="18288"/>
                  <a:pt x="237744" y="-36576"/>
                  <a:pt x="356616" y="27432"/>
                </a:cubicBezTo>
                <a:cubicBezTo>
                  <a:pt x="704088" y="182880"/>
                  <a:pt x="1078992" y="292608"/>
                  <a:pt x="1472184" y="329184"/>
                </a:cubicBezTo>
              </a:path>
            </a:pathLst>
          </a:custGeom>
          <a:solidFill>
            <a:schemeClr val="lt1">
              <a:alpha val="40000"/>
            </a:schemeClr>
          </a:solidFill>
        </p:spPr>
      </p:sp>
      <p:sp>
        <p:nvSpPr>
          <p:cNvPr id="19" name="Ellipse 9_#color-2050&amp;12763"/>
          <p:cNvSpPr/>
          <p:nvPr userDrawn="1">
            <p:custDataLst>
              <p:tags r:id="rId6"/>
            </p:custDataLst>
          </p:nvPr>
        </p:nvSpPr>
        <p:spPr>
          <a:xfrm>
            <a:off x="0" y="4320223"/>
            <a:ext cx="3076394" cy="3240584"/>
          </a:xfrm>
          <a:custGeom>
            <a:avLst/>
            <a:gdLst/>
            <a:ahLst/>
            <a:cxnLst/>
            <a:rect l="l" t="t" r="r" b="b"/>
            <a:pathLst>
              <a:path w="3255264" h="3429000">
                <a:moveTo>
                  <a:pt x="3227832" y="3429000"/>
                </a:moveTo>
                <a:cubicBezTo>
                  <a:pt x="3246120" y="3300984"/>
                  <a:pt x="3255264" y="3172968"/>
                  <a:pt x="3255264" y="3044952"/>
                </a:cubicBezTo>
                <a:cubicBezTo>
                  <a:pt x="3255264" y="1362456"/>
                  <a:pt x="1883664" y="0"/>
                  <a:pt x="201168" y="0"/>
                </a:cubicBezTo>
                <a:cubicBezTo>
                  <a:pt x="137160" y="0"/>
                  <a:pt x="64008" y="0"/>
                  <a:pt x="0" y="9144"/>
                </a:cubicBezTo>
                <a:lnTo>
                  <a:pt x="0" y="512064"/>
                </a:lnTo>
                <a:cubicBezTo>
                  <a:pt x="64008" y="512064"/>
                  <a:pt x="137160" y="512064"/>
                  <a:pt x="201168" y="512064"/>
                </a:cubicBezTo>
                <a:cubicBezTo>
                  <a:pt x="1609344" y="512064"/>
                  <a:pt x="2743200" y="1645920"/>
                  <a:pt x="2743200" y="3044952"/>
                </a:cubicBezTo>
                <a:cubicBezTo>
                  <a:pt x="2743200" y="3172968"/>
                  <a:pt x="2734056" y="3300984"/>
                  <a:pt x="2715768" y="3429000"/>
                </a:cubicBezTo>
                <a:lnTo>
                  <a:pt x="3227832" y="3429000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7"/>
            </p:custDataLst>
          </p:nvPr>
        </p:nvSpPr>
        <p:spPr>
          <a:xfrm>
            <a:off x="792143" y="1511717"/>
            <a:ext cx="9937223" cy="2834022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560">
                <a:solidFill>
                  <a:schemeClr val="lt1">
                    <a:lumMod val="10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1"/>
            </p:custDataLst>
          </p:nvPr>
        </p:nvSpPr>
        <p:spPr>
          <a:xfrm>
            <a:off x="792143" y="4773233"/>
            <a:ext cx="9937223" cy="1172394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chemeClr val="lt1">
                    <a:lumMod val="100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tags" Target="../tags/tag72.xml"/><Relationship Id="rId13" Type="http://schemas.openxmlformats.org/officeDocument/2006/relationships/tags" Target="../tags/tag73.xml"/><Relationship Id="rId14" Type="http://schemas.openxmlformats.org/officeDocument/2006/relationships/tags" Target="../tags/tag74.xml"/><Relationship Id="rId15" Type="http://schemas.openxmlformats.org/officeDocument/2006/relationships/tags" Target="../tags/tag75.xml"/><Relationship Id="rId16" Type="http://schemas.openxmlformats.org/officeDocument/2006/relationships/tags" Target="../tags/tag76.xml"/><Relationship Id="rId17" Type="http://schemas.openxmlformats.org/officeDocument/2006/relationships/tags" Target="../tags/tag77.xml"/><Relationship Id="rId18" Type="http://schemas.openxmlformats.org/officeDocument/2006/relationships/tags" Target="../tags/tag78.xml"/><Relationship Id="rId19" Type="http://schemas.openxmlformats.org/officeDocument/2006/relationships/tags" Target="../tags/tag79.xml"/><Relationship Id="rId20" Type="http://schemas.openxmlformats.org/officeDocument/2006/relationships/tags" Target="../tags/tag80.xml"/><Relationship Id="rId2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标题占位符 1"/>
          <p:cNvSpPr>
            <a:spLocks noGrp="1"/>
          </p:cNvSpPr>
          <p:nvPr>
            <p:ph type="title"/>
          </p:nvPr>
        </p:nvSpPr>
        <p:spPr bwMode="auto">
          <a:xfrm>
            <a:off x="576104" y="346031"/>
            <a:ext cx="10369868" cy="14401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576104" y="2016179"/>
            <a:ext cx="10369868" cy="570250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76104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7E97B707-22D4-4B06-9A8A-89EF284804D8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6709" y="8008708"/>
            <a:ext cx="3648657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57487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53F49717-76DA-4DAA-9161-16E5D566D94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5pPr>
      <a:lvl6pPr marL="57594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6pPr>
      <a:lvl7pPr marL="115189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7pPr>
      <a:lvl8pPr marL="172847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8pPr>
      <a:lvl9pPr marL="230441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9pPr>
    </p:titleStyle>
    <p:bodyStyle>
      <a:lvl1pPr marL="431800" indent="-4318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35990" indent="-36004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6125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9207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865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4459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2054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9648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594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5189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847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0441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8036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5630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225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0883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5 (Stroke)_#color-2050&amp;12748"/>
          <p:cNvSpPr/>
          <p:nvPr userDrawn="1">
            <p:custDataLst>
              <p:tags r:id="rId12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8" name="Ellipse 3 (Stroke)_#color-2050&amp;12745"/>
          <p:cNvSpPr/>
          <p:nvPr userDrawn="1">
            <p:custDataLst>
              <p:tags r:id="rId13"/>
            </p:custDataLst>
          </p:nvPr>
        </p:nvSpPr>
        <p:spPr>
          <a:xfrm>
            <a:off x="10651918" y="6535221"/>
            <a:ext cx="867756" cy="1024985"/>
          </a:xfrm>
          <a:custGeom>
            <a:avLst/>
            <a:gdLst/>
            <a:ahLst/>
            <a:cxnLst/>
            <a:rect l="l" t="t" r="r" b="b"/>
            <a:pathLst>
              <a:path w="3236976" h="3822192">
                <a:moveTo>
                  <a:pt x="3236976" y="0"/>
                </a:moveTo>
                <a:cubicBezTo>
                  <a:pt x="1399032" y="301752"/>
                  <a:pt x="0" y="1901952"/>
                  <a:pt x="0" y="3822192"/>
                </a:cubicBezTo>
                <a:lnTo>
                  <a:pt x="512064" y="3822192"/>
                </a:lnTo>
                <a:cubicBezTo>
                  <a:pt x="512064" y="2176272"/>
                  <a:pt x="1682496" y="813816"/>
                  <a:pt x="3236976" y="512064"/>
                </a:cubicBezTo>
                <a:lnTo>
                  <a:pt x="3236976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10" name="Ellipse 4 (Stroke)_#color_$accent2_$accent2-2050&amp;12751"/>
          <p:cNvSpPr/>
          <p:nvPr userDrawn="1">
            <p:custDataLst>
              <p:tags r:id="rId14"/>
            </p:custDataLst>
          </p:nvPr>
        </p:nvSpPr>
        <p:spPr>
          <a:xfrm>
            <a:off x="10801345" y="6535221"/>
            <a:ext cx="718329" cy="573703"/>
          </a:xfrm>
          <a:custGeom>
            <a:avLst/>
            <a:gdLst/>
            <a:ahLst/>
            <a:cxnLst/>
            <a:rect l="l" t="t" r="r" b="b"/>
            <a:pathLst>
              <a:path w="2679192" h="2139696">
                <a:moveTo>
                  <a:pt x="2679192" y="0"/>
                </a:moveTo>
                <a:lnTo>
                  <a:pt x="2679192" y="512064"/>
                </a:lnTo>
                <a:cubicBezTo>
                  <a:pt x="1746504" y="694944"/>
                  <a:pt x="960120" y="1252728"/>
                  <a:pt x="466344" y="2020824"/>
                </a:cubicBezTo>
                <a:cubicBezTo>
                  <a:pt x="393192" y="2139696"/>
                  <a:pt x="237744" y="2176272"/>
                  <a:pt x="118872" y="2103120"/>
                </a:cubicBezTo>
                <a:cubicBezTo>
                  <a:pt x="0" y="2020824"/>
                  <a:pt x="-36576" y="1865376"/>
                  <a:pt x="36576" y="1746504"/>
                </a:cubicBezTo>
                <a:cubicBezTo>
                  <a:pt x="621792" y="832104"/>
                  <a:pt x="1572768" y="182880"/>
                  <a:pt x="2679192" y="0"/>
                </a:cubicBezTo>
              </a:path>
            </a:pathLst>
          </a:custGeom>
          <a:gradFill>
            <a:gsLst>
              <a:gs pos="0">
                <a:schemeClr val="accent2">
                  <a:alpha val="1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57718" y="1419858"/>
            <a:ext cx="10206563" cy="680438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57718" y="2309860"/>
            <a:ext cx="10206563" cy="460582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57718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3816687" y="7086721"/>
            <a:ext cx="3888700" cy="345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272970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1" name="KSO_TEMPLATE" hidden="1"/>
          <p:cNvSpPr/>
          <p:nvPr userDrawn="1">
            <p:custDataLst>
              <p:tags r:id="rId20"/>
            </p:custDataLst>
          </p:nvPr>
        </p:nvSpPr>
        <p:spPr>
          <a:xfrm>
            <a:off x="0" y="1079639"/>
            <a:ext cx="0" cy="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fontAlgn="auto"/>
            <a:endParaRPr lang="zh-CN" altLang="en-US" sz="17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864235" rtl="0" eaLnBrk="1" latinLnBrk="0" hangingPunct="1">
        <a:lnSpc>
          <a:spcPct val="100000"/>
        </a:lnSpc>
        <a:spcBef>
          <a:spcPct val="0"/>
        </a:spcBef>
        <a:buNone/>
        <a:defRPr sz="302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864235" rtl="0" eaLnBrk="1" latinLnBrk="0" hangingPunct="1">
        <a:lnSpc>
          <a:spcPct val="130000"/>
        </a:lnSpc>
        <a:spcBef>
          <a:spcPts val="945"/>
        </a:spcBef>
        <a:buFont typeface="Arial" panose="020B0604020202020204" pitchFamily="34" charset="0"/>
        <a:buChar char="•"/>
        <a:defRPr sz="2270" kern="1200">
          <a:solidFill>
            <a:schemeClr val="tx1"/>
          </a:solidFill>
          <a:latin typeface="+mn-lt"/>
          <a:ea typeface="+mn-ea"/>
          <a:cs typeface="+mn-cs"/>
        </a:defRPr>
      </a:lvl1pPr>
      <a:lvl2pPr marL="508635" indent="-19494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55015" indent="-15303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74090" indent="-140970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51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167130" indent="-12001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32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37617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7284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642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284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927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245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5694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Relationship Id="rId5" Type="http://schemas.openxmlformats.org/officeDocument/2006/relationships/image" Target="../media/image7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0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Relationship Id="rId4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3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13.png"/><Relationship Id="rId9" Type="http://schemas.openxmlformats.org/officeDocument/2006/relationships/image" Target="../media/image1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6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15.png"/><Relationship Id="rId7" Type="http://schemas.openxmlformats.org/officeDocument/2006/relationships/image" Target="../media/image25.png"/><Relationship Id="rId8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38.png"/><Relationship Id="rId7" Type="http://schemas.openxmlformats.org/officeDocument/2006/relationships/image" Target="../media/image2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2.png"/><Relationship Id="rId4" Type="http://schemas.openxmlformats.org/officeDocument/2006/relationships/image" Target="../media/image14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4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7.png"/><Relationship Id="rId6" Type="http://schemas.openxmlformats.org/officeDocument/2006/relationships/image" Target="../media/image4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15.png"/><Relationship Id="rId6" Type="http://schemas.openxmlformats.org/officeDocument/2006/relationships/image" Target="../media/image44.png"/><Relationship Id="rId7" Type="http://schemas.openxmlformats.org/officeDocument/2006/relationships/image" Target="../media/image7.png"/><Relationship Id="rId8" Type="http://schemas.openxmlformats.org/officeDocument/2006/relationships/image" Target="../media/image4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3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3.png"/><Relationship Id="rId4" Type="http://schemas.openxmlformats.org/officeDocument/2006/relationships/image" Target="../media/image26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651760"/>
            <a:ext cx="5852160" cy="1737360"/>
          </a:xfrm>
        </p:spPr>
        <p:txBody>
          <a:bodyPr wrap="square" lIns="0" tIns="0" rIns="0" bIns="0" anchor="ctr"/>
          <a:lstStyle/>
          <a:p>
            <a:pPr algn="l"/>
            <a:r>
              <a:rPr sz="3400" b="1">
                <a:solidFill>
                  <a:srgbClr val="2B2F42"/>
                </a:solidFill>
              </a:rPr>
              <a:t>建设 AI + 大数据平台</a:t>
            </a:r>
          </a:p>
          <a:p>
            <a:pPr algn="l"/>
            <a:r>
              <a:rPr sz="3400" b="1">
                <a:solidFill>
                  <a:srgbClr val="2B2F42"/>
                </a:solidFill>
              </a:rPr>
              <a:t>赋能企业，赋能行业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>
          <a:xfrm>
            <a:off x="795528" y="5074920"/>
            <a:ext cx="5120640" cy="576072"/>
          </a:xfrm>
        </p:spPr>
        <p:txBody>
          <a:bodyPr wrap="square" t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以治理为基 · 平台为载体 · AI 与数据服务放大价值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5852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776CFD"/>
                </a:solidFill>
              </a:rPr>
              <a:t>票付通数据与 AI 能力建设规划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655064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1952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34056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80944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65447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12336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196839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43728" y="6035040"/>
            <a:ext cx="10911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776CFD"/>
                </a:solidFill>
              </a:rPr>
              <a:t>目 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9576" y="4572000"/>
            <a:ext cx="310896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E6478"/>
                </a:solidFill>
              </a:rPr>
              <a:t>八个部分，一条主线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250" b="0">
                <a:solidFill>
                  <a:srgbClr val="5E6478"/>
                </a:solidFill>
              </a:rPr>
              <a:t>有什么 → 缺什么 → 要建什么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250" b="0">
                <a:solidFill>
                  <a:srgbClr val="5E6478"/>
                </a:solidFill>
              </a:rPr>
              <a:t>→ 要怎么建 → 价值是什么</a:t>
            </a:r>
          </a:p>
        </p:txBody>
      </p:sp>
      <p:sp>
        <p:nvSpPr>
          <p:cNvPr id="4" name="Oval 3"/>
          <p:cNvSpPr/>
          <p:nvPr/>
        </p:nvSpPr>
        <p:spPr>
          <a:xfrm>
            <a:off x="5029200" y="1536192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0" y="1536192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0" y="1508760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2B2F42"/>
                </a:solidFill>
              </a:rPr>
              <a:t>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837943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家底厚、骨架在，但数据还不够可信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8652" y="1664207"/>
            <a:ext cx="1074420" cy="256032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655BE6"/>
                </a:solidFill>
              </a:rPr>
              <a:t>有什么 · 缺什么</a:t>
            </a:r>
          </a:p>
        </p:txBody>
      </p:sp>
      <p:sp>
        <p:nvSpPr>
          <p:cNvPr id="9" name="Oval 8"/>
          <p:cNvSpPr/>
          <p:nvPr/>
        </p:nvSpPr>
        <p:spPr>
          <a:xfrm>
            <a:off x="5346594" y="2240280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346594" y="2240280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2394" y="2212848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2B2F42"/>
                </a:solidFill>
              </a:rPr>
              <a:t>目标与蓝图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2394" y="254203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一个平台，两个赋能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2368296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4" name="Oval 13"/>
          <p:cNvSpPr/>
          <p:nvPr/>
        </p:nvSpPr>
        <p:spPr>
          <a:xfrm>
            <a:off x="5601125" y="294436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01125" y="2944368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925" y="291693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2B2F42"/>
                </a:solidFill>
              </a:rPr>
              <a:t>治理筑基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925" y="324612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先让数据可信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49840" y="3072384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9" name="Oval 18"/>
          <p:cNvSpPr/>
          <p:nvPr/>
        </p:nvSpPr>
        <p:spPr>
          <a:xfrm>
            <a:off x="5742379" y="3648456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42379" y="3648456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179" y="3621024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2B2F42"/>
                </a:solidFill>
              </a:rPr>
              <a:t>平台统一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179" y="39502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一份数据、一套口径、一个出口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49840" y="3776472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24" name="Oval 23"/>
          <p:cNvSpPr/>
          <p:nvPr/>
        </p:nvSpPr>
        <p:spPr>
          <a:xfrm>
            <a:off x="5742379" y="4352544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42379" y="4352544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179" y="4325112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2B2F42"/>
                </a:solidFill>
              </a:rPr>
              <a:t>AI 赋能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179" y="4654296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让 AI 用上可信数据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4480559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29" name="Oval 28"/>
          <p:cNvSpPr/>
          <p:nvPr/>
        </p:nvSpPr>
        <p:spPr>
          <a:xfrm>
            <a:off x="5601125" y="5056632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01125" y="5056632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6925" y="5029200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2B2F42"/>
                </a:solidFill>
              </a:rPr>
              <a:t>赋能企业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925" y="535838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数据赋能业务，业务反哺数据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5184648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34" name="Oval 33"/>
          <p:cNvSpPr/>
          <p:nvPr/>
        </p:nvSpPr>
        <p:spPr>
          <a:xfrm>
            <a:off x="5346594" y="5760720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346594" y="5760720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2394" y="5733288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2B2F42"/>
                </a:solidFill>
              </a:rPr>
              <a:t>赋能行业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2394" y="606247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从数据服务到行业标准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9840" y="5888736"/>
            <a:ext cx="713232" cy="256032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39" name="Oval 38"/>
          <p:cNvSpPr/>
          <p:nvPr/>
        </p:nvSpPr>
        <p:spPr>
          <a:xfrm>
            <a:off x="5029200" y="646480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029200" y="6464808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0" y="643737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2B2F42"/>
                </a:solidFill>
              </a:rPr>
              <a:t>价值与保障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15000" y="676656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价值逐层放大，保障落地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35540" y="6592824"/>
            <a:ext cx="827532" cy="256032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汇报要点：建设 AI + 大数据平台，赋能企业、赋能行业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汇报要点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40280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一个判断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95728" y="2240280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0048" y="2240280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家底厚、骨架在，但数据还不够可信；</a:t>
            </a:r>
            <a:r>
              <a:rPr sz="1500" b="1">
                <a:solidFill>
                  <a:srgbClr val="B4551A"/>
                </a:solidFill>
              </a:rPr>
              <a:t>AI 正在放大这个问题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96552" y="2441448"/>
            <a:ext cx="118363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有什么 · 缺什么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一个目标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5728" y="3026664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0048" y="3026664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数据可信 · 模型可复用 · 服务稳定 · 能力易扩展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97872" y="3227832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要建什么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13048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三步建设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95728" y="3813048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0048" y="3950208"/>
            <a:ext cx="1259840" cy="402336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55BE6"/>
                </a:solidFill>
              </a:rPr>
              <a:t>治理筑基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1328" y="4059936"/>
            <a:ext cx="22860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1368" y="3950208"/>
            <a:ext cx="1259840" cy="402336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55BE6"/>
                </a:solidFill>
              </a:rPr>
              <a:t>平台统一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692648" y="4059936"/>
            <a:ext cx="22860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12688" y="3950208"/>
            <a:ext cx="1156716" cy="40233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赋能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97872" y="4014215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要怎么建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99432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两个赋能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95728" y="4599432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0048" y="4599432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655BE6"/>
                </a:solidFill>
              </a:rPr>
              <a:t>赋能企业：</a:t>
            </a:r>
            <a:r>
              <a:rPr sz="1500" b="0">
                <a:solidFill>
                  <a:srgbClr val="2B2F42"/>
                </a:solidFill>
              </a:rPr>
              <a:t>八条业务数据闭环　</a:t>
            </a:r>
            <a:r>
              <a:rPr sz="1500" b="1">
                <a:solidFill>
                  <a:srgbClr val="655BE6"/>
                </a:solidFill>
              </a:rPr>
              <a:t>赋能行业：</a:t>
            </a:r>
            <a:r>
              <a:rPr sz="1500" b="0">
                <a:solidFill>
                  <a:srgbClr val="2B2F42"/>
                </a:solidFill>
              </a:rPr>
              <a:t>数据服务、产品与行业规范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97872" y="4800600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要怎么建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85816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三层价值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95728" y="5385816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0048" y="5385816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企业降本增效 → 客户与伙伴增长 → 行业标准与洞察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0872" y="5586984"/>
            <a:ext cx="909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6172200"/>
            <a:ext cx="1600200" cy="676656"/>
          </a:xfrm>
          <a:prstGeom prst="roundRect">
            <a:avLst>
              <a:gd name="adj" fmla="val 13513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四项支持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95728" y="6172200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70048" y="6172200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口径决策机制 · 规范强制力 · 资源投入 · 业务配合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97872" y="63733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需要决策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现状与挑战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家底厚、骨架在，但数据还不够可信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数据家底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产品全景与数据来源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离线主流程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已有能力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五类问题与根因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关键数字为什么不准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为什么是现在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能力盘点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数据家底：一条交易主链，八类支撑数据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主链六域 · 核心资产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主体与组织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租户 · 景区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33599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7064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资源与商品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票种 · 库存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92296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75760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渠道与供销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OTA · 佣金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50992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34455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订单交易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支付 · 退改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409688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93152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预约与核销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票券 · 闸机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168384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51848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结算与财务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清分 · 对账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7764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八类支撑数据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营销与增长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活动 · 券 · 投放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0692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游客与会员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OneID · 会员 · 标签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43016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多业态消费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酒店 · 餐饮 · 停车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5340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现场设备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闸机 · 网关 · 终端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SaaS 客户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订阅 · 使用 · 工单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50692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平台运行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日志 · 性能 · 成本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43016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外部与公共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天气 · LBS · 舆情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5340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知识与 AI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文档 · 问答 · 评测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62179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64224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52728" y="62179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难点　</a:t>
            </a:r>
            <a:r>
              <a:rPr sz="1300" b="0">
                <a:solidFill>
                  <a:srgbClr val="FFFFFF"/>
                </a:solidFill>
              </a:rPr>
              <a:t>数据量不是难点，难点在节假日高峰、订单状态变更、离线补传、多租户隔离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产品全景，就是数据来源全景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4343400" cy="3931920"/>
          </a:xfrm>
          <a:prstGeom prst="roundRect">
            <a:avLst>
              <a:gd name="adj" fmla="val 348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4144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2441448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数据的主要产生方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2898648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票务管理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7" y="289864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售票 · 检票 · 全渠道分销 · 旅行社报团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3566160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景区业态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7" y="356616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乐园 · 演出 · 游船 · 酒店 · 温泉 · 餐饮零售 · 租赁 · 停车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7" y="4233672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景区运营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7" y="4233672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年卡 · 分时预约 · 候补 · 一卡通 · 人脸 · 免证 · 分销返利 · 运营助手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7" y="4901183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景区财务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29967" y="4901183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财务报表 · AI 对账 · 电子发票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7" y="5568696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智慧终端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7" y="5568696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闸机 · 人脸一体机 · 售取票机 · 手持终端 · 边云网关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74920" y="4160519"/>
            <a:ext cx="310896" cy="27432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40680" y="2331720"/>
            <a:ext cx="1481328" cy="3931920"/>
          </a:xfrm>
          <a:prstGeom prst="roundRect">
            <a:avLst>
              <a:gd name="adj" fmla="val 617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 + 大数据</a:t>
            </a:r>
          </a:p>
          <a:p>
            <a:pPr algn="ctr"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</a:rPr>
              <a:t>平台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汇聚 · 治理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指标 · 标签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数据服务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9208" y="2331720"/>
            <a:ext cx="3483864" cy="1874519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24231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77272" y="2468879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655BE6"/>
                </a:solidFill>
              </a:rPr>
              <a:t>toB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62088" y="2834639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景数通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5088" y="2834639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汇聚 · 大屏 · 问数 · 洞察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62088" y="3273551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调度中枢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3273551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安全 · 防火 · 生态等八个智能体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62088" y="3712463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票付通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3712463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驾驶舱 · 问数 · 预警 · 工单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995160" y="3040379"/>
            <a:ext cx="31089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eft Arrow 32"/>
          <p:cNvSpPr/>
          <p:nvPr/>
        </p:nvSpPr>
        <p:spPr>
          <a:xfrm>
            <a:off x="6995160" y="3314699"/>
            <a:ext cx="310896" cy="201168"/>
          </a:xfrm>
          <a:prstGeom prst="lef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79208" y="4389120"/>
            <a:ext cx="3483864" cy="1874519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62088" y="448055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77272" y="4526280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655BE6"/>
                </a:solidFill>
              </a:rPr>
              <a:t>toC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62088" y="4892040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畅游小程序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5088" y="4892040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游前 · 游中 · 游后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62088" y="5330952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游客 AI 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5330952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规划 · 客服 · 购票 · 伴游 · 旅拍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62088" y="5769864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会员营销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9864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积分 · 年卡 · 全民营销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6995160" y="5097779"/>
            <a:ext cx="31089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Left Arrow 43"/>
          <p:cNvSpPr/>
          <p:nvPr/>
        </p:nvSpPr>
        <p:spPr>
          <a:xfrm>
            <a:off x="6995160" y="5372099"/>
            <a:ext cx="310896" cy="201168"/>
          </a:xfrm>
          <a:prstGeom prst="lef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8368" y="644652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560820"/>
            <a:ext cx="274320" cy="2743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252728" y="644652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一句话　</a:t>
            </a:r>
            <a:r>
              <a:rPr sz="1250" b="0">
                <a:solidFill>
                  <a:srgbClr val="FFFFFF"/>
                </a:solidFill>
              </a:rPr>
              <a:t>智慧票务产生数据，AI 数字大脑与畅游 AI 使用数据，使用行为再回流平台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离线主流程已贯通，平台骨架已经搭好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4378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业务主线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24323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8895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33467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会员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20440" y="2962656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77639" y="2615184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订单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2962656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2615184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维度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32504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数据分层</a:t>
            </a:r>
          </a:p>
          <a:p>
            <a:pPr algn="l"/>
            <a:r>
              <a:rPr sz="1400" b="1">
                <a:solidFill>
                  <a:srgbClr val="776CFD"/>
                </a:solidFill>
              </a:rPr>
              <a:t>全链路贯通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0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贴源层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547872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58768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DWD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明细层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394960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05856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DIM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维度层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42048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52944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汇总层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089136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00032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应用层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35838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下一步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1680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补维度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核销、渠道、结算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0248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补质量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规则与逐层核对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补实时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订单、核销先行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87384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补标签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统一标签体系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31850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3280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631850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结论　</a:t>
            </a:r>
            <a:r>
              <a:rPr sz="1300" b="0">
                <a:solidFill>
                  <a:srgbClr val="2B2F42"/>
                </a:solidFill>
              </a:rPr>
              <a:t>主流程骨架已搭好，下一步补维度、补质量、补实时、补标签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开发、服务、消费都有工具，缺的是中间的治理与指标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已有投入全部保留；在此基础上补齐治理与指标中枢，并叠加贯穿各层的 AI 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 现状与挑战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08</a:t>
            </a:r>
          </a:p>
        </p:txBody>
      </p:sp>
      <p:grpSp>
        <p:nvGrpSpPr>
          <p:cNvPr id="21600" name="素材 2"/>
          <p:cNvGrpSpPr/>
          <p:nvPr/>
        </p:nvGrpSpPr>
        <p:grpSpPr>
          <a:xfrm>
            <a:off x="658368" y="2692908"/>
            <a:ext cx="10204704" cy="1704444"/>
            <a:chOff x="288429" y="3108460"/>
            <a:chExt cx="10169579" cy="1698578"/>
          </a:xfrm>
        </p:grpSpPr>
        <p:sp>
          <p:nvSpPr>
            <p:cNvPr id="21601" name="Rounded Rectangle 3"/>
            <p:cNvSpPr/>
            <p:nvPr/>
          </p:nvSpPr>
          <p:spPr>
            <a:xfrm>
              <a:off x="288429" y="4499111"/>
              <a:ext cx="10169579" cy="241202"/>
            </a:xfrm>
            <a:prstGeom prst="roundRect">
              <a:avLst>
                <a:gd name="adj" fmla="val 50000"/>
              </a:avLst>
            </a:prstGeom>
            <a:solidFill>
              <a:srgbClr val="776CFD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02" name="Group 6"/>
            <p:cNvGrpSpPr/>
            <p:nvPr/>
          </p:nvGrpSpPr>
          <p:grpSpPr>
            <a:xfrm>
              <a:off x="954484" y="4405721"/>
              <a:ext cx="401318" cy="401317"/>
              <a:chOff x="2996418" y="1828800"/>
              <a:chExt cx="717453" cy="717453"/>
            </a:xfrm>
          </p:grpSpPr>
          <p:sp>
            <p:nvSpPr>
              <p:cNvPr id="21603" name="Oval 4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4" name="Oval 5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05" name="Group 9"/>
            <p:cNvGrpSpPr/>
            <p:nvPr/>
          </p:nvGrpSpPr>
          <p:grpSpPr>
            <a:xfrm>
              <a:off x="288429" y="3108460"/>
              <a:ext cx="1733426" cy="1235036"/>
              <a:chOff x="596313" y="1252025"/>
              <a:chExt cx="2743200" cy="1954482"/>
            </a:xfrm>
          </p:grpSpPr>
          <p:sp>
            <p:nvSpPr>
              <p:cNvPr id="21606" name="Rounded Rectangle 7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7" name="Isosceles Triangle 8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08" name="Right Arrow 10"/>
            <p:cNvSpPr/>
            <p:nvPr/>
          </p:nvSpPr>
          <p:spPr>
            <a:xfrm>
              <a:off x="2167613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09" name="Group 13"/>
            <p:cNvGrpSpPr/>
            <p:nvPr/>
          </p:nvGrpSpPr>
          <p:grpSpPr>
            <a:xfrm>
              <a:off x="3766535" y="4405721"/>
              <a:ext cx="401318" cy="401317"/>
              <a:chOff x="2996418" y="1828800"/>
              <a:chExt cx="717453" cy="717453"/>
            </a:xfrm>
          </p:grpSpPr>
          <p:sp>
            <p:nvSpPr>
              <p:cNvPr id="21610" name="Oval 18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1" name="Oval 19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2" name="Group 14"/>
            <p:cNvGrpSpPr/>
            <p:nvPr/>
          </p:nvGrpSpPr>
          <p:grpSpPr>
            <a:xfrm>
              <a:off x="3100480" y="3108460"/>
              <a:ext cx="1733426" cy="1235036"/>
              <a:chOff x="596313" y="1252025"/>
              <a:chExt cx="2743200" cy="1954482"/>
            </a:xfrm>
          </p:grpSpPr>
          <p:sp>
            <p:nvSpPr>
              <p:cNvPr id="21613" name="Rounded Rectangle 16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4" name="Isosceles Triangle 17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15" name="Right Arrow 15"/>
            <p:cNvSpPr/>
            <p:nvPr/>
          </p:nvSpPr>
          <p:spPr>
            <a:xfrm>
              <a:off x="4979664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16" name="Group 21"/>
            <p:cNvGrpSpPr/>
            <p:nvPr/>
          </p:nvGrpSpPr>
          <p:grpSpPr>
            <a:xfrm>
              <a:off x="6578586" y="4405721"/>
              <a:ext cx="401318" cy="401317"/>
              <a:chOff x="2996418" y="1828800"/>
              <a:chExt cx="717453" cy="717453"/>
            </a:xfrm>
          </p:grpSpPr>
          <p:sp>
            <p:nvSpPr>
              <p:cNvPr id="21617" name="Oval 26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8" name="Oval 27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9" name="Group 22"/>
            <p:cNvGrpSpPr/>
            <p:nvPr/>
          </p:nvGrpSpPr>
          <p:grpSpPr>
            <a:xfrm>
              <a:off x="5912531" y="3108460"/>
              <a:ext cx="1733426" cy="1235036"/>
              <a:chOff x="596313" y="1252025"/>
              <a:chExt cx="2743200" cy="1954482"/>
            </a:xfrm>
          </p:grpSpPr>
          <p:sp>
            <p:nvSpPr>
              <p:cNvPr id="21620" name="Rounded Rectangle 24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1" name="Isosceles Triangle 25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22" name="Right Arrow 23"/>
            <p:cNvSpPr/>
            <p:nvPr/>
          </p:nvSpPr>
          <p:spPr>
            <a:xfrm>
              <a:off x="7791715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23" name="Group 29"/>
            <p:cNvGrpSpPr/>
            <p:nvPr/>
          </p:nvGrpSpPr>
          <p:grpSpPr>
            <a:xfrm>
              <a:off x="9390636" y="4405721"/>
              <a:ext cx="401318" cy="401317"/>
              <a:chOff x="2996418" y="1828800"/>
              <a:chExt cx="717453" cy="717453"/>
            </a:xfrm>
          </p:grpSpPr>
          <p:sp>
            <p:nvSpPr>
              <p:cNvPr id="21624" name="Oval 34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5" name="Oval 35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26" name="Group 30"/>
            <p:cNvGrpSpPr/>
            <p:nvPr/>
          </p:nvGrpSpPr>
          <p:grpSpPr>
            <a:xfrm>
              <a:off x="8724581" y="3108460"/>
              <a:ext cx="1733426" cy="1235036"/>
              <a:chOff x="596313" y="1252025"/>
              <a:chExt cx="2743200" cy="1954482"/>
            </a:xfrm>
          </p:grpSpPr>
          <p:sp>
            <p:nvSpPr>
              <p:cNvPr id="21627" name="Rounded Rectangle 32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8" name="Isosceles Triangle 33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</p:grpSp>
      <p:pic>
        <p:nvPicPr>
          <p:cNvPr id="21629" name="Picture 21628" descr="tool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921" y="2949441"/>
            <a:ext cx="548640" cy="548640"/>
          </a:xfrm>
          <a:prstGeom prst="rect">
            <a:avLst/>
          </a:prstGeom>
        </p:spPr>
      </p:pic>
      <p:sp>
        <p:nvSpPr>
          <p:cNvPr id="21630" name="TextBox 21629"/>
          <p:cNvSpPr txBox="1"/>
          <p:nvPr/>
        </p:nvSpPr>
        <p:spPr>
          <a:xfrm>
            <a:off x="254081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DataWorks</a:t>
            </a:r>
          </a:p>
        </p:txBody>
      </p:sp>
      <p:sp>
        <p:nvSpPr>
          <p:cNvPr id="21631" name="TextBox 21630"/>
          <p:cNvSpPr txBox="1"/>
          <p:nvPr/>
        </p:nvSpPr>
        <p:spPr>
          <a:xfrm>
            <a:off x="254081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开发 · 开发与调度</a:t>
            </a:r>
          </a:p>
        </p:txBody>
      </p:sp>
      <p:pic>
        <p:nvPicPr>
          <p:cNvPr id="21632" name="Picture 21631" descr="warn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413" y="2949441"/>
            <a:ext cx="548640" cy="548640"/>
          </a:xfrm>
          <a:prstGeom prst="rect">
            <a:avLst/>
          </a:prstGeom>
        </p:spPr>
      </p:pic>
      <p:sp>
        <p:nvSpPr>
          <p:cNvPr id="21633" name="TextBox 21632"/>
          <p:cNvSpPr txBox="1"/>
          <p:nvPr/>
        </p:nvSpPr>
        <p:spPr>
          <a:xfrm>
            <a:off x="3075573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B4551A"/>
                </a:solidFill>
              </a:rPr>
              <a:t>治理与指标</a:t>
            </a:r>
          </a:p>
        </p:txBody>
      </p:sp>
      <p:sp>
        <p:nvSpPr>
          <p:cNvPr id="21634" name="TextBox 21633"/>
          <p:cNvSpPr txBox="1"/>
          <p:nvPr/>
        </p:nvSpPr>
        <p:spPr>
          <a:xfrm>
            <a:off x="3075573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B4551A"/>
                </a:solidFill>
              </a:rPr>
              <a:t>缺口 · 待补齐的中枢</a:t>
            </a:r>
          </a:p>
        </p:txBody>
      </p:sp>
      <p:pic>
        <p:nvPicPr>
          <p:cNvPr id="21635" name="Picture 21634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905" y="2949441"/>
            <a:ext cx="548640" cy="548640"/>
          </a:xfrm>
          <a:prstGeom prst="rect">
            <a:avLst/>
          </a:prstGeom>
        </p:spPr>
      </p:pic>
      <p:sp>
        <p:nvSpPr>
          <p:cNvPr id="21636" name="TextBox 21635"/>
          <p:cNvSpPr txBox="1"/>
          <p:nvPr/>
        </p:nvSpPr>
        <p:spPr>
          <a:xfrm>
            <a:off x="5897065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动态数据开放 API</a:t>
            </a:r>
          </a:p>
        </p:txBody>
      </p:sp>
      <p:sp>
        <p:nvSpPr>
          <p:cNvPr id="21637" name="TextBox 21636"/>
          <p:cNvSpPr txBox="1"/>
          <p:nvPr/>
        </p:nvSpPr>
        <p:spPr>
          <a:xfrm>
            <a:off x="5897065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服务 · 指标对内对外服务</a:t>
            </a:r>
          </a:p>
        </p:txBody>
      </p:sp>
      <p:pic>
        <p:nvPicPr>
          <p:cNvPr id="21638" name="Picture 21637" descr="char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4396" y="2949441"/>
            <a:ext cx="548640" cy="548640"/>
          </a:xfrm>
          <a:prstGeom prst="rect">
            <a:avLst/>
          </a:prstGeom>
        </p:spPr>
      </p:pic>
      <p:sp>
        <p:nvSpPr>
          <p:cNvPr id="21639" name="TextBox 21638"/>
          <p:cNvSpPr txBox="1"/>
          <p:nvPr/>
        </p:nvSpPr>
        <p:spPr>
          <a:xfrm>
            <a:off x="8302752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Quick BI</a:t>
            </a:r>
          </a:p>
        </p:txBody>
      </p:sp>
      <p:sp>
        <p:nvSpPr>
          <p:cNvPr id="21640" name="TextBox 21639"/>
          <p:cNvSpPr txBox="1"/>
          <p:nvPr/>
        </p:nvSpPr>
        <p:spPr>
          <a:xfrm>
            <a:off x="8302752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消费 · 分析与展示</a:t>
            </a:r>
          </a:p>
        </p:txBody>
      </p:sp>
      <p:sp>
        <p:nvSpPr>
          <p:cNvPr id="21641" name="TextBox 21640"/>
          <p:cNvSpPr txBox="1"/>
          <p:nvPr/>
        </p:nvSpPr>
        <p:spPr>
          <a:xfrm>
            <a:off x="658368" y="543610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已有三条产品线</a:t>
            </a:r>
          </a:p>
        </p:txBody>
      </p:sp>
      <p:sp>
        <p:nvSpPr>
          <p:cNvPr id="21642" name="Rounded Rectangle 21641"/>
          <p:cNvSpPr/>
          <p:nvPr/>
        </p:nvSpPr>
        <p:spPr>
          <a:xfrm>
            <a:off x="658368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3" name="Oval 21642"/>
          <p:cNvSpPr/>
          <p:nvPr/>
        </p:nvSpPr>
        <p:spPr>
          <a:xfrm>
            <a:off x="841247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44" name="Picture 21643" descr="tool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" y="6087617"/>
            <a:ext cx="297180" cy="297180"/>
          </a:xfrm>
          <a:prstGeom prst="rect">
            <a:avLst/>
          </a:prstGeom>
        </p:spPr>
      </p:pic>
      <p:sp>
        <p:nvSpPr>
          <p:cNvPr id="21645" name="TextBox 21644"/>
          <p:cNvSpPr txBox="1"/>
          <p:nvPr/>
        </p:nvSpPr>
        <p:spPr>
          <a:xfrm>
            <a:off x="1618488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21646" name="TextBox 21645"/>
          <p:cNvSpPr txBox="1"/>
          <p:nvPr/>
        </p:nvSpPr>
        <p:spPr>
          <a:xfrm>
            <a:off x="1618488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票务 · 业态 · 运营 · 财务 · 终端</a:t>
            </a:r>
          </a:p>
        </p:txBody>
      </p:sp>
      <p:sp>
        <p:nvSpPr>
          <p:cNvPr id="21647" name="Rounded Rectangle 21646"/>
          <p:cNvSpPr/>
          <p:nvPr/>
        </p:nvSpPr>
        <p:spPr>
          <a:xfrm>
            <a:off x="4136136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8" name="Oval 21647"/>
          <p:cNvSpPr/>
          <p:nvPr/>
        </p:nvSpPr>
        <p:spPr>
          <a:xfrm>
            <a:off x="4319016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49" name="Picture 21648" descr="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7606" y="6087617"/>
            <a:ext cx="297180" cy="297180"/>
          </a:xfrm>
          <a:prstGeom prst="rect">
            <a:avLst/>
          </a:prstGeom>
        </p:spPr>
      </p:pic>
      <p:sp>
        <p:nvSpPr>
          <p:cNvPr id="21650" name="TextBox 21649"/>
          <p:cNvSpPr txBox="1"/>
          <p:nvPr/>
        </p:nvSpPr>
        <p:spPr>
          <a:xfrm>
            <a:off x="5096256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21651" name="TextBox 21650"/>
          <p:cNvSpPr txBox="1"/>
          <p:nvPr/>
        </p:nvSpPr>
        <p:spPr>
          <a:xfrm>
            <a:off x="5096256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景数通 · 调度中枢 · 票付通 APP</a:t>
            </a:r>
          </a:p>
        </p:txBody>
      </p:sp>
      <p:sp>
        <p:nvSpPr>
          <p:cNvPr id="21652" name="Rounded Rectangle 21651"/>
          <p:cNvSpPr/>
          <p:nvPr/>
        </p:nvSpPr>
        <p:spPr>
          <a:xfrm>
            <a:off x="7613904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3" name="Oval 21652"/>
          <p:cNvSpPr/>
          <p:nvPr/>
        </p:nvSpPr>
        <p:spPr>
          <a:xfrm>
            <a:off x="7796783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54" name="Picture 21653" descr="us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5373" y="6087617"/>
            <a:ext cx="297180" cy="297180"/>
          </a:xfrm>
          <a:prstGeom prst="rect">
            <a:avLst/>
          </a:prstGeom>
        </p:spPr>
      </p:pic>
      <p:sp>
        <p:nvSpPr>
          <p:cNvPr id="21655" name="TextBox 21654"/>
          <p:cNvSpPr txBox="1"/>
          <p:nvPr/>
        </p:nvSpPr>
        <p:spPr>
          <a:xfrm>
            <a:off x="8574024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21656" name="TextBox 21655"/>
          <p:cNvSpPr txBox="1"/>
          <p:nvPr/>
        </p:nvSpPr>
        <p:spPr>
          <a:xfrm>
            <a:off x="8574024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小程序 · 游客智能体 · 会员营销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五类问题看似分散，根因只有一个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09</a:t>
            </a:r>
          </a:p>
        </p:txBody>
      </p:sp>
      <p:grpSp>
        <p:nvGrpSpPr>
          <p:cNvPr id="21400" name="素材 31"/>
          <p:cNvGrpSpPr/>
          <p:nvPr/>
        </p:nvGrpSpPr>
        <p:grpSpPr>
          <a:xfrm>
            <a:off x="658368" y="2468880"/>
            <a:ext cx="6675120" cy="2766001"/>
            <a:chOff x="1728589" y="2236993"/>
            <a:chExt cx="7979490" cy="3306499"/>
          </a:xfrm>
        </p:grpSpPr>
        <p:grpSp>
          <p:nvGrpSpPr>
            <p:cNvPr id="214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4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4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4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4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4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4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776C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655BE6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6C95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D95F1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F08A3C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pic>
        <p:nvPicPr>
          <p:cNvPr id="21421" name="Picture 21420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10" y="2791314"/>
            <a:ext cx="402336" cy="402336"/>
          </a:xfrm>
          <a:prstGeom prst="rect">
            <a:avLst/>
          </a:prstGeom>
        </p:spPr>
      </p:pic>
      <p:sp>
        <p:nvSpPr>
          <p:cNvPr id="21422" name="TextBox 21421"/>
          <p:cNvSpPr txBox="1"/>
          <p:nvPr/>
        </p:nvSpPr>
        <p:spPr>
          <a:xfrm>
            <a:off x="64591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数据孤岛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55447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数据分散在各系统</a:t>
            </a:r>
          </a:p>
        </p:txBody>
      </p:sp>
      <p:pic>
        <p:nvPicPr>
          <p:cNvPr id="21424" name="Picture 21423" descr="ch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840" y="3525645"/>
            <a:ext cx="402336" cy="402336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190804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口径不一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181660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同一指标多种算法</a:t>
            </a:r>
          </a:p>
        </p:txBody>
      </p:sp>
      <p:pic>
        <p:nvPicPr>
          <p:cNvPr id="21427" name="Picture 21426" descr="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1970" y="2791314"/>
            <a:ext cx="402336" cy="402336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317017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结构不规范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307873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表、字段、DDL、描述</a:t>
            </a:r>
          </a:p>
        </p:txBody>
      </p:sp>
      <p:pic>
        <p:nvPicPr>
          <p:cNvPr id="21430" name="Picture 21429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1750" y="3525645"/>
            <a:ext cx="402336" cy="402336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443995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模型重复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434851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离线与湖仓重复开发</a:t>
            </a:r>
          </a:p>
        </p:txBody>
      </p:sp>
      <p:pic>
        <p:nvPicPr>
          <p:cNvPr id="21433" name="Picture 21432" descr="warning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0055" y="2791314"/>
            <a:ext cx="402336" cy="402336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5698263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数字不准</a:t>
            </a:r>
          </a:p>
        </p:txBody>
      </p:sp>
      <p:sp>
        <p:nvSpPr>
          <p:cNvPr id="21435" name="TextBox 21434"/>
          <p:cNvSpPr txBox="1"/>
          <p:nvPr/>
        </p:nvSpPr>
        <p:spPr>
          <a:xfrm>
            <a:off x="5606823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入园、核销等关键数字</a:t>
            </a:r>
          </a:p>
        </p:txBody>
      </p:sp>
      <p:sp>
        <p:nvSpPr>
          <p:cNvPr id="21436" name="Right Arrow 21435"/>
          <p:cNvSpPr/>
          <p:nvPr/>
        </p:nvSpPr>
        <p:spPr>
          <a:xfrm>
            <a:off x="7470648" y="3703320"/>
            <a:ext cx="384048" cy="329184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7" name="Rounded Rectangle 21436"/>
          <p:cNvSpPr/>
          <p:nvPr/>
        </p:nvSpPr>
        <p:spPr>
          <a:xfrm>
            <a:off x="8001000" y="2468880"/>
            <a:ext cx="2862072" cy="2926080"/>
          </a:xfrm>
          <a:prstGeom prst="roundRect">
            <a:avLst>
              <a:gd name="adj" fmla="val 319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182880" bIns="91440"/>
          <a:lstStyle/>
          <a:p>
            <a:pPr algn="l"/>
            <a:r>
              <a:rPr sz="1300" b="1">
                <a:solidFill>
                  <a:srgbClr val="E4E2FF"/>
                </a:solidFill>
              </a:rPr>
              <a:t>根因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缺少统一的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标准、模型、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口径和校验</a:t>
            </a:r>
          </a:p>
        </p:txBody>
      </p:sp>
      <p:sp>
        <p:nvSpPr>
          <p:cNvPr id="21438" name="Rounded Rectangle 21437"/>
          <p:cNvSpPr/>
          <p:nvPr/>
        </p:nvSpPr>
        <p:spPr>
          <a:xfrm>
            <a:off x="658368" y="617220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39" name="Picture 21438" descr="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" y="6318504"/>
            <a:ext cx="274320" cy="274320"/>
          </a:xfrm>
          <a:prstGeom prst="rect">
            <a:avLst/>
          </a:prstGeom>
        </p:spPr>
      </p:pic>
      <p:sp>
        <p:nvSpPr>
          <p:cNvPr id="21440" name="TextBox 21439"/>
          <p:cNvSpPr txBox="1"/>
          <p:nvPr/>
        </p:nvSpPr>
        <p:spPr>
          <a:xfrm>
            <a:off x="1252728" y="617220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E2C8"/>
                </a:solidFill>
              </a:rPr>
              <a:t>结论　</a:t>
            </a:r>
            <a:r>
              <a:rPr sz="1400" b="0">
                <a:solidFill>
                  <a:srgbClr val="FFFFFF"/>
                </a:solidFill>
              </a:rPr>
              <a:t>单点修补会反复出现，必须体系化建设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关键数字不准：问题在链路，而不在某一段 SQL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3804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闸机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00380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6956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手持终端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3532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OTA 回传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87168" y="3095244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26080" y="2638044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27904" y="3204972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39384" y="2638044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数仓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41208" y="3204972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52688" y="2638044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看板与报表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238243"/>
            <a:ext cx="1737360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375404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4347972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离线补传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多头上报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238243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37540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29000" y="4347972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重复上报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撤销、冲正未处理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39384" y="4238243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544" y="4375404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42304" y="4347972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发生与上报时间混用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口径混淆、ID 映射错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52688" y="4238243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848" y="4375404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55608" y="4347972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没有逐层核对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景区个性规则未处理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38124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以上为待逐项排查的方向，不预判为已确认根因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975604"/>
            <a:ext cx="10204704" cy="640080"/>
          </a:xfrm>
          <a:prstGeom prst="roundRect">
            <a:avLst>
              <a:gd name="adj" fmla="val 1428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l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615848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5975604"/>
            <a:ext cx="9427464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E2C8"/>
                </a:solidFill>
              </a:rPr>
              <a:t>缺的是　</a:t>
            </a:r>
            <a:r>
              <a:rPr sz="1500" b="0">
                <a:solidFill>
                  <a:srgbClr val="FFFFFF"/>
                </a:solidFill>
              </a:rPr>
              <a:t>唯一事实源 + 逐层核对 + 统一口径，不是某一段 SQL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为什么是现在：AI 应用越铺越开，正在放大数据问题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2776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条产品线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智慧票务 · AI 数字大脑 · 畅游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51376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5696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8712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 AI 应用与智能体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运营助手 · 对账 · 问数 · 洞察 · 调度 · 游客服务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4383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18704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8792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 AI 问数入口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景数通 · 票付通 APP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183379"/>
            <a:ext cx="2651760" cy="1463040"/>
          </a:xfrm>
          <a:prstGeom prst="roundRect">
            <a:avLst>
              <a:gd name="adj" fmla="val 625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AI 入口越来越多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</a:rPr>
              <a:t>问数 · 洞察 · 智能体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</a:rPr>
              <a:t>直接面向管理层与一线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401568" y="4777740"/>
            <a:ext cx="365760" cy="29260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58768" y="4183379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B4551A"/>
                </a:solidFill>
              </a:rPr>
              <a:t>若底层数据不可信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口径不一 · 数字不准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模型重复 · 不可追溯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01968" y="4777740"/>
            <a:ext cx="365760" cy="29260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59168" y="4183379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同一个问题，得到多个答案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4695444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错误数字被自动推送到一线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59168" y="5207508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对外数据产品失去客户信任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6103620"/>
            <a:ext cx="10204704" cy="658368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95644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52728" y="6103620"/>
            <a:ext cx="9427464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FFFFFF"/>
                </a:solidFill>
              </a:rPr>
              <a:t>判断　</a:t>
            </a:r>
            <a:r>
              <a:rPr sz="1600" b="0">
                <a:solidFill>
                  <a:srgbClr val="FFFFFF"/>
                </a:solidFill>
              </a:rPr>
              <a:t>先治理、建底座，AI 才会放大价值，而不是放大问题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能力盘点：已有投入全部保留，缺口逐项补齐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治理与 AI 能力叠加在已有工具之上，不推倒重来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 现状与挑战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12</a:t>
            </a:r>
          </a:p>
        </p:txBody>
      </p:sp>
      <p:pic>
        <p:nvPicPr>
          <p:cNvPr id="9" name="Picture 8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70048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9848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已具备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91256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离线主流程模型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58184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DataWorks 离线开发调度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325112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动态数据开放 API 服务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892040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Quick BI 分析展示</a:t>
            </a:r>
          </a:p>
        </p:txBody>
      </p:sp>
      <p:pic>
        <p:nvPicPr>
          <p:cNvPr id="15" name="Picture 14" descr="activity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616" y="267004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8096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持续建设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6616" y="3191256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其他维度与主题域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6616" y="3758184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数据标准、地图与血缘</a:t>
            </a:r>
          </a:p>
        </p:txBody>
      </p:sp>
      <p:pic>
        <p:nvPicPr>
          <p:cNvPr id="19" name="Picture 18" descr="clock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864" y="2670048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86344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待建设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74864" y="3191256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数据质量与逐层核对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74864" y="3758184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74864" y="4325112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统一数据标签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74864" y="4892040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指标中心与景区自定义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74864" y="5458968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AI 共用能力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6208776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wren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6323076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" y="6208776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下一步　</a:t>
            </a:r>
            <a:r>
              <a:rPr sz="1300" b="0">
                <a:solidFill>
                  <a:srgbClr val="2B2F42"/>
                </a:solidFill>
              </a:rPr>
              <a:t>补维度、补质量、补实时、补标签，并把治理和 AI 能力叠加上去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目标与蓝图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一个平台，两个赋能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建设目标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总体架构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平台组件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演进路径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建设目标：四个“可”，支撑对内赋能与对外商业化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14</a:t>
            </a:r>
          </a:p>
        </p:txBody>
      </p:sp>
      <p:grpSp>
        <p:nvGrpSpPr>
          <p:cNvPr id="21400" name="素材 34"/>
          <p:cNvGrpSpPr/>
          <p:nvPr/>
        </p:nvGrpSpPr>
        <p:grpSpPr>
          <a:xfrm>
            <a:off x="914400" y="2331720"/>
            <a:ext cx="3683022" cy="3703320"/>
            <a:chOff x="432445" y="1940798"/>
            <a:chExt cx="4586553" cy="4611830"/>
          </a:xfrm>
        </p:grpSpPr>
        <p:sp>
          <p:nvSpPr>
            <p:cNvPr id="21401" name="Oval 5"/>
            <p:cNvSpPr>
              <a:spLocks noChangeArrowheads="1"/>
            </p:cNvSpPr>
            <p:nvPr/>
          </p:nvSpPr>
          <p:spPr bwMode="auto">
            <a:xfrm rot="5400000" flipV="1">
              <a:off x="766893" y="3623076"/>
              <a:ext cx="1355433" cy="1352760"/>
            </a:xfrm>
            <a:prstGeom prst="ellipse">
              <a:avLst/>
            </a:prstGeom>
            <a:solidFill>
              <a:srgbClr val="FFFFFF">
                <a:lumMod val="9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402" name="Group 17"/>
            <p:cNvGrpSpPr/>
            <p:nvPr/>
          </p:nvGrpSpPr>
          <p:grpSpPr>
            <a:xfrm>
              <a:off x="2471210" y="3611046"/>
              <a:ext cx="843471" cy="117631"/>
              <a:chOff x="2735417" y="3483370"/>
              <a:chExt cx="843471" cy="117631"/>
            </a:xfrm>
          </p:grpSpPr>
          <p:sp>
            <p:nvSpPr>
              <p:cNvPr id="21403" name="Oval 7"/>
              <p:cNvSpPr>
                <a:spLocks noChangeArrowheads="1"/>
              </p:cNvSpPr>
              <p:nvPr/>
            </p:nvSpPr>
            <p:spPr bwMode="auto">
              <a:xfrm rot="5400000" flipV="1">
                <a:off x="2734749" y="3484038"/>
                <a:ext cx="117631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04" name="Rectangle 10"/>
              <p:cNvSpPr>
                <a:spLocks noChangeArrowheads="1"/>
              </p:cNvSpPr>
              <p:nvPr/>
            </p:nvSpPr>
            <p:spPr bwMode="auto">
              <a:xfrm rot="5400000" flipV="1">
                <a:off x="3163836" y="3141838"/>
                <a:ext cx="24061" cy="806042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05" name="Freeform 11"/>
            <p:cNvSpPr/>
            <p:nvPr/>
          </p:nvSpPr>
          <p:spPr bwMode="auto">
            <a:xfrm rot="5400000" flipV="1">
              <a:off x="2899629" y="3269514"/>
              <a:ext cx="24061" cy="806042"/>
            </a:xfrm>
            <a:custGeom>
              <a:avLst/>
              <a:gdLst>
                <a:gd name="T0" fmla="*/ 0 w 18"/>
                <a:gd name="T1" fmla="*/ 0 h 603"/>
                <a:gd name="T2" fmla="*/ 0 w 18"/>
                <a:gd name="T3" fmla="*/ 603 h 603"/>
                <a:gd name="T4" fmla="*/ 18 w 18"/>
                <a:gd name="T5" fmla="*/ 603 h 603"/>
                <a:gd name="T6" fmla="*/ 18 w 18"/>
                <a:gd name="T7" fmla="*/ 0 h 6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603">
                  <a:moveTo>
                    <a:pt x="0" y="0"/>
                  </a:moveTo>
                  <a:lnTo>
                    <a:pt x="0" y="603"/>
                  </a:lnTo>
                  <a:lnTo>
                    <a:pt x="18" y="603"/>
                  </a:lnTo>
                  <a:lnTo>
                    <a:pt x="1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  <a:latin typeface="微软雅黑"/>
                <a:ea typeface="+mn-ea"/>
              </a:endParaRPr>
            </a:p>
          </p:txBody>
        </p:sp>
        <p:grpSp>
          <p:nvGrpSpPr>
            <p:cNvPr id="21406" name="Group 91"/>
            <p:cNvGrpSpPr/>
            <p:nvPr/>
          </p:nvGrpSpPr>
          <p:grpSpPr>
            <a:xfrm>
              <a:off x="2471210" y="4913010"/>
              <a:ext cx="843471" cy="116295"/>
              <a:chOff x="2735417" y="4785334"/>
              <a:chExt cx="843471" cy="116295"/>
            </a:xfrm>
          </p:grpSpPr>
          <p:sp>
            <p:nvSpPr>
              <p:cNvPr id="21407" name="Oval 8"/>
              <p:cNvSpPr>
                <a:spLocks noChangeArrowheads="1"/>
              </p:cNvSpPr>
              <p:nvPr/>
            </p:nvSpPr>
            <p:spPr bwMode="auto">
              <a:xfrm rot="5400000" flipV="1">
                <a:off x="2735417" y="4785334"/>
                <a:ext cx="116295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08" name="Rectangle 12"/>
              <p:cNvSpPr>
                <a:spLocks noChangeArrowheads="1"/>
              </p:cNvSpPr>
              <p:nvPr/>
            </p:nvSpPr>
            <p:spPr bwMode="auto">
              <a:xfrm rot="5400000" flipV="1">
                <a:off x="3164504" y="4436451"/>
                <a:ext cx="22725" cy="806042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09" name="Freeform 13"/>
            <p:cNvSpPr/>
            <p:nvPr/>
          </p:nvSpPr>
          <p:spPr bwMode="auto">
            <a:xfrm rot="5400000" flipV="1">
              <a:off x="2900297" y="4564127"/>
              <a:ext cx="22725" cy="806042"/>
            </a:xfrm>
            <a:custGeom>
              <a:avLst/>
              <a:gdLst>
                <a:gd name="T0" fmla="*/ 0 w 17"/>
                <a:gd name="T1" fmla="*/ 0 h 603"/>
                <a:gd name="T2" fmla="*/ 0 w 17"/>
                <a:gd name="T3" fmla="*/ 603 h 603"/>
                <a:gd name="T4" fmla="*/ 17 w 17"/>
                <a:gd name="T5" fmla="*/ 603 h 603"/>
                <a:gd name="T6" fmla="*/ 17 w 17"/>
                <a:gd name="T7" fmla="*/ 0 h 6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603">
                  <a:moveTo>
                    <a:pt x="0" y="0"/>
                  </a:moveTo>
                  <a:lnTo>
                    <a:pt x="0" y="603"/>
                  </a:lnTo>
                  <a:lnTo>
                    <a:pt x="17" y="603"/>
                  </a:lnTo>
                  <a:lnTo>
                    <a:pt x="1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  <a:latin typeface="微软雅黑"/>
                <a:ea typeface="+mn-ea"/>
              </a:endParaRPr>
            </a:p>
          </p:txBody>
        </p:sp>
        <p:grpSp>
          <p:nvGrpSpPr>
            <p:cNvPr id="21410" name="Group 15"/>
            <p:cNvGrpSpPr/>
            <p:nvPr/>
          </p:nvGrpSpPr>
          <p:grpSpPr>
            <a:xfrm>
              <a:off x="919278" y="2428049"/>
              <a:ext cx="2480952" cy="725840"/>
              <a:chOff x="1183485" y="2300373"/>
              <a:chExt cx="2480952" cy="725840"/>
            </a:xfrm>
          </p:grpSpPr>
          <p:sp>
            <p:nvSpPr>
              <p:cNvPr id="21411" name="Oval 6"/>
              <p:cNvSpPr>
                <a:spLocks noChangeArrowheads="1"/>
              </p:cNvSpPr>
              <p:nvPr/>
            </p:nvSpPr>
            <p:spPr bwMode="auto">
              <a:xfrm rot="5400000" flipV="1">
                <a:off x="1182149" y="2908581"/>
                <a:ext cx="118968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2" name="Freeform 14"/>
              <p:cNvSpPr/>
              <p:nvPr/>
            </p:nvSpPr>
            <p:spPr bwMode="auto">
              <a:xfrm rot="5400000" flipV="1">
                <a:off x="2144587" y="1386057"/>
                <a:ext cx="605534" cy="2434166"/>
              </a:xfrm>
              <a:custGeom>
                <a:avLst/>
                <a:gdLst>
                  <a:gd name="T0" fmla="*/ 12 w 312"/>
                  <a:gd name="T1" fmla="*/ 1256 h 1256"/>
                  <a:gd name="T2" fmla="*/ 12 w 312"/>
                  <a:gd name="T3" fmla="*/ 43 h 1256"/>
                  <a:gd name="T4" fmla="*/ 19 w 312"/>
                  <a:gd name="T5" fmla="*/ 20 h 1256"/>
                  <a:gd name="T6" fmla="*/ 37 w 312"/>
                  <a:gd name="T7" fmla="*/ 12 h 1256"/>
                  <a:gd name="T8" fmla="*/ 312 w 312"/>
                  <a:gd name="T9" fmla="*/ 12 h 1256"/>
                  <a:gd name="T10" fmla="*/ 312 w 312"/>
                  <a:gd name="T11" fmla="*/ 0 h 1256"/>
                  <a:gd name="T12" fmla="*/ 37 w 312"/>
                  <a:gd name="T13" fmla="*/ 0 h 1256"/>
                  <a:gd name="T14" fmla="*/ 10 w 312"/>
                  <a:gd name="T15" fmla="*/ 13 h 1256"/>
                  <a:gd name="T16" fmla="*/ 0 w 312"/>
                  <a:gd name="T17" fmla="*/ 43 h 1256"/>
                  <a:gd name="T18" fmla="*/ 0 w 312"/>
                  <a:gd name="T19" fmla="*/ 1256 h 1256"/>
                  <a:gd name="T20" fmla="*/ 12 w 312"/>
                  <a:gd name="T21" fmla="*/ 1256 h 1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2" h="1256">
                    <a:moveTo>
                      <a:pt x="12" y="1256"/>
                    </a:moveTo>
                    <a:cubicBezTo>
                      <a:pt x="12" y="43"/>
                      <a:pt x="12" y="43"/>
                      <a:pt x="12" y="43"/>
                    </a:cubicBezTo>
                    <a:cubicBezTo>
                      <a:pt x="12" y="33"/>
                      <a:pt x="15" y="26"/>
                      <a:pt x="19" y="20"/>
                    </a:cubicBezTo>
                    <a:cubicBezTo>
                      <a:pt x="24" y="15"/>
                      <a:pt x="29" y="12"/>
                      <a:pt x="37" y="12"/>
                    </a:cubicBezTo>
                    <a:cubicBezTo>
                      <a:pt x="312" y="12"/>
                      <a:pt x="312" y="12"/>
                      <a:pt x="312" y="12"/>
                    </a:cubicBezTo>
                    <a:cubicBezTo>
                      <a:pt x="312" y="0"/>
                      <a:pt x="312" y="0"/>
                      <a:pt x="312" y="0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26" y="0"/>
                      <a:pt x="16" y="5"/>
                      <a:pt x="10" y="13"/>
                    </a:cubicBezTo>
                    <a:cubicBezTo>
                      <a:pt x="3" y="20"/>
                      <a:pt x="0" y="31"/>
                      <a:pt x="0" y="43"/>
                    </a:cubicBezTo>
                    <a:cubicBezTo>
                      <a:pt x="0" y="1256"/>
                      <a:pt x="0" y="1256"/>
                      <a:pt x="0" y="1256"/>
                    </a:cubicBezTo>
                    <a:lnTo>
                      <a:pt x="12" y="1256"/>
                    </a:lnTo>
                    <a:close/>
                  </a:path>
                </a:pathLst>
              </a:cu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3" name="Group 104"/>
            <p:cNvGrpSpPr/>
            <p:nvPr/>
          </p:nvGrpSpPr>
          <p:grpSpPr>
            <a:xfrm>
              <a:off x="919279" y="5422301"/>
              <a:ext cx="2480952" cy="664348"/>
              <a:chOff x="1183486" y="5294625"/>
              <a:chExt cx="2480952" cy="664348"/>
            </a:xfrm>
          </p:grpSpPr>
          <p:sp>
            <p:nvSpPr>
              <p:cNvPr id="21414" name="Oval 9"/>
              <p:cNvSpPr>
                <a:spLocks noChangeArrowheads="1"/>
              </p:cNvSpPr>
              <p:nvPr/>
            </p:nvSpPr>
            <p:spPr bwMode="auto">
              <a:xfrm rot="5400000" flipV="1">
                <a:off x="1183486" y="5294625"/>
                <a:ext cx="116295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5" name="Freeform 15"/>
              <p:cNvSpPr/>
              <p:nvPr/>
            </p:nvSpPr>
            <p:spPr bwMode="auto">
              <a:xfrm rot="5400000" flipV="1">
                <a:off x="2145256" y="4439792"/>
                <a:ext cx="604197" cy="2434166"/>
              </a:xfrm>
              <a:custGeom>
                <a:avLst/>
                <a:gdLst>
                  <a:gd name="T0" fmla="*/ 312 w 312"/>
                  <a:gd name="T1" fmla="*/ 1256 h 1256"/>
                  <a:gd name="T2" fmla="*/ 312 w 312"/>
                  <a:gd name="T3" fmla="*/ 43 h 1256"/>
                  <a:gd name="T4" fmla="*/ 301 w 312"/>
                  <a:gd name="T5" fmla="*/ 12 h 1256"/>
                  <a:gd name="T6" fmla="*/ 273 w 312"/>
                  <a:gd name="T7" fmla="*/ 0 h 1256"/>
                  <a:gd name="T8" fmla="*/ 0 w 312"/>
                  <a:gd name="T9" fmla="*/ 0 h 1256"/>
                  <a:gd name="T10" fmla="*/ 0 w 312"/>
                  <a:gd name="T11" fmla="*/ 12 h 1256"/>
                  <a:gd name="T12" fmla="*/ 273 w 312"/>
                  <a:gd name="T13" fmla="*/ 12 h 1256"/>
                  <a:gd name="T14" fmla="*/ 292 w 312"/>
                  <a:gd name="T15" fmla="*/ 20 h 1256"/>
                  <a:gd name="T16" fmla="*/ 300 w 312"/>
                  <a:gd name="T17" fmla="*/ 43 h 1256"/>
                  <a:gd name="T18" fmla="*/ 300 w 312"/>
                  <a:gd name="T19" fmla="*/ 1256 h 1256"/>
                  <a:gd name="T20" fmla="*/ 312 w 312"/>
                  <a:gd name="T21" fmla="*/ 1256 h 1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2" h="1256">
                    <a:moveTo>
                      <a:pt x="312" y="1256"/>
                    </a:moveTo>
                    <a:cubicBezTo>
                      <a:pt x="312" y="43"/>
                      <a:pt x="312" y="43"/>
                      <a:pt x="312" y="43"/>
                    </a:cubicBezTo>
                    <a:cubicBezTo>
                      <a:pt x="312" y="31"/>
                      <a:pt x="308" y="20"/>
                      <a:pt x="301" y="12"/>
                    </a:cubicBezTo>
                    <a:cubicBezTo>
                      <a:pt x="294" y="5"/>
                      <a:pt x="284" y="0"/>
                      <a:pt x="273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273" y="12"/>
                      <a:pt x="273" y="12"/>
                      <a:pt x="273" y="12"/>
                    </a:cubicBezTo>
                    <a:cubicBezTo>
                      <a:pt x="281" y="12"/>
                      <a:pt x="287" y="15"/>
                      <a:pt x="292" y="20"/>
                    </a:cubicBezTo>
                    <a:cubicBezTo>
                      <a:pt x="297" y="26"/>
                      <a:pt x="300" y="33"/>
                      <a:pt x="300" y="43"/>
                    </a:cubicBezTo>
                    <a:cubicBezTo>
                      <a:pt x="300" y="1256"/>
                      <a:pt x="300" y="1256"/>
                      <a:pt x="300" y="1256"/>
                    </a:cubicBezTo>
                    <a:lnTo>
                      <a:pt x="312" y="1256"/>
                    </a:lnTo>
                    <a:close/>
                  </a:path>
                </a:pathLst>
              </a:cu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6" name="Group 36"/>
            <p:cNvGrpSpPr/>
            <p:nvPr/>
          </p:nvGrpSpPr>
          <p:grpSpPr>
            <a:xfrm rot="5400000" flipV="1">
              <a:off x="3507836" y="1390738"/>
              <a:ext cx="961102" cy="2061222"/>
              <a:chOff x="3638550" y="3703638"/>
              <a:chExt cx="1141413" cy="2447926"/>
            </a:xfrm>
          </p:grpSpPr>
          <p:sp>
            <p:nvSpPr>
              <p:cNvPr id="21417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8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19" name="Freeform 22"/>
              <p:cNvSpPr/>
              <p:nvPr/>
            </p:nvSpPr>
            <p:spPr bwMode="auto">
              <a:xfrm>
                <a:off x="3783013" y="4084639"/>
                <a:ext cx="857251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776CFD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0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1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2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3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4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5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776CFD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6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7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8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9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0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1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2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3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34" name="Group 37"/>
            <p:cNvGrpSpPr/>
            <p:nvPr/>
          </p:nvGrpSpPr>
          <p:grpSpPr>
            <a:xfrm rot="5400000" flipV="1">
              <a:off x="3507836" y="2623861"/>
              <a:ext cx="961102" cy="2061221"/>
              <a:chOff x="3638550" y="3703638"/>
              <a:chExt cx="1141413" cy="2447925"/>
            </a:xfrm>
          </p:grpSpPr>
          <p:sp>
            <p:nvSpPr>
              <p:cNvPr id="21435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36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7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5D95F1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38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9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0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1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42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3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5D95F1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4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5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6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7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8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9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0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1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52" name="Group 55"/>
            <p:cNvGrpSpPr/>
            <p:nvPr/>
          </p:nvGrpSpPr>
          <p:grpSpPr>
            <a:xfrm rot="5400000" flipV="1">
              <a:off x="3507836" y="3920478"/>
              <a:ext cx="961102" cy="2061221"/>
              <a:chOff x="3638550" y="3703638"/>
              <a:chExt cx="1141413" cy="2447925"/>
            </a:xfrm>
          </p:grpSpPr>
          <p:sp>
            <p:nvSpPr>
              <p:cNvPr id="21453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54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5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655BE6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56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7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8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9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60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1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655BE6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2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3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4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5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6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7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8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9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70" name="Group 73"/>
            <p:cNvGrpSpPr/>
            <p:nvPr/>
          </p:nvGrpSpPr>
          <p:grpSpPr>
            <a:xfrm rot="5400000" flipV="1">
              <a:off x="3507836" y="5041467"/>
              <a:ext cx="961102" cy="2061221"/>
              <a:chOff x="3638550" y="3703638"/>
              <a:chExt cx="1141413" cy="2447925"/>
            </a:xfrm>
          </p:grpSpPr>
          <p:sp>
            <p:nvSpPr>
              <p:cNvPr id="21471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2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3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F08A3C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4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5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6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7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8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9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F08A3C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0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1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2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3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4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5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6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7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88" name="Group 121"/>
            <p:cNvGrpSpPr/>
            <p:nvPr/>
          </p:nvGrpSpPr>
          <p:grpSpPr>
            <a:xfrm>
              <a:off x="432445" y="3300927"/>
              <a:ext cx="2037429" cy="2002406"/>
              <a:chOff x="696652" y="3173251"/>
              <a:chExt cx="2037429" cy="2002406"/>
            </a:xfrm>
          </p:grpSpPr>
          <p:grpSp>
            <p:nvGrpSpPr>
              <p:cNvPr id="21489" name="Group 92"/>
              <p:cNvGrpSpPr/>
              <p:nvPr/>
            </p:nvGrpSpPr>
            <p:grpSpPr>
              <a:xfrm rot="5400000" flipV="1">
                <a:off x="1218909" y="3660485"/>
                <a:ext cx="2002406" cy="1027938"/>
                <a:chOff x="5245100" y="1903413"/>
                <a:chExt cx="2378076" cy="1220788"/>
              </a:xfrm>
            </p:grpSpPr>
            <p:sp>
              <p:nvSpPr>
                <p:cNvPr id="21490" name="Freeform 17"/>
                <p:cNvSpPr/>
                <p:nvPr/>
              </p:nvSpPr>
              <p:spPr bwMode="auto">
                <a:xfrm>
                  <a:off x="5245100" y="1903413"/>
                  <a:ext cx="1189038" cy="1220788"/>
                </a:xfrm>
                <a:custGeom>
                  <a:avLst/>
                  <a:gdLst>
                    <a:gd name="T0" fmla="*/ 0 w 517"/>
                    <a:gd name="T1" fmla="*/ 0 h 530"/>
                    <a:gd name="T2" fmla="*/ 0 w 517"/>
                    <a:gd name="T3" fmla="*/ 4 h 530"/>
                    <a:gd name="T4" fmla="*/ 517 w 517"/>
                    <a:gd name="T5" fmla="*/ 530 h 530"/>
                    <a:gd name="T6" fmla="*/ 517 w 517"/>
                    <a:gd name="T7" fmla="*/ 429 h 530"/>
                    <a:gd name="T8" fmla="*/ 101 w 517"/>
                    <a:gd name="T9" fmla="*/ 4 h 530"/>
                    <a:gd name="T10" fmla="*/ 101 w 517"/>
                    <a:gd name="T11" fmla="*/ 0 h 530"/>
                    <a:gd name="T12" fmla="*/ 0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0" y="0"/>
                      </a:moveTo>
                      <a:cubicBezTo>
                        <a:pt x="0" y="1"/>
                        <a:pt x="0" y="3"/>
                        <a:pt x="0" y="4"/>
                      </a:cubicBezTo>
                      <a:cubicBezTo>
                        <a:pt x="0" y="292"/>
                        <a:pt x="231" y="526"/>
                        <a:pt x="517" y="530"/>
                      </a:cubicBezTo>
                      <a:cubicBezTo>
                        <a:pt x="517" y="429"/>
                        <a:pt x="517" y="429"/>
                        <a:pt x="517" y="429"/>
                      </a:cubicBezTo>
                      <a:cubicBezTo>
                        <a:pt x="287" y="424"/>
                        <a:pt x="101" y="236"/>
                        <a:pt x="101" y="4"/>
                      </a:cubicBezTo>
                      <a:cubicBezTo>
                        <a:pt x="101" y="3"/>
                        <a:pt x="101" y="1"/>
                        <a:pt x="10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776C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21491" name="Freeform 19"/>
                <p:cNvSpPr/>
                <p:nvPr/>
              </p:nvSpPr>
              <p:spPr bwMode="auto">
                <a:xfrm>
                  <a:off x="6434138" y="1903413"/>
                  <a:ext cx="1189038" cy="1220788"/>
                </a:xfrm>
                <a:custGeom>
                  <a:avLst/>
                  <a:gdLst>
                    <a:gd name="T0" fmla="*/ 517 w 517"/>
                    <a:gd name="T1" fmla="*/ 0 h 530"/>
                    <a:gd name="T2" fmla="*/ 517 w 517"/>
                    <a:gd name="T3" fmla="*/ 4 h 530"/>
                    <a:gd name="T4" fmla="*/ 0 w 517"/>
                    <a:gd name="T5" fmla="*/ 530 h 530"/>
                    <a:gd name="T6" fmla="*/ 0 w 517"/>
                    <a:gd name="T7" fmla="*/ 429 h 530"/>
                    <a:gd name="T8" fmla="*/ 416 w 517"/>
                    <a:gd name="T9" fmla="*/ 4 h 530"/>
                    <a:gd name="T10" fmla="*/ 416 w 517"/>
                    <a:gd name="T11" fmla="*/ 0 h 530"/>
                    <a:gd name="T12" fmla="*/ 517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517" y="0"/>
                      </a:moveTo>
                      <a:cubicBezTo>
                        <a:pt x="517" y="1"/>
                        <a:pt x="517" y="3"/>
                        <a:pt x="517" y="4"/>
                      </a:cubicBezTo>
                      <a:cubicBezTo>
                        <a:pt x="517" y="292"/>
                        <a:pt x="287" y="526"/>
                        <a:pt x="0" y="530"/>
                      </a:cubicBezTo>
                      <a:cubicBezTo>
                        <a:pt x="0" y="429"/>
                        <a:pt x="0" y="429"/>
                        <a:pt x="0" y="429"/>
                      </a:cubicBezTo>
                      <a:cubicBezTo>
                        <a:pt x="231" y="424"/>
                        <a:pt x="416" y="236"/>
                        <a:pt x="416" y="4"/>
                      </a:cubicBezTo>
                      <a:cubicBezTo>
                        <a:pt x="416" y="3"/>
                        <a:pt x="416" y="1"/>
                        <a:pt x="416" y="0"/>
                      </a:cubicBezTo>
                      <a:lnTo>
                        <a:pt x="517" y="0"/>
                      </a:lnTo>
                      <a:close/>
                    </a:path>
                  </a:pathLst>
                </a:custGeom>
                <a:solidFill>
                  <a:srgbClr val="5D95F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21492" name="Group 96"/>
              <p:cNvGrpSpPr/>
              <p:nvPr/>
            </p:nvGrpSpPr>
            <p:grpSpPr>
              <a:xfrm rot="5400000">
                <a:off x="209419" y="3660485"/>
                <a:ext cx="2002405" cy="1027939"/>
                <a:chOff x="5245101" y="1903412"/>
                <a:chExt cx="2378075" cy="1220789"/>
              </a:xfrm>
            </p:grpSpPr>
            <p:sp>
              <p:nvSpPr>
                <p:cNvPr id="21493" name="Freeform 17"/>
                <p:cNvSpPr/>
                <p:nvPr/>
              </p:nvSpPr>
              <p:spPr bwMode="auto">
                <a:xfrm>
                  <a:off x="5245101" y="1903412"/>
                  <a:ext cx="1189038" cy="1220788"/>
                </a:xfrm>
                <a:custGeom>
                  <a:avLst/>
                  <a:gdLst>
                    <a:gd name="T0" fmla="*/ 0 w 517"/>
                    <a:gd name="T1" fmla="*/ 0 h 530"/>
                    <a:gd name="T2" fmla="*/ 0 w 517"/>
                    <a:gd name="T3" fmla="*/ 4 h 530"/>
                    <a:gd name="T4" fmla="*/ 517 w 517"/>
                    <a:gd name="T5" fmla="*/ 530 h 530"/>
                    <a:gd name="T6" fmla="*/ 517 w 517"/>
                    <a:gd name="T7" fmla="*/ 429 h 530"/>
                    <a:gd name="T8" fmla="*/ 101 w 517"/>
                    <a:gd name="T9" fmla="*/ 4 h 530"/>
                    <a:gd name="T10" fmla="*/ 101 w 517"/>
                    <a:gd name="T11" fmla="*/ 0 h 530"/>
                    <a:gd name="T12" fmla="*/ 0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0" y="0"/>
                      </a:moveTo>
                      <a:cubicBezTo>
                        <a:pt x="0" y="1"/>
                        <a:pt x="0" y="3"/>
                        <a:pt x="0" y="4"/>
                      </a:cubicBezTo>
                      <a:cubicBezTo>
                        <a:pt x="0" y="292"/>
                        <a:pt x="231" y="526"/>
                        <a:pt x="517" y="530"/>
                      </a:cubicBezTo>
                      <a:cubicBezTo>
                        <a:pt x="517" y="429"/>
                        <a:pt x="517" y="429"/>
                        <a:pt x="517" y="429"/>
                      </a:cubicBezTo>
                      <a:cubicBezTo>
                        <a:pt x="287" y="424"/>
                        <a:pt x="101" y="236"/>
                        <a:pt x="101" y="4"/>
                      </a:cubicBezTo>
                      <a:cubicBezTo>
                        <a:pt x="101" y="3"/>
                        <a:pt x="101" y="1"/>
                        <a:pt x="10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55BE6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  <p:sp>
              <p:nvSpPr>
                <p:cNvPr id="21494" name="Freeform 19"/>
                <p:cNvSpPr/>
                <p:nvPr/>
              </p:nvSpPr>
              <p:spPr bwMode="auto">
                <a:xfrm>
                  <a:off x="6434138" y="1903413"/>
                  <a:ext cx="1189038" cy="1220788"/>
                </a:xfrm>
                <a:custGeom>
                  <a:avLst/>
                  <a:gdLst>
                    <a:gd name="T0" fmla="*/ 517 w 517"/>
                    <a:gd name="T1" fmla="*/ 0 h 530"/>
                    <a:gd name="T2" fmla="*/ 517 w 517"/>
                    <a:gd name="T3" fmla="*/ 4 h 530"/>
                    <a:gd name="T4" fmla="*/ 0 w 517"/>
                    <a:gd name="T5" fmla="*/ 530 h 530"/>
                    <a:gd name="T6" fmla="*/ 0 w 517"/>
                    <a:gd name="T7" fmla="*/ 429 h 530"/>
                    <a:gd name="T8" fmla="*/ 416 w 517"/>
                    <a:gd name="T9" fmla="*/ 4 h 530"/>
                    <a:gd name="T10" fmla="*/ 416 w 517"/>
                    <a:gd name="T11" fmla="*/ 0 h 530"/>
                    <a:gd name="T12" fmla="*/ 517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517" y="0"/>
                      </a:moveTo>
                      <a:cubicBezTo>
                        <a:pt x="517" y="1"/>
                        <a:pt x="517" y="3"/>
                        <a:pt x="517" y="4"/>
                      </a:cubicBezTo>
                      <a:cubicBezTo>
                        <a:pt x="517" y="292"/>
                        <a:pt x="287" y="526"/>
                        <a:pt x="0" y="530"/>
                      </a:cubicBezTo>
                      <a:cubicBezTo>
                        <a:pt x="0" y="429"/>
                        <a:pt x="0" y="429"/>
                        <a:pt x="0" y="429"/>
                      </a:cubicBezTo>
                      <a:cubicBezTo>
                        <a:pt x="231" y="424"/>
                        <a:pt x="416" y="236"/>
                        <a:pt x="416" y="4"/>
                      </a:cubicBezTo>
                      <a:cubicBezTo>
                        <a:pt x="416" y="3"/>
                        <a:pt x="416" y="1"/>
                        <a:pt x="416" y="0"/>
                      </a:cubicBezTo>
                      <a:lnTo>
                        <a:pt x="517" y="0"/>
                      </a:lnTo>
                      <a:close/>
                    </a:path>
                  </a:pathLst>
                </a:custGeom>
                <a:solidFill>
                  <a:srgbClr val="F08A3C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</p:grpSp>
        <p:sp>
          <p:nvSpPr>
            <p:cNvPr id="21495" name="Freeform 264"/>
            <p:cNvSpPr>
              <a:spLocks noEditPoints="1"/>
            </p:cNvSpPr>
            <p:nvPr/>
          </p:nvSpPr>
          <p:spPr bwMode="auto">
            <a:xfrm>
              <a:off x="1044010" y="3898858"/>
              <a:ext cx="801198" cy="801196"/>
            </a:xfrm>
            <a:custGeom>
              <a:avLst/>
              <a:gdLst>
                <a:gd name="T0" fmla="*/ 1036 w 3366"/>
                <a:gd name="T1" fmla="*/ 2650 h 3366"/>
                <a:gd name="T2" fmla="*/ 938 w 3366"/>
                <a:gd name="T3" fmla="*/ 187 h 3366"/>
                <a:gd name="T4" fmla="*/ 759 w 3366"/>
                <a:gd name="T5" fmla="*/ 343 h 3366"/>
                <a:gd name="T6" fmla="*/ 549 w 3366"/>
                <a:gd name="T7" fmla="*/ 514 h 3366"/>
                <a:gd name="T8" fmla="*/ 310 w 3366"/>
                <a:gd name="T9" fmla="*/ 679 h 3366"/>
                <a:gd name="T10" fmla="*/ 168 w 3366"/>
                <a:gd name="T11" fmla="*/ 932 h 3366"/>
                <a:gd name="T12" fmla="*/ 154 w 3366"/>
                <a:gd name="T13" fmla="*/ 1233 h 3366"/>
                <a:gd name="T14" fmla="*/ 273 w 3366"/>
                <a:gd name="T15" fmla="*/ 1500 h 3366"/>
                <a:gd name="T16" fmla="*/ 495 w 3366"/>
                <a:gd name="T17" fmla="*/ 1686 h 3366"/>
                <a:gd name="T18" fmla="*/ 785 w 3366"/>
                <a:gd name="T19" fmla="*/ 1755 h 3366"/>
                <a:gd name="T20" fmla="*/ 2973 w 3366"/>
                <a:gd name="T21" fmla="*/ 1712 h 3366"/>
                <a:gd name="T22" fmla="*/ 3150 w 3366"/>
                <a:gd name="T23" fmla="*/ 1553 h 3366"/>
                <a:gd name="T24" fmla="*/ 3217 w 3366"/>
                <a:gd name="T25" fmla="*/ 1318 h 3366"/>
                <a:gd name="T26" fmla="*/ 3150 w 3366"/>
                <a:gd name="T27" fmla="*/ 1083 h 3366"/>
                <a:gd name="T28" fmla="*/ 2973 w 3366"/>
                <a:gd name="T29" fmla="*/ 925 h 3366"/>
                <a:gd name="T30" fmla="*/ 2751 w 3366"/>
                <a:gd name="T31" fmla="*/ 882 h 3366"/>
                <a:gd name="T32" fmla="*/ 2614 w 3366"/>
                <a:gd name="T33" fmla="*/ 910 h 3366"/>
                <a:gd name="T34" fmla="*/ 2540 w 3366"/>
                <a:gd name="T35" fmla="*/ 937 h 3366"/>
                <a:gd name="T36" fmla="*/ 2547 w 3366"/>
                <a:gd name="T37" fmla="*/ 898 h 3366"/>
                <a:gd name="T38" fmla="*/ 2559 w 3366"/>
                <a:gd name="T39" fmla="*/ 767 h 3366"/>
                <a:gd name="T40" fmla="*/ 2486 w 3366"/>
                <a:gd name="T41" fmla="*/ 481 h 3366"/>
                <a:gd name="T42" fmla="*/ 2293 w 3366"/>
                <a:gd name="T43" fmla="*/ 268 h 3366"/>
                <a:gd name="T44" fmla="*/ 2020 w 3366"/>
                <a:gd name="T45" fmla="*/ 168 h 3366"/>
                <a:gd name="T46" fmla="*/ 1787 w 3366"/>
                <a:gd name="T47" fmla="*/ 191 h 3366"/>
                <a:gd name="T48" fmla="*/ 1627 w 3366"/>
                <a:gd name="T49" fmla="*/ 266 h 3366"/>
                <a:gd name="T50" fmla="*/ 1537 w 3366"/>
                <a:gd name="T51" fmla="*/ 336 h 3366"/>
                <a:gd name="T52" fmla="*/ 1515 w 3366"/>
                <a:gd name="T53" fmla="*/ 343 h 3366"/>
                <a:gd name="T54" fmla="*/ 1447 w 3366"/>
                <a:gd name="T55" fmla="*/ 274 h 3366"/>
                <a:gd name="T56" fmla="*/ 1314 w 3366"/>
                <a:gd name="T57" fmla="*/ 187 h 3366"/>
                <a:gd name="T58" fmla="*/ 1129 w 3366"/>
                <a:gd name="T59" fmla="*/ 144 h 3366"/>
                <a:gd name="T60" fmla="*/ 1346 w 3366"/>
                <a:gd name="T61" fmla="*/ 40 h 3366"/>
                <a:gd name="T62" fmla="*/ 1583 w 3366"/>
                <a:gd name="T63" fmla="*/ 116 h 3366"/>
                <a:gd name="T64" fmla="*/ 1891 w 3366"/>
                <a:gd name="T65" fmla="*/ 18 h 3366"/>
                <a:gd name="T66" fmla="*/ 2212 w 3366"/>
                <a:gd name="T67" fmla="*/ 60 h 3366"/>
                <a:gd name="T68" fmla="*/ 2477 w 3366"/>
                <a:gd name="T69" fmla="*/ 227 h 3366"/>
                <a:gd name="T70" fmla="*/ 2651 w 3366"/>
                <a:gd name="T71" fmla="*/ 489 h 3366"/>
                <a:gd name="T72" fmla="*/ 2730 w 3366"/>
                <a:gd name="T73" fmla="*/ 741 h 3366"/>
                <a:gd name="T74" fmla="*/ 2960 w 3366"/>
                <a:gd name="T75" fmla="*/ 764 h 3366"/>
                <a:gd name="T76" fmla="*/ 3197 w 3366"/>
                <a:gd name="T77" fmla="*/ 908 h 3366"/>
                <a:gd name="T78" fmla="*/ 3341 w 3366"/>
                <a:gd name="T79" fmla="*/ 1145 h 3366"/>
                <a:gd name="T80" fmla="*/ 3354 w 3366"/>
                <a:gd name="T81" fmla="*/ 1435 h 3366"/>
                <a:gd name="T82" fmla="*/ 3231 w 3366"/>
                <a:gd name="T83" fmla="*/ 1688 h 3366"/>
                <a:gd name="T84" fmla="*/ 3007 w 3366"/>
                <a:gd name="T85" fmla="*/ 1852 h 3366"/>
                <a:gd name="T86" fmla="*/ 1751 w 3366"/>
                <a:gd name="T87" fmla="*/ 1898 h 3366"/>
                <a:gd name="T88" fmla="*/ 3287 w 3366"/>
                <a:gd name="T89" fmla="*/ 3008 h 3366"/>
                <a:gd name="T90" fmla="*/ 71 w 3366"/>
                <a:gd name="T91" fmla="*/ 3008 h 3366"/>
                <a:gd name="T92" fmla="*/ 1608 w 3366"/>
                <a:gd name="T93" fmla="*/ 1898 h 3366"/>
                <a:gd name="T94" fmla="*/ 511 w 3366"/>
                <a:gd name="T95" fmla="*/ 1849 h 3366"/>
                <a:gd name="T96" fmla="*/ 230 w 3366"/>
                <a:gd name="T97" fmla="*/ 1668 h 3366"/>
                <a:gd name="T98" fmla="*/ 49 w 3366"/>
                <a:gd name="T99" fmla="*/ 1386 h 3366"/>
                <a:gd name="T100" fmla="*/ 3 w 3366"/>
                <a:gd name="T101" fmla="*/ 1042 h 3366"/>
                <a:gd name="T102" fmla="*/ 98 w 3366"/>
                <a:gd name="T103" fmla="*/ 729 h 3366"/>
                <a:gd name="T104" fmla="*/ 306 w 3366"/>
                <a:gd name="T105" fmla="*/ 486 h 3366"/>
                <a:gd name="T106" fmla="*/ 601 w 3366"/>
                <a:gd name="T107" fmla="*/ 344 h 3366"/>
                <a:gd name="T108" fmla="*/ 772 w 3366"/>
                <a:gd name="T109" fmla="*/ 126 h 3366"/>
                <a:gd name="T110" fmla="*/ 1023 w 3366"/>
                <a:gd name="T111" fmla="*/ 11 h 3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366" h="3366">
                  <a:moveTo>
                    <a:pt x="1036" y="2650"/>
                  </a:moveTo>
                  <a:lnTo>
                    <a:pt x="1036" y="3222"/>
                  </a:lnTo>
                  <a:lnTo>
                    <a:pt x="2323" y="3222"/>
                  </a:lnTo>
                  <a:lnTo>
                    <a:pt x="2323" y="2650"/>
                  </a:lnTo>
                  <a:lnTo>
                    <a:pt x="1036" y="2650"/>
                  </a:lnTo>
                  <a:close/>
                  <a:moveTo>
                    <a:pt x="1129" y="144"/>
                  </a:moveTo>
                  <a:lnTo>
                    <a:pt x="1078" y="146"/>
                  </a:lnTo>
                  <a:lnTo>
                    <a:pt x="1030" y="155"/>
                  </a:lnTo>
                  <a:lnTo>
                    <a:pt x="983" y="168"/>
                  </a:lnTo>
                  <a:lnTo>
                    <a:pt x="938" y="187"/>
                  </a:lnTo>
                  <a:lnTo>
                    <a:pt x="897" y="209"/>
                  </a:lnTo>
                  <a:lnTo>
                    <a:pt x="857" y="237"/>
                  </a:lnTo>
                  <a:lnTo>
                    <a:pt x="821" y="268"/>
                  </a:lnTo>
                  <a:lnTo>
                    <a:pt x="787" y="303"/>
                  </a:lnTo>
                  <a:lnTo>
                    <a:pt x="759" y="343"/>
                  </a:lnTo>
                  <a:lnTo>
                    <a:pt x="734" y="385"/>
                  </a:lnTo>
                  <a:lnTo>
                    <a:pt x="714" y="430"/>
                  </a:lnTo>
                  <a:lnTo>
                    <a:pt x="664" y="480"/>
                  </a:lnTo>
                  <a:lnTo>
                    <a:pt x="606" y="495"/>
                  </a:lnTo>
                  <a:lnTo>
                    <a:pt x="549" y="514"/>
                  </a:lnTo>
                  <a:lnTo>
                    <a:pt x="495" y="538"/>
                  </a:lnTo>
                  <a:lnTo>
                    <a:pt x="444" y="567"/>
                  </a:lnTo>
                  <a:lnTo>
                    <a:pt x="396" y="601"/>
                  </a:lnTo>
                  <a:lnTo>
                    <a:pt x="351" y="638"/>
                  </a:lnTo>
                  <a:lnTo>
                    <a:pt x="310" y="679"/>
                  </a:lnTo>
                  <a:lnTo>
                    <a:pt x="273" y="724"/>
                  </a:lnTo>
                  <a:lnTo>
                    <a:pt x="240" y="772"/>
                  </a:lnTo>
                  <a:lnTo>
                    <a:pt x="211" y="823"/>
                  </a:lnTo>
                  <a:lnTo>
                    <a:pt x="188" y="876"/>
                  </a:lnTo>
                  <a:lnTo>
                    <a:pt x="168" y="932"/>
                  </a:lnTo>
                  <a:lnTo>
                    <a:pt x="154" y="989"/>
                  </a:lnTo>
                  <a:lnTo>
                    <a:pt x="146" y="1050"/>
                  </a:lnTo>
                  <a:lnTo>
                    <a:pt x="143" y="1110"/>
                  </a:lnTo>
                  <a:lnTo>
                    <a:pt x="146" y="1172"/>
                  </a:lnTo>
                  <a:lnTo>
                    <a:pt x="154" y="1233"/>
                  </a:lnTo>
                  <a:lnTo>
                    <a:pt x="168" y="1291"/>
                  </a:lnTo>
                  <a:lnTo>
                    <a:pt x="188" y="1348"/>
                  </a:lnTo>
                  <a:lnTo>
                    <a:pt x="211" y="1401"/>
                  </a:lnTo>
                  <a:lnTo>
                    <a:pt x="241" y="1452"/>
                  </a:lnTo>
                  <a:lnTo>
                    <a:pt x="273" y="1500"/>
                  </a:lnTo>
                  <a:lnTo>
                    <a:pt x="310" y="1545"/>
                  </a:lnTo>
                  <a:lnTo>
                    <a:pt x="351" y="1587"/>
                  </a:lnTo>
                  <a:lnTo>
                    <a:pt x="396" y="1624"/>
                  </a:lnTo>
                  <a:lnTo>
                    <a:pt x="444" y="1658"/>
                  </a:lnTo>
                  <a:lnTo>
                    <a:pt x="495" y="1686"/>
                  </a:lnTo>
                  <a:lnTo>
                    <a:pt x="549" y="1710"/>
                  </a:lnTo>
                  <a:lnTo>
                    <a:pt x="605" y="1729"/>
                  </a:lnTo>
                  <a:lnTo>
                    <a:pt x="663" y="1743"/>
                  </a:lnTo>
                  <a:lnTo>
                    <a:pt x="723" y="1752"/>
                  </a:lnTo>
                  <a:lnTo>
                    <a:pt x="785" y="1755"/>
                  </a:lnTo>
                  <a:lnTo>
                    <a:pt x="2781" y="1755"/>
                  </a:lnTo>
                  <a:lnTo>
                    <a:pt x="2832" y="1752"/>
                  </a:lnTo>
                  <a:lnTo>
                    <a:pt x="2882" y="1744"/>
                  </a:lnTo>
                  <a:lnTo>
                    <a:pt x="2928" y="1730"/>
                  </a:lnTo>
                  <a:lnTo>
                    <a:pt x="2973" y="1712"/>
                  </a:lnTo>
                  <a:lnTo>
                    <a:pt x="3015" y="1688"/>
                  </a:lnTo>
                  <a:lnTo>
                    <a:pt x="3055" y="1660"/>
                  </a:lnTo>
                  <a:lnTo>
                    <a:pt x="3090" y="1628"/>
                  </a:lnTo>
                  <a:lnTo>
                    <a:pt x="3122" y="1592"/>
                  </a:lnTo>
                  <a:lnTo>
                    <a:pt x="3150" y="1553"/>
                  </a:lnTo>
                  <a:lnTo>
                    <a:pt x="3173" y="1512"/>
                  </a:lnTo>
                  <a:lnTo>
                    <a:pt x="3192" y="1467"/>
                  </a:lnTo>
                  <a:lnTo>
                    <a:pt x="3206" y="1419"/>
                  </a:lnTo>
                  <a:lnTo>
                    <a:pt x="3214" y="1370"/>
                  </a:lnTo>
                  <a:lnTo>
                    <a:pt x="3217" y="1318"/>
                  </a:lnTo>
                  <a:lnTo>
                    <a:pt x="3214" y="1267"/>
                  </a:lnTo>
                  <a:lnTo>
                    <a:pt x="3206" y="1217"/>
                  </a:lnTo>
                  <a:lnTo>
                    <a:pt x="3192" y="1170"/>
                  </a:lnTo>
                  <a:lnTo>
                    <a:pt x="3173" y="1125"/>
                  </a:lnTo>
                  <a:lnTo>
                    <a:pt x="3150" y="1083"/>
                  </a:lnTo>
                  <a:lnTo>
                    <a:pt x="3122" y="1043"/>
                  </a:lnTo>
                  <a:lnTo>
                    <a:pt x="3090" y="1009"/>
                  </a:lnTo>
                  <a:lnTo>
                    <a:pt x="3055" y="976"/>
                  </a:lnTo>
                  <a:lnTo>
                    <a:pt x="3015" y="949"/>
                  </a:lnTo>
                  <a:lnTo>
                    <a:pt x="2973" y="925"/>
                  </a:lnTo>
                  <a:lnTo>
                    <a:pt x="2928" y="907"/>
                  </a:lnTo>
                  <a:lnTo>
                    <a:pt x="2882" y="893"/>
                  </a:lnTo>
                  <a:lnTo>
                    <a:pt x="2832" y="884"/>
                  </a:lnTo>
                  <a:lnTo>
                    <a:pt x="2781" y="881"/>
                  </a:lnTo>
                  <a:lnTo>
                    <a:pt x="2751" y="882"/>
                  </a:lnTo>
                  <a:lnTo>
                    <a:pt x="2721" y="885"/>
                  </a:lnTo>
                  <a:lnTo>
                    <a:pt x="2692" y="890"/>
                  </a:lnTo>
                  <a:lnTo>
                    <a:pt x="2664" y="897"/>
                  </a:lnTo>
                  <a:lnTo>
                    <a:pt x="2638" y="903"/>
                  </a:lnTo>
                  <a:lnTo>
                    <a:pt x="2614" y="910"/>
                  </a:lnTo>
                  <a:lnTo>
                    <a:pt x="2593" y="917"/>
                  </a:lnTo>
                  <a:lnTo>
                    <a:pt x="2573" y="923"/>
                  </a:lnTo>
                  <a:lnTo>
                    <a:pt x="2558" y="929"/>
                  </a:lnTo>
                  <a:lnTo>
                    <a:pt x="2547" y="934"/>
                  </a:lnTo>
                  <a:lnTo>
                    <a:pt x="2540" y="937"/>
                  </a:lnTo>
                  <a:lnTo>
                    <a:pt x="2538" y="938"/>
                  </a:lnTo>
                  <a:lnTo>
                    <a:pt x="2539" y="935"/>
                  </a:lnTo>
                  <a:lnTo>
                    <a:pt x="2540" y="927"/>
                  </a:lnTo>
                  <a:lnTo>
                    <a:pt x="2543" y="915"/>
                  </a:lnTo>
                  <a:lnTo>
                    <a:pt x="2547" y="898"/>
                  </a:lnTo>
                  <a:lnTo>
                    <a:pt x="2550" y="876"/>
                  </a:lnTo>
                  <a:lnTo>
                    <a:pt x="2553" y="853"/>
                  </a:lnTo>
                  <a:lnTo>
                    <a:pt x="2556" y="826"/>
                  </a:lnTo>
                  <a:lnTo>
                    <a:pt x="2558" y="797"/>
                  </a:lnTo>
                  <a:lnTo>
                    <a:pt x="2559" y="767"/>
                  </a:lnTo>
                  <a:lnTo>
                    <a:pt x="2556" y="706"/>
                  </a:lnTo>
                  <a:lnTo>
                    <a:pt x="2547" y="646"/>
                  </a:lnTo>
                  <a:lnTo>
                    <a:pt x="2532" y="589"/>
                  </a:lnTo>
                  <a:lnTo>
                    <a:pt x="2511" y="533"/>
                  </a:lnTo>
                  <a:lnTo>
                    <a:pt x="2486" y="481"/>
                  </a:lnTo>
                  <a:lnTo>
                    <a:pt x="2455" y="431"/>
                  </a:lnTo>
                  <a:lnTo>
                    <a:pt x="2420" y="385"/>
                  </a:lnTo>
                  <a:lnTo>
                    <a:pt x="2382" y="342"/>
                  </a:lnTo>
                  <a:lnTo>
                    <a:pt x="2339" y="303"/>
                  </a:lnTo>
                  <a:lnTo>
                    <a:pt x="2293" y="268"/>
                  </a:lnTo>
                  <a:lnTo>
                    <a:pt x="2244" y="238"/>
                  </a:lnTo>
                  <a:lnTo>
                    <a:pt x="2191" y="212"/>
                  </a:lnTo>
                  <a:lnTo>
                    <a:pt x="2136" y="192"/>
                  </a:lnTo>
                  <a:lnTo>
                    <a:pt x="2079" y="177"/>
                  </a:lnTo>
                  <a:lnTo>
                    <a:pt x="2020" y="168"/>
                  </a:lnTo>
                  <a:lnTo>
                    <a:pt x="1958" y="165"/>
                  </a:lnTo>
                  <a:lnTo>
                    <a:pt x="1913" y="166"/>
                  </a:lnTo>
                  <a:lnTo>
                    <a:pt x="1869" y="172"/>
                  </a:lnTo>
                  <a:lnTo>
                    <a:pt x="1827" y="181"/>
                  </a:lnTo>
                  <a:lnTo>
                    <a:pt x="1787" y="191"/>
                  </a:lnTo>
                  <a:lnTo>
                    <a:pt x="1750" y="204"/>
                  </a:lnTo>
                  <a:lnTo>
                    <a:pt x="1716" y="218"/>
                  </a:lnTo>
                  <a:lnTo>
                    <a:pt x="1683" y="234"/>
                  </a:lnTo>
                  <a:lnTo>
                    <a:pt x="1653" y="250"/>
                  </a:lnTo>
                  <a:lnTo>
                    <a:pt x="1627" y="266"/>
                  </a:lnTo>
                  <a:lnTo>
                    <a:pt x="1602" y="283"/>
                  </a:lnTo>
                  <a:lnTo>
                    <a:pt x="1582" y="298"/>
                  </a:lnTo>
                  <a:lnTo>
                    <a:pt x="1564" y="312"/>
                  </a:lnTo>
                  <a:lnTo>
                    <a:pt x="1548" y="325"/>
                  </a:lnTo>
                  <a:lnTo>
                    <a:pt x="1537" y="336"/>
                  </a:lnTo>
                  <a:lnTo>
                    <a:pt x="1529" y="344"/>
                  </a:lnTo>
                  <a:lnTo>
                    <a:pt x="1523" y="349"/>
                  </a:lnTo>
                  <a:lnTo>
                    <a:pt x="1522" y="351"/>
                  </a:lnTo>
                  <a:lnTo>
                    <a:pt x="1520" y="349"/>
                  </a:lnTo>
                  <a:lnTo>
                    <a:pt x="1515" y="343"/>
                  </a:lnTo>
                  <a:lnTo>
                    <a:pt x="1508" y="334"/>
                  </a:lnTo>
                  <a:lnTo>
                    <a:pt x="1496" y="322"/>
                  </a:lnTo>
                  <a:lnTo>
                    <a:pt x="1483" y="308"/>
                  </a:lnTo>
                  <a:lnTo>
                    <a:pt x="1466" y="292"/>
                  </a:lnTo>
                  <a:lnTo>
                    <a:pt x="1447" y="274"/>
                  </a:lnTo>
                  <a:lnTo>
                    <a:pt x="1425" y="256"/>
                  </a:lnTo>
                  <a:lnTo>
                    <a:pt x="1401" y="238"/>
                  </a:lnTo>
                  <a:lnTo>
                    <a:pt x="1374" y="220"/>
                  </a:lnTo>
                  <a:lnTo>
                    <a:pt x="1345" y="203"/>
                  </a:lnTo>
                  <a:lnTo>
                    <a:pt x="1314" y="187"/>
                  </a:lnTo>
                  <a:lnTo>
                    <a:pt x="1281" y="172"/>
                  </a:lnTo>
                  <a:lnTo>
                    <a:pt x="1245" y="161"/>
                  </a:lnTo>
                  <a:lnTo>
                    <a:pt x="1209" y="152"/>
                  </a:lnTo>
                  <a:lnTo>
                    <a:pt x="1169" y="146"/>
                  </a:lnTo>
                  <a:lnTo>
                    <a:pt x="1129" y="144"/>
                  </a:lnTo>
                  <a:close/>
                  <a:moveTo>
                    <a:pt x="1136" y="0"/>
                  </a:moveTo>
                  <a:lnTo>
                    <a:pt x="1189" y="3"/>
                  </a:lnTo>
                  <a:lnTo>
                    <a:pt x="1242" y="10"/>
                  </a:lnTo>
                  <a:lnTo>
                    <a:pt x="1295" y="23"/>
                  </a:lnTo>
                  <a:lnTo>
                    <a:pt x="1346" y="40"/>
                  </a:lnTo>
                  <a:lnTo>
                    <a:pt x="1395" y="62"/>
                  </a:lnTo>
                  <a:lnTo>
                    <a:pt x="1442" y="88"/>
                  </a:lnTo>
                  <a:lnTo>
                    <a:pt x="1487" y="117"/>
                  </a:lnTo>
                  <a:lnTo>
                    <a:pt x="1529" y="151"/>
                  </a:lnTo>
                  <a:lnTo>
                    <a:pt x="1583" y="116"/>
                  </a:lnTo>
                  <a:lnTo>
                    <a:pt x="1640" y="87"/>
                  </a:lnTo>
                  <a:lnTo>
                    <a:pt x="1699" y="61"/>
                  </a:lnTo>
                  <a:lnTo>
                    <a:pt x="1762" y="42"/>
                  </a:lnTo>
                  <a:lnTo>
                    <a:pt x="1825" y="28"/>
                  </a:lnTo>
                  <a:lnTo>
                    <a:pt x="1891" y="18"/>
                  </a:lnTo>
                  <a:lnTo>
                    <a:pt x="1957" y="15"/>
                  </a:lnTo>
                  <a:lnTo>
                    <a:pt x="2024" y="18"/>
                  </a:lnTo>
                  <a:lnTo>
                    <a:pt x="2089" y="27"/>
                  </a:lnTo>
                  <a:lnTo>
                    <a:pt x="2151" y="41"/>
                  </a:lnTo>
                  <a:lnTo>
                    <a:pt x="2212" y="60"/>
                  </a:lnTo>
                  <a:lnTo>
                    <a:pt x="2271" y="85"/>
                  </a:lnTo>
                  <a:lnTo>
                    <a:pt x="2327" y="114"/>
                  </a:lnTo>
                  <a:lnTo>
                    <a:pt x="2380" y="148"/>
                  </a:lnTo>
                  <a:lnTo>
                    <a:pt x="2431" y="186"/>
                  </a:lnTo>
                  <a:lnTo>
                    <a:pt x="2477" y="227"/>
                  </a:lnTo>
                  <a:lnTo>
                    <a:pt x="2520" y="273"/>
                  </a:lnTo>
                  <a:lnTo>
                    <a:pt x="2559" y="322"/>
                  </a:lnTo>
                  <a:lnTo>
                    <a:pt x="2594" y="374"/>
                  </a:lnTo>
                  <a:lnTo>
                    <a:pt x="2624" y="430"/>
                  </a:lnTo>
                  <a:lnTo>
                    <a:pt x="2651" y="489"/>
                  </a:lnTo>
                  <a:lnTo>
                    <a:pt x="2671" y="550"/>
                  </a:lnTo>
                  <a:lnTo>
                    <a:pt x="2687" y="613"/>
                  </a:lnTo>
                  <a:lnTo>
                    <a:pt x="2697" y="678"/>
                  </a:lnTo>
                  <a:lnTo>
                    <a:pt x="2701" y="746"/>
                  </a:lnTo>
                  <a:lnTo>
                    <a:pt x="2730" y="741"/>
                  </a:lnTo>
                  <a:lnTo>
                    <a:pt x="2758" y="738"/>
                  </a:lnTo>
                  <a:lnTo>
                    <a:pt x="2787" y="738"/>
                  </a:lnTo>
                  <a:lnTo>
                    <a:pt x="2847" y="742"/>
                  </a:lnTo>
                  <a:lnTo>
                    <a:pt x="2904" y="750"/>
                  </a:lnTo>
                  <a:lnTo>
                    <a:pt x="2960" y="764"/>
                  </a:lnTo>
                  <a:lnTo>
                    <a:pt x="3013" y="783"/>
                  </a:lnTo>
                  <a:lnTo>
                    <a:pt x="3064" y="808"/>
                  </a:lnTo>
                  <a:lnTo>
                    <a:pt x="3111" y="837"/>
                  </a:lnTo>
                  <a:lnTo>
                    <a:pt x="3156" y="870"/>
                  </a:lnTo>
                  <a:lnTo>
                    <a:pt x="3197" y="908"/>
                  </a:lnTo>
                  <a:lnTo>
                    <a:pt x="3234" y="949"/>
                  </a:lnTo>
                  <a:lnTo>
                    <a:pt x="3267" y="993"/>
                  </a:lnTo>
                  <a:lnTo>
                    <a:pt x="3297" y="1041"/>
                  </a:lnTo>
                  <a:lnTo>
                    <a:pt x="3321" y="1091"/>
                  </a:lnTo>
                  <a:lnTo>
                    <a:pt x="3341" y="1145"/>
                  </a:lnTo>
                  <a:lnTo>
                    <a:pt x="3355" y="1201"/>
                  </a:lnTo>
                  <a:lnTo>
                    <a:pt x="3363" y="1259"/>
                  </a:lnTo>
                  <a:lnTo>
                    <a:pt x="3366" y="1318"/>
                  </a:lnTo>
                  <a:lnTo>
                    <a:pt x="3363" y="1378"/>
                  </a:lnTo>
                  <a:lnTo>
                    <a:pt x="3354" y="1435"/>
                  </a:lnTo>
                  <a:lnTo>
                    <a:pt x="3339" y="1491"/>
                  </a:lnTo>
                  <a:lnTo>
                    <a:pt x="3320" y="1544"/>
                  </a:lnTo>
                  <a:lnTo>
                    <a:pt x="3295" y="1595"/>
                  </a:lnTo>
                  <a:lnTo>
                    <a:pt x="3265" y="1643"/>
                  </a:lnTo>
                  <a:lnTo>
                    <a:pt x="3231" y="1688"/>
                  </a:lnTo>
                  <a:lnTo>
                    <a:pt x="3194" y="1729"/>
                  </a:lnTo>
                  <a:lnTo>
                    <a:pt x="3152" y="1767"/>
                  </a:lnTo>
                  <a:lnTo>
                    <a:pt x="3107" y="1799"/>
                  </a:lnTo>
                  <a:lnTo>
                    <a:pt x="3058" y="1829"/>
                  </a:lnTo>
                  <a:lnTo>
                    <a:pt x="3007" y="1852"/>
                  </a:lnTo>
                  <a:lnTo>
                    <a:pt x="2954" y="1872"/>
                  </a:lnTo>
                  <a:lnTo>
                    <a:pt x="2898" y="1886"/>
                  </a:lnTo>
                  <a:lnTo>
                    <a:pt x="2840" y="1895"/>
                  </a:lnTo>
                  <a:lnTo>
                    <a:pt x="2781" y="1898"/>
                  </a:lnTo>
                  <a:lnTo>
                    <a:pt x="1751" y="1898"/>
                  </a:lnTo>
                  <a:lnTo>
                    <a:pt x="1751" y="2507"/>
                  </a:lnTo>
                  <a:lnTo>
                    <a:pt x="2465" y="2507"/>
                  </a:lnTo>
                  <a:lnTo>
                    <a:pt x="2465" y="2864"/>
                  </a:lnTo>
                  <a:lnTo>
                    <a:pt x="3287" y="2864"/>
                  </a:lnTo>
                  <a:lnTo>
                    <a:pt x="3287" y="3008"/>
                  </a:lnTo>
                  <a:lnTo>
                    <a:pt x="2465" y="3008"/>
                  </a:lnTo>
                  <a:lnTo>
                    <a:pt x="2465" y="3366"/>
                  </a:lnTo>
                  <a:lnTo>
                    <a:pt x="894" y="3366"/>
                  </a:lnTo>
                  <a:lnTo>
                    <a:pt x="894" y="3008"/>
                  </a:lnTo>
                  <a:lnTo>
                    <a:pt x="71" y="3008"/>
                  </a:lnTo>
                  <a:lnTo>
                    <a:pt x="71" y="2864"/>
                  </a:lnTo>
                  <a:lnTo>
                    <a:pt x="894" y="2864"/>
                  </a:lnTo>
                  <a:lnTo>
                    <a:pt x="894" y="2507"/>
                  </a:lnTo>
                  <a:lnTo>
                    <a:pt x="1608" y="2507"/>
                  </a:lnTo>
                  <a:lnTo>
                    <a:pt x="1608" y="1898"/>
                  </a:lnTo>
                  <a:lnTo>
                    <a:pt x="785" y="1898"/>
                  </a:lnTo>
                  <a:lnTo>
                    <a:pt x="714" y="1895"/>
                  </a:lnTo>
                  <a:lnTo>
                    <a:pt x="645" y="1885"/>
                  </a:lnTo>
                  <a:lnTo>
                    <a:pt x="576" y="1870"/>
                  </a:lnTo>
                  <a:lnTo>
                    <a:pt x="511" y="1849"/>
                  </a:lnTo>
                  <a:lnTo>
                    <a:pt x="449" y="1823"/>
                  </a:lnTo>
                  <a:lnTo>
                    <a:pt x="389" y="1791"/>
                  </a:lnTo>
                  <a:lnTo>
                    <a:pt x="332" y="1754"/>
                  </a:lnTo>
                  <a:lnTo>
                    <a:pt x="278" y="1714"/>
                  </a:lnTo>
                  <a:lnTo>
                    <a:pt x="230" y="1668"/>
                  </a:lnTo>
                  <a:lnTo>
                    <a:pt x="185" y="1619"/>
                  </a:lnTo>
                  <a:lnTo>
                    <a:pt x="144" y="1566"/>
                  </a:lnTo>
                  <a:lnTo>
                    <a:pt x="107" y="1509"/>
                  </a:lnTo>
                  <a:lnTo>
                    <a:pt x="75" y="1448"/>
                  </a:lnTo>
                  <a:lnTo>
                    <a:pt x="49" y="1386"/>
                  </a:lnTo>
                  <a:lnTo>
                    <a:pt x="28" y="1320"/>
                  </a:lnTo>
                  <a:lnTo>
                    <a:pt x="12" y="1253"/>
                  </a:lnTo>
                  <a:lnTo>
                    <a:pt x="3" y="1182"/>
                  </a:lnTo>
                  <a:lnTo>
                    <a:pt x="0" y="1110"/>
                  </a:lnTo>
                  <a:lnTo>
                    <a:pt x="3" y="1042"/>
                  </a:lnTo>
                  <a:lnTo>
                    <a:pt x="11" y="976"/>
                  </a:lnTo>
                  <a:lnTo>
                    <a:pt x="26" y="911"/>
                  </a:lnTo>
                  <a:lnTo>
                    <a:pt x="45" y="849"/>
                  </a:lnTo>
                  <a:lnTo>
                    <a:pt x="68" y="787"/>
                  </a:lnTo>
                  <a:lnTo>
                    <a:pt x="98" y="729"/>
                  </a:lnTo>
                  <a:lnTo>
                    <a:pt x="131" y="674"/>
                  </a:lnTo>
                  <a:lnTo>
                    <a:pt x="169" y="622"/>
                  </a:lnTo>
                  <a:lnTo>
                    <a:pt x="211" y="573"/>
                  </a:lnTo>
                  <a:lnTo>
                    <a:pt x="256" y="527"/>
                  </a:lnTo>
                  <a:lnTo>
                    <a:pt x="306" y="486"/>
                  </a:lnTo>
                  <a:lnTo>
                    <a:pt x="359" y="449"/>
                  </a:lnTo>
                  <a:lnTo>
                    <a:pt x="415" y="415"/>
                  </a:lnTo>
                  <a:lnTo>
                    <a:pt x="474" y="387"/>
                  </a:lnTo>
                  <a:lnTo>
                    <a:pt x="536" y="362"/>
                  </a:lnTo>
                  <a:lnTo>
                    <a:pt x="601" y="344"/>
                  </a:lnTo>
                  <a:lnTo>
                    <a:pt x="626" y="293"/>
                  </a:lnTo>
                  <a:lnTo>
                    <a:pt x="657" y="246"/>
                  </a:lnTo>
                  <a:lnTo>
                    <a:pt x="692" y="202"/>
                  </a:lnTo>
                  <a:lnTo>
                    <a:pt x="729" y="162"/>
                  </a:lnTo>
                  <a:lnTo>
                    <a:pt x="772" y="126"/>
                  </a:lnTo>
                  <a:lnTo>
                    <a:pt x="817" y="94"/>
                  </a:lnTo>
                  <a:lnTo>
                    <a:pt x="866" y="66"/>
                  </a:lnTo>
                  <a:lnTo>
                    <a:pt x="916" y="43"/>
                  </a:lnTo>
                  <a:lnTo>
                    <a:pt x="969" y="24"/>
                  </a:lnTo>
                  <a:lnTo>
                    <a:pt x="1023" y="11"/>
                  </a:lnTo>
                  <a:lnTo>
                    <a:pt x="1079" y="3"/>
                  </a:lnTo>
                  <a:lnTo>
                    <a:pt x="1136" y="0"/>
                  </a:lnTo>
                  <a:close/>
                </a:path>
              </a:pathLst>
            </a:custGeom>
            <a:solidFill>
              <a:srgbClr val="2B2F42">
                <a:lumMod val="75000"/>
                <a:lumOff val="25000"/>
              </a:srgbClr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96" name="Picture 21495" descr="verifie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214" y="2517135"/>
            <a:ext cx="420624" cy="420624"/>
          </a:xfrm>
          <a:prstGeom prst="rect">
            <a:avLst/>
          </a:prstGeom>
        </p:spPr>
      </p:pic>
      <p:sp>
        <p:nvSpPr>
          <p:cNvPr id="21497" name="TextBox 21496"/>
          <p:cNvSpPr txBox="1"/>
          <p:nvPr/>
        </p:nvSpPr>
        <p:spPr>
          <a:xfrm>
            <a:off x="4789181" y="2331339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数据可信</a:t>
            </a:r>
          </a:p>
        </p:txBody>
      </p:sp>
      <p:sp>
        <p:nvSpPr>
          <p:cNvPr id="21498" name="TextBox 21497"/>
          <p:cNvSpPr txBox="1"/>
          <p:nvPr/>
        </p:nvSpPr>
        <p:spPr>
          <a:xfrm>
            <a:off x="4789181" y="2733675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关键数字可验证、可追溯，异常可定位、可修复</a:t>
            </a:r>
          </a:p>
        </p:txBody>
      </p:sp>
      <p:pic>
        <p:nvPicPr>
          <p:cNvPr id="21499" name="Picture 21498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214" y="3512067"/>
            <a:ext cx="420624" cy="420624"/>
          </a:xfrm>
          <a:prstGeom prst="rect">
            <a:avLst/>
          </a:prstGeom>
        </p:spPr>
      </p:pic>
      <p:sp>
        <p:nvSpPr>
          <p:cNvPr id="21500" name="TextBox 21499"/>
          <p:cNvSpPr txBox="1"/>
          <p:nvPr/>
        </p:nvSpPr>
        <p:spPr>
          <a:xfrm>
            <a:off x="4789181" y="3326271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模型可复用</a:t>
            </a:r>
          </a:p>
        </p:txBody>
      </p:sp>
      <p:sp>
        <p:nvSpPr>
          <p:cNvPr id="21501" name="TextBox 21500"/>
          <p:cNvSpPr txBox="1"/>
          <p:nvPr/>
        </p:nvSpPr>
        <p:spPr>
          <a:xfrm>
            <a:off x="4789181" y="3728607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公共模型一次建设、多处使用，新需求优先复用</a:t>
            </a:r>
          </a:p>
        </p:txBody>
      </p:sp>
      <p:pic>
        <p:nvPicPr>
          <p:cNvPr id="21502" name="Picture 21501" descr="shiel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214" y="4551055"/>
            <a:ext cx="420624" cy="420624"/>
          </a:xfrm>
          <a:prstGeom prst="rect">
            <a:avLst/>
          </a:prstGeom>
        </p:spPr>
      </p:pic>
      <p:sp>
        <p:nvSpPr>
          <p:cNvPr id="21503" name="TextBox 21502"/>
          <p:cNvSpPr txBox="1"/>
          <p:nvPr/>
        </p:nvSpPr>
        <p:spPr>
          <a:xfrm>
            <a:off x="4789181" y="4365259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服务稳定</a:t>
            </a:r>
          </a:p>
        </p:txBody>
      </p:sp>
      <p:sp>
        <p:nvSpPr>
          <p:cNvPr id="21504" name="TextBox 21503"/>
          <p:cNvSpPr txBox="1"/>
          <p:nvPr/>
        </p:nvSpPr>
        <p:spPr>
          <a:xfrm>
            <a:off x="4789181" y="4767595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接入、加工、查询、API 有监测、有隔离、可恢复</a:t>
            </a:r>
          </a:p>
        </p:txBody>
      </p:sp>
      <p:pic>
        <p:nvPicPr>
          <p:cNvPr id="21505" name="Picture 21504" descr="bol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9214" y="5446861"/>
            <a:ext cx="420624" cy="420624"/>
          </a:xfrm>
          <a:prstGeom prst="rect">
            <a:avLst/>
          </a:prstGeom>
        </p:spPr>
      </p:pic>
      <p:sp>
        <p:nvSpPr>
          <p:cNvPr id="21506" name="TextBox 21505"/>
          <p:cNvSpPr txBox="1"/>
          <p:nvPr/>
        </p:nvSpPr>
        <p:spPr>
          <a:xfrm>
            <a:off x="4789181" y="5261065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能力易扩展</a:t>
            </a:r>
          </a:p>
        </p:txBody>
      </p:sp>
      <p:sp>
        <p:nvSpPr>
          <p:cNvPr id="21507" name="TextBox 21506"/>
          <p:cNvSpPr txBox="1"/>
          <p:nvPr/>
        </p:nvSpPr>
        <p:spPr>
          <a:xfrm>
            <a:off x="4789181" y="5663401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新业务、新景区通过配置化方式快速接入</a:t>
            </a:r>
          </a:p>
        </p:txBody>
      </p:sp>
      <p:sp>
        <p:nvSpPr>
          <p:cNvPr id="21508" name="Rounded Rectangle 21507"/>
          <p:cNvSpPr/>
          <p:nvPr/>
        </p:nvSpPr>
        <p:spPr>
          <a:xfrm>
            <a:off x="658368" y="6263640"/>
            <a:ext cx="10204704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9" name="TextBox 21508"/>
          <p:cNvSpPr txBox="1"/>
          <p:nvPr/>
        </p:nvSpPr>
        <p:spPr>
          <a:xfrm>
            <a:off x="658368" y="6263640"/>
            <a:ext cx="1020470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支撑　</a:t>
            </a:r>
            <a:r>
              <a:rPr sz="1600" b="0">
                <a:solidFill>
                  <a:srgbClr val="FFFFFF"/>
                </a:solidFill>
              </a:rPr>
              <a:t>对内赋能 · 对外商业化 · 行业成果输出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总体架构：六层分层建设，治理贯穿始终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渐变色块为已有能力，白色块为新建或升级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01468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应用与服务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65960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内部经营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3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景区运营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7448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伙伴接入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行业报告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88936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数据产品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05556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91889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1782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工具服务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4375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评测运营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009644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5960" y="4009644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889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17820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43750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一键接入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713732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指标与分析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65960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企业标准指标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1889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景区自定义指标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17820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统一标签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3750" y="4713732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417820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统一底座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65960" y="5417820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DataWorks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16580" y="5417820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离线主流程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7199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1782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844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公共模型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1906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分析查询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6121908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数据来源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65960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28925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订单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91889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54854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17819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80784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43750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6715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15400" y="2601468"/>
            <a:ext cx="1947672" cy="4123944"/>
          </a:xfrm>
          <a:prstGeom prst="roundRect">
            <a:avLst>
              <a:gd name="adj" fmla="val 5633"/>
            </a:avLst>
          </a:prstGeom>
          <a:gradFill rotWithShape="1">
            <a:gsLst>
              <a:gs pos="0">
                <a:srgbClr val="776CFD"/>
              </a:gs>
              <a:gs pos="100000">
                <a:srgbClr val="655BE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98280" y="278434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FFFFFF"/>
                </a:solidFill>
              </a:rPr>
              <a:t>治理与资产</a:t>
            </a:r>
          </a:p>
          <a:p>
            <a:pPr algn="l"/>
            <a:r>
              <a:rPr sz="1400" b="1">
                <a:solidFill>
                  <a:srgbClr val="FFFFFF"/>
                </a:solidFill>
              </a:rPr>
              <a:t>贯穿各层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8280" y="3653028"/>
            <a:ext cx="164592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EDFF"/>
                </a:solidFill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数据地图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资产目录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平台组件：七组能力，在已有工具上升级与新建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04872"/>
            <a:ext cx="384048" cy="219456"/>
          </a:xfrm>
          <a:prstGeom prst="roundRect">
            <a:avLst>
              <a:gd name="adj" fmla="val 208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渐变：已有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1448" y="240487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浅紫：升级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240487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虚线：新建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数据集成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批量同步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实时采集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埋点采集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边云回传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连接器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3185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存储计算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185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离线计算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3185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3185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3185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分析引擎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534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开发运维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534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开发调度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0534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数据建模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534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发布卡点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0534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运行监控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0534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成本治理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883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数据治理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78838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883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883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883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质量与核对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7883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分级与脱敏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8838" y="5660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5232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指标标签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52329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指标中心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2329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景区指标空间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5232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标签平台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5232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统一语义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581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服务分析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25819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动态开放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5819" y="38313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581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2581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嵌入式分析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930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9309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模型网关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9309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知识检索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930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智能体工具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9930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评测反馈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99309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问数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8368" y="636422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too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78524"/>
            <a:ext cx="274320" cy="2743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52728" y="636422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DataWorks 承担批量同步、离线计算、开发调度；数据地图、血缘、质量等模块按已购情况启用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演进路径：治理筑基 → 平台统一 → 价值扩展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起点：离线主流程已贯通；达到标志才进入下一阶段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767328"/>
            <a:ext cx="3249168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5D95F1"/>
              </a:gs>
              <a:gs pos="100000">
                <a:srgbClr val="6C95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93192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第一阶段 · 可信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224528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治理筑基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727448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核心数据可信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标准 · 质量 · 核销主题域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53035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进入下一步：标准指标统一使用，关键数字对账稳定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6136" y="3264408"/>
            <a:ext cx="3249168" cy="2788920"/>
          </a:xfrm>
          <a:prstGeom prst="roundRect">
            <a:avLst>
              <a:gd name="adj" fmla="val 4918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4736" y="342900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第二阶段 · 可复用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3721608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平台统一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4224528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公共能力可复用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共享模型 · 指标与标签服务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共用能力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53035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进入下一步：公共模型成为默认来源，AI 问数稳定准确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3904" y="2761488"/>
            <a:ext cx="3249168" cy="3291840"/>
          </a:xfrm>
          <a:prstGeom prst="roundRect">
            <a:avLst>
              <a:gd name="adj" fmla="val 4221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2504" y="292608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第三阶段 · 有价值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2504" y="3218688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价值扩展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2504" y="3721608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产品价值可验证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景区自主分析 · 标准接入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应用 · 行业成果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96783" y="53035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验证方式：客户使用、续约与付费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6190488"/>
            <a:ext cx="3249168" cy="411480"/>
          </a:xfrm>
          <a:prstGeom prst="roundRect">
            <a:avLst>
              <a:gd name="adj" fmla="val 48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AI 提效治理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6136" y="6190488"/>
            <a:ext cx="3249168" cy="411480"/>
          </a:xfrm>
          <a:prstGeom prst="roundRect">
            <a:avLst>
              <a:gd name="adj" fmla="val 48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AI 成为平台原生能力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3904" y="6190488"/>
            <a:ext cx="3249168" cy="411480"/>
          </a:xfrm>
          <a:prstGeom prst="roundRect">
            <a:avLst>
              <a:gd name="adj" fmla="val 48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AI 面向业务与客户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治理筑基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先让数据可信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治理体系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规范落地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核销治理样板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数据安全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提效治理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治理体系：六项能力，覆盖从源头到 AI 的全链路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92908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839212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o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7" y="297637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54480" y="2811779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150108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命名、类型、DDL、描述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692908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3776" y="2839212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936" y="2976372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17008" y="2811779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7008" y="3150108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表、指标、标签一处可查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692908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66303" y="2839212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463" y="2976372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79536" y="2811779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9536" y="3150108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来源可解释，影响可评估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8046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382676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7" y="3963924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54480" y="37993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13766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完整、准确、及时、一致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368046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3776" y="382676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0936" y="3963924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17008" y="37993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权限管理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17008" y="413766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租户隔离、脱敏、留痕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368046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66303" y="382676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har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3463" y="3963924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79536" y="37993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9536" y="413766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版本、成本、复用、退役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79602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治理覆盖的链路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源系统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82357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165821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接入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389811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73275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加工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4897265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80729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ADS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6404718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688182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API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7912172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95636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Quick BI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419626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03090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939028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机制　</a:t>
            </a:r>
            <a:r>
              <a:rPr sz="1250" b="0">
                <a:solidFill>
                  <a:srgbClr val="FFFFFF"/>
                </a:solidFill>
              </a:rPr>
              <a:t>治理委员会裁定口径争议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20896" y="5939028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责任　</a:t>
            </a:r>
            <a:r>
              <a:rPr sz="1250" b="0">
                <a:solidFill>
                  <a:srgbClr val="FFFFFF"/>
                </a:solidFill>
              </a:rPr>
              <a:t>每个域与指标有业务、技术负责人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83424" y="5939028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卡点　</a:t>
            </a:r>
            <a:r>
              <a:rPr sz="125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规范落地：把规范从文档变成发布卡点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5748" y="2889504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dwd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5748" y="366674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分层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1588" y="2889504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45636" y="2889504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trd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5636" y="366674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主题域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1476" y="2889504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5524" y="2889504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order_item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5524" y="366674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业务过程与粒度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2964" y="2889504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7012" y="2889504"/>
            <a:ext cx="868680" cy="685800"/>
          </a:xfrm>
          <a:prstGeom prst="roundRect">
            <a:avLst>
              <a:gd name="adj" fmla="val 13333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7012" y="366674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更新方式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0682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DDL 必填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4306824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中文名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24912" y="4306824"/>
            <a:ext cx="6339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描述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0336" y="4306824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负责人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8160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安全等级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58384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生命周期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8608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分区字段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18832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字段注释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49056" y="4306824"/>
            <a:ext cx="1700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发生时间与上报时间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312664"/>
            <a:ext cx="309676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新建 · 卡点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864864" y="5724144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12336" y="5312664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存量 · 整改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核心表优先，AI 补描述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418832" y="5724144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66304" y="5312664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持续 · 运营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资产健康分，月度公示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治理样板：先把入园与核销数字做准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890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第一步　厘清四个指标，不能互相替代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核销次数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按发生时间，扣除撤销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6644" y="29763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3844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有效核销票数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至少核销一次的票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29763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入园人次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入园通行次数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596" y="29763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4796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去重游客数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去重后的游客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91939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第二步　逐层核对，差异可追溯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源端记录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50008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786634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加工明细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78274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914900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汇总指标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06540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043166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API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34806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71432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Quick BI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7252" y="5024628"/>
            <a:ext cx="0" cy="34747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504188" y="5372100"/>
            <a:ext cx="8513064" cy="0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504188" y="5024628"/>
            <a:ext cx="0" cy="347472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00400" y="5463540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B4551A"/>
                </a:solidFill>
              </a:rPr>
              <a:t>发现差异 → 追溯 → 修复 → 重算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605790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长效　</a:t>
            </a:r>
            <a:r>
              <a:rPr sz="1300" b="0">
                <a:solidFill>
                  <a:srgbClr val="FFFFFF"/>
                </a:solidFill>
              </a:rPr>
              <a:t>关键规则失败，阻断下游发布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52160" y="605790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透明　</a:t>
            </a:r>
            <a:r>
              <a:rPr sz="1300" b="0">
                <a:solidFill>
                  <a:srgbClr val="FFFFFF"/>
                </a:solidFill>
              </a:rPr>
              <a:t>看板与 API 标注更新时间和质量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数据安全：分级管控，权属清楚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数据分级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8488" y="2711196"/>
            <a:ext cx="2926080" cy="777240"/>
          </a:xfrm>
          <a:prstGeom prst="roundRect">
            <a:avLst>
              <a:gd name="adj" fmla="val 11764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L4 高敏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个人信息、人脸、政务核验结果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3598163"/>
            <a:ext cx="3566160" cy="777240"/>
          </a:xfrm>
          <a:prstGeom prst="roundRect">
            <a:avLst>
              <a:gd name="adj" fmla="val 11764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L3 敏感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单景区经营、价格、结算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" y="4485132"/>
            <a:ext cx="420624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L2 内部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日志、设备状态、匿名聚合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72100"/>
            <a:ext cx="4846320" cy="777240"/>
          </a:xfrm>
          <a:prstGeom prst="roundRect">
            <a:avLst>
              <a:gd name="adj" fmla="val 1176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L1 公开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已发布的报告与规范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权属边界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711196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景区数据　</a:t>
            </a:r>
            <a:r>
              <a:rPr sz="1250" b="0">
                <a:solidFill>
                  <a:srgbClr val="5E6478"/>
                </a:solidFill>
              </a:rPr>
              <a:t>只服务该景区本人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296412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渠道数据　</a:t>
            </a:r>
            <a:r>
              <a:rPr sz="1250" b="0">
                <a:solidFill>
                  <a:srgbClr val="5E6478"/>
                </a:solidFill>
              </a:rPr>
              <a:t>不向其他渠道披露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3881628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游客信息　</a:t>
            </a:r>
            <a:r>
              <a:rPr sz="1250" b="0">
                <a:solidFill>
                  <a:srgbClr val="5E6478"/>
                </a:solidFill>
              </a:rPr>
              <a:t>在用户授权范围内使用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4466844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政务数据　</a:t>
            </a:r>
            <a:r>
              <a:rPr sz="1250" b="0">
                <a:solidFill>
                  <a:srgbClr val="5E6478"/>
                </a:solidFill>
              </a:rPr>
              <a:t>只用核验结果，不留原始数据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5052060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外部采购　</a:t>
            </a:r>
            <a:r>
              <a:rPr sz="1250" b="0">
                <a:solidFill>
                  <a:srgbClr val="5E6478"/>
                </a:solidFill>
              </a:rPr>
              <a:t>按合同约定范围使用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5637276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对外输出　</a:t>
            </a:r>
            <a:r>
              <a:rPr sz="1250" b="0">
                <a:solidFill>
                  <a:srgbClr val="FFFFFF"/>
                </a:solidFill>
              </a:rPr>
              <a:t>仅限匿名聚合结果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638708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501384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52728" y="638708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L4 明文不进入大模型　</a:t>
            </a:r>
            <a:r>
              <a:rPr sz="1200" b="0">
                <a:solidFill>
                  <a:srgbClr val="2B2F42"/>
                </a:solidFill>
              </a:rPr>
              <a:t>字段级打标 · 脱敏 · 行列权限 · 租户隔离 · 访问留痕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提效治理：AI 先做，负责人确认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1002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5E6478"/>
                </a:solidFill>
              </a:rPr>
              <a:t>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5100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AI 先做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5100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负责人确认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75788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存量元数据补全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875788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根据表结构与 SQL 生成表和字段描述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78040" y="3040380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0" y="2875788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负责人审核后回写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43300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规范命名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543300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推荐规范的表名、字段名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78040" y="3707892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0" y="3543300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开发确认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10812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口径冲突发现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210812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识别同名异义、同义异算、相似 SQL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8040" y="4375404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0" y="4210812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治理委员会裁定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878324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质量规则推荐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4878324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按字段特征和历史数据推荐规则与阈值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78040" y="5042916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4878324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技术负责人确认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45836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敏感字段识别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5545836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自动识别证件、手机号、人脸并打标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78040" y="5710427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5545836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安全负责人复核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213348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异常根因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6213348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结合血缘给出可能原因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178040" y="6377940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6213348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值班处理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平台统一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一份数据、一套口径、一个出口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统一底座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离线与湖仓合一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主题域补齐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指标体系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统一标签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自助分析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统一数据服务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统一底座：一份存储、一套模型、两种计算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离线与实时是两种计算方式，湖仓负责统一存储与管理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843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415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6987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设备事件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155947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行为日志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131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057400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04872" y="2784348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统一接入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接入规范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对象标识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负责人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66744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14215" y="2784348"/>
            <a:ext cx="3566160" cy="2212848"/>
          </a:xfrm>
          <a:prstGeom prst="roundRect">
            <a:avLst>
              <a:gd name="adj" fmla="val 6198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2875788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湖仓一体 · 公共模型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7096" y="3268980"/>
            <a:ext cx="3200400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离线计算 · DataWorks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7096" y="3726180"/>
            <a:ext cx="3200400" cy="384048"/>
          </a:xfrm>
          <a:prstGeom prst="roundRect">
            <a:avLst>
              <a:gd name="adj" fmla="val 23809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B2F42"/>
                </a:solidFill>
              </a:rPr>
              <a:t>实时计算 · 订单、核销先行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7096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ODS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8148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9201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DIM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254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01307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461314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776CFD"/>
                </a:solidFill>
              </a:rPr>
              <a:t>共享业务定义与质量规则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653527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01000" y="2784348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分析查询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稳定查询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负载隔离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262872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10344" y="2875788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0344" y="3589020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10344" y="4302252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3446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稳定与扩展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结构变更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70324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失败恢复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27801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补数重算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85278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租户隔离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42755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高峰压测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6076188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databas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90488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52728" y="6076188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预期产出　</a:t>
            </a:r>
            <a:r>
              <a:rPr sz="1200" b="0">
                <a:solidFill>
                  <a:srgbClr val="2B2F42"/>
                </a:solidFill>
              </a:rPr>
              <a:t>统一接入、离线与实时处理、湖仓底座、公共模型及标准数据集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离线与湖仓合一：同一逻辑只写一遍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38044"/>
            <a:ext cx="4663440" cy="2331720"/>
          </a:xfrm>
          <a:prstGeom prst="roundRect">
            <a:avLst>
              <a:gd name="adj" fmla="val 5882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5691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现状：两条链路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2404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35607" y="3232404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05456" y="3351276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34056" y="3232404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离线模型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03903" y="3351276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32503" y="3232404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79933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湖仓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35607" y="3799332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505456" y="3918204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34056" y="3799332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湖仓模型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03903" y="3918204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32503" y="3799332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466844"/>
            <a:ext cx="429767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4551A"/>
                </a:solidFill>
              </a:rPr>
              <a:t>同一逻辑写两遍 · 结果对不上 · 改口径要改多处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413247" y="3598164"/>
            <a:ext cx="411480" cy="34747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16168" y="2638044"/>
            <a:ext cx="4946904" cy="2331720"/>
          </a:xfrm>
          <a:prstGeom prst="roundRect">
            <a:avLst>
              <a:gd name="adj" fmla="val 5882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275691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目标：一个底座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159252"/>
            <a:ext cx="4489704" cy="41148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公共层 DWD · DIM · DWS（只建一次）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671316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离线计算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5340" y="3671316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8289036" y="4101084"/>
            <a:ext cx="201168" cy="22860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44768" y="4375404"/>
            <a:ext cx="4489704" cy="411480"/>
          </a:xfrm>
          <a:prstGeom prst="roundRect">
            <a:avLst>
              <a:gd name="adj" fmla="val 2222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统一指标 → BI · API ·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24408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合并步骤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盘点重叠模型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465222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776118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确定保留版本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582972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893868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下游改为引用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700723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11619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双跑对比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818473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29369" y="5609844"/>
            <a:ext cx="1733702" cy="54864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下线重复模型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4136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存量不动、增量按新规范，双跑通过后逐域切换，保留回滚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主题域补齐：以主流程为基线，按价值排序推进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对照产品全景：主流程已覆盖交易，业态、设备、财务、会员与感知数据待补齐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10028"/>
            <a:ext cx="2743200" cy="352044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182880" bIns="91440"/>
          <a:lstStyle/>
          <a:p>
            <a:pPr algn="l"/>
            <a:r>
              <a:rPr sz="1200" b="1">
                <a:solidFill>
                  <a:srgbClr val="EEEDFF"/>
                </a:solidFill>
              </a:rPr>
              <a:t>基线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离线主流程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已贯通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供应商 / 游客 / 会员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→ 订单 → 维度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20440" y="4110228"/>
            <a:ext cx="384048" cy="32918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510028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优先补齐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B4551A"/>
                </a:solidFill>
              </a:rPr>
              <a:t>1 · 治理样板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核销履约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闸机 · 网关 · 终端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9544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渠道分销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分销 · 报团 · 返利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9888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结算财务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报表 · 对账 · 发票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338828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后续补齐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商品资源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票种 · 库存 · 价格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21958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业态消费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乐园 · 演出 · 酒店 · 餐饮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4716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6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会员营销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年卡 · 积分 · 全民营销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7474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7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设备感知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设备 · 智能体 · SaaS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6350508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64808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52728" y="6350508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复用公共维度　</a:t>
            </a:r>
            <a:r>
              <a:rPr sz="1300" b="0">
                <a:solidFill>
                  <a:srgbClr val="2B2F42"/>
                </a:solidFill>
              </a:rPr>
              <a:t>租户 · 景区 · 商品 · 渠道 · 时间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指标体系：企业统一标准，景区保留专属定义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同一出口，按景区隔离；同名不能覆盖企业标准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069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公共模型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明细 · 维度 · 汇总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560320"/>
            <a:ext cx="3200400" cy="1234440"/>
          </a:xfrm>
          <a:prstGeom prst="roundRect">
            <a:avLst>
              <a:gd name="adj" fmla="val 7407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企业标准指标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统一定义 · 版本管理 · 业务认证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498348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510235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景区自定义指标空间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6008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68696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608076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相互隔离，只服务本景区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260604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2672" y="416052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62672" y="57150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 问数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87168" y="4526280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71800" y="3177540"/>
            <a:ext cx="0" cy="272034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71800" y="3177540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971800" y="5897880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675120" y="3177540"/>
            <a:ext cx="502920" cy="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178040" y="2971800"/>
            <a:ext cx="0" cy="310896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78040" y="297180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78040" y="452628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78040" y="608076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5897880"/>
            <a:ext cx="502920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074920" y="3794760"/>
            <a:ext cx="0" cy="1188720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93792" y="4224528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B4551A"/>
                </a:solidFill>
              </a:rPr>
              <a:t>评审后沉淀为标准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统一标签：一处生产，多处复用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OneID：订单、会员、年卡、人脸识别归并为同一游客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e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825496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27048" y="269748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统一生产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081528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基于 DIM / DWS 公共模型加工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877055" y="2990088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97096" y="2578608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2825496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65776" y="269748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3081528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口径 · 负责人 · 生命周期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415783" y="2990088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35824" y="2578608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2825496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04504" y="269748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4504" y="3081528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营销 · 分析 · AI · 景区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90448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标签对象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92808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 / 会员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14292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5777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景区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57262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78747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商品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77316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标签类型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92808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基础属性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景区类型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会员等级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69664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统计类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近 30 天购票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客单价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20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规则类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高频复购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夜游偏好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模型预测类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流失风险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复购倾向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824728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ock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96188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5824728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边界　</a:t>
            </a:r>
            <a:r>
              <a:rPr sz="1300" b="0">
                <a:solidFill>
                  <a:srgbClr val="2B2F42"/>
                </a:solidFill>
              </a:rPr>
              <a:t>景区只用本景区标签 · 不做敏感个人信息标签 · 对外不提供个体标签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10528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指标回答“有多少”，标签回答“是谁、什么样”；两者共用公共模型和治理体系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自助分析：从统一模型出发，减少临时取数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01468"/>
            <a:ext cx="2286000" cy="23774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EDFF"/>
                </a:solidFill>
              </a:rPr>
              <a:t>统一出发点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模型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指标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标签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35808" y="3671316"/>
            <a:ext cx="292608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9000" y="2601468"/>
            <a:ext cx="4251960" cy="2377440"/>
          </a:xfrm>
          <a:prstGeom prst="roundRect">
            <a:avLst>
              <a:gd name="adj" fmla="val 5769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784348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87368" y="276606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Quick BI 自助分析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332988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指标检索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7824" y="3332988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明细探索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8048" y="3332988"/>
            <a:ext cx="10911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可视化计算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790188"/>
            <a:ext cx="10911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自定义看板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0224" y="3790188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报表订阅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384548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景区指标与权限统一管理，集成到 BI 使用流程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72400" y="3671316"/>
            <a:ext cx="292608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80" y="2601468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总部经营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跨景区对比 · 标准口径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3424428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业务线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日常分析 · 少提需求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247388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景区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嵌入 SaaS · 本景区数据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98948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655BE6"/>
                </a:solidFill>
              </a:rPr>
              <a:t>AI 问数与 BI 同源　</a:t>
            </a:r>
            <a:r>
              <a:rPr sz="1300" b="0">
                <a:solidFill>
                  <a:srgbClr val="2B2F42"/>
                </a:solidFill>
              </a:rPr>
              <a:t>共用指标定义和权限，问出来的数和看板上的数一致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6121908"/>
            <a:ext cx="10204704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728" y="6121908"/>
            <a:ext cx="9427464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预期产出　</a:t>
            </a:r>
            <a:r>
              <a:rPr sz="1200" b="0">
                <a:solidFill>
                  <a:srgbClr val="2B2F42"/>
                </a:solidFill>
              </a:rPr>
              <a:t>企业指标中心 · 景区专属指标空间 · 统一标签服务 · 统一语义服务 · 自助分析平台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数据服务：动态数据开放 API 升级为统一出口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895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当前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27048" y="2889504"/>
            <a:ext cx="219456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1">
                <a:solidFill>
                  <a:srgbClr val="FFFFFF"/>
                </a:solidFill>
              </a:rPr>
              <a:t>ADS 指标快速发布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5753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升级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7048" y="3575304"/>
            <a:ext cx="288036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关联标准指标 · 权限 · 质量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2611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服务化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27048" y="4261104"/>
            <a:ext cx="3566160" cy="530352"/>
          </a:xfrm>
          <a:prstGeom prst="roundRect">
            <a:avLst>
              <a:gd name="adj" fmla="val 17241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指标与标签服务 · 租户隔离 · AI 工具化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9469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开放化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7048" y="4946904"/>
            <a:ext cx="4251960" cy="530352"/>
          </a:xfrm>
          <a:prstGeom prst="roundRect">
            <a:avLst>
              <a:gd name="adj" fmla="val 17241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嵌入式 BI 与 AI 集成 · 套餐与计量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69864"/>
            <a:ext cx="51206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89787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52728" y="5769864"/>
            <a:ext cx="434339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一键接入　</a:t>
            </a:r>
            <a:r>
              <a:rPr sz="1200" b="0">
                <a:solidFill>
                  <a:srgbClr val="2B2F42"/>
                </a:solidFill>
              </a:rPr>
              <a:t>标准连接器 · 接入向导 · 运行监测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23944"/>
            <a:ext cx="169164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统一指标与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标签服务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55279" y="4626864"/>
            <a:ext cx="320041" cy="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75320" y="3118104"/>
            <a:ext cx="0" cy="301752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41080" y="284378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75320" y="311810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41080" y="362102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业务系统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75320" y="389534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641080" y="435254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景区 SaaS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75320" y="462686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41080" y="508406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合作伙伴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75320" y="535838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41080" y="586130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智能体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75320" y="613562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63640" y="5358384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776CFD"/>
                </a:solidFill>
              </a:rPr>
              <a:t>一套服务</a:t>
            </a:r>
          </a:p>
          <a:p>
            <a:pPr algn="ctr"/>
            <a:r>
              <a:rPr sz="1200" b="1">
                <a:solidFill>
                  <a:srgbClr val="776CFD"/>
                </a:solidFill>
              </a:rPr>
              <a:t>内外口径一致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AI 赋能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让 AI 用上可信数据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AI 平台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支撑三条产品线的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AI 问数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平台：AI 只通过可信数据作答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赋能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05  AI 赋能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9232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8528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辅助数据建设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5382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问数与分析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2236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预测与预警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59091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知识助手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65945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业务助手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59816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共用能力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8528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模型服务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97096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知识服务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工具服务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14232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评测运营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60400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可信数据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38528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5382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标签服务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2236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知识库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59091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元数据与血缘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65945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权限隔离</a:t>
            </a:r>
          </a:p>
        </p:txBody>
      </p:sp>
      <p:sp>
        <p:nvSpPr>
          <p:cNvPr id="25" name="Up Arrow 24"/>
          <p:cNvSpPr/>
          <p:nvPr/>
        </p:nvSpPr>
        <p:spPr>
          <a:xfrm>
            <a:off x="6281928" y="3186684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6281928" y="4192524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5426964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hiel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573268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52728" y="5426964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AI 不直接生成数字，只通过受控的指标与数据服务取数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249924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推进顺序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38528" y="6249924"/>
            <a:ext cx="15026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1 辅助数据建设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514344" y="6359652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16096" y="6249924"/>
            <a:ext cx="1109472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2 AI 问数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998720" y="6359652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300472" y="6249924"/>
            <a:ext cx="16550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3 预测与业务助手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一套可信底座，支撑三条产品线的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赋能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05  AI 赋能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7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票务 AI 运营助手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AI 对账助手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6136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9016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9016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景数通 问数 · 洞察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016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APP 问数 · 预警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9016" y="368503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调度中枢 八个智能体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3904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6783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6783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旅游规划 · 智能客服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6783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智能购票 · 伴游 · 旅拍</a:t>
            </a:r>
          </a:p>
        </p:txBody>
      </p:sp>
      <p:sp>
        <p:nvSpPr>
          <p:cNvPr id="21" name="Up Arrow 20"/>
          <p:cNvSpPr/>
          <p:nvPr/>
        </p:nvSpPr>
        <p:spPr>
          <a:xfrm>
            <a:off x="5641848" y="4169664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535424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AI 共用能力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38528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模型网关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97096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知识检索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5664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智能体工具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14232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评测反馈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129784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可信数据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38528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认证指标与语义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5382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统一标签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52236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数据服务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59091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实时事件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65945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权限隔离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86130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998464"/>
            <a:ext cx="27432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52728" y="586130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4551A"/>
                </a:solidFill>
              </a:rPr>
              <a:t>关键　</a:t>
            </a:r>
            <a:r>
              <a:rPr sz="1250" b="0">
                <a:solidFill>
                  <a:srgbClr val="2B2F42"/>
                </a:solidFill>
              </a:rPr>
              <a:t>景数通、票付通 APP 都有 AI 问数，共用一套认证指标：同一个问题只有一个答案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4710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各产品的问答日志、纠错和工单结果，回流到评测集与知识库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问数：答得准、有出处、答不了就澄清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赋能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05  AI 赋能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1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识别用户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与租户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7627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55371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2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澄清指标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与时间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14630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2374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3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匹配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认证指标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11634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49378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4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权限与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成本检查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408637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46381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5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调用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5641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3385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6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校验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结果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02644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0388" y="2743200"/>
            <a:ext cx="1222683" cy="1143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附口径、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时间、质量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16052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7939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评测集覆盖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简单指标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17192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对比归因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47416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模糊问题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40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越权提问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" y="5193791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无数据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75020" y="416052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3620" y="427939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衡量方式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03620" y="475488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正确率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81444" y="4754880"/>
            <a:ext cx="10911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越权阻断率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64067" y="475488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澄清率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41891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响应时间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5193791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单次成本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94360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08990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594360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内外同源　</a:t>
            </a:r>
            <a:r>
              <a:rPr sz="1300" b="0">
                <a:solidFill>
                  <a:srgbClr val="FFFFFF"/>
                </a:solidFill>
              </a:rPr>
              <a:t>内部问数、景数通、票付通 APP 共用指标服务和评测集；每次变更都回归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赋能企业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数据赋能业务，业务反哺数据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业务闭环模型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八条业务闭环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票务闭环样板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智能体闭环样板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五个运行机制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赋能企业成效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业务闭环：数据赋能业务，业务反哺数据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业务产生数据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交易 · 行为 · 供给 · 外部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45552" y="250088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平台接入与治理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标准 · 质量 · 模型 · 实时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5747004"/>
            <a:ext cx="301752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输出价值数据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>指标 · 标签 · 预测 · 洞察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74700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业务使用与行动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决策 · 运营 · 营销 · 服务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75887" y="3003804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54312" y="3506724"/>
            <a:ext cx="0" cy="224028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675887" y="6249924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167128" y="3506724"/>
            <a:ext cx="0" cy="2240280"/>
          </a:xfrm>
          <a:prstGeom prst="line">
            <a:avLst/>
          </a:prstGeom>
          <a:ln w="4445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89120" y="261061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采集与治理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46684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300" b="1">
                <a:solidFill>
                  <a:srgbClr val="776CFD"/>
                </a:solidFill>
              </a:rPr>
              <a:t>加工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34136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赋能：嵌入决策与动作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009644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结果 · 反馈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异常 · 新需求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009644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200" b="1">
                <a:solidFill>
                  <a:srgbClr val="776CFD"/>
                </a:solidFill>
              </a:rPr>
              <a:t>越用越准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64972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0">
                <a:solidFill>
                  <a:srgbClr val="5E6478"/>
                </a:solidFill>
              </a:rPr>
              <a:t>没有反哺的赋能，只是一次性交付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八条业务闭环：先跑通两条，再按批次复制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0620" y="28300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实时看板 · 预警 · 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核销异常 · 预测偏差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0692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5284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订单交易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2944" y="28300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5284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45636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驾驶舱 · 对账定位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5284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5636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差错处理 · 口径反馈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43016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7608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51268" y="28300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优先试点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7608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经营报告 · 健康度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07608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使用行为 · 续约结果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5340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9932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智能体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43592" y="28300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优先起步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9932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0284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可信指标 · 标签 · 知识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9932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284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提问 · 纠错 · 高频问题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渠道分销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66620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随后启动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59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312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渠道 ROI · 价格监控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策略效果 · 接口异常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50692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5284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58944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15284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45636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转化漏斗 · 推荐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15284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45636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曝光转化 · 实验结论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43016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07608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51268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07608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自动复盘 · 人群圈选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07608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活动效果 · 人群响应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35340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9932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592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599932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30284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预测特征 · 口碑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99932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0284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实际贡献 · 续采决策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8368" y="63322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15568" y="63047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实线框：优先启动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035808" y="63322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93008" y="63047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虚线框：后续批次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票务闭环（样板一）：让入园、核销数字可信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核销与设备数据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闸机 · 网关 · 票券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087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核销标准模型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四个口径 · 三层核对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5838444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实时看板与预警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容量预警 · 客流预测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景区运营调度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节假日实时作战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52928" y="295808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30368" y="3415284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852928" y="629564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55648" y="3415284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49240" y="4466844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963924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预警处理结果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预测与实际偏差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250088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50088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50088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票种、库存、预约、核销、设备事件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36956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336956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36956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核销事件标准模型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订单与核销实时链路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423824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423824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23824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赋能看板、预警、预测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回流异常与偏差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5106923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5106923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106923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先做样板，共建上报规范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每个节假日后复盘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97560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597560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597560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关键数字可信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节假日实时掌控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智能体闭环（样板二）：AI 越用越准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可信数据工具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指标 · 标签 · 知识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087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智能体作答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口径一致、可追溯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用户交互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提问 · 纠错 · 差评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平台持续补齐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补指标 · 补知识 · 评测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52928" y="295808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30368" y="3415284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852928" y="6295644"/>
            <a:ext cx="1280159" cy="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55648" y="3415284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26080" y="2574036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6387084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963924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未覆盖的指标需求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口径歧义、高频问题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会话中的业务诉求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50088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50088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50088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景数通、APP 问数及游客智能体的交互数据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336956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36956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36956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统一取数工具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统一交互日志与评测集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23824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423824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23824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赋能可信答案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回流需求、歧义与纠错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5106923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5106923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5106923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上线即接入日志和评测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每月分析失败案例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597560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97560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97560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答案越用越准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需求自动发现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闭环靠机制运转：五个环节循环往复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41</a:t>
            </a:r>
          </a:p>
        </p:txBody>
      </p:sp>
      <p:grpSp>
        <p:nvGrpSpPr>
          <p:cNvPr id="21400" name="素材 30"/>
          <p:cNvGrpSpPr/>
          <p:nvPr/>
        </p:nvGrpSpPr>
        <p:grpSpPr>
          <a:xfrm>
            <a:off x="658368" y="2743200"/>
            <a:ext cx="7955279" cy="2930470"/>
            <a:chOff x="991320" y="2358345"/>
            <a:chExt cx="9455150" cy="3482975"/>
          </a:xfrm>
        </p:grpSpPr>
        <p:sp>
          <p:nvSpPr>
            <p:cNvPr id="21401" name="Freeform 6"/>
            <p:cNvSpPr>
              <a:spLocks noEditPoints="1"/>
            </p:cNvSpPr>
            <p:nvPr/>
          </p:nvSpPr>
          <p:spPr bwMode="auto">
            <a:xfrm>
              <a:off x="139772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Freeform 7"/>
            <p:cNvSpPr>
              <a:spLocks noEditPoints="1"/>
            </p:cNvSpPr>
            <p:nvPr/>
          </p:nvSpPr>
          <p:spPr bwMode="auto">
            <a:xfrm>
              <a:off x="316937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5D95F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Freeform 8"/>
            <p:cNvSpPr>
              <a:spLocks noEditPoints="1"/>
            </p:cNvSpPr>
            <p:nvPr/>
          </p:nvSpPr>
          <p:spPr bwMode="auto">
            <a:xfrm>
              <a:off x="4942607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2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5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04" name="Freeform 9"/>
            <p:cNvSpPr>
              <a:spLocks noEditPoints="1"/>
            </p:cNvSpPr>
            <p:nvPr/>
          </p:nvSpPr>
          <p:spPr bwMode="auto">
            <a:xfrm>
              <a:off x="6714257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7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4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4" y="87"/>
                  </a:cubicBez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10"/>
            <p:cNvSpPr>
              <a:spLocks noEditPoints="1"/>
            </p:cNvSpPr>
            <p:nvPr/>
          </p:nvSpPr>
          <p:spPr bwMode="auto">
            <a:xfrm>
              <a:off x="8487495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6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6" y="158"/>
                    <a:pt x="86" y="245"/>
                  </a:cubicBezTo>
                  <a:cubicBezTo>
                    <a:pt x="86" y="332"/>
                    <a:pt x="157" y="403"/>
                    <a:pt x="244" y="403"/>
                  </a:cubicBezTo>
                  <a:cubicBezTo>
                    <a:pt x="331" y="403"/>
                    <a:pt x="402" y="332"/>
                    <a:pt x="402" y="245"/>
                  </a:cubicBezTo>
                  <a:cubicBezTo>
                    <a:pt x="402" y="158"/>
                    <a:pt x="331" y="87"/>
                    <a:pt x="244" y="87"/>
                  </a:cubicBezTo>
                  <a:close/>
                </a:path>
              </a:pathLst>
            </a:custGeom>
            <a:solidFill>
              <a:srgbClr val="6C95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406" name="Group 3"/>
            <p:cNvGrpSpPr/>
            <p:nvPr/>
          </p:nvGrpSpPr>
          <p:grpSpPr>
            <a:xfrm>
              <a:off x="991320" y="4633233"/>
              <a:ext cx="2355850" cy="1208087"/>
              <a:chOff x="1370013" y="4633233"/>
              <a:chExt cx="2355850" cy="1208087"/>
            </a:xfrm>
          </p:grpSpPr>
          <p:sp>
            <p:nvSpPr>
              <p:cNvPr id="21407" name="Freeform 11"/>
              <p:cNvSpPr/>
              <p:nvPr/>
            </p:nvSpPr>
            <p:spPr bwMode="auto">
              <a:xfrm>
                <a:off x="13700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Oval 12"/>
              <p:cNvSpPr>
                <a:spLocks noChangeArrowheads="1"/>
              </p:cNvSpPr>
              <p:nvPr/>
            </p:nvSpPr>
            <p:spPr bwMode="auto">
              <a:xfrm>
                <a:off x="2481263" y="5326970"/>
                <a:ext cx="136525" cy="136525"/>
              </a:xfrm>
              <a:prstGeom prst="ellipse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3"/>
              <p:cNvSpPr/>
              <p:nvPr/>
            </p:nvSpPr>
            <p:spPr bwMode="auto">
              <a:xfrm>
                <a:off x="2503488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6"/>
            <p:cNvGrpSpPr/>
            <p:nvPr/>
          </p:nvGrpSpPr>
          <p:grpSpPr>
            <a:xfrm>
              <a:off x="4539382" y="4633233"/>
              <a:ext cx="2355850" cy="1208087"/>
              <a:chOff x="4918075" y="4633233"/>
              <a:chExt cx="2355850" cy="1208087"/>
            </a:xfrm>
          </p:grpSpPr>
          <p:sp>
            <p:nvSpPr>
              <p:cNvPr id="21411" name="Freeform 14"/>
              <p:cNvSpPr/>
              <p:nvPr/>
            </p:nvSpPr>
            <p:spPr bwMode="auto">
              <a:xfrm>
                <a:off x="4918075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3 w 744"/>
                  <a:gd name="T3" fmla="*/ 27 h 316"/>
                  <a:gd name="T4" fmla="*/ 10 w 744"/>
                  <a:gd name="T5" fmla="*/ 25 h 316"/>
                  <a:gd name="T6" fmla="*/ 0 w 744"/>
                  <a:gd name="T7" fmla="*/ 31 h 316"/>
                  <a:gd name="T8" fmla="*/ 0 w 744"/>
                  <a:gd name="T9" fmla="*/ 0 h 316"/>
                  <a:gd name="T10" fmla="*/ 26 w 744"/>
                  <a:gd name="T11" fmla="*/ 17 h 316"/>
                  <a:gd name="T12" fmla="*/ 15 w 744"/>
                  <a:gd name="T13" fmla="*/ 23 h 316"/>
                  <a:gd name="T14" fmla="*/ 728 w 744"/>
                  <a:gd name="T15" fmla="*/ 24 h 316"/>
                  <a:gd name="T16" fmla="*/ 717 w 744"/>
                  <a:gd name="T17" fmla="*/ 19 h 316"/>
                  <a:gd name="T18" fmla="*/ 743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3" y="27"/>
                      <a:pt x="733" y="27"/>
                      <a:pt x="733" y="27"/>
                    </a:cubicBezTo>
                    <a:cubicBezTo>
                      <a:pt x="579" y="314"/>
                      <a:pt x="164" y="316"/>
                      <a:pt x="10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6" y="308"/>
                      <a:pt x="576" y="308"/>
                      <a:pt x="728" y="24"/>
                    </a:cubicBezTo>
                    <a:cubicBezTo>
                      <a:pt x="717" y="19"/>
                      <a:pt x="717" y="19"/>
                      <a:pt x="717" y="19"/>
                    </a:cubicBezTo>
                    <a:cubicBezTo>
                      <a:pt x="743" y="2"/>
                      <a:pt x="743" y="2"/>
                      <a:pt x="743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2" name="Oval 15"/>
              <p:cNvSpPr>
                <a:spLocks noChangeArrowheads="1"/>
              </p:cNvSpPr>
              <p:nvPr/>
            </p:nvSpPr>
            <p:spPr bwMode="auto">
              <a:xfrm>
                <a:off x="6026150" y="5326970"/>
                <a:ext cx="136525" cy="136525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3" name="Freeform 16"/>
              <p:cNvSpPr/>
              <p:nvPr/>
            </p:nvSpPr>
            <p:spPr bwMode="auto">
              <a:xfrm>
                <a:off x="6048375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4" name="Group 25"/>
            <p:cNvGrpSpPr/>
            <p:nvPr/>
          </p:nvGrpSpPr>
          <p:grpSpPr>
            <a:xfrm>
              <a:off x="2767732" y="2358345"/>
              <a:ext cx="2354263" cy="1204913"/>
              <a:chOff x="3146425" y="2358345"/>
              <a:chExt cx="2354263" cy="1204913"/>
            </a:xfrm>
          </p:grpSpPr>
          <p:sp>
            <p:nvSpPr>
              <p:cNvPr id="21415" name="Freeform 17"/>
              <p:cNvSpPr/>
              <p:nvPr/>
            </p:nvSpPr>
            <p:spPr bwMode="auto">
              <a:xfrm>
                <a:off x="3146425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0 w 744"/>
                  <a:gd name="T5" fmla="*/ 291 h 316"/>
                  <a:gd name="T6" fmla="*/ 0 w 744"/>
                  <a:gd name="T7" fmla="*/ 285 h 316"/>
                  <a:gd name="T8" fmla="*/ 0 w 744"/>
                  <a:gd name="T9" fmla="*/ 316 h 316"/>
                  <a:gd name="T10" fmla="*/ 26 w 744"/>
                  <a:gd name="T11" fmla="*/ 299 h 316"/>
                  <a:gd name="T12" fmla="*/ 15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4" y="0"/>
                      <a:pt x="10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0" y="316"/>
                      <a:pt x="0" y="316"/>
                      <a:pt x="0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5" y="294"/>
                      <a:pt x="15" y="294"/>
                      <a:pt x="15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6" name="Oval 18"/>
              <p:cNvSpPr>
                <a:spLocks noChangeArrowheads="1"/>
              </p:cNvSpPr>
              <p:nvPr/>
            </p:nvSpPr>
            <p:spPr bwMode="auto">
              <a:xfrm>
                <a:off x="4254500" y="2732995"/>
                <a:ext cx="134938" cy="139700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7" name="Freeform 19"/>
              <p:cNvSpPr/>
              <p:nvPr/>
            </p:nvSpPr>
            <p:spPr bwMode="auto">
              <a:xfrm>
                <a:off x="4276725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8" name="Group 27"/>
            <p:cNvGrpSpPr/>
            <p:nvPr/>
          </p:nvGrpSpPr>
          <p:grpSpPr>
            <a:xfrm>
              <a:off x="6303095" y="2358345"/>
              <a:ext cx="2354263" cy="1204913"/>
              <a:chOff x="6681788" y="2358345"/>
              <a:chExt cx="2354263" cy="1204913"/>
            </a:xfrm>
          </p:grpSpPr>
          <p:sp>
            <p:nvSpPr>
              <p:cNvPr id="21419" name="Freeform 20"/>
              <p:cNvSpPr/>
              <p:nvPr/>
            </p:nvSpPr>
            <p:spPr bwMode="auto">
              <a:xfrm>
                <a:off x="6681788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1 w 744"/>
                  <a:gd name="T5" fmla="*/ 291 h 316"/>
                  <a:gd name="T6" fmla="*/ 0 w 744"/>
                  <a:gd name="T7" fmla="*/ 285 h 316"/>
                  <a:gd name="T8" fmla="*/ 1 w 744"/>
                  <a:gd name="T9" fmla="*/ 316 h 316"/>
                  <a:gd name="T10" fmla="*/ 26 w 744"/>
                  <a:gd name="T11" fmla="*/ 299 h 316"/>
                  <a:gd name="T12" fmla="*/ 16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5" y="0"/>
                      <a:pt x="11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1" y="316"/>
                      <a:pt x="1" y="316"/>
                      <a:pt x="1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6" y="294"/>
                      <a:pt x="16" y="294"/>
                      <a:pt x="16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0" name="Oval 21"/>
              <p:cNvSpPr>
                <a:spLocks noChangeArrowheads="1"/>
              </p:cNvSpPr>
              <p:nvPr/>
            </p:nvSpPr>
            <p:spPr bwMode="auto">
              <a:xfrm>
                <a:off x="7789863" y="2732995"/>
                <a:ext cx="138113" cy="139700"/>
              </a:xfrm>
              <a:prstGeom prst="ellipse">
                <a:avLst/>
              </a:pr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1" name="Freeform 22"/>
              <p:cNvSpPr/>
              <p:nvPr/>
            </p:nvSpPr>
            <p:spPr bwMode="auto">
              <a:xfrm>
                <a:off x="7812088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22" name="Group 29"/>
            <p:cNvGrpSpPr/>
            <p:nvPr/>
          </p:nvGrpSpPr>
          <p:grpSpPr>
            <a:xfrm>
              <a:off x="8090620" y="4633233"/>
              <a:ext cx="2355850" cy="1208087"/>
              <a:chOff x="8469313" y="4633233"/>
              <a:chExt cx="2355850" cy="1208087"/>
            </a:xfrm>
          </p:grpSpPr>
          <p:sp>
            <p:nvSpPr>
              <p:cNvPr id="21423" name="Freeform 24"/>
              <p:cNvSpPr/>
              <p:nvPr/>
            </p:nvSpPr>
            <p:spPr bwMode="auto">
              <a:xfrm>
                <a:off x="84693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grpSp>
            <p:nvGrpSpPr>
              <p:cNvPr id="21424" name="Group 28"/>
              <p:cNvGrpSpPr/>
              <p:nvPr/>
            </p:nvGrpSpPr>
            <p:grpSpPr>
              <a:xfrm>
                <a:off x="9580563" y="5114245"/>
                <a:ext cx="136525" cy="727075"/>
                <a:chOff x="9580563" y="5114245"/>
                <a:chExt cx="136525" cy="727075"/>
              </a:xfrm>
            </p:grpSpPr>
            <p:sp>
              <p:nvSpPr>
                <p:cNvPr id="21425" name="Freeform 23"/>
                <p:cNvSpPr/>
                <p:nvPr/>
              </p:nvSpPr>
              <p:spPr bwMode="auto">
                <a:xfrm>
                  <a:off x="9602788" y="5114245"/>
                  <a:ext cx="95250" cy="727075"/>
                </a:xfrm>
                <a:custGeom>
                  <a:avLst/>
                  <a:gdLst>
                    <a:gd name="T0" fmla="*/ 60 w 60"/>
                    <a:gd name="T1" fmla="*/ 54 h 458"/>
                    <a:gd name="T2" fmla="*/ 36 w 60"/>
                    <a:gd name="T3" fmla="*/ 54 h 458"/>
                    <a:gd name="T4" fmla="*/ 36 w 60"/>
                    <a:gd name="T5" fmla="*/ 404 h 458"/>
                    <a:gd name="T6" fmla="*/ 60 w 60"/>
                    <a:gd name="T7" fmla="*/ 404 h 458"/>
                    <a:gd name="T8" fmla="*/ 30 w 60"/>
                    <a:gd name="T9" fmla="*/ 458 h 458"/>
                    <a:gd name="T10" fmla="*/ 0 w 60"/>
                    <a:gd name="T11" fmla="*/ 404 h 458"/>
                    <a:gd name="T12" fmla="*/ 24 w 60"/>
                    <a:gd name="T13" fmla="*/ 404 h 458"/>
                    <a:gd name="T14" fmla="*/ 24 w 60"/>
                    <a:gd name="T15" fmla="*/ 54 h 458"/>
                    <a:gd name="T16" fmla="*/ 0 w 60"/>
                    <a:gd name="T17" fmla="*/ 54 h 458"/>
                    <a:gd name="T18" fmla="*/ 30 w 60"/>
                    <a:gd name="T19" fmla="*/ 0 h 458"/>
                    <a:gd name="T20" fmla="*/ 60 w 60"/>
                    <a:gd name="T21" fmla="*/ 54 h 458"/>
                    <a:gd name="T22" fmla="*/ 60 w 60"/>
                    <a:gd name="T23" fmla="*/ 54 h 4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60" h="458">
                      <a:moveTo>
                        <a:pt x="60" y="54"/>
                      </a:moveTo>
                      <a:lnTo>
                        <a:pt x="36" y="54"/>
                      </a:lnTo>
                      <a:lnTo>
                        <a:pt x="36" y="404"/>
                      </a:lnTo>
                      <a:lnTo>
                        <a:pt x="60" y="404"/>
                      </a:lnTo>
                      <a:lnTo>
                        <a:pt x="30" y="458"/>
                      </a:lnTo>
                      <a:lnTo>
                        <a:pt x="0" y="404"/>
                      </a:lnTo>
                      <a:lnTo>
                        <a:pt x="24" y="404"/>
                      </a:lnTo>
                      <a:lnTo>
                        <a:pt x="24" y="54"/>
                      </a:lnTo>
                      <a:lnTo>
                        <a:pt x="0" y="54"/>
                      </a:lnTo>
                      <a:lnTo>
                        <a:pt x="30" y="0"/>
                      </a:lnTo>
                      <a:lnTo>
                        <a:pt x="60" y="54"/>
                      </a:lnTo>
                      <a:lnTo>
                        <a:pt x="60" y="54"/>
                      </a:lnTo>
                      <a:close/>
                    </a:path>
                  </a:pathLst>
                </a:cu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  <p:sp>
              <p:nvSpPr>
                <p:cNvPr id="21426" name="Oval 25"/>
                <p:cNvSpPr>
                  <a:spLocks noChangeArrowheads="1"/>
                </p:cNvSpPr>
                <p:nvPr/>
              </p:nvSpPr>
              <p:spPr bwMode="auto">
                <a:xfrm>
                  <a:off x="9580563" y="5326970"/>
                  <a:ext cx="136525" cy="136525"/>
                </a:xfrm>
                <a:prstGeom prst="ellipse">
                  <a:avLst/>
                </a:pr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</p:grpSp>
        </p:grpSp>
      </p:grpSp>
      <p:pic>
        <p:nvPicPr>
          <p:cNvPr id="21427" name="Picture 21426" descr="send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048" y="3993878"/>
            <a:ext cx="438912" cy="438912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645664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01  数据前置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645664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上线前定埋点与口径</a:t>
            </a:r>
          </a:p>
        </p:txBody>
      </p:sp>
      <p:pic>
        <p:nvPicPr>
          <p:cNvPr id="21430" name="Picture 21429" descr="lin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4584" y="3993878"/>
            <a:ext cx="438912" cy="438912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2138200" y="2259189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02  统一出口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2138200" y="258837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指标、标签、API 输出</a:t>
            </a:r>
          </a:p>
        </p:txBody>
      </p:sp>
      <p:pic>
        <p:nvPicPr>
          <p:cNvPr id="21433" name="Picture 21432" descr="activity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121" y="3993878"/>
            <a:ext cx="438912" cy="438912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3630737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03  反馈回流</a:t>
            </a:r>
          </a:p>
        </p:txBody>
      </p:sp>
      <p:sp>
        <p:nvSpPr>
          <p:cNvPr id="21435" name="TextBox 21434"/>
          <p:cNvSpPr txBox="1"/>
          <p:nvPr/>
        </p:nvSpPr>
        <p:spPr>
          <a:xfrm>
            <a:off x="3630737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结果按事件标识回流</a:t>
            </a:r>
          </a:p>
        </p:txBody>
      </p:sp>
      <p:pic>
        <p:nvPicPr>
          <p:cNvPr id="21436" name="Picture 21435" descr="search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1964" y="3993878"/>
            <a:ext cx="438912" cy="438912"/>
          </a:xfrm>
          <a:prstGeom prst="rect">
            <a:avLst/>
          </a:prstGeom>
        </p:spPr>
      </p:pic>
      <p:sp>
        <p:nvSpPr>
          <p:cNvPr id="21437" name="TextBox 21436"/>
          <p:cNvSpPr txBox="1"/>
          <p:nvPr/>
        </p:nvSpPr>
        <p:spPr>
          <a:xfrm>
            <a:off x="5115580" y="2259189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04  效果复盘</a:t>
            </a:r>
          </a:p>
        </p:txBody>
      </p:sp>
      <p:sp>
        <p:nvSpPr>
          <p:cNvPr id="21438" name="TextBox 21437"/>
          <p:cNvSpPr txBox="1"/>
          <p:nvPr/>
        </p:nvSpPr>
        <p:spPr>
          <a:xfrm>
            <a:off x="5115580" y="258837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按月及节假日复盘</a:t>
            </a:r>
          </a:p>
        </p:txBody>
      </p:sp>
      <p:pic>
        <p:nvPicPr>
          <p:cNvPr id="21439" name="Picture 21438" descr="gea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4500" y="3993878"/>
            <a:ext cx="438912" cy="438912"/>
          </a:xfrm>
          <a:prstGeom prst="rect">
            <a:avLst/>
          </a:prstGeom>
        </p:spPr>
      </p:pic>
      <p:sp>
        <p:nvSpPr>
          <p:cNvPr id="21440" name="TextBox 21439"/>
          <p:cNvSpPr txBox="1"/>
          <p:nvPr/>
        </p:nvSpPr>
        <p:spPr>
          <a:xfrm>
            <a:off x="6608116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05  持续迭代</a:t>
            </a:r>
          </a:p>
        </p:txBody>
      </p:sp>
      <p:sp>
        <p:nvSpPr>
          <p:cNvPr id="21441" name="TextBox 21440"/>
          <p:cNvSpPr txBox="1"/>
          <p:nvPr/>
        </p:nvSpPr>
        <p:spPr>
          <a:xfrm>
            <a:off x="6608116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规则与模型版本化</a:t>
            </a:r>
          </a:p>
        </p:txBody>
      </p:sp>
      <p:sp>
        <p:nvSpPr>
          <p:cNvPr id="21442" name="TextBox 21441"/>
          <p:cNvSpPr txBox="1"/>
          <p:nvPr/>
        </p:nvSpPr>
        <p:spPr>
          <a:xfrm>
            <a:off x="8915400" y="2331720"/>
            <a:ext cx="194767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谁来转动闭环</a:t>
            </a:r>
          </a:p>
        </p:txBody>
      </p:sp>
      <p:sp>
        <p:nvSpPr>
          <p:cNvPr id="21443" name="Rounded Rectangle 21442"/>
          <p:cNvSpPr/>
          <p:nvPr/>
        </p:nvSpPr>
        <p:spPr>
          <a:xfrm>
            <a:off x="8915400" y="2724912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4" name="Oval 21443"/>
          <p:cNvSpPr/>
          <p:nvPr/>
        </p:nvSpPr>
        <p:spPr>
          <a:xfrm>
            <a:off x="9052560" y="290779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45" name="Picture 21444" descr="us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78290" y="3033522"/>
            <a:ext cx="251460" cy="251460"/>
          </a:xfrm>
          <a:prstGeom prst="rect">
            <a:avLst/>
          </a:prstGeom>
        </p:spPr>
      </p:pic>
      <p:sp>
        <p:nvSpPr>
          <p:cNvPr id="21446" name="TextBox 21445"/>
          <p:cNvSpPr txBox="1"/>
          <p:nvPr/>
        </p:nvSpPr>
        <p:spPr>
          <a:xfrm>
            <a:off x="9665208" y="2834640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业务负责人</a:t>
            </a:r>
          </a:p>
        </p:txBody>
      </p:sp>
      <p:sp>
        <p:nvSpPr>
          <p:cNvPr id="21447" name="TextBox 21446"/>
          <p:cNvSpPr txBox="1"/>
          <p:nvPr/>
        </p:nvSpPr>
        <p:spPr>
          <a:xfrm>
            <a:off x="9665208" y="3163824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定目标 · 用结果 · 给反馈</a:t>
            </a:r>
          </a:p>
        </p:txBody>
      </p:sp>
      <p:sp>
        <p:nvSpPr>
          <p:cNvPr id="21448" name="Rounded Rectangle 21447"/>
          <p:cNvSpPr/>
          <p:nvPr/>
        </p:nvSpPr>
        <p:spPr>
          <a:xfrm>
            <a:off x="8915400" y="3749039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9" name="Oval 21448"/>
          <p:cNvSpPr/>
          <p:nvPr/>
        </p:nvSpPr>
        <p:spPr>
          <a:xfrm>
            <a:off x="9052560" y="3931920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0" name="Picture 21449" descr="databas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78290" y="4057650"/>
            <a:ext cx="251460" cy="251460"/>
          </a:xfrm>
          <a:prstGeom prst="rect">
            <a:avLst/>
          </a:prstGeom>
        </p:spPr>
      </p:pic>
      <p:sp>
        <p:nvSpPr>
          <p:cNvPr id="21451" name="TextBox 21450"/>
          <p:cNvSpPr txBox="1"/>
          <p:nvPr/>
        </p:nvSpPr>
        <p:spPr>
          <a:xfrm>
            <a:off x="9665208" y="3858768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21452" name="TextBox 21451"/>
          <p:cNvSpPr txBox="1"/>
          <p:nvPr/>
        </p:nvSpPr>
        <p:spPr>
          <a:xfrm>
            <a:off x="9665208" y="4187952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建能力 · 出数据 · 做复盘</a:t>
            </a:r>
          </a:p>
        </p:txBody>
      </p:sp>
      <p:sp>
        <p:nvSpPr>
          <p:cNvPr id="21453" name="Rounded Rectangle 21452"/>
          <p:cNvSpPr/>
          <p:nvPr/>
        </p:nvSpPr>
        <p:spPr>
          <a:xfrm>
            <a:off x="8915400" y="4773168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4" name="Oval 21453"/>
          <p:cNvSpPr/>
          <p:nvPr/>
        </p:nvSpPr>
        <p:spPr>
          <a:xfrm>
            <a:off x="9052560" y="495604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5" name="Picture 21454" descr="cod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78290" y="5081778"/>
            <a:ext cx="251460" cy="251460"/>
          </a:xfrm>
          <a:prstGeom prst="rect">
            <a:avLst/>
          </a:prstGeom>
        </p:spPr>
      </p:pic>
      <p:sp>
        <p:nvSpPr>
          <p:cNvPr id="21456" name="TextBox 21455"/>
          <p:cNvSpPr txBox="1"/>
          <p:nvPr/>
        </p:nvSpPr>
        <p:spPr>
          <a:xfrm>
            <a:off x="9665208" y="4882896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产品研发</a:t>
            </a:r>
          </a:p>
        </p:txBody>
      </p:sp>
      <p:sp>
        <p:nvSpPr>
          <p:cNvPr id="21457" name="TextBox 21456"/>
          <p:cNvSpPr txBox="1"/>
          <p:nvPr/>
        </p:nvSpPr>
        <p:spPr>
          <a:xfrm>
            <a:off x="9665208" y="5212080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保埋点 · 保回流</a:t>
            </a:r>
          </a:p>
        </p:txBody>
      </p:sp>
      <p:sp>
        <p:nvSpPr>
          <p:cNvPr id="21458" name="Rounded Rectangle 21457"/>
          <p:cNvSpPr/>
          <p:nvPr/>
        </p:nvSpPr>
        <p:spPr>
          <a:xfrm>
            <a:off x="658368" y="6473952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9" name="Picture 21458" descr="activity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9536" y="6588252"/>
            <a:ext cx="274320" cy="274320"/>
          </a:xfrm>
          <a:prstGeom prst="rect">
            <a:avLst/>
          </a:prstGeom>
        </p:spPr>
      </p:pic>
      <p:sp>
        <p:nvSpPr>
          <p:cNvPr id="21460" name="TextBox 21459"/>
          <p:cNvSpPr txBox="1"/>
          <p:nvPr/>
        </p:nvSpPr>
        <p:spPr>
          <a:xfrm>
            <a:off x="1252728" y="6473952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闭环健康度　</a:t>
            </a:r>
            <a:r>
              <a:rPr sz="1250" b="0">
                <a:solidFill>
                  <a:srgbClr val="FFFFFF"/>
                </a:solidFill>
              </a:rPr>
              <a:t>回流覆盖率 · 场景采纳率 · 迭代周期 · 业务效果变化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赋能企业：从“找人要数”到“数据找人”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8318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76606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经营驾驶舱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E2C8"/>
                </a:solidFill>
              </a:rPr>
              <a:t>管理层 · 景区运营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核心指标一屏看全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节假日实时作战屏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移动端随时查看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6136" y="2583180"/>
            <a:ext cx="3249168" cy="2240280"/>
          </a:xfrm>
          <a:prstGeom prst="roundRect">
            <a:avLst>
              <a:gd name="adj" fmla="val 40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4736" y="2766060"/>
            <a:ext cx="41148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64736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自助分析与 AI 问数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运营 · 渠道 · 营销 · 客户成功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标准分析模板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拖拽或提问取数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结果带口径与更新时间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3904" y="258318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2504" y="2766060"/>
            <a:ext cx="411480" cy="4114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42504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主动推送与自动报告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2504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B4551A"/>
                </a:solidFill>
              </a:rPr>
              <a:t>全员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2504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指标异常自动预警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节假日前客流播报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日报、周报自动生成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00634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用数流程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数据门户找数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147316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12492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看指标口径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901440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166616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申请权限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55564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20740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模板或提问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409688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674864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带口径的结果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163812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428988" y="5326380"/>
            <a:ext cx="1434084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订阅变化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61036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61036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衡量　</a:t>
            </a:r>
            <a:r>
              <a:rPr sz="1300" b="0">
                <a:solidFill>
                  <a:srgbClr val="FFFFFF"/>
                </a:solidFill>
              </a:rPr>
              <a:t>活跃用户 · 自助完成率 · 取数周期 · 业务采纳率，不以上线看板数量衡量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赋能行业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从数据服务到行业标准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一键接入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对外数据产品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商业化与行业路径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行业成果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一键接入：把重复对接变成标准配置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44</a:t>
            </a:r>
          </a:p>
        </p:txBody>
      </p:sp>
      <p:grpSp>
        <p:nvGrpSpPr>
          <p:cNvPr id="21400" name="素材 24"/>
          <p:cNvGrpSpPr/>
          <p:nvPr/>
        </p:nvGrpSpPr>
        <p:grpSpPr>
          <a:xfrm>
            <a:off x="658368" y="2926080"/>
            <a:ext cx="7772400" cy="2278507"/>
            <a:chOff x="936501" y="2932416"/>
            <a:chExt cx="9757504" cy="2860448"/>
          </a:xfrm>
        </p:grpSpPr>
        <p:sp>
          <p:nvSpPr>
            <p:cNvPr id="214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D95F1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776C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655BE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6C95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776CFD"/>
                  </a:solidFill>
                  <a:latin typeface="微软雅黑"/>
                </a:rPr>
                <a:t>步骤 01</a:t>
              </a:r>
              <a:endParaRPr lang="en-US" sz="1800" b="1" dirty="0">
                <a:solidFill>
                  <a:srgbClr val="776CFD"/>
                </a:solidFill>
                <a:latin typeface="微软雅黑"/>
              </a:endParaRPr>
            </a:p>
          </p:txBody>
        </p:sp>
        <p:sp>
          <p:nvSpPr>
            <p:cNvPr id="214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55BE6"/>
                  </a:solidFill>
                  <a:latin typeface="微软雅黑"/>
                </a:rPr>
                <a:t>步骤 03</a:t>
              </a:r>
              <a:endParaRPr lang="en-US" sz="1400" dirty="0">
                <a:solidFill>
                  <a:srgbClr val="655BE6"/>
                </a:solidFill>
                <a:latin typeface="微软雅黑"/>
              </a:endParaRPr>
            </a:p>
          </p:txBody>
        </p:sp>
        <p:sp>
          <p:nvSpPr>
            <p:cNvPr id="214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C95FD"/>
                  </a:solidFill>
                  <a:latin typeface="微软雅黑"/>
                </a:rPr>
                <a:t>步骤 05</a:t>
              </a:r>
              <a:endParaRPr lang="en-US" sz="1400" dirty="0">
                <a:solidFill>
                  <a:srgbClr val="6C95FD"/>
                </a:solidFill>
                <a:latin typeface="微软雅黑"/>
              </a:endParaRPr>
            </a:p>
          </p:txBody>
        </p:sp>
        <p:sp>
          <p:nvSpPr>
            <p:cNvPr id="214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02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  <p:sp>
          <p:nvSpPr>
            <p:cNvPr id="214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04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  <p:sp>
          <p:nvSpPr>
            <p:cNvPr id="214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06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</p:grpSp>
      <p:pic>
        <p:nvPicPr>
          <p:cNvPr id="21419" name="Picture 21418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3802" y="3324412"/>
            <a:ext cx="402336" cy="402336"/>
          </a:xfrm>
          <a:prstGeom prst="rect">
            <a:avLst/>
          </a:prstGeom>
        </p:spPr>
      </p:pic>
      <p:sp>
        <p:nvSpPr>
          <p:cNvPr id="21420" name="TextBox 21419"/>
          <p:cNvSpPr txBox="1"/>
          <p:nvPr/>
        </p:nvSpPr>
        <p:spPr>
          <a:xfrm>
            <a:off x="1264850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授权开通</a:t>
            </a:r>
          </a:p>
        </p:txBody>
      </p:sp>
      <p:sp>
        <p:nvSpPr>
          <p:cNvPr id="21421" name="TextBox 21420"/>
          <p:cNvSpPr txBox="1"/>
          <p:nvPr/>
        </p:nvSpPr>
        <p:spPr>
          <a:xfrm>
            <a:off x="1264850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景区授权，开通服务</a:t>
            </a:r>
          </a:p>
        </p:txBody>
      </p:sp>
      <p:pic>
        <p:nvPicPr>
          <p:cNvPr id="21422" name="Picture 21421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8833" y="4409685"/>
            <a:ext cx="402336" cy="402336"/>
          </a:xfrm>
          <a:prstGeom prst="rect">
            <a:avLst/>
          </a:prstGeom>
        </p:spPr>
      </p:pic>
      <p:sp>
        <p:nvSpPr>
          <p:cNvPr id="21423" name="TextBox 21422"/>
          <p:cNvSpPr txBox="1"/>
          <p:nvPr/>
        </p:nvSpPr>
        <p:spPr>
          <a:xfrm>
            <a:off x="2189881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选择连接器</a:t>
            </a:r>
          </a:p>
        </p:txBody>
      </p:sp>
      <p:sp>
        <p:nvSpPr>
          <p:cNvPr id="21424" name="TextBox 21423"/>
          <p:cNvSpPr txBox="1"/>
          <p:nvPr/>
        </p:nvSpPr>
        <p:spPr>
          <a:xfrm>
            <a:off x="2189881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标准系统即选即用</a:t>
            </a:r>
          </a:p>
        </p:txBody>
      </p:sp>
      <p:pic>
        <p:nvPicPr>
          <p:cNvPr id="21425" name="Picture 21424" descr="bul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506" y="3324412"/>
            <a:ext cx="402336" cy="402336"/>
          </a:xfrm>
          <a:prstGeom prst="rect">
            <a:avLst/>
          </a:prstGeom>
        </p:spPr>
      </p:pic>
      <p:sp>
        <p:nvSpPr>
          <p:cNvPr id="21426" name="TextBox 21425"/>
          <p:cNvSpPr txBox="1"/>
          <p:nvPr/>
        </p:nvSpPr>
        <p:spPr>
          <a:xfrm>
            <a:off x="3118554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AI 字段映射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3118554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AI 推荐，人工确认</a:t>
            </a:r>
          </a:p>
        </p:txBody>
      </p:sp>
      <p:pic>
        <p:nvPicPr>
          <p:cNvPr id="21428" name="Picture 21427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537" y="4409685"/>
            <a:ext cx="402336" cy="402336"/>
          </a:xfrm>
          <a:prstGeom prst="rect">
            <a:avLst/>
          </a:prstGeom>
        </p:spPr>
      </p:pic>
      <p:sp>
        <p:nvSpPr>
          <p:cNvPr id="21429" name="TextBox 21428"/>
          <p:cNvSpPr txBox="1"/>
          <p:nvPr/>
        </p:nvSpPr>
        <p:spPr>
          <a:xfrm>
            <a:off x="4043585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初始化与同步</a:t>
            </a:r>
          </a:p>
        </p:txBody>
      </p:sp>
      <p:sp>
        <p:nvSpPr>
          <p:cNvPr id="21430" name="TextBox 21429"/>
          <p:cNvSpPr txBox="1"/>
          <p:nvPr/>
        </p:nvSpPr>
        <p:spPr>
          <a:xfrm>
            <a:off x="4043585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历史初始化 · 增量同步</a:t>
            </a:r>
          </a:p>
        </p:txBody>
      </p:sp>
      <p:pic>
        <p:nvPicPr>
          <p:cNvPr id="21431" name="Picture 21430" descr="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3926" y="3324412"/>
            <a:ext cx="402336" cy="402336"/>
          </a:xfrm>
          <a:prstGeom prst="rect">
            <a:avLst/>
          </a:prstGeom>
        </p:spPr>
      </p:pic>
      <p:sp>
        <p:nvSpPr>
          <p:cNvPr id="21432" name="TextBox 21431"/>
          <p:cNvSpPr txBox="1"/>
          <p:nvPr/>
        </p:nvSpPr>
        <p:spPr>
          <a:xfrm>
            <a:off x="4964974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质量检查与试运行</a:t>
            </a:r>
          </a:p>
        </p:txBody>
      </p:sp>
      <p:sp>
        <p:nvSpPr>
          <p:cNvPr id="21433" name="TextBox 21432"/>
          <p:cNvSpPr txBox="1"/>
          <p:nvPr/>
        </p:nvSpPr>
        <p:spPr>
          <a:xfrm>
            <a:off x="4964974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核对通过才上线</a:t>
            </a:r>
          </a:p>
        </p:txBody>
      </p:sp>
      <p:pic>
        <p:nvPicPr>
          <p:cNvPr id="21434" name="Picture 21433" descr="activity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6241" y="4409685"/>
            <a:ext cx="402336" cy="402336"/>
          </a:xfrm>
          <a:prstGeom prst="rect">
            <a:avLst/>
          </a:prstGeom>
        </p:spPr>
      </p:pic>
      <p:sp>
        <p:nvSpPr>
          <p:cNvPr id="21435" name="TextBox 21434"/>
          <p:cNvSpPr txBox="1"/>
          <p:nvPr/>
        </p:nvSpPr>
        <p:spPr>
          <a:xfrm>
            <a:off x="5897289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上线与监控</a:t>
            </a:r>
          </a:p>
        </p:txBody>
      </p:sp>
      <p:sp>
        <p:nvSpPr>
          <p:cNvPr id="21436" name="TextBox 21435"/>
          <p:cNvSpPr txBox="1"/>
          <p:nvPr/>
        </p:nvSpPr>
        <p:spPr>
          <a:xfrm>
            <a:off x="5897289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运行监测 · 异常告警</a:t>
            </a:r>
          </a:p>
        </p:txBody>
      </p:sp>
      <p:sp>
        <p:nvSpPr>
          <p:cNvPr id="21437" name="Rounded Rectangle 21436"/>
          <p:cNvSpPr/>
          <p:nvPr/>
        </p:nvSpPr>
        <p:spPr>
          <a:xfrm>
            <a:off x="8732520" y="2331720"/>
            <a:ext cx="2130552" cy="3611880"/>
          </a:xfrm>
          <a:prstGeom prst="roundRect">
            <a:avLst>
              <a:gd name="adj" fmla="val 515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8" name="TextBox 21437"/>
          <p:cNvSpPr txBox="1"/>
          <p:nvPr/>
        </p:nvSpPr>
        <p:spPr>
          <a:xfrm>
            <a:off x="8915400" y="2450592"/>
            <a:ext cx="185623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配套能力</a:t>
            </a:r>
          </a:p>
        </p:txBody>
      </p:sp>
      <p:sp>
        <p:nvSpPr>
          <p:cNvPr id="21439" name="Rounded Rectangle 21438"/>
          <p:cNvSpPr/>
          <p:nvPr/>
        </p:nvSpPr>
        <p:spPr>
          <a:xfrm>
            <a:off x="8915400" y="2834640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21440" name="Rounded Rectangle 21439"/>
          <p:cNvSpPr/>
          <p:nvPr/>
        </p:nvSpPr>
        <p:spPr>
          <a:xfrm>
            <a:off x="8915400" y="3264408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文档与 SDK</a:t>
            </a:r>
          </a:p>
        </p:txBody>
      </p:sp>
      <p:sp>
        <p:nvSpPr>
          <p:cNvPr id="21441" name="Rounded Rectangle 21440"/>
          <p:cNvSpPr/>
          <p:nvPr/>
        </p:nvSpPr>
        <p:spPr>
          <a:xfrm>
            <a:off x="8915400" y="3694176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沙箱</a:t>
            </a:r>
          </a:p>
        </p:txBody>
      </p:sp>
      <p:sp>
        <p:nvSpPr>
          <p:cNvPr id="21442" name="Rounded Rectangle 21441"/>
          <p:cNvSpPr/>
          <p:nvPr/>
        </p:nvSpPr>
        <p:spPr>
          <a:xfrm>
            <a:off x="8915400" y="4123944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签名鉴权</a:t>
            </a:r>
          </a:p>
        </p:txBody>
      </p:sp>
      <p:sp>
        <p:nvSpPr>
          <p:cNvPr id="21443" name="Rounded Rectangle 21442"/>
          <p:cNvSpPr/>
          <p:nvPr/>
        </p:nvSpPr>
        <p:spPr>
          <a:xfrm>
            <a:off x="8915400" y="4553712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限流与幂等</a:t>
            </a:r>
          </a:p>
        </p:txBody>
      </p:sp>
      <p:sp>
        <p:nvSpPr>
          <p:cNvPr id="21444" name="Rounded Rectangle 21443"/>
          <p:cNvSpPr/>
          <p:nvPr/>
        </p:nvSpPr>
        <p:spPr>
          <a:xfrm>
            <a:off x="8915400" y="4983479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调用计量</a:t>
            </a:r>
          </a:p>
        </p:txBody>
      </p:sp>
      <p:sp>
        <p:nvSpPr>
          <p:cNvPr id="21445" name="Rounded Rectangle 21444"/>
          <p:cNvSpPr/>
          <p:nvPr/>
        </p:nvSpPr>
        <p:spPr>
          <a:xfrm>
            <a:off x="8915400" y="5413248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服务等级</a:t>
            </a:r>
          </a:p>
        </p:txBody>
      </p:sp>
      <p:sp>
        <p:nvSpPr>
          <p:cNvPr id="21446" name="Rounded Rectangle 21445"/>
          <p:cNvSpPr/>
          <p:nvPr/>
        </p:nvSpPr>
        <p:spPr>
          <a:xfrm>
            <a:off x="658368" y="6263640"/>
            <a:ext cx="5010912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B4551A"/>
                </a:solidFill>
              </a:rPr>
              <a:t>适用　</a:t>
            </a:r>
            <a:r>
              <a:rPr sz="1250" b="0">
                <a:solidFill>
                  <a:srgbClr val="2B2F42"/>
                </a:solidFill>
              </a:rPr>
              <a:t>已适配的标准系统；非标系统进入专项实施</a:t>
            </a:r>
          </a:p>
        </p:txBody>
      </p:sp>
      <p:sp>
        <p:nvSpPr>
          <p:cNvPr id="21447" name="Rounded Rectangle 21446"/>
          <p:cNvSpPr/>
          <p:nvPr/>
        </p:nvSpPr>
        <p:spPr>
          <a:xfrm>
            <a:off x="5852160" y="6263640"/>
            <a:ext cx="501091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衡量　</a:t>
            </a:r>
            <a:r>
              <a:rPr sz="1250" b="0">
                <a:solidFill>
                  <a:srgbClr val="FFFFFF"/>
                </a:solidFill>
              </a:rPr>
              <a:t>接入周期中位数与 P90 · 首次验收通过率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对外产品：谁买、买什么、怎么收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景区经营分析增强版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景区、景区集团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统一分析、对标、预警、问数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SaaS 增购订阅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20896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2064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预测与运营助手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2064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季节性强的景区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客流预测、备勤建议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场景订阅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3424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4592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数据开放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4592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渠道伙伴、集成商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标准接入、指标调用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年费 + 调用量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区域文旅监测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文旅主管部门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客流、消费、安全研判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项目 + 运营服务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20896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2064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行业研究与基准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2064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文旅集团、研究机构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报告、匿名对标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订阅或专题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3424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84592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FFE2C8"/>
                </a:solidFill>
              </a:rPr>
              <a:t>按产品核算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4592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</a:rPr>
              <a:t>收入、交付人天、云资源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模型调用、外部数据、客服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看毛利、续约、复用率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61036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c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" y="61036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前提　</a:t>
            </a:r>
            <a:r>
              <a:rPr sz="1300" b="0">
                <a:solidFill>
                  <a:srgbClr val="2B2F42"/>
                </a:solidFill>
              </a:rPr>
              <a:t>数据来源、授权用途、交付粒度写清楚；不因数据进入平台就推定可以销售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对外路径：从内部验证到标准服务，从月报到团体标准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46</a:t>
            </a:r>
          </a:p>
        </p:txBody>
      </p:sp>
      <p:grpSp>
        <p:nvGrpSpPr>
          <p:cNvPr id="21400" name="素材 6"/>
          <p:cNvGrpSpPr/>
          <p:nvPr/>
        </p:nvGrpSpPr>
        <p:grpSpPr>
          <a:xfrm>
            <a:off x="658368" y="2958084"/>
            <a:ext cx="9158456" cy="1828800"/>
            <a:chOff x="504453" y="3531488"/>
            <a:chExt cx="10545456" cy="2105762"/>
          </a:xfrm>
        </p:grpSpPr>
        <p:sp>
          <p:nvSpPr>
            <p:cNvPr id="21401" name="Pentagon 1"/>
            <p:cNvSpPr/>
            <p:nvPr/>
          </p:nvSpPr>
          <p:spPr>
            <a:xfrm>
              <a:off x="504453" y="3531488"/>
              <a:ext cx="2720842" cy="351076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402" name="Notched Right Arrow 2"/>
            <p:cNvSpPr/>
            <p:nvPr/>
          </p:nvSpPr>
          <p:spPr>
            <a:xfrm>
              <a:off x="3112658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5D95F1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3" name="Straight Connector 4"/>
            <p:cNvCxnSpPr/>
            <p:nvPr/>
          </p:nvCxnSpPr>
          <p:spPr>
            <a:xfrm>
              <a:off x="3112658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04" name="Straight Connector 5"/>
            <p:cNvCxnSpPr/>
            <p:nvPr/>
          </p:nvCxnSpPr>
          <p:spPr>
            <a:xfrm>
              <a:off x="5667888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sp>
          <p:nvSpPr>
            <p:cNvPr id="21405" name="Notched Right Arrow 6"/>
            <p:cNvSpPr/>
            <p:nvPr/>
          </p:nvSpPr>
          <p:spPr>
            <a:xfrm>
              <a:off x="5720862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655BE6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6" name="Straight Connector 7"/>
            <p:cNvCxnSpPr/>
            <p:nvPr/>
          </p:nvCxnSpPr>
          <p:spPr>
            <a:xfrm>
              <a:off x="8276093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sp>
          <p:nvSpPr>
            <p:cNvPr id="21407" name="Notched Right Arrow 8"/>
            <p:cNvSpPr/>
            <p:nvPr/>
          </p:nvSpPr>
          <p:spPr>
            <a:xfrm>
              <a:off x="8329067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F08A3C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8" name="Straight Connector 9"/>
            <p:cNvCxnSpPr/>
            <p:nvPr/>
          </p:nvCxnSpPr>
          <p:spPr>
            <a:xfrm>
              <a:off x="10884297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sp>
        <p:nvSpPr>
          <p:cNvPr id="21409" name="TextBox 21408"/>
          <p:cNvSpPr txBox="1"/>
          <p:nvPr/>
        </p:nvSpPr>
        <p:spPr>
          <a:xfrm>
            <a:off x="658368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商业化路径</a:t>
            </a:r>
          </a:p>
        </p:txBody>
      </p:sp>
      <p:pic>
        <p:nvPicPr>
          <p:cNvPr id="21410" name="Picture 21409" descr="hom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414" y="2480942"/>
            <a:ext cx="365760" cy="365760"/>
          </a:xfrm>
          <a:prstGeom prst="rect">
            <a:avLst/>
          </a:prstGeom>
        </p:spPr>
      </p:pic>
      <p:sp>
        <p:nvSpPr>
          <p:cNvPr id="21411" name="TextBox 21410"/>
          <p:cNvSpPr txBox="1"/>
          <p:nvPr/>
        </p:nvSpPr>
        <p:spPr>
          <a:xfrm>
            <a:off x="697294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776CFD"/>
                </a:solidFill>
              </a:rPr>
              <a:t>内部验证</a:t>
            </a:r>
          </a:p>
        </p:txBody>
      </p:sp>
      <p:sp>
        <p:nvSpPr>
          <p:cNvPr id="21412" name="TextBox 21411"/>
          <p:cNvSpPr txBox="1"/>
          <p:nvPr/>
        </p:nvSpPr>
        <p:spPr>
          <a:xfrm>
            <a:off x="788734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内部业务先用，验证口径与效果</a:t>
            </a:r>
          </a:p>
        </p:txBody>
      </p:sp>
      <p:pic>
        <p:nvPicPr>
          <p:cNvPr id="21413" name="Picture 21412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0693" y="2480942"/>
            <a:ext cx="365760" cy="365760"/>
          </a:xfrm>
          <a:prstGeom prst="rect">
            <a:avLst/>
          </a:prstGeom>
        </p:spPr>
      </p:pic>
      <p:sp>
        <p:nvSpPr>
          <p:cNvPr id="21414" name="TextBox 21413"/>
          <p:cNvSpPr txBox="1"/>
          <p:nvPr/>
        </p:nvSpPr>
        <p:spPr>
          <a:xfrm>
            <a:off x="2960573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5D95F1"/>
                </a:solidFill>
              </a:rPr>
              <a:t>试点景区</a:t>
            </a:r>
          </a:p>
        </p:txBody>
      </p:sp>
      <p:sp>
        <p:nvSpPr>
          <p:cNvPr id="21415" name="TextBox 21414"/>
          <p:cNvSpPr txBox="1"/>
          <p:nvPr/>
        </p:nvSpPr>
        <p:spPr>
          <a:xfrm>
            <a:off x="3052013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典型景区共建，验证使用价值</a:t>
            </a:r>
          </a:p>
        </p:txBody>
      </p:sp>
      <p:pic>
        <p:nvPicPr>
          <p:cNvPr id="21416" name="Picture 21415" descr="sta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912" y="2480942"/>
            <a:ext cx="365760" cy="365760"/>
          </a:xfrm>
          <a:prstGeom prst="rect">
            <a:avLst/>
          </a:prstGeom>
        </p:spPr>
      </p:pic>
      <p:sp>
        <p:nvSpPr>
          <p:cNvPr id="21417" name="TextBox 21416"/>
          <p:cNvSpPr txBox="1"/>
          <p:nvPr/>
        </p:nvSpPr>
        <p:spPr>
          <a:xfrm>
            <a:off x="5231792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655BE6"/>
                </a:solidFill>
              </a:rPr>
              <a:t>付费试点</a:t>
            </a:r>
          </a:p>
        </p:txBody>
      </p:sp>
      <p:sp>
        <p:nvSpPr>
          <p:cNvPr id="21418" name="TextBox 21417"/>
          <p:cNvSpPr txBox="1"/>
          <p:nvPr/>
        </p:nvSpPr>
        <p:spPr>
          <a:xfrm>
            <a:off x="5323232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验证付费意愿、定价与交付</a:t>
            </a:r>
          </a:p>
        </p:txBody>
      </p:sp>
      <p:pic>
        <p:nvPicPr>
          <p:cNvPr id="21419" name="Picture 21418" descr="send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191" y="2480942"/>
            <a:ext cx="365760" cy="365760"/>
          </a:xfrm>
          <a:prstGeom prst="rect">
            <a:avLst/>
          </a:prstGeom>
        </p:spPr>
      </p:pic>
      <p:sp>
        <p:nvSpPr>
          <p:cNvPr id="21420" name="TextBox 21419"/>
          <p:cNvSpPr txBox="1"/>
          <p:nvPr/>
        </p:nvSpPr>
        <p:spPr>
          <a:xfrm>
            <a:off x="7495071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B4551A"/>
                </a:solidFill>
              </a:rPr>
              <a:t>标准服务包</a:t>
            </a:r>
          </a:p>
        </p:txBody>
      </p:sp>
      <p:sp>
        <p:nvSpPr>
          <p:cNvPr id="21421" name="TextBox 21420"/>
          <p:cNvSpPr txBox="1"/>
          <p:nvPr/>
        </p:nvSpPr>
        <p:spPr>
          <a:xfrm>
            <a:off x="7586511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分析增强版 · AI 运营助手 · 标准 API</a:t>
            </a:r>
          </a:p>
        </p:txBody>
      </p:sp>
      <p:sp>
        <p:nvSpPr>
          <p:cNvPr id="21422" name="TextBox 21421"/>
          <p:cNvSpPr txBox="1"/>
          <p:nvPr/>
        </p:nvSpPr>
        <p:spPr>
          <a:xfrm>
            <a:off x="658368" y="515264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B4551A"/>
                </a:solidFill>
              </a:rPr>
              <a:t>行业输出路径</a:t>
            </a:r>
          </a:p>
        </p:txBody>
      </p:sp>
      <p:sp>
        <p:nvSpPr>
          <p:cNvPr id="21423" name="Rounded Rectangle 21422"/>
          <p:cNvSpPr/>
          <p:nvPr/>
        </p:nvSpPr>
        <p:spPr>
          <a:xfrm>
            <a:off x="658368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经营月报</a:t>
            </a:r>
          </a:p>
        </p:txBody>
      </p:sp>
      <p:sp>
        <p:nvSpPr>
          <p:cNvPr id="21424" name="Right Arrow 21423"/>
          <p:cNvSpPr/>
          <p:nvPr/>
        </p:nvSpPr>
        <p:spPr>
          <a:xfrm>
            <a:off x="2479852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5" name="Rounded Rectangle 21424"/>
          <p:cNvSpPr/>
          <p:nvPr/>
        </p:nvSpPr>
        <p:spPr>
          <a:xfrm>
            <a:off x="2772460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BD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节假日专题</a:t>
            </a:r>
          </a:p>
        </p:txBody>
      </p:sp>
      <p:sp>
        <p:nvSpPr>
          <p:cNvPr id="21426" name="Right Arrow 21425"/>
          <p:cNvSpPr/>
          <p:nvPr/>
        </p:nvSpPr>
        <p:spPr>
          <a:xfrm>
            <a:off x="4593945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7" name="Rounded Rectangle 21426"/>
          <p:cNvSpPr/>
          <p:nvPr/>
        </p:nvSpPr>
        <p:spPr>
          <a:xfrm>
            <a:off x="4886553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年度研究</a:t>
            </a:r>
          </a:p>
        </p:txBody>
      </p:sp>
      <p:sp>
        <p:nvSpPr>
          <p:cNvPr id="21428" name="Right Arrow 21427"/>
          <p:cNvSpPr/>
          <p:nvPr/>
        </p:nvSpPr>
        <p:spPr>
          <a:xfrm>
            <a:off x="6708038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9" name="Rounded Rectangle 21428"/>
          <p:cNvSpPr/>
          <p:nvPr/>
        </p:nvSpPr>
        <p:spPr>
          <a:xfrm>
            <a:off x="7000646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3A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对标与规范</a:t>
            </a:r>
          </a:p>
        </p:txBody>
      </p:sp>
      <p:sp>
        <p:nvSpPr>
          <p:cNvPr id="21430" name="Right Arrow 21429"/>
          <p:cNvSpPr/>
          <p:nvPr/>
        </p:nvSpPr>
        <p:spPr>
          <a:xfrm>
            <a:off x="8822131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1" name="Rounded Rectangle 21430"/>
          <p:cNvSpPr/>
          <p:nvPr/>
        </p:nvSpPr>
        <p:spPr>
          <a:xfrm>
            <a:off x="9114739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团体标准共建</a:t>
            </a:r>
          </a:p>
        </p:txBody>
      </p:sp>
      <p:sp>
        <p:nvSpPr>
          <p:cNvPr id="21432" name="Rounded Rectangle 21431"/>
          <p:cNvSpPr/>
          <p:nvPr/>
        </p:nvSpPr>
        <p:spPr>
          <a:xfrm>
            <a:off x="658368" y="634136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33" name="Picture 21432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478524"/>
            <a:ext cx="274320" cy="274320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1252728" y="634136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边界　</a:t>
            </a:r>
            <a:r>
              <a:rPr sz="1250" b="0">
                <a:solidFill>
                  <a:srgbClr val="FFFFFF"/>
                </a:solidFill>
              </a:rPr>
              <a:t>单景区数据只服务该景区 · 对外只提供匿名聚合 · 授权清楚 · 成本可核算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行业成果：可验证的方法，可信的结论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9748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83463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2971799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27048" y="280720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节假日洞察快报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15468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预订、核销、渠道变化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69748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5488" y="283463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648" y="2971799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89576" y="280720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年度行业报告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9576" y="315468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数字经营与典型实践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69748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48015" y="283463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5176" y="2971799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52103" y="280720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基准与景气指数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2103" y="315468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同类景区匿名对标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5759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59" y="379475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verifie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" y="393191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27048" y="376732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数据与接入规范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11479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模型、口径、接口契约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365759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85488" y="379475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2648" y="3931919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89576" y="376732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高质量数据集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9576" y="411479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交易、核销、客流脱敏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365759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48015" y="379475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5176" y="3931919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52103" y="376732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应用实践指南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2103" y="411479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问数评测、知识治理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方法论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公开样本与口径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26740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区分同店与新增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95113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不外推全国市场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3486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最小分组规模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31859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起草，专家审核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9893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glob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6135624"/>
            <a:ext cx="274320" cy="2743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59893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发布渠道　</a:t>
            </a:r>
            <a:r>
              <a:rPr sz="1300" b="0">
                <a:solidFill>
                  <a:srgbClr val="FFFFFF"/>
                </a:solidFill>
              </a:rPr>
              <a:t>依托文旅部技术创新中心；规范从企业版到伙伴共建，再推动团体标准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价值与保障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价值逐层放大，保障落地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价值逐层放大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建成之后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价值衡量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组织保障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风险与应对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需要的支持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价值逐层放大：企业 → 客户 → 伙伴 → 行业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49</a:t>
            </a:r>
          </a:p>
        </p:txBody>
      </p:sp>
      <p:grpSp>
        <p:nvGrpSpPr>
          <p:cNvPr id="21400" name="素材 3"/>
          <p:cNvGrpSpPr/>
          <p:nvPr/>
        </p:nvGrpSpPr>
        <p:grpSpPr>
          <a:xfrm>
            <a:off x="960120" y="3058746"/>
            <a:ext cx="9418320" cy="2188617"/>
            <a:chOff x="742226" y="3016129"/>
            <a:chExt cx="9386508" cy="2181225"/>
          </a:xfrm>
        </p:grpSpPr>
        <p:sp>
          <p:nvSpPr>
            <p:cNvPr id="21401" name="Oval 5"/>
            <p:cNvSpPr>
              <a:spLocks noChangeArrowheads="1"/>
            </p:cNvSpPr>
            <p:nvPr/>
          </p:nvSpPr>
          <p:spPr bwMode="auto">
            <a:xfrm>
              <a:off x="822820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Freeform 6"/>
            <p:cNvSpPr>
              <a:spLocks noEditPoints="1"/>
            </p:cNvSpPr>
            <p:nvPr/>
          </p:nvSpPr>
          <p:spPr bwMode="auto">
            <a:xfrm>
              <a:off x="742226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Pentagon 6"/>
            <p:cNvSpPr/>
            <p:nvPr/>
          </p:nvSpPr>
          <p:spPr>
            <a:xfrm>
              <a:off x="2226707" y="4030542"/>
              <a:ext cx="955423" cy="152400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404" name="Oval 5"/>
            <p:cNvSpPr>
              <a:spLocks noChangeArrowheads="1"/>
            </p:cNvSpPr>
            <p:nvPr/>
          </p:nvSpPr>
          <p:spPr bwMode="auto">
            <a:xfrm>
              <a:off x="3460173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6"/>
            <p:cNvSpPr>
              <a:spLocks noEditPoints="1"/>
            </p:cNvSpPr>
            <p:nvPr/>
          </p:nvSpPr>
          <p:spPr bwMode="auto">
            <a:xfrm>
              <a:off x="3379579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6" name="Pentagon 11"/>
            <p:cNvSpPr/>
            <p:nvPr/>
          </p:nvSpPr>
          <p:spPr>
            <a:xfrm>
              <a:off x="4910545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7" name="Oval 5"/>
            <p:cNvSpPr>
              <a:spLocks noChangeArrowheads="1"/>
            </p:cNvSpPr>
            <p:nvPr/>
          </p:nvSpPr>
          <p:spPr bwMode="auto">
            <a:xfrm>
              <a:off x="6175752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8" name="Freeform 6"/>
            <p:cNvSpPr>
              <a:spLocks noEditPoints="1"/>
            </p:cNvSpPr>
            <p:nvPr/>
          </p:nvSpPr>
          <p:spPr bwMode="auto">
            <a:xfrm>
              <a:off x="6095158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9" name="Pentagon 15"/>
            <p:cNvSpPr/>
            <p:nvPr/>
          </p:nvSpPr>
          <p:spPr>
            <a:xfrm>
              <a:off x="7594383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10" name="Oval 5"/>
            <p:cNvSpPr>
              <a:spLocks noChangeArrowheads="1"/>
            </p:cNvSpPr>
            <p:nvPr/>
          </p:nvSpPr>
          <p:spPr bwMode="auto">
            <a:xfrm>
              <a:off x="8874335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11" name="Freeform 6"/>
            <p:cNvSpPr>
              <a:spLocks noEditPoints="1"/>
            </p:cNvSpPr>
            <p:nvPr/>
          </p:nvSpPr>
          <p:spPr bwMode="auto">
            <a:xfrm>
              <a:off x="8793741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12" name="Picture 21411" descr="ge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438" y="3905077"/>
            <a:ext cx="493776" cy="493776"/>
          </a:xfrm>
          <a:prstGeom prst="rect">
            <a:avLst/>
          </a:prstGeom>
        </p:spPr>
      </p:pic>
      <p:sp>
        <p:nvSpPr>
          <p:cNvPr id="21413" name="TextBox 21412"/>
          <p:cNvSpPr txBox="1"/>
          <p:nvPr/>
        </p:nvSpPr>
        <p:spPr>
          <a:xfrm>
            <a:off x="393886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降本增效</a:t>
            </a:r>
          </a:p>
        </p:txBody>
      </p:sp>
      <p:sp>
        <p:nvSpPr>
          <p:cNvPr id="21414" name="TextBox 21413"/>
          <p:cNvSpPr txBox="1"/>
          <p:nvPr/>
        </p:nvSpPr>
        <p:spPr>
          <a:xfrm>
            <a:off x="393886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赋能企业内部</a:t>
            </a:r>
          </a:p>
        </p:txBody>
      </p:sp>
      <p:sp>
        <p:nvSpPr>
          <p:cNvPr id="21415" name="TextBox 21414"/>
          <p:cNvSpPr txBox="1"/>
          <p:nvPr/>
        </p:nvSpPr>
        <p:spPr>
          <a:xfrm>
            <a:off x="393886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重复模型退役，人力释放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T+1 到分钟级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差错可发现、可追溯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数据资产可计量</a:t>
            </a:r>
          </a:p>
        </p:txBody>
      </p:sp>
      <p:pic>
        <p:nvPicPr>
          <p:cNvPr id="21416" name="Picture 21415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836" y="3905077"/>
            <a:ext cx="493776" cy="493776"/>
          </a:xfrm>
          <a:prstGeom prst="rect">
            <a:avLst/>
          </a:prstGeom>
        </p:spPr>
      </p:pic>
      <p:sp>
        <p:nvSpPr>
          <p:cNvPr id="21417" name="TextBox 21416"/>
          <p:cNvSpPr txBox="1"/>
          <p:nvPr/>
        </p:nvSpPr>
        <p:spPr>
          <a:xfrm>
            <a:off x="3036284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客户增长</a:t>
            </a:r>
          </a:p>
        </p:txBody>
      </p:sp>
      <p:sp>
        <p:nvSpPr>
          <p:cNvPr id="21418" name="TextBox 21417"/>
          <p:cNvSpPr txBox="1"/>
          <p:nvPr/>
        </p:nvSpPr>
        <p:spPr>
          <a:xfrm>
            <a:off x="3036284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赋能客户</a:t>
            </a:r>
          </a:p>
        </p:txBody>
      </p:sp>
      <p:sp>
        <p:nvSpPr>
          <p:cNvPr id="21419" name="TextBox 21418"/>
          <p:cNvSpPr txBox="1"/>
          <p:nvPr/>
        </p:nvSpPr>
        <p:spPr>
          <a:xfrm>
            <a:off x="3036284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景区自主分析与 AI 辅助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续约、客单价、新服务</a:t>
            </a:r>
          </a:p>
        </p:txBody>
      </p:sp>
      <p:pic>
        <p:nvPicPr>
          <p:cNvPr id="21420" name="Picture 214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808" y="3905077"/>
            <a:ext cx="493776" cy="493776"/>
          </a:xfrm>
          <a:prstGeom prst="rect">
            <a:avLst/>
          </a:prstGeom>
        </p:spPr>
      </p:pic>
      <p:sp>
        <p:nvSpPr>
          <p:cNvPr id="21421" name="TextBox 21420"/>
          <p:cNvSpPr txBox="1"/>
          <p:nvPr/>
        </p:nvSpPr>
        <p:spPr>
          <a:xfrm>
            <a:off x="5761256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生态连接</a:t>
            </a:r>
          </a:p>
        </p:txBody>
      </p:sp>
      <p:sp>
        <p:nvSpPr>
          <p:cNvPr id="21422" name="TextBox 21421"/>
          <p:cNvSpPr txBox="1"/>
          <p:nvPr/>
        </p:nvSpPr>
        <p:spPr>
          <a:xfrm>
            <a:off x="5761256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赋能伙伴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5761256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标准接入、直接集成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可信数据与广泛连接</a:t>
            </a:r>
          </a:p>
        </p:txBody>
      </p:sp>
      <p:pic>
        <p:nvPicPr>
          <p:cNvPr id="21424" name="Picture 21423" descr="glob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605" y="3905077"/>
            <a:ext cx="493776" cy="493776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8477053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B4551A"/>
                </a:solidFill>
              </a:rPr>
              <a:t>行业影响力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8477053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赋能行业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8477053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口径、模型、接入规范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节假日专题与年度报告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合规高质量数据集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文旅数据与 AI 专业地位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建成之后：每类角色都用上可信数据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3191256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09928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管理层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每个经营问题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都有可追溯的答案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22064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656" y="3191256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72456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业务团队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2456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日常分析自助完成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或直接问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84592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184" y="3191256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34984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4984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从反复对数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转向建能力、出洞察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9536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hom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7" y="4654296"/>
            <a:ext cx="329184" cy="32918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709928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景区客户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用自己的数据和指标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做经营决策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22064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in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6656" y="4654296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172456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合作伙伴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2456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标准场景配置化接入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能力直接集成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84592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lob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9184" y="4654296"/>
            <a:ext cx="329184" cy="3291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634984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行业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4984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文旅数据报告、对标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与规范的重要发布方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815584"/>
            <a:ext cx="10204704" cy="731520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815584"/>
            <a:ext cx="1020470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数据可信 · 模型可复用 · 服务稳定 · 能力易扩展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价值衡量：每类价值都有可量化的指标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78024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655BE6"/>
                </a:solidFill>
              </a:rPr>
              <a:t>赋能企业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降本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退役模型与任务、释放存算、省下人天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增效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可查询延迟、交付周期、自助完成率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控险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核对差异率、问题关闭时长、越权拦截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5248656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541264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跑通闭环数、回流覆盖率、采纳率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6136" y="2478024"/>
            <a:ext cx="3249168" cy="3520440"/>
          </a:xfrm>
          <a:prstGeom prst="roundRect">
            <a:avLst>
              <a:gd name="adj" fmla="val 281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4736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FFFFFF"/>
                </a:solidFill>
              </a:rPr>
              <a:t>赋能客户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4736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客户价值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4736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自助分析景区数、活跃度、满意度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4736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商业价值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4736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付费客户、收入、续约率、毛利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4736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接入效率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4736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接入周期、首次验收通过率、调用量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3904" y="2478024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2504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赋能行业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2504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影响力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2504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报告发布与引用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2504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标准化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2504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规范被伙伴采纳、标准立项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2504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合作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42504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研究合作、商机转化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622706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ctivit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64224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622706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先建立基线再定目标；以实际使用和业务结果衡量，不以上线看板数量衡量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组织保障：谁负责、怎么协同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2738628"/>
            <a:ext cx="2962656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数据治理委员会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管理层牵头 · 裁定口径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3835908"/>
            <a:ext cx="2962656" cy="73152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数据平台部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建设与运营平台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835908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业务线数据负责人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定口径 · 用结果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3835908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数据大使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传需求 · 推使用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720" y="3470148"/>
            <a:ext cx="0" cy="365760"/>
          </a:xfrm>
          <a:prstGeom prst="line">
            <a:avLst/>
          </a:prstGeom>
          <a:ln w="25400">
            <a:solidFill>
              <a:srgbClr val="655B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767328" y="4201668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42048" y="4201668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8368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平台与架构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8964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数据研发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9560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治理与指标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20156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产品与 BI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0752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AI 工程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1348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开放与解决方案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0720" y="456742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59230" y="4887468"/>
            <a:ext cx="8602980" cy="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59230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179826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00422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21018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341614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62210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616762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机制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35607" y="6167628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月度数据共建会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23032" y="6167628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口径评审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53256" y="6167628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资产健康分公示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40680" y="6167628"/>
            <a:ext cx="143865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代码与 SQL 评审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70776" y="6167628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开发规范手册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05799" y="6167628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月度数据洞察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风险与应对：提前识别，预案前置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口径对齐阻力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2216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管理层背书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定义权归业务方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20896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064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存量切换影响业务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14744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064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双跑验证、观察期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保留回滚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3424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4592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答错、越权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77272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84592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只用认证指标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评测回归、权限前置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个人信息与授权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2216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分类分级、最小化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法务前置审核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20896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2064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节假日峰值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14744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2064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压测、降级预案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节前封版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3424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84592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与现有产品重复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7272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84592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底座共建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应用分工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601218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58484"/>
            <a:ext cx="27432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52728" y="601218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资源不足时　</a:t>
            </a:r>
            <a:r>
              <a:rPr sz="1300" b="0">
                <a:solidFill>
                  <a:srgbClr val="FFFFFF"/>
                </a:solidFill>
              </a:rPr>
              <a:t>聚焦核心域，不贪多求全；每个阶段都有看得见的成果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需要的支持：四项关键决策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54</a:t>
            </a:r>
          </a:p>
        </p:txBody>
      </p:sp>
      <p:grpSp>
        <p:nvGrpSpPr>
          <p:cNvPr id="21400" name="素材 19"/>
          <p:cNvGrpSpPr/>
          <p:nvPr/>
        </p:nvGrpSpPr>
        <p:grpSpPr>
          <a:xfrm>
            <a:off x="868680" y="2582176"/>
            <a:ext cx="9692640" cy="4089376"/>
            <a:chOff x="792485" y="2119934"/>
            <a:chExt cx="9823679" cy="4144663"/>
          </a:xfrm>
        </p:grpSpPr>
        <p:sp>
          <p:nvSpPr>
            <p:cNvPr id="21401" name="Freeform 5"/>
            <p:cNvSpPr/>
            <p:nvPr/>
          </p:nvSpPr>
          <p:spPr bwMode="auto">
            <a:xfrm>
              <a:off x="6072403" y="2119934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02" name="Group 27"/>
            <p:cNvGrpSpPr/>
            <p:nvPr/>
          </p:nvGrpSpPr>
          <p:grpSpPr>
            <a:xfrm>
              <a:off x="4764059" y="2290535"/>
              <a:ext cx="1589476" cy="1077672"/>
              <a:chOff x="5155735" y="2183152"/>
              <a:chExt cx="1589476" cy="1077672"/>
            </a:xfrm>
          </p:grpSpPr>
          <p:sp>
            <p:nvSpPr>
              <p:cNvPr id="21403" name="Freeform 6"/>
              <p:cNvSpPr/>
              <p:nvPr/>
            </p:nvSpPr>
            <p:spPr bwMode="auto">
              <a:xfrm>
                <a:off x="5155735" y="2183152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776CFD">
                      <a:lumMod val="95000"/>
                    </a:srgbClr>
                  </a:gs>
                  <a:gs pos="100000">
                    <a:srgbClr val="776CFD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4" name="Freeform 7"/>
              <p:cNvSpPr/>
              <p:nvPr/>
            </p:nvSpPr>
            <p:spPr bwMode="auto">
              <a:xfrm>
                <a:off x="5226619" y="2234814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776CFD"/>
                  </a:gs>
                  <a:gs pos="100000">
                    <a:srgbClr val="776CFD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05" name="Freeform 5"/>
            <p:cNvSpPr/>
            <p:nvPr/>
          </p:nvSpPr>
          <p:spPr bwMode="auto">
            <a:xfrm flipH="1">
              <a:off x="792485" y="3085397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5D95F1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06" name="Group 26"/>
            <p:cNvGrpSpPr/>
            <p:nvPr/>
          </p:nvGrpSpPr>
          <p:grpSpPr>
            <a:xfrm>
              <a:off x="4984230" y="3255998"/>
              <a:ext cx="1589476" cy="1077672"/>
              <a:chOff x="5375906" y="3148615"/>
              <a:chExt cx="1589476" cy="1077672"/>
            </a:xfrm>
          </p:grpSpPr>
          <p:sp>
            <p:nvSpPr>
              <p:cNvPr id="21407" name="Freeform 6"/>
              <p:cNvSpPr/>
              <p:nvPr/>
            </p:nvSpPr>
            <p:spPr bwMode="auto">
              <a:xfrm flipH="1">
                <a:off x="5375906" y="3148615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5D95F1">
                      <a:lumMod val="95000"/>
                    </a:srgbClr>
                  </a:gs>
                  <a:gs pos="100000">
                    <a:srgbClr val="5D95F1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Freeform 7"/>
              <p:cNvSpPr/>
              <p:nvPr/>
            </p:nvSpPr>
            <p:spPr bwMode="auto">
              <a:xfrm flipH="1">
                <a:off x="5941774" y="3200277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5D95F1"/>
                  </a:gs>
                  <a:gs pos="100000">
                    <a:srgbClr val="5D95F1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09" name="Freeform 5"/>
            <p:cNvSpPr/>
            <p:nvPr/>
          </p:nvSpPr>
          <p:spPr bwMode="auto">
            <a:xfrm>
              <a:off x="6143287" y="4050860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10" name="Group 25"/>
            <p:cNvGrpSpPr/>
            <p:nvPr/>
          </p:nvGrpSpPr>
          <p:grpSpPr>
            <a:xfrm>
              <a:off x="4834943" y="4221461"/>
              <a:ext cx="1589476" cy="1077672"/>
              <a:chOff x="5226619" y="4114078"/>
              <a:chExt cx="1589476" cy="1077672"/>
            </a:xfrm>
          </p:grpSpPr>
          <p:sp>
            <p:nvSpPr>
              <p:cNvPr id="21411" name="Freeform 6"/>
              <p:cNvSpPr/>
              <p:nvPr/>
            </p:nvSpPr>
            <p:spPr bwMode="auto">
              <a:xfrm>
                <a:off x="5226619" y="4114078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655BE6">
                      <a:lumMod val="95000"/>
                    </a:srgbClr>
                  </a:gs>
                  <a:gs pos="100000">
                    <a:srgbClr val="655BE6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2" name="Freeform 7"/>
              <p:cNvSpPr/>
              <p:nvPr/>
            </p:nvSpPr>
            <p:spPr bwMode="auto">
              <a:xfrm>
                <a:off x="5297503" y="4165740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655BE6"/>
                  </a:gs>
                  <a:gs pos="100000">
                    <a:srgbClr val="655BE6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13" name="Freeform 5"/>
            <p:cNvSpPr/>
            <p:nvPr/>
          </p:nvSpPr>
          <p:spPr bwMode="auto">
            <a:xfrm flipH="1">
              <a:off x="792485" y="5016324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14" name="Group 24"/>
            <p:cNvGrpSpPr/>
            <p:nvPr/>
          </p:nvGrpSpPr>
          <p:grpSpPr>
            <a:xfrm>
              <a:off x="4984230" y="5186925"/>
              <a:ext cx="1589476" cy="1077672"/>
              <a:chOff x="5375906" y="5079542"/>
              <a:chExt cx="1589476" cy="1077672"/>
            </a:xfrm>
          </p:grpSpPr>
          <p:sp>
            <p:nvSpPr>
              <p:cNvPr id="21415" name="Freeform 6"/>
              <p:cNvSpPr/>
              <p:nvPr/>
            </p:nvSpPr>
            <p:spPr bwMode="auto">
              <a:xfrm flipH="1">
                <a:off x="5375906" y="5079542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F08A3C">
                      <a:lumMod val="95000"/>
                    </a:srgbClr>
                  </a:gs>
                  <a:gs pos="100000">
                    <a:srgbClr val="F08A3C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6" name="Freeform 7"/>
              <p:cNvSpPr/>
              <p:nvPr/>
            </p:nvSpPr>
            <p:spPr bwMode="auto">
              <a:xfrm flipH="1">
                <a:off x="5941774" y="5131204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08A3C"/>
                  </a:gs>
                  <a:gs pos="100000">
                    <a:srgbClr val="F08A3C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17" name="Rectangle 28"/>
            <p:cNvSpPr/>
            <p:nvPr/>
          </p:nvSpPr>
          <p:spPr>
            <a:xfrm>
              <a:off x="7435998" y="2255014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18" name="Rectangle 87"/>
            <p:cNvSpPr/>
            <p:nvPr/>
          </p:nvSpPr>
          <p:spPr>
            <a:xfrm>
              <a:off x="7435998" y="4153692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19" name="Rectangle 92"/>
            <p:cNvSpPr/>
            <p:nvPr/>
          </p:nvSpPr>
          <p:spPr>
            <a:xfrm>
              <a:off x="3832687" y="3218918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20" name="Rectangle 96"/>
            <p:cNvSpPr/>
            <p:nvPr/>
          </p:nvSpPr>
          <p:spPr>
            <a:xfrm>
              <a:off x="3832687" y="5149845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</p:grpSp>
      <p:pic>
        <p:nvPicPr>
          <p:cNvPr id="21421" name="Picture 21420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34" y="2845269"/>
            <a:ext cx="457200" cy="457200"/>
          </a:xfrm>
          <a:prstGeom prst="rect">
            <a:avLst/>
          </a:prstGeom>
        </p:spPr>
      </p:pic>
      <p:sp>
        <p:nvSpPr>
          <p:cNvPr id="21422" name="TextBox 21421"/>
          <p:cNvSpPr txBox="1"/>
          <p:nvPr/>
        </p:nvSpPr>
        <p:spPr>
          <a:xfrm>
            <a:off x="7620158" y="2699940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</a:rPr>
              <a:t>口径决策机制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7620158" y="3047412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成立数据治理委员会，明确口径最终裁定人</a:t>
            </a:r>
          </a:p>
        </p:txBody>
      </p:sp>
      <p:pic>
        <p:nvPicPr>
          <p:cNvPr id="21424" name="Picture 21423" descr="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1568" y="3792581"/>
            <a:ext cx="457200" cy="457200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1176967" y="3656275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550" b="1">
                <a:solidFill>
                  <a:srgbClr val="FFFFFF"/>
                </a:solidFill>
              </a:rPr>
              <a:t>规范强制力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1176967" y="4003747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规范检查作为发布前置条件；存量不动、增量新规范</a:t>
            </a:r>
          </a:p>
        </p:txBody>
      </p:sp>
      <p:pic>
        <p:nvPicPr>
          <p:cNvPr id="21427" name="Picture 21426" descr="st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5022" y="4730872"/>
            <a:ext cx="457200" cy="457200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7620158" y="4576522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</a:rPr>
              <a:t>资源投入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7620158" y="4923994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核心人员与资源预算；基于现有工具延伸，实时与湖仓验证后定</a:t>
            </a:r>
          </a:p>
        </p:txBody>
      </p:sp>
      <p:pic>
        <p:nvPicPr>
          <p:cNvPr id="21430" name="Picture 21429" descr="trus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2546" y="5669163"/>
            <a:ext cx="457200" cy="457200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1176967" y="5559923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550" b="1">
                <a:solidFill>
                  <a:srgbClr val="FFFFFF"/>
                </a:solidFill>
              </a:rPr>
              <a:t>业务配合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1176967" y="5907395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各业务线指定数据负责人，参与指标确认与闭环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3600" b="1">
                <a:solidFill>
                  <a:srgbClr val="FFFFFF"/>
                </a:solidFill>
              </a:rPr>
              <a:t>治理是基础，平台是载体</a:t>
            </a:r>
          </a:p>
          <a:p>
            <a:pPr algn="ctr"/>
            <a:r>
              <a:rPr sz="3600" b="1">
                <a:solidFill>
                  <a:srgbClr val="FFFFFF"/>
                </a:solidFill>
              </a:rPr>
              <a:t>AI 与数据服务放大价值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1800" b="0">
                <a:solidFill>
                  <a:srgbClr val="EEEDFF"/>
                </a:solidFill>
              </a:rPr>
              <a:t>赋能企业 · 赋能行业　|　谢谢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TYPE" val="a"/>
  <p:tag name="KSO_WM_UNIT_INDEX" val="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5"/>
  <p:tag name="KSO_WM_TEMPLATE_CATEGORY" val="custom"/>
  <p:tag name="KSO_WM_TEMPLATE_INDEX" val="20233105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105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105"/>
  <p:tag name="KSO_WM_TEMPLATE_THUMBS_INDEX" val="1、9"/>
</p:tagLst>
</file>

<file path=ppt/theme/theme1.xml><?xml version="1.0" encoding="utf-8"?>
<a:theme xmlns:a="http://schemas.openxmlformats.org/drawingml/2006/main" name="第一PPT模板网：www.1ppt.c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413ee637-1583-4e68-adee-a086e9f023e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bg1">
              <a:lumMod val="75000"/>
            </a:schemeClr>
          </a:solidFill>
        </a:ln>
        <a:scene3d>
          <a:camera prst="orthographicFront"/>
          <a:lightRig rig="flat" dir="t"/>
        </a:scene3d>
        <a:sp3d>
          <a:extrusionClr>
            <a:schemeClr val="bg1"/>
          </a:extrusionClr>
          <a:contourClr>
            <a:schemeClr val="bg1"/>
          </a:contourClr>
        </a:sp3d>
      </a:spPr>
      <a:bodyPr rtlCol="0" anchor="ctr"/>
      <a:lstStyle>
        <a:defPPr marL="0" algn="ctr" eaLnBrk="0" fontAlgn="ctr" hangingPunct="0">
          <a:spcBef>
            <a:spcPts val="0"/>
          </a:spcBef>
          <a:spcAft>
            <a:spcPts val="0"/>
          </a:spcAft>
          <a:buClr>
            <a:srgbClr val="FF0000"/>
          </a:buClr>
          <a:buSzPct val="70000"/>
          <a:tabLst>
            <a:tab pos="136525" algn="l"/>
          </a:tabLst>
          <a:defRPr sz="140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85">
      <a:dk1>
        <a:srgbClr val="000000"/>
      </a:dk1>
      <a:lt1>
        <a:srgbClr val="FFFFFF"/>
      </a:lt1>
      <a:dk2>
        <a:srgbClr val="44546A"/>
      </a:dk2>
      <a:lt2>
        <a:srgbClr val="FFFFFF"/>
      </a:lt2>
      <a:accent1>
        <a:srgbClr val="776CFD"/>
      </a:accent1>
      <a:accent2>
        <a:srgbClr val="5D95F1"/>
      </a:accent2>
      <a:accent3>
        <a:srgbClr val="655BE6"/>
      </a:accent3>
      <a:accent4>
        <a:srgbClr val="6C95FD"/>
      </a:accent4>
      <a:accent5>
        <a:srgbClr val="64DCBF"/>
      </a:accent5>
      <a:accent6>
        <a:srgbClr val="33C2FF"/>
      </a:accent6>
      <a:hlink>
        <a:srgbClr val="658BD5"/>
      </a:hlink>
      <a:folHlink>
        <a:srgbClr val="A16AA5"/>
      </a:folHlink>
    </a:clrScheme>
    <a:fontScheme name="自定义 32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21268</Words>
  <Application>WPS 演示</Application>
  <PresentationFormat>自定义</PresentationFormat>
  <Paragraphs>3534</Paragraphs>
  <Slides>78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78</vt:i4>
      </vt:variant>
    </vt:vector>
  </HeadingPairs>
  <TitlesOfParts>
    <vt:vector size="120" baseType="lpstr">
      <vt:lpstr>Arial</vt:lpstr>
      <vt:lpstr>SimSun</vt:lpstr>
      <vt:lpstr>Wingdings</vt:lpstr>
      <vt:lpstr>Microsoft YaHei</vt:lpstr>
      <vt:lpstr>Calibri</vt:lpstr>
      <vt:lpstr>Arial Unicode MS</vt:lpstr>
      <vt:lpstr>STXihei</vt:lpstr>
      <vt:lpstr>Calibri</vt:lpstr>
      <vt:lpstr>苹方 特粗</vt:lpstr>
      <vt:lpstr>OPPOSans B</vt:lpstr>
      <vt:lpstr>Microsoft YaHei UI Bold</vt:lpstr>
      <vt:lpstr>Microsoft YaHei UI Regular</vt:lpstr>
      <vt:lpstr>Arial</vt:lpstr>
      <vt:lpstr>DM Sans Regular</vt:lpstr>
      <vt:lpstr>FFont-Family</vt:lpstr>
      <vt:lpstr>Barlow Medium</vt:lpstr>
      <vt:lpstr>Helvetica Neue</vt:lpstr>
      <vt:lpstr>Microsoft YaHei Bold</vt:lpstr>
      <vt:lpstr>Helvetica Neue Medium</vt:lpstr>
      <vt:lpstr>Arial Unicode MS</vt:lpstr>
      <vt:lpstr>Gilroy ExtraBold</vt:lpstr>
      <vt:lpstr>OPPOSans R</vt:lpstr>
      <vt:lpstr>DengXian</vt:lpstr>
      <vt:lpstr>Jost-Bold</vt:lpstr>
      <vt:lpstr>思源宋体 CN Heavy</vt:lpstr>
      <vt:lpstr>Barlow Bold</vt:lpstr>
      <vt:lpstr>思源黑体 CN Normal</vt:lpstr>
      <vt:lpstr>SimHei</vt:lpstr>
      <vt:lpstr>Barlow SemiBold</vt:lpstr>
      <vt:lpstr>阿里巴巴普惠体 2.0 45 Light</vt:lpstr>
      <vt:lpstr>Alibaba PuHuiTi 3.0 55 Regular</vt:lpstr>
      <vt:lpstr>Roboto Regular</vt:lpstr>
      <vt:lpstr>思源黑体 CN Regular</vt:lpstr>
      <vt:lpstr>Alibaba PuHuiTi 3.0 55 Regular</vt:lpstr>
      <vt:lpstr>Barlow SemiBold</vt:lpstr>
      <vt:lpstr>Helvetica Neue</vt:lpstr>
      <vt:lpstr>Wingdings</vt:lpstr>
      <vt:lpstr>Microsoft YaHei</vt:lpstr>
      <vt:lpstr>+mn-ea微软雅黑</vt:lpstr>
      <vt:lpstr>+mn-lt微软雅黑</vt:lpstr>
      <vt:lpstr>第一PPT模板网：www.1ppt.com</vt:lpstr>
      <vt:lpstr>Office 主题​​</vt:lpstr>
      <vt:lpstr>点击输入总结内容</vt:lpstr>
      <vt:lpstr>目 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</dc:title>
  <dc:creator>www.1ppt.com</dc:creator>
  <cp:keywords>第一PPT www.1ppt.com</cp:keywords>
  <dc:description>http://www.1ppt.com</dc:description>
  <cp:category>http://www.1ppt.com</cp:category>
  <cp:lastModifiedBy>寶安居士</cp:lastModifiedBy>
  <cp:revision>1446</cp:revision>
  <dcterms:created xsi:type="dcterms:W3CDTF">2009-02-11T05:37:00Z</dcterms:created>
  <dcterms:modified xsi:type="dcterms:W3CDTF">2026-10-14T11:53:47Z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锐普图表</vt:lpwstr>
  </property>
  <property fmtid="{D5CDD505-2E9C-101B-9397-08002B2CF9AE}" pid="3" name="SlideDescription">
    <vt:lpwstr/>
  </property>
  <property fmtid="{D5CDD505-2E9C-101B-9397-08002B2CF9AE}" pid="4" name="ICV">
    <vt:lpwstr>B14B338463114CB1AA48C40141CB66E8_12</vt:lpwstr>
  </property>
  <property fmtid="{D5CDD505-2E9C-101B-9397-08002B2CF9AE}" pid="5" name="KSOProductBuildVer">
    <vt:lpwstr>2052-12.1.0.29161</vt:lpwstr>
  </property>
</Properties>
</file>