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7"/>
    <p:sldId id="275" r:id="rId6"/>
    <p:sldId id="276" r:id="rId5"/>
    <p:sldId id="277" r:id="rId4"/>
    <p:sldId id="278" r:id="rId3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开始之前，先用一页看全景，从左往右看。最左边是我们的产品，它们负责产生数据：智慧票务正在升级到票务 SaaS 3.0；景区业态管理、景区运营管理、景区财务管理、景区智慧终端、会员营销和分销、畅游，以及公司内部的 ERP、CRM、飞书，都是已有的；文档、图片、视频这类资料要新接进来。中间是数据平台要做的六件事：汇聚接入和统一底座在已有基础上升级，重点补实时，做到订单、核销分钟级看到；统一治理和资产目录要新建；统一出口就是已有的数据开放平台；AI 治理工具在社媒采集平台的基础上升级，AI 先标注、人再审核。再往右是 AI 平台要做的事：最核心的是新建一个智能体平台，统一入口、认人、听懂、分发、计量；平台上面是各个智能体，数字大脑在小Q 问数的基础上升级，加上洞察和调度；畅游 AI 已有；智慧票务 AI、调度中枢、内部助手要新建。最右边是服务谁：游客、景区、公司内部和行业。最下面是回流：用的结果再回到数据平台，越用越准。后面的内容，就是把这张图一块一块展开讲。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这一张图把整个数据和 AI 平台讲清楚，先看左边，从下往上。第一层，数据从哪来：一类是业务数据，票务、订单、经营、营销、OTA、财务、ERP、终端；另一类是企业知识，Word、PDF、Excel、Markdown、图片、视频、音频。第二层，收进来：PDC 数据集成，所有数据只有这一个入口，离线同步、实时采集、文件采集、API 接入。第三层，洗干净、标清楚：PDP 数据清洗，去重、补缺、文档解析、图片识别、语音转写；企业知识这类资料再走两步，PDL 智能标注，AI 先做粗标注、信息抽取和分类，PDR 审核质检，人再把关，审核结果又反过来让 AI 越标越准；业务数据洗干净后直接进治理。第四层，管起来：PDG 数据治理，就是大数据平台那一套，开发建模、调度、标准和主数据、血缘、数据地图、质量。第五层，统一给出去：PDD 数据分发，也就是统一标签，指标、标签、知识、数据集、API 都从这一个出口出去。往上有一道闸门：PDS 统一权限，所有取数都要过这一关，统一登录、角色授权、景区隔离、字段脱敏、访问审计。第六层，怎么用：PDQ 即席自助，自己查数；PBI 数易BI，做看板、大屏、门户、驾驶舱，数据只能从数据分发来；PAP 智能体平台，听懂问题、把流量分给各个智能体。最上面，谁在用：票付通 3.0、景数通、数字大脑、畅游和各类 APP，服务游客、景区、公司内部和行业。再看右边，从上往下，是闭环：用的过程中产生的问答和评价、审核修正、工单处置结果、使用热度，回流到数据平台；整理好的结果再反哺业务，调定价、做营销、优化调度、补指标和知识。这样转一圈，数据越用越准。系统简称的规则是：P 代表票付通，D 代表数据，最后一个字母代表功能。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今天分四部分来讲：先讲全局蓝图，数据平台和 AI 平台在整个业务里是什么位置、和周边系统什么关系、服务谁，以及公司八条业务线怎么用数据、怎么把数据回流；再讲数据平台建什么、怎么治理、怎么让人人能用；然后讲 AI 平台：一个智能体平台怎么把流量分给各个智能体，数字大脑这个重点方向，以及怎么建；最后讲推进计划。先用一页把整体说清楚。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一页把整体说清楚。定位上：景区和公司所有业务系统的数据，先汇到一个数据底座，治理好以后统一输出，不重复建平台。数据平台：把数据理清、算准、管住，不懂技术的人也能中文一搜找到数、张口一问拿到答案，文档、图片、视频这类资料也能变成可用的数据。数据治理：规矩写进日常流程，每张表都有主人，同一个数在报表、接口、AI 里都一样，每个客户的数据严格隔离。AI 平台：建一个智能体平台，各个入口统一接进来，听懂要做什么，再把流量分给最合适的智能体；数字大脑是其中面向景区管理者的重点方向。推进上：业务系统升级、数据平台、智能体三条线同时推进，先跑通一条主线和一个场景，再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第一部分：全局蓝图，一个底座，撑起所有业务和 AI。主要讲：为什么现在做、全局定位、周边系统、三类服务、数据怎么转、八条业务线。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为什么现在要做这件事？三个外部信号。第一是标准：国家标准《旅游景区智慧化运营管理要求》GB/T 30225-2026 已经发布，2026 年 11 月 1 日起实施，这是 2013 年以来第一次大修，把“数据管理”和基础设施、智慧化管理、服务、营销、体验并列为六大板块，景区的数据要管起来、用起来，已经是标准要求。第二是市场：各地都在建文旅智能体平台，比如深圳在建全市的文旅智能体平台，上海的文旅服务平台也在加 AI 能力，智能体正在成为游客和景区获取服务的新入口。第三是技术：业内主流的智能体平台，都是一个统一入口，先识别用户意图，再把请求分发给最合适的智能体，同时管好身份、权限、计量和兜底转人工；智能体也从单个应用变成同一套能力嵌到多个入口。对我们来说，意味着两件事：数据底座要先理好，智能体要有自己的平台来统一分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这张图是全局。最下面是数据从哪来：票务 SaaS 3.0、九大业态、智慧终端、畅游、会员营销、财务，还有公司内部的 ERP、CRM、飞书，以及外部采集的数据和文档、图片、视频。往上是数据平台，就是一个底座：所有数据先汇进来，统一治理，建好资产目录，再从数据开放平台统一输出。再往上是 AI 平台，核心是一个智能体平台，统一接入、把流量分给各个智能体：数字大脑、畅游 AI、票务和调度、内部助手，都从数据平台取数。最上面是服务谁：行业、客户景区、游客、公司内部。右边是三条原则：底层只有一套，不重复建；飞书、CRM、ERP 只是端，数据先汇进来再统一输出；每个客户的数据严格隔离。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这张图讲数据平台和公司周边系统的关系。左边是“产生数据”的地方：景区业务系统，包括票务 SaaS 3.0、九大业态、智慧终端和闸机、畅游、会员营销、景区财务；公司内部系统，包括 ERP、CRM、飞书、人事；还有外部数据和多种资料，比如社媒采集、行业公开数据，以及文档、图片、视频、音频。这些数据全部先汇进中间的数据平台。数据平台做四件事：汇聚接入、统一治理、资产目录、统一出口。右边是“用数据的端”：AI 平台、景区端、游客端、公司内部。关键的一点：飞书、CRM、ERP 既产生数据，也用数据，但它们之间不再点对点各自对接，而是数据先汇进来、再统一输出。这样数据只有一份，口径只有一个，出了问题也查得清。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平台服务三类对象。第一类是行业：我们平台沉淀了十几年的交易、客流数据，用匿名汇总的方式做行业洞察、节假日和年度报告、行业规范，以及高质量数据集，这是我们在行业里的影响力。第二类是客户，也就是景区和文旅集团：用他们自己的数据，给他们提供景数通、智能问数、智能洞察、调度智能体和经营报告，每个客户的数据严格隔离。第三类是公司自己：票付通自己其实也相当于一个文旅集团，财务、人员、销售、CRM、ERP、飞书这些经营数据，也进同一个底座，给您和各业务线做经营分析、内部提效。三类用的是同一个底座、同一套方法：我们自己先用好，再把这套能力复制给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统一加工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司的每条业务线都要做到两件事：用得上数据，也回得来数据。平台把整理好的数据给到业务，叫赋能；业务用完的结果、发现的问题、新的需求再回到平台，叫反哺。只有赋能没有反哺，就是一次性交付；有了反哺，数据和模型越用越准。上面这条线就是闭环：业务产生数据，平台接入和治理，输出有用的数据，业务拿去决策和行动，结果再回流。下面这张表是八条业务线：票务、订单交易、小程序、供应商、营销、渠道分销、外部数据、智能体服务，每条线平台给什么、业务回什么、价值是什么。后面每条线一页展开讲。先把票务和订单这两条做成样板，再复制到其他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票务这条线，范围是商品、库存、价格、预约、核销。票务是所有数据的源头，先把它做成样板：数字可信，节假日实时掌控。现在有什么：票种、价格、库存、预约、核销记录；闸机、边云网关等设备的数据；核销、入园的数字有时对不上。平台怎么建：分清“核销次数、核销票数、入园人次、游客人数”；订单、核销做到分钟级看到；业务系统、设备、结算三方每天自动核对。平台给业务的，也就是赋能：售票、核销实时看板；节假日作战屏；库存和容量预警；票种卖得好不好、价格异常提醒；节假日客流预测。业务回给平台的，也就是反哺：核销异常、设备补传 → 变成检查规则；景区怎么处理预警 → 调整预警线；预测和实际的差距 → 预测越来越准。最终的价值：入园、核销数字可信；节假日实时掌握各景区情况；减少超售、拥堵和结算争议。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订单交易这条线，范围是下单、支付、退改、结算。订单数据最完整，补齐支付、退改、结算的细节，管理层和财务看同一套数。现在有什么：订单主流程已打通，数据最完整；支付、退款、改签、结算的细节还要补。平台怎么建：补齐支付、退款、改签、结算明细；统一“支付金额、净收入、成交额”的算法，财务一起确认；和财务数据自动核对。平台给业务的，也就是赋能：经营驾驶舱：成交额、退票率、客单价；异常退款、异常下单提醒；对账差异自动找出来。业务回给平台的，也就是反哺：对账差错怎么处理的 → 变成检查规则；异常交易的人工确认结果 → 识别更准；业务对算法的意见 → 指标更新。最终的价值：管理层看到同一套经营数字；对账更快；资金和交易风险早发现。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小程序这条线，范围是游客访问、购票、会员、AI 对话。记下游客在小程序里的每一步，在游客授权的前提下，把服务做得更贴心。现在有什么：游客的访问、浏览、搜索、下单记录；会员、领券；AI 客服、AI 伴游的对话。平台怎么建：统一“埋点”规矩：游客做了什么都按同一标准记下来；游客授权后，同一个人的会员和购票记录归到一起；做游客偏好标签。平台给业务的，也就是赋能：游客在哪一步流失；按偏好推荐门票和内容；两个方案对比试验；会员运营的人群。业务回给平台的，也就是反哺：推荐位的点击、购买结果 → 调整推荐；试验结论 → 沉淀成运营方法；游客评价 → 体验指标。最终的价值：购票转化和复购提升；运营决策有依据；体验问题能快速发现。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商这条线，范围是景区与资源方。给景区看自己的经营数据，也让我们知道哪家景区需要关心。现在有什么：供应商档案、合同、商品、供货价；结算、服务质量、系统使用情况。平台怎么建：同一个供应商在各系统只有一个编号；供应商标签：类型、规模、活跃度、经营健康度；按客户隔离，谁的数据只给谁看。平台给业务的，也就是赋能：给景区的经营报告和自助分析；给客户成功的健康度、续约预警；匿名的同类景区对比。业务回给平台的，也就是反哺：景区自己加的指标，有共性的变成标准指标；续约、流失结果 → 预警更准；景区反馈的数据问题 → 进入质量检查。最终的价值：续约率提升，服务价值能用数据证明；拓展新客户更有说服力。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营销这条线，范围是活动、优惠券、投放、推广。把一场活动从“看到”到“核销”串起来，钱花在哪、效果如何，一目了然。现在有什么：活动、优惠券、投放花费、推广员；活动带来的成交；数据分散在营销系统、小程序和各投放后台。平台怎么建：打通“活动 → 看到 → 领券 → 下单 → 核销”全过程；活动统一编号，接入投放成本；统一算法：这一单算哪场活动带来的。平台给业务的，也就是赋能：活动自动复盘；活动投入产出比；按标签圈人群；各投放渠道效果对比。业务回给平台的，也就是反哺：哪类活动对哪类人有效 → 沉淀策略库；人群反应 → 更新标签；投放成本和效果 → 优化预算。最终的价值：活动复盘从按周变成按天；预算分配有依据；活动价值看得见。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渠道分销这条线，范围是OTA、分销商、多级供销。渠道订单和平台订单一一对上，渠道价格和接口都有人看着。现在有什么：OTA、分销商、多级分销关系；渠道订单、渠道价格、佣金；接口调用记录。平台怎么建：渠道订单和平台订单一一对上；渠道统一编号；多级分销不重复计算；监测接口是否正常。平台给业务的，也就是赋能：渠道统一视图和投入产出；渠道价格异常提醒；接口健康、对接问题提醒。业务回给平台的，也就是反哺：渠道调整后的效果；接口异常处理记录 → 改进接入规范；对接经验 → 标准模板。最终的价值：渠道资源配置更合理；价格管理更规范；新渠道接入更快。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数据这条线，范围是天气、节假日、区域热力、舆情、公共数据。外部数据按需引入，每一类都说清用在哪、效果如何、花了多少。现在有什么：天气、节假日与调休；区域热力、舆情点评；授权的公共数据核验结果。平台怎么建：外部数据登记：来源、授权、期限、更新频率、成本；和景区、日期、区域关联起来；公共数据只用核验结果，原始数据不落地。平台给业务的，也就是赋能：客流预测的参考因素；天气、节假日对销量的影响；口碑和舆情监测；行业研究素材。业务回给平台的，也就是反哺：每类外部数据帮了多少 → 决定继续买还是停；用内部交易数据检验外部数据靠不靠谱。最终的价值：预测和分析更准；外部数据的投入花得明白。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智能体服务这条线，范围是数字大脑、AI 客服、AI 伴游、内部 AI 助手。智能体统一从数据平台取数；每一次提问、纠错、差评都回来，让 AI 越用越准。现在有什么：数字大脑、畅游 AI（客服、伴游）等智能体；大量用户提问、回答、反馈数据。平台怎么建：统一从数据平台取指标、标签和知识；统一记录对话；建测试题库和反馈机制；按用户和景区隔离权限。平台给业务的，也就是赋能：可信的指标、标签和知识；保证 AI 的答案口径一致、查得到来源。业务回给平台的，也就是反哺：答不上的问题 → 补指标、补说法；纠错和差评 → 更新题库和知识库；高频问题 → 给产品和客服；对话里的诉求（如退票原因）→ 业务洞察。最终的价值：AI 答案越用越准；业务需求自动发现；客服和运营成本下降。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第二部分：数据平台，数据理清、算准、管住，人人能用。主要讲：建什么、怎么治理、六个统一、人人能用。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数据加工和每天的主流程已经有了，要补实时计算和统一存储。再往上是“算好的数”，也就是统一的指标和标签，小Q 用来看。再往上是数据服务，对外给数据的窗口，数据开放平台已经有。再往上是 AI 能力，让 AI 能安全地用这些数据。最上面是谁在用：内部经营、景区运营、合作伙伴、行业报告、数据产品。右边的数据治理贯穿每一层。整体思路就两句话：统一标准，治理写进研发流程。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平台具体建什么？六个模块，用大白话说：第一，汇聚接入，就是把业务系统、终端、外部数据，还有文档、图片、视频，都接进来。第二，统一底座，就是一个地方存，每天算加实时算，订单、核销要做到分钟级看到。第三，数据治理，就是给数据定规矩：规范、编号、口径、质量、权限，写进日常流程。第四，资产目录，像图书馆的检索台，中文一搜，就知道有什么数据、在哪、什么意思、找谁。第五，统一出口，就是数据开放平台，所有数据从这一个窗口出去，谁拿了什么都可追溯。第六，AI 治理工具，就是让 AI 先自动分类、标注，人再审核修正，省人力。已有的投入全部保留，在上面补齐。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大白话讲讲什么是数据治理。打个比方，数据就像城市里的人口：要有统一的规矩，就是数据标准；每个景区、每个商品要有唯一的身份证号，就是主数据；每个数要知道从哪来、到哪去，像家谱一样，就是血缘；每天要做体检，不合格的拦下来，就是质量；同一个指标全公司一个算法，就是统一口径；谁能看什么要分清楚，就是权限；没人用的数据定期清理，就是资产运营；所有数据只从一个窗口出去，就是统一出口。不治理会怎样？同一个“核销量”，报表、接口、AI 三个地方三个数，大家开会先吵数字对不对。治理好了，数字一致，问题能追到人，数据才敢拿去办事。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具体怎么做？按这八步走，前面的是后面的基础。第一步数据标准，就是定规矩，表名、字段、码值全公司一个说法，并且有自动检查。第二步主数据，就是统一编号，景区、商品、渠道、供应商、游客全公司一个编号。第三步数据血缘，就是理清每个数从哪来、到哪去。第四步数据质量，每天自动体检，不合格的数拦在报表外面。第五步统一标签，也就是统一指标口径，一个指标一个算法，集团出标准。第六步权限安全，数据分级，谁的数据只服务谁。第七步资产运营，定期盘点，打健康分，没人用的下线。第八步数据分发，对内对外只走一个出口。其中第一、第五、第六步，分别在后面的统一规范、统一标签、统一权限里讲，不在这里重复。这八步都不是单独搞运动，而是写进日常开发流程，有专人负责、有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步和第八步放在一起讲。资产运营，就是定期盘点：每月按负责人、按业务给数据资产打健康分，看规范、质量、安全、使用、成本五个方面，公示排名。九十天没人访问、没有下游、重复的、临时的表，先通知负责人，先停用观察三十天，没人反馈再删除，有人反馈就恢复。这样存储和计算成本能降下来。数据分发，就是统一出口：以后对内对外的数据都从数据开放平台 一个窗口出去，同时提供认证指标和标签，统一鉴权、按景区隔离、按调用计量，不再点对点导数、私接数据库。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里很重要的一条：数据要有主人。怎么做？第一步，出一份全公司的数据表清单。第二步，每张表标清楚：归哪条业务线、谁负责、敏感等级。第三步，各业务线的数据接口人来认领、确认口径。第四步，以后数据出了问题，按清单马上就能找到人。右边是按数据域划分的样子：交易订单来自票务 SaaS，归票务线，管订单口径和退改规则；核销入园来自闸机终端，归运营服务；渠道分销归渠道线；业态消费来自九大业态系统，归业态运营；结算财务来自财务和 ERP，归财务；会员营销归营销；公司经营数据来自 CRM、飞书、人事，归各职能部门。从数据模型设计开始，就对应到具体的开发和负责人。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步怎么保证真正落实？靠三样东西。第一，写进流程：事前定规范，需求先确认口径、设计做模型评审；事中设卡点，发布时脚本自动检查、运行时质量检查不合格就拦住；事后做治理，健康分、整改、复盘。第二，有人负责：数据治理小组拍板口径争议和规范；数据负责人制定方案、跨部门协调、对健康分负责；每个业务线有一名业务数据专员确认口径和验收；治理专员维护标准和规则；架构师和开发负责落地。第三，有考核：两周一次口径评审，每月公示健康分，每季度复盘；试点主线定几个硬目标，比如新表规范符合率百分之百、核心报表按时产出不低于百分之九十九、老板看板全用认证指标、核销量各出口零差异。先把现在的基线测出来，再定目标；看实际使用和业务结果，不看上了多少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建成以后，最终落在六个统一上。统一规范：以前规范只写在文档里，以后不合规的表发不出去。统一底座：以前订单核销第二天才能看到，以后分钟级。统一标签：以前报表、接口、AI 各说各的，以后三处数字一致，开会不用先对数。统一权限：以前各系统各管各的，以后一套规则管住所有出口。标签复用：以前各部门各做一套，以后一个游客一个身份，一处加工到处用。即席自助：以前要找数据团队要数，以后业务自己查、自己看。推进上，先在订单、核销、结算这条线试点，老的报表先并行对比，没问题再切换，随时可以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统一，统一标签，这里的标签也就是指标，对应治理的第五步。三件事。第一，口径说清楚：每个指标拆成算什么、加什么条件、什么时间、按什么看四件事，比如“近七天线上渠道成人票支付金额，按景区”，就不会有两种算法。新指标要认证：数据团队起草、业务负责人确认、治理小组拍板、发布并记录版本。第二，两级体系：集团出一套企业标准指标，全公司一个口径；不够用时，景区在自己的空间里自定义，相互隔离，不能和标准同名、不能覆盖标准；好用的评审后沉淀为企业标准。第三，同一个出口：所有指标从同一个出口提供给小Q 报表、数据开放平台 和 AI 问数，所以三处数字一致，开会不用先对数。只有认证过的指标和标签才能进老板看板、接口和 AI。衡量看认证指标覆盖率，核销量各出口零差异。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统一，统一权限，对应治理的第六步。先分级：高敏是手机号、证件号、人脸、政务核验结果，加密、打码，明文不进大模型；敏感是单景区经营数据、价格、结算，按景区和供应商隔离；内部是日志、设备状态，内部按角色授权；公开是已发布的报告。再看谁能看什么：集团管理层看汇总，看不到个人明细；数据团队敏感数据按项目授权，高敏审批后打码使用；景区只看本景区；供应商只看本供应商；外部伙伴只拿匿名汇总；AI 智能体不单独开权限，继承提问人的权限。底线是谁的数据只服务谁，对外只给匿名汇总。权限从申请、审批、授权、使用到回收是一个闭环，到期自动收回，每季度复核。数据仓库、数据地图、开放接口、小Q、标签平台、AI 都用这同一套规则。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第五个，标签复用。第一件事是认清“谁是谁”：同一个游客，可能在订单里是一个手机号，在会员里是一个会员号，在年卡和人脸识别里又是另外的记录，我们按规则把这些归并成同一个游客，叫 OneID。第二件事是标签只在一个地方加工：统一生产，基于公共模型加工；统一管理，有口径、有负责人、有生命周期；统一服务，营销、分析、AI 和景区都从这里取，不再各部门各做一套。标签覆盖游客和会员、供应商、景区、渠道、商品，类型有基础属性、统计类、规则类、模型预测类。边界也要讲清楚：景区只能用本景区的标签，不做敏感个人信息的标签，对外不提供个人层面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板特别强调，数据平台不能只有技术人员会用，运营、业务、标注的同事也要用得上、看得懂。我们按三个常见场景来设计。第一，想知道公司有什么数据：在资产目录里用中文搜一下，就能看到有哪些数据、在哪、什么意思、该找谁。第二，想看一个数：直接用大白话问，智能问数帮你查出来；现在小Q 的问数体验不够好，我们会在上面加一层智能体，先听懂问题，再去取数。第三，想做个分析：在即席自助里选指标、点一点就能出结果，会写查询的同事也可以直接查。效果是业务少等数，数据团队少做重复取数，把精力放在建模型、做产品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以后进来的不只是表格数据，还有文档、图片、视频、音频。做法是：原始资料先统一放进来；AI 先识别、自动分类、打标注；人再审核，标得不对的改过来；审核通过的变成标准数据、进知识库，也可以组成高质量数据集；最后用在智能问数、智能体和行业报告上。举个例子：有的客户没有系统，现场用本子记录，拍张照片传上来，AI 识别以后自动转成标准表格。高质量数据集也是同一个思路：数据按主题统一管理，做数据集时按场景去取，先从我们已经有基础的场景做起。资产目录里能看到每类数据有多少、整理到什么程度。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第三部分：AI 平台，一个智能体平台，把流量分给各个智能体。主要讲：全局、怎么分发、已有基础、能做什么、数字大脑、怎么建。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平台的全局是这样的。最上面是入口：游客用畅游小程序、公众号、自助终端，景区用景数通、票付通 APP、大屏，公司内部用飞书。所有入口进来的请求，都先到中间的智能体平台。智能体平台是我们自己的核心，做六件事：统一入口；认人，知道是谁、哪个景区、有什么权限；听懂，判断他要做什么；分发，把这次请求交给最合适的智能体，答不了的转人工兜底；按景区计量；评估效果。下面是各个智能体，按方向分：数字大脑面向景区管理者，做问数、洞察、调度，是近期的重点方向；畅游 AI 面向游客，做客服、导览、伴游、旅拍、手语；智慧票务面向票务和财务；调度中枢面向安全调度；内部助手面向公司自己。最下面两样：底层的大模型和搭建平台可以替换，扣子、火山方舟、腾讯、阿里、小Q 都能接，客户指定哪个都能交付；所有智能体用的数据都来自数据平台，口径一致。这样新加一个智能体，只要在平台上登记，流量就能分过去，不用每个入口重新对接。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智能体平台怎么分发流量？看这张图。第一步，从哪来：游客从小程序、公众号来，景区从景数通、APP 来，公司内部从飞书来，还有大屏和自助终端。第二步，智能体平台做四件事：认人，知道是谁、属于哪个景区、能看什么；听懂，判断这句话要做什么，一句话里可能有几件事；分发，按意图交给最合适的智能体，一句话有几件事就分给几个智能体接力；兜底，答不了或者用户要求，就转人工。第三步，对应的智能体去办：数字大脑、畅游 AI、智慧票务、内部助手。所有智能体的数据都来自数据平台。下面举个例子：游客在小程序里问“明天人多吗？帮我买两张票”，平台认出这是哪个景区的游客，听懂是两件事：查客流和买票；客服智能体用数据平台的客流预测回答，购票智能体接着下单；整个过程记下来，回流到数据平台，下次答得更准。这样新增一个智能体，只要在平台上登记，流量就能分过去，入口不用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助手，比如游客问几点开园，它能回答，还能直接帮他买票。我们现在已有的智能体来自三个地方。第一类是在字节的扣子平台上，用工作流配置出来的：智能助手、智能客服、智能导览、AI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旅拍，可以扩展游记与行程总结、点评分享助手、年卡服务助手。这些都要做，只是先后顺序不同。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这页按客户，也就是景区和文旅集团的业务线来看。经营管理：管理层看收入、客流、同比环比，AI 可以直接问数、自动出日报周报。票务运营：定价库存、分销渠道、团队、检票核销，产生订单、核销、渠道、价格数据，用来调价调库存、做渠道结算，AI 可以做票务运营助手、解释检票异常。业态运营：乐园、演出、游船、酒店、温泉、餐饮零售、租赁、停车这些业态，产生各业态的订单和消费，用来看业态收入和二次消费，AI 做业态经营助手。运营服务：年卡、分时预约、候补、免证、一卡通，用来调控预约、提升年卡续费，AI 做智能客服和导览。财务：对账、发票、报表，AI 做对账助手、发票助手。营销会员：会员、人群、全民营销、活动，用来圈人群、做活动复盘，AI 做会员画像、写营销文案。安全调度：客流秩序、车船调度、防火生态、气象设施，用来预警和派单，AI 做调度智能体、消息预警、工单处置。设备终端：闸机、自助机、窗口、边云网关，用来巡检和故障定位，AI 做设备运维诊断。每条线的数据都汇进同一个底座，各线既能看自己的数，也能和别的线的数对得上。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数字大脑是智能体平台上的一个重点方向，面向景区管理者。管理者在景数通、票付通 APP、飞书或者大屏上，用大白话提问或者下指令，请求同样先进智能体平台，平台认人、听懂，再分给数字大脑下面的三类智能体：智能问数负责查数，比如今天卖了多少票；智能洞察负责找原因、给建议，比如为什么比上周少了；调度智能体负责派任务，比如工单派发、人员安全、信息通知。数据都来自数据平台。下面是近期要完整跑通的一个场景：客流接近上限，洞察自动预警，调度智能体生成工单，派给现场人员，处置结果回写，最后复盘优化。这个场景跑通后，可以对外展示，再复制到其他景区和业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从产品全景来看，智能体分布在四条产品线：畅游 AI 面向游客，有智能助手、智能客服、智能导览、AI 伴游、AI 旅拍、手语，还要做 AI 旅游规划、AI 智能购票；AI 数字大脑面向景区管理者，有智能问数、智能洞察，还要做消息通知预警、工单调度处置；智慧票务面向票务和财务，要做票务 AI 运营助手、AI 对账助手；景区 AI 调度中枢面向安全调度，要做旅游安全、秩序治理、车辆调度、游船调度、森林防火、生态监测、气象服务、设施监测。这些最终都放到自己的平台上，统一搭建、统一运营、统一计量到景区、统一评估效果。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平台怎么建，思路是先求快、再求稳。先借力：现在产品和市场还在验证期，用扣子、火山方舟这些成熟平台快速交付，客户指定用阿里或腾讯的平台，我们也照样做，目的是先证明能卖、能赚钱。边做边练：在交付的同时，把模板、知识、业务接口、交互数据留在自己手里，自己的智能体平台慢慢建起来，统一入口、统一分发。逐步切换：等第三方平台变贵、或者功能限制了我们，就把业务一点点切到自己的平台上，先小范围试，没问题再扩大，随时能退回。为什么最终要换成自己的？规模越大，第三方平台的成本越高、功能也受限，模板、知识和数据要留在自己手里。近期的重点是数字大脑：先把智能问数的体验做好，在小Q 上加一层智能体，再把调度智能体做起来，找一个场景完整跑通，能拿出去给客户展示。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将来自建平台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第四部分：推进计划，三线并进，先跑通再铺开。主要讲：整体路径、团队与分工、先做什么、人员清单。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整体怎么推进？现在是三条线同时往前跑：传统业务系统在做 3.0 升级，数据平台在建，智能体在搭。这三条线互相依赖：智能体没有数据不行，数据平台也离不开业务系统产生的数据。所以我们按“先做、接着做、持续做”排了一个建设清单。系统 3.0：升级时就把埋点和数据口径一起定好，新系统的数据直接按规范接进来。数据平台：先做订单、核销、结算这条主线的治理和实时，把资产目录建起来；接着做统一指标和标签、数据开放平台统一出口、文档图片视频接入；持续做高质量数据集和行业洞察。智能体：先把数字大脑的问数体验和调度智能体做好，跑通一个场景；接着按业态复制、沉淀模板和知识；持续把智能体平台建起来，统一分发流量、逐步切换。最后一行是打通：先让智能体统一从数据平台取数，再让交互数据回流，最后反哺业务。具体时间和投入，需要和资源一起确认后再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团队怎么配？数据这件事不能只靠技术，要有几类角色。数据产品：定需求、定口径、设计数据产品，这块能力要加强。数据开发：建底座、建模型、做实时。数据治理和标注运营：维护规范和资产目录，审核 AI 的标注结果，这类同事不需要很懂技术。AI 应用：搭智能体、建智能体平台，统一分发流量。再加上各业务线的数据接口人：票务、业态、财务、营销等每条线出一个人，负责确认口径、认领自己线上的数据表，不占大家太多时间。外部合作可以补充，比如平台厂商和标注外包。机制上很简单：出一份全公司的数据表清单，写清楚每张表归哪条业务线、谁负责，让各线自己标注，以后出了问题能马上找到人；口径有争议由治理小组拍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先做三件事。第一，订单到核销到结算这条主线：把治理做好，并且做到分钟级实时，这是所有数据的基础。第二，智能体平台先搭起统一入口，在上面跑通一个完整场景，比如数字大脑的客流预警到工单处置，平台分发、多个智能体接力，可以对外展示。第三，资产目录上线，让大家能用中文搜到数据，不懂技术的同事也能自己找数、问数。做通以后，按业务线、按业态逐步推广，形成数据越用越准的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最后是人员清单。数据这边大约 6 到 8 人：数据负责人兼架构师 1 人，负责总体架构、技术选型和治理方案；离线数据开发 2 人，做数据底座、公共模型和指标标签加工；实时数据开发 1 到 2 人，让订单、核销分钟级看到，同时做数据开放平台的接口；数据产品经理 1 人，定需求、定口径；BI 与分析 1 人，做小Q 报表、自助分析和经营分析。智能体这边大约 7 到 9 人：AI 负责人兼架构师 1 人，负责智能体平台架构和选型；智能体平台开发 2 到 3 人，做统一入口、意图识别、分发、计量和评估；智能体应用开发 2 到 3 人，按场景搭智能体，接业务接口和数据平台；AI 产品经理 1 人；前端与交互 1 人。合计专职大约 13 到 17 人，先盘点现有团队，再定需要新招多少。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汇报完毕，谢谢大家，欢迎交流。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jpe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13.png"/><Relationship Id="rId6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6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9.png"/><Relationship Id="rId9" Type="http://schemas.openxmlformats.org/officeDocument/2006/relationships/image" Target="../media/image49.png"/><Relationship Id="rId10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14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24.png"/><Relationship Id="rId10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Relationship Id="rId4" Type="http://schemas.openxmlformats.org/officeDocument/2006/relationships/image" Target="../media/image4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11.png"/><Relationship Id="rId5" Type="http://schemas.openxmlformats.org/officeDocument/2006/relationships/image" Target="../media/image48.png"/><Relationship Id="rId6" Type="http://schemas.openxmlformats.org/officeDocument/2006/relationships/image" Target="../media/image9.png"/><Relationship Id="rId7" Type="http://schemas.openxmlformats.org/officeDocument/2006/relationships/image" Target="../media/image58.png"/><Relationship Id="rId8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22.png"/><Relationship Id="rId7" Type="http://schemas.openxmlformats.org/officeDocument/2006/relationships/image" Target="../media/image68.png"/><Relationship Id="rId8" Type="http://schemas.openxmlformats.org/officeDocument/2006/relationships/image" Target="../media/image6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Relationship Id="rId4" Type="http://schemas.openxmlformats.org/officeDocument/2006/relationships/image" Target="../media/image16.png"/><Relationship Id="rId5" Type="http://schemas.openxmlformats.org/officeDocument/2006/relationships/image" Target="../media/image73.png"/><Relationship Id="rId6" Type="http://schemas.openxmlformats.org/officeDocument/2006/relationships/image" Target="../media/image6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5" Type="http://schemas.openxmlformats.org/officeDocument/2006/relationships/image" Target="../media/image58.png"/><Relationship Id="rId6" Type="http://schemas.openxmlformats.org/officeDocument/2006/relationships/image" Target="../media/image11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77.png"/><Relationship Id="rId8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78.png"/><Relationship Id="rId5" Type="http://schemas.openxmlformats.org/officeDocument/2006/relationships/image" Target="../media/image65.png"/><Relationship Id="rId6" Type="http://schemas.openxmlformats.org/officeDocument/2006/relationships/image" Target="../media/image13.png"/><Relationship Id="rId7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5" Type="http://schemas.openxmlformats.org/officeDocument/2006/relationships/image" Target="../media/image19.png"/><Relationship Id="rId6" Type="http://schemas.openxmlformats.org/officeDocument/2006/relationships/image" Target="../media/image77.png"/><Relationship Id="rId7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7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4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6.png"/><Relationship Id="rId7" Type="http://schemas.openxmlformats.org/officeDocument/2006/relationships/image" Target="../media/image82.png"/><Relationship Id="rId8" Type="http://schemas.openxmlformats.org/officeDocument/2006/relationships/image" Target="../media/image64.png"/><Relationship Id="rId9" Type="http://schemas.openxmlformats.org/officeDocument/2006/relationships/image" Target="../media/image8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44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7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7.png"/><Relationship Id="rId4" Type="http://schemas.openxmlformats.org/officeDocument/2006/relationships/image" Target="../media/image91.png"/><Relationship Id="rId5" Type="http://schemas.openxmlformats.org/officeDocument/2006/relationships/image" Target="../media/image58.png"/><Relationship Id="rId6" Type="http://schemas.openxmlformats.org/officeDocument/2006/relationships/image" Target="../media/image13.png"/><Relationship Id="rId7" Type="http://schemas.openxmlformats.org/officeDocument/2006/relationships/image" Target="../media/image92.png"/><Relationship Id="rId8" Type="http://schemas.openxmlformats.org/officeDocument/2006/relationships/image" Target="../media/image57.png"/><Relationship Id="rId9" Type="http://schemas.openxmlformats.org/officeDocument/2006/relationships/image" Target="../media/image9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89.png"/><Relationship Id="rId7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7600" y="1850427"/>
            <a:ext cx="4882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AI＋</a:t>
            </a:r>
            <a:r>
              <a:rPr lang="zh-CN" altLang="en-US" sz="5400" dirty="0" b="1">
                <a:solidFill>
                  <a:srgbClr val="1F3A35"/>
                </a:solidFill>
                <a:latin typeface="微软雅黑" pitchFamily="2" charset="-122"/>
                <a:ea typeface="微软雅黑" pitchFamily="2" charset="-122"/>
              </a:rPr>
              <a:t>数据+平台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数据平台  /  智能体平台  /  AI＋数据+平台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产品全景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产品产数，数据平台理数，AI 平台用数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一页看清：哪些产品已有、哪些要升级或新建；数据要做什么、AI 要做什么，最后服务谁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02  ·  AI＋数据平台 · 汇报要点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1485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05913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0341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894" y="1848093"/>
            <a:ext cx="798271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图例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131923"/>
            <a:ext cx="2261768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① 产品 · 产生数据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39915" y="2131923"/>
            <a:ext cx="2527858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② 数据平台 · 要做什么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1605" y="2131923"/>
            <a:ext cx="2838297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③ AI 平台 · 要做什么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73732" y="2131923"/>
            <a:ext cx="1419147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④ 服务谁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2575407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0754" y="2575407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智慧票务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票务 SaaS 3.0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16051" y="2620741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2905556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0754" y="2905556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景区业态管理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16051" y="2950890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318" y="3235706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0754" y="3235706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景区运营管理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年卡 · 预约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16051" y="328103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565854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0754" y="3565854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景区财务管理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对账 · 发票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16051" y="3611188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3896004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0754" y="3896004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景区智慧终端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闸机 · 网关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816051" y="3941338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318" y="4226153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0754" y="4226153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会员营销 · 分销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会员 · 渠道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16051" y="4271487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318" y="4556302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0754" y="4556302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畅游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小程序 · 公众号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816051" y="460163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4318" y="4886452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0754" y="4886452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公司内部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ERP · CRM · 飞书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16051" y="4931785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4318" y="5216600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0754" y="5216600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多种资料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文档 · 图片 · 视频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816051" y="526193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539915" y="2575407"/>
            <a:ext cx="2527858" cy="2926994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72960" y="2610886"/>
            <a:ext cx="226176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一个底座：理清、算准、管住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46351" y="2983412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61657" y="3001152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汇聚接入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61657" y="3148033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各系统 + 多种资料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521303" y="3036630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46351" y="3397331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61657" y="3415070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61657" y="3561951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每天算 + 实时，分钟级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21303" y="345054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46351" y="3811249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61657" y="3828989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统一治理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61657" y="3975870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规范 · 口径 · 质量 · 权限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521303" y="3864467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646351" y="4225168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61657" y="4242907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资产目录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61657" y="4389788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中文一搜就找到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521303" y="427838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46351" y="4639086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61657" y="4656825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61657" y="4803707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数据开放平台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521303" y="469230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46351" y="5053004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61657" y="5070744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 治理工具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61657" y="5217625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AI 标注 + 人工审核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521303" y="5106222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51605" y="2575407"/>
            <a:ext cx="2838297" cy="780531"/>
          </a:xfrm>
          <a:prstGeom prst="roundRect">
            <a:avLst>
              <a:gd name="adj" fmla="val 13636"/>
            </a:avLst>
          </a:prstGeom>
          <a:solidFill>
            <a:srgbClr val="FCF1E6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458041" y="2699583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73" y="2792714"/>
            <a:ext cx="186263" cy="186263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901525" y="2628625"/>
            <a:ext cx="16852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01525" y="2947934"/>
            <a:ext cx="221742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统一入口 · 认人 · 听懂 · 分发 · 计量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714389" y="2681843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1605" y="3355939"/>
            <a:ext cx="283829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▼ 按意图把流量分给各个智能体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351605" y="3622029"/>
            <a:ext cx="2838297" cy="326404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58041" y="3622029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数字大脑  </a:t>
            </a:r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49868" y="368766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B26A2C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51605" y="4010521"/>
            <a:ext cx="2838297" cy="326404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58041" y="4010521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畅游 AI  </a:t>
            </a:r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客服 · 导览 · 伴游 · 手语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49868" y="407615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21816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351605" y="4399013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58041" y="4399013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智慧票务 AI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运营助手 · 对账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49868" y="446464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51605" y="4787505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58041" y="4787505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调度中枢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安全 · 车船 · 防火 · 设施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749868" y="4853141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351605" y="5175997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58041" y="5175997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内部助手  </a:t>
            </a: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经营问数 · 报告 · 文案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749868" y="5241633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473732" y="2575407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562429" y="2664104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256" y="2743931"/>
            <a:ext cx="159654" cy="159654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9934956" y="2646365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62429" y="2983412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畅游 · 终端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473732" y="3329330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62429" y="3418027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256" y="3497854"/>
            <a:ext cx="159654" cy="15965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934956" y="3400287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562429" y="3737335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景数通 · APP · 大屏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473732" y="4083253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562429" y="4171950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2256" y="4251777"/>
            <a:ext cx="159654" cy="159654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934956" y="4154210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62429" y="4491258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小Q 看板 · 飞书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473732" y="4837175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562429" y="492587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glob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2256" y="5005698"/>
            <a:ext cx="159654" cy="159654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9934956" y="4908133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62429" y="5245181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报告 · 数据集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3291564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ight Arrow 147"/>
          <p:cNvSpPr/>
          <p:nvPr/>
        </p:nvSpPr>
        <p:spPr>
          <a:xfrm>
            <a:off x="6103254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ight Arrow 148"/>
          <p:cNvSpPr/>
          <p:nvPr/>
        </p:nvSpPr>
        <p:spPr>
          <a:xfrm>
            <a:off x="9225381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94318" y="5608838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refresh-cw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711" y="5697534"/>
            <a:ext cx="266090" cy="26609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526498" y="5608838"/>
            <a:ext cx="918898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回流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用的结果（问答、评价、工单、效果）回到数据平台，越用越准；底层一套、不重复建，客户数据严格隔离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总体架构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一套数据底座 + 一个智能体平台，从产数到用数形成闭环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左边从下往上：数据进来 → 洗净标好 → 管起来 → 统一给出去 → 用起来；右边从上往下：用的结果回流平台、反哺业务，越用越准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03  ·  AI＋数据平台 · 汇报要点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1056406" y="1990008"/>
            <a:ext cx="0" cy="3938137"/>
          </a:xfrm>
          <a:prstGeom prst="line">
            <a:avLst/>
          </a:prstGeom>
          <a:ln w="44450">
            <a:solidFill>
              <a:srgbClr val="2CAB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53971" y="1972269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24930" y="1990008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⑦ 谁在用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4930" y="2194011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游客·景区·内部·行业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3971" y="2486710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24930" y="2504450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⑥ 怎么用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4930" y="2708452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查数·看板·AI 办事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3971" y="3426896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24930" y="3444636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⑤ 统一给出去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4930" y="3648638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唯一出口 · 统一标签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3971" y="3941338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4930" y="3959077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④ 管起来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24930" y="4163080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有规矩、可追溯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53971" y="4455779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4930" y="4473519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③ 洗净、标好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4930" y="4677521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知识：AI 先标、人再审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53971" y="4970221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4930" y="4987960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② 收进来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4930" y="5191963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所有数据一个入口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53971" y="5484662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24930" y="5502402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① 数据从哪来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4930" y="5706404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业务数据 + 企业知识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19903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票付通 3.0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91155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62407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33660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04913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各类 APP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19903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26339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PDQ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即席自助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26339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自己查数 · 智能问数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08280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14717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PBI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数易BI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14717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看板 · 大屏 · 门户 · 驾驶舱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96658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03094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PAP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3094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听懂问题 · 分发给各智能体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53971" y="3001152"/>
            <a:ext cx="8160105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08" y="3072109"/>
            <a:ext cx="212872" cy="21287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44237" y="3001152"/>
            <a:ext cx="769888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  <a:latin typeface="微软雅黑"/>
                <a:ea typeface="微软雅黑"/>
              </a:rPr>
              <a:t>PDS 统一权限　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所有取数都过这道关：统一登录 · 角色授权 · 景区隔离 · 字段脱敏 · 访问审计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519903" y="3426896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PDD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数据分发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6445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指标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68389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20333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知识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72277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数据集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4221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API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19903" y="3941338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PDG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6445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开发建模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93065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调度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86968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标准与主数据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74630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血缘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2292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数据地图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9954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19903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08600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PDP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数据清洗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08600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去重 · 解析 · 识别 · 转写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4657496" y="4597694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861499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0195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PDL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智能标注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50195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AI 粗标 · 抽取 · 分类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6999091" y="4597694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03094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91791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PDR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审核质检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91791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人工把关 · 抽检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519903" y="4970221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PDC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数据集成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16445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离线同步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431375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实时采集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46306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文件采集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61236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API 接入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519903" y="5484662"/>
            <a:ext cx="3736795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26339" y="5502402"/>
            <a:ext cx="3559402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业务数据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26339" y="5697534"/>
            <a:ext cx="3559402" cy="21287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1F3A35"/>
                </a:solidFill>
                <a:latin typeface="微软雅黑"/>
                <a:ea typeface="微软雅黑"/>
              </a:rPr>
              <a:t>票务 · 订单 · 经营 · 营销 · OTA · 财务 · ERP · 终端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27656" y="5484662"/>
            <a:ext cx="2986420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34093" y="5502402"/>
            <a:ext cx="280902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企业知识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34093" y="5697534"/>
            <a:ext cx="2809026" cy="21287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1F3A35"/>
                </a:solidFill>
                <a:latin typeface="微软雅黑"/>
                <a:ea typeface="微软雅黑"/>
              </a:rPr>
              <a:t>Word · PDF · Excel · Markdown · 图片 · 音视频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455993" y="1972269"/>
            <a:ext cx="1436888" cy="3955877"/>
          </a:xfrm>
          <a:prstGeom prst="roundRect">
            <a:avLst>
              <a:gd name="adj" fmla="val 8641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0786445" y="2078705"/>
            <a:ext cx="0" cy="3743004"/>
          </a:xfrm>
          <a:prstGeom prst="line">
            <a:avLst/>
          </a:prstGeom>
          <a:ln w="44450">
            <a:solidFill>
              <a:srgbClr val="E39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9562429" y="2025487"/>
            <a:ext cx="115305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闭环 · 越用越准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62429" y="2531059"/>
            <a:ext cx="115305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回流到平台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62429" y="2797149"/>
            <a:ext cx="1153058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问答与评价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审核修正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工单处置结果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使用热度</a:t>
            </a:r>
          </a:p>
        </p:txBody>
      </p:sp>
      <p:sp>
        <p:nvSpPr>
          <p:cNvPr id="123" name="Down Arrow 122"/>
          <p:cNvSpPr/>
          <p:nvPr/>
        </p:nvSpPr>
        <p:spPr>
          <a:xfrm>
            <a:off x="9988174" y="3959077"/>
            <a:ext cx="266090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562429" y="4544476"/>
            <a:ext cx="115305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反哺业务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562429" y="4810566"/>
            <a:ext cx="1153058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调定价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做营销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优化调度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补指标和知识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9322948" y="2114184"/>
            <a:ext cx="124175" cy="15965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Left Arrow 126"/>
          <p:cNvSpPr/>
          <p:nvPr/>
        </p:nvSpPr>
        <p:spPr>
          <a:xfrm>
            <a:off x="9322948" y="4083253"/>
            <a:ext cx="124175" cy="159654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Left Arrow 127"/>
          <p:cNvSpPr/>
          <p:nvPr/>
        </p:nvSpPr>
        <p:spPr>
          <a:xfrm>
            <a:off x="9322948" y="5626577"/>
            <a:ext cx="124175" cy="159654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3191" y="316763"/>
            <a:ext cx="1843847" cy="1040376"/>
            <a:chOff x="815747" y="507302"/>
            <a:chExt cx="1843847" cy="1040376"/>
          </a:xfrm>
        </p:grpSpPr>
        <p:sp>
          <p:nvSpPr>
            <p:cNvPr id="5" name="文本框 4"/>
            <p:cNvSpPr txBox="1"/>
            <p:nvPr/>
          </p:nvSpPr>
          <p:spPr>
            <a:xfrm>
              <a:off x="815747" y="507302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solidFill>
                    <a:srgbClr val="2CAB93"/>
                  </a:solidFill>
                  <a:latin typeface="Alimama ShuHeiTi Bold" pitchFamily="2" charset="-122"/>
                  <a:ea typeface="Alimama ShuHeiTi Bold" pitchFamily="2" charset="-122"/>
                </a:defRPr>
              </a:lvl1pPr>
            </a:lstStyle>
            <a:p>
              <a:r>
                <a:rPr lang="zh-CN" altLang="en-US" sz="4800" dirty="0">
                  <a:solidFill>
                    <a:schemeClr val="tx1"/>
                  </a:solidFill>
                </a:rPr>
                <a:t>目录</a:t>
              </a:r>
              <a:endParaRPr lang="zh-CN" alt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3577" y="128606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/>
                <a:t>CONTENTS</a:t>
              </a:r>
              <a:endParaRPr lang="zh-CN" altLang="en-US" sz="1050" dirty="0"/>
            </a:p>
          </p:txBody>
        </p:sp>
      </p:grpSp>
      <p:sp>
        <p:nvSpPr>
          <p:cNvPr id="9" name="十字形 8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099340" y="2281514"/>
            <a:ext cx="7993319" cy="562935"/>
            <a:chOff x="1778000" y="2361285"/>
            <a:chExt cx="7993319" cy="562935"/>
          </a:xfrm>
        </p:grpSpPr>
        <p:grpSp>
          <p:nvGrpSpPr>
            <p:cNvPr id="40" name="组合 39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8" name="矩形: 圆角 2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全局蓝图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53" name="文本框 5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/>
        </p:nvGrpSpPr>
        <p:grpSpPr>
          <a:xfrm>
            <a:off x="2099340" y="4093229"/>
            <a:ext cx="7993319" cy="562935"/>
            <a:chOff x="1778000" y="2361285"/>
            <a:chExt cx="7993319" cy="562935"/>
          </a:xfrm>
        </p:grpSpPr>
        <p:grpSp>
          <p:nvGrpSpPr>
            <p:cNvPr id="57" name="组合 56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03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AI 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63" name="文本框 6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04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推进计划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4" name="TextBox 83"/>
          <p:cNvSpPr txBox="1"/>
          <p:nvPr/>
        </p:nvSpPr>
        <p:spPr>
          <a:xfrm>
            <a:off x="251460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定位 · 周边系统 · 三类服务 · 八条业务线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0256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建什么 · 怎么治理 · 人人能用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14600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智能体平台 · 怎么分发 · 怎么建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0256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三线并进 · 团队 · 先做什么 · 人员清单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一个底座、两个平台、三类服务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数据平台让数据可信，AI 平台让数据办事；底层一套，服务行业、客户和公司自己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05  ·  AI＋数据平台 · 汇报要点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5" name="Picture 44" descr="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2225649"/>
            <a:ext cx="301569" cy="30156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97456" y="2048256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63387" y="2048256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7390" y="2048256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景区和公司所有业务系统的数据，先汇到一个底座，治理后统一输出；不重复建平台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811048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0" name="Picture 49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2988442"/>
            <a:ext cx="301569" cy="3015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811048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63387" y="2811048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7390" y="2811048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把数据理清、算准、管住；中文一搜就找到数，张口一问就有答案；文档、图片、视频也能用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573840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5" name="Picture 54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3751234"/>
            <a:ext cx="301569" cy="30156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97456" y="3573840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63387" y="3573840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7390" y="3573840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规矩写进日常流程，每张表都有主人；同一个数处处一致；每个客户的数据严格隔离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4336633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514027"/>
            <a:ext cx="301569" cy="30156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97456" y="4336633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63387" y="4336633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67390" y="4336633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一个智能体平台：各入口统一接入，按意图把流量分给各个智能体；数字大脑是重点方向之一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5099425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5" name="Picture 64" descr="rout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276819"/>
            <a:ext cx="301569" cy="30156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97456" y="5099425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推进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63387" y="5099425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67390" y="5099425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业务系统升级、数据平台、智能体三线并进；先跑通一条主线、一个场景，再铺开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一个底座，撑起所有业务和 AI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全局蓝图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为什么现在做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全局定位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周边系统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三类服务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数据怎么转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八条业务线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为什么现在做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标准、市场、技术都在往这个方向走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景区智慧化有了新国标，各地在建文旅智能体平台，智能体正从单个应用走向“一个平台、多个入口”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07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tam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202881"/>
            <a:ext cx="408005" cy="40800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9258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9258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景区智慧化有了新国标</a:t>
            </a: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3151936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9102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《旅游景区智慧化运营管理要求》GB/T 30225-2026</a:t>
            </a: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370185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9102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2026 年 11 月 1 日起实施</a:t>
            </a: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4251777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9102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“数据管理”列为六大板块之一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67753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67753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67753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ap-pinne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495" y="2202881"/>
            <a:ext cx="408005" cy="40800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66024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市场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024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各地在建文旅智能体平台</a:t>
            </a: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3151936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64455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深圳在建全市文旅智能体平台</a:t>
            </a: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370185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64455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上海文旅服务平台加 AI 能力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4251777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64455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智能体成为游客、景区的新入口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4118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74118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74118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networ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30" y="2202881"/>
            <a:ext cx="408005" cy="40800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3945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3945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智能体走向“一个平台、多入口”</a:t>
            </a: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3151936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23789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统一入口，先识别意图</a:t>
            </a: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370185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3789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再分发给最合适的智能体</a:t>
            </a: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4251777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23789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统一管身份、权限、计量、兜底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07665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ight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218572"/>
            <a:ext cx="266090" cy="26609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70847" y="5076657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对我们意味着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数据底座要先理好（标准要求“管起来、用起来”）；智能体要有自己的平台，统一分发流量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4318" y="5697534"/>
            <a:ext cx="9898562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资料来源：国家市场监督管理总局 GB/T 30225-2026 发布报道；各地文旅平台公开报道；华为云 AgentArts 等智能体平台公开文档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全局定位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一个数据底座，撑起所有业务和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从下往上：数据从哪来 → 统一汇到数据平台 → AI 平台用数据办事 → 服务行业、客户、游客和公司自己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08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25487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5" name="Picture 44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273838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37802" y="2025487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服务谁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5555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行业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洞察 · 报告 · 数据集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90052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客户 · 景区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景数通 · 问数 · 调度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550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畅游 · 智能体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19048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看板 · 业务线 · 飞书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75555" y="2788279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3054370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302720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37802" y="3054370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75555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智能体平台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统一分发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87153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数字大脑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98750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畅游 AI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游客服务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10349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票务 · 调度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21947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5555" y="3817162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4083253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2" name="Picture 61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4331604"/>
            <a:ext cx="266090" cy="26609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37802" y="4083253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75555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汇聚接入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含文档图片视频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90052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统一治理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规范 · 口径 · 质量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04550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资产目录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中文一搜就找到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19048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数据开放平台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75555" y="4846045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4318" y="5112136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70" name="Picture 69" descr="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5360487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437802" y="5112136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7555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票务 SaaS 3.0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8522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9488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终端 · 畅游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0455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会员 · 财务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14216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ERP · CRM · 飞书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23881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外部 · 文档视频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84331" y="2025487"/>
            <a:ext cx="2208550" cy="3849441"/>
          </a:xfrm>
          <a:prstGeom prst="roundRect">
            <a:avLst>
              <a:gd name="adj" fmla="val 5622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hield-check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724" y="2167402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216511" y="2131923"/>
            <a:ext cx="15876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三条原则</a:t>
            </a:r>
          </a:p>
        </p:txBody>
      </p:sp>
      <p:sp>
        <p:nvSpPr>
          <p:cNvPr id="81" name="Oval 80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60860" y="2610886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底层只有一套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60860" y="2965672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不重复建平台</a:t>
            </a:r>
          </a:p>
        </p:txBody>
      </p:sp>
      <p:sp>
        <p:nvSpPr>
          <p:cNvPr id="85" name="Oval 84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60860" y="3657508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其他系统是“端”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0860" y="4012294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飞书、CRM、ERP 数据先汇进来，再统一输出</a:t>
            </a:r>
          </a:p>
        </p:txBody>
      </p:sp>
      <p:sp>
        <p:nvSpPr>
          <p:cNvPr id="89" name="Oval 88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0860" y="4704130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客户数据隔离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60860" y="5058918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谁的数据只服务谁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和周边系统的关系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系统负责产数，平台负责理数，各端统一取数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左边的系统把数据汇进来，中间的数据平台统一整理，右边所有用数据的地方都从同一个出口拿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09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产生数据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118619"/>
            <a:ext cx="2926994" cy="1259494"/>
          </a:xfrm>
          <a:prstGeom prst="roundRect">
            <a:avLst>
              <a:gd name="adj" fmla="val 70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0754" y="220731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581" y="2287143"/>
            <a:ext cx="159654" cy="15965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08759" y="2189576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景区业务系统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8494" y="2615321"/>
            <a:ext cx="1122507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票务 SaaS 3.0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03089" y="2615321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18494" y="29257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终端闸机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92649" y="2925759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20426" y="2925759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会员 · 财务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4010008" y="2650799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3484549"/>
            <a:ext cx="2926994" cy="798271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0754" y="357324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81" y="3653072"/>
            <a:ext cx="159654" cy="15965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08759" y="3555507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公司内部系统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8494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ERP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06849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CRM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95203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22981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人事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4010008" y="3786118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4318" y="4389257"/>
            <a:ext cx="2926994" cy="1064361"/>
          </a:xfrm>
          <a:prstGeom prst="roundRect">
            <a:avLst>
              <a:gd name="adj" fmla="val 8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47795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581" y="4557780"/>
            <a:ext cx="159654" cy="15965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08759" y="4460214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外部与多种资料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8494" y="48859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社媒采集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92649" y="4885959"/>
            <a:ext cx="105844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行业公开数据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18494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文档 · 图片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35550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视频 · 音频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010008" y="482387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09145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数据平台（一个底座）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09145" y="2118619"/>
            <a:ext cx="2926994" cy="3334999"/>
          </a:xfrm>
          <a:prstGeom prst="roundRect">
            <a:avLst>
              <a:gd name="adj" fmla="val 424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68799" y="225166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lug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975" y="2451232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47762" y="2287143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汇聚接入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47762" y="2562457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各系统、各类资料都接进来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09145" y="2881411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68799" y="305880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975" y="3258371"/>
            <a:ext cx="248351" cy="24835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7762" y="3094282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统一治理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47762" y="336959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定规矩、对口径、查质量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9145" y="3688552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68799" y="386594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earch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2975" y="4065512"/>
            <a:ext cx="248351" cy="248351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047762" y="3901424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资产目录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47762" y="417673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有什么数据，中文一搜就知道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9145" y="4495693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68799" y="467308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send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2975" y="4872653"/>
            <a:ext cx="248351" cy="24835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047762" y="4708565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47762" y="4983879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数据开放平台，所有数据从这出去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3972" y="1825919"/>
            <a:ext cx="306890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用数据的端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23972" y="2118619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930407" y="220731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bra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0234" y="2287143"/>
            <a:ext cx="159654" cy="15965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338413" y="2189576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948147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45493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B26A2C"/>
                </a:solidFill>
                <a:latin typeface="微软雅黑"/>
                <a:ea typeface="微软雅黑"/>
              </a:rPr>
              <a:t>各个智能体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7424836" y="2398014"/>
            <a:ext cx="301569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823972" y="297897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30407" y="306767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234" y="3147501"/>
            <a:ext cx="159654" cy="15965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338413" y="304993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景区端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48147" y="3475680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699113" y="3475680"/>
            <a:ext cx="932794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693996" y="3475680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景区报表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7424836" y="325837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823972" y="383933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30407" y="392803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smartpho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0234" y="4007860"/>
            <a:ext cx="159654" cy="15965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338413" y="391029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游客端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48147" y="4336039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945493" y="4336039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696460" y="433603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自助终端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7424836" y="411873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23972" y="4699695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930407" y="478839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234" y="4868219"/>
            <a:ext cx="159654" cy="15965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338413" y="4770653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948147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看板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575923" y="5196398"/>
            <a:ext cx="79482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小Q 报表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432833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060609" y="5196398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CRM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7424836" y="497909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94318" y="5586663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lightbulb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9451" y="5697534"/>
            <a:ext cx="266090" cy="26609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570847" y="558666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怎么看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飞书、CRM、ERP 既产生数据也用数据，但不再点对点各自对接：数据先汇进来、再统一输出 —— 数据只有一份，口径只有一个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数据服务三类对象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行业、客户、公司自己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同一个底座、同一套方法；我们自己先用好，再把能力输出给客户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10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lob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2136358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0389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389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平台沉淀十几年的数据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945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945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交易、客流等匿名汇总数据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945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9451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行业洞察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88245" y="3963512"/>
            <a:ext cx="137480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节假日 / 年度报告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9451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规范与标准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17595" y="4309430"/>
            <a:ext cx="109540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5397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只用匿名汇总，不涉及单个客户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7753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andma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2136358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77327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客户（景区 / 文旅集团）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7327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各景区自己的数据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2886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62886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票务、业态、客流、会员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2886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62886" y="3963512"/>
            <a:ext cx="70735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32331" y="3963512"/>
            <a:ext cx="124544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智能问数 · 洞察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86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91030" y="430943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经营报告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7407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严格按客户隔离，谁的数据只服务谁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4118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74118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4118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uilding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321" y="2136358"/>
            <a:ext cx="372526" cy="37252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5076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公司自己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076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票付通也相当于“一个文旅集团”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32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3632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财务、人员、销售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CRM、ERP、飞书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32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936321" y="3963512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老板驾驶舱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4465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经营分析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63259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内部提效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084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按岗位授权，敏感信息打码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51570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E7CF"/>
                </a:solidFill>
                <a:latin typeface="微软雅黑"/>
                <a:ea typeface="微软雅黑"/>
              </a:rPr>
              <a:t>一套底座、一套方法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我们自己先用好，再把能力复制给客户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数据在公司里怎么转起来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产数 → 治数 → 办事 → 用数，再回流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数据平台让数据可信，智能体让数据办事；两者接上，形成一条完整的数据链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11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12615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用数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游客 · 景区 · 内部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75555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87062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景数通 · APP · SaaS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98568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管理层 · 业务线 · 小Q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5555" y="2504450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③ 服务：智能体办事，报表和接口直接用数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806019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办事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智能体 · 报表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5555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客服 · 导览 · 伴游 · 旅拍 · 购票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87062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对账 · 预警 · 调度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98568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报表与接口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直接用数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75555" y="3497854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② 供给：认证指标 · 统一标签 · 景区知识 · 数据服务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799423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治数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7555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统一接入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离线 + 实时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3418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统一加工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原料 → 成品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9281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指标 · 标签 · 知识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认证口径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144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数据开放平台 · 小Q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75555" y="4491258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① 生产入湖：交易 · 核销 · 客流 · 设备 · 会员 · 财务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4792827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产数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业务系统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7555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0487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3418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6350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9281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终端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213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5144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8076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16511" y="1812615"/>
            <a:ext cx="1676369" cy="3672047"/>
          </a:xfrm>
          <a:prstGeom prst="roundRect">
            <a:avLst>
              <a:gd name="adj" fmla="val 740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49557" y="1919051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9557" y="2300447"/>
            <a:ext cx="1410279" cy="1330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问答记录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游客评价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转人工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预警与工单结果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使用行为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9939390" y="3675247"/>
            <a:ext cx="230611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9557" y="4074383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49557" y="4455779"/>
            <a:ext cx="1410279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调定价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做营销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优化调度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564431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733013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5644316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底座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一个数据底座 · 资产目录 · 数据治理贯穿全程；所有智能体统一从这里取数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业务线闭环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每条业务线都用得上数据，也回得来数据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平台把整理好的数据给到业务（赋能），业务用完的结果再回到平台（反哺）；八条业务线都按这个方式转起来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12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业务产生数据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交易 · 行为 · 供给 · 外部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282696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57656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平台接入与治理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定规矩 · 查质量 · 实时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846033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0993" y="1848093"/>
            <a:ext cx="2208550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输出有用的数据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指标 · 标签 · 预测 · 洞察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409371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84331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业务使用与行动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决策 · 运营 · 营销 · 服务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88606" y="2451232"/>
            <a:ext cx="0" cy="195132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098593" y="2646365"/>
            <a:ext cx="7690012" cy="0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98593" y="2460101"/>
            <a:ext cx="0" cy="186263"/>
          </a:xfrm>
          <a:prstGeom prst="line">
            <a:avLst/>
          </a:prstGeom>
          <a:ln w="22225">
            <a:solidFill>
              <a:srgbClr val="E39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37482" y="2539928"/>
            <a:ext cx="4612233" cy="23061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反哺回流：行动结果 · 反馈 · 异常 · 新需求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2876976"/>
            <a:ext cx="9898562" cy="337047"/>
          </a:xfrm>
          <a:prstGeom prst="roundRect">
            <a:avLst>
              <a:gd name="adj" fmla="val 21052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7363" y="2876976"/>
            <a:ext cx="981897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654" y="2876976"/>
            <a:ext cx="330047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4528" y="2876976"/>
            <a:ext cx="2765421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7343" y="2876976"/>
            <a:ext cx="214118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价值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4950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24950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654" y="324950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售票、核销实时看板；节假日作战屏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4528" y="324950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核销异常、设备补传 → 变成检查规则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7343" y="324950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入园、核销数字可信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3604290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7363" y="3604290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订单交易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654" y="3604290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经营驾驶舱：成交额、退票率、客单价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4528" y="3604290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对账差错怎么处理的 → 变成检查规则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7343" y="3604290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管理层看到同一套经营数字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318" y="3959077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7363" y="3959077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654" y="3959077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游客在哪一步流失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4528" y="3959077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推荐位的点击、购买结果 → 调整推荐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07343" y="3959077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购票转化和复购提升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4313864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7363" y="4313864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86654" y="4313864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给景区的经营报告和自助分析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4528" y="4313864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景区自己加的指标，有共性的变成标准指标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7343" y="4313864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续约率提升，服务价值能用数据证明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668652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68652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654" y="4668652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活动自动复盘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4528" y="4668652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哪类活动对哪类人有效 → 沉淀策略库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07343" y="4668652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活动复盘从按周变成按天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023439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27363" y="5023439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654" y="5023439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渠道统一视图和投入产出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64528" y="5023439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渠道调整后的效果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07343" y="5023439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渠道资源配置更合理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4318" y="5378226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7363" y="5378226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654" y="5378226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客流预测的参考因素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4528" y="5378226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每类外部数据帮了多少 → 决定继续买还是停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07343" y="5378226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预测和分析更准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73301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7363" y="573301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智能体服务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654" y="573301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可信的指标、标签和知识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64528" y="573301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答不上的问题 → 补指标、补说法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07343" y="573301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AI 答案越用越准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票务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入园、核销的数字靠得住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票务是所有数据的源头，先把它做成样板：数字可信，节假日实时掌控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13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商品 · 库存 · 价格 · 预约 · 核销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票种、价格、库存、预约、核销记录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闸机、边云网关等设备的数据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核销、入园的数字有时对不上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分清“核销次数、核销票数、入园人次、游客人数”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订单、核销做到分钟级看到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业务系统、设备、结算三方每天自动核对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售票、核销实时看板；节假日作战屏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库存和容量预警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票种卖得好不好、价格异常提醒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节假日客流预测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核销异常、设备补传 → 变成检查规则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景区怎么处理预警 → 调整预警线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预测和实际的差距 → 预测越来越准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i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入园、核销数字可信；节假日实时掌握各景区情况；减少超售、拥堵和结算争议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订单交易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经营只有一套数，对账又快又准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订单数据最完整，补齐支付、退改、结算的细节，管理层和财务看同一套数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14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下单 · 支付 · 退改 · 结算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订单主流程已打通，数据最完整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支付、退款、改签、结算的细节还要补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补齐支付、退款、改签、结算明细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统一“支付金额、净收入、成交额”的算法，财务一起确认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和财务数据自动核对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经营驾驶舱：成交额、退票率、客单价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异常退款、异常下单提醒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对账差异自动找出来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对账差错怎么处理的 → 变成检查规则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异常交易的人工确认结果 → 识别更准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业务对算法的意见 → 指标更新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ceip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订单交易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管理层看到同一套经营数字；对账更快；资金和交易风险早发现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小程序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看懂游客，买票更顺、回头客更多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记下游客在小程序里的每一步，在游客授权的前提下，把服务做得更贴心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15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游客访问 · 购票 · 会员 · AI 对话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游客的访问、浏览、搜索、下单记录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会员、领券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AI 客服、AI 伴游的对话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统一“埋点”规矩：游客做了什么都按同一标准记下来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游客授权后，同一个人的会员和购票记录归到一起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做游客偏好标签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游客在哪一步流失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按偏好推荐门票和内容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两个方案对比试验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会员运营的人群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推荐位的点击、购买结果 → 调整推荐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试验结论 → 沉淀成运营方法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游客评价 → 体验指标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购票转化和复购提升；运营决策有依据；体验问题能快速发现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供应商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用数据帮景区经营，也证明我们的价值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给景区看自己的经营数据，也让我们知道哪家景区需要关心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16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景区与资源方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供应商档案、合同、商品、供货价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结算、服务质量、系统使用情况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同一个供应商在各系统只有一个编号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供应商标签：类型、规模、活跃度、经营健康度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按客户隔离，谁的数据只给谁看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给景区的经营报告和自助分析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给客户成功的健康度、续约预警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匿名的同类景区对比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景区自己加的指标，有共性的变成标准指标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续约、流失结果 → 预警更准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景区反馈的数据问题 → 进入质量检查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续约率提升，服务价值能用数据证明；拓展新客户更有说服力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营销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每场活动都算得清投入和效果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把一场活动从“看到”到“核销”串起来，钱花在哪、效果如何，一目了然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17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活动 · 优惠券 · 投放 · 推广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活动、优惠券、投放花费、推广员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活动带来的成交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数据分散在营销系统、小程序和各投放后台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打通“活动 → 看到 → 领券 → 下单 → 核销”全过程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活动统一编号，接入投放成本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统一算法：这一单算哪场活动带来的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活动自动复盘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活动投入产出比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按标签圈人群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各投放渠道效果对比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哪类活动对哪类人有效 → 沉淀策略库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人群反应 → 更新标签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投放成本和效果 → 优化预算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mega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活动复盘从按周变成按天；预算分配有依据；活动价值看得见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渠道分销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每个渠道卖得怎样、值不值，一目了然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渠道订单和平台订单一一对上，渠道价格和接口都有人看着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18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OTA · 分销商 · 多级供销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OTA、分销商、多级分销关系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渠道订单、渠道价格、佣金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接口调用记录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渠道订单和平台订单一一对上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渠道统一编号；多级分销不重复计算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监测接口是否正常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渠道统一视图和投入产出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渠道价格异常提醒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接口健康、对接问题提醒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渠道调整后的效果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接口异常处理记录 → 改进接入规范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对接经验 → 标准模板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netwo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渠道资源配置更合理；价格管理更规范；新渠道接入更快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外部数据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天气、节假日、口碑，让预测和分析更准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外部数据按需引入，每一类都说清用在哪、效果如何、花了多少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19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天气 · 节假日 · 区域热力 · 舆情 · 公共数据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天气、节假日与调休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区域热力、舆情点评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授权的公共数据核验结果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外部数据登记：来源、授权、期限、更新频率、成本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和景区、日期、区域关联起来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公共数据只用核验结果，原始数据不落地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客流预测的参考因素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天气、节假日对销量的影响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口碑和舆情监测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行业研究素材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每类外部数据帮了多少 → 决定继续买还是停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用内部交易数据检验外部数据靠不靠谱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loud-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预测和分析更准；外部数据的投入花得明白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智能体服务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AI 越用越准，还能发现新需求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智能体统一从数据平台取数；每一次提问、纠错、差评都回来，让 AI 越用越准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20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数字大脑 · AI 客服 · AI 伴游 · 内部 AI 助手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数字大脑、畅游 AI（客服、伴游）等智能体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大量用户提问、回答、反馈数据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统一从数据平台取指标、标签和知识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统一记录对话；建测试题库和反馈机制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按用户和景区隔离权限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可信的指标、标签和知识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保证 AI 的答案口径一致、查得到来源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答不上的问题 → 补指标、补说法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纠错和差评 → 更新题库和知识库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高频问题 → 给产品和客服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对话里的诉求（如退票原因）→ 业务洞察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智能体服务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AI 答案越用越准；业务需求自动发现；客服和运营成本下降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数据理清、算准、管住，人人能用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建什么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怎么治理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六个统一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人人能用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问题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六个平时真实遇到的麻烦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每一条都能在日常工作里找到例子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22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19483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711" y="1719483"/>
            <a:ext cx="199567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3480" y="1719483"/>
            <a:ext cx="3947007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平时是什么样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6577" y="1719483"/>
            <a:ext cx="31576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为什么会这样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127488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7363" y="2216185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304882"/>
            <a:ext cx="177393" cy="17739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127488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3480" y="2127488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想看“售票 + 二消 + 结算”，要从 3 个以上系统导数、手工拼表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6577" y="2127488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没有统一接入；景区、商品、渠道编号各系统不一样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270401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363" y="2792714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2881411"/>
            <a:ext cx="177393" cy="17739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270401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一个数多个答案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33480" y="270401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同一天同一景区，看板、对账、接口三处“核销量”不一样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46577" y="270401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公司层面没有统一的指标定义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8054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363" y="336924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0" y="3457939"/>
            <a:ext cx="177393" cy="1773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328054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没规矩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3480" y="328054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表名随意、字段没说明、出了问题找不到负责人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46577" y="328054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规范只写在文档里，上线没有人卡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4318" y="3857076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7363" y="3945773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60" y="4034469"/>
            <a:ext cx="177393" cy="17739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3857076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33480" y="3857076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订单宽表离线、湖仓各做一份，结果还对不上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46577" y="3857076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没有统一的公共层，各做各的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433605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52230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060" y="4610999"/>
            <a:ext cx="177393" cy="17739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97456" y="4433605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33480" y="4433605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入园、核销和现场对不上，节假日更明显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46577" y="4433605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补传、重复上报、撤销冲正、时间口径混用，缺逐层核对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5010134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7363" y="5098831"/>
            <a:ext cx="354787" cy="354787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our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060" y="5187528"/>
            <a:ext cx="177393" cy="17739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97456" y="5010134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看得慢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33480" y="5010134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高峰期订单、核销第二天才看到，预警靠人盯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46577" y="5010134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只有每天跑一次的离线链路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693100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803971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693100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前五个是“管理问题”，要系统治理；第六个是“能力缺口”，要补实时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六层搭起来，治理管全程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从下往上：数据从哪来 → 存到哪 → 算成什么 → 怎么给出去 → AI 怎么用 → 谁在用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23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4365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应用与服务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谁在用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01298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内部经营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87403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景区运营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73506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伙伴接入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9610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5714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49114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能力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让 AI 能用数据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0129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模型服务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08929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知识服务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655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工具服务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418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评测运营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13863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对外的窗口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0129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数据开放平台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8929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指标服务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1655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标签服务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418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一键接入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78611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指标与分析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算好的数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0129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08929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景区自定义指标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1655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2418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43360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仓库与车间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01298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数据加工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87403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每天的主流程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73506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实时计算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59610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统一存储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5714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公共模型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08109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数据来源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90129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0511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0892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1274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1655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20372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2418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2800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20513" y="1843659"/>
            <a:ext cx="1472366" cy="378735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647" y="2021053"/>
            <a:ext cx="372526" cy="3725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15647" y="2464537"/>
            <a:ext cx="1117579" cy="7095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贯穿每一层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5647" y="3218459"/>
            <a:ext cx="1117579" cy="24835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主数据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统一口径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4318" y="5790666"/>
            <a:ext cx="532180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思路：统一标准，治理写进研发流程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数据平台建什么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六个模块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已有的投入全部保留（数据加工工具、小Q、数据开放平台、社媒采集平台），在上面补齐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24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69" y="232986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2589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汇聚接入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业务系统、终端、外部数据，以及文档、图片、视频都接进来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1711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像“进水口”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52970" y="2048256"/>
            <a:ext cx="3181258" cy="1640890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30364" y="2207910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670" y="2323216"/>
            <a:ext cx="257220" cy="2572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151241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1241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0364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一个地方存，每天算 + 实时算；订单、核销分钟级看到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30364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像“蓄水池”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11622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89015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973" y="2329868"/>
            <a:ext cx="243916" cy="24391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509894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9894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9015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规范、编号、口径、质量、权限，写进日常流程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9015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像“净水厂”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71711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ar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669" y="4148152"/>
            <a:ext cx="243916" cy="24391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92589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2589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资产目录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1711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中文一搜：有什么数据、在哪、什么意思、找谁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71711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像“图书馆检索台”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52970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30364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322" y="4148152"/>
            <a:ext cx="243916" cy="24391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151241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51241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30364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数据开放平台：所有数据从这里出去，可追溯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30364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像“唯一的水龙头”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11622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889015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parkle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973" y="4148152"/>
            <a:ext cx="243916" cy="24391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09894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9894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AI 治理工具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89015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AI 自动分类、标注，人工审核修正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89015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像“AI 帮手”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数据治理是什么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给数据“定规矩、上户口、做体检”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没有治理，数据越多越乱；治理就是让每个数都说得清来源、算得准口径、找得到主人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25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389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数据标准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397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表名、字段全公司一个说法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13307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7296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d-c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83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2288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上户口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288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主数据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96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一个景区只有一个身份证号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2296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9195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older-tre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822" y="2318781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41871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建家谱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1871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血缘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195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51285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10940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stethoscop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811" y="2318781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60860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做体检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60860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10940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每天检查，不合格拦下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3755669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统一算法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389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397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同一个指标一种算法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13307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7296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3832" y="3755669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2288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管钥匙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2288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权限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7296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谁能看什么分清楚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32296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9195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trash2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822" y="3755669"/>
            <a:ext cx="221742" cy="22174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741871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搞卫生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41871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95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没人用的定期清理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51285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10940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1811" y="3755669"/>
            <a:ext cx="221742" cy="22174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260860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一个窗口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60860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0940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所有数据从一处出去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4318" y="4939770"/>
            <a:ext cx="4860584" cy="691835"/>
          </a:xfrm>
          <a:prstGeom prst="roundRect">
            <a:avLst>
              <a:gd name="adj" fmla="val 1282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35478" rIns="133045" bIns="35478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不治理　</a:t>
            </a:r>
          </a:p>
          <a:p>
            <a:pPr algn="l"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同一个“核销量”，报表、接口、AI 三处三个数；开会先吵数字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32296" y="4939770"/>
            <a:ext cx="4860584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35478" rIns="133045" bIns="35478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治理后　</a:t>
            </a:r>
          </a:p>
          <a:p>
            <a:pPr algn="l">
              <a:spcBef>
                <a:spcPts val="97"/>
              </a:spcBef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三处数字一致，出了问题能追到人；数据才敢拿去办事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治理流程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八步走，一步一步落地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按顺序推进：先定规矩、统一编号，再管质量和口径，最后管好权限、盘点和出口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26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084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7084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数据标准</a:t>
            </a:r>
          </a:p>
        </p:txBody>
      </p:sp>
      <p:pic>
        <p:nvPicPr>
          <p:cNvPr id="49" name="Picture 48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907" y="2052096"/>
            <a:ext cx="301569" cy="3015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53971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表名、字段、码值全公司一个说法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736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2669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详见“统一规范”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313739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35481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2011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2011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主数据</a:t>
            </a:r>
          </a:p>
        </p:txBody>
      </p:sp>
      <p:pic>
        <p:nvPicPr>
          <p:cNvPr id="59" name="Picture 58" descr="id-c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070" y="2052096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95136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景区、商品、渠道、供应商、游客一个编号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68527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3832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编号对照表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5854903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6644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3174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理清来龙去脉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3174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数据血缘</a:t>
            </a:r>
          </a:p>
        </p:txBody>
      </p:sp>
      <p:pic>
        <p:nvPicPr>
          <p:cNvPr id="69" name="Picture 68" descr="folder-tre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233" y="2052096"/>
            <a:ext cx="301569" cy="30156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36298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9690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4996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资产目录、血缘图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8396066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1780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9433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433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数据质量</a:t>
            </a:r>
          </a:p>
        </p:txBody>
      </p:sp>
      <p:pic>
        <p:nvPicPr>
          <p:cNvPr id="79" name="Picture 78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97" y="2052096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77462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算完自动检查，不合格就拦住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085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6158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质量规则、问题单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431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7084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084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统一标签</a:t>
            </a:r>
          </a:p>
        </p:txBody>
      </p:sp>
      <p:pic>
        <p:nvPicPr>
          <p:cNvPr id="88" name="Picture 87" descr="scal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907" y="3888119"/>
            <a:ext cx="301569" cy="30156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53971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一个指标一个算法，集团出标准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2736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42669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详见“统一标签”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3313739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35481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2011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2011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权限安全</a:t>
            </a:r>
          </a:p>
        </p:txBody>
      </p:sp>
      <p:pic>
        <p:nvPicPr>
          <p:cNvPr id="98" name="Picture 97" descr="lo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070" y="3888119"/>
            <a:ext cx="301569" cy="30156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95136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数据分级，谁的数据只服务谁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68527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3832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详见“统一权限”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5854903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076644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174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定期盘点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3174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资产运营</a:t>
            </a:r>
          </a:p>
        </p:txBody>
      </p:sp>
      <p:pic>
        <p:nvPicPr>
          <p:cNvPr id="108" name="Picture 107" descr="archiv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233" y="3888119"/>
            <a:ext cx="301569" cy="30156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236298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打健康分，没人用的就下线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9690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4996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健康分榜、下线清单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8396066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780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9433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433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数据分发</a:t>
            </a:r>
          </a:p>
        </p:txBody>
      </p:sp>
      <p:pic>
        <p:nvPicPr>
          <p:cNvPr id="118" name="Picture 117" descr="send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9397" y="3888119"/>
            <a:ext cx="301569" cy="30156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777462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对内对外只走一个“窗口”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5085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66158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接口目录、调用台账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94318" y="5484662"/>
            <a:ext cx="9898562" cy="514441"/>
          </a:xfrm>
          <a:prstGeom prst="roundRect">
            <a:avLst>
              <a:gd name="adj" fmla="val 1724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0" tIns="0" bIns="0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先治一条主线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“订单 → 核销 → 结算”公司最核心、问题最多，先在这条线上把八步走通，再按数据域推广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② 主数据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一个景区只有一个“身份证”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以前同一个景区在票务、分销、财务里各有各的编号，拼数时对不上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27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06508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景区编号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集团、分园区、子景点分级挂靠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5435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1401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88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393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商品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66547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商品编号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175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票种、套票、二消商品统一编码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397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507317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0389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06508" y="3423056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渠道编号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171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OTA、自营、分销、团队统一分类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5435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1401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82" y="3507317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393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51332" y="3423056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供应商编号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3175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同一主体只建一个编码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469585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06508" y="4611593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游客编号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7171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手机号、证件号、会员号归并为一人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5435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401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map-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882" y="4695855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76393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区域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266547" y="4611593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行政区划码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3175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采用国家标准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58746" y="2048256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票务系统编号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932682" y="2261128"/>
            <a:ext cx="399135" cy="514441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158746" y="2562697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分销系统编号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932682" y="2775569"/>
            <a:ext cx="399135" cy="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158746" y="3077138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财务系统编号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932682" y="2775569"/>
            <a:ext cx="399135" cy="51444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376166" y="2474000"/>
            <a:ext cx="1516715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对照表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老编号 → 新编号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10028087" y="3148096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58746" y="3494013"/>
            <a:ext cx="3734135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统一编号</a:t>
            </a: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　所有报表、指标、标签只认它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58746" y="4203588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earch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400" y="4380981"/>
            <a:ext cx="248351" cy="2483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673187" y="4239066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先查再建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73187" y="4505157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新建景区、商品、供应商时先查，有就复用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58746" y="4895423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history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8400" y="5072816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73187" y="493090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变更有记录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73187" y="519699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改编号要审批，保留历史，旧报表能追溯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③ 数据血缘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每个数从哪来、到哪去，一查就清楚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像家谱一样，从源头一直打通到报表、接口和智能体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28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源头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0409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4943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刚接进来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291564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9556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去掉错的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54219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46192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792815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96817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直接能用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0434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47442" y="2154097"/>
            <a:ext cx="1020013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指标 / 标签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口径认证过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8356152" y="2065401"/>
            <a:ext cx="399134" cy="461223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99636" y="1888007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8356152" y="2508885"/>
            <a:ext cx="399134" cy="17739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799636" y="2331491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开放接口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6152" y="2526624"/>
            <a:ext cx="399134" cy="425744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799636" y="2774975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129762"/>
            <a:ext cx="9898562" cy="17739"/>
          </a:xfrm>
          <a:prstGeom prst="roundRect">
            <a:avLst>
              <a:gd name="adj" fmla="val 0"/>
            </a:avLst>
          </a:prstGeom>
          <a:solidFill>
            <a:srgbClr val="C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318" y="3245068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家谱的三个用处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971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932468"/>
            <a:ext cx="221742" cy="221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03892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查错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9451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报表数字不对，沿家谱往上查，快速找到出错的那一层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12624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it-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95" y="3932468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改之前先评估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48103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改表、改口径前，先查哪些报表、接口受影响，通知负责人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11622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71276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rash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47" y="3932468"/>
            <a:ext cx="221742" cy="22174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21197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清理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6755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没有下游、没人访问的表和任务，进入下线清单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4318" y="4948047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家谱里记三类信息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技术信息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表结构、字段类型、存储量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52970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业务信息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含义、口径、负责人、安全等级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开发填写，专员审核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11622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运行信息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几点产出、跑多久、多少人在用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④ 数据质量 · 举例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“核销量”怎么做到各处一致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这是数据治理的样板：核销做通了，同样的方法复制到其他指标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29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第一步：先把四个容易混的数分开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核销次数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刷了几次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有效核销票数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有效的票几张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入园人次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进了几人次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去重游客数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实际来了几个人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比如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一位年卡游客一天进出 3 次：核销次数 3，入园人次 3，去重游客数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第二步：从现场到报表，每一层按“景区 + 日期”对一次数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现场记录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订单与核销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洗干净的数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大家看到的数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对不上就自动报警</a:t>
            </a:r>
          </a:p>
          <a:p>
            <a:pPr algn="l">
              <a:spcBef>
                <a:spcPts val="194"/>
              </a:spcBef>
            </a:pPr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→ 查原因 → 修复 → 重算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常见原因</a:t>
            </a:r>
          </a:p>
          <a:p>
            <a:pPr algn="l">
              <a:spcBef>
                <a:spcPts val="194"/>
              </a:spcBef>
            </a:pP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53587" y="104775"/>
            <a:ext cx="4084519" cy="562935"/>
            <a:chOff x="1778000" y="2361285"/>
            <a:chExt cx="408451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8451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91335" cy="461665"/>
              <a:chOff x="1249621" y="2030985"/>
              <a:chExt cx="299133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27521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⑦⑧ 资产运营与数据分发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定期盘点，统一出口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没人用的数据按步骤下线，省存储和计算；所有数据只从一个“窗口”出去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30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chiv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140793"/>
            <a:ext cx="337047" cy="3370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59544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⑦ 资产运营：定期盘点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060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每月打“健康分”，按负责人公示排名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16060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规范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89663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63266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36869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0472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060" y="344463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没人用的，按步骤下线</a:t>
            </a:r>
          </a:p>
        </p:txBody>
      </p:sp>
      <p:sp>
        <p:nvSpPr>
          <p:cNvPr id="54" name="Oval 53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59544" y="3799423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24769" y="3799423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90 天没人访问 · 没下游 · 重复 · 临时表</a:t>
            </a:r>
          </a:p>
        </p:txBody>
      </p:sp>
      <p:sp>
        <p:nvSpPr>
          <p:cNvPr id="58" name="Oval 57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9544" y="4296125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通知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4769" y="4296125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负责人确认</a:t>
            </a:r>
          </a:p>
        </p:txBody>
      </p:sp>
      <p:sp>
        <p:nvSpPr>
          <p:cNvPr id="62" name="Oval 61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9544" y="4792827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24769" y="4792827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停调度或改只读，观察 30 天</a:t>
            </a:r>
          </a:p>
        </p:txBody>
      </p:sp>
      <p:sp>
        <p:nvSpPr>
          <p:cNvPr id="66" name="Oval 65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59544" y="5289529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删除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24769" y="5289529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没人反馈再删；有人反馈就恢复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8905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en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140793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131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⑧ 数据分发：统一出口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80647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不再点对点导数、私接数据库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0647" y="3001152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认证指标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78053" y="3249503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80647" y="3622029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统一标签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7478053" y="3559942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788492" y="3001152"/>
            <a:ext cx="1818283" cy="1117579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8492" y="3045500"/>
            <a:ext cx="1818283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开放平台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77189" y="3595420"/>
            <a:ext cx="1640890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统一鉴权 · 按景区隔离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调用计量 · 全程监控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9606777" y="3098718"/>
            <a:ext cx="221742" cy="461223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828519" y="2974543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景区看板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9606777" y="3400287"/>
            <a:ext cx="221742" cy="15965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828519" y="3276112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营销圈人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606777" y="3559942"/>
            <a:ext cx="221742" cy="14191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828519" y="3577681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合作伙伴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606777" y="3559942"/>
            <a:ext cx="221742" cy="44348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828519" y="3879250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36299" y="4375952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9343" y="4375952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只查指标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10234" y="4375952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经营看板：销售额、核销量、入园人次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6299" y="4872653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9343" y="4872653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指标 + 标签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10234" y="4872653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按会员等级看复购率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99" y="5369356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9343" y="5369356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标签圈人 + 指标看效果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0234" y="5369356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圈出近 90 天没复购的年卡用户，推活动后看转化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数据归属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每条业务线、每一块数据都有人负责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一份全公司数据表清单，写清楚归哪条业务线、谁负责；出了问题，马上能对应到人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31  ·  AI＋数据平台 · 02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3414826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CAB93"/>
                </a:solidFill>
                <a:latin typeface="微软雅黑"/>
                <a:ea typeface="微软雅黑"/>
              </a:rPr>
              <a:t>四步把责任落到人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353665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5196" y="2389144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出一份清单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15196" y="2681843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全公司所有数据表，一张不落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318" y="2965673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116458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5196" y="3151936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每张表标清楚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5196" y="3444635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归哪条业务线、谁负责、敏感等级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318" y="3728466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4318" y="3879250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5196" y="3914729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业务线认领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5196" y="4207428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各线接口人认领、确认口径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4318" y="4491258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4642043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15196" y="4677521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出问题找得到人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15196" y="4970221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按清单马上对应到负责人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75235" y="2016617"/>
            <a:ext cx="6217645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8280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79040" y="2016617"/>
            <a:ext cx="141105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来自哪个系统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7489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归属业务线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8249" y="2016617"/>
            <a:ext cx="19102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主要管什么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75235" y="2424623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8280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交易订单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79040" y="2424623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票务 SaaS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7489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38249" y="2424623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订单口径、退改规则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75235" y="2841498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8280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核销入园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9040" y="2841498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闸机 · 终端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7489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38249" y="2841498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核销口径、入园记录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75235" y="32583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08280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79040" y="32583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分销系统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67489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38249" y="32583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渠道、旅行社编号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75235" y="367524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08280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业态消费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79040" y="367524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九大业态系统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67489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38249" y="367524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各业态订单与消费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75235" y="409212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08280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结算财务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79040" y="409212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财务 · ERP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67489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38249" y="409212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结算、对账、发票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75235" y="450899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8280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9040" y="450899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会员营销系统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67489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38249" y="450899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会员、积分、活动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75235" y="49258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08280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公司经营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79040" y="49258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CRM · 飞书 · 人事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67489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各职能部门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38249" y="49258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客户、人员、合同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94318" y="5458053"/>
            <a:ext cx="9898562" cy="487832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568924"/>
            <a:ext cx="266090" cy="26609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570847" y="545805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结果　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从数据模型设计开始就对应到开发和负责人；口径有争议，由治理小组拍板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治理怎么保证落实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写进流程、有人负责、有考核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不另起流程、不搞运动；先治“订单 → 核销 → 结算”主线，做通再推广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32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orkfl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043226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写进流程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3971" y="2708452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814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事前 · 定规范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78148" y="3001152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需求确认口径；设计做模型评审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3971" y="3595420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8148" y="363089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事中 · 设卡点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8148" y="3888120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发布自动检查；运行不合格就拦住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53971" y="4482388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78148" y="451786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事后 · 做治理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78148" y="4775088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健康分、整改、复盘补规则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7753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95" y="2043226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1676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有人负责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7407" y="2708452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583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数据治理小组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51583" y="3001152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拍板口径争议、审批规范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27407" y="3373678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1583" y="340915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数据负责人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51583" y="3666378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定方案、跨部门协调、对健康分负责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27407" y="4038904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1583" y="4074383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业务数据专员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1583" y="4331604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每个业务线一名，确认口径、验收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27407" y="4704130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1583" y="473960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治理专员 / 开发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51583" y="4996830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维护标准规则；模型落地、问题修复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4118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4118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74118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30" y="2043226"/>
            <a:ext cx="372526" cy="37252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95111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有考核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00841" y="270845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2501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节奏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5018" y="3001152"/>
            <a:ext cx="2619512" cy="1153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两周口径评审 · 每月健康分公示 · 季度复盘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900841" y="324063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25018" y="3240632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新表规范符合率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5474" y="3240632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00841" y="3772814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5018" y="3772814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核心报表按时产出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95474" y="3772814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≥ 99%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00841" y="430499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25018" y="430499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老板看板认证指标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5474" y="430499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00841" y="483717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5018" y="483717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核销量各出口差异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5474" y="483717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573359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662056"/>
            <a:ext cx="266090" cy="26609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847" y="5573359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先测基线再定目标；看实际使用和业务结果，不看上了多少看板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建成后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形成“六个统一”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每一项都能对比“以前”和“以后”，也都有考核指标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33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220620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统一规范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711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规范只写在文档里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1711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800" y="2220620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0364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订单、核销第二天才看到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30364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分钟级看到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11622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51" y="2220620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89015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报表、接口、AI 各说各的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89015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3923598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统一权限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71711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各系统各管各的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1711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一套规则管住所有出口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800" y="3923598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标签复用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30364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各部门各做一套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30364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一个游客一个身份，到处能用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451" y="3923598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即席自助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9015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找数据团队要数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9015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业务自己查、自己看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431444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怎么推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先在“订单 → 核销 → 结算”试点；老报表先并行对比，没问题再切换，随时可退回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统一标签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一个口径，报表、接口、AI 三处一致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指标 = 数一数（卖了多少、来了多少）；标签 = 贴个签（年卡用户、喜欢夜游）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34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74702"/>
            <a:ext cx="580964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l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196339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26498" y="192792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① 口径说清楚：一个指标拆成四件事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71711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算什么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支付金额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5684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75338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加条件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线上成人票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9310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8964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什么时间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近 7 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2937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82592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按什么看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按景区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1711" y="2992282"/>
            <a:ext cx="5454852" cy="44348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= 近 7 天线上渠道成人票支付金额（按景区）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25700" y="1874702"/>
            <a:ext cx="386718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adg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94" y="1963399"/>
            <a:ext cx="266090" cy="2660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7880" y="1927920"/>
            <a:ext cx="3512393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新指标四步认证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03094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起草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934843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29976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确认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业务负责人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861724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6857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拍板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治理小组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788606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3739" y="2318186"/>
            <a:ext cx="731748" cy="585398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发布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记录版本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3094" y="2992282"/>
            <a:ext cx="351239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认证过的才能进老板看板、接口和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318" y="3763944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② 两级体系：集团出标准，景区可以自己加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318" y="4136471"/>
            <a:ext cx="2793949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1711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1711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统一定义 · 版本管理 · 业务认证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全公司一个口径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10009" y="4136471"/>
            <a:ext cx="2793949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9DD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403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景区自定义空间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87403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 A / B / C 相互隔离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不能同名覆盖企业标准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67390" y="5289529"/>
            <a:ext cx="1463497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← 好用的沉淀为标准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5700" y="3763944"/>
            <a:ext cx="386718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③ 同一个出口，三处数字一致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25700" y="4136471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6" y="4189689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98227" y="4136471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755287" y="4296125"/>
            <a:ext cx="310439" cy="390265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25700" y="4508997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lug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96" y="4562214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98227" y="4508997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开放 API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755287" y="4668652"/>
            <a:ext cx="310439" cy="17739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25700" y="4881524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o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396" y="4934741"/>
            <a:ext cx="212872" cy="21287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398227" y="4881524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AI 问数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8755287" y="4686391"/>
            <a:ext cx="310439" cy="354787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10075" y="4296125"/>
            <a:ext cx="1782805" cy="798271"/>
          </a:xfrm>
          <a:prstGeom prst="roundRect">
            <a:avLst>
              <a:gd name="adj" fmla="val 1111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  <a:p>
            <a:pPr algn="ctr">
              <a:spcBef>
                <a:spcPts val="97"/>
              </a:spcBef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开会不用先对数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4318" y="5653186"/>
            <a:ext cx="9898562" cy="372526"/>
          </a:xfrm>
          <a:prstGeom prst="roundRect">
            <a:avLst>
              <a:gd name="adj" fmla="val 2380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706404"/>
            <a:ext cx="266090" cy="26609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570847" y="5653186"/>
            <a:ext cx="91446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衡量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认证指标覆盖率；老板看板认证指标 100%；核销量各出口 0 差异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统一权限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数据分级，谁能看什么一套规则管到底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越敏感管得越严；谁的数据只服务谁；所有出口用同一套规则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35  ·  AI＋数据平台 · 02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01311"/>
            <a:ext cx="3680917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先分级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6099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10329" y="2256099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5634" y="2256099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手机号、证件号、人脸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加密打码，明文不进大模型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841498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10329" y="2841498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5634" y="2841498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单景区经营、价格、结算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按景区 / 供应商隔离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426896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10329" y="3426896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5634" y="3426896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日志、设备状态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内部按角色授权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4012295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10329" y="4012295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5634" y="4012295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已发布的报告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可以公开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1326" y="1901311"/>
            <a:ext cx="354787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再定谁能看什么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61339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05311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49284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3257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41326" y="2575407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集团管理层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61339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5311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284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看汇总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3257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41326" y="2885846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61339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05311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49284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按项目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3257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审批打码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1326" y="3196285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1339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5311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49284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本业务线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93257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41326" y="3506723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61339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05311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49284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3257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授权打码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1326" y="381716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61339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05311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49284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93257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41326" y="412760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外部伙伴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61339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05311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49284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匿名汇总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3257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941326" y="4438040"/>
            <a:ext cx="5951555" cy="283829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智能体　</a:t>
            </a: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不单独开权限，继承提问人的权限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4318" y="4810566"/>
            <a:ext cx="3680917" cy="727313"/>
          </a:xfrm>
          <a:prstGeom prst="roundRect">
            <a:avLst>
              <a:gd name="adj" fmla="val 12195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1711" y="4846045"/>
            <a:ext cx="3414826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底线：谁的数据只服务谁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71711" y="5112136"/>
            <a:ext cx="3414826" cy="4080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景区数据只给该景区 · 供应商数据只给该供应商 · 对外只给匿名汇总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41326" y="4810566"/>
            <a:ext cx="5951555" cy="727313"/>
          </a:xfrm>
          <a:prstGeom prst="roundRect">
            <a:avLst>
              <a:gd name="adj" fmla="val 1219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18719" y="4846045"/>
            <a:ext cx="2660904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权限闭环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1871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申请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610857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709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审批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726695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43547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最小授权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842533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59386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全程留痕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958371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75224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到期回收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94318" y="5626577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71711" y="5626577"/>
            <a:ext cx="96324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同一套规则管住每个出口　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数据仓库 · 数据地图 · 开放 API · 小Q · 标签平台 · 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标签复用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一个游客一个身份，一处加工、到处能用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订单、会员、年卡、人脸归并成同一个游客；营销、分析、AI、景区都从同一处取标签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36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ceip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145822"/>
            <a:ext cx="248351" cy="248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2150" y="204825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90860" y="2269998"/>
            <a:ext cx="399135" cy="6031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4318" y="259817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ser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2695742"/>
            <a:ext cx="248351" cy="2483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82150" y="259817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90860" y="2819918"/>
            <a:ext cx="399135" cy="5321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318" y="314809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3245662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82150" y="314809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年卡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590860" y="2873136"/>
            <a:ext cx="399135" cy="49670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318" y="369801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an-fac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3795582"/>
            <a:ext cx="248351" cy="24835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82150" y="369801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人脸识别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2590860" y="2873136"/>
            <a:ext cx="399135" cy="104662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34343" y="2429652"/>
            <a:ext cx="159654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同一个游客</a:t>
            </a:r>
          </a:p>
          <a:p>
            <a:pPr algn="ctr">
              <a:spcBef>
                <a:spcPts val="97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OneID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4719584" y="2766700"/>
            <a:ext cx="248351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74370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统一生产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基于公共模型加工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670912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92654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统一管理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口径 · 负责人 · 生命周期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8489198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10939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统一服务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一个出口提供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25699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41710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5772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7373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0035" y="3582709"/>
            <a:ext cx="88696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谁来用 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1711" y="4363242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给谁打标签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1725" y="4363242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 / 会员 · 供应商 · 景区 · 渠道 · 商品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1711" y="4842205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标签类型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1725" y="4842205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基础属性 · 统计类 · 规则类 · 模型预测类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1864" y="4363242"/>
            <a:ext cx="457232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1864" y="4664811"/>
            <a:ext cx="4572320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景区只用本景区的标签</a:t>
            </a:r>
          </a:p>
          <a:p>
            <a:pPr algn="l">
              <a:lnSpc>
                <a:spcPct val="110000"/>
              </a:lnSpc>
              <a:spcBef>
                <a:spcPts val="194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不做敏感个人信息标签；对外不提供个人层面标签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人人能用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不懂技术的同事也能用数据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运营、业务、标注人员都能自己找数、问数、做分析；数据团队从“帮人取数”转向“建能力”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37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7171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“公司有什么数据？”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246372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7171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05" y="3276112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48240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资产目录</a:t>
            </a: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3896989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7084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中文一搜就出来</a:t>
            </a: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429612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7084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看到在哪、什么意思</a:t>
            </a: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4695261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7084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知道该找谁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67753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45147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“帮我查个数”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5837163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45147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essages-squar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540" y="3276112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121676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智能问数</a:t>
            </a: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3896989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944282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用大白话直接问</a:t>
            </a: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429612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944282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在小Q 之上加一层智能体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4695261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944282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先听懂问题，再去取数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4118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91858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“我想做个分析”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921059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91858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hart-colum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975" y="3276112"/>
            <a:ext cx="283829" cy="28382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95111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即席自助</a:t>
            </a: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3896989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31771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选指标、点一点出结果</a:t>
            </a: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429612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31771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会写查询的直接查</a:t>
            </a: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4695261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31771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常用的存成看板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对业务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少等数、少找人，自己就能看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54471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对数据团队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少做重复取数，精力放在建能力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多种数据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文档、图片、视频也能变成可用的数据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原始资料先放进来，AI 先识别、分类、标注，人再审核；整理好的数据用于问数、智能体和数据集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38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1647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older-tre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93" y="2323215"/>
            <a:ext cx="266090" cy="26609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527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原始资料放进来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75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文档 · 图片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视频 · 音频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表格 · 采集数据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805506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27248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44578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parkl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884" y="2305476"/>
            <a:ext cx="301569" cy="30156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09820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AI 识别、分类、标注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3368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自动识别内容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自动分类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自动打标注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838437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60179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77509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4" y="232321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131136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人工审核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615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标得不对的改过来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审核通过才入库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7136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93110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10439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5745" y="2305476"/>
            <a:ext cx="301569" cy="30156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164067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变成可用数据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9546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标准数据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知识库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890429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26040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43370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15" y="2323215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196998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用起来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2477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智能问数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4318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amera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4558375"/>
            <a:ext cx="301569" cy="30156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70847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举个例子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060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客户现场没有系统，用本子记录</a:t>
            </a:r>
          </a:p>
          <a:p>
            <a:pPr algn="l">
              <a:lnSpc>
                <a:spcPct val="115000"/>
              </a:lnSpc>
              <a:spcBef>
                <a:spcPts val="291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拍照上传 → AI 识别 → 自动转成标准表格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ayers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603" y="4558375"/>
            <a:ext cx="301569" cy="30156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631000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76213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数据按主题统一管理，做数据集时按场景去取</a:t>
            </a:r>
          </a:p>
          <a:p>
            <a:pPr algn="l">
              <a:lnSpc>
                <a:spcPct val="115000"/>
              </a:lnSpc>
              <a:spcBef>
                <a:spcPts val="291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先从我们已经有基础的场景做起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一个智能体平台，把流量分给各个智能体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全局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怎么分发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已有基础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能做什么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数字大脑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平台全局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一个智能体平台，把流量分给各个智能体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游客、景区、公司内部从哪里来都行，统一进智能体平台；平台听懂要做什么，再分给最合适的智能体；数据统一来自数据平台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40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1419148" cy="496702"/>
          </a:xfrm>
          <a:prstGeom prst="roundRect">
            <a:avLst>
              <a:gd name="adj" fmla="val 1785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入口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46512" y="2100879"/>
            <a:ext cx="996852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49801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2073" y="2100879"/>
            <a:ext cx="861344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自助终端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9854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2126" y="2100879"/>
            <a:ext cx="99414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82704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大屏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79468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318" y="2482275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▼  所有请求统一进来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2748366"/>
            <a:ext cx="9898562" cy="957925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961238"/>
            <a:ext cx="372526" cy="3725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03892" y="2783845"/>
            <a:ext cx="283829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智能体平台（自己建）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3892" y="3191850"/>
            <a:ext cx="283829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统一接入、统一分发流量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5349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统一入口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各入口只接一次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1637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认人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身份、景区、权限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7926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听懂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识别要做什么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4214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分发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交给对的智能体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0502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计量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按景区算用量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6791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评估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答得好不好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4318" y="370629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▼  按意图分发；答不了的转人工兜底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06994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86" y="4163080"/>
            <a:ext cx="186263" cy="18626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6498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B26A2C"/>
                </a:solidFill>
                <a:latin typeface="微软雅黑"/>
                <a:ea typeface="微软雅黑"/>
              </a:rPr>
              <a:t>面向景区管理者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49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998365" y="3848206"/>
            <a:ext cx="798271" cy="23061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重点方向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00639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07075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207" y="4163080"/>
            <a:ext cx="186263" cy="186263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532820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32820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面向游客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2481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客服 · 导览 · 伴游 · 旅拍 · 手语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06961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13397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529" y="4163080"/>
            <a:ext cx="186263" cy="18626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539142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9142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面向票务与财务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31136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运营助手 · 对账助手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013283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119719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850" y="4163080"/>
            <a:ext cx="186263" cy="18626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545463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调度中枢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45463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面向安全调度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7458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客流 · 车船 · 防火 · 设施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19604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26040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uilding2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172" y="4163080"/>
            <a:ext cx="186263" cy="186263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551785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51785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面向公司自己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3780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经营问数 · 报告 · 文案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71711" y="5178658"/>
            <a:ext cx="459449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微软雅黑"/>
                <a:ea typeface="微软雅黑"/>
              </a:rPr>
              <a:t>底层能力 · 可以替换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71711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扣子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808357" y="5515706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火山方舟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691383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腾讯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328028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阿里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64674" y="5515706"/>
            <a:ext cx="511484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47117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自研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2296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9690" y="5382661"/>
            <a:ext cx="301569" cy="301569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653174" y="5178658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数据统一来自数据平台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174" y="5497967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指标、标签、知识同一套，答案口径一致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智能体平台怎么分发流量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认人、听懂、分给对的智能体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一句话进来，平台先认出是谁、听懂要做什么，再交给最合适的智能体；一句话里有几件事，就分给几个智能体接力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41  ·  AI＋数据平台 · 03  AI 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① 从哪来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小程序 · 公众号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景数通 ·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设备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大屏 · 自助终端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② 平台统一分发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认人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是谁、哪个景区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听懂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要做哪几件事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分发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交给最合适的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兜底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答不了转人工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③ 对应的智能体去办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2349230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8905" y="2464535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5234025" y="2375839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78384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18" y="2881411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80158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8905" y="2996717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客服 · 导览 · 购票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234025" y="290802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31602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118" y="3413592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33376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8905" y="3528898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运营助手 · 对账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34025" y="344020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562203" y="3848206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building2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4118" y="3945773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58905" y="3865945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58905" y="4061079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经营问数 · 报告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5234025" y="397238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④ 数据从哪来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databas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认证过的指标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举个例子：游客问“明天人多吗？帮我买两张票”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小程序里提问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认人、听懂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查客流 + 买票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客服智能体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答：明天客流预测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购票智能体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接着下单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结果回流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下次更准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新增一个智能体，只要在平台上登记，流量就能分过去；入口不用改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已有智能体，来自三个地方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 = 能听懂问题、还能帮你办事的 AI 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42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5746"/>
            <a:ext cx="6474866" cy="1197406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0087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87" y="2207315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83140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Coze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1386" y="2127488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工作流配置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92589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1907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91224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90541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04118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92589" y="2845932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给游客用 · 标准化、配置化输出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236198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9451" y="3431331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322" y="3542202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92589" y="3413592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企业合作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10736" y="345794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合作接入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92589" y="3839337"/>
            <a:ext cx="61496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589" y="4176384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给听障游客用 · 接入合作方的专业能力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4566650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451" y="476178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22" y="4872654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92589" y="4744044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10736" y="478839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平台自带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92589" y="5169789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91907" y="5169789"/>
            <a:ext cx="1206276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智能数据解读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2589" y="5506836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给景区和内部管理者用 · 直接用小Q 的 AI 能力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01364" y="1843659"/>
            <a:ext cx="2838297" cy="4213098"/>
          </a:xfrm>
          <a:prstGeom prst="roundRect">
            <a:avLst>
              <a:gd name="adj" fmla="val 1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90061" y="1932355"/>
            <a:ext cx="2660904" cy="4035704"/>
          </a:xfrm>
          <a:prstGeom prst="roundRect">
            <a:avLst>
              <a:gd name="adj" fmla="val 8333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21378" y="1958963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090061" y="2154097"/>
            <a:ext cx="2660904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3106" y="2225055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0673" y="2322621"/>
            <a:ext cx="195132" cy="19513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10939" y="2198445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智能客服 · 示意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10939" y="2446797"/>
            <a:ext cx="195132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微软雅黑"/>
                <a:ea typeface="微软雅黑"/>
              </a:rPr>
              <a:t>● 在线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26862" y="2863672"/>
            <a:ext cx="1991057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明天上午去，几点开园？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3106" y="3307156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明天 8:00 开园。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刷身份证或人脸就能入园，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不用换票。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73117" y="410542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帮我买两张成人票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3106" y="4548911"/>
            <a:ext cx="2014857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已选好明天成人票 2 张，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点这里去支付 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3106" y="5480226"/>
            <a:ext cx="239481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0500" y="5480226"/>
            <a:ext cx="17739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84" name="Oval 83"/>
          <p:cNvSpPr/>
          <p:nvPr/>
        </p:nvSpPr>
        <p:spPr>
          <a:xfrm>
            <a:off x="10307481" y="5506836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700" y="5560053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游客端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覆盖游前、游中、游后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实心为已有，空心为基于现有系统和数据可以扩展的 —— 都要做，只是先后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43  ·  AI＋数据平台 · 03  AI 平台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60408" y="2180706"/>
            <a:ext cx="9366382" cy="0"/>
          </a:xfrm>
          <a:prstGeom prst="line">
            <a:avLst/>
          </a:prstGeom>
          <a:ln w="381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301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30" y="2038791"/>
            <a:ext cx="283829" cy="28382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4824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129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想去 · 了解 · 买票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650799"/>
            <a:ext cx="2882646" cy="2971342"/>
          </a:xfrm>
          <a:prstGeom prst="roundRect">
            <a:avLst>
              <a:gd name="adj" fmla="val 369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171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7171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景区咨询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3699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行程规划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171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购票预约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3699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门票候补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1711" y="3732900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1711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06447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71711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98869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1711" y="4770653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预约与候补提醒</a:t>
            </a:r>
          </a:p>
        </p:txBody>
      </p:sp>
      <p:sp>
        <p:nvSpPr>
          <p:cNvPr id="61" name="Oval 60"/>
          <p:cNvSpPr/>
          <p:nvPr/>
        </p:nvSpPr>
        <p:spPr>
          <a:xfrm>
            <a:off x="4143053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8" y="2038791"/>
            <a:ext cx="283829" cy="28382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80828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游中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2133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入园 · 游玩 · 消费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54358" y="2650799"/>
            <a:ext cx="3955877" cy="2971342"/>
          </a:xfrm>
          <a:prstGeom prst="roundRect">
            <a:avLst>
              <a:gd name="adj" fmla="val 358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3175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3175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入园核验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9703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导览讲解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62324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陪伴互动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27610" y="3049935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无障碍服务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3175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乐园项目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9703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演出观看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2324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游船乘坐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610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餐饮购物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3175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停车租赁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97038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酒店温泉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3175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31751" y="4344908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66487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22627" y="4344908"/>
            <a:ext cx="501629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86344" y="4344908"/>
            <a:ext cx="1450192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乐园排队与项目推荐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3175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演出选座推荐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750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餐饮二消推荐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43258" y="4708565"/>
            <a:ext cx="772647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停车引导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31751" y="5072222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自助机语音购票</a:t>
            </a:r>
          </a:p>
        </p:txBody>
      </p:sp>
      <p:sp>
        <p:nvSpPr>
          <p:cNvPr id="86" name="Oval 85"/>
          <p:cNvSpPr/>
          <p:nvPr/>
        </p:nvSpPr>
        <p:spPr>
          <a:xfrm>
            <a:off x="827632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240" y="2038791"/>
            <a:ext cx="283829" cy="28382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941551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游后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54605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回味 · 分享 · 再来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7629" y="2650799"/>
            <a:ext cx="2705252" cy="2971342"/>
          </a:xfrm>
          <a:prstGeom prst="roundRect">
            <a:avLst>
              <a:gd name="adj" fmla="val 39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502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6502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拍照留念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30309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游记分享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6502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点评反馈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30309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年卡复游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6502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积分权益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6502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65021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21162" y="4344908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游记与行程总结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6502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点评分享助手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7077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年卡服务助手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4318" y="5755187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748240" y="5755187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68254" y="5755187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实心为已有，空心为基于积累可扩展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景区端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景区每条业务线都产数、用数，AI 都能帮上忙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以景区 / 文旅集团为例：从经营管理到设备终端，每条业务线 AI 能帮什么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44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9898562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363" y="1990008"/>
            <a:ext cx="9577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2519" y="1990008"/>
            <a:ext cx="254698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包含哪些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6894" y="1990008"/>
            <a:ext cx="17750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产生什么数据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9363" y="1990008"/>
            <a:ext cx="172966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用数据做什么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6425" y="1990008"/>
            <a:ext cx="200210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AI 能帮什么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39801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7363" y="239801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经营管理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62519" y="239801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集团 / 景区管理层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6894" y="239801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汇总各条线的数据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9363" y="239801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看收入、客流、同比环比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6425" y="239801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智能问数 · 日报周报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284149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284149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票务运营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2519" y="284149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定价库存 · 分销渠道 · 团队 · 检票核销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6894" y="284149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订单、核销、渠道、价格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39363" y="284149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调价调库存、渠道结算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6425" y="284149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票务运营助手 · 检票异常解释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28498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7363" y="328498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2519" y="328498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乐园 · 演出 · 游船 · 酒店 · 温泉 · 餐饮零售 · 租赁 · 停车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6894" y="328498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各业态订单与消费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9363" y="328498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业态收入、二次消费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46425" y="328498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业态经营助手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728466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3728466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62519" y="3728466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年卡 · 分时预约 · 候补 · 免证 · 一卡通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86894" y="3728466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年卡、预约、入园记录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39363" y="3728466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调控预约、年卡续费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46425" y="3728466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智能客服 · 智能导览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4171950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7363" y="4171950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62519" y="4171950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 · 发票 · 报表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6894" y="4171950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结算、收款、发票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9363" y="4171950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对账、收入确认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46425" y="4171950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对账助手 · 发票助手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61543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1543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营销会员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62519" y="461543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 · 人群 · 全民营销 · 活动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86894" y="461543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会员、积分、推广、活动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39363" y="461543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圈人群、活动复盘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46425" y="461543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会员画像 · 营销文案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4318" y="505891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7363" y="505891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62519" y="505891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客流秩序 · 车船调度 · 防火生态 · 气象设施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86894" y="505891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客流、车船、物联、工单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9363" y="505891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预警、派单、处置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46425" y="505891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调度智能体 · 消息预警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4318" y="550240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7363" y="550240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设备终端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62519" y="550240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闸机 · 自助机 · 窗口 · 边云网关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86894" y="550240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设备状态、刷证刷脸记录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39363" y="550240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巡检、故障定位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46425" y="550240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设备运维诊断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数字大脑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智能体平台上面向景区管理者的重点方向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数字大脑 = 智能问数 + 智能洞察 + 调度智能体；请求同样经智能体平台分发，数据都来自数据平台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45  ·  AI＋数据平台 · 03  AI 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① 管理者在哪问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大屏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② 经平台分发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认人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哪个景区、什么权限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听懂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查数 / 找原因 / 派任务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分发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交给数字大脑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兜底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转人工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③ 数字大脑的三类智能体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art-colum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2437927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8905" y="2549685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查数：“今天卖了多少票？”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5234025" y="2464536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961238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ight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18" y="3147500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978978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智能洞察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8905" y="3259259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找原因：“为什么比上周少？”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234025" y="317411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670812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ire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118" y="3857076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688551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8905" y="3968833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派任务：工单、人员安全、信息通知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34025" y="3883684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④ 数据从哪来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认证过的指标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近期要完整跑通的一个场景：客流预警到处置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客流接近上限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洞察自动预警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智能洞察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生成工单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派给现场人员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APP / 飞书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处置结果回写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复盘优化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跑通以后可以对外展示，再复制到其他景区和业态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全景智能体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最终都由自己的平台统一承载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四条产品线的智能体，在一个平台上统一搭建、运营、计量和评估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46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90440"/>
            <a:ext cx="9898562" cy="709574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uilding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1967834"/>
            <a:ext cx="354787" cy="35478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03892" y="1790440"/>
            <a:ext cx="319308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自己的智能体平台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19584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统一搭建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94262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统一运营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8941" y="2003313"/>
            <a:ext cx="127550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统一计量到景区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8627" y="2003313"/>
            <a:ext cx="113384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统一评估效果</a:t>
            </a:r>
          </a:p>
        </p:txBody>
      </p:sp>
      <p:sp>
        <p:nvSpPr>
          <p:cNvPr id="51" name="Up Arrow 50"/>
          <p:cNvSpPr/>
          <p:nvPr/>
        </p:nvSpPr>
        <p:spPr>
          <a:xfrm>
            <a:off x="2058680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4630887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7203094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9775301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2881411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7363" y="2987847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martpho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99" y="3094283"/>
            <a:ext cx="212872" cy="2128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59544" y="2952369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9544" y="3218459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面向游客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5222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7580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39938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2296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49632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66967" y="3058805"/>
            <a:ext cx="471571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00626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76660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608725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7363" y="3715161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99" y="3821597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59544" y="3679682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AI 数字大脑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59544" y="3945773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面向景区管理者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5222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31256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07291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348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4318" y="4336039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27363" y="4442475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799" y="4548911"/>
            <a:ext cx="212872" cy="2128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59544" y="4406996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59544" y="4673086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面向票务与财务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5222" y="4513432"/>
            <a:ext cx="121145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票务 AI 运营助手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28760" y="4513432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063352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5169789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799" y="5276225"/>
            <a:ext cx="212872" cy="21287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659544" y="5134310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景区 AI 调度中枢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59544" y="5400400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面向安全调度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522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旅游安全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447580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秩序治理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239938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车辆调度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32296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游船调度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24654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1701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生态监测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09371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01729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设施监测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94318" y="5861624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48240" y="5861624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规划中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8254" y="5861624"/>
            <a:ext cx="532180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实心为已有，空心为规划中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先借力快交付，边做边练，逐步换成自己的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市场和产品还在验证期，先求快；能力在自己手里攒，时机到了再切，成本降下来、能力可控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47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69" y="2209533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先借力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2589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目的：快，先证明能卖</a:t>
            </a:r>
          </a:p>
        </p:txBody>
      </p:sp>
      <p:pic>
        <p:nvPicPr>
          <p:cNvPr id="49" name="Picture 4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2912455"/>
            <a:ext cx="212872" cy="2128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526498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成熟平台快速交付</a:t>
            </a: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373678"/>
            <a:ext cx="212872" cy="2128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526498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客户指定的平台照样做</a:t>
            </a: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834902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26498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先把场景跑通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116444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26884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04278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pea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236" y="2209533"/>
            <a:ext cx="243916" cy="2439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225155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边做边练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25155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目的：占市场，攒能力</a:t>
            </a:r>
          </a:p>
        </p:txBody>
      </p:sp>
      <p:pic>
        <p:nvPicPr>
          <p:cNvPr id="61" name="Picture 6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2912455"/>
            <a:ext cx="212872" cy="21287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959065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模板、知识、接口、数据留在手里</a:t>
            </a:r>
          </a:p>
        </p:txBody>
      </p:sp>
      <p:pic>
        <p:nvPicPr>
          <p:cNvPr id="63" name="Picture 6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3373678"/>
            <a:ext cx="212872" cy="2128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959065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自己的智能体平台逐步建</a:t>
            </a:r>
          </a:p>
        </p:txBody>
      </p:sp>
      <p:pic>
        <p:nvPicPr>
          <p:cNvPr id="65" name="Picture 6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3834902"/>
            <a:ext cx="212872" cy="21287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959065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按业态复制推广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7549011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59450" y="1927920"/>
            <a:ext cx="3033430" cy="2439162"/>
          </a:xfrm>
          <a:prstGeom prst="roundRect">
            <a:avLst>
              <a:gd name="adj" fmla="val 509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36844" y="2087575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150" y="2202881"/>
            <a:ext cx="257220" cy="2572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657722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逐步换成自己的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57722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目的：省钱，能力可控</a:t>
            </a:r>
          </a:p>
        </p:txBody>
      </p:sp>
      <p:pic>
        <p:nvPicPr>
          <p:cNvPr id="73" name="Picture 72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2912455"/>
            <a:ext cx="212872" cy="21287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391631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平台变贵或受限时启动</a:t>
            </a:r>
          </a:p>
        </p:txBody>
      </p:sp>
      <p:pic>
        <p:nvPicPr>
          <p:cNvPr id="75" name="Picture 74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3373678"/>
            <a:ext cx="212872" cy="21287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391631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先小范围试，再扩大</a:t>
            </a:r>
          </a:p>
        </p:txBody>
      </p:sp>
      <p:pic>
        <p:nvPicPr>
          <p:cNvPr id="77" name="Picture 76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3834902"/>
            <a:ext cx="212872" cy="21287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91631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随时能退回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4526737"/>
            <a:ext cx="9898562" cy="842619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4748479"/>
            <a:ext cx="354787" cy="35478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659544" y="4571085"/>
            <a:ext cx="1951329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近期重点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59544" y="4925872"/>
            <a:ext cx="195132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66525" y="4801697"/>
            <a:ext cx="2433002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问数体验做好：小Q 上加一层智能体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05964" y="4801697"/>
            <a:ext cx="1367901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调度智能体做起来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580302" y="4801697"/>
            <a:ext cx="2316463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找一个场景完整跑通，能对外展示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4318" y="5529011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triangle-alert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617706"/>
            <a:ext cx="266090" cy="26609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570847" y="5529011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为什么要换成自己的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规模越大，第三方平台的成本越高、功能越受限；模板、知识和数据要留在自己手里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怎么复制得快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六步上线，差异全部做成配置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实施人员和渠道伙伴按手册就能独立交付，不占核心研发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48  ·  AI＋数据平台 · 03  AI 平台</a:t>
            </a:r>
          </a:p>
        </p:txBody>
      </p:sp>
      <p:grpSp>
        <p:nvGrpSpPr>
          <p:cNvPr id="21000" name="素材 24"/>
          <p:cNvGrpSpPr/>
          <p:nvPr/>
        </p:nvGrpSpPr>
        <p:grpSpPr>
          <a:xfrm>
            <a:off x="994318" y="2504655"/>
            <a:ext cx="6740956" cy="1976135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1816F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BBFAE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2CAB93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21816F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8FD3C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CAB93"/>
                  </a:solidFill>
                  <a:latin typeface="微软雅黑"/>
                </a:rPr>
                <a:t>步骤 01</a:t>
              </a:r>
              <a:endParaRPr lang="en-US" sz="1750" b="1" dirty="0">
                <a:solidFill>
                  <a:srgbClr val="2CAB93"/>
                </a:solidFill>
                <a:latin typeface="微软雅黑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1816F"/>
                  </a:solidFill>
                  <a:latin typeface="微软雅黑"/>
                </a:rPr>
                <a:t>步骤 03</a:t>
              </a:r>
              <a:endParaRPr lang="en-US" sz="1350" dirty="0">
                <a:solidFill>
                  <a:srgbClr val="21816F"/>
                </a:solidFill>
                <a:latin typeface="微软雅黑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8FD3C6"/>
                  </a:solidFill>
                  <a:latin typeface="微软雅黑"/>
                </a:rPr>
                <a:t>步骤 05</a:t>
              </a:r>
              <a:endParaRPr lang="en-US" sz="1350" dirty="0">
                <a:solidFill>
                  <a:srgbClr val="8FD3C6"/>
                </a:solidFill>
                <a:latin typeface="微软雅黑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02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04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06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29" y="2847205"/>
            <a:ext cx="354787" cy="354787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466054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签约</a:t>
            </a:r>
          </a:p>
        </p:txBody>
      </p:sp>
      <p:sp>
        <p:nvSpPr>
          <p:cNvPr id="21021" name="TextBox 21020"/>
          <p:cNvSpPr txBox="1"/>
          <p:nvPr/>
        </p:nvSpPr>
        <p:spPr>
          <a:xfrm>
            <a:off x="1466054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随续约或新签</a:t>
            </a: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903" y="3788455"/>
            <a:ext cx="354787" cy="354787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268329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选模板</a:t>
            </a:r>
          </a:p>
        </p:txBody>
      </p:sp>
      <p:sp>
        <p:nvSpPr>
          <p:cNvPr id="21024" name="TextBox 21023"/>
          <p:cNvSpPr txBox="1"/>
          <p:nvPr/>
        </p:nvSpPr>
        <p:spPr>
          <a:xfrm>
            <a:off x="2268329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已验证的业态模板</a:t>
            </a: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336" y="2847205"/>
            <a:ext cx="354787" cy="354787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307376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配知识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307376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统一采集表</a:t>
            </a: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609" y="3788455"/>
            <a:ext cx="354787" cy="354787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76035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绑入口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876035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725" y="2847205"/>
            <a:ext cx="354787" cy="354787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67515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测试验收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467515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统一测试清单</a:t>
            </a: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316" y="3788455"/>
            <a:ext cx="354787" cy="354787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483742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5483742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持续出效果报告</a:t>
            </a:r>
          </a:p>
        </p:txBody>
      </p:sp>
      <p:sp>
        <p:nvSpPr>
          <p:cNvPr id="21037" name="Rounded Rectangle 21036"/>
          <p:cNvSpPr/>
          <p:nvPr/>
        </p:nvSpPr>
        <p:spPr>
          <a:xfrm>
            <a:off x="7957017" y="2034562"/>
            <a:ext cx="2935864" cy="3947007"/>
          </a:xfrm>
          <a:prstGeom prst="roundRect">
            <a:avLst>
              <a:gd name="adj" fmla="val 42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8134410" y="2123259"/>
            <a:ext cx="266977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五个环节标准化</a:t>
            </a:r>
          </a:p>
        </p:txBody>
      </p:sp>
      <p:sp>
        <p:nvSpPr>
          <p:cNvPr id="21039" name="Rounded Rectangle 21038"/>
          <p:cNvSpPr/>
          <p:nvPr/>
        </p:nvSpPr>
        <p:spPr>
          <a:xfrm>
            <a:off x="8116671" y="2549004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240847" y="258448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8240847" y="2832833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按业态出模板，差异做成配置</a:t>
            </a:r>
          </a:p>
        </p:txBody>
      </p:sp>
      <p:sp>
        <p:nvSpPr>
          <p:cNvPr id="21042" name="Rounded Rectangle 21041"/>
          <p:cNvSpPr/>
          <p:nvPr/>
        </p:nvSpPr>
        <p:spPr>
          <a:xfrm>
            <a:off x="8116671" y="3205360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240847" y="324083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知识采集</a:t>
            </a:r>
          </a:p>
        </p:txBody>
      </p:sp>
      <p:sp>
        <p:nvSpPr>
          <p:cNvPr id="21044" name="TextBox 21043"/>
          <p:cNvSpPr txBox="1"/>
          <p:nvPr/>
        </p:nvSpPr>
        <p:spPr>
          <a:xfrm>
            <a:off x="8240847" y="3489190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统一采集表，景区填、实施审</a:t>
            </a:r>
          </a:p>
        </p:txBody>
      </p:sp>
      <p:sp>
        <p:nvSpPr>
          <p:cNvPr id="21045" name="Rounded Rectangle 21044"/>
          <p:cNvSpPr/>
          <p:nvPr/>
        </p:nvSpPr>
        <p:spPr>
          <a:xfrm>
            <a:off x="8116671" y="3861716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240847" y="3897195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系统接入</a:t>
            </a:r>
          </a:p>
        </p:txBody>
      </p:sp>
      <p:sp>
        <p:nvSpPr>
          <p:cNvPr id="21047" name="TextBox 21046"/>
          <p:cNvSpPr txBox="1"/>
          <p:nvPr/>
        </p:nvSpPr>
        <p:spPr>
          <a:xfrm>
            <a:off x="8240847" y="4145546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老客户接口现成</a:t>
            </a:r>
          </a:p>
        </p:txBody>
      </p:sp>
      <p:sp>
        <p:nvSpPr>
          <p:cNvPr id="21048" name="Rounded Rectangle 21047"/>
          <p:cNvSpPr/>
          <p:nvPr/>
        </p:nvSpPr>
        <p:spPr>
          <a:xfrm>
            <a:off x="8116671" y="4518073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240847" y="4553551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实施</a:t>
            </a:r>
          </a:p>
        </p:txBody>
      </p:sp>
      <p:sp>
        <p:nvSpPr>
          <p:cNvPr id="21050" name="TextBox 21049"/>
          <p:cNvSpPr txBox="1"/>
          <p:nvPr/>
        </p:nvSpPr>
        <p:spPr>
          <a:xfrm>
            <a:off x="8240847" y="480190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手册 + 培训，伙伴可独立交付</a:t>
            </a:r>
          </a:p>
        </p:txBody>
      </p:sp>
      <p:sp>
        <p:nvSpPr>
          <p:cNvPr id="21051" name="Rounded Rectangle 21050"/>
          <p:cNvSpPr/>
          <p:nvPr/>
        </p:nvSpPr>
        <p:spPr>
          <a:xfrm>
            <a:off x="8116671" y="5174429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240847" y="5209908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053" name="TextBox 21052"/>
          <p:cNvSpPr txBox="1"/>
          <p:nvPr/>
        </p:nvSpPr>
        <p:spPr>
          <a:xfrm>
            <a:off x="8240847" y="545825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统一测试清单，跑完即上线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三线并进，先跑通再铺开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推进计划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整体路径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团队与分工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先做什么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人员清单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整体路径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三条线齐头并进，相辅相成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系统产生数据，数据平台整理数据，智能体用数据办事；具体时间和资源确认后再定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50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63387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先做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30204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接着做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97021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持续做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2406883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8" name="Picture 47" descr="moni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1" y="2610886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26498" y="2406883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系统 3.0 升级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63387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升级时一起定好埋点和口径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30204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新系统数据按规范直接接入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97021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新功能上线即有数据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169676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4" name="Picture 53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1" y="3373678"/>
            <a:ext cx="283829" cy="2838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26498" y="3169676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63387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主线治理 + 实时；资产目录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30204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统一指标和标签；统一出口；多模态接入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97021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高质量数据集；行业洞察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3932468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971" y="4136471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26498" y="3932468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63387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智能体平台搭统一入口；数字大脑跑通一个场景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30204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按业态复制，沉淀模板和知识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97021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智能体平台统一分发，逐步自建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695261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6" name="Picture 65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971" y="4899263"/>
            <a:ext cx="283829" cy="28382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695261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打通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63387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智能体统一从数据平台取数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30204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交互数据回流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97021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反哺定价、营销、调度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546750"/>
            <a:ext cx="9898562" cy="425744"/>
          </a:xfrm>
          <a:prstGeom prst="roundRect">
            <a:avLst>
              <a:gd name="adj" fmla="val 2083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lin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626577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546750"/>
            <a:ext cx="914464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说明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三条线互相依赖：智能体离不开数据，数据离不开业务系统；具体时间和投入，资源确认后再定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团队与分工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不只是技术，产品、运营、业务一起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数据团队要配齐角色；每条业务线出一个接口人；数据表归属清楚、责任到人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51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11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定需求、定口径、设计数据产品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64679" y="2846527"/>
            <a:ext cx="85124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能力要加强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12624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95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数据开发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0364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建底座、建模型、做实时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11622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71276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47" y="2318781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421197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治理与标注运营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9015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维护规范和目录，审核 AI 标注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7922" y="2846527"/>
            <a:ext cx="1085303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不需要很懂技术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3971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842" y="3649233"/>
            <a:ext cx="221742" cy="221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703892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AI 应用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1711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搭智能体、建智能体平台（统一分发）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52970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12624" y="3538362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riefc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495" y="3649233"/>
            <a:ext cx="221742" cy="22174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62545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业务线数据接口人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30364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每条线一人：确认口径、认领数据表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6301" y="4176979"/>
            <a:ext cx="968272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不占太多时间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11622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71276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handshak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147" y="3649233"/>
            <a:ext cx="221742" cy="22174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21197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外部合作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89015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平台厂商、标注外包等补充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4318" y="4753508"/>
            <a:ext cx="989856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ist-check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6060" y="5019598"/>
            <a:ext cx="354787" cy="35478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703892" y="4824465"/>
            <a:ext cx="221742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机制：数据责任到人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3892" y="5196992"/>
            <a:ext cx="901159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一份全公司数据表清单 → 标清归哪条业务线、谁负责 → 各线自己标注 → 出问题马上找到人；口径争议由治理小组拍板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先跑通一条主线、一个场景，再铺开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先做出看得见的结果，再按业务线、按业态逐步推广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52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211750"/>
            <a:ext cx="390265" cy="39026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48240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一条主线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06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订单 → 核销 → 结算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06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把治理做好，做到分钟级实时；所有数据的基础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67753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67753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67753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95" y="2211750"/>
            <a:ext cx="390265" cy="39026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121676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1676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一个场景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89495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智能体平台上跑通一个场景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89495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比如客流预警到工单处置：平台分发、多个智能体接力，可以对外展示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4118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74118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4118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30" y="2211750"/>
            <a:ext cx="390265" cy="39026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495111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95111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一个目录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6293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资产目录上线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6293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中文一搜就找到数；不懂技术的同事也能自己用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828306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970221"/>
            <a:ext cx="266090" cy="26609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570847" y="4828306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然后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按业务线、按业态逐步推广；数据从产生、治理、办事到回流，越用越准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493532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582228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493532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底层一套、不重复建 · 数据先汇入再统一输出 · 客户数据严格隔离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人员清单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数据约 6–8 人，智能体约 7–9 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专职共约 13–17 人；先盘点现有团队，再定需要新招多少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53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210087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4237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9224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约 </a:t>
            </a:r>
            <a:r>
              <a:rPr sz="1950" b="1">
                <a:solidFill>
                  <a:srgbClr val="FFFFFF"/>
                </a:solidFill>
                <a:latin typeface="微软雅黑"/>
                <a:ea typeface="微软雅黑"/>
              </a:rPr>
              <a:t>6–8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 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7363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岗位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3860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主要做什么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24999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7363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数据负责人 / 架构师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3860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总体架构、技术选型、治理方案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4999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数据开发 · 离线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3860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数据底座、公共模型、指标和标签加工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24999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数据开发 · 实时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73860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订单、核销分钟级看到；数据开放平台接口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4999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1–2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7363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数据产品经理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73860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定需求、定口径，设计数据产品和看板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4999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BI 与分析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73860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小Q 报表、自助分析模板、经营分析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4999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76644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037" y="2100879"/>
            <a:ext cx="266090" cy="26609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26564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41551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约 </a:t>
            </a:r>
            <a:r>
              <a:rPr sz="1950" b="1">
                <a:solidFill>
                  <a:srgbClr val="FFFFFF"/>
                </a:solidFill>
                <a:latin typeface="微软雅黑"/>
                <a:ea typeface="微软雅黑"/>
              </a:rPr>
              <a:t>7–9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 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76644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09690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岗位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6187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主要做什么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7326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76644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9690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负责人 / 架构师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6187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智能体平台架构，模型和平台选型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07326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76644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09690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智能体平台开发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6187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统一入口、意图识别、分发、计量、评估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07326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2–3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76644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9690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智能体应用开发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56187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按场景搭智能体，接业务接口和数据平台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07326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2–3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76644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09690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产品经理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6187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场景设计、对话体验、需求和验收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07326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76644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09690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前端与交互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56187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对话入口、智能体平台管理界面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07326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94318" y="5382661"/>
            <a:ext cx="9898562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515706"/>
            <a:ext cx="266090" cy="26609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570847" y="5382661"/>
            <a:ext cx="9144640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合计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专职共约 13–17 人（数据 6–8 + 智能体 7–9）；先盘点现有团队，再定需要新招多少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 b="1">
                <a:solidFill>
                  <a:srgbClr val="21816F"/>
                </a:solidFill>
                <a:latin typeface="微软雅黑"/>
                <a:ea typeface="微软雅黑"/>
                <a:cs typeface="+mn-ea"/>
                <a:sym typeface="+mn-lt"/>
              </a:rPr>
              <a:t>欢迎交流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1823" y="1850427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数据可信  ·  智能体落地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4538</Words>
  <Application>WPS 演示</Application>
  <PresentationFormat>宽屏</PresentationFormat>
  <Paragraphs>454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HarmonyOS Sans SC Light</vt:lpstr>
      <vt:lpstr>阿里巴巴普惠体 2.0 55 Regular</vt:lpstr>
      <vt:lpstr>Alimama ShuHeiTi Bold</vt:lpstr>
      <vt:lpstr>HarmonyOS Sans SC Black</vt:lpstr>
      <vt:lpstr>印品黑体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Calibri</vt:lpstr>
      <vt:lpstr>Calibri</vt:lpstr>
      <vt:lpstr>KSOFD38F9ACC</vt:lpstr>
      <vt:lpstr>黑体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1007</cp:revision>
  <dcterms:created xsi:type="dcterms:W3CDTF">2026-05-24T00:54:00Z</dcterms:created>
  <dcterms:modified xsi:type="dcterms:W3CDTF">2026-10-18T01:52:06Z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