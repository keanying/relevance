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7"/>
    <p:sldId id="275" r:id="rId6"/>
    <p:sldId id="276" r:id="rId5"/>
    <p:sldId id="277" r:id="rId4"/>
    <p:sldId id="278" r:id="rId3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E6"/>
    <a:srgbClr val="A69AA6"/>
    <a:srgbClr val="D1BAB4"/>
    <a:srgbClr val="EBE7E4"/>
    <a:srgbClr val="D7BBB0"/>
    <a:srgbClr val="D8CFC8"/>
    <a:srgbClr val="070203"/>
    <a:srgbClr val="57A186"/>
    <a:srgbClr val="FBFFEF"/>
    <a:srgbClr val="E55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7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96" y="384"/>
      </p:cViewPr>
      <p:guideLst>
        <p:guide orient="horz" pos="2160"/>
        <p:guide pos="3840"/>
        <p:guide pos="597"/>
        <p:guide pos="7083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2142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继续用平台</c:v>
                </c:pt>
              </c:strCache>
            </c:strRef>
          </c:tx>
          <c:spPr>
            <a:ln w="38100">
              <a:solidFill>
                <a:srgbClr val="B97A6A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17</c:v>
                </c:pt>
                <c:pt idx="2">
                  <c:v>26</c:v>
                </c:pt>
                <c:pt idx="3">
                  <c:v>35</c:v>
                </c:pt>
                <c:pt idx="4">
                  <c:v>44</c:v>
                </c:pt>
                <c:pt idx="5">
                  <c:v>53</c:v>
                </c:pt>
                <c:pt idx="6">
                  <c:v>62</c:v>
                </c:pt>
                <c:pt idx="7">
                  <c:v>71</c:v>
                </c:pt>
                <c:pt idx="8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自己建</c:v>
                </c:pt>
              </c:strCache>
            </c:strRef>
          </c:tx>
          <c:spPr>
            <a:ln w="38100">
              <a:solidFill>
                <a:srgbClr val="7F6F8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</c:v>
                </c:pt>
                <c:pt idx="1">
                  <c:v>39</c:v>
                </c:pt>
                <c:pt idx="2">
                  <c:v>42</c:v>
                </c:pt>
                <c:pt idx="3">
                  <c:v>45</c:v>
                </c:pt>
                <c:pt idx="4">
                  <c:v>48</c:v>
                </c:pt>
                <c:pt idx="5">
                  <c:v>51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E6DCD8"/>
            </a:solidFill>
          </a:ln>
        </c:spPr>
        <c:txPr>
          <a:bodyPr/>
          <a:lstStyle/>
          <a:p>
            <a:pPr>
              <a:defRPr sz="1000">
                <a:solidFill>
                  <a:srgbClr val="7B707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>
              <a:solidFill>
                <a:srgbClr val="EFE9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B7074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7B7074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948496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FE6E5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22D82-5AC2-4639-BCCB-33DE6BAB06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6D70-FD59-465F-BBA9-429F91A1AB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CD5A6-611B-497D-8F15-F330D07BE6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2503F-2D15-483E-B4A1-510945D9C0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今天向您汇报三件事：第一，数据平台要怎么建，让公司的数据理得清、算得准、管得住；第二，智能体，也就是能帮我们干活的 AI 助手，要怎么做、怎么卖、什么时候自己建平台；第三，这两件事打通以后，数据怎么在公司里转起来，越用越准。整体按能落地的思路讲，每一部分都会讲到具体做什么、怎么做、做成什么样。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结论，一页讲清楚。第一件事，数据平台：把公司的数据理清、算准、管住。具体就是定规矩、统一编号和口径、每天体检、管好权限，先从订单到核销到结算这条主线做起。第二件事，智能体：先借扣子、火山方舟、小Q 这些现成平台，几周就能做出来去卖，验证能赚钱；然后把跑通的产品快速铺到更多景区；规模起来后再自己建平台，更省钱、交付更快。第三件事，两者打通：业务产生的数据经过平台整理，给智能体和报表用，用完的结果再回到平台，数据越用越准。最下面是需要您拍板支持的几件事，最后一页会详细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今天的汇报分四部分：数据平台、智能体平台、两者打通后的 AI＋数据平台，最后是接下来要做的事和需要您支持的地方。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第一部分：数据平台，把数据理清、算准、管住。主要讲：现状与问题、手里的数据、怎么建、治理八件事、数据安全、怎么落地、建成后的变化。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先说现状。工具上：DataWorks 是数据加工的车间，我们已经买了开发、调度、找数、管资产、出数这几个核心模块；动态数据开放 API 是对内对外提供数据的窗口；小Q 用来看报表做分析；湖仓是存数据的仓库，部分模型已经建了。最重要的是每天的主流程已经通了：订单、游客、供应商这些核心数据，每天凌晨自动从原料一路加工成报表能用的成品。还没建的有五块：实时数据、数据质量检查、统一标签、指标口径管理、数据规范落地，这些就是接下来要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六个问题都是平时真实遇到的，我按“平时什么样、为什么会这样”讲。一，数据散：想看售票加二消加结算的综合情况，要从三个以上系统导数、手工拼表，因为没有统一接入，景区、商品、渠道的编号各系统不一样。二，一个数多个答案：同一天同一个景区，看板、对账、接口三个地方核销量不一样，因为公司层面没有统一定义。三，没规矩：表名随意、字段没说明、没人负责，因为规范只在文档里，上线没人卡。四，重复干活：订单宽表离线和湖仓各做一份，结果不一样，因为没有统一的公共层。五，数字不准：入园、核销和现场对不上，节假日更明显，原因是补传、重复上报、撤销冲正、时间口径混用，又缺少逐层核对。六，看得慢：高峰期订单核销第二天才能看到，预警靠人盯，因为只有每天跑一次的离线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五个问题放在一起看，根子是同一个：缺少统一的标准、统一的模型、统一的口径和统一的检查。所以单个问题修修补补会反复出现，比如这次把核销量对平了，下次换个指标又对不上。必须体系化地治理，也就是后面要讲的数据治理。第六个“看得慢”不一样，它是能力缺口，要在统一的公共模型上补实时计算，否则实时数据又会变成新的一套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数据按业务分成八大块，叫数据域，每块里面再分主题。交易：订单、票务，比如订单数、销售额、核销次数；商品与资源：产品和库存，比如售罄率；用户：游客和会员，比如会员等级、复购倾向；合作方：供应商，比如履约率；流量营销：渠道和活动，比如转化率、活动回报；运营：日常运营，比如房态占用率；财务：结算对账；内部管理：系统任务、存储计算成本。每块数据都定了敏感等级，用户明细是最高级。目前订单、用户、供应商已经进了仓库，其他部分进入。现场设备、外部数据、AI 产生的数据后面要新增。难点不在数据量，而在节假日高峰、订单状态多次变化、设备离线补传、多景区之间的数据隔离。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这张图是整个数据平台的样子，从下往上看。最下面是数据从哪来：票务、订单、小程序、供应商、营销、渠道、设备和外部数据。往上是统一底座，就是数据仓库和加工车间，DataWorks 和每天的主流程已经有了，要补实时计算和湖仓存储。再往上是“算好的数”，也就是统一的指标和标签，小Q 用来看。再往上是数据服务，对外给数据的窗口，动态数据开放 API 已经有。再往上是 AI 能力，让 AI 能安全地用这些数据。最上面是谁在用：内部经营、景区运营、合作伙伴、行业报告、数据产品。右边的数据治理贯穿每一层。深色是已经有的，白色是要新建或升级的。整体思路就两句话：统一标准，治理写进研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到工具，分七类能力。数据集成，就是把数据接进来：已有批量同步，要升级埋点采集和现场设备回传，新建实时采集和标准连接器。存储计算：已有离线计算，新建实时计算和湖仓统一存储。开发运维：已有开发和运维中心，新建发布卡点和成本治理。数据治理：已有数据地图和资产治理，升级血缘和健康分，新建质量、标准、分级打码。指标标签：全部新建。服务分析：已有开放 API、数据服务和小Q，要统一出口、新建嵌入式分析。AI 能力：升级 AI 问数，新建模型网关、知识检索和评测。另外有几个阿里云模块我们没买，先用省钱的办法：数据质量用自己加的检查节点，数据标准用规范文档加检查脚本，安全中心先用引擎权限加打码视图，实时计算先做小范围试验，验证了再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治理怎么做？核心一句话：不搞一次性运动，而是把规矩写进日常的开发流程，每张表、每个指标从设计到下线都要过检查站。治理分五层来看：最上面是目标，四个词：数字可信、口径统一、安全合规、成本可控。往下是管哪些事，一共八件，下一页细讲。再往下是怎么嵌进去：事前定规范、事中设卡点、事后做治理。然后是用什么工具：大部分用已经买的 DataWorks 模块，没买的用我们自己写的检查脚本和检查节点。最下面是谁来管：治理小组拍板，数据负责人推动，治理专员执行，健康分每月公示。推进顺序上，先治最核心的一条线：订单到核销到结算，做通了再按数据域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具体管八件事，每件都有明确的产出和考核指标。一，定规矩，也就是数据标准：命名、分层、字段、码值，看规范符合率。二，建家谱，就是数据血缘：每张表的含义、负责人、上下游，看注释和负责人覆盖率。三，统一编号，就是主数据：景区、商品、渠道、供应商、游客全公司一个编号，看重复率和映射覆盖率。四，每天体检，就是数据质量：完整、准确、一致、及时、唯一，看规则覆盖率和按时产出率。五，统一口径，就是指标与标签：口径、分类、认证，看认证指标覆盖率。六，管好权限：分级、权属、审批、审计，看敏感字段识别覆盖率。七，定期大扫除，就是资产运营：健康分、成本、下线，看健康分和无用资产占比。八，统一出口，就是数据分发：对内对外只走一个出口，看出口收敛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第一件事，定规矩。最直观的是表名：以前表名随便起，现在每张表都有像身份证号一样的名字。比如 dwd_ord_order_item_di，拆开看：dwd 说明加工到了“洗干净”这一层，ord 说明是订单这块业务，order_item 说明是订单明细，di 说明每天增量更新。一看名字就知道是什么、在哪一层、怎么更新。字段也统一叫法，比如景区全公司都叫 scenic_id，金额都以 amt 结尾。建表时有 8 项必填，缺负责人就发不出去。这些都靠发布前的自动检查脚本卡住：不合规的直接打回，列出哪里不对。老表不一次性改名，新表强制执行，老表按健康分排名分批整改，改名时保留兼容视图，不影响下游。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件事，统一编号，专业叫主数据。以前同一个景区在票务、分销、财务系统里各有各的编号，拼数据时对不上。现在六类对象全公司统一编号：景区一个编码，集团、分园区、子景点分级挂靠；商品，票种、套票、二消商品统一编码，挂到景区；渠道，OTA、自营、分销、团队统一分类；供应商，同一个主体只建一个编码，多个账号挂在下面；游客，用手机号、证件号、会员号按规则归并成一个人，叫 OneID；区域直接用国家标准的行政区划码。做法是建一张对照表，把各系统的老编号映射到统一编号，之后所有报表、指标、标签只认统一编号。新建景区、商品、供应商时先查再建，变更要审批，并保留历史，旧报表还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第三件事，建家谱，专业叫数据血缘。就是把每个数从哪来、经过了哪些加工、最后去了哪里，全部记下来，从业务系统一直打通到小Q 报表、开放接口和 AI 智能体。家谱有三个用处：第一，查错，报表数字不对，沿着家谱往上查，很快找到哪一层出了问题；第二，改之前先评估，要改一张表或改一个口径，先查下游有哪些报表和接口会受影响，提前通知负责人；第三，清理，没有下游、没人访问的表和任务，进入下线清单。家谱里记三类信息：技术信息，比如表结构、存储量，系统自动采集；业务信息，比如含义、口径、负责人、安全等级，开发填、专员审；运行信息，比如几点产出、跑了多久、多少人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件事，每天体检，专业叫数据质量。检查分五项：完整，比如订单号、景区编号不能空，日订单量比近七天平均波动超过三成就报警；准确，比如金额不能是负数，核销时间不能早于下单时间；一致，比如仓库里的订单金额汇总要和业务系统对得上；及时，比如核心报表每天七点前必须算完；唯一，比如同一张票不能重复核销。规则分强弱两档：强规则用在订单、核销、结算和对外接口这些核心表上，不通过就把下游全部拦住，通知负责人，当天修好；弱规则用在一般表上，只提醒不拦，一周内修好。每个问题都登记问题单，同类问题出现两次就补一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最常见的例子：核销量。为什么以前各处对不上？第一个原因是四个数经常混着用：核销次数、有效核销票数、入园人次、去重游客数，其实是四个不同的数，比如一个人一张年卡一天进出三次，核销次数是三，入园人次是三，去重游客数是一。第二步，从闸机、手持机，到业务系统，到仓库明细、汇总，再到报表和接口，每一层都按景区加日期对一次数。第三步，对不上就自动报警，查原因、修复、重算。常见的原因有四个：设备离线后补传、重复上报、撤销冲正、按下单时间还是核销时间统计混用了。核销做通了，就是一个样板，同样的方法复制到销售额、入园人数等其他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件事，统一口径，管的是指标和标签。指标就是数一数，比如卖了多少、来了多少人；标签就是贴个签，比如这个游客是年卡用户、喜欢夜游。我们的做法是两级：集团统一出一套标准指标和标准标签，按级别授权下发给景区和供应商，大家用同一套口径；标准的不够用时，景区和供应商可以在自己的空间里自定义，只给自己用，不能和集团标准同名，不影响别人；好用的自定义指标，评审后收回来变成集团标准。一个指标要说清楚四件事：算什么、加什么条件、什么时间、按什么维度，比如“近七天线上渠道成人票支付金额，按景区”。新指标要经过四步认证：数据团队起草、业务负责人确认、治理小组拍板、发布并记录版本。只有认证过的指标和标签，才能进老板看板、对外接口和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件事，管好权限，分两页讲。这一页是分级和权属。数据分四级：最高的是高敏，手机号、证件号、人脸、政务核验结果，加密存储、展示打码、最小授权、全程审计，明文不进大模型。第二级敏感，单景区的经营数据、价格、结算、供应商合作数据，按景区和供应商隔离，跨主体只能看汇总。第三级内部，日志、设备状态、运营数据，内部按角色授权。最低一级公开，已发布的报告和规范。再说权属，也就是数据的主人：景区数据只服务这个景区，供应商数据只服务这个供应商，渠道数据不给其他渠道看，游客信息只在授权范围内用，政务数据只用核验结果不留原始数据，外部买的数据按合同用，对外只给匿名汇总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“谁能看什么”。每个人能看到的数据，由三把锁决定：角色决定能用哪些功能，数据范围决定能看哪些景区、哪些供应商，字段等级决定能看哪些字段、是不是打码。左边这张表就是规则：集团管理层能看汇总，看不到个人明细；数据团队敏感数据按项目授权，高敏数据审批后打码使用；业务线只看本业务线；景区只看本景区，游客信息授权后打码；供应商只看本供应商；外部伙伴只能拿匿名汇总；AI 智能体不单独开权限，继承提问人的权限。右边是流程：申请要说明用途和期限，数据负责人审批，高敏数据还要安全负责人审批；按最小范围授权，设到期时间；访问全程留痕；到期、离岗、项目结束自动回收；每季度复核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件事，定期大扫除，专业叫资产运营。一是资产目录：所有表、指标、标签、接口都按数据域编好目录，可以搜索，能看口径和来源，按权限申请使用。二是健康分：每月按负责人、按业务给数据资产打分，看五个方面：规范齐不齐，质量好不好，安全措施到不到位，有没有人用，花了多少钱，排名每月公示。三是下线：九十天没人访问、没有下游、重复的模型、临时表，先通知负责人确认，然后停掉调度或改成只读，观察三十天没人反馈再删除，有人反馈就恢复。临时表自动到期清理，重复模型合并到公共层，先双跑对比再切换。这样存储和计算成本能降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第八件事，统一出口。以前要数据，经常是点对点导一份、或者直接连数据库，口径和权限都管不住。以后所有对内对外的数据，都从一个窗口出去，就是动态数据开放 API。它同时提供认证过的指标和标签，统一鉴权、按景区隔离、按调用计量、全程监控。用法有四种：只查指标，比如景区经营看板看销售额、核销量、入园人次；指标加标签一起用，比如按会员等级看复购率；先用标签圈人、再用指标看效果，比如圈出近九十天没复购的年卡用户推活动，活动后看转化；只查标签，比如智能体按游客偏好做个性化推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八件事怎么落到日常？就是把检查站放进开发的每一步，不另起流程。事前定规范：需求阶段先确认口径，优先用已经认证的指标；设计阶段做模型评审，确定数据域、分层和安全等级。由数据架构师和治理专员负责，不过评审，模型就不能进入开发。事中设卡点：开发时按规范写、绑定质量规则；发布时检查脚本自动卡；运行时质量检查，不合格就拦住下游、报警。这一步是平台自动执行，不合规的发不出去，下游也不会跑。事后做治理：健康分公示、存量整改、问题复盘，补规范、补规则。由数据负责人和治理专员负责，健康分低的负责人排名公示、限期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谁来管？治理不只是数据团队的事。最上面是数据治理小组，负责裁定口径争议、审批规范和指标认证，这里需要公司层面授权。下面是数据负责人，制定治理方案、跨部门协调，对健康分负责。再下面三类角色：业务数据专员，每个业务线出一个人，提业务规则、确认口径、验收数据；数据治理专员，维护标准、指标字典、质量规则和资产目录；数据架构师和开发，负责模型设计、规范落地和问题修复。运转节奏是：两周一次口径评审，每月公示健康分，每季度复盘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算做好了？我们给试点主线定了八个目标，都是可以量化检查的。新建表规范符合率百分之百；核心表的注释和负责人百分之百覆盖；景区、商品、渠道编号映射百分之百覆盖；核心表强规则百分之百覆盖；核心报表按时产出率不低于百分之九十九；管理层看板里认证指标占比百分之百；敏感字段识别打标百分之百；核销量各个出口零差异，或者差异都有原因说明。另外没用的表和任务每季度清理一轮。这些先在订单、核销、结算这条主线上达标，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分四步。第一步统接入：定统一的接入规范和编号，补齐数据源，把订单和核销的实时链路建起来。第二步统建模：划好数据域，首批指标和标签做认证，重复的模型合并。第三步统开发：发布卡点上线、质量规则绑定任务，核销逐层核对做成样板。第四步统服务：开放接口把指标和标签一起提供出去，小Q 的数据集统一，业务可以自助分析。推进原则两条：先在订单、核销、结算这条线试点，做通后推广；老模型先双跑对比再切换，随时可以回退。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建成以后，有六个看得见的变化。一，统一规范：以前规范只写在文档里，以后不合规的表发不出去，老表按优先级整改，还可以用 AI 帮忙补描述。二，统一底座：以前订单和核销第二天才能看到，以后分钟级就能看到。三，统一湖仓：以前离线和湖仓各做一套，同一个指标两个结果，以后公共层只建一次，改口径只改一处。四，统一指标：以前报表、接口、AI 各说各的，以后三处数字一致，景区还有自己的专属空间。五，标签复用：以前各部门各做一套，以后一个游客一个身份，订单、会员、年卡、人脸归并到一起，标签一处加工，营销、分析、AI、景区都来取。六，自助分析：以前要找数据团队要数，以后业务自己查、自己看，数据团队从临时取数转向建模型、做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公司整体，一句话：从找人要数变成数据找人。具体五个方面，每个都有衡量方法。可信：一个指标一个口径，数字可追溯，看认证指标覆盖率和对账差异率。及时：订单核销从第二天变成分钟级，看端到端延迟。效率：公共模型复用，改动影响能预判，看模型复用率和需求交付周期。成本：重复模型、没人用的报表和任务下线，看存储计算成本。安全：敏感数据分级、打码、可审计，看敏感字段识别覆盖率。衡量原则：先把现在的基线测出来再定目标；看实际使用和业务结果，不看上了多少个看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各个业务线，变化很具体。管理层：驾驶舱全部用认证过的指标，不用先对数。票务：核销口径统一，有差异自动定位，节假日实时看数。财务：业务和财务逐层对账，差异自动列出原因。渠道：销量、佣金、返利口径统一。营销：用标签圈人、用指标看效果，活动复盘自动完成。运营和客户成功：景区经营报告自动生成。产品研发：上线前定好埋点和口径，上线就有数据。数据团队：从天天帮人取数对数，转向建模型、做分析。景区和供应商：直接用集团标准的指标和标签，不够用可以在自己的空间里加。这些也为第二部分打基础：数据可信、有口径、有权限，AI 接上去才能答得准。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第二部分：智能体平台，先借力卖起来，再自己建。主要讲：现状与底气、能做哪些、三步怎么走、先验证、再复制、何时自建、建成什么样、能省什么、怎么切换。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先解释一下智能体：就是能听懂问题、还能帮你办事的 AI 助手，比如游客问几点开园，它能回答，还能直接帮他买票。我们现在一共有 8 个智能体，来自三个地方。第一类是在字节的扣子平台上，用工作流配置出来的，有 5 个：智能助手、智能客服、智能导览、AI 旅拍、AI 伴游，主要给游客用，已经是标准化产品，可以配置化输出。第二类是和合作企业一起做的手语服务，给听障游客用。第三类是小Q 自带的 AI 能力，智能问数和智能数据解读，给景区和内部管理者用。右边是一个游客对话的示意。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我们做智能体，有三个别人很难复制的底气。第一，产品积累：这么多年做了智慧票务、景区业态管理、运营管理、财务管理、智慧终端、AI 数字大脑、畅游 AI、会员营销八条产品线，系统就装在景区现场。第二，数据在手里：交易和客流、售票分销库存价格、九大业态、年卡预约候补、订单结算发票、会员营销、闸机和物联设备、工单和推送，再加上第一部分治理好的指标和标签。第三，客户在用：大量景区已经在用我们的票务系统，接口现成，基本不用开发就能开通，信任也已经有了，成交最快。所以别人只能做通用聊天，我们能做真正帮景区和游客办事的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先看游客这一端，按游客的一次出游来看。游前：游客要咨询、规划行程、买票预约、候补，对应智能客服、智能助手这两个已有的，可以扩展 AI 旅游规划、AI 智能购票、预约与候补提醒。游中：入园核验、导览讲解、陪伴互动、无障碍服务、乐园项目、演出、游船、餐饮购物、停车，对应已有的智能导览、AI 伴游、手语，可以扩展乐园排队与项目推荐、演出选座推荐、餐饮二消推荐、停车引导、自助机语音购票。游后：拍照留念、游记分享、点评反馈、年卡复游、积分权益，对应已有的 AI 旅拍，可以扩展游记与行程总结、点评分享助手、年卡服务助手。一共 17 个，已有 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再看景区这一端，按景区的业务来看，一共可以做 28 个。经营分析：已有 AI 智能问数和智能洞察，可以扩展经营日报周报、报表解读。票务运营：票务 AI 运营助手、分销渠道助手、旅行社报团助手、检票异常解释、窗口售票员助手。业态运营：业态经营助手，覆盖乐园、演出、游船、酒店、温泉、餐饮、停车。运营服务：消息通知预警、工单调度处置。财务：AI 对账助手、发票助手。营销：会员画像、人群圈选、营销文案生成、推广员助手、活动复盘。安全调度：也就是景区 AI 调度中枢的 8 个，旅游安全、秩序治理、车辆调度、游船调度、森林防火、生态监测、气象服务、设施监测。设备终端：设备运维诊断。这些系统都是我们自己的，扩展有基础。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整体分三步走，回答三个问题：商业模式能不能跑通，市场能不能快速占住，平台要不要、什么时候自己建。第一步借力验证：借扣子、火山方舟、羚羊小Q 这些现成平台，用最小的投入回答卖给谁、卖什么、怎么收钱、能不能赚钱。过了第一关，商业模式跑通了，进入第二步借力复制：还是借平台，把跑通的产品按业态快速铺开，抢市场。规模起来以后看第二关：自己建是不是更划算。划算了进入第三步，以数字大脑作为智能体管理台，自己建平台。为什么先借力？现在还不知道景区愿不愿意买、愿意付多少钱，先自建等于需求没验证就砸钱和时间；借平台，几周就能做出来去试。为什么最终要自建？景区越多平台费越高，交付和定制受限制，数据和资产在别人那里。最关键的一条：借平台，但不交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验证，要回答五个问题。卖给谁：哪类景区最需要、最愿意付钱。卖什么：哪些智能体组合成一个包，景区最认。怎么收钱：随票务打包、年费订阅、按效果分成、按用量，下一页细讲。花多少钱：平台调用费、交付人力、运营支持。值不值：景区看得到价值，少用人工、多卖票、游客更满意。最后归结为右边这一笔账：一个景区一年的收入，减去平台调用费、交付成本的摊销、运营支持，大于零，才算能赚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收钱，有四种方式。随票务打包：作为票务系统的增值模块，提高票务年费，适合已经用我们票务的景区，要验证能不能提升续约率和客单价。年费订阅：按景区规模或智能体数量分档收年费，适合新客户、单独采购，要验证景区能接受的价位。按效果分成：按 AI 带来的购票和二消收入分成，适合购票、营销类智能体，要验证增量能不能算清楚。按用量：按对话量或调用量收费，适合大客流景区，要验证景区能不能接受账单波动。建议验证期同时试前两种。景区认的价值有四个，每个都要能用数据证明：少用人工，看智能体解决咨询的比例和省下的客服人力；多卖票，看智能体带来的线上购票和二消订单；游客更满意，看满意度、差评率、排队等待；管理更省心，看报表、对账、预警的人工时间减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怎么验证？四步。第一，挑标杆：从已经用我们票务的景区里挑，覆盖两到三类主要业态，有配合意愿，客流有代表性。第二，快速搭：在成熟平台上把现有 8 个智能体搭起来，再挑一到两个价值最高的新场景，比如智能购票。第三，跑一个完整旺季：节假日客流最能检验效果和成本。第四，数据从第一天就回流：对话、转人工、评价、订单都进数据平台，验证结论靠数据说话，不靠感觉。整个过程是：选场景、平台上搭、标杆试点、看效果、定价和交付定型。看五件事：有没有人用、能不能解决问题、景区愿不愿意付费、多久能交付、单景区成本多少。效果不好的回平台调整，没人用的场景及时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卡一，怎样才算商业模式跑通了？五条标准。用起来：标杆景区持续在用，问题解决率达标。有价值：景区认可的指标有提升。愿付费：有景区按拟定价格付费，或者明确续费。能赚钱：单景区收入覆盖平台费、交付和运营。可复制：不依赖核心研发，按标准流程就能上线。五条都满足，进入第二步。没过关：调整场景组合或者定价，再验证一轮；还不行的场景就停掉，不硬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，借力复制，先说打哪些客户。第一类，已经用我们票务的景区：随票务续约一起推，开通就能用，因为系统已经对接，基本零开发，信任也有，成交最快。第二类，同业态景区：用标杆案例按业态复制，场景相同，模板直接复用。第三类，新客户：智能体作为差异化卖点，带动票务签约，用 AI 撬动新客户。业态上，先做客流大、咨询多、线上购票比例高的：山岳、主题乐园、古镇街区；再到博物馆、温泉度假、游船演出。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制得快？关键是标准化。上线流程六步：签约、选已经验证过的模板、配本景区的知识、绑定入口、测试验收、上线运营。右边是五个环节怎么标准化：产品按业态出模板，景区之间的差异全部做成配置；知识采集用统一的采集表，景区填、实施审；系统接入，已用我们票务的景区接口是现成的；实施有手册和培训，实施人员和渠道伙伴都能独立交付；验收有统一测试清单，跑完就上线。同时每做一个景区，都在沉淀场景模板、知识结构、业务接口、交付经验、需求清单和交互数据，为第三步做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和续费怎么做？四个环节。销售：票务销售团队带单，智能体纳入销售考核，区域渠道伙伴代理。案例：每类业态的标杆做成案例，用数据讲效果。客户成功：上线后定期给景区出效果报告，比如解决了多少咨询、带来了多少订单、转人工率多少，促进续费。升级：模板统一升级，所有景区同步受益，增加粘性。右边是效果报告的样子，这是示意，具体数字由系统自动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托外部平台的同时，有六样东西必须留在自己手里，这是第三步能低成本切过去的前提。一，景区知识：按我们自己的结构存一份，不只存在外部平台，以后直接导入自建平台。二，业务接口：售票、订单、核销、会员这些接口由我们自己封装成服务，外部平台只是调用，以后平台直接复用。三，模板设计：每个模板的流程、提示词、配置项写成文档，以后迁入模板库。四，交互数据：对话、评价、转人工记录回流到数据平台，用来做测试题、优化效果。五，成本数据：按景区、按智能体记录每月平台费用，用来判断什么时候该自建。六，需求清单：记录客户要、但平台做不了的功能，这就是自建平台的需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借平台在前期很划算，但规模越大，弊端越明显。一，成本越做越高：平台按调用、账号、空间收费，景区越多平台费越高，利润被平台分走。二，交付受限：功能受平台限制，个性需求做不了；多个平台要分别配置、分别维护。三，资产在外部：工作流、知识库、对话数据留在第三方平台，难沉淀、难迁移。四，管理分散：多平台多入口，权限、计量、监控各管各的。五，受制于人：平台一调价、改规则、下线功能，直接影响我们的交付和报价。六，难形成壁垒：同样的平台谁都能用；景区和游客数据出域还有合规顾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么时候自己建？看左边这张示意图：继续用成熟平台，平台费随景区数量线性上涨；自己建，前期有一笔建设投入，之后主要是模型调用和运维，涨得慢。两条线交叉的地方，就是该自建的时候。具体看五个信号：成本交叉，用前面记录的成本数据测算，自建总成本已经更低；平台费占比上升，平台费占智能体收入的比例持续上升，压缩利润；场景稳定，主力智能体模板已经稳定，不再频繁大改；平台限制丢单，个性需求或大客户项目因为平台限制接不了；合规要求，景区或管理方要求数据不出域。满足任意两条，就启动自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不是什么都自己做。大模型不自研，直接调用模型服务，多家可以替换，因为投入太大，也不是我们的优势。语音、图像、数字人、手语这些专业能力，采购或者合作，自建不划算。编排引擎，就是让智能体按流程干活的引擎，用开源框架二次开发，不从零写，缩短周期。真正要自建的是三样：智能体管理台、能力与知识、业务工具，因为它们承载着我们的业务、数据和交付方式，是壁垒所在。数据服务直接复用第一部分的数据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自建平台长这样，从上往下看。最上面是渠道入口：畅游小程序、票付通 APP、景数通、公众号小程序、智慧终端都已经有了，再自建开放接口。往下是智能体应用：游客服务、景区管理、票务财务、安全调度、精准营销，按场景模板生成，自建。核心是智能体管理台，就是数字大脑，自建：一半是搭建，模板库、可视化编排、配置化生成、多智能体协同、测试与发布；一半是运营，集团和景区多租户、权限、运行监控、费用计量到景区、效果评估。再往下是能力层：业务工具中心、景区知识库、游客记忆与画像、测试用例库自建，数据服务复用。引擎层：编排和检索用开源改造，模型网关和内容安全自建，模型网关能统一接各家模型、路由、降级、计量。外部能力：大模型多家可替换，语音图像数字人、手语、小Q 采购或合作。最底下数据底座复用第一部分。右边是前两步留在手里的资产，分别落到哪：知识进知识库，接口进业务工具中心，模板进模板库，交互数据变成测试用例和游客画像，成本记录变成计量和定价依据，需求清单变成首批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按产品全景来看，四条产品线一共 22 个智能体，已有 8 个，还有 14 个待建，最终都由自建平台统一承载。畅游 AI：已有智能助手、智能客服、智能导览、AI 伴游、AI 旅拍、手语；待建 AI 旅游规划、AI 智能购票。AI 数字大脑：已有 AI 智能问数、AI 智能洞察；待建消息通知预警、工单调度处置。智慧票务：待建票务 AI 运营助手、AI 对账助手。景区 AI 调度中枢：待建旅游安全、秩序治理、车辆调度、游船调度、森林防火、生态监测、气象服务、设施监测。再加上前面梳理的可扩展场景，都在同一个平台上管理、计量和评估。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建平台，对公司意味着什么？六个方面对比。成本：借平台按调用、账号收费，随景区数增长；自建只付模型调用和自身运维，单景区成本下降，规模越大利润越高。交付周期：借平台每个景区要在外部平台单独配置调试；自建集团建一次，景区开通即用，省交付人天，上线更快，能承接更多景区。定制能力：借平台个性需求受限；自建可以自主扩展，能接大客户和个性项目。数据资产：借平台工作流、知识、对话数据在外部；自建全部在自己手里，回流数据平台，越用越准。风险：借平台调价改规则直接影响报价；自建自主可控，模型可替换，经营稳定。竞争力：借平台谁都能做；自建是业务系统加数据加平台一体，形成壁垒，提高续约和客单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从借平台切到自建平台？五步，不搞一刀切。第一步，核心先上：先把核心模块和主力智能体放到自建平台。第二步，对比验证：用同一套测试题对比，效果不低于成熟平台才切。第三步，新增先上：新签的景区直接上自建平台。第四步，存量随续约迁移：老景区在续约时逐个迁移，双轨运行，随时可以回退。第五步，成熟平台转为补充：外部平台不是一下子不用，而是变成补充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建有四个风险，都有应对。投入超预期：小团队先做核心模块，跟着迁移进度分批投入。效果不如成熟平台：迁移前用同一套测试题对比，达标才切。迁移影响客户：双轨运行、逐个迁移、可以回退。团队能力不足：前两步就开始培养自己的 AI 应用团队，第三步延续。另外，智能体从第一天起就要守住四条底线：只用授权数据，数据按景区隔离，景区只能看到自己的数据；关键动作人工确认，退款、调度这些处置要人点确认；不碰敏感信息，手机号、证件号不进对话和知识库，展示时打码；不乱承诺，价格和退改规则以系统返回为准，答不了就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第三部分：AI＋数据平台，数据在公司里转起来，越用越准。主要讲：数据怎么流转、五个环节的闭环、一张门票的例子。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这张图把前面两部分串起来，从下往上看。最下面是产数：智慧票务、九大业态、景区运营、财务、智慧终端、畅游 AI、会员营销、数字大脑这些业务系统，每天产生交易、核销、客流、设备、会员、财务数据，第一步进入数据平台。第二层是治数，也就是第一部分的数据平台：统一接入，离线加实时；湖仓公共模型；算成认证的指标、标签和景区知识；再通过开放接口和小Q 提供出去，治理贯穿全程。第三层是办事，也就是第二部分的智能体：游客端的客服、导览、伴游、旅拍、规划、购票，景区端的问数、洞察、运营、对账、预警、调度；报表和接口也直接用数。最上面是用数：游客用小程序、公众号、自助终端，景区用景数通、票付通 APP、景区 SaaS，内部是管理层和业务线。最关键是右边：用的过程中产生的问答记录、游客评价、转人工、预警和工单结果、使用行为，回流到数据平台；整理好的指标、标签、洞察再反哺业务系统，调定价、做营销、优化调度。这样数据越用越多、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张图简化成一个圈，五个环节。第一，生产：票务、业态、运营、财务、终端、畅游、会员营销各个产品，产生交易、核销、客流、设备、会员、财务数据。第二，治理：数据团队用第一部分的数据平台，做出公共模型、认证指标、统一标签和景区知识。第三，应用：智能体和各个应用，提供游客服务、经营分析、运营提效、预警调度。第四，回流：智能体和应用自动回传问答记录、评价、转人工、工单结果、使用行为，统一入湖。第五，反哺：业务线用这些指标、标签、洞察去调定价、圈人做营销、优化预约和调度。反哺后的业务又产生新数据，进入下一轮。每转一圈，数据更全、指标更准、智能体更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个例子，一张门票的数据旅程。第一步，游客买票入园，售票和闸机核销产生数据。第二步，订单、核销、客流进入数据平台。第三步，平台算出实时客流这样的指标，也给游客打上偏好标签。第四步，智能体办事：客流接近预约上限时提前预警，推送给现场工作人员处置；同时根据游客偏好推荐餐饮、演出等二次消费。第五步，处置结果和推荐转化回流到平台。第六步，反哺业务：景区据此调整预约名额、调整营销活动。右边是工作人员在票付通 APP 上收到预警的示意。这一圈下来，游客体验更好，景区多卖钱、少出事，我们的数据和智能体也更准了。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说接下来。先做三件事。第一，数据：在订单到核销到结算这条主线上试点治理，定口径、上卡点、做逐层核对，先把核销量这些关键数字做准，同时把订单核销的实时链路建起来。第二，智能体：挑两三家已经用我们票务的标杆景区，在成熟平台上搭好现有智能体，加一两个高价值新场景，跑一个完整旺季，同时试随票务打包和年费订阅两种收费。第三，打通：智能体统一从数据平台取数，对话、评价、转人工等数据从第一天回流，知识、接口、模板、成本数据留在自己手里。需要您支持四件事：一，口径谁拍板，建议成立数据治理小组，有争议时有人定；二，规范强制执行，不合规的数据不上线，这需要公司层面授权；三，标杆景区和销售团队的配合，智能体纳入销售考核；四，什么时候自己建平台，我们定期用成本数据评估，由您来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汇报完毕，请您指示。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9050542" y="5192835"/>
            <a:ext cx="3141459" cy="1665165"/>
            <a:chOff x="4138364" y="2589079"/>
            <a:chExt cx="8053637" cy="4268921"/>
          </a:xfrm>
        </p:grpSpPr>
        <p:sp>
          <p:nvSpPr>
            <p:cNvPr id="158" name="任意多边形: 形状 157" descr="D:\51PPT模板网\51pptmoban.com\图片.jpg"/>
            <p:cNvSpPr/>
            <p:nvPr/>
          </p:nvSpPr>
          <p:spPr>
            <a:xfrm>
              <a:off x="4138364" y="2589079"/>
              <a:ext cx="8053637" cy="4268921"/>
            </a:xfrm>
            <a:custGeom>
              <a:avLst/>
              <a:gdLst>
                <a:gd name="csX0" fmla="*/ 8053637 w 8053637"/>
                <a:gd name="csY0" fmla="*/ 0 h 4268921"/>
                <a:gd name="csX1" fmla="*/ 8053637 w 8053637"/>
                <a:gd name="csY1" fmla="*/ 4268921 h 4268921"/>
                <a:gd name="csX2" fmla="*/ 0 w 8053637"/>
                <a:gd name="csY2" fmla="*/ 4268921 h 4268921"/>
                <a:gd name="csX3" fmla="*/ 24011 w 8053637"/>
                <a:gd name="csY3" fmla="*/ 4245969 h 4268921"/>
                <a:gd name="csX4" fmla="*/ 2249737 w 8053637"/>
                <a:gd name="csY4" fmla="*/ 2465521 h 4268921"/>
                <a:gd name="csX5" fmla="*/ 5234237 w 8053637"/>
                <a:gd name="csY5" fmla="*/ 2249621 h 4268921"/>
                <a:gd name="csX6" fmla="*/ 6428037 w 8053637"/>
                <a:gd name="csY6" fmla="*/ 598621 h 4268921"/>
                <a:gd name="csX7" fmla="*/ 8023842 w 8053637"/>
                <a:gd name="csY7" fmla="*/ 5746 h 4268921"/>
                <a:gd name="csX8" fmla="*/ 8053637 w 8053637"/>
                <a:gd name="csY8" fmla="*/ 0 h 42689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053637" h="4268921">
                  <a:moveTo>
                    <a:pt x="8053637" y="0"/>
                  </a:moveTo>
                  <a:lnTo>
                    <a:pt x="8053637" y="4268921"/>
                  </a:lnTo>
                  <a:lnTo>
                    <a:pt x="0" y="4268921"/>
                  </a:lnTo>
                  <a:lnTo>
                    <a:pt x="24011" y="4245969"/>
                  </a:lnTo>
                  <a:cubicBezTo>
                    <a:pt x="574661" y="3714843"/>
                    <a:pt x="1501628" y="2775084"/>
                    <a:pt x="2249737" y="2465521"/>
                  </a:cubicBezTo>
                  <a:cubicBezTo>
                    <a:pt x="3170487" y="2084521"/>
                    <a:pt x="4537854" y="2560771"/>
                    <a:pt x="5234237" y="2249621"/>
                  </a:cubicBezTo>
                  <a:cubicBezTo>
                    <a:pt x="5930620" y="1938471"/>
                    <a:pt x="5784570" y="966921"/>
                    <a:pt x="6428037" y="598621"/>
                  </a:cubicBezTo>
                  <a:cubicBezTo>
                    <a:pt x="6891587" y="264453"/>
                    <a:pt x="7440589" y="132045"/>
                    <a:pt x="8023842" y="5746"/>
                  </a:cubicBezTo>
                  <a:lnTo>
                    <a:pt x="8053637" y="0"/>
                  </a:lnTo>
                  <a:close/>
                </a:path>
              </a:pathLst>
            </a:custGeom>
            <a:solidFill>
              <a:srgbClr val="EBE7E4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50" name="任意多边形: 形状 149" descr="D:\51PPT模板网\51pptmoban.com\图片.jpg"/>
            <p:cNvSpPr/>
            <p:nvPr/>
          </p:nvSpPr>
          <p:spPr>
            <a:xfrm>
              <a:off x="4868894" y="3337556"/>
              <a:ext cx="7323106" cy="3520444"/>
            </a:xfrm>
            <a:custGeom>
              <a:avLst/>
              <a:gdLst>
                <a:gd name="csX0" fmla="*/ 7323106 w 7323106"/>
                <a:gd name="csY0" fmla="*/ 0 h 3520444"/>
                <a:gd name="csX1" fmla="*/ 7323106 w 7323106"/>
                <a:gd name="csY1" fmla="*/ 3520444 h 3520444"/>
                <a:gd name="csX2" fmla="*/ 0 w 7323106"/>
                <a:gd name="csY2" fmla="*/ 3520444 h 3520444"/>
                <a:gd name="csX3" fmla="*/ 134763 w 7323106"/>
                <a:gd name="csY3" fmla="*/ 3493289 h 3520444"/>
                <a:gd name="csX4" fmla="*/ 1011206 w 7323106"/>
                <a:gd name="csY4" fmla="*/ 3164844 h 3520444"/>
                <a:gd name="csX5" fmla="*/ 2535206 w 7323106"/>
                <a:gd name="csY5" fmla="*/ 1920244 h 3520444"/>
                <a:gd name="csX6" fmla="*/ 5481606 w 7323106"/>
                <a:gd name="csY6" fmla="*/ 1767844 h 3520444"/>
                <a:gd name="csX7" fmla="*/ 6154706 w 7323106"/>
                <a:gd name="csY7" fmla="*/ 218444 h 3520444"/>
                <a:gd name="csX8" fmla="*/ 7244525 w 7323106"/>
                <a:gd name="csY8" fmla="*/ 956 h 3520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323106" h="3520444">
                  <a:moveTo>
                    <a:pt x="7323106" y="0"/>
                  </a:moveTo>
                  <a:lnTo>
                    <a:pt x="7323106" y="3520444"/>
                  </a:lnTo>
                  <a:lnTo>
                    <a:pt x="0" y="3520444"/>
                  </a:lnTo>
                  <a:lnTo>
                    <a:pt x="134763" y="3493289"/>
                  </a:lnTo>
                  <a:cubicBezTo>
                    <a:pt x="418953" y="3430833"/>
                    <a:pt x="708258" y="3338146"/>
                    <a:pt x="1011206" y="3164844"/>
                  </a:cubicBezTo>
                  <a:cubicBezTo>
                    <a:pt x="1495924" y="2887561"/>
                    <a:pt x="1790140" y="2153077"/>
                    <a:pt x="2535206" y="1920244"/>
                  </a:cubicBezTo>
                  <a:cubicBezTo>
                    <a:pt x="3280273" y="1687411"/>
                    <a:pt x="4878356" y="2051477"/>
                    <a:pt x="5481606" y="1767844"/>
                  </a:cubicBezTo>
                  <a:cubicBezTo>
                    <a:pt x="6084856" y="1484211"/>
                    <a:pt x="5621306" y="506311"/>
                    <a:pt x="6154706" y="218444"/>
                  </a:cubicBezTo>
                  <a:cubicBezTo>
                    <a:pt x="6421406" y="74511"/>
                    <a:pt x="6803994" y="16302"/>
                    <a:pt x="7244525" y="956"/>
                  </a:cubicBezTo>
                  <a:close/>
                </a:path>
              </a:pathLst>
            </a:custGeom>
            <a:solidFill>
              <a:srgbClr val="A69A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028477" y="4515406"/>
              <a:ext cx="491886" cy="515541"/>
            </a:xfrm>
            <a:custGeom>
              <a:avLst/>
              <a:gdLst>
                <a:gd name="csX0" fmla="*/ 363613 w 363612"/>
                <a:gd name="csY0" fmla="*/ 72260 h 381098"/>
                <a:gd name="csX1" fmla="*/ 327989 w 363612"/>
                <a:gd name="csY1" fmla="*/ 194466 h 381098"/>
                <a:gd name="csX2" fmla="*/ 177018 w 363612"/>
                <a:gd name="csY2" fmla="*/ 351342 h 381098"/>
                <a:gd name="csX3" fmla="*/ 105104 w 363612"/>
                <a:gd name="csY3" fmla="*/ 379441 h 381098"/>
                <a:gd name="csX4" fmla="*/ 43382 w 363612"/>
                <a:gd name="csY4" fmla="*/ 373250 h 381098"/>
                <a:gd name="csX5" fmla="*/ 7568 w 363612"/>
                <a:gd name="csY5" fmla="*/ 342770 h 381098"/>
                <a:gd name="csX6" fmla="*/ 14807 w 363612"/>
                <a:gd name="csY6" fmla="*/ 285525 h 381098"/>
                <a:gd name="csX7" fmla="*/ 65956 w 363612"/>
                <a:gd name="csY7" fmla="*/ 252092 h 381098"/>
                <a:gd name="csX8" fmla="*/ 218546 w 363612"/>
                <a:gd name="csY8" fmla="*/ 132839 h 381098"/>
                <a:gd name="csX9" fmla="*/ 284936 w 363612"/>
                <a:gd name="csY9" fmla="*/ 28064 h 381098"/>
                <a:gd name="csX10" fmla="*/ 316940 w 363612"/>
                <a:gd name="csY10" fmla="*/ 346 h 381098"/>
                <a:gd name="csX11" fmla="*/ 354468 w 363612"/>
                <a:gd name="csY11" fmla="*/ 23111 h 381098"/>
                <a:gd name="csX12" fmla="*/ 363613 w 363612"/>
                <a:gd name="csY12" fmla="*/ 72260 h 381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3612" h="381098">
                  <a:moveTo>
                    <a:pt x="363613" y="72260"/>
                  </a:moveTo>
                  <a:cubicBezTo>
                    <a:pt x="361231" y="116170"/>
                    <a:pt x="349039" y="156651"/>
                    <a:pt x="327989" y="194466"/>
                  </a:cubicBezTo>
                  <a:cubicBezTo>
                    <a:pt x="291603" y="260093"/>
                    <a:pt x="241025" y="312290"/>
                    <a:pt x="177018" y="351342"/>
                  </a:cubicBezTo>
                  <a:cubicBezTo>
                    <a:pt x="154824" y="364868"/>
                    <a:pt x="131107" y="375250"/>
                    <a:pt x="105104" y="379441"/>
                  </a:cubicBezTo>
                  <a:cubicBezTo>
                    <a:pt x="83958" y="382870"/>
                    <a:pt x="63384" y="381060"/>
                    <a:pt x="43382" y="373250"/>
                  </a:cubicBezTo>
                  <a:cubicBezTo>
                    <a:pt x="27951" y="367249"/>
                    <a:pt x="15854" y="357248"/>
                    <a:pt x="7568" y="342770"/>
                  </a:cubicBezTo>
                  <a:cubicBezTo>
                    <a:pt x="-3957" y="322291"/>
                    <a:pt x="-2910" y="300955"/>
                    <a:pt x="14807" y="285525"/>
                  </a:cubicBezTo>
                  <a:cubicBezTo>
                    <a:pt x="30047" y="272285"/>
                    <a:pt x="47668" y="260664"/>
                    <a:pt x="65956" y="252092"/>
                  </a:cubicBezTo>
                  <a:cubicBezTo>
                    <a:pt x="126059" y="223898"/>
                    <a:pt x="175779" y="183036"/>
                    <a:pt x="218546" y="132839"/>
                  </a:cubicBezTo>
                  <a:cubicBezTo>
                    <a:pt x="245598" y="101025"/>
                    <a:pt x="267314" y="65878"/>
                    <a:pt x="284936" y="28064"/>
                  </a:cubicBezTo>
                  <a:cubicBezTo>
                    <a:pt x="291508" y="13967"/>
                    <a:pt x="300080" y="2537"/>
                    <a:pt x="316940" y="346"/>
                  </a:cubicBezTo>
                  <a:cubicBezTo>
                    <a:pt x="334085" y="-1845"/>
                    <a:pt x="349897" y="6442"/>
                    <a:pt x="354468" y="23111"/>
                  </a:cubicBezTo>
                  <a:cubicBezTo>
                    <a:pt x="358945" y="39208"/>
                    <a:pt x="360659" y="55877"/>
                    <a:pt x="363613" y="72260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任意多边形: 形状 16"/>
            <p:cNvSpPr/>
            <p:nvPr/>
          </p:nvSpPr>
          <p:spPr>
            <a:xfrm>
              <a:off x="6986729" y="5467512"/>
              <a:ext cx="628510" cy="399182"/>
            </a:xfrm>
            <a:custGeom>
              <a:avLst/>
              <a:gdLst>
                <a:gd name="csX0" fmla="*/ 329239 w 412178"/>
                <a:gd name="csY0" fmla="*/ 0 h 261784"/>
                <a:gd name="csX1" fmla="*/ 380388 w 412178"/>
                <a:gd name="csY1" fmla="*/ 17240 h 261784"/>
                <a:gd name="csX2" fmla="*/ 380960 w 412178"/>
                <a:gd name="csY2" fmla="*/ 120491 h 261784"/>
                <a:gd name="csX3" fmla="*/ 333620 w 412178"/>
                <a:gd name="csY3" fmla="*/ 134779 h 261784"/>
                <a:gd name="csX4" fmla="*/ 127118 w 412178"/>
                <a:gd name="csY4" fmla="*/ 209740 h 261784"/>
                <a:gd name="csX5" fmla="*/ 65206 w 412178"/>
                <a:gd name="csY5" fmla="*/ 252698 h 261784"/>
                <a:gd name="csX6" fmla="*/ 14914 w 412178"/>
                <a:gd name="csY6" fmla="*/ 254984 h 261784"/>
                <a:gd name="csX7" fmla="*/ 1960 w 412178"/>
                <a:gd name="csY7" fmla="*/ 209836 h 261784"/>
                <a:gd name="csX8" fmla="*/ 32440 w 412178"/>
                <a:gd name="csY8" fmla="*/ 158305 h 261784"/>
                <a:gd name="csX9" fmla="*/ 302093 w 412178"/>
                <a:gd name="csY9" fmla="*/ 5905 h 261784"/>
                <a:gd name="csX10" fmla="*/ 315618 w 412178"/>
                <a:gd name="csY10" fmla="*/ 3905 h 261784"/>
                <a:gd name="csX11" fmla="*/ 328191 w 412178"/>
                <a:gd name="csY11" fmla="*/ 3143 h 261784"/>
                <a:gd name="csX12" fmla="*/ 329239 w 412178"/>
                <a:gd name="csY12" fmla="*/ 0 h 261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12178" h="261784">
                  <a:moveTo>
                    <a:pt x="329239" y="0"/>
                  </a:moveTo>
                  <a:cubicBezTo>
                    <a:pt x="346384" y="5524"/>
                    <a:pt x="364958" y="8572"/>
                    <a:pt x="380388" y="17240"/>
                  </a:cubicBezTo>
                  <a:cubicBezTo>
                    <a:pt x="422489" y="40862"/>
                    <a:pt x="422870" y="96393"/>
                    <a:pt x="380960" y="120491"/>
                  </a:cubicBezTo>
                  <a:cubicBezTo>
                    <a:pt x="366958" y="128588"/>
                    <a:pt x="349527" y="134588"/>
                    <a:pt x="333620" y="134779"/>
                  </a:cubicBezTo>
                  <a:cubicBezTo>
                    <a:pt x="255801" y="136017"/>
                    <a:pt x="190365" y="169545"/>
                    <a:pt x="127118" y="209740"/>
                  </a:cubicBezTo>
                  <a:cubicBezTo>
                    <a:pt x="105973" y="223171"/>
                    <a:pt x="85780" y="238220"/>
                    <a:pt x="65206" y="252698"/>
                  </a:cubicBezTo>
                  <a:cubicBezTo>
                    <a:pt x="49204" y="263843"/>
                    <a:pt x="29201" y="264890"/>
                    <a:pt x="14914" y="254984"/>
                  </a:cubicBezTo>
                  <a:cubicBezTo>
                    <a:pt x="1484" y="245745"/>
                    <a:pt x="-2993" y="230124"/>
                    <a:pt x="1960" y="209836"/>
                  </a:cubicBezTo>
                  <a:cubicBezTo>
                    <a:pt x="6913" y="189547"/>
                    <a:pt x="18248" y="172783"/>
                    <a:pt x="32440" y="158305"/>
                  </a:cubicBezTo>
                  <a:cubicBezTo>
                    <a:pt x="107783" y="82010"/>
                    <a:pt x="197413" y="30480"/>
                    <a:pt x="302093" y="5905"/>
                  </a:cubicBezTo>
                  <a:cubicBezTo>
                    <a:pt x="306569" y="4858"/>
                    <a:pt x="311141" y="4381"/>
                    <a:pt x="315618" y="3905"/>
                  </a:cubicBezTo>
                  <a:cubicBezTo>
                    <a:pt x="319809" y="3429"/>
                    <a:pt x="324000" y="3334"/>
                    <a:pt x="328191" y="3143"/>
                  </a:cubicBezTo>
                  <a:cubicBezTo>
                    <a:pt x="328477" y="2096"/>
                    <a:pt x="328858" y="1048"/>
                    <a:pt x="329239" y="0"/>
                  </a:cubicBezTo>
                  <a:close/>
                </a:path>
              </a:pathLst>
            </a:custGeom>
            <a:solidFill>
              <a:srgbClr val="D8CFC8"/>
            </a:solidFill>
            <a:ln w="9525" cap="flat">
              <a:noFill/>
              <a:prstDash val="solid"/>
              <a:miter/>
            </a:ln>
          </p:spPr>
        </p:sp>
        <p:sp>
          <p:nvSpPr>
            <p:cNvPr id="18" name="任意多边形: 形状 17"/>
            <p:cNvSpPr/>
            <p:nvPr/>
          </p:nvSpPr>
          <p:spPr>
            <a:xfrm>
              <a:off x="11121276" y="3812150"/>
              <a:ext cx="557460" cy="484009"/>
            </a:xfrm>
            <a:custGeom>
              <a:avLst/>
              <a:gdLst>
                <a:gd name="csX0" fmla="*/ 217919 w 311963"/>
                <a:gd name="csY0" fmla="*/ 0 h 270859"/>
                <a:gd name="csX1" fmla="*/ 295738 w 311963"/>
                <a:gd name="csY1" fmla="*/ 34100 h 270859"/>
                <a:gd name="csX2" fmla="*/ 294309 w 311963"/>
                <a:gd name="csY2" fmla="*/ 109252 h 270859"/>
                <a:gd name="csX3" fmla="*/ 238683 w 311963"/>
                <a:gd name="csY3" fmla="*/ 141922 h 270859"/>
                <a:gd name="csX4" fmla="*/ 186486 w 311963"/>
                <a:gd name="csY4" fmla="*/ 162020 h 270859"/>
                <a:gd name="csX5" fmla="*/ 93427 w 311963"/>
                <a:gd name="csY5" fmla="*/ 243840 h 270859"/>
                <a:gd name="csX6" fmla="*/ 91617 w 311963"/>
                <a:gd name="csY6" fmla="*/ 246697 h 270859"/>
                <a:gd name="csX7" fmla="*/ 74853 w 311963"/>
                <a:gd name="csY7" fmla="*/ 267843 h 270859"/>
                <a:gd name="csX8" fmla="*/ 35801 w 311963"/>
                <a:gd name="csY8" fmla="*/ 266795 h 270859"/>
                <a:gd name="csX9" fmla="*/ 367 w 311963"/>
                <a:gd name="csY9" fmla="*/ 217551 h 270859"/>
                <a:gd name="csX10" fmla="*/ 5416 w 311963"/>
                <a:gd name="csY10" fmla="*/ 169259 h 270859"/>
                <a:gd name="csX11" fmla="*/ 142861 w 311963"/>
                <a:gd name="csY11" fmla="*/ 15430 h 270859"/>
                <a:gd name="csX12" fmla="*/ 217919 w 311963"/>
                <a:gd name="csY12" fmla="*/ 0 h 270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1963" h="270859">
                  <a:moveTo>
                    <a:pt x="217919" y="0"/>
                  </a:moveTo>
                  <a:cubicBezTo>
                    <a:pt x="244588" y="1048"/>
                    <a:pt x="273354" y="9716"/>
                    <a:pt x="295738" y="34100"/>
                  </a:cubicBezTo>
                  <a:cubicBezTo>
                    <a:pt x="317931" y="58388"/>
                    <a:pt x="317264" y="85534"/>
                    <a:pt x="294309" y="109252"/>
                  </a:cubicBezTo>
                  <a:cubicBezTo>
                    <a:pt x="278783" y="125254"/>
                    <a:pt x="259161" y="134207"/>
                    <a:pt x="238683" y="141922"/>
                  </a:cubicBezTo>
                  <a:cubicBezTo>
                    <a:pt x="221252" y="148495"/>
                    <a:pt x="203440" y="154305"/>
                    <a:pt x="186486" y="162020"/>
                  </a:cubicBezTo>
                  <a:cubicBezTo>
                    <a:pt x="147243" y="179737"/>
                    <a:pt x="116953" y="208121"/>
                    <a:pt x="93427" y="243840"/>
                  </a:cubicBezTo>
                  <a:cubicBezTo>
                    <a:pt x="92760" y="244792"/>
                    <a:pt x="91998" y="245650"/>
                    <a:pt x="91617" y="246697"/>
                  </a:cubicBezTo>
                  <a:cubicBezTo>
                    <a:pt x="88664" y="255842"/>
                    <a:pt x="85711" y="264605"/>
                    <a:pt x="74853" y="267843"/>
                  </a:cubicBezTo>
                  <a:cubicBezTo>
                    <a:pt x="61518" y="271843"/>
                    <a:pt x="48564" y="272225"/>
                    <a:pt x="35801" y="266795"/>
                  </a:cubicBezTo>
                  <a:cubicBezTo>
                    <a:pt x="14083" y="257556"/>
                    <a:pt x="1892" y="240221"/>
                    <a:pt x="367" y="217551"/>
                  </a:cubicBezTo>
                  <a:cubicBezTo>
                    <a:pt x="-680" y="201549"/>
                    <a:pt x="367" y="184309"/>
                    <a:pt x="5416" y="169259"/>
                  </a:cubicBezTo>
                  <a:cubicBezTo>
                    <a:pt x="29038" y="98584"/>
                    <a:pt x="75710" y="47434"/>
                    <a:pt x="142861" y="15430"/>
                  </a:cubicBezTo>
                  <a:cubicBezTo>
                    <a:pt x="164769" y="4858"/>
                    <a:pt x="188296" y="286"/>
                    <a:pt x="217919" y="0"/>
                  </a:cubicBezTo>
                  <a:close/>
                </a:path>
              </a:pathLst>
            </a:custGeom>
            <a:solidFill>
              <a:srgbClr val="D8CFC8"/>
            </a:solidFill>
            <a:ln w="9525" cap="flat">
              <a:noFill/>
              <a:prstDash val="solid"/>
              <a:miter/>
            </a:ln>
          </p:spPr>
        </p:sp>
        <p:grpSp>
          <p:nvGrpSpPr>
            <p:cNvPr id="38" name="组合 37"/>
            <p:cNvGrpSpPr/>
            <p:nvPr/>
          </p:nvGrpSpPr>
          <p:grpSpPr>
            <a:xfrm>
              <a:off x="10806023" y="5667103"/>
              <a:ext cx="514848" cy="576778"/>
              <a:chOff x="9870474" y="5637905"/>
              <a:chExt cx="514848" cy="576778"/>
            </a:xfrm>
            <a:solidFill>
              <a:schemeClr val="bg1"/>
            </a:solidFill>
          </p:grpSpPr>
          <p:sp>
            <p:nvSpPr>
              <p:cNvPr id="21" name="任意多边形: 形状 20"/>
              <p:cNvSpPr/>
              <p:nvPr/>
            </p:nvSpPr>
            <p:spPr>
              <a:xfrm>
                <a:off x="10189400" y="5739204"/>
                <a:ext cx="166197" cy="141441"/>
              </a:xfrm>
              <a:custGeom>
                <a:avLst/>
                <a:gdLst>
                  <a:gd name="csX0" fmla="*/ 38219 w 80801"/>
                  <a:gd name="csY0" fmla="*/ 68765 h 68765"/>
                  <a:gd name="csX1" fmla="*/ 14217 w 80801"/>
                  <a:gd name="csY1" fmla="*/ 59621 h 68765"/>
                  <a:gd name="csX2" fmla="*/ 8597 w 80801"/>
                  <a:gd name="csY2" fmla="*/ 15806 h 68765"/>
                  <a:gd name="csX3" fmla="*/ 54031 w 80801"/>
                  <a:gd name="csY3" fmla="*/ 1138 h 68765"/>
                  <a:gd name="csX4" fmla="*/ 71366 w 80801"/>
                  <a:gd name="csY4" fmla="*/ 53145 h 68765"/>
                  <a:gd name="csX5" fmla="*/ 38219 w 80801"/>
                  <a:gd name="csY5" fmla="*/ 68765 h 687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0801" h="68765">
                    <a:moveTo>
                      <a:pt x="38219" y="68765"/>
                    </a:moveTo>
                    <a:cubicBezTo>
                      <a:pt x="30123" y="65813"/>
                      <a:pt x="21360" y="64003"/>
                      <a:pt x="14217" y="59621"/>
                    </a:cubicBezTo>
                    <a:cubicBezTo>
                      <a:pt x="-2452" y="49525"/>
                      <a:pt x="-4643" y="30094"/>
                      <a:pt x="8597" y="15806"/>
                    </a:cubicBezTo>
                    <a:cubicBezTo>
                      <a:pt x="20884" y="2567"/>
                      <a:pt x="36314" y="-2481"/>
                      <a:pt x="54031" y="1138"/>
                    </a:cubicBezTo>
                    <a:cubicBezTo>
                      <a:pt x="80701" y="6567"/>
                      <a:pt x="89273" y="32761"/>
                      <a:pt x="71366" y="53145"/>
                    </a:cubicBezTo>
                    <a:cubicBezTo>
                      <a:pt x="63556" y="62098"/>
                      <a:pt x="51745" y="67051"/>
                      <a:pt x="38219" y="6876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2" name="任意多边形: 形状 21"/>
              <p:cNvSpPr/>
              <p:nvPr/>
            </p:nvSpPr>
            <p:spPr>
              <a:xfrm>
                <a:off x="9945095" y="6083738"/>
                <a:ext cx="165196" cy="130945"/>
              </a:xfrm>
              <a:custGeom>
                <a:avLst/>
                <a:gdLst>
                  <a:gd name="csX0" fmla="*/ 35265 w 80314"/>
                  <a:gd name="csY0" fmla="*/ 63663 h 63662"/>
                  <a:gd name="csX1" fmla="*/ 16691 w 80314"/>
                  <a:gd name="csY1" fmla="*/ 58805 h 63662"/>
                  <a:gd name="csX2" fmla="*/ 6975 w 80314"/>
                  <a:gd name="csY2" fmla="*/ 16228 h 63662"/>
                  <a:gd name="csX3" fmla="*/ 64316 w 80314"/>
                  <a:gd name="csY3" fmla="*/ 4607 h 63662"/>
                  <a:gd name="csX4" fmla="*/ 72126 w 80314"/>
                  <a:gd name="csY4" fmla="*/ 47280 h 63662"/>
                  <a:gd name="csX5" fmla="*/ 35265 w 80314"/>
                  <a:gd name="csY5" fmla="*/ 63663 h 636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0314" h="63662">
                    <a:moveTo>
                      <a:pt x="35265" y="63663"/>
                    </a:moveTo>
                    <a:cubicBezTo>
                      <a:pt x="29073" y="62043"/>
                      <a:pt x="22501" y="61281"/>
                      <a:pt x="16691" y="58805"/>
                    </a:cubicBezTo>
                    <a:cubicBezTo>
                      <a:pt x="-930" y="51280"/>
                      <a:pt x="-5312" y="31182"/>
                      <a:pt x="6975" y="16228"/>
                    </a:cubicBezTo>
                    <a:cubicBezTo>
                      <a:pt x="19739" y="607"/>
                      <a:pt x="46314" y="-4727"/>
                      <a:pt x="64316" y="4607"/>
                    </a:cubicBezTo>
                    <a:cubicBezTo>
                      <a:pt x="82128" y="13847"/>
                      <a:pt x="85557" y="32421"/>
                      <a:pt x="72126" y="47280"/>
                    </a:cubicBezTo>
                    <a:cubicBezTo>
                      <a:pt x="63268" y="57185"/>
                      <a:pt x="49743" y="62900"/>
                      <a:pt x="35265" y="636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3" name="任意多边形: 形状 22"/>
              <p:cNvSpPr/>
              <p:nvPr/>
            </p:nvSpPr>
            <p:spPr>
              <a:xfrm>
                <a:off x="10225694" y="5899846"/>
                <a:ext cx="159628" cy="127843"/>
              </a:xfrm>
              <a:custGeom>
                <a:avLst/>
                <a:gdLst>
                  <a:gd name="csX0" fmla="*/ 45530 w 77607"/>
                  <a:gd name="csY0" fmla="*/ 0 h 62154"/>
                  <a:gd name="csX1" fmla="*/ 69057 w 77607"/>
                  <a:gd name="csY1" fmla="*/ 9715 h 62154"/>
                  <a:gd name="csX2" fmla="*/ 76295 w 77607"/>
                  <a:gd name="csY2" fmla="*/ 30575 h 62154"/>
                  <a:gd name="csX3" fmla="*/ 16859 w 77607"/>
                  <a:gd name="csY3" fmla="*/ 58103 h 62154"/>
                  <a:gd name="csX4" fmla="*/ 12192 w 77607"/>
                  <a:gd name="csY4" fmla="*/ 14954 h 62154"/>
                  <a:gd name="csX5" fmla="*/ 45530 w 77607"/>
                  <a:gd name="csY5" fmla="*/ 0 h 621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7607" h="62154">
                    <a:moveTo>
                      <a:pt x="45530" y="0"/>
                    </a:moveTo>
                    <a:cubicBezTo>
                      <a:pt x="54674" y="3715"/>
                      <a:pt x="62484" y="5620"/>
                      <a:pt x="69057" y="9715"/>
                    </a:cubicBezTo>
                    <a:cubicBezTo>
                      <a:pt x="76390" y="14288"/>
                      <a:pt x="79629" y="22288"/>
                      <a:pt x="76295" y="30575"/>
                    </a:cubicBezTo>
                    <a:cubicBezTo>
                      <a:pt x="67437" y="52864"/>
                      <a:pt x="44863" y="70390"/>
                      <a:pt x="16859" y="58103"/>
                    </a:cubicBezTo>
                    <a:cubicBezTo>
                      <a:pt x="-3334" y="49244"/>
                      <a:pt x="-6001" y="27241"/>
                      <a:pt x="12192" y="14954"/>
                    </a:cubicBezTo>
                    <a:cubicBezTo>
                      <a:pt x="22289" y="8287"/>
                      <a:pt x="34481" y="4858"/>
                      <a:pt x="4553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4" name="任意多边形: 形状 23"/>
              <p:cNvSpPr/>
              <p:nvPr/>
            </p:nvSpPr>
            <p:spPr>
              <a:xfrm>
                <a:off x="10040748" y="5922163"/>
                <a:ext cx="144979" cy="113846"/>
              </a:xfrm>
              <a:custGeom>
                <a:avLst/>
                <a:gdLst>
                  <a:gd name="csX0" fmla="*/ 34957 w 70485"/>
                  <a:gd name="csY0" fmla="*/ 55349 h 55349"/>
                  <a:gd name="csX1" fmla="*/ 0 w 70485"/>
                  <a:gd name="csY1" fmla="*/ 28869 h 55349"/>
                  <a:gd name="csX2" fmla="*/ 34767 w 70485"/>
                  <a:gd name="csY2" fmla="*/ 8 h 55349"/>
                  <a:gd name="csX3" fmla="*/ 70485 w 70485"/>
                  <a:gd name="csY3" fmla="*/ 27631 h 55349"/>
                  <a:gd name="csX4" fmla="*/ 34957 w 70485"/>
                  <a:gd name="csY4" fmla="*/ 55349 h 55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0485" h="55349">
                    <a:moveTo>
                      <a:pt x="34957" y="55349"/>
                    </a:moveTo>
                    <a:cubicBezTo>
                      <a:pt x="14859" y="55444"/>
                      <a:pt x="-95" y="44109"/>
                      <a:pt x="0" y="28869"/>
                    </a:cubicBezTo>
                    <a:cubicBezTo>
                      <a:pt x="96" y="12963"/>
                      <a:pt x="15241" y="390"/>
                      <a:pt x="34767" y="8"/>
                    </a:cubicBezTo>
                    <a:cubicBezTo>
                      <a:pt x="54198" y="-372"/>
                      <a:pt x="70390" y="12105"/>
                      <a:pt x="70485" y="27631"/>
                    </a:cubicBezTo>
                    <a:cubicBezTo>
                      <a:pt x="70581" y="43062"/>
                      <a:pt x="54960" y="55254"/>
                      <a:pt x="34957" y="553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5" name="任意多边形: 形状 24"/>
              <p:cNvSpPr/>
              <p:nvPr/>
            </p:nvSpPr>
            <p:spPr>
              <a:xfrm>
                <a:off x="10041900" y="5637905"/>
                <a:ext cx="146612" cy="106124"/>
              </a:xfrm>
              <a:custGeom>
                <a:avLst/>
                <a:gdLst>
                  <a:gd name="csX0" fmla="*/ 41827 w 71279"/>
                  <a:gd name="csY0" fmla="*/ 0 h 51595"/>
                  <a:gd name="csX1" fmla="*/ 59924 w 71279"/>
                  <a:gd name="csY1" fmla="*/ 5524 h 51595"/>
                  <a:gd name="csX2" fmla="*/ 64687 w 71279"/>
                  <a:gd name="csY2" fmla="*/ 35433 h 51595"/>
                  <a:gd name="csX3" fmla="*/ 19348 w 71279"/>
                  <a:gd name="csY3" fmla="*/ 49911 h 51595"/>
                  <a:gd name="csX4" fmla="*/ 107 w 71279"/>
                  <a:gd name="csY4" fmla="*/ 29908 h 51595"/>
                  <a:gd name="csX5" fmla="*/ 14966 w 71279"/>
                  <a:gd name="csY5" fmla="*/ 7906 h 51595"/>
                  <a:gd name="csX6" fmla="*/ 41827 w 71279"/>
                  <a:gd name="csY6" fmla="*/ 0 h 515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1279" h="51595">
                    <a:moveTo>
                      <a:pt x="41827" y="0"/>
                    </a:moveTo>
                    <a:cubicBezTo>
                      <a:pt x="48494" y="2000"/>
                      <a:pt x="54685" y="2857"/>
                      <a:pt x="59924" y="5524"/>
                    </a:cubicBezTo>
                    <a:cubicBezTo>
                      <a:pt x="72973" y="12097"/>
                      <a:pt x="75069" y="25146"/>
                      <a:pt x="64687" y="35433"/>
                    </a:cubicBezTo>
                    <a:cubicBezTo>
                      <a:pt x="52114" y="47911"/>
                      <a:pt x="37445" y="55054"/>
                      <a:pt x="19348" y="49911"/>
                    </a:cubicBezTo>
                    <a:cubicBezTo>
                      <a:pt x="9346" y="47054"/>
                      <a:pt x="1250" y="41243"/>
                      <a:pt x="107" y="29908"/>
                    </a:cubicBezTo>
                    <a:cubicBezTo>
                      <a:pt x="-941" y="18859"/>
                      <a:pt x="5822" y="11811"/>
                      <a:pt x="14966" y="7906"/>
                    </a:cubicBezTo>
                    <a:cubicBezTo>
                      <a:pt x="23634" y="4191"/>
                      <a:pt x="32969" y="2476"/>
                      <a:pt x="41827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6" name="任意多边形: 形状 25"/>
              <p:cNvSpPr/>
              <p:nvPr/>
            </p:nvSpPr>
            <p:spPr>
              <a:xfrm>
                <a:off x="10138110" y="6050246"/>
                <a:ext cx="134308" cy="104878"/>
              </a:xfrm>
              <a:custGeom>
                <a:avLst/>
                <a:gdLst>
                  <a:gd name="csX0" fmla="*/ 32675 w 65297"/>
                  <a:gd name="csY0" fmla="*/ 50990 h 50989"/>
                  <a:gd name="csX1" fmla="*/ 11244 w 65297"/>
                  <a:gd name="csY1" fmla="*/ 43465 h 50989"/>
                  <a:gd name="csX2" fmla="*/ 9720 w 65297"/>
                  <a:gd name="csY2" fmla="*/ 8699 h 50989"/>
                  <a:gd name="csX3" fmla="*/ 47724 w 65297"/>
                  <a:gd name="csY3" fmla="*/ 1745 h 50989"/>
                  <a:gd name="csX4" fmla="*/ 57059 w 65297"/>
                  <a:gd name="csY4" fmla="*/ 37464 h 50989"/>
                  <a:gd name="csX5" fmla="*/ 32675 w 65297"/>
                  <a:gd name="csY5" fmla="*/ 50990 h 50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5297" h="50989">
                    <a:moveTo>
                      <a:pt x="32675" y="50990"/>
                    </a:moveTo>
                    <a:cubicBezTo>
                      <a:pt x="23912" y="48037"/>
                      <a:pt x="16959" y="46799"/>
                      <a:pt x="11244" y="43465"/>
                    </a:cubicBezTo>
                    <a:cubicBezTo>
                      <a:pt x="-3139" y="35083"/>
                      <a:pt x="-3806" y="18509"/>
                      <a:pt x="9720" y="8699"/>
                    </a:cubicBezTo>
                    <a:cubicBezTo>
                      <a:pt x="21150" y="412"/>
                      <a:pt x="34104" y="-2065"/>
                      <a:pt x="47724" y="1745"/>
                    </a:cubicBezTo>
                    <a:cubicBezTo>
                      <a:pt x="66298" y="6889"/>
                      <a:pt x="71346" y="24605"/>
                      <a:pt x="57059" y="37464"/>
                    </a:cubicBezTo>
                    <a:cubicBezTo>
                      <a:pt x="50106" y="43655"/>
                      <a:pt x="40390" y="46799"/>
                      <a:pt x="32675" y="5099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7" name="任意多边形: 形状 26"/>
              <p:cNvSpPr/>
              <p:nvPr/>
            </p:nvSpPr>
            <p:spPr>
              <a:xfrm>
                <a:off x="9973171" y="5807764"/>
                <a:ext cx="128116" cy="101533"/>
              </a:xfrm>
              <a:custGeom>
                <a:avLst/>
                <a:gdLst>
                  <a:gd name="csX0" fmla="*/ 34093 w 62287"/>
                  <a:gd name="csY0" fmla="*/ 0 h 49363"/>
                  <a:gd name="csX1" fmla="*/ 53619 w 62287"/>
                  <a:gd name="csY1" fmla="*/ 8096 h 49363"/>
                  <a:gd name="csX2" fmla="*/ 56667 w 62287"/>
                  <a:gd name="csY2" fmla="*/ 36767 h 49363"/>
                  <a:gd name="csX3" fmla="*/ 12566 w 62287"/>
                  <a:gd name="csY3" fmla="*/ 46672 h 49363"/>
                  <a:gd name="csX4" fmla="*/ 2470 w 62287"/>
                  <a:gd name="csY4" fmla="*/ 19431 h 49363"/>
                  <a:gd name="csX5" fmla="*/ 34093 w 62287"/>
                  <a:gd name="csY5" fmla="*/ 0 h 493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287" h="49363">
                    <a:moveTo>
                      <a:pt x="34093" y="0"/>
                    </a:moveTo>
                    <a:cubicBezTo>
                      <a:pt x="40665" y="2667"/>
                      <a:pt x="47904" y="4286"/>
                      <a:pt x="53619" y="8096"/>
                    </a:cubicBezTo>
                    <a:cubicBezTo>
                      <a:pt x="64192" y="15145"/>
                      <a:pt x="64954" y="27146"/>
                      <a:pt x="56667" y="36767"/>
                    </a:cubicBezTo>
                    <a:cubicBezTo>
                      <a:pt x="46856" y="48101"/>
                      <a:pt x="26378" y="52769"/>
                      <a:pt x="12566" y="46672"/>
                    </a:cubicBezTo>
                    <a:cubicBezTo>
                      <a:pt x="851" y="41529"/>
                      <a:pt x="-3055" y="31052"/>
                      <a:pt x="2470" y="19431"/>
                    </a:cubicBezTo>
                    <a:cubicBezTo>
                      <a:pt x="7804" y="8477"/>
                      <a:pt x="19901" y="1429"/>
                      <a:pt x="3409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  <p:sp>
            <p:nvSpPr>
              <p:cNvPr id="28" name="任意多边形: 形状 27"/>
              <p:cNvSpPr/>
              <p:nvPr/>
            </p:nvSpPr>
            <p:spPr>
              <a:xfrm>
                <a:off x="9870474" y="5950000"/>
                <a:ext cx="126191" cy="94521"/>
              </a:xfrm>
              <a:custGeom>
                <a:avLst/>
                <a:gdLst>
                  <a:gd name="csX0" fmla="*/ 28586 w 61351"/>
                  <a:gd name="csY0" fmla="*/ 0 h 45954"/>
                  <a:gd name="csX1" fmla="*/ 46207 w 61351"/>
                  <a:gd name="csY1" fmla="*/ 4191 h 45954"/>
                  <a:gd name="csX2" fmla="*/ 61352 w 61351"/>
                  <a:gd name="csY2" fmla="*/ 23622 h 45954"/>
                  <a:gd name="csX3" fmla="*/ 47160 w 61351"/>
                  <a:gd name="csY3" fmla="*/ 42291 h 45954"/>
                  <a:gd name="csX4" fmla="*/ 18299 w 61351"/>
                  <a:gd name="csY4" fmla="*/ 45529 h 45954"/>
                  <a:gd name="csX5" fmla="*/ 6964 w 61351"/>
                  <a:gd name="csY5" fmla="*/ 13049 h 45954"/>
                  <a:gd name="csX6" fmla="*/ 28586 w 61351"/>
                  <a:gd name="csY6" fmla="*/ 0 h 45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61351" h="45954">
                    <a:moveTo>
                      <a:pt x="28586" y="0"/>
                    </a:moveTo>
                    <a:cubicBezTo>
                      <a:pt x="36682" y="1905"/>
                      <a:pt x="41730" y="2381"/>
                      <a:pt x="46207" y="4191"/>
                    </a:cubicBezTo>
                    <a:cubicBezTo>
                      <a:pt x="54780" y="7620"/>
                      <a:pt x="61352" y="13525"/>
                      <a:pt x="61352" y="23622"/>
                    </a:cubicBezTo>
                    <a:cubicBezTo>
                      <a:pt x="61352" y="33147"/>
                      <a:pt x="55542" y="40005"/>
                      <a:pt x="47160" y="42291"/>
                    </a:cubicBezTo>
                    <a:cubicBezTo>
                      <a:pt x="37920" y="44863"/>
                      <a:pt x="27633" y="46863"/>
                      <a:pt x="18299" y="45529"/>
                    </a:cubicBezTo>
                    <a:cubicBezTo>
                      <a:pt x="-275" y="42958"/>
                      <a:pt x="-5895" y="26670"/>
                      <a:pt x="6964" y="13049"/>
                    </a:cubicBezTo>
                    <a:cubicBezTo>
                      <a:pt x="12965" y="6668"/>
                      <a:pt x="22395" y="3620"/>
                      <a:pt x="2858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</p:sp>
        </p:grpSp>
      </p:grpSp>
      <p:grpSp>
        <p:nvGrpSpPr>
          <p:cNvPr id="2" name="组合 1"/>
          <p:cNvGrpSpPr/>
          <p:nvPr userDrawn="1"/>
        </p:nvGrpSpPr>
        <p:grpSpPr>
          <a:xfrm>
            <a:off x="0" y="1"/>
            <a:ext cx="2926334" cy="1721053"/>
            <a:chOff x="0" y="0"/>
            <a:chExt cx="5809026" cy="3416441"/>
          </a:xfrm>
        </p:grpSpPr>
        <p:sp>
          <p:nvSpPr>
            <p:cNvPr id="155" name="任意多边形: 形状 154"/>
            <p:cNvSpPr/>
            <p:nvPr/>
          </p:nvSpPr>
          <p:spPr>
            <a:xfrm>
              <a:off x="0" y="0"/>
              <a:ext cx="5809026" cy="3416441"/>
            </a:xfrm>
            <a:custGeom>
              <a:avLst/>
              <a:gdLst>
                <a:gd name="csX0" fmla="*/ 0 w 5809026"/>
                <a:gd name="csY0" fmla="*/ 0 h 3416441"/>
                <a:gd name="csX1" fmla="*/ 5809026 w 5809026"/>
                <a:gd name="csY1" fmla="*/ 0 h 3416441"/>
                <a:gd name="csX2" fmla="*/ 5762644 w 5809026"/>
                <a:gd name="csY2" fmla="*/ 126590 h 3416441"/>
                <a:gd name="csX3" fmla="*/ 5029201 w 5809026"/>
                <a:gd name="csY3" fmla="*/ 990600 h 3416441"/>
                <a:gd name="csX4" fmla="*/ 2362200 w 5809026"/>
                <a:gd name="csY4" fmla="*/ 1244600 h 3416441"/>
                <a:gd name="csX5" fmla="*/ 1041400 w 5809026"/>
                <a:gd name="csY5" fmla="*/ 3225800 h 3416441"/>
                <a:gd name="csX6" fmla="*/ 112185 w 5809026"/>
                <a:gd name="csY6" fmla="*/ 3385418 h 3416441"/>
                <a:gd name="csX7" fmla="*/ 0 w 5809026"/>
                <a:gd name="csY7" fmla="*/ 3360127 h 3416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809026" h="3416441">
                  <a:moveTo>
                    <a:pt x="0" y="0"/>
                  </a:moveTo>
                  <a:lnTo>
                    <a:pt x="5809026" y="0"/>
                  </a:lnTo>
                  <a:lnTo>
                    <a:pt x="5762644" y="126590"/>
                  </a:lnTo>
                  <a:cubicBezTo>
                    <a:pt x="5615831" y="488387"/>
                    <a:pt x="5406232" y="802746"/>
                    <a:pt x="5029201" y="990600"/>
                  </a:cubicBezTo>
                  <a:cubicBezTo>
                    <a:pt x="4425950" y="1291167"/>
                    <a:pt x="3026833" y="872067"/>
                    <a:pt x="2362200" y="1244600"/>
                  </a:cubicBezTo>
                  <a:cubicBezTo>
                    <a:pt x="1697567" y="1617133"/>
                    <a:pt x="1513417" y="2895600"/>
                    <a:pt x="1041400" y="3225800"/>
                  </a:cubicBezTo>
                  <a:cubicBezTo>
                    <a:pt x="746390" y="3432175"/>
                    <a:pt x="432775" y="3445074"/>
                    <a:pt x="112185" y="3385418"/>
                  </a:cubicBezTo>
                  <a:lnTo>
                    <a:pt x="0" y="3360127"/>
                  </a:lnTo>
                  <a:close/>
                </a:path>
              </a:pathLst>
            </a:custGeom>
            <a:solidFill>
              <a:srgbClr val="EBE7E4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52" name="任意多边形: 形状 151" descr="D:\51PPT模板网\51pptmoban.com\图片.jpg"/>
            <p:cNvSpPr/>
            <p:nvPr/>
          </p:nvSpPr>
          <p:spPr>
            <a:xfrm>
              <a:off x="0" y="1"/>
              <a:ext cx="4705768" cy="2772795"/>
            </a:xfrm>
            <a:custGeom>
              <a:avLst/>
              <a:gdLst>
                <a:gd name="csX0" fmla="*/ 0 w 4705768"/>
                <a:gd name="csY0" fmla="*/ 0 h 2772795"/>
                <a:gd name="csX1" fmla="*/ 4671937 w 4705768"/>
                <a:gd name="csY1" fmla="*/ 0 h 2772795"/>
                <a:gd name="csX2" fmla="*/ 4684550 w 4705768"/>
                <a:gd name="csY2" fmla="*/ 45800 h 2772795"/>
                <a:gd name="csX3" fmla="*/ 4574265 w 4705768"/>
                <a:gd name="csY3" fmla="*/ 473114 h 2772795"/>
                <a:gd name="csX4" fmla="*/ 1880708 w 4705768"/>
                <a:gd name="csY4" fmla="*/ 848299 h 2772795"/>
                <a:gd name="csX5" fmla="*/ 844725 w 4705768"/>
                <a:gd name="csY5" fmla="*/ 2724226 h 2772795"/>
                <a:gd name="csX6" fmla="*/ 67076 w 4705768"/>
                <a:gd name="csY6" fmla="*/ 2500881 h 2772795"/>
                <a:gd name="csX7" fmla="*/ 0 w 4705768"/>
                <a:gd name="csY7" fmla="*/ 2442900 h 2772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5768" h="2772795">
                  <a:moveTo>
                    <a:pt x="0" y="0"/>
                  </a:moveTo>
                  <a:lnTo>
                    <a:pt x="4671937" y="0"/>
                  </a:lnTo>
                  <a:lnTo>
                    <a:pt x="4684550" y="45800"/>
                  </a:lnTo>
                  <a:cubicBezTo>
                    <a:pt x="4725190" y="220965"/>
                    <a:pt x="4717045" y="375409"/>
                    <a:pt x="4574265" y="473114"/>
                  </a:cubicBezTo>
                  <a:cubicBezTo>
                    <a:pt x="4117370" y="785768"/>
                    <a:pt x="2502299" y="473114"/>
                    <a:pt x="1880708" y="848299"/>
                  </a:cubicBezTo>
                  <a:cubicBezTo>
                    <a:pt x="1259119" y="1223484"/>
                    <a:pt x="1229898" y="2526212"/>
                    <a:pt x="844725" y="2724226"/>
                  </a:cubicBezTo>
                  <a:cubicBezTo>
                    <a:pt x="603992" y="2847985"/>
                    <a:pt x="339911" y="2721377"/>
                    <a:pt x="67076" y="2500881"/>
                  </a:cubicBezTo>
                  <a:lnTo>
                    <a:pt x="0" y="2442900"/>
                  </a:lnTo>
                  <a:close/>
                </a:path>
              </a:pathLst>
            </a:custGeom>
            <a:solidFill>
              <a:srgbClr val="D1B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771591" y="0"/>
              <a:ext cx="735042" cy="669403"/>
            </a:xfrm>
            <a:custGeom>
              <a:avLst/>
              <a:gdLst>
                <a:gd name="csX0" fmla="*/ 357360 w 357359"/>
                <a:gd name="csY0" fmla="*/ 95 h 325447"/>
                <a:gd name="csX1" fmla="*/ 291542 w 357359"/>
                <a:gd name="csY1" fmla="*/ 135255 h 325447"/>
                <a:gd name="csX2" fmla="*/ 106185 w 357359"/>
                <a:gd name="csY2" fmla="*/ 301847 h 325447"/>
                <a:gd name="csX3" fmla="*/ 27890 w 357359"/>
                <a:gd name="csY3" fmla="*/ 325279 h 325447"/>
                <a:gd name="csX4" fmla="*/ 8649 w 357359"/>
                <a:gd name="csY4" fmla="*/ 323945 h 325447"/>
                <a:gd name="csX5" fmla="*/ 77 w 357359"/>
                <a:gd name="csY5" fmla="*/ 316325 h 325447"/>
                <a:gd name="csX6" fmla="*/ 5887 w 357359"/>
                <a:gd name="csY6" fmla="*/ 307848 h 325447"/>
                <a:gd name="csX7" fmla="*/ 98470 w 357359"/>
                <a:gd name="csY7" fmla="*/ 228505 h 325447"/>
                <a:gd name="csX8" fmla="*/ 214485 w 357359"/>
                <a:gd name="csY8" fmla="*/ 53721 h 325447"/>
                <a:gd name="csX9" fmla="*/ 229344 w 357359"/>
                <a:gd name="csY9" fmla="*/ 0 h 325447"/>
                <a:gd name="csX10" fmla="*/ 357360 w 357359"/>
                <a:gd name="csY10" fmla="*/ 95 h 325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7359" h="325447">
                  <a:moveTo>
                    <a:pt x="357360" y="95"/>
                  </a:moveTo>
                  <a:cubicBezTo>
                    <a:pt x="340310" y="47530"/>
                    <a:pt x="319165" y="92964"/>
                    <a:pt x="291542" y="135255"/>
                  </a:cubicBezTo>
                  <a:cubicBezTo>
                    <a:pt x="244489" y="207169"/>
                    <a:pt x="184290" y="264509"/>
                    <a:pt x="106185" y="301847"/>
                  </a:cubicBezTo>
                  <a:cubicBezTo>
                    <a:pt x="81420" y="313754"/>
                    <a:pt x="55893" y="323755"/>
                    <a:pt x="27890" y="325279"/>
                  </a:cubicBezTo>
                  <a:cubicBezTo>
                    <a:pt x="21508" y="325660"/>
                    <a:pt x="14841" y="325469"/>
                    <a:pt x="8649" y="323945"/>
                  </a:cubicBezTo>
                  <a:cubicBezTo>
                    <a:pt x="5220" y="323088"/>
                    <a:pt x="1220" y="319564"/>
                    <a:pt x="77" y="316325"/>
                  </a:cubicBezTo>
                  <a:cubicBezTo>
                    <a:pt x="-590" y="314420"/>
                    <a:pt x="3220" y="310134"/>
                    <a:pt x="5887" y="307848"/>
                  </a:cubicBezTo>
                  <a:cubicBezTo>
                    <a:pt x="36748" y="281369"/>
                    <a:pt x="69228" y="256699"/>
                    <a:pt x="98470" y="228505"/>
                  </a:cubicBezTo>
                  <a:cubicBezTo>
                    <a:pt x="149810" y="179070"/>
                    <a:pt x="187815" y="119825"/>
                    <a:pt x="214485" y="53721"/>
                  </a:cubicBezTo>
                  <a:cubicBezTo>
                    <a:pt x="221438" y="36576"/>
                    <a:pt x="224486" y="17907"/>
                    <a:pt x="229344" y="0"/>
                  </a:cubicBezTo>
                  <a:cubicBezTo>
                    <a:pt x="272111" y="95"/>
                    <a:pt x="314688" y="95"/>
                    <a:pt x="357360" y="95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任意多边形: 形状 14"/>
            <p:cNvSpPr/>
            <p:nvPr/>
          </p:nvSpPr>
          <p:spPr>
            <a:xfrm>
              <a:off x="1700803" y="894678"/>
              <a:ext cx="618871" cy="456965"/>
            </a:xfrm>
            <a:custGeom>
              <a:avLst/>
              <a:gdLst>
                <a:gd name="csX0" fmla="*/ 407275 w 507963"/>
                <a:gd name="csY0" fmla="*/ 0 h 375072"/>
                <a:gd name="csX1" fmla="*/ 462329 w 507963"/>
                <a:gd name="csY1" fmla="*/ 8858 h 375072"/>
                <a:gd name="csX2" fmla="*/ 507954 w 507963"/>
                <a:gd name="csY2" fmla="*/ 57721 h 375072"/>
                <a:gd name="csX3" fmla="*/ 460234 w 507963"/>
                <a:gd name="csY3" fmla="*/ 104680 h 375072"/>
                <a:gd name="csX4" fmla="*/ 443375 w 507963"/>
                <a:gd name="csY4" fmla="*/ 107728 h 375072"/>
                <a:gd name="csX5" fmla="*/ 189438 w 507963"/>
                <a:gd name="csY5" fmla="*/ 206121 h 375072"/>
                <a:gd name="csX6" fmla="*/ 70471 w 507963"/>
                <a:gd name="csY6" fmla="*/ 324326 h 375072"/>
                <a:gd name="csX7" fmla="*/ 54659 w 507963"/>
                <a:gd name="csY7" fmla="*/ 354616 h 375072"/>
                <a:gd name="csX8" fmla="*/ 27323 w 507963"/>
                <a:gd name="csY8" fmla="*/ 374904 h 375072"/>
                <a:gd name="csX9" fmla="*/ 1796 w 507963"/>
                <a:gd name="csY9" fmla="*/ 348044 h 375072"/>
                <a:gd name="csX10" fmla="*/ 19798 w 507963"/>
                <a:gd name="csY10" fmla="*/ 243840 h 375072"/>
                <a:gd name="csX11" fmla="*/ 132669 w 507963"/>
                <a:gd name="csY11" fmla="*/ 108109 h 375072"/>
                <a:gd name="csX12" fmla="*/ 345648 w 507963"/>
                <a:gd name="csY12" fmla="*/ 7620 h 375072"/>
                <a:gd name="csX13" fmla="*/ 407275 w 507963"/>
                <a:gd name="csY13" fmla="*/ 0 h 375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507963" h="375072">
                  <a:moveTo>
                    <a:pt x="407275" y="0"/>
                  </a:moveTo>
                  <a:cubicBezTo>
                    <a:pt x="424229" y="2572"/>
                    <a:pt x="443660" y="4096"/>
                    <a:pt x="462329" y="8858"/>
                  </a:cubicBezTo>
                  <a:cubicBezTo>
                    <a:pt x="490714" y="16097"/>
                    <a:pt x="508430" y="36385"/>
                    <a:pt x="507954" y="57721"/>
                  </a:cubicBezTo>
                  <a:cubicBezTo>
                    <a:pt x="507478" y="79057"/>
                    <a:pt x="488523" y="97726"/>
                    <a:pt x="460234" y="104680"/>
                  </a:cubicBezTo>
                  <a:cubicBezTo>
                    <a:pt x="454709" y="106013"/>
                    <a:pt x="449090" y="107251"/>
                    <a:pt x="443375" y="107728"/>
                  </a:cubicBezTo>
                  <a:cubicBezTo>
                    <a:pt x="349363" y="116395"/>
                    <a:pt x="266686" y="154019"/>
                    <a:pt x="189438" y="206121"/>
                  </a:cubicBezTo>
                  <a:cubicBezTo>
                    <a:pt x="142194" y="237934"/>
                    <a:pt x="100570" y="275368"/>
                    <a:pt x="70471" y="324326"/>
                  </a:cubicBezTo>
                  <a:cubicBezTo>
                    <a:pt x="64470" y="334042"/>
                    <a:pt x="59517" y="344329"/>
                    <a:pt x="54659" y="354616"/>
                  </a:cubicBezTo>
                  <a:cubicBezTo>
                    <a:pt x="48563" y="367475"/>
                    <a:pt x="37133" y="376428"/>
                    <a:pt x="27323" y="374904"/>
                  </a:cubicBezTo>
                  <a:cubicBezTo>
                    <a:pt x="13416" y="372904"/>
                    <a:pt x="4177" y="363665"/>
                    <a:pt x="1796" y="348044"/>
                  </a:cubicBezTo>
                  <a:cubicBezTo>
                    <a:pt x="-3824" y="311372"/>
                    <a:pt x="4177" y="276606"/>
                    <a:pt x="19798" y="243840"/>
                  </a:cubicBezTo>
                  <a:cubicBezTo>
                    <a:pt x="45801" y="189167"/>
                    <a:pt x="84854" y="144685"/>
                    <a:pt x="132669" y="108109"/>
                  </a:cubicBezTo>
                  <a:cubicBezTo>
                    <a:pt x="196391" y="59436"/>
                    <a:pt x="266591" y="23717"/>
                    <a:pt x="345648" y="7620"/>
                  </a:cubicBezTo>
                  <a:cubicBezTo>
                    <a:pt x="365174" y="3715"/>
                    <a:pt x="385082" y="2667"/>
                    <a:pt x="407275" y="0"/>
                  </a:cubicBezTo>
                  <a:close/>
                </a:path>
              </a:pathLst>
            </a:custGeom>
            <a:solidFill>
              <a:srgbClr val="A69A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任意多边形: 形状 18"/>
            <p:cNvSpPr/>
            <p:nvPr/>
          </p:nvSpPr>
          <p:spPr>
            <a:xfrm>
              <a:off x="312849" y="2776673"/>
              <a:ext cx="863851" cy="429355"/>
            </a:xfrm>
            <a:custGeom>
              <a:avLst/>
              <a:gdLst>
                <a:gd name="csX0" fmla="*/ 143412 w 419983"/>
                <a:gd name="csY0" fmla="*/ 208742 h 208742"/>
                <a:gd name="csX1" fmla="*/ 26445 w 419983"/>
                <a:gd name="csY1" fmla="*/ 170547 h 208742"/>
                <a:gd name="csX2" fmla="*/ 4347 w 419983"/>
                <a:gd name="csY2" fmla="*/ 143496 h 208742"/>
                <a:gd name="csX3" fmla="*/ 18729 w 419983"/>
                <a:gd name="csY3" fmla="*/ 99110 h 208742"/>
                <a:gd name="csX4" fmla="*/ 57210 w 419983"/>
                <a:gd name="csY4" fmla="*/ 92919 h 208742"/>
                <a:gd name="csX5" fmla="*/ 80166 w 419983"/>
                <a:gd name="csY5" fmla="*/ 99205 h 208742"/>
                <a:gd name="csX6" fmla="*/ 210277 w 419983"/>
                <a:gd name="csY6" fmla="*/ 100538 h 208742"/>
                <a:gd name="csX7" fmla="*/ 336007 w 419983"/>
                <a:gd name="csY7" fmla="*/ 31768 h 208742"/>
                <a:gd name="csX8" fmla="*/ 375822 w 419983"/>
                <a:gd name="csY8" fmla="*/ 5288 h 208742"/>
                <a:gd name="csX9" fmla="*/ 399825 w 419983"/>
                <a:gd name="csY9" fmla="*/ 50 h 208742"/>
                <a:gd name="csX10" fmla="*/ 417732 w 419983"/>
                <a:gd name="csY10" fmla="*/ 29292 h 208742"/>
                <a:gd name="csX11" fmla="*/ 321720 w 419983"/>
                <a:gd name="csY11" fmla="*/ 147973 h 208742"/>
                <a:gd name="csX12" fmla="*/ 143412 w 419983"/>
                <a:gd name="csY12" fmla="*/ 208742 h 208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19983" h="208742">
                  <a:moveTo>
                    <a:pt x="143412" y="208742"/>
                  </a:moveTo>
                  <a:cubicBezTo>
                    <a:pt x="98930" y="208076"/>
                    <a:pt x="59592" y="197884"/>
                    <a:pt x="26445" y="170547"/>
                  </a:cubicBezTo>
                  <a:cubicBezTo>
                    <a:pt x="17586" y="163213"/>
                    <a:pt x="9776" y="153593"/>
                    <a:pt x="4347" y="143496"/>
                  </a:cubicBezTo>
                  <a:cubicBezTo>
                    <a:pt x="-4893" y="126256"/>
                    <a:pt x="918" y="106825"/>
                    <a:pt x="18729" y="99110"/>
                  </a:cubicBezTo>
                  <a:cubicBezTo>
                    <a:pt x="30350" y="94062"/>
                    <a:pt x="44256" y="93300"/>
                    <a:pt x="57210" y="92919"/>
                  </a:cubicBezTo>
                  <a:cubicBezTo>
                    <a:pt x="64830" y="92633"/>
                    <a:pt x="72927" y="95967"/>
                    <a:pt x="80166" y="99205"/>
                  </a:cubicBezTo>
                  <a:cubicBezTo>
                    <a:pt x="123409" y="118826"/>
                    <a:pt x="166748" y="116255"/>
                    <a:pt x="210277" y="100538"/>
                  </a:cubicBezTo>
                  <a:cubicBezTo>
                    <a:pt x="255807" y="84155"/>
                    <a:pt x="297431" y="60915"/>
                    <a:pt x="336007" y="31768"/>
                  </a:cubicBezTo>
                  <a:cubicBezTo>
                    <a:pt x="348771" y="22148"/>
                    <a:pt x="361915" y="12909"/>
                    <a:pt x="375822" y="5288"/>
                  </a:cubicBezTo>
                  <a:cubicBezTo>
                    <a:pt x="382775" y="1479"/>
                    <a:pt x="391824" y="-331"/>
                    <a:pt x="399825" y="50"/>
                  </a:cubicBezTo>
                  <a:cubicBezTo>
                    <a:pt x="417446" y="812"/>
                    <a:pt x="423828" y="12718"/>
                    <a:pt x="417732" y="29292"/>
                  </a:cubicBezTo>
                  <a:cubicBezTo>
                    <a:pt x="399158" y="79774"/>
                    <a:pt x="365916" y="118446"/>
                    <a:pt x="321720" y="147973"/>
                  </a:cubicBezTo>
                  <a:cubicBezTo>
                    <a:pt x="267141" y="184359"/>
                    <a:pt x="207420" y="206171"/>
                    <a:pt x="143412" y="208742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37" name="组合 36"/>
            <p:cNvGrpSpPr/>
            <p:nvPr/>
          </p:nvGrpSpPr>
          <p:grpSpPr>
            <a:xfrm>
              <a:off x="568202" y="632729"/>
              <a:ext cx="379536" cy="345410"/>
              <a:chOff x="950962" y="1985807"/>
              <a:chExt cx="379536" cy="345410"/>
            </a:xfrm>
            <a:solidFill>
              <a:schemeClr val="bg1"/>
            </a:solidFill>
          </p:grpSpPr>
          <p:sp>
            <p:nvSpPr>
              <p:cNvPr id="29" name="任意多边形: 形状 28"/>
              <p:cNvSpPr/>
              <p:nvPr/>
            </p:nvSpPr>
            <p:spPr>
              <a:xfrm>
                <a:off x="1000853" y="2009228"/>
                <a:ext cx="102767" cy="90027"/>
              </a:xfrm>
              <a:custGeom>
                <a:avLst/>
                <a:gdLst>
                  <a:gd name="csX0" fmla="*/ 25665 w 49963"/>
                  <a:gd name="csY0" fmla="*/ 43767 h 43769"/>
                  <a:gd name="csX1" fmla="*/ 18140 w 49963"/>
                  <a:gd name="csY1" fmla="*/ 42338 h 43769"/>
                  <a:gd name="csX2" fmla="*/ 233 w 49963"/>
                  <a:gd name="csY2" fmla="*/ 22526 h 43769"/>
                  <a:gd name="csX3" fmla="*/ 10711 w 49963"/>
                  <a:gd name="csY3" fmla="*/ 2905 h 43769"/>
                  <a:gd name="csX4" fmla="*/ 38048 w 49963"/>
                  <a:gd name="csY4" fmla="*/ 6810 h 43769"/>
                  <a:gd name="csX5" fmla="*/ 49287 w 49963"/>
                  <a:gd name="csY5" fmla="*/ 24908 h 43769"/>
                  <a:gd name="csX6" fmla="*/ 25665 w 49963"/>
                  <a:gd name="csY6" fmla="*/ 43767 h 43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9963" h="43769">
                    <a:moveTo>
                      <a:pt x="25665" y="43767"/>
                    </a:moveTo>
                    <a:cubicBezTo>
                      <a:pt x="24046" y="43481"/>
                      <a:pt x="20998" y="43196"/>
                      <a:pt x="18140" y="42338"/>
                    </a:cubicBezTo>
                    <a:cubicBezTo>
                      <a:pt x="8234" y="39386"/>
                      <a:pt x="1662" y="33099"/>
                      <a:pt x="233" y="22526"/>
                    </a:cubicBezTo>
                    <a:cubicBezTo>
                      <a:pt x="-1005" y="13668"/>
                      <a:pt x="2710" y="6810"/>
                      <a:pt x="10711" y="2905"/>
                    </a:cubicBezTo>
                    <a:cubicBezTo>
                      <a:pt x="20522" y="-1858"/>
                      <a:pt x="30428" y="-905"/>
                      <a:pt x="38048" y="6810"/>
                    </a:cubicBezTo>
                    <a:cubicBezTo>
                      <a:pt x="42906" y="11763"/>
                      <a:pt x="46811" y="18335"/>
                      <a:pt x="49287" y="24908"/>
                    </a:cubicBezTo>
                    <a:cubicBezTo>
                      <a:pt x="52907" y="34718"/>
                      <a:pt x="41572" y="43958"/>
                      <a:pt x="25665" y="4376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0" name="任意多边形: 形状 29"/>
              <p:cNvSpPr/>
              <p:nvPr/>
            </p:nvSpPr>
            <p:spPr>
              <a:xfrm>
                <a:off x="1175504" y="2126087"/>
                <a:ext cx="88386" cy="85817"/>
              </a:xfrm>
              <a:custGeom>
                <a:avLst/>
                <a:gdLst>
                  <a:gd name="csX0" fmla="*/ 17431 w 42971"/>
                  <a:gd name="csY0" fmla="*/ 2 h 41722"/>
                  <a:gd name="csX1" fmla="*/ 42958 w 42971"/>
                  <a:gd name="csY1" fmla="*/ 26101 h 41722"/>
                  <a:gd name="csX2" fmla="*/ 24479 w 42971"/>
                  <a:gd name="csY2" fmla="*/ 41722 h 41722"/>
                  <a:gd name="csX3" fmla="*/ 0 w 42971"/>
                  <a:gd name="csY3" fmla="*/ 17052 h 41722"/>
                  <a:gd name="csX4" fmla="*/ 17431 w 42971"/>
                  <a:gd name="csY4" fmla="*/ 2 h 417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2971" h="41722">
                    <a:moveTo>
                      <a:pt x="17431" y="2"/>
                    </a:moveTo>
                    <a:cubicBezTo>
                      <a:pt x="29718" y="-188"/>
                      <a:pt x="42386" y="12766"/>
                      <a:pt x="42958" y="26101"/>
                    </a:cubicBezTo>
                    <a:cubicBezTo>
                      <a:pt x="43339" y="35245"/>
                      <a:pt x="35719" y="41626"/>
                      <a:pt x="24479" y="41722"/>
                    </a:cubicBezTo>
                    <a:cubicBezTo>
                      <a:pt x="10763" y="41817"/>
                      <a:pt x="95" y="31054"/>
                      <a:pt x="0" y="17052"/>
                    </a:cubicBezTo>
                    <a:cubicBezTo>
                      <a:pt x="0" y="7336"/>
                      <a:pt x="7239" y="193"/>
                      <a:pt x="17431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" name="任意多边形: 形状 30"/>
              <p:cNvSpPr/>
              <p:nvPr/>
            </p:nvSpPr>
            <p:spPr>
              <a:xfrm>
                <a:off x="1054211" y="2139414"/>
                <a:ext cx="94268" cy="78955"/>
              </a:xfrm>
              <a:custGeom>
                <a:avLst/>
                <a:gdLst>
                  <a:gd name="csX0" fmla="*/ 23822 w 45831"/>
                  <a:gd name="csY0" fmla="*/ 38386 h 38386"/>
                  <a:gd name="csX1" fmla="*/ 10 w 45831"/>
                  <a:gd name="csY1" fmla="*/ 18860 h 38386"/>
                  <a:gd name="csX2" fmla="*/ 22108 w 45831"/>
                  <a:gd name="csY2" fmla="*/ 1 h 38386"/>
                  <a:gd name="csX3" fmla="*/ 45825 w 45831"/>
                  <a:gd name="csY3" fmla="*/ 20384 h 38386"/>
                  <a:gd name="csX4" fmla="*/ 23822 w 45831"/>
                  <a:gd name="csY4" fmla="*/ 38386 h 383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831" h="38386">
                    <a:moveTo>
                      <a:pt x="23822" y="38386"/>
                    </a:moveTo>
                    <a:cubicBezTo>
                      <a:pt x="10678" y="38291"/>
                      <a:pt x="-371" y="29338"/>
                      <a:pt x="10" y="18860"/>
                    </a:cubicBezTo>
                    <a:cubicBezTo>
                      <a:pt x="391" y="8859"/>
                      <a:pt x="10963" y="-95"/>
                      <a:pt x="22108" y="1"/>
                    </a:cubicBezTo>
                    <a:cubicBezTo>
                      <a:pt x="34014" y="96"/>
                      <a:pt x="45444" y="10002"/>
                      <a:pt x="45825" y="20384"/>
                    </a:cubicBezTo>
                    <a:cubicBezTo>
                      <a:pt x="46111" y="30671"/>
                      <a:pt x="36681" y="38386"/>
                      <a:pt x="23822" y="3838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2" name="任意多边形: 形状 31"/>
              <p:cNvSpPr/>
              <p:nvPr/>
            </p:nvSpPr>
            <p:spPr>
              <a:xfrm>
                <a:off x="1233876" y="2061633"/>
                <a:ext cx="96622" cy="72883"/>
              </a:xfrm>
              <a:custGeom>
                <a:avLst/>
                <a:gdLst>
                  <a:gd name="csX0" fmla="*/ 21151 w 46975"/>
                  <a:gd name="csY0" fmla="*/ 1 h 35434"/>
                  <a:gd name="csX1" fmla="*/ 46963 w 46975"/>
                  <a:gd name="csY1" fmla="*/ 21242 h 35434"/>
                  <a:gd name="csX2" fmla="*/ 25437 w 46975"/>
                  <a:gd name="csY2" fmla="*/ 35434 h 35434"/>
                  <a:gd name="csX3" fmla="*/ 5 w 46975"/>
                  <a:gd name="csY3" fmla="*/ 16384 h 35434"/>
                  <a:gd name="csX4" fmla="*/ 21151 w 46975"/>
                  <a:gd name="csY4" fmla="*/ 1 h 354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6975" h="35434">
                    <a:moveTo>
                      <a:pt x="21151" y="1"/>
                    </a:moveTo>
                    <a:cubicBezTo>
                      <a:pt x="33343" y="96"/>
                      <a:pt x="47440" y="11717"/>
                      <a:pt x="46963" y="21242"/>
                    </a:cubicBezTo>
                    <a:cubicBezTo>
                      <a:pt x="46487" y="29528"/>
                      <a:pt x="37534" y="35434"/>
                      <a:pt x="25437" y="35434"/>
                    </a:cubicBezTo>
                    <a:cubicBezTo>
                      <a:pt x="11245" y="35529"/>
                      <a:pt x="-281" y="26766"/>
                      <a:pt x="5" y="16384"/>
                    </a:cubicBezTo>
                    <a:cubicBezTo>
                      <a:pt x="291" y="7240"/>
                      <a:pt x="9721" y="-94"/>
                      <a:pt x="2115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3" name="任意多边形: 形状 32"/>
              <p:cNvSpPr/>
              <p:nvPr/>
            </p:nvSpPr>
            <p:spPr>
              <a:xfrm>
                <a:off x="1126294" y="1985807"/>
                <a:ext cx="85259" cy="66032"/>
              </a:xfrm>
              <a:custGeom>
                <a:avLst/>
                <a:gdLst>
                  <a:gd name="csX0" fmla="*/ 21544 w 41451"/>
                  <a:gd name="csY0" fmla="*/ 32103 h 32103"/>
                  <a:gd name="csX1" fmla="*/ 17 w 41451"/>
                  <a:gd name="csY1" fmla="*/ 14958 h 32103"/>
                  <a:gd name="csX2" fmla="*/ 19734 w 41451"/>
                  <a:gd name="csY2" fmla="*/ 4 h 32103"/>
                  <a:gd name="csX3" fmla="*/ 41451 w 41451"/>
                  <a:gd name="csY3" fmla="*/ 19245 h 32103"/>
                  <a:gd name="csX4" fmla="*/ 21544 w 41451"/>
                  <a:gd name="csY4" fmla="*/ 32103 h 321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1451" h="32103">
                    <a:moveTo>
                      <a:pt x="21544" y="32103"/>
                    </a:moveTo>
                    <a:cubicBezTo>
                      <a:pt x="9066" y="32008"/>
                      <a:pt x="-459" y="24483"/>
                      <a:pt x="17" y="14958"/>
                    </a:cubicBezTo>
                    <a:cubicBezTo>
                      <a:pt x="398" y="6481"/>
                      <a:pt x="9161" y="-186"/>
                      <a:pt x="19734" y="4"/>
                    </a:cubicBezTo>
                    <a:cubicBezTo>
                      <a:pt x="30783" y="99"/>
                      <a:pt x="41546" y="9720"/>
                      <a:pt x="41451" y="19245"/>
                    </a:cubicBezTo>
                    <a:cubicBezTo>
                      <a:pt x="41260" y="26579"/>
                      <a:pt x="32688" y="32103"/>
                      <a:pt x="21544" y="321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4" name="任意多边形: 形状 33"/>
              <p:cNvSpPr/>
              <p:nvPr/>
            </p:nvSpPr>
            <p:spPr>
              <a:xfrm>
                <a:off x="950962" y="2182888"/>
                <a:ext cx="83141" cy="64868"/>
              </a:xfrm>
              <a:custGeom>
                <a:avLst/>
                <a:gdLst>
                  <a:gd name="csX0" fmla="*/ 24109 w 40421"/>
                  <a:gd name="csY0" fmla="*/ 31537 h 31537"/>
                  <a:gd name="csX1" fmla="*/ 10 w 40421"/>
                  <a:gd name="csY1" fmla="*/ 14392 h 31537"/>
                  <a:gd name="csX2" fmla="*/ 20108 w 40421"/>
                  <a:gd name="csY2" fmla="*/ 10 h 31537"/>
                  <a:gd name="csX3" fmla="*/ 40396 w 40421"/>
                  <a:gd name="csY3" fmla="*/ 18964 h 31537"/>
                  <a:gd name="csX4" fmla="*/ 24109 w 40421"/>
                  <a:gd name="csY4" fmla="*/ 31537 h 315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421" h="31537">
                    <a:moveTo>
                      <a:pt x="24109" y="31537"/>
                    </a:moveTo>
                    <a:cubicBezTo>
                      <a:pt x="9916" y="31251"/>
                      <a:pt x="-371" y="23631"/>
                      <a:pt x="10" y="14392"/>
                    </a:cubicBezTo>
                    <a:cubicBezTo>
                      <a:pt x="391" y="5915"/>
                      <a:pt x="9059" y="-276"/>
                      <a:pt x="20108" y="10"/>
                    </a:cubicBezTo>
                    <a:cubicBezTo>
                      <a:pt x="31633" y="390"/>
                      <a:pt x="40968" y="8772"/>
                      <a:pt x="40396" y="18964"/>
                    </a:cubicBezTo>
                    <a:cubicBezTo>
                      <a:pt x="39730" y="29632"/>
                      <a:pt x="31729" y="31156"/>
                      <a:pt x="24109" y="315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5" name="任意多边形: 形状 34"/>
              <p:cNvSpPr/>
              <p:nvPr/>
            </p:nvSpPr>
            <p:spPr>
              <a:xfrm>
                <a:off x="1051278" y="2266360"/>
                <a:ext cx="81717" cy="64857"/>
              </a:xfrm>
              <a:custGeom>
                <a:avLst/>
                <a:gdLst>
                  <a:gd name="csX0" fmla="*/ 19724 w 39729"/>
                  <a:gd name="csY0" fmla="*/ 31532 h 31532"/>
                  <a:gd name="csX1" fmla="*/ 7 w 39729"/>
                  <a:gd name="csY1" fmla="*/ 15434 h 31532"/>
                  <a:gd name="csX2" fmla="*/ 20676 w 39729"/>
                  <a:gd name="csY2" fmla="*/ 4 h 31532"/>
                  <a:gd name="csX3" fmla="*/ 39726 w 39729"/>
                  <a:gd name="csY3" fmla="*/ 15815 h 31532"/>
                  <a:gd name="csX4" fmla="*/ 19724 w 39729"/>
                  <a:gd name="csY4" fmla="*/ 31532 h 31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9729" h="31532">
                    <a:moveTo>
                      <a:pt x="19724" y="31532"/>
                    </a:moveTo>
                    <a:cubicBezTo>
                      <a:pt x="8008" y="31436"/>
                      <a:pt x="-279" y="24674"/>
                      <a:pt x="7" y="15434"/>
                    </a:cubicBezTo>
                    <a:cubicBezTo>
                      <a:pt x="198" y="6671"/>
                      <a:pt x="9342" y="-187"/>
                      <a:pt x="20676" y="4"/>
                    </a:cubicBezTo>
                    <a:cubicBezTo>
                      <a:pt x="31535" y="194"/>
                      <a:pt x="39441" y="6767"/>
                      <a:pt x="39726" y="15815"/>
                    </a:cubicBezTo>
                    <a:cubicBezTo>
                      <a:pt x="39917" y="24959"/>
                      <a:pt x="31440" y="31627"/>
                      <a:pt x="19724" y="3153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" name="任意多边形: 形状 35"/>
              <p:cNvSpPr/>
              <p:nvPr/>
            </p:nvSpPr>
            <p:spPr>
              <a:xfrm>
                <a:off x="1159829" y="2268324"/>
                <a:ext cx="81629" cy="59213"/>
              </a:xfrm>
              <a:custGeom>
                <a:avLst/>
                <a:gdLst>
                  <a:gd name="csX0" fmla="*/ 18289 w 39686"/>
                  <a:gd name="csY0" fmla="*/ 1 h 28788"/>
                  <a:gd name="csX1" fmla="*/ 39625 w 39686"/>
                  <a:gd name="csY1" fmla="*/ 15718 h 28788"/>
                  <a:gd name="csX2" fmla="*/ 21337 w 39686"/>
                  <a:gd name="csY2" fmla="*/ 28767 h 28788"/>
                  <a:gd name="csX3" fmla="*/ 1 w 39686"/>
                  <a:gd name="csY3" fmla="*/ 12955 h 28788"/>
                  <a:gd name="csX4" fmla="*/ 18289 w 39686"/>
                  <a:gd name="csY4" fmla="*/ 1 h 287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9686" h="28788">
                    <a:moveTo>
                      <a:pt x="18289" y="1"/>
                    </a:moveTo>
                    <a:cubicBezTo>
                      <a:pt x="30385" y="97"/>
                      <a:pt x="40577" y="7240"/>
                      <a:pt x="39625" y="15718"/>
                    </a:cubicBezTo>
                    <a:cubicBezTo>
                      <a:pt x="38482" y="26386"/>
                      <a:pt x="30195" y="28481"/>
                      <a:pt x="21337" y="28767"/>
                    </a:cubicBezTo>
                    <a:cubicBezTo>
                      <a:pt x="9621" y="29243"/>
                      <a:pt x="-95" y="21718"/>
                      <a:pt x="1" y="12955"/>
                    </a:cubicBezTo>
                    <a:cubicBezTo>
                      <a:pt x="191" y="5145"/>
                      <a:pt x="7525" y="-94"/>
                      <a:pt x="18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 userDrawn="1"/>
        </p:nvGrpSpPr>
        <p:grpSpPr>
          <a:xfrm>
            <a:off x="2137297" y="6389289"/>
            <a:ext cx="7925402" cy="344241"/>
            <a:chOff x="2137297" y="2966921"/>
            <a:chExt cx="7925402" cy="344241"/>
          </a:xfrm>
        </p:grpSpPr>
        <p:sp>
          <p:nvSpPr>
            <p:cNvPr id="39" name="任意多边形: 形状 38"/>
            <p:cNvSpPr/>
            <p:nvPr/>
          </p:nvSpPr>
          <p:spPr>
            <a:xfrm>
              <a:off x="2137297" y="3021133"/>
              <a:ext cx="7925402" cy="290029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flipV="1">
              <a:off x="3073704" y="2966921"/>
              <a:ext cx="6052588" cy="221494"/>
            </a:xfrm>
            <a:custGeom>
              <a:avLst/>
              <a:gdLst>
                <a:gd name="csX0" fmla="*/ 0 w 7925402"/>
                <a:gd name="csY0" fmla="*/ 0 h 290029"/>
                <a:gd name="csX1" fmla="*/ 3471422 w 7925402"/>
                <a:gd name="csY1" fmla="*/ 0 h 290029"/>
                <a:gd name="csX2" fmla="*/ 3896055 w 7925402"/>
                <a:gd name="csY2" fmla="*/ 175889 h 290029"/>
                <a:gd name="csX3" fmla="*/ 3958703 w 7925402"/>
                <a:gd name="csY3" fmla="*/ 251819 h 290029"/>
                <a:gd name="csX4" fmla="*/ 4021352 w 7925402"/>
                <a:gd name="csY4" fmla="*/ 175889 h 290029"/>
                <a:gd name="csX5" fmla="*/ 4445984 w 7925402"/>
                <a:gd name="csY5" fmla="*/ 0 h 290029"/>
                <a:gd name="csX6" fmla="*/ 7925402 w 7925402"/>
                <a:gd name="csY6" fmla="*/ 0 h 290029"/>
                <a:gd name="csX7" fmla="*/ 7896563 w 7925402"/>
                <a:gd name="csY7" fmla="*/ 29275 h 290029"/>
                <a:gd name="csX8" fmla="*/ 7889413 w 7925402"/>
                <a:gd name="csY8" fmla="*/ 38210 h 290029"/>
                <a:gd name="csX9" fmla="*/ 4431720 w 7925402"/>
                <a:gd name="csY9" fmla="*/ 38210 h 290029"/>
                <a:gd name="csX10" fmla="*/ 4019518 w 7925402"/>
                <a:gd name="csY10" fmla="*/ 214099 h 290029"/>
                <a:gd name="csX11" fmla="*/ 3958703 w 7925402"/>
                <a:gd name="csY11" fmla="*/ 290029 h 290029"/>
                <a:gd name="csX12" fmla="*/ 3897889 w 7925402"/>
                <a:gd name="csY12" fmla="*/ 214099 h 290029"/>
                <a:gd name="csX13" fmla="*/ 3485686 w 7925402"/>
                <a:gd name="csY13" fmla="*/ 38210 h 290029"/>
                <a:gd name="csX14" fmla="*/ 35990 w 7925402"/>
                <a:gd name="csY14" fmla="*/ 38210 h 290029"/>
                <a:gd name="csX15" fmla="*/ 28839 w 7925402"/>
                <a:gd name="csY15" fmla="*/ 29275 h 2900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402" h="290029">
                  <a:moveTo>
                    <a:pt x="0" y="0"/>
                  </a:moveTo>
                  <a:lnTo>
                    <a:pt x="3471422" y="0"/>
                  </a:lnTo>
                  <a:cubicBezTo>
                    <a:pt x="3637251" y="0"/>
                    <a:pt x="3787382" y="67216"/>
                    <a:pt x="3896055" y="175889"/>
                  </a:cubicBezTo>
                  <a:lnTo>
                    <a:pt x="3958703" y="251819"/>
                  </a:lnTo>
                  <a:lnTo>
                    <a:pt x="4021352" y="175889"/>
                  </a:lnTo>
                  <a:cubicBezTo>
                    <a:pt x="4130025" y="67216"/>
                    <a:pt x="4280155" y="0"/>
                    <a:pt x="4445984" y="0"/>
                  </a:cubicBezTo>
                  <a:lnTo>
                    <a:pt x="7925402" y="0"/>
                  </a:lnTo>
                  <a:lnTo>
                    <a:pt x="7896563" y="29275"/>
                  </a:lnTo>
                  <a:lnTo>
                    <a:pt x="7889413" y="38210"/>
                  </a:lnTo>
                  <a:lnTo>
                    <a:pt x="4431720" y="38210"/>
                  </a:lnTo>
                  <a:cubicBezTo>
                    <a:pt x="4270745" y="38210"/>
                    <a:pt x="4125010" y="105426"/>
                    <a:pt x="4019518" y="214099"/>
                  </a:cubicBezTo>
                  <a:lnTo>
                    <a:pt x="3958703" y="290029"/>
                  </a:lnTo>
                  <a:lnTo>
                    <a:pt x="3897889" y="214099"/>
                  </a:lnTo>
                  <a:cubicBezTo>
                    <a:pt x="3792397" y="105426"/>
                    <a:pt x="3646661" y="38210"/>
                    <a:pt x="3485686" y="38210"/>
                  </a:cubicBezTo>
                  <a:lnTo>
                    <a:pt x="35990" y="38210"/>
                  </a:lnTo>
                  <a:lnTo>
                    <a:pt x="28839" y="29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754743" y="54752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BF9E6"/>
                </a:solidFill>
              </a:rPr>
              <a:t>51PPT模板网，幻灯片演示模板及素材免费下载！</a:t>
            </a:r>
            <a:endParaRPr lang="zh-CN" altLang="en-US" dirty="0">
              <a:solidFill>
                <a:srgbClr val="FBF9E6"/>
              </a:solidFill>
            </a:endParaRPr>
          </a:p>
          <a:p>
            <a:r>
              <a:rPr lang="zh-CN" altLang="en-US" dirty="0">
                <a:solidFill>
                  <a:srgbClr val="FBF9E6"/>
                </a:solidFill>
              </a:rPr>
              <a:t>51PPT模板网 唯一访问网址：www.51pptmoban.com。</a:t>
            </a:r>
            <a:endParaRPr lang="zh-CN" altLang="en-US" dirty="0">
              <a:solidFill>
                <a:srgbClr val="FBF9E6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F826F1-9EAB-4C3D-88C1-F52CB23005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EF0A40-0A19-4597-88CB-E4589B3B03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27.png"/><Relationship Id="rId7" Type="http://schemas.openxmlformats.org/officeDocument/2006/relationships/image" Target="../media/image4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20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5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5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8.png"/><Relationship Id="rId4" Type="http://schemas.openxmlformats.org/officeDocument/2006/relationships/image" Target="../media/image56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45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58.png"/><Relationship Id="rId11" Type="http://schemas.openxmlformats.org/officeDocument/2006/relationships/image" Target="../media/image8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88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88.png"/><Relationship Id="rId6" Type="http://schemas.openxmlformats.org/officeDocument/2006/relationships/image" Target="../media/image41.png"/><Relationship Id="rId7" Type="http://schemas.openxmlformats.org/officeDocument/2006/relationships/image" Target="../media/image52.png"/><Relationship Id="rId8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7.png"/><Relationship Id="rId4" Type="http://schemas.openxmlformats.org/officeDocument/2006/relationships/image" Target="../media/image36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1.png"/><Relationship Id="rId4" Type="http://schemas.openxmlformats.org/officeDocument/2006/relationships/image" Target="../media/image50.png"/><Relationship Id="rId5" Type="http://schemas.openxmlformats.org/officeDocument/2006/relationships/image" Target="../media/image92.png"/><Relationship Id="rId6" Type="http://schemas.openxmlformats.org/officeDocument/2006/relationships/image" Target="../media/image51.png"/><Relationship Id="rId7" Type="http://schemas.openxmlformats.org/officeDocument/2006/relationships/image" Target="../media/image21.png"/><Relationship Id="rId8" Type="http://schemas.openxmlformats.org/officeDocument/2006/relationships/image" Target="../media/image93.png"/><Relationship Id="rId9" Type="http://schemas.openxmlformats.org/officeDocument/2006/relationships/image" Target="../media/image79.png"/><Relationship Id="rId10" Type="http://schemas.openxmlformats.org/officeDocument/2006/relationships/image" Target="../media/image1.png"/><Relationship Id="rId11" Type="http://schemas.openxmlformats.org/officeDocument/2006/relationships/image" Target="../media/image49.png"/><Relationship Id="rId1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9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35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75.png"/><Relationship Id="rId12" Type="http://schemas.openxmlformats.org/officeDocument/2006/relationships/image" Target="../media/image1.png"/><Relationship Id="rId13" Type="http://schemas.openxmlformats.org/officeDocument/2006/relationships/image" Target="../media/image33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32.png"/><Relationship Id="rId18" Type="http://schemas.openxmlformats.org/officeDocument/2006/relationships/image" Target="../media/image34.png"/><Relationship Id="rId19" Type="http://schemas.openxmlformats.org/officeDocument/2006/relationships/image" Target="../media/image105.png"/><Relationship Id="rId20" Type="http://schemas.openxmlformats.org/officeDocument/2006/relationships/image" Target="../media/image20.png"/><Relationship Id="rId21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9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62.png"/><Relationship Id="rId7" Type="http://schemas.openxmlformats.org/officeDocument/2006/relationships/image" Target="../media/image110.png"/><Relationship Id="rId8" Type="http://schemas.openxmlformats.org/officeDocument/2006/relationships/image" Target="../media/image75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113.png"/><Relationship Id="rId5" Type="http://schemas.openxmlformats.org/officeDocument/2006/relationships/image" Target="../media/image4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Relationship Id="rId4" Type="http://schemas.openxmlformats.org/officeDocument/2006/relationships/image" Target="../media/image95.png"/><Relationship Id="rId5" Type="http://schemas.openxmlformats.org/officeDocument/2006/relationships/image" Target="../media/image68.png"/><Relationship Id="rId6" Type="http://schemas.openxmlformats.org/officeDocument/2006/relationships/image" Target="../media/image92.png"/><Relationship Id="rId7" Type="http://schemas.openxmlformats.org/officeDocument/2006/relationships/image" Target="../media/image1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119.png"/><Relationship Id="rId5" Type="http://schemas.openxmlformats.org/officeDocument/2006/relationships/image" Target="../media/image6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0.png"/><Relationship Id="rId4" Type="http://schemas.openxmlformats.org/officeDocument/2006/relationships/image" Target="../media/image1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97.png"/><Relationship Id="rId8" Type="http://schemas.openxmlformats.org/officeDocument/2006/relationships/image" Target="../media/image123.png"/><Relationship Id="rId9" Type="http://schemas.openxmlformats.org/officeDocument/2006/relationships/image" Target="../media/image81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Relationship Id="rId4" Type="http://schemas.openxmlformats.org/officeDocument/2006/relationships/image" Target="../media/image95.png"/><Relationship Id="rId5" Type="http://schemas.openxmlformats.org/officeDocument/2006/relationships/image" Target="../media/image37.png"/><Relationship Id="rId6" Type="http://schemas.openxmlformats.org/officeDocument/2006/relationships/image" Target="../media/image126.png"/><Relationship Id="rId7" Type="http://schemas.openxmlformats.org/officeDocument/2006/relationships/image" Target="../media/image56.png"/><Relationship Id="rId8" Type="http://schemas.openxmlformats.org/officeDocument/2006/relationships/image" Target="../media/image1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8.png"/><Relationship Id="rId4" Type="http://schemas.openxmlformats.org/officeDocument/2006/relationships/image" Target="../media/image127.png"/><Relationship Id="rId5" Type="http://schemas.openxmlformats.org/officeDocument/2006/relationships/image" Target="../media/image93.png"/><Relationship Id="rId6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8.png"/><Relationship Id="rId8" Type="http://schemas.openxmlformats.org/officeDocument/2006/relationships/image" Target="../media/image68.png"/><Relationship Id="rId9" Type="http://schemas.openxmlformats.org/officeDocument/2006/relationships/image" Target="../media/image1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.png"/><Relationship Id="rId8" Type="http://schemas.openxmlformats.org/officeDocument/2006/relationships/image" Target="../media/image61.png"/><Relationship Id="rId9" Type="http://schemas.openxmlformats.org/officeDocument/2006/relationships/image" Target="../media/image1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1.xml"/><Relationship Id="rId4" Type="http://schemas.openxmlformats.org/officeDocument/2006/relationships/image" Target="../media/image68.png"/><Relationship Id="rId5" Type="http://schemas.openxmlformats.org/officeDocument/2006/relationships/image" Target="../media/image130.png"/><Relationship Id="rId6" Type="http://schemas.openxmlformats.org/officeDocument/2006/relationships/image" Target="../media/image27.png"/><Relationship Id="rId7" Type="http://schemas.openxmlformats.org/officeDocument/2006/relationships/image" Target="../media/image134.png"/><Relationship Id="rId8" Type="http://schemas.openxmlformats.org/officeDocument/2006/relationships/image" Target="../media/image2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13.png"/><Relationship Id="rId7" Type="http://schemas.openxmlformats.org/officeDocument/2006/relationships/image" Target="../media/image1.png"/><Relationship Id="rId8" Type="http://schemas.openxmlformats.org/officeDocument/2006/relationships/image" Target="../media/image2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chart" Target="../charts/chart2.xml"/><Relationship Id="rId4" Type="http://schemas.openxmlformats.org/officeDocument/2006/relationships/image" Target="../media/image138.png"/><Relationship Id="rId5" Type="http://schemas.openxmlformats.org/officeDocument/2006/relationships/image" Target="../media/image135.png"/><Relationship Id="rId6" Type="http://schemas.openxmlformats.org/officeDocument/2006/relationships/image" Target="../media/image50.png"/><Relationship Id="rId7" Type="http://schemas.openxmlformats.org/officeDocument/2006/relationships/image" Target="../media/image1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0.png"/><Relationship Id="rId4" Type="http://schemas.openxmlformats.org/officeDocument/2006/relationships/image" Target="../media/image84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5.png"/><Relationship Id="rId4" Type="http://schemas.openxmlformats.org/officeDocument/2006/relationships/image" Target="../media/image8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0.png"/><Relationship Id="rId4" Type="http://schemas.openxmlformats.org/officeDocument/2006/relationships/image" Target="../media/image149.png"/><Relationship Id="rId5" Type="http://schemas.openxmlformats.org/officeDocument/2006/relationships/image" Target="../media/image77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6.png"/><Relationship Id="rId4" Type="http://schemas.openxmlformats.org/officeDocument/2006/relationships/image" Target="../media/image142.png"/><Relationship Id="rId5" Type="http://schemas.openxmlformats.org/officeDocument/2006/relationships/image" Target="../media/image109.png"/><Relationship Id="rId6" Type="http://schemas.openxmlformats.org/officeDocument/2006/relationships/image" Target="../media/image77.png"/><Relationship Id="rId7" Type="http://schemas.openxmlformats.org/officeDocument/2006/relationships/image" Target="../media/image151.png"/><Relationship Id="rId8" Type="http://schemas.openxmlformats.org/officeDocument/2006/relationships/image" Target="../media/image130.png"/><Relationship Id="rId9" Type="http://schemas.openxmlformats.org/officeDocument/2006/relationships/image" Target="../media/image3.png"/><Relationship Id="rId10" Type="http://schemas.openxmlformats.org/officeDocument/2006/relationships/image" Target="../media/image4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6.png"/><Relationship Id="rId6" Type="http://schemas.openxmlformats.org/officeDocument/2006/relationships/image" Target="../media/image15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 descr="D:\51PPT模板网\51pptmoban.com\图片.jpg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 descr="D:\51PPT模板网\51pptmoban.com\图片.jpg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15" name="任意多边形: 形状 214"/>
          <p:cNvSpPr/>
          <p:nvPr/>
        </p:nvSpPr>
        <p:spPr>
          <a:xfrm>
            <a:off x="3936491" y="3276577"/>
            <a:ext cx="4319018" cy="699006"/>
          </a:xfrm>
          <a:custGeom>
            <a:avLst/>
            <a:gdLst>
              <a:gd name="csX0" fmla="*/ 2415778 w 2635182"/>
              <a:gd name="csY0" fmla="*/ 415234 h 506006"/>
              <a:gd name="csX1" fmla="*/ 2345198 w 2635182"/>
              <a:gd name="csY1" fmla="*/ 397994 h 506006"/>
              <a:gd name="csX2" fmla="*/ 2312051 w 2635182"/>
              <a:gd name="csY2" fmla="*/ 406947 h 506006"/>
              <a:gd name="csX3" fmla="*/ 2117170 w 2635182"/>
              <a:gd name="csY3" fmla="*/ 448190 h 506006"/>
              <a:gd name="csX4" fmla="*/ 2064401 w 2635182"/>
              <a:gd name="csY4" fmla="*/ 436380 h 506006"/>
              <a:gd name="csX5" fmla="*/ 1974866 w 2635182"/>
              <a:gd name="csY5" fmla="*/ 421616 h 506006"/>
              <a:gd name="csX6" fmla="*/ 1945910 w 2635182"/>
              <a:gd name="csY6" fmla="*/ 418377 h 506006"/>
              <a:gd name="csX7" fmla="*/ 1879902 w 2635182"/>
              <a:gd name="csY7" fmla="*/ 420187 h 506006"/>
              <a:gd name="csX8" fmla="*/ 1846374 w 2635182"/>
              <a:gd name="csY8" fmla="*/ 425235 h 506006"/>
              <a:gd name="csX9" fmla="*/ 1710547 w 2635182"/>
              <a:gd name="csY9" fmla="*/ 424950 h 506006"/>
              <a:gd name="csX10" fmla="*/ 1675019 w 2635182"/>
              <a:gd name="csY10" fmla="*/ 424473 h 506006"/>
              <a:gd name="csX11" fmla="*/ 1576340 w 2635182"/>
              <a:gd name="csY11" fmla="*/ 431236 h 506006"/>
              <a:gd name="csX12" fmla="*/ 1533954 w 2635182"/>
              <a:gd name="csY12" fmla="*/ 434093 h 506006"/>
              <a:gd name="csX13" fmla="*/ 1434798 w 2635182"/>
              <a:gd name="csY13" fmla="*/ 441999 h 506006"/>
              <a:gd name="csX14" fmla="*/ 1385554 w 2635182"/>
              <a:gd name="csY14" fmla="*/ 448095 h 506006"/>
              <a:gd name="csX15" fmla="*/ 1255919 w 2635182"/>
              <a:gd name="csY15" fmla="*/ 454001 h 506006"/>
              <a:gd name="csX16" fmla="*/ 1209056 w 2635182"/>
              <a:gd name="csY16" fmla="*/ 456572 h 506006"/>
              <a:gd name="csX17" fmla="*/ 1121331 w 2635182"/>
              <a:gd name="csY17" fmla="*/ 465240 h 506006"/>
              <a:gd name="csX18" fmla="*/ 1050084 w 2635182"/>
              <a:gd name="csY18" fmla="*/ 472193 h 506006"/>
              <a:gd name="csX19" fmla="*/ 893017 w 2635182"/>
              <a:gd name="csY19" fmla="*/ 463716 h 506006"/>
              <a:gd name="csX20" fmla="*/ 855297 w 2635182"/>
              <a:gd name="csY20" fmla="*/ 438284 h 506006"/>
              <a:gd name="csX21" fmla="*/ 818912 w 2635182"/>
              <a:gd name="csY21" fmla="*/ 442380 h 506006"/>
              <a:gd name="csX22" fmla="*/ 645271 w 2635182"/>
              <a:gd name="csY22" fmla="*/ 499626 h 506006"/>
              <a:gd name="csX23" fmla="*/ 484204 w 2635182"/>
              <a:gd name="csY23" fmla="*/ 449048 h 506006"/>
              <a:gd name="csX24" fmla="*/ 445056 w 2635182"/>
              <a:gd name="csY24" fmla="*/ 430664 h 506006"/>
              <a:gd name="csX25" fmla="*/ 406194 w 2635182"/>
              <a:gd name="csY25" fmla="*/ 434189 h 506006"/>
              <a:gd name="csX26" fmla="*/ 275701 w 2635182"/>
              <a:gd name="csY26" fmla="*/ 463145 h 506006"/>
              <a:gd name="csX27" fmla="*/ 245793 w 2635182"/>
              <a:gd name="csY27" fmla="*/ 470003 h 506006"/>
              <a:gd name="csX28" fmla="*/ 104061 w 2635182"/>
              <a:gd name="csY28" fmla="*/ 495720 h 506006"/>
              <a:gd name="csX29" fmla="*/ 810 w 2635182"/>
              <a:gd name="csY29" fmla="*/ 393612 h 506006"/>
              <a:gd name="csX30" fmla="*/ 3096 w 2635182"/>
              <a:gd name="csY30" fmla="*/ 350655 h 506006"/>
              <a:gd name="csX31" fmla="*/ 75962 w 2635182"/>
              <a:gd name="csY31" fmla="*/ 189396 h 506006"/>
              <a:gd name="csX32" fmla="*/ 178261 w 2635182"/>
              <a:gd name="csY32" fmla="*/ 112434 h 506006"/>
              <a:gd name="csX33" fmla="*/ 331232 w 2635182"/>
              <a:gd name="csY33" fmla="*/ 143009 h 506006"/>
              <a:gd name="csX34" fmla="*/ 354759 w 2635182"/>
              <a:gd name="csY34" fmla="*/ 155392 h 506006"/>
              <a:gd name="csX35" fmla="*/ 407908 w 2635182"/>
              <a:gd name="csY35" fmla="*/ 175109 h 506006"/>
              <a:gd name="csX36" fmla="*/ 481251 w 2635182"/>
              <a:gd name="csY36" fmla="*/ 162917 h 506006"/>
              <a:gd name="csX37" fmla="*/ 584311 w 2635182"/>
              <a:gd name="csY37" fmla="*/ 117006 h 506006"/>
              <a:gd name="csX38" fmla="*/ 618506 w 2635182"/>
              <a:gd name="csY38" fmla="*/ 106814 h 506006"/>
              <a:gd name="csX39" fmla="*/ 757666 w 2635182"/>
              <a:gd name="csY39" fmla="*/ 101957 h 506006"/>
              <a:gd name="csX40" fmla="*/ 780717 w 2635182"/>
              <a:gd name="csY40" fmla="*/ 111672 h 506006"/>
              <a:gd name="csX41" fmla="*/ 817197 w 2635182"/>
              <a:gd name="csY41" fmla="*/ 105005 h 506006"/>
              <a:gd name="csX42" fmla="*/ 946738 w 2635182"/>
              <a:gd name="csY42" fmla="*/ 74525 h 506006"/>
              <a:gd name="csX43" fmla="*/ 985790 w 2635182"/>
              <a:gd name="csY43" fmla="*/ 62333 h 506006"/>
              <a:gd name="csX44" fmla="*/ 1015222 w 2635182"/>
              <a:gd name="csY44" fmla="*/ 37092 h 506006"/>
              <a:gd name="csX45" fmla="*/ 1177623 w 2635182"/>
              <a:gd name="csY45" fmla="*/ 44330 h 506006"/>
              <a:gd name="csX46" fmla="*/ 1210294 w 2635182"/>
              <a:gd name="csY46" fmla="*/ 58427 h 506006"/>
              <a:gd name="csX47" fmla="*/ 1259062 w 2635182"/>
              <a:gd name="csY47" fmla="*/ 69191 h 506006"/>
              <a:gd name="csX48" fmla="*/ 1286971 w 2635182"/>
              <a:gd name="csY48" fmla="*/ 65762 h 506006"/>
              <a:gd name="csX49" fmla="*/ 1432417 w 2635182"/>
              <a:gd name="csY49" fmla="*/ 48998 h 506006"/>
              <a:gd name="csX50" fmla="*/ 1463659 w 2635182"/>
              <a:gd name="csY50" fmla="*/ 42616 h 506006"/>
              <a:gd name="csX51" fmla="*/ 1582341 w 2635182"/>
              <a:gd name="csY51" fmla="*/ 15946 h 506006"/>
              <a:gd name="csX52" fmla="*/ 1647492 w 2635182"/>
              <a:gd name="csY52" fmla="*/ 47664 h 506006"/>
              <a:gd name="csX53" fmla="*/ 1684068 w 2635182"/>
              <a:gd name="csY53" fmla="*/ 64619 h 506006"/>
              <a:gd name="csX54" fmla="*/ 1731883 w 2635182"/>
              <a:gd name="csY54" fmla="*/ 79287 h 506006"/>
              <a:gd name="csX55" fmla="*/ 1757029 w 2635182"/>
              <a:gd name="csY55" fmla="*/ 76430 h 506006"/>
              <a:gd name="csX56" fmla="*/ 1907048 w 2635182"/>
              <a:gd name="csY56" fmla="*/ 54617 h 506006"/>
              <a:gd name="csX57" fmla="*/ 1935623 w 2635182"/>
              <a:gd name="csY57" fmla="*/ 55760 h 506006"/>
              <a:gd name="csX58" fmla="*/ 2030111 w 2635182"/>
              <a:gd name="csY58" fmla="*/ 54998 h 506006"/>
              <a:gd name="csX59" fmla="*/ 2062020 w 2635182"/>
              <a:gd name="csY59" fmla="*/ 44997 h 506006"/>
              <a:gd name="csX60" fmla="*/ 2263474 w 2635182"/>
              <a:gd name="csY60" fmla="*/ 46997 h 506006"/>
              <a:gd name="csX61" fmla="*/ 2300716 w 2635182"/>
              <a:gd name="csY61" fmla="*/ 72143 h 506006"/>
              <a:gd name="csX62" fmla="*/ 2346817 w 2635182"/>
              <a:gd name="csY62" fmla="*/ 96337 h 506006"/>
              <a:gd name="csX63" fmla="*/ 2373964 w 2635182"/>
              <a:gd name="csY63" fmla="*/ 106148 h 506006"/>
              <a:gd name="csX64" fmla="*/ 2441115 w 2635182"/>
              <a:gd name="csY64" fmla="*/ 117673 h 506006"/>
              <a:gd name="csX65" fmla="*/ 2468261 w 2635182"/>
              <a:gd name="csY65" fmla="*/ 120626 h 506006"/>
              <a:gd name="csX66" fmla="*/ 2558082 w 2635182"/>
              <a:gd name="csY66" fmla="*/ 159297 h 506006"/>
              <a:gd name="csX67" fmla="*/ 2585895 w 2635182"/>
              <a:gd name="csY67" fmla="*/ 178633 h 506006"/>
              <a:gd name="csX68" fmla="*/ 2622185 w 2635182"/>
              <a:gd name="csY68" fmla="*/ 294743 h 506006"/>
              <a:gd name="csX69" fmla="*/ 2560178 w 2635182"/>
              <a:gd name="csY69" fmla="*/ 360560 h 506006"/>
              <a:gd name="csX70" fmla="*/ 2484168 w 2635182"/>
              <a:gd name="csY70" fmla="*/ 401994 h 506006"/>
              <a:gd name="csX71" fmla="*/ 2415778 w 2635182"/>
              <a:gd name="csY71" fmla="*/ 415234 h 5060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635182" h="506006">
                <a:moveTo>
                  <a:pt x="2415778" y="415234"/>
                </a:moveTo>
                <a:cubicBezTo>
                  <a:pt x="2390537" y="416377"/>
                  <a:pt x="2368058" y="406280"/>
                  <a:pt x="2345198" y="397994"/>
                </a:cubicBezTo>
                <a:cubicBezTo>
                  <a:pt x="2327101" y="391422"/>
                  <a:pt x="2324624" y="391802"/>
                  <a:pt x="2312051" y="406947"/>
                </a:cubicBezTo>
                <a:cubicBezTo>
                  <a:pt x="2263378" y="465621"/>
                  <a:pt x="2184702" y="479051"/>
                  <a:pt x="2117170" y="448190"/>
                </a:cubicBezTo>
                <a:cubicBezTo>
                  <a:pt x="2100025" y="440380"/>
                  <a:pt x="2083070" y="435713"/>
                  <a:pt x="2064401" y="436380"/>
                </a:cubicBezTo>
                <a:cubicBezTo>
                  <a:pt x="2033635" y="437522"/>
                  <a:pt x="2003822" y="432665"/>
                  <a:pt x="1974866" y="421616"/>
                </a:cubicBezTo>
                <a:cubicBezTo>
                  <a:pt x="1966103" y="418282"/>
                  <a:pt x="1955626" y="418282"/>
                  <a:pt x="1945910" y="418377"/>
                </a:cubicBezTo>
                <a:cubicBezTo>
                  <a:pt x="1923907" y="418472"/>
                  <a:pt x="1901809" y="419044"/>
                  <a:pt x="1879902" y="420187"/>
                </a:cubicBezTo>
                <a:cubicBezTo>
                  <a:pt x="1868662" y="420854"/>
                  <a:pt x="1856756" y="421330"/>
                  <a:pt x="1846374" y="425235"/>
                </a:cubicBezTo>
                <a:cubicBezTo>
                  <a:pt x="1800844" y="442380"/>
                  <a:pt x="1755791" y="443904"/>
                  <a:pt x="1710547" y="424950"/>
                </a:cubicBezTo>
                <a:cubicBezTo>
                  <a:pt x="1698641" y="419997"/>
                  <a:pt x="1687021" y="419806"/>
                  <a:pt x="1675019" y="424473"/>
                </a:cubicBezTo>
                <a:cubicBezTo>
                  <a:pt x="1642825" y="437142"/>
                  <a:pt x="1610249" y="438475"/>
                  <a:pt x="1576340" y="431236"/>
                </a:cubicBezTo>
                <a:cubicBezTo>
                  <a:pt x="1562910" y="428378"/>
                  <a:pt x="1547194" y="429902"/>
                  <a:pt x="1533954" y="434093"/>
                </a:cubicBezTo>
                <a:cubicBezTo>
                  <a:pt x="1501188" y="444285"/>
                  <a:pt x="1468422" y="447619"/>
                  <a:pt x="1434798" y="441999"/>
                </a:cubicBezTo>
                <a:cubicBezTo>
                  <a:pt x="1417654" y="439142"/>
                  <a:pt x="1401461" y="441809"/>
                  <a:pt x="1385554" y="448095"/>
                </a:cubicBezTo>
                <a:cubicBezTo>
                  <a:pt x="1342978" y="464955"/>
                  <a:pt x="1299829" y="466859"/>
                  <a:pt x="1255919" y="454001"/>
                </a:cubicBezTo>
                <a:cubicBezTo>
                  <a:pt x="1240107" y="449429"/>
                  <a:pt x="1224963" y="450667"/>
                  <a:pt x="1209056" y="456572"/>
                </a:cubicBezTo>
                <a:cubicBezTo>
                  <a:pt x="1180862" y="467145"/>
                  <a:pt x="1151144" y="470003"/>
                  <a:pt x="1121331" y="465240"/>
                </a:cubicBezTo>
                <a:cubicBezTo>
                  <a:pt x="1096661" y="461240"/>
                  <a:pt x="1073896" y="462954"/>
                  <a:pt x="1050084" y="472193"/>
                </a:cubicBezTo>
                <a:cubicBezTo>
                  <a:pt x="997030" y="492768"/>
                  <a:pt x="943880" y="489434"/>
                  <a:pt x="893017" y="463716"/>
                </a:cubicBezTo>
                <a:cubicBezTo>
                  <a:pt x="879586" y="456953"/>
                  <a:pt x="867680" y="447047"/>
                  <a:pt x="855297" y="438284"/>
                </a:cubicBezTo>
                <a:cubicBezTo>
                  <a:pt x="838057" y="426093"/>
                  <a:pt x="831961" y="426759"/>
                  <a:pt x="818912" y="442380"/>
                </a:cubicBezTo>
                <a:cubicBezTo>
                  <a:pt x="772906" y="497530"/>
                  <a:pt x="714137" y="517532"/>
                  <a:pt x="645271" y="499626"/>
                </a:cubicBezTo>
                <a:cubicBezTo>
                  <a:pt x="590884" y="485528"/>
                  <a:pt x="537639" y="466669"/>
                  <a:pt x="484204" y="449048"/>
                </a:cubicBezTo>
                <a:cubicBezTo>
                  <a:pt x="470583" y="444571"/>
                  <a:pt x="458200" y="436570"/>
                  <a:pt x="445056" y="430664"/>
                </a:cubicBezTo>
                <a:cubicBezTo>
                  <a:pt x="431626" y="424664"/>
                  <a:pt x="419148" y="425807"/>
                  <a:pt x="406194" y="434189"/>
                </a:cubicBezTo>
                <a:cubicBezTo>
                  <a:pt x="366475" y="460192"/>
                  <a:pt x="323422" y="471336"/>
                  <a:pt x="275701" y="463145"/>
                </a:cubicBezTo>
                <a:cubicBezTo>
                  <a:pt x="266272" y="461526"/>
                  <a:pt x="253699" y="464478"/>
                  <a:pt x="245793" y="470003"/>
                </a:cubicBezTo>
                <a:cubicBezTo>
                  <a:pt x="202263" y="500578"/>
                  <a:pt x="154448" y="506674"/>
                  <a:pt x="104061" y="495720"/>
                </a:cubicBezTo>
                <a:cubicBezTo>
                  <a:pt x="54817" y="485052"/>
                  <a:pt x="6429" y="449619"/>
                  <a:pt x="810" y="393612"/>
                </a:cubicBezTo>
                <a:cubicBezTo>
                  <a:pt x="-619" y="379515"/>
                  <a:pt x="-333" y="364371"/>
                  <a:pt x="3096" y="350655"/>
                </a:cubicBezTo>
                <a:cubicBezTo>
                  <a:pt x="17574" y="292647"/>
                  <a:pt x="39291" y="237497"/>
                  <a:pt x="75962" y="189396"/>
                </a:cubicBezTo>
                <a:cubicBezTo>
                  <a:pt x="102727" y="154249"/>
                  <a:pt x="134922" y="125579"/>
                  <a:pt x="178261" y="112434"/>
                </a:cubicBezTo>
                <a:cubicBezTo>
                  <a:pt x="234649" y="95289"/>
                  <a:pt x="286465" y="100814"/>
                  <a:pt x="331232" y="143009"/>
                </a:cubicBezTo>
                <a:cubicBezTo>
                  <a:pt x="337423" y="148915"/>
                  <a:pt x="346567" y="152153"/>
                  <a:pt x="354759" y="155392"/>
                </a:cubicBezTo>
                <a:cubicBezTo>
                  <a:pt x="372380" y="162250"/>
                  <a:pt x="391049" y="166822"/>
                  <a:pt x="407908" y="175109"/>
                </a:cubicBezTo>
                <a:cubicBezTo>
                  <a:pt x="437055" y="189301"/>
                  <a:pt x="458105" y="186539"/>
                  <a:pt x="481251" y="162917"/>
                </a:cubicBezTo>
                <a:cubicBezTo>
                  <a:pt x="509540" y="134151"/>
                  <a:pt x="542306" y="115006"/>
                  <a:pt x="584311" y="117006"/>
                </a:cubicBezTo>
                <a:cubicBezTo>
                  <a:pt x="596884" y="117578"/>
                  <a:pt x="607552" y="113672"/>
                  <a:pt x="618506" y="106814"/>
                </a:cubicBezTo>
                <a:cubicBezTo>
                  <a:pt x="663655" y="78525"/>
                  <a:pt x="710422" y="78811"/>
                  <a:pt x="757666" y="101957"/>
                </a:cubicBezTo>
                <a:cubicBezTo>
                  <a:pt x="765191" y="105576"/>
                  <a:pt x="772811" y="109196"/>
                  <a:pt x="780717" y="111672"/>
                </a:cubicBezTo>
                <a:cubicBezTo>
                  <a:pt x="793861" y="115863"/>
                  <a:pt x="805863" y="113672"/>
                  <a:pt x="817197" y="105005"/>
                </a:cubicBezTo>
                <a:cubicBezTo>
                  <a:pt x="855774" y="75668"/>
                  <a:pt x="899684" y="67000"/>
                  <a:pt x="946738" y="74525"/>
                </a:cubicBezTo>
                <a:cubicBezTo>
                  <a:pt x="962739" y="77096"/>
                  <a:pt x="974646" y="73477"/>
                  <a:pt x="985790" y="62333"/>
                </a:cubicBezTo>
                <a:cubicBezTo>
                  <a:pt x="994934" y="53189"/>
                  <a:pt x="1004745" y="44616"/>
                  <a:pt x="1015222" y="37092"/>
                </a:cubicBezTo>
                <a:cubicBezTo>
                  <a:pt x="1065514" y="896"/>
                  <a:pt x="1130665" y="3754"/>
                  <a:pt x="1177623" y="44330"/>
                </a:cubicBezTo>
                <a:cubicBezTo>
                  <a:pt x="1187339" y="52713"/>
                  <a:pt x="1197531" y="56903"/>
                  <a:pt x="1210294" y="58427"/>
                </a:cubicBezTo>
                <a:cubicBezTo>
                  <a:pt x="1226773" y="60523"/>
                  <a:pt x="1243156" y="64333"/>
                  <a:pt x="1259062" y="69191"/>
                </a:cubicBezTo>
                <a:cubicBezTo>
                  <a:pt x="1269540" y="72334"/>
                  <a:pt x="1277922" y="71667"/>
                  <a:pt x="1286971" y="65762"/>
                </a:cubicBezTo>
                <a:cubicBezTo>
                  <a:pt x="1332595" y="35948"/>
                  <a:pt x="1381078" y="27662"/>
                  <a:pt x="1432417" y="48998"/>
                </a:cubicBezTo>
                <a:cubicBezTo>
                  <a:pt x="1445276" y="54332"/>
                  <a:pt x="1453848" y="49664"/>
                  <a:pt x="1463659" y="42616"/>
                </a:cubicBezTo>
                <a:cubicBezTo>
                  <a:pt x="1499378" y="16898"/>
                  <a:pt x="1538621" y="6135"/>
                  <a:pt x="1582341" y="15946"/>
                </a:cubicBezTo>
                <a:cubicBezTo>
                  <a:pt x="1606534" y="21375"/>
                  <a:pt x="1628347" y="32138"/>
                  <a:pt x="1647492" y="47664"/>
                </a:cubicBezTo>
                <a:cubicBezTo>
                  <a:pt x="1658541" y="56618"/>
                  <a:pt x="1670161" y="61856"/>
                  <a:pt x="1684068" y="64619"/>
                </a:cubicBezTo>
                <a:cubicBezTo>
                  <a:pt x="1700356" y="67857"/>
                  <a:pt x="1716357" y="73286"/>
                  <a:pt x="1731883" y="79287"/>
                </a:cubicBezTo>
                <a:cubicBezTo>
                  <a:pt x="1741504" y="83002"/>
                  <a:pt x="1748933" y="83288"/>
                  <a:pt x="1757029" y="76430"/>
                </a:cubicBezTo>
                <a:cubicBezTo>
                  <a:pt x="1802464" y="38139"/>
                  <a:pt x="1852851" y="34520"/>
                  <a:pt x="1907048" y="54617"/>
                </a:cubicBezTo>
                <a:cubicBezTo>
                  <a:pt x="1915621" y="57761"/>
                  <a:pt x="1926860" y="58332"/>
                  <a:pt x="1935623" y="55760"/>
                </a:cubicBezTo>
                <a:cubicBezTo>
                  <a:pt x="1967341" y="46426"/>
                  <a:pt x="1998774" y="45473"/>
                  <a:pt x="2030111" y="54998"/>
                </a:cubicBezTo>
                <a:cubicBezTo>
                  <a:pt x="2043922" y="59189"/>
                  <a:pt x="2052876" y="55380"/>
                  <a:pt x="2062020" y="44997"/>
                </a:cubicBezTo>
                <a:cubicBezTo>
                  <a:pt x="2123266" y="-24059"/>
                  <a:pt x="2220230" y="-5771"/>
                  <a:pt x="2263474" y="46997"/>
                </a:cubicBezTo>
                <a:cubicBezTo>
                  <a:pt x="2273380" y="59094"/>
                  <a:pt x="2286143" y="66333"/>
                  <a:pt x="2300716" y="72143"/>
                </a:cubicBezTo>
                <a:cubicBezTo>
                  <a:pt x="2316719" y="78525"/>
                  <a:pt x="2331292" y="88622"/>
                  <a:pt x="2346817" y="96337"/>
                </a:cubicBezTo>
                <a:cubicBezTo>
                  <a:pt x="2355485" y="100623"/>
                  <a:pt x="2364820" y="106052"/>
                  <a:pt x="2373964" y="106148"/>
                </a:cubicBezTo>
                <a:cubicBezTo>
                  <a:pt x="2397109" y="106434"/>
                  <a:pt x="2419207" y="110339"/>
                  <a:pt x="2441115" y="117673"/>
                </a:cubicBezTo>
                <a:cubicBezTo>
                  <a:pt x="2449592" y="120530"/>
                  <a:pt x="2459117" y="120435"/>
                  <a:pt x="2468261" y="120626"/>
                </a:cubicBezTo>
                <a:cubicBezTo>
                  <a:pt x="2503408" y="121578"/>
                  <a:pt x="2533222" y="133961"/>
                  <a:pt x="2558082" y="159297"/>
                </a:cubicBezTo>
                <a:cubicBezTo>
                  <a:pt x="2565892" y="167203"/>
                  <a:pt x="2575703" y="174442"/>
                  <a:pt x="2585895" y="178633"/>
                </a:cubicBezTo>
                <a:cubicBezTo>
                  <a:pt x="2626567" y="195206"/>
                  <a:pt x="2651998" y="238926"/>
                  <a:pt x="2622185" y="294743"/>
                </a:cubicBezTo>
                <a:cubicBezTo>
                  <a:pt x="2607612" y="321984"/>
                  <a:pt x="2586562" y="344463"/>
                  <a:pt x="2560178" y="360560"/>
                </a:cubicBezTo>
                <a:cubicBezTo>
                  <a:pt x="2535603" y="375610"/>
                  <a:pt x="2509409" y="387993"/>
                  <a:pt x="2484168" y="401994"/>
                </a:cubicBezTo>
                <a:cubicBezTo>
                  <a:pt x="2462832" y="413996"/>
                  <a:pt x="2439496" y="415329"/>
                  <a:pt x="2415778" y="415234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6" name="文本框 215"/>
          <p:cNvSpPr txBox="1"/>
          <p:nvPr/>
        </p:nvSpPr>
        <p:spPr>
          <a:xfrm>
            <a:off x="2618125" y="1524538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b="1">
                <a:solidFill>
                  <a:srgbClr val="3B3337"/>
                </a:solidFill>
                <a:latin typeface="微软雅黑" panose="02020900000000000000" pitchFamily="18" charset="-122"/>
                <a:ea typeface="微软雅黑" panose="02020900000000000000" pitchFamily="18" charset="-122"/>
              </a:rPr>
              <a:t>AI＋数据平台</a:t>
            </a:r>
            <a:endParaRPr lang="zh-CN" altLang="en-US" sz="8800" dirty="0">
              <a:solidFill>
                <a:srgbClr val="07020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947738" y="6009912"/>
            <a:ext cx="4313944" cy="315056"/>
            <a:chOff x="1253246" y="4118390"/>
            <a:chExt cx="4313944" cy="315056"/>
          </a:xfrm>
        </p:grpSpPr>
        <p:sp>
          <p:nvSpPr>
            <p:cNvPr id="218" name="文本框 217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D1BAB4"/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汇报：票付通</a:t>
              </a:r>
              <a:endParaRPr lang="zh-CN" altLang="en-US" sz="1400" dirty="0">
                <a:solidFill>
                  <a:srgbClr val="D1BAB4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D1B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1BAB4"/>
                </a:solidFill>
                <a:cs typeface="+mn-ea"/>
                <a:sym typeface="+mn-lt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D1BAB4"/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rgbClr val="D1BAB4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1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D1B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1BAB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>
            <a:off x="875724" y="506220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b="1">
                <a:solidFill>
                  <a:srgbClr val="7F6F82"/>
                </a:solidFill>
                <a:latin typeface="微软雅黑"/>
                <a:ea typeface="微软雅黑"/>
                <a:cs typeface="+mn-ea"/>
                <a:sym typeface="+mn-lt"/>
              </a:rPr>
              <a:t>把数据用起来，让 AI 帮我们干活</a:t>
            </a:r>
            <a:endParaRPr lang="zh-CN" altLang="en-US" sz="1100" dirty="0">
              <a:solidFill>
                <a:srgbClr val="D8CFC8"/>
              </a:solidFill>
              <a:cs typeface="+mn-ea"/>
              <a:sym typeface="+mn-lt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246442" y="3498733"/>
            <a:ext cx="3732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70203"/>
                </a:solidFill>
                <a:latin typeface="微软雅黑"/>
                <a:ea typeface="微软雅黑"/>
              </a:rPr>
              <a:t>数据平台  /  智能体平台  /  AI＋数据平台</a:t>
            </a:r>
            <a:endParaRPr lang="zh-CN" altLang="en-US" sz="1400" b="1" dirty="0">
              <a:solidFill>
                <a:srgbClr val="070203"/>
              </a:solidFill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00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一页说清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我们要做的三件事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数据是底子，智能体是抓手，两者打通才能越用越好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02  ·  AI＋数据平台 · 汇报要点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81860"/>
            <a:ext cx="3115665" cy="3170682"/>
          </a:xfrm>
          <a:prstGeom prst="roundRect">
            <a:avLst>
              <a:gd name="adj" fmla="val 390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913485" y="2081860"/>
            <a:ext cx="3115665" cy="998981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13485" y="2863672"/>
            <a:ext cx="3115665" cy="21717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30655" y="2186101"/>
            <a:ext cx="1042415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pic>
        <p:nvPicPr>
          <p:cNvPr id="145" name="Picture 144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641" y="2255596"/>
            <a:ext cx="434340" cy="43434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130655" y="2655189"/>
            <a:ext cx="268132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0655" y="3211144"/>
            <a:ext cx="268132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F6F82"/>
                </a:solidFill>
                <a:latin typeface="微软雅黑"/>
                <a:ea typeface="微软雅黑"/>
              </a:rPr>
              <a:t>把数据理清、算准、管住</a:t>
            </a:r>
          </a:p>
        </p:txBody>
      </p:sp>
      <p:pic>
        <p:nvPicPr>
          <p:cNvPr id="148" name="Picture 14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55" y="3697604"/>
            <a:ext cx="191109" cy="191109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408633" y="3645484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定规矩、统一编号和口径</a:t>
            </a:r>
          </a:p>
        </p:txBody>
      </p:sp>
      <p:pic>
        <p:nvPicPr>
          <p:cNvPr id="150" name="Picture 14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55" y="4088510"/>
            <a:ext cx="191109" cy="191109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408633" y="4036390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每天自动体检，错数拦在报表外</a:t>
            </a:r>
          </a:p>
        </p:txBody>
      </p:sp>
      <p:pic>
        <p:nvPicPr>
          <p:cNvPr id="152" name="Picture 15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55" y="4479417"/>
            <a:ext cx="191109" cy="191109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408633" y="4427296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订单、核销从第二天看到变成分钟级</a:t>
            </a:r>
          </a:p>
        </p:txBody>
      </p:sp>
      <p:pic>
        <p:nvPicPr>
          <p:cNvPr id="154" name="Picture 15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55" y="4870323"/>
            <a:ext cx="191109" cy="191109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408633" y="4818202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先做“订单 → 核销 → 结算”主线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202887" y="2081860"/>
            <a:ext cx="3115665" cy="3170682"/>
          </a:xfrm>
          <a:prstGeom prst="roundRect">
            <a:avLst>
              <a:gd name="adj" fmla="val 390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4202887" y="2081860"/>
            <a:ext cx="3115665" cy="998981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4202887" y="2863672"/>
            <a:ext cx="3115665" cy="21717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420057" y="2186101"/>
            <a:ext cx="1042415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pic>
        <p:nvPicPr>
          <p:cNvPr id="160" name="Picture 159" descr="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042" y="2255596"/>
            <a:ext cx="434340" cy="43434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4420057" y="2655189"/>
            <a:ext cx="268132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智能体平台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420057" y="3211144"/>
            <a:ext cx="268132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F6F82"/>
                </a:solidFill>
                <a:latin typeface="微软雅黑"/>
                <a:ea typeface="微软雅黑"/>
              </a:rPr>
              <a:t>先借力卖起来，再自己建</a:t>
            </a:r>
          </a:p>
        </p:txBody>
      </p:sp>
      <p:pic>
        <p:nvPicPr>
          <p:cNvPr id="163" name="Picture 16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057" y="3697604"/>
            <a:ext cx="191109" cy="191109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698034" y="3645484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借现成平台，几周做出来去卖</a:t>
            </a:r>
          </a:p>
        </p:txBody>
      </p:sp>
      <p:pic>
        <p:nvPicPr>
          <p:cNvPr id="165" name="Picture 164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057" y="4088510"/>
            <a:ext cx="191109" cy="191109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4698034" y="4036390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标杆景区验证能卖、能赚钱</a:t>
            </a:r>
          </a:p>
        </p:txBody>
      </p:sp>
      <p:pic>
        <p:nvPicPr>
          <p:cNvPr id="167" name="Picture 166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057" y="4479417"/>
            <a:ext cx="191109" cy="191109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4698034" y="4427296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跑通后按业态快速复制抢市场</a:t>
            </a:r>
          </a:p>
        </p:txBody>
      </p:sp>
      <p:pic>
        <p:nvPicPr>
          <p:cNvPr id="169" name="Picture 16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057" y="4870323"/>
            <a:ext cx="191109" cy="191109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4698034" y="4818202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规模起来后自建，省钱、交付快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492288" y="2081860"/>
            <a:ext cx="3115665" cy="3170682"/>
          </a:xfrm>
          <a:prstGeom prst="roundRect">
            <a:avLst>
              <a:gd name="adj" fmla="val 390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492288" y="2081860"/>
            <a:ext cx="3115665" cy="998981"/>
          </a:xfrm>
          <a:prstGeom prst="roundRect">
            <a:avLst>
              <a:gd name="adj" fmla="val 1217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7492288" y="2863672"/>
            <a:ext cx="3115665" cy="21717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709458" y="2186101"/>
            <a:ext cx="1042415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pic>
        <p:nvPicPr>
          <p:cNvPr id="175" name="Picture 174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6444" y="2255596"/>
            <a:ext cx="434340" cy="43434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7709458" y="2655189"/>
            <a:ext cx="268132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AI＋数据平台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709458" y="3211144"/>
            <a:ext cx="268132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F6F82"/>
                </a:solidFill>
                <a:latin typeface="微软雅黑"/>
                <a:ea typeface="微软雅黑"/>
              </a:rPr>
              <a:t>数据在公司里转起来</a:t>
            </a:r>
          </a:p>
        </p:txBody>
      </p:sp>
      <p:pic>
        <p:nvPicPr>
          <p:cNvPr id="178" name="Picture 17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458" y="3697604"/>
            <a:ext cx="191109" cy="191109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7987436" y="3645484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业务产生数据，平台统一整理</a:t>
            </a:r>
          </a:p>
        </p:txBody>
      </p:sp>
      <p:pic>
        <p:nvPicPr>
          <p:cNvPr id="180" name="Picture 179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458" y="4088510"/>
            <a:ext cx="191109" cy="191109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7987436" y="4036390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智能体和报表用同一套数</a:t>
            </a:r>
          </a:p>
        </p:txBody>
      </p:sp>
      <p:pic>
        <p:nvPicPr>
          <p:cNvPr id="182" name="Picture 181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458" y="4479417"/>
            <a:ext cx="191109" cy="191109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7987436" y="4427296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问答、评价、处置结果回流</a:t>
            </a:r>
          </a:p>
        </p:txBody>
      </p:sp>
      <p:pic>
        <p:nvPicPr>
          <p:cNvPr id="184" name="Picture 18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458" y="4870323"/>
            <a:ext cx="191109" cy="191109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7987436" y="4818202"/>
            <a:ext cx="2464155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反哺定价、营销、调度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913485" y="5426278"/>
            <a:ext cx="9694468" cy="538581"/>
          </a:xfrm>
          <a:prstGeom prst="roundRect">
            <a:avLst>
              <a:gd name="adj" fmla="val 16129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0604" tIns="0" rIns="173736" bIns="0"/>
          <a:lstStyle/>
          <a:p>
            <a:pPr algn="l"/>
            <a:r>
              <a:rPr sz="1350" b="1">
                <a:solidFill>
                  <a:srgbClr val="9A5A4B"/>
                </a:solidFill>
                <a:latin typeface="微软雅黑"/>
                <a:ea typeface="微软雅黑"/>
              </a:rPr>
              <a:t>需要您支持　</a:t>
            </a:r>
            <a:r>
              <a:rPr sz="1350" b="0">
                <a:solidFill>
                  <a:srgbClr val="3B3337"/>
                </a:solidFill>
                <a:latin typeface="微软雅黑"/>
                <a:ea typeface="微软雅黑"/>
              </a:rPr>
              <a:t>口径由谁拍板 · 规范强制执行 · 标杆景区与销售配合 · 自建时点决策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 descr="D:\51PPT模板网\51pptmoban.com\图片.jpg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9944698" y="2486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070203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  <a:endParaRPr lang="zh-CN" altLang="en-US" sz="4800" dirty="0">
              <a:solidFill>
                <a:srgbClr val="07020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 descr="D:\51PPT模板网\51pptmoban.com\图片.jpg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4" name="文本框 13"/>
          <p:cNvSpPr txBox="1"/>
          <p:nvPr/>
        </p:nvSpPr>
        <p:spPr>
          <a:xfrm>
            <a:off x="9550930" y="1017149"/>
            <a:ext cx="1766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任意多边形: 形状 38" descr="D:\51PPT模板网\51pptmoban.com\图片.jpg"/>
          <p:cNvSpPr/>
          <p:nvPr/>
        </p:nvSpPr>
        <p:spPr>
          <a:xfrm flipH="1">
            <a:off x="11448466" y="270353"/>
            <a:ext cx="743534" cy="896553"/>
          </a:xfrm>
          <a:custGeom>
            <a:avLst/>
            <a:gdLst>
              <a:gd name="csX0" fmla="*/ 250344 w 743534"/>
              <a:gd name="csY0" fmla="*/ 0 h 896553"/>
              <a:gd name="csX1" fmla="*/ 38360 w 743534"/>
              <a:gd name="csY1" fmla="*/ 20231 h 896553"/>
              <a:gd name="csX2" fmla="*/ 0 w 743534"/>
              <a:gd name="csY2" fmla="*/ 30431 h 896553"/>
              <a:gd name="csX3" fmla="*/ 0 w 743534"/>
              <a:gd name="csY3" fmla="*/ 896553 h 896553"/>
              <a:gd name="csX4" fmla="*/ 85501 w 743534"/>
              <a:gd name="csY4" fmla="*/ 849673 h 896553"/>
              <a:gd name="csX5" fmla="*/ 359235 w 743534"/>
              <a:gd name="csY5" fmla="*/ 744274 h 896553"/>
              <a:gd name="csX6" fmla="*/ 650952 w 743534"/>
              <a:gd name="csY6" fmla="*/ 572945 h 896553"/>
              <a:gd name="csX7" fmla="*/ 658446 w 743534"/>
              <a:gd name="csY7" fmla="*/ 178829 h 896553"/>
              <a:gd name="csX8" fmla="*/ 250344 w 743534"/>
              <a:gd name="csY8" fmla="*/ 0 h 896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43534" h="896553">
                <a:moveTo>
                  <a:pt x="250344" y="0"/>
                </a:moveTo>
                <a:cubicBezTo>
                  <a:pt x="172669" y="750"/>
                  <a:pt x="102986" y="7119"/>
                  <a:pt x="38360" y="20231"/>
                </a:cubicBezTo>
                <a:lnTo>
                  <a:pt x="0" y="30431"/>
                </a:lnTo>
                <a:lnTo>
                  <a:pt x="0" y="896553"/>
                </a:lnTo>
                <a:lnTo>
                  <a:pt x="85501" y="849673"/>
                </a:lnTo>
                <a:cubicBezTo>
                  <a:pt x="174412" y="809214"/>
                  <a:pt x="267823" y="778745"/>
                  <a:pt x="359235" y="744274"/>
                </a:cubicBezTo>
                <a:cubicBezTo>
                  <a:pt x="466627" y="703815"/>
                  <a:pt x="569530" y="656863"/>
                  <a:pt x="650952" y="572945"/>
                </a:cubicBezTo>
                <a:cubicBezTo>
                  <a:pt x="771334" y="448562"/>
                  <a:pt x="774832" y="306201"/>
                  <a:pt x="658446" y="178829"/>
                </a:cubicBezTo>
                <a:cubicBezTo>
                  <a:pt x="541059" y="50953"/>
                  <a:pt x="390203" y="5496"/>
                  <a:pt x="250344" y="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44" name="组合 143"/>
          <p:cNvGrpSpPr/>
          <p:nvPr/>
        </p:nvGrpSpPr>
        <p:grpSpPr>
          <a:xfrm>
            <a:off x="2780457" y="1795944"/>
            <a:ext cx="6631085" cy="830525"/>
            <a:chOff x="2766860" y="1795944"/>
            <a:chExt cx="6631085" cy="830525"/>
          </a:xfrm>
        </p:grpSpPr>
        <p:grpSp>
          <p:nvGrpSpPr>
            <p:cNvPr id="137" name="组合 136"/>
            <p:cNvGrpSpPr/>
            <p:nvPr/>
          </p:nvGrpSpPr>
          <p:grpSpPr>
            <a:xfrm>
              <a:off x="2766860" y="1795944"/>
              <a:ext cx="3042166" cy="830525"/>
              <a:chOff x="2659221" y="1745433"/>
              <a:chExt cx="3042166" cy="830525"/>
            </a:xfrm>
          </p:grpSpPr>
          <p:sp>
            <p:nvSpPr>
              <p:cNvPr id="43" name="任意多边形: 形状 42" descr="D:\51PPT模板网\51pptmoban.com\图片.jpg"/>
              <p:cNvSpPr/>
              <p:nvPr/>
            </p:nvSpPr>
            <p:spPr>
              <a:xfrm rot="21040048" flipH="1">
                <a:off x="2981173" y="1745433"/>
                <a:ext cx="2720214" cy="830525"/>
              </a:xfrm>
              <a:custGeom>
                <a:avLst/>
                <a:gdLst>
                  <a:gd name="csX0" fmla="*/ 374881 w 374881"/>
                  <a:gd name="csY0" fmla="*/ 44357 h 146734"/>
                  <a:gd name="csX1" fmla="*/ 355927 w 374881"/>
                  <a:gd name="csY1" fmla="*/ 77409 h 146734"/>
                  <a:gd name="csX2" fmla="*/ 328305 w 374881"/>
                  <a:gd name="csY2" fmla="*/ 87124 h 146734"/>
                  <a:gd name="csX3" fmla="*/ 110658 w 374881"/>
                  <a:gd name="csY3" fmla="*/ 132844 h 146734"/>
                  <a:gd name="csX4" fmla="*/ 60842 w 374881"/>
                  <a:gd name="csY4" fmla="*/ 145322 h 146734"/>
                  <a:gd name="csX5" fmla="*/ 24324 w 374881"/>
                  <a:gd name="csY5" fmla="*/ 143630 h 146734"/>
                  <a:gd name="csX6" fmla="*/ 694 w 374881"/>
                  <a:gd name="csY6" fmla="*/ 120229 h 146734"/>
                  <a:gd name="csX7" fmla="*/ 42958 w 374881"/>
                  <a:gd name="csY7" fmla="*/ 74081 h 146734"/>
                  <a:gd name="csX8" fmla="*/ 292300 w 374881"/>
                  <a:gd name="csY8" fmla="*/ 828 h 146734"/>
                  <a:gd name="csX9" fmla="*/ 348116 w 374881"/>
                  <a:gd name="csY9" fmla="*/ 8734 h 146734"/>
                  <a:gd name="csX10" fmla="*/ 374881 w 374881"/>
                  <a:gd name="csY10" fmla="*/ 44357 h 146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74881" h="146734">
                    <a:moveTo>
                      <a:pt x="374881" y="44357"/>
                    </a:moveTo>
                    <a:cubicBezTo>
                      <a:pt x="374501" y="59788"/>
                      <a:pt x="367833" y="70741"/>
                      <a:pt x="355927" y="77409"/>
                    </a:cubicBezTo>
                    <a:cubicBezTo>
                      <a:pt x="347449" y="82076"/>
                      <a:pt x="337734" y="86267"/>
                      <a:pt x="328305" y="87124"/>
                    </a:cubicBezTo>
                    <a:cubicBezTo>
                      <a:pt x="254009" y="94268"/>
                      <a:pt x="182762" y="115604"/>
                      <a:pt x="110658" y="132844"/>
                    </a:cubicBezTo>
                    <a:cubicBezTo>
                      <a:pt x="93989" y="136845"/>
                      <a:pt x="75231" y="143524"/>
                      <a:pt x="60842" y="145322"/>
                    </a:cubicBezTo>
                    <a:cubicBezTo>
                      <a:pt x="46453" y="147120"/>
                      <a:pt x="34349" y="147812"/>
                      <a:pt x="24324" y="143630"/>
                    </a:cubicBezTo>
                    <a:cubicBezTo>
                      <a:pt x="14299" y="139448"/>
                      <a:pt x="1759" y="132183"/>
                      <a:pt x="694" y="120229"/>
                    </a:cubicBezTo>
                    <a:cubicBezTo>
                      <a:pt x="-367" y="108321"/>
                      <a:pt x="-5643" y="93981"/>
                      <a:pt x="42958" y="74081"/>
                    </a:cubicBezTo>
                    <a:cubicBezTo>
                      <a:pt x="91559" y="54181"/>
                      <a:pt x="211052" y="9781"/>
                      <a:pt x="292300" y="828"/>
                    </a:cubicBezTo>
                    <a:cubicBezTo>
                      <a:pt x="311445" y="-1268"/>
                      <a:pt x="330400" y="352"/>
                      <a:pt x="348116" y="8734"/>
                    </a:cubicBezTo>
                    <a:cubicBezTo>
                      <a:pt x="363452" y="16258"/>
                      <a:pt x="373834" y="27593"/>
                      <a:pt x="374881" y="44357"/>
                    </a:cubicBezTo>
                    <a:close/>
                  </a:path>
                </a:pathLst>
              </a:custGeom>
              <a:solidFill>
                <a:srgbClr val="D8CF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50" name="组合 49"/>
              <p:cNvGrpSpPr/>
              <p:nvPr/>
            </p:nvGrpSpPr>
            <p:grpSpPr>
              <a:xfrm>
                <a:off x="2659221" y="1851133"/>
                <a:ext cx="651400" cy="619125"/>
                <a:chOff x="2758849" y="2091584"/>
                <a:chExt cx="651400" cy="619125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2758849" y="2091584"/>
                  <a:ext cx="619125" cy="619125"/>
                </a:xfrm>
                <a:prstGeom prst="ellipse">
                  <a:avLst/>
                </a:prstGeom>
                <a:solidFill>
                  <a:srgbClr val="D1BAB4"/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2783154" y="2137901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Arial"/>
                      <a:ea typeface="Arial"/>
                    </a:rPr>
                    <a:t>01</a:t>
                  </a:r>
                  <a:endParaRPr lang="zh-CN" alt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9" name="文本框 48"/>
              <p:cNvSpPr txBox="1"/>
              <p:nvPr/>
            </p:nvSpPr>
            <p:spPr>
              <a:xfrm>
                <a:off x="3401266" y="1983650"/>
                <a:ext cx="1470741" cy="338554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3B3337"/>
                    </a:solidFill>
                    <a:latin typeface="微软雅黑"/>
                    <a:ea typeface="微软雅黑"/>
                  </a:rPr>
                  <a:t>数据平台</a:t>
                </a:r>
                <a:endParaRPr lang="zh-CN" altLang="en-US" sz="1600" b="1" dirty="0"/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>
              <a:off x="6355779" y="1795944"/>
              <a:ext cx="3042166" cy="830525"/>
              <a:chOff x="2659221" y="1745433"/>
              <a:chExt cx="3042166" cy="830525"/>
            </a:xfrm>
          </p:grpSpPr>
          <p:sp>
            <p:nvSpPr>
              <p:cNvPr id="139" name="任意多边形: 形状 138"/>
              <p:cNvSpPr/>
              <p:nvPr/>
            </p:nvSpPr>
            <p:spPr>
              <a:xfrm rot="21040048" flipH="1">
                <a:off x="2981173" y="1745433"/>
                <a:ext cx="2720214" cy="830525"/>
              </a:xfrm>
              <a:custGeom>
                <a:avLst/>
                <a:gdLst>
                  <a:gd name="csX0" fmla="*/ 374881 w 374881"/>
                  <a:gd name="csY0" fmla="*/ 44357 h 146734"/>
                  <a:gd name="csX1" fmla="*/ 355927 w 374881"/>
                  <a:gd name="csY1" fmla="*/ 77409 h 146734"/>
                  <a:gd name="csX2" fmla="*/ 328305 w 374881"/>
                  <a:gd name="csY2" fmla="*/ 87124 h 146734"/>
                  <a:gd name="csX3" fmla="*/ 110658 w 374881"/>
                  <a:gd name="csY3" fmla="*/ 132844 h 146734"/>
                  <a:gd name="csX4" fmla="*/ 60842 w 374881"/>
                  <a:gd name="csY4" fmla="*/ 145322 h 146734"/>
                  <a:gd name="csX5" fmla="*/ 24324 w 374881"/>
                  <a:gd name="csY5" fmla="*/ 143630 h 146734"/>
                  <a:gd name="csX6" fmla="*/ 694 w 374881"/>
                  <a:gd name="csY6" fmla="*/ 120229 h 146734"/>
                  <a:gd name="csX7" fmla="*/ 42958 w 374881"/>
                  <a:gd name="csY7" fmla="*/ 74081 h 146734"/>
                  <a:gd name="csX8" fmla="*/ 292300 w 374881"/>
                  <a:gd name="csY8" fmla="*/ 828 h 146734"/>
                  <a:gd name="csX9" fmla="*/ 348116 w 374881"/>
                  <a:gd name="csY9" fmla="*/ 8734 h 146734"/>
                  <a:gd name="csX10" fmla="*/ 374881 w 374881"/>
                  <a:gd name="csY10" fmla="*/ 44357 h 146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74881" h="146734">
                    <a:moveTo>
                      <a:pt x="374881" y="44357"/>
                    </a:moveTo>
                    <a:cubicBezTo>
                      <a:pt x="374501" y="59788"/>
                      <a:pt x="367833" y="70741"/>
                      <a:pt x="355927" y="77409"/>
                    </a:cubicBezTo>
                    <a:cubicBezTo>
                      <a:pt x="347449" y="82076"/>
                      <a:pt x="337734" y="86267"/>
                      <a:pt x="328305" y="87124"/>
                    </a:cubicBezTo>
                    <a:cubicBezTo>
                      <a:pt x="254009" y="94268"/>
                      <a:pt x="182762" y="115604"/>
                      <a:pt x="110658" y="132844"/>
                    </a:cubicBezTo>
                    <a:cubicBezTo>
                      <a:pt x="93989" y="136845"/>
                      <a:pt x="75231" y="143524"/>
                      <a:pt x="60842" y="145322"/>
                    </a:cubicBezTo>
                    <a:cubicBezTo>
                      <a:pt x="46453" y="147120"/>
                      <a:pt x="34349" y="147812"/>
                      <a:pt x="24324" y="143630"/>
                    </a:cubicBezTo>
                    <a:cubicBezTo>
                      <a:pt x="14299" y="139448"/>
                      <a:pt x="1759" y="132183"/>
                      <a:pt x="694" y="120229"/>
                    </a:cubicBezTo>
                    <a:cubicBezTo>
                      <a:pt x="-367" y="108321"/>
                      <a:pt x="-5643" y="93981"/>
                      <a:pt x="42958" y="74081"/>
                    </a:cubicBezTo>
                    <a:cubicBezTo>
                      <a:pt x="91559" y="54181"/>
                      <a:pt x="211052" y="9781"/>
                      <a:pt x="292300" y="828"/>
                    </a:cubicBezTo>
                    <a:cubicBezTo>
                      <a:pt x="311445" y="-1268"/>
                      <a:pt x="330400" y="352"/>
                      <a:pt x="348116" y="8734"/>
                    </a:cubicBezTo>
                    <a:cubicBezTo>
                      <a:pt x="363452" y="16258"/>
                      <a:pt x="373834" y="27593"/>
                      <a:pt x="374881" y="44357"/>
                    </a:cubicBezTo>
                    <a:close/>
                  </a:path>
                </a:pathLst>
              </a:custGeom>
              <a:solidFill>
                <a:srgbClr val="D8CF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140" name="组合 139"/>
              <p:cNvGrpSpPr/>
              <p:nvPr/>
            </p:nvGrpSpPr>
            <p:grpSpPr>
              <a:xfrm>
                <a:off x="2659221" y="1851133"/>
                <a:ext cx="638700" cy="619125"/>
                <a:chOff x="2758849" y="2091584"/>
                <a:chExt cx="638700" cy="619125"/>
              </a:xfrm>
            </p:grpSpPr>
            <p:sp>
              <p:nvSpPr>
                <p:cNvPr id="142" name="椭圆 141"/>
                <p:cNvSpPr/>
                <p:nvPr/>
              </p:nvSpPr>
              <p:spPr>
                <a:xfrm>
                  <a:off x="2758849" y="2091584"/>
                  <a:ext cx="619125" cy="619125"/>
                </a:xfrm>
                <a:prstGeom prst="ellipse">
                  <a:avLst/>
                </a:prstGeom>
                <a:solidFill>
                  <a:srgbClr val="D1BAB4"/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文本框 142"/>
                <p:cNvSpPr txBox="1"/>
                <p:nvPr/>
              </p:nvSpPr>
              <p:spPr>
                <a:xfrm>
                  <a:off x="2770454" y="2137901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Arial"/>
                      <a:ea typeface="Arial"/>
                    </a:rPr>
                    <a:t>02</a:t>
                  </a:r>
                  <a:endParaRPr lang="zh-CN" alt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1" name="文本框 140"/>
              <p:cNvSpPr txBox="1"/>
              <p:nvPr/>
            </p:nvSpPr>
            <p:spPr>
              <a:xfrm>
                <a:off x="3401266" y="1983650"/>
                <a:ext cx="1470741" cy="338554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3B3337"/>
                    </a:solidFill>
                    <a:latin typeface="微软雅黑"/>
                    <a:ea typeface="微软雅黑"/>
                  </a:rPr>
                  <a:t>智能体平台</a:t>
                </a:r>
                <a:endParaRPr lang="zh-CN" altLang="en-US" sz="1600" b="1" dirty="0"/>
              </a:p>
            </p:txBody>
          </p:sp>
        </p:grpSp>
      </p:grpSp>
      <p:grpSp>
        <p:nvGrpSpPr>
          <p:cNvPr id="145" name="组合 144"/>
          <p:cNvGrpSpPr/>
          <p:nvPr/>
        </p:nvGrpSpPr>
        <p:grpSpPr>
          <a:xfrm>
            <a:off x="2779362" y="3749655"/>
            <a:ext cx="6632180" cy="830525"/>
            <a:chOff x="2765765" y="1795944"/>
            <a:chExt cx="6632180" cy="830525"/>
          </a:xfrm>
        </p:grpSpPr>
        <p:grpSp>
          <p:nvGrpSpPr>
            <p:cNvPr id="146" name="组合 145"/>
            <p:cNvGrpSpPr/>
            <p:nvPr/>
          </p:nvGrpSpPr>
          <p:grpSpPr>
            <a:xfrm>
              <a:off x="2765765" y="1795944"/>
              <a:ext cx="3043261" cy="830525"/>
              <a:chOff x="2658126" y="1745433"/>
              <a:chExt cx="3043261" cy="830525"/>
            </a:xfrm>
          </p:grpSpPr>
          <p:sp>
            <p:nvSpPr>
              <p:cNvPr id="156" name="任意多边形: 形状 155"/>
              <p:cNvSpPr/>
              <p:nvPr/>
            </p:nvSpPr>
            <p:spPr>
              <a:xfrm rot="21040048" flipH="1">
                <a:off x="2981173" y="1745433"/>
                <a:ext cx="2720214" cy="830525"/>
              </a:xfrm>
              <a:custGeom>
                <a:avLst/>
                <a:gdLst>
                  <a:gd name="csX0" fmla="*/ 374881 w 374881"/>
                  <a:gd name="csY0" fmla="*/ 44357 h 146734"/>
                  <a:gd name="csX1" fmla="*/ 355927 w 374881"/>
                  <a:gd name="csY1" fmla="*/ 77409 h 146734"/>
                  <a:gd name="csX2" fmla="*/ 328305 w 374881"/>
                  <a:gd name="csY2" fmla="*/ 87124 h 146734"/>
                  <a:gd name="csX3" fmla="*/ 110658 w 374881"/>
                  <a:gd name="csY3" fmla="*/ 132844 h 146734"/>
                  <a:gd name="csX4" fmla="*/ 60842 w 374881"/>
                  <a:gd name="csY4" fmla="*/ 145322 h 146734"/>
                  <a:gd name="csX5" fmla="*/ 24324 w 374881"/>
                  <a:gd name="csY5" fmla="*/ 143630 h 146734"/>
                  <a:gd name="csX6" fmla="*/ 694 w 374881"/>
                  <a:gd name="csY6" fmla="*/ 120229 h 146734"/>
                  <a:gd name="csX7" fmla="*/ 42958 w 374881"/>
                  <a:gd name="csY7" fmla="*/ 74081 h 146734"/>
                  <a:gd name="csX8" fmla="*/ 292300 w 374881"/>
                  <a:gd name="csY8" fmla="*/ 828 h 146734"/>
                  <a:gd name="csX9" fmla="*/ 348116 w 374881"/>
                  <a:gd name="csY9" fmla="*/ 8734 h 146734"/>
                  <a:gd name="csX10" fmla="*/ 374881 w 374881"/>
                  <a:gd name="csY10" fmla="*/ 44357 h 146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74881" h="146734">
                    <a:moveTo>
                      <a:pt x="374881" y="44357"/>
                    </a:moveTo>
                    <a:cubicBezTo>
                      <a:pt x="374501" y="59788"/>
                      <a:pt x="367833" y="70741"/>
                      <a:pt x="355927" y="77409"/>
                    </a:cubicBezTo>
                    <a:cubicBezTo>
                      <a:pt x="347449" y="82076"/>
                      <a:pt x="337734" y="86267"/>
                      <a:pt x="328305" y="87124"/>
                    </a:cubicBezTo>
                    <a:cubicBezTo>
                      <a:pt x="254009" y="94268"/>
                      <a:pt x="182762" y="115604"/>
                      <a:pt x="110658" y="132844"/>
                    </a:cubicBezTo>
                    <a:cubicBezTo>
                      <a:pt x="93989" y="136845"/>
                      <a:pt x="75231" y="143524"/>
                      <a:pt x="60842" y="145322"/>
                    </a:cubicBezTo>
                    <a:cubicBezTo>
                      <a:pt x="46453" y="147120"/>
                      <a:pt x="34349" y="147812"/>
                      <a:pt x="24324" y="143630"/>
                    </a:cubicBezTo>
                    <a:cubicBezTo>
                      <a:pt x="14299" y="139448"/>
                      <a:pt x="1759" y="132183"/>
                      <a:pt x="694" y="120229"/>
                    </a:cubicBezTo>
                    <a:cubicBezTo>
                      <a:pt x="-367" y="108321"/>
                      <a:pt x="-5643" y="93981"/>
                      <a:pt x="42958" y="74081"/>
                    </a:cubicBezTo>
                    <a:cubicBezTo>
                      <a:pt x="91559" y="54181"/>
                      <a:pt x="211052" y="9781"/>
                      <a:pt x="292300" y="828"/>
                    </a:cubicBezTo>
                    <a:cubicBezTo>
                      <a:pt x="311445" y="-1268"/>
                      <a:pt x="330400" y="352"/>
                      <a:pt x="348116" y="8734"/>
                    </a:cubicBezTo>
                    <a:cubicBezTo>
                      <a:pt x="363452" y="16258"/>
                      <a:pt x="373834" y="27593"/>
                      <a:pt x="374881" y="44357"/>
                    </a:cubicBezTo>
                    <a:close/>
                  </a:path>
                </a:pathLst>
              </a:custGeom>
              <a:solidFill>
                <a:srgbClr val="D8CF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157" name="组合 156"/>
              <p:cNvGrpSpPr/>
              <p:nvPr/>
            </p:nvGrpSpPr>
            <p:grpSpPr>
              <a:xfrm>
                <a:off x="2658126" y="1851133"/>
                <a:ext cx="627095" cy="619125"/>
                <a:chOff x="2757754" y="2091584"/>
                <a:chExt cx="627095" cy="619125"/>
              </a:xfrm>
            </p:grpSpPr>
            <p:sp>
              <p:nvSpPr>
                <p:cNvPr id="160" name="椭圆 159"/>
                <p:cNvSpPr/>
                <p:nvPr/>
              </p:nvSpPr>
              <p:spPr>
                <a:xfrm>
                  <a:off x="2758849" y="2091584"/>
                  <a:ext cx="619125" cy="619125"/>
                </a:xfrm>
                <a:prstGeom prst="ellipse">
                  <a:avLst/>
                </a:prstGeom>
                <a:solidFill>
                  <a:srgbClr val="D1BAB4"/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2757754" y="2137901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Arial"/>
                      <a:ea typeface="Arial"/>
                    </a:rPr>
                    <a:t>03</a:t>
                  </a:r>
                  <a:endParaRPr lang="zh-CN" alt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9" name="文本框 158"/>
              <p:cNvSpPr txBox="1"/>
              <p:nvPr/>
            </p:nvSpPr>
            <p:spPr>
              <a:xfrm>
                <a:off x="3401266" y="1983650"/>
                <a:ext cx="1470741" cy="338554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3B3337"/>
                    </a:solidFill>
                    <a:latin typeface="微软雅黑"/>
                    <a:ea typeface="微软雅黑"/>
                  </a:rPr>
                  <a:t>AI＋数据平台</a:t>
                </a:r>
                <a:endParaRPr lang="zh-CN" altLang="en-US" sz="1600" b="1" dirty="0"/>
              </a:p>
            </p:txBody>
          </p:sp>
        </p:grpSp>
        <p:grpSp>
          <p:nvGrpSpPr>
            <p:cNvPr id="147" name="组合 146"/>
            <p:cNvGrpSpPr/>
            <p:nvPr/>
          </p:nvGrpSpPr>
          <p:grpSpPr>
            <a:xfrm>
              <a:off x="6354684" y="1795944"/>
              <a:ext cx="3043261" cy="830525"/>
              <a:chOff x="2658126" y="1745433"/>
              <a:chExt cx="3043261" cy="830525"/>
            </a:xfrm>
          </p:grpSpPr>
          <p:sp>
            <p:nvSpPr>
              <p:cNvPr id="148" name="任意多边形: 形状 147"/>
              <p:cNvSpPr/>
              <p:nvPr/>
            </p:nvSpPr>
            <p:spPr>
              <a:xfrm rot="21040048" flipH="1">
                <a:off x="2981173" y="1745433"/>
                <a:ext cx="2720214" cy="830525"/>
              </a:xfrm>
              <a:custGeom>
                <a:avLst/>
                <a:gdLst>
                  <a:gd name="csX0" fmla="*/ 374881 w 374881"/>
                  <a:gd name="csY0" fmla="*/ 44357 h 146734"/>
                  <a:gd name="csX1" fmla="*/ 355927 w 374881"/>
                  <a:gd name="csY1" fmla="*/ 77409 h 146734"/>
                  <a:gd name="csX2" fmla="*/ 328305 w 374881"/>
                  <a:gd name="csY2" fmla="*/ 87124 h 146734"/>
                  <a:gd name="csX3" fmla="*/ 110658 w 374881"/>
                  <a:gd name="csY3" fmla="*/ 132844 h 146734"/>
                  <a:gd name="csX4" fmla="*/ 60842 w 374881"/>
                  <a:gd name="csY4" fmla="*/ 145322 h 146734"/>
                  <a:gd name="csX5" fmla="*/ 24324 w 374881"/>
                  <a:gd name="csY5" fmla="*/ 143630 h 146734"/>
                  <a:gd name="csX6" fmla="*/ 694 w 374881"/>
                  <a:gd name="csY6" fmla="*/ 120229 h 146734"/>
                  <a:gd name="csX7" fmla="*/ 42958 w 374881"/>
                  <a:gd name="csY7" fmla="*/ 74081 h 146734"/>
                  <a:gd name="csX8" fmla="*/ 292300 w 374881"/>
                  <a:gd name="csY8" fmla="*/ 828 h 146734"/>
                  <a:gd name="csX9" fmla="*/ 348116 w 374881"/>
                  <a:gd name="csY9" fmla="*/ 8734 h 146734"/>
                  <a:gd name="csX10" fmla="*/ 374881 w 374881"/>
                  <a:gd name="csY10" fmla="*/ 44357 h 146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74881" h="146734">
                    <a:moveTo>
                      <a:pt x="374881" y="44357"/>
                    </a:moveTo>
                    <a:cubicBezTo>
                      <a:pt x="374501" y="59788"/>
                      <a:pt x="367833" y="70741"/>
                      <a:pt x="355927" y="77409"/>
                    </a:cubicBezTo>
                    <a:cubicBezTo>
                      <a:pt x="347449" y="82076"/>
                      <a:pt x="337734" y="86267"/>
                      <a:pt x="328305" y="87124"/>
                    </a:cubicBezTo>
                    <a:cubicBezTo>
                      <a:pt x="254009" y="94268"/>
                      <a:pt x="182762" y="115604"/>
                      <a:pt x="110658" y="132844"/>
                    </a:cubicBezTo>
                    <a:cubicBezTo>
                      <a:pt x="93989" y="136845"/>
                      <a:pt x="75231" y="143524"/>
                      <a:pt x="60842" y="145322"/>
                    </a:cubicBezTo>
                    <a:cubicBezTo>
                      <a:pt x="46453" y="147120"/>
                      <a:pt x="34349" y="147812"/>
                      <a:pt x="24324" y="143630"/>
                    </a:cubicBezTo>
                    <a:cubicBezTo>
                      <a:pt x="14299" y="139448"/>
                      <a:pt x="1759" y="132183"/>
                      <a:pt x="694" y="120229"/>
                    </a:cubicBezTo>
                    <a:cubicBezTo>
                      <a:pt x="-367" y="108321"/>
                      <a:pt x="-5643" y="93981"/>
                      <a:pt x="42958" y="74081"/>
                    </a:cubicBezTo>
                    <a:cubicBezTo>
                      <a:pt x="91559" y="54181"/>
                      <a:pt x="211052" y="9781"/>
                      <a:pt x="292300" y="828"/>
                    </a:cubicBezTo>
                    <a:cubicBezTo>
                      <a:pt x="311445" y="-1268"/>
                      <a:pt x="330400" y="352"/>
                      <a:pt x="348116" y="8734"/>
                    </a:cubicBezTo>
                    <a:cubicBezTo>
                      <a:pt x="363452" y="16258"/>
                      <a:pt x="373834" y="27593"/>
                      <a:pt x="374881" y="44357"/>
                    </a:cubicBezTo>
                    <a:close/>
                  </a:path>
                </a:pathLst>
              </a:custGeom>
              <a:solidFill>
                <a:srgbClr val="D8CF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grpSp>
            <p:nvGrpSpPr>
              <p:cNvPr id="149" name="组合 148"/>
              <p:cNvGrpSpPr/>
              <p:nvPr/>
            </p:nvGrpSpPr>
            <p:grpSpPr>
              <a:xfrm>
                <a:off x="2658126" y="1851133"/>
                <a:ext cx="627095" cy="619125"/>
                <a:chOff x="2757754" y="2091584"/>
                <a:chExt cx="627095" cy="619125"/>
              </a:xfrm>
            </p:grpSpPr>
            <p:sp>
              <p:nvSpPr>
                <p:cNvPr id="153" name="椭圆 152"/>
                <p:cNvSpPr/>
                <p:nvPr/>
              </p:nvSpPr>
              <p:spPr>
                <a:xfrm>
                  <a:off x="2758849" y="2091584"/>
                  <a:ext cx="619125" cy="619125"/>
                </a:xfrm>
                <a:prstGeom prst="ellipse">
                  <a:avLst/>
                </a:prstGeom>
                <a:solidFill>
                  <a:srgbClr val="D1BAB4"/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4" name="文本框 153"/>
                <p:cNvSpPr txBox="1"/>
                <p:nvPr/>
              </p:nvSpPr>
              <p:spPr>
                <a:xfrm>
                  <a:off x="2757754" y="2137901"/>
                  <a:ext cx="62709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solidFill>
                        <a:srgbClr val="1F8DE6"/>
                      </a:solidFill>
                      <a:latin typeface="HarmonyOS Sans SC Black" panose="00000A00000000000000" pitchFamily="2" charset="-122"/>
                      <a:ea typeface="HarmonyOS Sans SC Black" panose="00000A00000000000000" pitchFamily="2" charset="-122"/>
                    </a:defRPr>
                  </a:lvl1pPr>
                </a:lstStyle>
                <a:p>
                  <a:r>
                    <a:rPr lang="en-US" altLang="zh-CN" sz="2800" dirty="0">
                      <a:solidFill>
                        <a:schemeClr val="bg1"/>
                      </a:solidFill>
                      <a:latin typeface="Arial"/>
                      <a:ea typeface="Arial"/>
                    </a:rPr>
                    <a:t>04</a:t>
                  </a:r>
                  <a:endParaRPr lang="zh-CN" altLang="en-US" sz="28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1" name="文本框 150"/>
              <p:cNvSpPr txBox="1"/>
              <p:nvPr/>
            </p:nvSpPr>
            <p:spPr>
              <a:xfrm>
                <a:off x="3401266" y="1983650"/>
                <a:ext cx="1470741" cy="338554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3B3337"/>
                    </a:solidFill>
                    <a:latin typeface="微软雅黑"/>
                    <a:ea typeface="微软雅黑"/>
                  </a:rPr>
                  <a:t>接下来</a:t>
                </a:r>
                <a:endParaRPr lang="zh-CN" altLang="en-US" sz="1600" b="1" dirty="0"/>
              </a:p>
            </p:txBody>
          </p:sp>
        </p:grpSp>
      </p:grpSp>
      <p:sp>
        <p:nvSpPr>
          <p:cNvPr id="217" name="TextBox 216"/>
          <p:cNvSpPr txBox="1"/>
          <p:nvPr/>
        </p:nvSpPr>
        <p:spPr>
          <a:xfrm>
            <a:off x="3465576" y="26609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现状与问题 · 怎么建 · 怎么治理 · 建成后的变化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059168" y="26609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能做什么 · 先验证 · 再复制 · 后自建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465576" y="4617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数据怎么流转 · 闭环 · 一个例子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059168" y="4617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先做的三件事 · 需要的支持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 descr="D:\51PPT模板网\51pptmoban.com\图片.jpg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 descr="D:\51PPT模板网\51pptmoban.com\图片.jpg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 descr="D:\51PPT模板网\51pptmoban.com\图片.jpg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" name="文本框 4"/>
          <p:cNvSpPr txBox="1"/>
          <p:nvPr/>
        </p:nvSpPr>
        <p:spPr>
          <a:xfrm>
            <a:off x="2730499" y="2755382"/>
            <a:ext cx="6731002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7F6F82"/>
                </a:solidFill>
                <a:latin typeface="微软雅黑"/>
                <a:ea typeface="微软雅黑"/>
              </a:rPr>
              <a:t>把数据理清、算准、管住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4574764" y="1792224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8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数据平台</a:t>
              </a:r>
              <a:endParaRPr lang="zh-CN" altLang="en-US" sz="1600" b="1" dirty="0"/>
            </a:p>
          </p:txBody>
        </p:sp>
      </p:grpSp>
      <p:sp>
        <p:nvSpPr>
          <p:cNvPr id="159" name="Rounded Rectangle 158"/>
          <p:cNvSpPr/>
          <p:nvPr/>
        </p:nvSpPr>
        <p:spPr>
          <a:xfrm>
            <a:off x="2441448" y="3703320"/>
            <a:ext cx="7315200" cy="18288"/>
          </a:xfrm>
          <a:prstGeom prst="roundRect">
            <a:avLst>
              <a:gd name="adj" fmla="val 0"/>
            </a:avLst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441448" y="3794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948496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44144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现状与问题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7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手里的数据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6752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怎么建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3056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治理八件事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9360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数据安全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441448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怎么落地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7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建成后的变化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现状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工具基本齐了，每天的主流程也跑通了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已经花的钱都在用，接下来是在这个基础上补齐，而不是推倒重来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05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87220" y="2332634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64" y="2452077"/>
            <a:ext cx="238886" cy="23888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77924" y="2315260"/>
            <a:ext cx="1468069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DataWorks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77924" y="2593238"/>
            <a:ext cx="146806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数据加工“车间”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7220" y="2940710"/>
            <a:ext cx="1945843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已买：开发 · 调度 · 找数 · 管资产 · 出数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380536" y="2176272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554272" y="2332634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plu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716" y="2452077"/>
            <a:ext cx="238886" cy="238886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144975" y="2315260"/>
            <a:ext cx="1468069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动态数据开放 API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44975" y="2593238"/>
            <a:ext cx="146806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对内对外的数据“窗口”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54272" y="2940710"/>
            <a:ext cx="1945843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指标对内对外提供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47588" y="2176272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021324" y="2332634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767" y="2452077"/>
            <a:ext cx="238886" cy="23888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12026" y="2315260"/>
            <a:ext cx="1468069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12026" y="2593238"/>
            <a:ext cx="146806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看报表、做分析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021324" y="2940710"/>
            <a:ext cx="1945843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报表展示与 AI 问数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314639" y="2176272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488375" y="2332634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warehou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818" y="2452077"/>
            <a:ext cx="238886" cy="238886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9079077" y="2315260"/>
            <a:ext cx="1468069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湖仓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79077" y="2593238"/>
            <a:ext cx="146806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存数据的“仓库”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88375" y="2940710"/>
            <a:ext cx="1945843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部分模型已建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13485" y="3835450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474" y="3765956"/>
            <a:ext cx="781811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已经跑通：每天凌晨自动跑一遍的“数据流水线”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480706" y="3765956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供应商 / 游客 / 会员 → 订单 → 维度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4200296"/>
            <a:ext cx="1702612" cy="868680"/>
          </a:xfrm>
          <a:prstGeom prst="roundRect">
            <a:avLst>
              <a:gd name="adj" fmla="val 1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190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原样存一份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068830" y="4087368"/>
            <a:ext cx="460400" cy="208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7F6F82"/>
                </a:solidFill>
                <a:latin typeface="微软雅黑"/>
                <a:ea typeface="微软雅黑"/>
              </a:rPr>
              <a:t>ODS</a:t>
            </a:r>
          </a:p>
        </p:txBody>
      </p:sp>
      <p:sp>
        <p:nvSpPr>
          <p:cNvPr id="170" name="Right Arrow 169"/>
          <p:cNvSpPr/>
          <p:nvPr/>
        </p:nvSpPr>
        <p:spPr>
          <a:xfrm>
            <a:off x="2668219" y="4547768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2911449" y="4200296"/>
            <a:ext cx="1702612" cy="868680"/>
          </a:xfrm>
          <a:prstGeom prst="roundRect">
            <a:avLst>
              <a:gd name="adj" fmla="val 1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190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去重、补全、纠错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066794" y="4087368"/>
            <a:ext cx="460400" cy="208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7F6F82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173" name="Right Arrow 172"/>
          <p:cNvSpPr/>
          <p:nvPr/>
        </p:nvSpPr>
        <p:spPr>
          <a:xfrm>
            <a:off x="4666183" y="4547768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4909413" y="4200296"/>
            <a:ext cx="1702612" cy="868680"/>
          </a:xfrm>
          <a:prstGeom prst="roundRect">
            <a:avLst>
              <a:gd name="adj" fmla="val 1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字典</a:t>
            </a:r>
          </a:p>
          <a:p>
            <a:pPr algn="ctr">
              <a:spcBef>
                <a:spcPts val="190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景区、商品等基础信息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64758" y="4087368"/>
            <a:ext cx="460400" cy="208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7F6F82"/>
                </a:solidFill>
                <a:latin typeface="微软雅黑"/>
                <a:ea typeface="微软雅黑"/>
              </a:rPr>
              <a:t>DIM</a:t>
            </a:r>
          </a:p>
        </p:txBody>
      </p:sp>
      <p:sp>
        <p:nvSpPr>
          <p:cNvPr id="176" name="Right Arrow 175"/>
          <p:cNvSpPr/>
          <p:nvPr/>
        </p:nvSpPr>
        <p:spPr>
          <a:xfrm>
            <a:off x="6664147" y="4547768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907377" y="4200296"/>
            <a:ext cx="1702612" cy="868680"/>
          </a:xfrm>
          <a:prstGeom prst="roundRect">
            <a:avLst>
              <a:gd name="adj" fmla="val 1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190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按天、按景区算好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062721" y="4087368"/>
            <a:ext cx="460400" cy="208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7F6F82"/>
                </a:solidFill>
                <a:latin typeface="微软雅黑"/>
                <a:ea typeface="微软雅黑"/>
              </a:rPr>
              <a:t>DWS</a:t>
            </a:r>
          </a:p>
        </p:txBody>
      </p:sp>
      <p:sp>
        <p:nvSpPr>
          <p:cNvPr id="179" name="Right Arrow 178"/>
          <p:cNvSpPr/>
          <p:nvPr/>
        </p:nvSpPr>
        <p:spPr>
          <a:xfrm>
            <a:off x="8662111" y="4547768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8905341" y="4200296"/>
            <a:ext cx="1702612" cy="8686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190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报表、接口直接用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0060686" y="4087368"/>
            <a:ext cx="460400" cy="20848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850" b="0">
                <a:solidFill>
                  <a:srgbClr val="7F6F82"/>
                </a:solidFill>
                <a:latin typeface="微软雅黑"/>
                <a:ea typeface="微软雅黑"/>
              </a:rPr>
              <a:t>ADS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13485" y="5286146"/>
            <a:ext cx="9694468" cy="573328"/>
          </a:xfrm>
          <a:prstGeom prst="roundRect">
            <a:avLst>
              <a:gd name="adj" fmla="val 15151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triangle-alert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220" y="5442508"/>
            <a:ext cx="260603" cy="260603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1452066" y="5286146"/>
            <a:ext cx="1042415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还没建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303373" y="5442508"/>
            <a:ext cx="832967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实时数据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240582" y="5442508"/>
            <a:ext cx="111046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数据质量检查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455287" y="5442508"/>
            <a:ext cx="832967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392496" y="5442508"/>
            <a:ext cx="111046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指标口径管理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607200" y="5442508"/>
            <a:ext cx="111046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数据规范落地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问题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六个平时真实遇到的麻烦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每一条都能在日常工作里找到例子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06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838629"/>
            <a:ext cx="9694468" cy="347472"/>
          </a:xfrm>
          <a:prstGeom prst="roundRect">
            <a:avLst>
              <a:gd name="adj" fmla="val 2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87220" y="1838629"/>
            <a:ext cx="195452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02355" y="1838629"/>
            <a:ext cx="386562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平时是什么样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28584" y="1838629"/>
            <a:ext cx="30925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为什么会这样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13485" y="2238222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43787" y="2325090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55" y="2411958"/>
            <a:ext cx="173736" cy="173736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504187" y="2238222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02355" y="2238222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想看“售票 + 二消 + 结算”，要从 3 个以上系统导数、手工拼表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28584" y="2238222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F6F82"/>
                </a:solidFill>
                <a:latin typeface="微软雅黑"/>
                <a:ea typeface="微软雅黑"/>
              </a:rPr>
              <a:t>没有统一接入；景区、商品、渠道编号各系统不一样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2802864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43787" y="2889732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55" y="2976600"/>
            <a:ext cx="173736" cy="173736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1504187" y="2802864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一个数多个答案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302355" y="2802864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同一天同一景区，看板、对账、接口三处“核销量”不一样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428584" y="2802864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F6F82"/>
                </a:solidFill>
                <a:latin typeface="微软雅黑"/>
                <a:ea typeface="微软雅黑"/>
              </a:rPr>
              <a:t>公司层面没有统一的指标定义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3485" y="3367506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43787" y="3454373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655" y="3541241"/>
            <a:ext cx="173736" cy="173736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504187" y="3367506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没规矩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02355" y="3367506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表名随意、字段没说明、出了问题找不到负责人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28584" y="3367506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F6F82"/>
                </a:solidFill>
                <a:latin typeface="微软雅黑"/>
                <a:ea typeface="微软雅黑"/>
              </a:rPr>
              <a:t>规范只写在文档里，上线没有人卡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13485" y="3932148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43787" y="4019016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55" y="4105884"/>
            <a:ext cx="173736" cy="173736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504187" y="3932148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02355" y="3932148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订单宽表离线、湖仓各做一份，结果还对不上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28584" y="3932148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F6F82"/>
                </a:solidFill>
                <a:latin typeface="微软雅黑"/>
                <a:ea typeface="微软雅黑"/>
              </a:rPr>
              <a:t>没有统一的公共层，各做各的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13485" y="4496790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43787" y="4583658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655" y="4670526"/>
            <a:ext cx="173736" cy="173736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504187" y="4496790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302355" y="4496790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入园、核销和现场对不上，节假日更明显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28584" y="4496790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F6F82"/>
                </a:solidFill>
                <a:latin typeface="微软雅黑"/>
                <a:ea typeface="微软雅黑"/>
              </a:rPr>
              <a:t>补传、重复上报、撤销冲正、时间口径混用，缺逐层核对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13485" y="5061432"/>
            <a:ext cx="9694468" cy="521207"/>
          </a:xfrm>
          <a:prstGeom prst="roundRect">
            <a:avLst>
              <a:gd name="adj" fmla="val 13333"/>
            </a:avLst>
          </a:prstGeom>
          <a:solidFill>
            <a:srgbClr val="FA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43787" y="5148300"/>
            <a:ext cx="347472" cy="347472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hour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655" y="5235168"/>
            <a:ext cx="173736" cy="173736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504187" y="5061432"/>
            <a:ext cx="1607057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9A5A4B"/>
                </a:solidFill>
                <a:latin typeface="微软雅黑"/>
                <a:ea typeface="微软雅黑"/>
              </a:rPr>
              <a:t>看得慢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02355" y="5061432"/>
            <a:ext cx="3865626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高峰期订单、核销第二天才看到，预警靠人盯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428584" y="5061432"/>
            <a:ext cx="309250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9A5A4B"/>
                </a:solidFill>
                <a:latin typeface="微软雅黑"/>
                <a:ea typeface="微软雅黑"/>
              </a:rPr>
              <a:t>只有每天跑一次的离线链路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13485" y="5730316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595" y="5838901"/>
            <a:ext cx="260603" cy="260603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478127" y="5730316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一句话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前五个是“管理问题”，要系统治理；第六个是“能力缺口”，要补实时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根因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五个问题看着分散，根子只有一个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07  ·  AI＋数据平台 · 01  数据平台</a:t>
            </a:r>
          </a:p>
        </p:txBody>
      </p:sp>
      <p:grpSp>
        <p:nvGrpSpPr>
          <p:cNvPr id="20800" name="素材 31"/>
          <p:cNvGrpSpPr/>
          <p:nvPr/>
        </p:nvGrpSpPr>
        <p:grpSpPr>
          <a:xfrm>
            <a:off x="913485" y="1801368"/>
            <a:ext cx="6341364" cy="2627700"/>
            <a:chOff x="1728589" y="2236993"/>
            <a:chExt cx="7979490" cy="3306499"/>
          </a:xfrm>
        </p:grpSpPr>
        <p:grpSp>
          <p:nvGrpSpPr>
            <p:cNvPr id="208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08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08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08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08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08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08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948496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08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7F6F82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08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BBAFBD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08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C4A39C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08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B97A6A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</p:grpSp>
      <p:pic>
        <p:nvPicPr>
          <p:cNvPr id="20821" name="Picture 20820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60" y="2107680"/>
            <a:ext cx="382219" cy="382219"/>
          </a:xfrm>
          <a:prstGeom prst="rect">
            <a:avLst/>
          </a:prstGeom>
        </p:spPr>
      </p:pic>
      <p:sp>
        <p:nvSpPr>
          <p:cNvPr id="20822" name="TextBox 20821"/>
          <p:cNvSpPr txBox="1"/>
          <p:nvPr/>
        </p:nvSpPr>
        <p:spPr>
          <a:xfrm>
            <a:off x="901658" y="2542020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数据散</a:t>
            </a:r>
          </a:p>
        </p:txBody>
      </p:sp>
      <p:sp>
        <p:nvSpPr>
          <p:cNvPr id="20823" name="TextBox 20822"/>
          <p:cNvSpPr txBox="1"/>
          <p:nvPr/>
        </p:nvSpPr>
        <p:spPr>
          <a:xfrm>
            <a:off x="814790" y="3810872"/>
            <a:ext cx="1737360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编号不统一</a:t>
            </a:r>
          </a:p>
        </p:txBody>
      </p:sp>
      <p:pic>
        <p:nvPicPr>
          <p:cNvPr id="20824" name="Picture 20823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384" y="2805294"/>
            <a:ext cx="382219" cy="382219"/>
          </a:xfrm>
          <a:prstGeom prst="rect">
            <a:avLst/>
          </a:prstGeom>
        </p:spPr>
      </p:pic>
      <p:sp>
        <p:nvSpPr>
          <p:cNvPr id="20825" name="TextBox 20824"/>
          <p:cNvSpPr txBox="1"/>
          <p:nvPr/>
        </p:nvSpPr>
        <p:spPr>
          <a:xfrm>
            <a:off x="2100681" y="3239634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口径不一</a:t>
            </a:r>
          </a:p>
        </p:txBody>
      </p:sp>
      <p:sp>
        <p:nvSpPr>
          <p:cNvPr id="20826" name="TextBox 20825"/>
          <p:cNvSpPr txBox="1"/>
          <p:nvPr/>
        </p:nvSpPr>
        <p:spPr>
          <a:xfrm>
            <a:off x="2013813" y="4479418"/>
            <a:ext cx="1737360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没有统一定义</a:t>
            </a:r>
          </a:p>
        </p:txBody>
      </p:sp>
      <p:pic>
        <p:nvPicPr>
          <p:cNvPr id="20827" name="Picture 20826" descr="file-tex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407" y="2107680"/>
            <a:ext cx="382219" cy="382219"/>
          </a:xfrm>
          <a:prstGeom prst="rect">
            <a:avLst/>
          </a:prstGeom>
        </p:spPr>
      </p:pic>
      <p:sp>
        <p:nvSpPr>
          <p:cNvPr id="20828" name="TextBox 20827"/>
          <p:cNvSpPr txBox="1"/>
          <p:nvPr/>
        </p:nvSpPr>
        <p:spPr>
          <a:xfrm>
            <a:off x="3299705" y="2542020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没规矩</a:t>
            </a:r>
          </a:p>
        </p:txBody>
      </p:sp>
      <p:sp>
        <p:nvSpPr>
          <p:cNvPr id="20829" name="TextBox 20828"/>
          <p:cNvSpPr txBox="1"/>
          <p:nvPr/>
        </p:nvSpPr>
        <p:spPr>
          <a:xfrm>
            <a:off x="3212837" y="3810872"/>
            <a:ext cx="1737360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规范没人卡</a:t>
            </a:r>
          </a:p>
        </p:txBody>
      </p:sp>
      <p:pic>
        <p:nvPicPr>
          <p:cNvPr id="20830" name="Picture 20829" descr="repea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6698" y="2805294"/>
            <a:ext cx="382219" cy="382219"/>
          </a:xfrm>
          <a:prstGeom prst="rect">
            <a:avLst/>
          </a:prstGeom>
        </p:spPr>
      </p:pic>
      <p:sp>
        <p:nvSpPr>
          <p:cNvPr id="20831" name="TextBox 20830"/>
          <p:cNvSpPr txBox="1"/>
          <p:nvPr/>
        </p:nvSpPr>
        <p:spPr>
          <a:xfrm>
            <a:off x="4505996" y="3239634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重复干活</a:t>
            </a:r>
          </a:p>
        </p:txBody>
      </p:sp>
      <p:sp>
        <p:nvSpPr>
          <p:cNvPr id="20832" name="TextBox 20831"/>
          <p:cNvSpPr txBox="1"/>
          <p:nvPr/>
        </p:nvSpPr>
        <p:spPr>
          <a:xfrm>
            <a:off x="4419128" y="4479418"/>
            <a:ext cx="1737360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没有公共层</a:t>
            </a:r>
          </a:p>
        </p:txBody>
      </p:sp>
      <p:pic>
        <p:nvPicPr>
          <p:cNvPr id="20833" name="Picture 20832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088" y="2107680"/>
            <a:ext cx="382219" cy="382219"/>
          </a:xfrm>
          <a:prstGeom prst="rect">
            <a:avLst/>
          </a:prstGeom>
        </p:spPr>
      </p:pic>
      <p:sp>
        <p:nvSpPr>
          <p:cNvPr id="20834" name="TextBox 20833"/>
          <p:cNvSpPr txBox="1"/>
          <p:nvPr/>
        </p:nvSpPr>
        <p:spPr>
          <a:xfrm>
            <a:off x="5701385" y="2542020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数字不准</a:t>
            </a:r>
          </a:p>
        </p:txBody>
      </p:sp>
      <p:sp>
        <p:nvSpPr>
          <p:cNvPr id="20835" name="TextBox 20834"/>
          <p:cNvSpPr txBox="1"/>
          <p:nvPr/>
        </p:nvSpPr>
        <p:spPr>
          <a:xfrm>
            <a:off x="5614517" y="3810872"/>
            <a:ext cx="1737360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缺逐层核对</a:t>
            </a:r>
          </a:p>
        </p:txBody>
      </p:sp>
      <p:sp>
        <p:nvSpPr>
          <p:cNvPr id="20836" name="Right Arrow 20835"/>
          <p:cNvSpPr/>
          <p:nvPr/>
        </p:nvSpPr>
        <p:spPr>
          <a:xfrm>
            <a:off x="7385151" y="2800350"/>
            <a:ext cx="364845" cy="312724"/>
          </a:xfrm>
          <a:prstGeom prst="rightArrow">
            <a:avLst/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7" name="Rounded Rectangle 20836"/>
          <p:cNvSpPr/>
          <p:nvPr/>
        </p:nvSpPr>
        <p:spPr>
          <a:xfrm>
            <a:off x="7888986" y="1801368"/>
            <a:ext cx="2718968" cy="2388870"/>
          </a:xfrm>
          <a:prstGeom prst="roundRect">
            <a:avLst>
              <a:gd name="adj" fmla="val 509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8" name="TextBox 20837"/>
          <p:cNvSpPr txBox="1"/>
          <p:nvPr/>
        </p:nvSpPr>
        <p:spPr>
          <a:xfrm>
            <a:off x="8149590" y="1931670"/>
            <a:ext cx="2284628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EFE6E5"/>
                </a:solidFill>
                <a:latin typeface="微软雅黑"/>
                <a:ea typeface="微软雅黑"/>
              </a:rPr>
              <a:t>根子</a:t>
            </a:r>
          </a:p>
        </p:txBody>
      </p:sp>
      <p:sp>
        <p:nvSpPr>
          <p:cNvPr id="20839" name="TextBox 20838"/>
          <p:cNvSpPr txBox="1"/>
          <p:nvPr/>
        </p:nvSpPr>
        <p:spPr>
          <a:xfrm>
            <a:off x="8149590" y="2279142"/>
            <a:ext cx="2284628" cy="13898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缺少统一的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标准、模型、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口径和检查</a:t>
            </a:r>
          </a:p>
        </p:txBody>
      </p:sp>
      <p:sp>
        <p:nvSpPr>
          <p:cNvPr id="20840" name="TextBox 20839"/>
          <p:cNvSpPr txBox="1"/>
          <p:nvPr/>
        </p:nvSpPr>
        <p:spPr>
          <a:xfrm>
            <a:off x="8149590" y="3582162"/>
            <a:ext cx="2284628" cy="47777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F3D9CF"/>
                </a:solidFill>
                <a:latin typeface="微软雅黑"/>
                <a:ea typeface="微软雅黑"/>
              </a:rPr>
              <a:t>→ 要体系化治理，不能修修补补</a:t>
            </a:r>
          </a:p>
        </p:txBody>
      </p:sp>
      <p:sp>
        <p:nvSpPr>
          <p:cNvPr id="20841" name="Rounded Rectangle 20840"/>
          <p:cNvSpPr/>
          <p:nvPr/>
        </p:nvSpPr>
        <p:spPr>
          <a:xfrm>
            <a:off x="7888986" y="4363974"/>
            <a:ext cx="2718968" cy="868680"/>
          </a:xfrm>
          <a:prstGeom prst="roundRect">
            <a:avLst>
              <a:gd name="adj" fmla="val 12000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842" name="Picture 20841" descr="hourglass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2721" y="4511649"/>
            <a:ext cx="260603" cy="260603"/>
          </a:xfrm>
          <a:prstGeom prst="rect">
            <a:avLst/>
          </a:prstGeom>
        </p:spPr>
      </p:pic>
      <p:sp>
        <p:nvSpPr>
          <p:cNvPr id="20843" name="TextBox 20842"/>
          <p:cNvSpPr txBox="1"/>
          <p:nvPr/>
        </p:nvSpPr>
        <p:spPr>
          <a:xfrm>
            <a:off x="8410194" y="4424781"/>
            <a:ext cx="2110892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“看得慢”另算</a:t>
            </a:r>
          </a:p>
        </p:txBody>
      </p:sp>
      <p:sp>
        <p:nvSpPr>
          <p:cNvPr id="20844" name="TextBox 20843"/>
          <p:cNvSpPr txBox="1"/>
          <p:nvPr/>
        </p:nvSpPr>
        <p:spPr>
          <a:xfrm>
            <a:off x="8410194" y="4737506"/>
            <a:ext cx="2110892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是能力缺口：在统一模型上补实时</a:t>
            </a:r>
          </a:p>
        </p:txBody>
      </p:sp>
      <p:sp>
        <p:nvSpPr>
          <p:cNvPr id="20845" name="Rounded Rectangle 20844"/>
          <p:cNvSpPr/>
          <p:nvPr/>
        </p:nvSpPr>
        <p:spPr>
          <a:xfrm>
            <a:off x="913485" y="5493258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846" name="Picture 20845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595" y="5601843"/>
            <a:ext cx="260603" cy="260603"/>
          </a:xfrm>
          <a:prstGeom prst="rect">
            <a:avLst/>
          </a:prstGeom>
        </p:spPr>
      </p:pic>
      <p:sp>
        <p:nvSpPr>
          <p:cNvPr id="20847" name="TextBox 20846"/>
          <p:cNvSpPr txBox="1"/>
          <p:nvPr/>
        </p:nvSpPr>
        <p:spPr>
          <a:xfrm>
            <a:off x="1478127" y="5493258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所以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单点修补会反复出现：这次对平了核销量，下次换个指标又对不上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185422" y="112347"/>
            <a:ext cx="3820849" cy="830525"/>
            <a:chOff x="2659221" y="1745433"/>
            <a:chExt cx="3820849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498897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249424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我们手里有什么数据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按业务分成 8 大块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数据按“数据域 → 主题”分门别类，像图书馆分区一样好找、好管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08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9847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receip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2" y="2441219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591056" y="2315260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交易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91056" y="2567177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订单、票务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9847" y="2888589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订单数 · 销售额 · 核销次数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69847" y="3218687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695297" y="3218687"/>
            <a:ext cx="621830" cy="225856"/>
          </a:xfrm>
          <a:prstGeom prst="roundRect">
            <a:avLst>
              <a:gd name="adj" fmla="val 50000"/>
            </a:avLst>
          </a:prstGeom>
          <a:solidFill>
            <a:srgbClr val="948496"/>
          </a:solidFill>
          <a:ln w="952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80536" y="2176272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536899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packag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484" y="2441219"/>
            <a:ext cx="217170" cy="21717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058107" y="2315260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商品与资源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58107" y="2567177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产品、库存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36899" y="2888589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售罄率 · 库存余量 · 热销产品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536899" y="3218687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BB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162348" y="3218687"/>
            <a:ext cx="73644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847588" y="2176272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3950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535" y="2441219"/>
            <a:ext cx="217170" cy="21717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525158" y="2315260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用户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25158" y="2567177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游客、会员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03950" y="2888589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会员等级 · 复购倾向 · 出游偏好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03950" y="3218687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629400" y="3218687"/>
            <a:ext cx="621830" cy="225856"/>
          </a:xfrm>
          <a:prstGeom prst="roundRect">
            <a:avLst>
              <a:gd name="adj" fmla="val 50000"/>
            </a:avLst>
          </a:prstGeom>
          <a:solidFill>
            <a:srgbClr val="948496"/>
          </a:solidFill>
          <a:ln w="952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314639" y="2176272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471001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586" y="2441219"/>
            <a:ext cx="217170" cy="2171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8992209" y="2315260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合作方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992209" y="2567177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71001" y="2888589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履约率 · 结算周期 · 供应商等级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471001" y="3218687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096451" y="3218687"/>
            <a:ext cx="621830" cy="225856"/>
          </a:xfrm>
          <a:prstGeom prst="roundRect">
            <a:avLst>
              <a:gd name="adj" fmla="val 50000"/>
            </a:avLst>
          </a:prstGeom>
          <a:solidFill>
            <a:srgbClr val="948496"/>
          </a:solidFill>
          <a:ln w="952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已入仓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13485" y="3757269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69847" y="391363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432" y="4022216"/>
            <a:ext cx="217170" cy="21717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591056" y="3896258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流量营销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91056" y="4148175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渠道、活动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69847" y="4469587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渠道转化率 · 活动回报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69847" y="4799685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695297" y="4799685"/>
            <a:ext cx="73644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380536" y="3757269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3536899" y="391363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activ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5484" y="4022216"/>
            <a:ext cx="217170" cy="21717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4058107" y="3896258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58107" y="4148175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日常运营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36899" y="4469587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房态占用率 · 准点率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3536899" y="4799685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BB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162348" y="4799685"/>
            <a:ext cx="73644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847588" y="3757269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003950" y="391363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Picture 190" descr="wall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535" y="4022216"/>
            <a:ext cx="217170" cy="21717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6525158" y="3896258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525158" y="4148175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结算、对账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003950" y="4469587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应结 / 已结金额 · 对账差异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003950" y="4799685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629400" y="4799685"/>
            <a:ext cx="73644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314639" y="3757269"/>
            <a:ext cx="2293315" cy="1407261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471001" y="391363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9" name="Picture 198" descr="settin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9586" y="4022216"/>
            <a:ext cx="217170" cy="21717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8992209" y="3896258"/>
            <a:ext cx="151150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内部管理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92209" y="4148175"/>
            <a:ext cx="1511503" cy="217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内部系统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71001" y="4469587"/>
            <a:ext cx="2032711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任务运行 · 存储计算成本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471001" y="4799685"/>
            <a:ext cx="538581" cy="225856"/>
          </a:xfrm>
          <a:prstGeom prst="roundRect">
            <a:avLst>
              <a:gd name="adj" fmla="val 50000"/>
            </a:avLst>
          </a:prstGeom>
          <a:solidFill>
            <a:srgbClr val="BB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096451" y="4799685"/>
            <a:ext cx="73644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部分入仓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13485" y="5320893"/>
            <a:ext cx="4760366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00" b="1">
                <a:solidFill>
                  <a:srgbClr val="7F6F82"/>
                </a:solidFill>
                <a:latin typeface="微软雅黑"/>
                <a:ea typeface="微软雅黑"/>
              </a:rPr>
              <a:t>待补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现场设备、外部数据、AI 产生的数据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847588" y="5320893"/>
            <a:ext cx="4760366" cy="538581"/>
          </a:xfrm>
          <a:prstGeom prst="roundRect">
            <a:avLst>
              <a:gd name="adj" fmla="val 16129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难点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节假日高峰、状态多变、离线补传、多景区隔离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怎么建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六层搭起来，治理管全程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从下往上：数据从哪来 → 存到哪 → 算成什么 → 怎么给出去 → AI 怎么用 → 谁在用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09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60245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应用与服务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谁在用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781146" y="1960245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内部经营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040733" y="1960245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景区运营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300319" y="1960245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伙伴接入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559905" y="1960245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行业报告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819491" y="1960245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数据产品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13485" y="2594381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能力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让 AI 能用数据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781146" y="2594381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模型服务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355630" y="2594381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知识服务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930112" y="2594381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工具服务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504595" y="2594381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评测运营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13485" y="3228518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对外的窗口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781146" y="3228518"/>
            <a:ext cx="1487614" cy="538581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动态数据开放 API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355630" y="3228518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指标服务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930112" y="3228518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标签服务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504595" y="3228518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一键接入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3485" y="3862654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指标与分析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算好的数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781146" y="3862654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企业标准指标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355630" y="3862654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景区自定义指标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930112" y="3862654"/>
            <a:ext cx="1487614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504595" y="3862654"/>
            <a:ext cx="1487614" cy="538581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13485" y="4496791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统一底座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仓库与车间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81146" y="4496791"/>
            <a:ext cx="1172718" cy="538581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DataWorks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040733" y="4496791"/>
            <a:ext cx="1172718" cy="538581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离线主流程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300319" y="4496791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实时计算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559905" y="4496791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湖仓存储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819491" y="4496791"/>
            <a:ext cx="117271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公共模型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5130927"/>
            <a:ext cx="1737360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数据来源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数据从哪来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781146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568387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355629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小程序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142870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930111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717352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504594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设备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291836" y="5130927"/>
            <a:ext cx="700373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165944" y="1960245"/>
            <a:ext cx="1442008" cy="3709262"/>
          </a:xfrm>
          <a:prstGeom prst="roundRect">
            <a:avLst>
              <a:gd name="adj" fmla="val 8433"/>
            </a:avLst>
          </a:prstGeom>
          <a:gradFill rotWithShape="1">
            <a:gsLst>
              <a:gs pos="0">
                <a:srgbClr val="7F6F82"/>
              </a:gs>
              <a:gs pos="100000">
                <a:srgbClr val="94849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2133981"/>
            <a:ext cx="364845" cy="364845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9357055" y="2568321"/>
            <a:ext cx="1094536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数据治理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贯穿每一层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357055" y="3306699"/>
            <a:ext cx="1094536" cy="24323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定规矩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统一编号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数据家谱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每天体检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统一口径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管好权限</a:t>
            </a:r>
          </a:p>
          <a:p>
            <a:pPr algn="l">
              <a:lnSpc>
                <a:spcPct val="110000"/>
              </a:lnSpc>
              <a:spcBef>
                <a:spcPts val="380"/>
              </a:spcBef>
            </a:pPr>
            <a:r>
              <a:rPr sz="1200" b="0">
                <a:solidFill>
                  <a:srgbClr val="F4ECEC"/>
                </a:solidFill>
                <a:latin typeface="微软雅黑"/>
                <a:ea typeface="微软雅黑"/>
              </a:rPr>
              <a:t>定期大扫除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13485" y="5825870"/>
            <a:ext cx="8783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已经有的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896059" y="5825870"/>
            <a:ext cx="1164996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要新建 / 升级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39033" y="5825870"/>
            <a:ext cx="5212079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思路：统一标准，治理写进研发流程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295151" y="112347"/>
            <a:ext cx="3601392" cy="830525"/>
            <a:chOff x="2659221" y="1745433"/>
            <a:chExt cx="3601392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79440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029967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在已有工具上补齐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能不买的先不买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七类能力，分清哪些已有、哪些升级、哪些新建；没买的模块先用省钱的办法顶上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10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886407"/>
            <a:ext cx="6384797" cy="364845"/>
          </a:xfrm>
          <a:prstGeom prst="roundRect">
            <a:avLst>
              <a:gd name="adj" fmla="val 19047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43787" y="1886407"/>
            <a:ext cx="868680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能力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86202" y="1886407"/>
            <a:ext cx="178079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40733" y="1886407"/>
            <a:ext cx="1172718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87187" y="1886407"/>
            <a:ext cx="1867662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新建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13485" y="2294686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43787" y="2294686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数据集成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86202" y="2294686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批量同步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040733" y="2294686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埋点采集、设备回传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87187" y="2294686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实时采集、标准连接器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2763774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43787" y="2763774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存储计算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86202" y="2763774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离线计算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40733" y="2763774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387187" y="2763774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实时计算、湖仓统一存储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3485" y="3232861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43787" y="3232861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开发运维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86202" y="3232861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开发、运维中心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040733" y="3232861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数据建模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387187" y="3232861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发布卡点、成本治理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13485" y="3701948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43787" y="3701948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数据治理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86202" y="3701948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数据地图、资产治理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40733" y="3701948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血缘、健康分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387187" y="3701948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质量、标准、分级打码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13485" y="4171035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43787" y="4171035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指标标签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086202" y="4171035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040733" y="4171035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387187" y="4171035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指标中心、标签系统、景区自定义空间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13485" y="4640122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43787" y="4640122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服务分析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086202" y="4640122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开放 API、数据服务、小Q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040733" y="4640122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87187" y="4640122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嵌入式分析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13485" y="5109210"/>
            <a:ext cx="6384797" cy="434340"/>
          </a:xfrm>
          <a:prstGeom prst="roundRect">
            <a:avLst>
              <a:gd name="adj" fmla="val 12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043787" y="5109210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AI 能力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086202" y="5109210"/>
            <a:ext cx="178079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40733" y="5109210"/>
            <a:ext cx="117271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AI 问数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387187" y="5109210"/>
            <a:ext cx="186766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模型网关、知识检索、评测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515453" y="1886407"/>
            <a:ext cx="3092500" cy="3657142"/>
          </a:xfrm>
          <a:prstGeom prst="roundRect">
            <a:avLst>
              <a:gd name="adj" fmla="val 337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piggy-ban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189" y="2025395"/>
            <a:ext cx="330098" cy="330098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8106156" y="1990648"/>
            <a:ext cx="2397556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9A5A4B"/>
                </a:solidFill>
                <a:latin typeface="微软雅黑"/>
                <a:ea typeface="微软雅黑"/>
              </a:rPr>
              <a:t>没买的模块，先这样顶上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671816" y="2520543"/>
            <a:ext cx="2779776" cy="59070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793431" y="2563977"/>
            <a:ext cx="257129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数据质量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793431" y="2807208"/>
            <a:ext cx="257129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关键任务后加检查节点，不合格就拦住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671816" y="3198113"/>
            <a:ext cx="2779776" cy="59070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793431" y="3241547"/>
            <a:ext cx="257129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数据标准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793431" y="3484778"/>
            <a:ext cx="257129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规范文档 + 发布前检查脚本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7671816" y="3875684"/>
            <a:ext cx="2779776" cy="59070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793431" y="3919118"/>
            <a:ext cx="257129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安全中心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93431" y="4162348"/>
            <a:ext cx="257129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计算引擎权限 + 打码视图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671816" y="4553254"/>
            <a:ext cx="2779776" cy="59070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793431" y="4596687"/>
            <a:ext cx="257129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实时计算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793431" y="4839919"/>
            <a:ext cx="257129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先做小范围试验，验证后再投入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913485" y="5682538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Picture 196" descr="circl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5791123"/>
            <a:ext cx="260603" cy="260603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1478127" y="5682538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原则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已有投入全部保留；先用现有工具延伸，验证有效再追加投入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404878" y="112347"/>
            <a:ext cx="3381937" cy="830525"/>
            <a:chOff x="2659221" y="1745433"/>
            <a:chExt cx="3381937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059985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810512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数据治理怎么做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不搞运动，把规矩写进日常流程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治理不是一次性的大扫除，而是每张表、每个指标从设计到下线都要过“检查站”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11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68931"/>
            <a:ext cx="6080759" cy="608075"/>
          </a:xfrm>
          <a:prstGeom prst="roundRect">
            <a:avLst>
              <a:gd name="adj" fmla="val 14285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913485" y="1968931"/>
            <a:ext cx="1346454" cy="608075"/>
          </a:xfrm>
          <a:prstGeom prst="roundRect">
            <a:avLst>
              <a:gd name="adj" fmla="val 14285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目标</a:t>
            </a:r>
          </a:p>
        </p:txBody>
      </p:sp>
      <p:pic>
        <p:nvPicPr>
          <p:cNvPr id="143" name="Picture 142" descr="targ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75" y="2142667"/>
            <a:ext cx="260603" cy="260603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2807208" y="1968931"/>
            <a:ext cx="4082796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数字可信 · 口径统一 · 安全合规 · 成本可控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13485" y="2663875"/>
            <a:ext cx="6080759" cy="608075"/>
          </a:xfrm>
          <a:prstGeom prst="roundRect">
            <a:avLst>
              <a:gd name="adj" fmla="val 14285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913485" y="2663875"/>
            <a:ext cx="1346454" cy="608075"/>
          </a:xfrm>
          <a:prstGeom prst="roundRect">
            <a:avLst>
              <a:gd name="adj" fmla="val 14285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管哪些</a:t>
            </a:r>
          </a:p>
        </p:txBody>
      </p:sp>
      <p:pic>
        <p:nvPicPr>
          <p:cNvPr id="147" name="Picture 146" descr="list-check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675" y="2837611"/>
            <a:ext cx="260603" cy="260603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2807208" y="2663875"/>
            <a:ext cx="4082796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标准 · 家谱 · 编号 · 体检 · 口径 · 权限 · 大扫除 · 出口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13485" y="3358819"/>
            <a:ext cx="6080759" cy="608075"/>
          </a:xfrm>
          <a:prstGeom prst="roundRect">
            <a:avLst>
              <a:gd name="adj" fmla="val 14285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13485" y="3358819"/>
            <a:ext cx="1346454" cy="608075"/>
          </a:xfrm>
          <a:prstGeom prst="roundRect">
            <a:avLst>
              <a:gd name="adj" fmla="val 14285"/>
            </a:avLst>
          </a:prstGeom>
          <a:solidFill>
            <a:srgbClr val="A99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怎么嵌入</a:t>
            </a:r>
          </a:p>
        </p:txBody>
      </p:sp>
      <p:pic>
        <p:nvPicPr>
          <p:cNvPr id="151" name="Picture 150" descr="workflow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675" y="3532555"/>
            <a:ext cx="260603" cy="260603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2807208" y="3358819"/>
            <a:ext cx="4082796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事前定规范 · 事中设卡点 · 事后做治理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3485" y="4053763"/>
            <a:ext cx="6080759" cy="608075"/>
          </a:xfrm>
          <a:prstGeom prst="roundRect">
            <a:avLst>
              <a:gd name="adj" fmla="val 14285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913485" y="4053763"/>
            <a:ext cx="1346454" cy="608075"/>
          </a:xfrm>
          <a:prstGeom prst="roundRect">
            <a:avLst>
              <a:gd name="adj" fmla="val 14285"/>
            </a:avLst>
          </a:prstGeom>
          <a:solidFill>
            <a:srgbClr val="BD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用什么</a:t>
            </a:r>
          </a:p>
        </p:txBody>
      </p:sp>
      <p:pic>
        <p:nvPicPr>
          <p:cNvPr id="155" name="Picture 154" descr="wren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675" y="4227499"/>
            <a:ext cx="260603" cy="260603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2807208" y="4053763"/>
            <a:ext cx="4082796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已买的 DataWorks 模块 + 自写检查脚本和检查节点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3485" y="4748707"/>
            <a:ext cx="6080759" cy="608075"/>
          </a:xfrm>
          <a:prstGeom prst="roundRect">
            <a:avLst>
              <a:gd name="adj" fmla="val 14285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913485" y="4748707"/>
            <a:ext cx="1346454" cy="608075"/>
          </a:xfrm>
          <a:prstGeom prst="roundRect">
            <a:avLst>
              <a:gd name="adj" fmla="val 14285"/>
            </a:avLst>
          </a:prstGeom>
          <a:solidFill>
            <a:srgbClr val="CFC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谁来管</a:t>
            </a:r>
          </a:p>
        </p:txBody>
      </p:sp>
      <p:pic>
        <p:nvPicPr>
          <p:cNvPr id="159" name="Picture 158" descr="us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3675" y="4922443"/>
            <a:ext cx="260603" cy="260603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2807208" y="4748707"/>
            <a:ext cx="4082796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治理小组拍板 · 数据负责人推动 · 专员执行 · 健康分月度公示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254849" y="1968931"/>
            <a:ext cx="3353104" cy="3387851"/>
          </a:xfrm>
          <a:prstGeom prst="roundRect">
            <a:avLst>
              <a:gd name="adj" fmla="val 362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515453" y="2107920"/>
            <a:ext cx="291876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先治一条主线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15453" y="2429332"/>
            <a:ext cx="2918764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公司最核心、问题最多的一条线</a:t>
            </a:r>
          </a:p>
        </p:txBody>
      </p:sp>
      <p:sp>
        <p:nvSpPr>
          <p:cNvPr id="164" name="Oval 163"/>
          <p:cNvSpPr/>
          <p:nvPr/>
        </p:nvSpPr>
        <p:spPr>
          <a:xfrm>
            <a:off x="7558886" y="2863672"/>
            <a:ext cx="538581" cy="5385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receip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9189" y="2993974"/>
            <a:ext cx="277977" cy="277977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8253831" y="2863672"/>
            <a:ext cx="17373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167" name="Down Arrow 166"/>
          <p:cNvSpPr/>
          <p:nvPr/>
        </p:nvSpPr>
        <p:spPr>
          <a:xfrm>
            <a:off x="7741310" y="3437000"/>
            <a:ext cx="173736" cy="147675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558886" y="3602050"/>
            <a:ext cx="538581" cy="5385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scan-face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9189" y="3732352"/>
            <a:ext cx="277977" cy="277977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8253831" y="3602050"/>
            <a:ext cx="17373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核销</a:t>
            </a:r>
          </a:p>
        </p:txBody>
      </p:sp>
      <p:sp>
        <p:nvSpPr>
          <p:cNvPr id="171" name="Down Arrow 170"/>
          <p:cNvSpPr/>
          <p:nvPr/>
        </p:nvSpPr>
        <p:spPr>
          <a:xfrm>
            <a:off x="7741310" y="4175379"/>
            <a:ext cx="173736" cy="147675"/>
          </a:xfrm>
          <a:prstGeom prst="down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558886" y="4340428"/>
            <a:ext cx="538581" cy="53858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wallet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9189" y="4470730"/>
            <a:ext cx="277977" cy="277977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8253831" y="4340428"/>
            <a:ext cx="17373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结算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15453" y="5009311"/>
            <a:ext cx="2918764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F3D9CF"/>
                </a:solidFill>
                <a:latin typeface="微软雅黑"/>
                <a:ea typeface="微软雅黑"/>
              </a:rPr>
              <a:t>做通后按数据域推广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13485" y="5556580"/>
            <a:ext cx="9694468" cy="521207"/>
          </a:xfrm>
          <a:prstGeom prst="roundRect">
            <a:avLst>
              <a:gd name="adj" fmla="val 16666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zap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595" y="5686882"/>
            <a:ext cx="260603" cy="260603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478127" y="5556580"/>
            <a:ext cx="895609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关键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规矩不只写在文档里，而是写进开发流程：不合规的表发不出去，有问题的数流不到报表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277594" y="112347"/>
            <a:ext cx="3636505" cy="830525"/>
            <a:chOff x="2659221" y="1745433"/>
            <a:chExt cx="3636505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314553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065080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治理具体管 8 件事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每件都有产出、有考核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用大白话说，就是给数据定规矩、上户口、建家谱、做体检、管权限、搞卫生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12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9847" y="2350007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90" y="2469451"/>
            <a:ext cx="238886" cy="23888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51862" y="2332634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定规矩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51862" y="2610612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数据标准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9847" y="2958084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命名、分层、字段、码值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69847" y="3409797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74089" y="3409797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规范符合率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80536" y="2176272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536899" y="2350007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folder-tre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342" y="2469451"/>
            <a:ext cx="238886" cy="238886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4118914" y="2332634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建家谱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118914" y="2610612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数据血缘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36899" y="2958084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含义、负责人、上下游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536899" y="3409797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41140" y="3409797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注释 / 负责人覆盖率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847588" y="2176272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003950" y="2350007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id-c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393" y="2469451"/>
            <a:ext cx="238886" cy="238886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585966" y="2332634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85966" y="2610612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主数据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03950" y="2958084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景区、商品、渠道、供应商、游客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003950" y="3409797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108192" y="3409797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编码重复率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314639" y="2176272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471001" y="2350007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stethoscop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445" y="2469451"/>
            <a:ext cx="238886" cy="238886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9053017" y="2332634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053017" y="2610612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数据质量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71001" y="2958084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完整、准确、一致、及时、唯一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471001" y="3409797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75243" y="3409797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按时产出率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13485" y="4043933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69847" y="4217669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9290" y="4337113"/>
            <a:ext cx="238886" cy="238886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651862" y="4200295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651862" y="4478273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指标与标签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69847" y="4825746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口径、分类分级、认证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069847" y="5277459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74089" y="5277459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认证指标覆盖率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380536" y="4043933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3536899" y="4217669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342" y="4337113"/>
            <a:ext cx="238886" cy="238886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4118914" y="4200295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118914" y="4478273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权限安全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36899" y="4825746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分级、权属、审批、审计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3536899" y="5277459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641140" y="5277459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敏感字段识别率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847588" y="4043933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003950" y="4217669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Picture 190" descr="trash2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3393" y="4337113"/>
            <a:ext cx="238886" cy="238886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6585966" y="4200295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定期大扫除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585966" y="4478273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资产运营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003950" y="4825746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健康分、成本、下线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003950" y="5277459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108192" y="5277459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无用资产占比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314639" y="4043933"/>
            <a:ext cx="2293315" cy="1693925"/>
          </a:xfrm>
          <a:prstGeom prst="roundRect">
            <a:avLst>
              <a:gd name="adj" fmla="val 615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471001" y="4217669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9" name="Picture 198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0445" y="4337113"/>
            <a:ext cx="238886" cy="238886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053017" y="4200295"/>
            <a:ext cx="146806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统一出口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3017" y="4478273"/>
            <a:ext cx="1468069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948496"/>
                </a:solidFill>
                <a:latin typeface="微软雅黑"/>
                <a:ea typeface="微软雅黑"/>
              </a:rPr>
              <a:t>数据分发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71001" y="4825746"/>
            <a:ext cx="2032711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对内对外只走一个出口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471001" y="5277459"/>
            <a:ext cx="1980590" cy="33009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575243" y="5277459"/>
            <a:ext cx="1858975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看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出口收敛率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定规矩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每张表都有“身份证号”，一看名字就知道是什么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新表不合规发不出去；老表不一刀切，按优先级分批整改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13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895094"/>
            <a:ext cx="9694468" cy="1650492"/>
          </a:xfrm>
          <a:prstGeom prst="roundRect">
            <a:avLst>
              <a:gd name="adj" fmla="val 736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id-card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55" y="2086203"/>
            <a:ext cx="347472" cy="347472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564995" y="2068830"/>
            <a:ext cx="3474720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表名就是身份证号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072154" y="2503170"/>
            <a:ext cx="917905" cy="503834"/>
          </a:xfrm>
          <a:prstGeom prst="roundRect">
            <a:avLst>
              <a:gd name="adj" fmla="val 1724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24682" y="3050438"/>
            <a:ext cx="1612849" cy="225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加工到哪一层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24682" y="3250233"/>
            <a:ext cx="1612849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“洗干净”层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90059" y="2503170"/>
            <a:ext cx="217170" cy="5038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7B7074"/>
                </a:solidFill>
                <a:latin typeface="微软雅黑"/>
                <a:ea typeface="微软雅黑"/>
              </a:rPr>
              <a:t>_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07229" y="2503170"/>
            <a:ext cx="917905" cy="503834"/>
          </a:xfrm>
          <a:prstGeom prst="roundRect">
            <a:avLst>
              <a:gd name="adj" fmla="val 17241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ord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59757" y="3050438"/>
            <a:ext cx="1612849" cy="225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哪块业务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859757" y="3250233"/>
            <a:ext cx="1612849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>
                <a:solidFill>
                  <a:srgbClr val="948496"/>
                </a:solidFill>
                <a:latin typeface="微软雅黑"/>
                <a:ea typeface="微软雅黑"/>
              </a:rPr>
              <a:t>订单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25134" y="2503170"/>
            <a:ext cx="217170" cy="5038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7B7074"/>
                </a:solidFill>
                <a:latin typeface="微软雅黑"/>
                <a:ea typeface="微软雅黑"/>
              </a:rPr>
              <a:t>_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342304" y="2503170"/>
            <a:ext cx="2147570" cy="503834"/>
          </a:xfrm>
          <a:prstGeom prst="roundRect">
            <a:avLst>
              <a:gd name="adj" fmla="val 17241"/>
            </a:avLst>
          </a:prstGeom>
          <a:solidFill>
            <a:srgbClr val="C4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order_item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994832" y="3050438"/>
            <a:ext cx="2842513" cy="225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什么内容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994832" y="3250233"/>
            <a:ext cx="284251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>
                <a:solidFill>
                  <a:srgbClr val="C4A39C"/>
                </a:solidFill>
                <a:latin typeface="微软雅黑"/>
                <a:ea typeface="微软雅黑"/>
              </a:rPr>
              <a:t>订单明细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89874" y="2503170"/>
            <a:ext cx="217170" cy="5038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7B7074"/>
                </a:solidFill>
                <a:latin typeface="微软雅黑"/>
                <a:ea typeface="微软雅黑"/>
              </a:rPr>
              <a:t>_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707044" y="2503170"/>
            <a:ext cx="742238" cy="503834"/>
          </a:xfrm>
          <a:prstGeom prst="roundRect">
            <a:avLst>
              <a:gd name="adj" fmla="val 17241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di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359572" y="3050438"/>
            <a:ext cx="1437182" cy="225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怎么更新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59572" y="3250233"/>
            <a:ext cx="1437182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>
                <a:solidFill>
                  <a:srgbClr val="9A5A4B"/>
                </a:solidFill>
                <a:latin typeface="微软雅黑"/>
                <a:ea typeface="微软雅黑"/>
              </a:rPr>
              <a:t>每天增量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3485" y="3675887"/>
            <a:ext cx="3115665" cy="186766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87220" y="3780129"/>
            <a:ext cx="2855061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字段统一叫法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30655" y="4127601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55901" y="4127601"/>
            <a:ext cx="189951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scenic_id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30655" y="4396891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金额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955901" y="4396891"/>
            <a:ext cx="189951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…_amt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30655" y="4666183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时间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955901" y="4666183"/>
            <a:ext cx="189951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…_time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30655" y="4935473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955901" y="4935473"/>
            <a:ext cx="189951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…_date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0655" y="5204764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是否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55901" y="5204764"/>
            <a:ext cx="189951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is_…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202887" y="3675887"/>
            <a:ext cx="3115665" cy="186766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376623" y="3780129"/>
            <a:ext cx="2855061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建表 8 项必填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376623" y="4179722"/>
            <a:ext cx="692772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中文名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138889" y="4179722"/>
            <a:ext cx="566089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描述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774474" y="4179722"/>
            <a:ext cx="692772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负责人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376623" y="4527194"/>
            <a:ext cx="819454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安全等级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265572" y="4527194"/>
            <a:ext cx="819454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生命周期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154521" y="4527194"/>
            <a:ext cx="819454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分区字段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376623" y="4874666"/>
            <a:ext cx="819454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字段注释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265572" y="4874666"/>
            <a:ext cx="1219771" cy="277977"/>
          </a:xfrm>
          <a:prstGeom prst="roundRect">
            <a:avLst>
              <a:gd name="adj" fmla="val 500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发生 / 上报时间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492288" y="3675887"/>
            <a:ext cx="3115665" cy="1867662"/>
          </a:xfrm>
          <a:prstGeom prst="roundRect">
            <a:avLst>
              <a:gd name="adj" fmla="val 55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666023" y="3780129"/>
            <a:ext cx="2855061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发布前自动检查</a:t>
            </a:r>
          </a:p>
        </p:txBody>
      </p:sp>
      <p:pic>
        <p:nvPicPr>
          <p:cNvPr id="183" name="Picture 182" descr="pen-li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98" y="4205781"/>
            <a:ext cx="243230" cy="24323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8013495" y="4153662"/>
            <a:ext cx="246415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开发提交</a:t>
            </a:r>
          </a:p>
        </p:txBody>
      </p:sp>
      <p:pic>
        <p:nvPicPr>
          <p:cNvPr id="185" name="Picture 184" descr="search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398" y="4657496"/>
            <a:ext cx="243230" cy="24323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8013495" y="4605375"/>
            <a:ext cx="246415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脚本检查：命名 · 分层 · 注释 · 负责人 · 等级</a:t>
            </a:r>
          </a:p>
        </p:txBody>
      </p:sp>
      <p:pic>
        <p:nvPicPr>
          <p:cNvPr id="187" name="Picture 186" descr="circle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398" y="5109209"/>
            <a:ext cx="243230" cy="24323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8013495" y="5057089"/>
            <a:ext cx="2464155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通过才上线，不过就打回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13485" y="5673852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Picture 189" descr="history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95" y="5782437"/>
            <a:ext cx="260603" cy="260603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1478127" y="5673852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7F6F82"/>
                </a:solidFill>
                <a:latin typeface="微软雅黑"/>
                <a:ea typeface="微软雅黑"/>
              </a:rPr>
              <a:t>老表怎么办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不一次性改名：新表强制执行，老表按健康分分批整改，改名时保留兼容视图，下游不受影响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统一编号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一个景区只有一个“身份证”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以前同一个景区在票务、分销、财务里各有各的编号，拼数时对不上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14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9847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landmar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2" y="2441219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08429" y="2315260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100681" y="2358694"/>
            <a:ext cx="886053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scenic_id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7220" y="2801721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集团、分园区、子景点分级挂靠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910431" y="2176272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066793" y="233263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78" y="2441219"/>
            <a:ext cx="217170" cy="21717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605375" y="2315260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商品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97627" y="2358694"/>
            <a:ext cx="683361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prd_id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84167" y="2801721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票种、套票、二消商品统一编码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3485" y="3340303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69847" y="349666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432" y="3605249"/>
            <a:ext cx="217170" cy="21717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608429" y="3479291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100681" y="3522725"/>
            <a:ext cx="95361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channel_id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87220" y="3965752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OTA、自营、分销、团队统一分类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910431" y="3340303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066793" y="349666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handshak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5378" y="3605249"/>
            <a:ext cx="217170" cy="21717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4605375" y="3479291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278602" y="3522725"/>
            <a:ext cx="683361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sup_id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84167" y="3965752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同一主体只建一个编码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13485" y="4504334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9847" y="4660696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432" y="4769281"/>
            <a:ext cx="217170" cy="2171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608429" y="4643323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游客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100681" y="4686757"/>
            <a:ext cx="683361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one_id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87220" y="5129783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手机号、证件号、会员号归并为一人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910431" y="4504334"/>
            <a:ext cx="2823210" cy="1025042"/>
          </a:xfrm>
          <a:prstGeom prst="roundRect">
            <a:avLst>
              <a:gd name="adj" fmla="val 1016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066793" y="4660696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map-pi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5378" y="4769281"/>
            <a:ext cx="217170" cy="21717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4605375" y="4643323"/>
            <a:ext cx="86868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区域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097627" y="4686757"/>
            <a:ext cx="881227" cy="2258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行政区划码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084167" y="5129783"/>
            <a:ext cx="251917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采用国家标准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950811" y="2176272"/>
            <a:ext cx="1737360" cy="416966"/>
          </a:xfrm>
          <a:prstGeom prst="roundRect">
            <a:avLst>
              <a:gd name="adj" fmla="val 16666"/>
            </a:avLst>
          </a:prstGeom>
          <a:solidFill>
            <a:srgbClr val="F3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票务系统编号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8688171" y="2384755"/>
            <a:ext cx="390906" cy="503834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6950811" y="2680106"/>
            <a:ext cx="1737360" cy="416966"/>
          </a:xfrm>
          <a:prstGeom prst="roundRect">
            <a:avLst>
              <a:gd name="adj" fmla="val 16666"/>
            </a:avLst>
          </a:prstGeom>
          <a:solidFill>
            <a:srgbClr val="F3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分销系统编号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8688171" y="2888589"/>
            <a:ext cx="390906" cy="0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6950811" y="3183940"/>
            <a:ext cx="1737360" cy="416966"/>
          </a:xfrm>
          <a:prstGeom prst="roundRect">
            <a:avLst>
              <a:gd name="adj" fmla="val 16666"/>
            </a:avLst>
          </a:prstGeom>
          <a:solidFill>
            <a:srgbClr val="F3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财务系统编号</a:t>
            </a:r>
          </a:p>
        </p:txBody>
      </p:sp>
      <p:cxnSp>
        <p:nvCxnSpPr>
          <p:cNvPr id="182" name="Connector 181"/>
          <p:cNvCxnSpPr/>
          <p:nvPr/>
        </p:nvCxnSpPr>
        <p:spPr>
          <a:xfrm flipV="1">
            <a:off x="8688171" y="2888589"/>
            <a:ext cx="390906" cy="503833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ounded Rectangle 182"/>
          <p:cNvSpPr/>
          <p:nvPr/>
        </p:nvSpPr>
        <p:spPr>
          <a:xfrm>
            <a:off x="9122511" y="2593238"/>
            <a:ext cx="1485442" cy="590702"/>
          </a:xfrm>
          <a:prstGeom prst="roundRect">
            <a:avLst>
              <a:gd name="adj" fmla="val 14705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对照表</a:t>
            </a: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老编号 → 新编号</a:t>
            </a:r>
          </a:p>
        </p:txBody>
      </p:sp>
      <p:sp>
        <p:nvSpPr>
          <p:cNvPr id="184" name="Down Arrow 183"/>
          <p:cNvSpPr/>
          <p:nvPr/>
        </p:nvSpPr>
        <p:spPr>
          <a:xfrm>
            <a:off x="9760991" y="3253435"/>
            <a:ext cx="208483" cy="260603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6950811" y="3592220"/>
            <a:ext cx="3657142" cy="538581"/>
          </a:xfrm>
          <a:prstGeom prst="roundRect">
            <a:avLst>
              <a:gd name="adj" fmla="val 16129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统一编号</a:t>
            </a:r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　所有报表、指标、标签只认它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6950811" y="4287164"/>
            <a:ext cx="3657142" cy="590702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search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7173" y="4460900"/>
            <a:ext cx="243230" cy="24323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454646" y="4321911"/>
            <a:ext cx="3049066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先查再建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454646" y="4582515"/>
            <a:ext cx="3049066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新建景区、商品、供应商时先查，有就复用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950811" y="4964734"/>
            <a:ext cx="3657142" cy="590702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Picture 190" descr="history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7173" y="5138470"/>
            <a:ext cx="243230" cy="24323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7454646" y="4999481"/>
            <a:ext cx="3049066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变更有记录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454646" y="5260086"/>
            <a:ext cx="3049066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改编号要审批，保留历史，旧报表能追溯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建家谱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每个数从哪来、到哪去，一查就清楚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专业叫“数据血缘”，从源头一直打通到报表、接口和智能体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15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264283"/>
            <a:ext cx="998981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源头</a:t>
            </a:r>
          </a:p>
        </p:txBody>
      </p:sp>
      <p:sp>
        <p:nvSpPr>
          <p:cNvPr id="142" name="Right Arrow 141"/>
          <p:cNvSpPr/>
          <p:nvPr/>
        </p:nvSpPr>
        <p:spPr>
          <a:xfrm>
            <a:off x="1938528" y="2550947"/>
            <a:ext cx="173736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2138324" y="2264283"/>
            <a:ext cx="998981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原料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ODS</a:t>
            </a:r>
          </a:p>
        </p:txBody>
      </p:sp>
      <p:sp>
        <p:nvSpPr>
          <p:cNvPr id="144" name="Right Arrow 143"/>
          <p:cNvSpPr/>
          <p:nvPr/>
        </p:nvSpPr>
        <p:spPr>
          <a:xfrm>
            <a:off x="3163365" y="2550947"/>
            <a:ext cx="173736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363163" y="2264283"/>
            <a:ext cx="998981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洗干净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DWD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4388205" y="2550947"/>
            <a:ext cx="173736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588001" y="2264283"/>
            <a:ext cx="998981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汇总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DWS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5613044" y="2550947"/>
            <a:ext cx="173736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5812839" y="2264283"/>
            <a:ext cx="998981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成品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ADS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6837883" y="2550947"/>
            <a:ext cx="173736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7037679" y="2264283"/>
            <a:ext cx="998981" cy="738378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" tIns="17373" rIns="34747" bIns="17373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指标 / 标签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4ECEC"/>
                </a:solidFill>
                <a:latin typeface="微软雅黑"/>
                <a:ea typeface="微软雅黑"/>
              </a:rPr>
              <a:t>口径认证过</a:t>
            </a:r>
          </a:p>
        </p:txBody>
      </p:sp>
      <p:cxnSp>
        <p:nvCxnSpPr>
          <p:cNvPr id="152" name="Connector 151"/>
          <p:cNvCxnSpPr/>
          <p:nvPr/>
        </p:nvCxnSpPr>
        <p:spPr>
          <a:xfrm flipV="1">
            <a:off x="8123529" y="2177414"/>
            <a:ext cx="390905" cy="451713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8557869" y="2003679"/>
            <a:ext cx="20500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小Q 报表</a:t>
            </a:r>
          </a:p>
        </p:txBody>
      </p:sp>
      <p:cxnSp>
        <p:nvCxnSpPr>
          <p:cNvPr id="154" name="Connector 153"/>
          <p:cNvCxnSpPr/>
          <p:nvPr/>
        </p:nvCxnSpPr>
        <p:spPr>
          <a:xfrm flipV="1">
            <a:off x="8123529" y="2611754"/>
            <a:ext cx="390905" cy="17373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8557869" y="2438019"/>
            <a:ext cx="20500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开放接口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8123529" y="2629128"/>
            <a:ext cx="390905" cy="416966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8557869" y="2872359"/>
            <a:ext cx="20500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13485" y="3219831"/>
            <a:ext cx="9694468" cy="17373"/>
          </a:xfrm>
          <a:prstGeom prst="roundRect">
            <a:avLst>
              <a:gd name="adj" fmla="val 0"/>
            </a:avLst>
          </a:prstGeom>
          <a:solidFill>
            <a:srgbClr val="E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3485" y="3332759"/>
            <a:ext cx="4343400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家谱的三个用处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13485" y="3741039"/>
            <a:ext cx="3115665" cy="10858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69847" y="389740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2" y="4005986"/>
            <a:ext cx="217170" cy="21717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608429" y="389740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查错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04595" y="4418609"/>
            <a:ext cx="2733446" cy="321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报表数字不对，沿家谱往上查，快速找到出错的那一层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202887" y="3741039"/>
            <a:ext cx="3115665" cy="10858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359249" y="389740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git-bra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834" y="4005986"/>
            <a:ext cx="217170" cy="2171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4897831" y="389740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改之前先评估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93996" y="4418609"/>
            <a:ext cx="2733446" cy="321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改表、改口径前，先查哪些报表、接口受影响，通知负责人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492288" y="3741039"/>
            <a:ext cx="3115665" cy="10858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648650" y="3897401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trash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235" y="4005986"/>
            <a:ext cx="217170" cy="217170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8187232" y="389740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清理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683398" y="4418609"/>
            <a:ext cx="2733446" cy="32141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没有下游、没人访问的表和任务，进入下线清单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13485" y="5000625"/>
            <a:ext cx="4343400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家谱里记三类信息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13485" y="5391530"/>
            <a:ext cx="3115665" cy="651509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6" tIns="26060" bIns="26060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技术信息　</a:t>
            </a: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表结构、字段类型、存储量</a:t>
            </a: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系统自动采集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202887" y="5391530"/>
            <a:ext cx="3115665" cy="651509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6" tIns="26060" bIns="26060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业务信息　</a:t>
            </a: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含义、口径、负责人、安全等级</a:t>
            </a: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开发填写，专员审核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492288" y="5391530"/>
            <a:ext cx="3115665" cy="651509"/>
          </a:xfrm>
          <a:prstGeom prst="roundRect">
            <a:avLst>
              <a:gd name="adj" fmla="val 1333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6" tIns="26060" bIns="26060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运行信息　</a:t>
            </a: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几点产出、跑多久、多少人在用</a:t>
            </a:r>
          </a:p>
          <a:p>
            <a:pPr algn="l">
              <a:spcBef>
                <a:spcPts val="95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系统自动采集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每天体检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五项检查，强弱两档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关键数据算完立刻自动检查，不合格的数据拦在报表外面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16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5733288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43787" y="228051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72" y="2389098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591056" y="2228392"/>
            <a:ext cx="868680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完整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91056" y="2506370"/>
            <a:ext cx="86868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不能缺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77109" y="2176272"/>
            <a:ext cx="4039361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订单号、景区编号不能空；日订单量比近 7 天平均波动超 30% 报警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13485" y="2905963"/>
            <a:ext cx="5733288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43787" y="3010204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badg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3118789"/>
            <a:ext cx="217170" cy="21717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591056" y="2958084"/>
            <a:ext cx="868680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准确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91056" y="3236061"/>
            <a:ext cx="86868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不能错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77109" y="2905963"/>
            <a:ext cx="4039361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金额不能为负；核销时间不能早于下单时间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3485" y="3635654"/>
            <a:ext cx="5733288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43787" y="3739896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arrow-left-righ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372" y="3848480"/>
            <a:ext cx="217170" cy="21717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591056" y="3687774"/>
            <a:ext cx="868680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一致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91056" y="3965752"/>
            <a:ext cx="86868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对得上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477109" y="3635654"/>
            <a:ext cx="4039361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仓库里的订单金额汇总 = 业务系统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3485" y="4365345"/>
            <a:ext cx="5733288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43787" y="4469587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tim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372" y="4578172"/>
            <a:ext cx="217170" cy="21717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591056" y="4417466"/>
            <a:ext cx="868680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及时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91056" y="4695444"/>
            <a:ext cx="86868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不能晚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477109" y="4365345"/>
            <a:ext cx="4039361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核心报表每天 7:00 前算完，晚了报警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13485" y="5095036"/>
            <a:ext cx="5733288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43787" y="5199278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fingerprin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372" y="5307863"/>
            <a:ext cx="217170" cy="2171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591056" y="5147157"/>
            <a:ext cx="868680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唯一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91056" y="5425135"/>
            <a:ext cx="86868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不重复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477109" y="5095036"/>
            <a:ext cx="4039361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订单号不重复；同一张票不能重复核销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863942" y="2176272"/>
            <a:ext cx="1806854" cy="2215134"/>
          </a:xfrm>
          <a:prstGeom prst="roundRect">
            <a:avLst>
              <a:gd name="adj" fmla="val 576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7679" y="2315260"/>
            <a:ext cx="312724" cy="31272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428584" y="2289200"/>
            <a:ext cx="1198778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强规则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037679" y="2810408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3D9CF"/>
                </a:solidFill>
                <a:latin typeface="微软雅黑"/>
                <a:ea typeface="微软雅黑"/>
              </a:rPr>
              <a:t>用在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37679" y="3018891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核心表、对外接口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037679" y="3331616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3D9CF"/>
                </a:solidFill>
                <a:latin typeface="微软雅黑"/>
                <a:ea typeface="微软雅黑"/>
              </a:rPr>
              <a:t>不过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37679" y="3540099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拦住下游，通知负责人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037679" y="3852824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F3D9CF"/>
                </a:solidFill>
                <a:latin typeface="微软雅黑"/>
                <a:ea typeface="微软雅黑"/>
              </a:rPr>
              <a:t>时限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037679" y="4061307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当天修好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801100" y="2176272"/>
            <a:ext cx="1806854" cy="221513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Picture 180" descr="bell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4836" y="2315260"/>
            <a:ext cx="312724" cy="312724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9365742" y="2289200"/>
            <a:ext cx="1198778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弱规则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974836" y="2810408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用在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974836" y="3018891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一般表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974836" y="3331616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不过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974836" y="3540099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只提醒，不拦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974836" y="3852824"/>
            <a:ext cx="1546250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时限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974836" y="4061307"/>
            <a:ext cx="154625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一周内修好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863942" y="4521708"/>
            <a:ext cx="3744010" cy="1303019"/>
          </a:xfrm>
          <a:prstGeom prst="roundRect">
            <a:avLst>
              <a:gd name="adj" fmla="val 800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037679" y="4591202"/>
            <a:ext cx="3483406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出了问题怎么办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037679" y="4956048"/>
            <a:ext cx="718832" cy="36484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192" name="Right Arrow 191"/>
          <p:cNvSpPr/>
          <p:nvPr/>
        </p:nvSpPr>
        <p:spPr>
          <a:xfrm>
            <a:off x="7782572" y="5060289"/>
            <a:ext cx="121615" cy="147675"/>
          </a:xfrm>
          <a:prstGeom prst="rightArrow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7930247" y="4956048"/>
            <a:ext cx="718832" cy="36484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拦住</a:t>
            </a:r>
          </a:p>
        </p:txBody>
      </p:sp>
      <p:sp>
        <p:nvSpPr>
          <p:cNvPr id="194" name="Right Arrow 193"/>
          <p:cNvSpPr/>
          <p:nvPr/>
        </p:nvSpPr>
        <p:spPr>
          <a:xfrm>
            <a:off x="8675141" y="5060289"/>
            <a:ext cx="121615" cy="147675"/>
          </a:xfrm>
          <a:prstGeom prst="rightArrow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8822817" y="4956048"/>
            <a:ext cx="718832" cy="36484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修复重跑</a:t>
            </a:r>
          </a:p>
        </p:txBody>
      </p:sp>
      <p:sp>
        <p:nvSpPr>
          <p:cNvPr id="196" name="Right Arrow 195"/>
          <p:cNvSpPr/>
          <p:nvPr/>
        </p:nvSpPr>
        <p:spPr>
          <a:xfrm>
            <a:off x="9567710" y="5060289"/>
            <a:ext cx="121615" cy="147675"/>
          </a:xfrm>
          <a:prstGeom prst="rightArrow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9715385" y="4956048"/>
            <a:ext cx="718832" cy="364845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登记问题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037679" y="5390388"/>
            <a:ext cx="348340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9A5A4B"/>
                </a:solidFill>
                <a:latin typeface="微软雅黑"/>
                <a:ea typeface="微软雅黑"/>
              </a:rPr>
              <a:t>同类问题出现两次，就补一条规则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举个例子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“核销量”怎么做到各处一致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这是数据治理的样板：核销做通了，同样的方法复制到其他指标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17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90445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2474" y="2120950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第一步：先把四个容易混的数分开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3485" y="2520543"/>
            <a:ext cx="2097862" cy="677570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6F82"/>
                </a:solidFill>
                <a:latin typeface="微软雅黑"/>
                <a:ea typeface="微软雅黑"/>
              </a:rPr>
              <a:t>核销次数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刷了几次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11347" y="2520543"/>
            <a:ext cx="434340" cy="6775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B97A6A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445687" y="2520543"/>
            <a:ext cx="2097862" cy="677570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6F82"/>
                </a:solidFill>
                <a:latin typeface="微软雅黑"/>
                <a:ea typeface="微软雅黑"/>
              </a:rPr>
              <a:t>有效核销票数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有效的票几张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543550" y="2520543"/>
            <a:ext cx="434340" cy="6775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B97A6A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977890" y="2520543"/>
            <a:ext cx="2097862" cy="677570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6F82"/>
                </a:solidFill>
                <a:latin typeface="微软雅黑"/>
                <a:ea typeface="微软雅黑"/>
              </a:rPr>
              <a:t>入园人次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进了几人次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75752" y="2520543"/>
            <a:ext cx="434340" cy="6775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300" b="1">
                <a:solidFill>
                  <a:srgbClr val="B97A6A"/>
                </a:solidFill>
                <a:latin typeface="微软雅黑"/>
                <a:ea typeface="微软雅黑"/>
              </a:rPr>
              <a:t>≠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510092" y="2520543"/>
            <a:ext cx="2097862" cy="677570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F6F82"/>
                </a:solidFill>
                <a:latin typeface="微软雅黑"/>
                <a:ea typeface="微软雅黑"/>
              </a:rPr>
              <a:t>去重游客数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实际来了几个人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13485" y="3302355"/>
            <a:ext cx="9694468" cy="382219"/>
          </a:xfrm>
          <a:prstGeom prst="roundRect">
            <a:avLst>
              <a:gd name="adj" fmla="val 18181"/>
            </a:avLst>
          </a:prstGeom>
          <a:solidFill>
            <a:srgbClr val="F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6" tIns="0" bIns="0"/>
          <a:lstStyle/>
          <a:p>
            <a:pPr algn="l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比如　</a:t>
            </a: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一位年卡游客一天进出 3 次：核销次数 3，入园人次 3，去重游客数 1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3927805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52474" y="3858310"/>
            <a:ext cx="781811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第二步：从现场到报表，每一层按“景区 + 日期”对一次数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3485" y="4257903"/>
            <a:ext cx="1688713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闸机 / 手持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现场记录</a:t>
            </a:r>
          </a:p>
        </p:txBody>
      </p:sp>
      <p:sp>
        <p:nvSpPr>
          <p:cNvPr id="154" name="Right Arrow 153"/>
          <p:cNvSpPr/>
          <p:nvPr/>
        </p:nvSpPr>
        <p:spPr>
          <a:xfrm>
            <a:off x="2663006" y="4540224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2914923" y="4257903"/>
            <a:ext cx="1688713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业务系统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订单与核销</a:t>
            </a:r>
          </a:p>
        </p:txBody>
      </p:sp>
      <p:sp>
        <p:nvSpPr>
          <p:cNvPr id="156" name="Right Arrow 155"/>
          <p:cNvSpPr/>
          <p:nvPr/>
        </p:nvSpPr>
        <p:spPr>
          <a:xfrm>
            <a:off x="4664445" y="4540224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4916362" y="4257903"/>
            <a:ext cx="1688713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仓库明细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洗干净的数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6665883" y="4540224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917801" y="4257903"/>
            <a:ext cx="1688713" cy="738378"/>
          </a:xfrm>
          <a:prstGeom prst="roundRect">
            <a:avLst>
              <a:gd name="adj" fmla="val 11764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仓库汇总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按天按景区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8667322" y="4540224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8919240" y="4257903"/>
            <a:ext cx="1688713" cy="738378"/>
          </a:xfrm>
          <a:prstGeom prst="roundRect">
            <a:avLst>
              <a:gd name="adj" fmla="val 1176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报表 / 接口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大家看到的数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13485" y="5187391"/>
            <a:ext cx="4760366" cy="738378"/>
          </a:xfrm>
          <a:prstGeom prst="roundRect">
            <a:avLst>
              <a:gd name="adj" fmla="val 11764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第三步　</a:t>
            </a:r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对不上就自动报警</a:t>
            </a:r>
          </a:p>
          <a:p>
            <a:pPr algn="l">
              <a:spcBef>
                <a:spcPts val="190"/>
              </a:spcBef>
            </a:pPr>
            <a:r>
              <a:rPr sz="1250" b="0">
                <a:solidFill>
                  <a:srgbClr val="7B7074"/>
                </a:solidFill>
                <a:latin typeface="微软雅黑"/>
                <a:ea typeface="微软雅黑"/>
              </a:rPr>
              <a:t>→ 查原因 → 修复 → 重算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847588" y="5187391"/>
            <a:ext cx="4760366" cy="738378"/>
          </a:xfrm>
          <a:prstGeom prst="roundRect">
            <a:avLst>
              <a:gd name="adj" fmla="val 11764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常见原因</a:t>
            </a:r>
          </a:p>
          <a:p>
            <a:pPr algn="l">
              <a:spcBef>
                <a:spcPts val="190"/>
              </a:spcBef>
            </a:pPr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设备离线补传 · 重复上报 · 撤销冲正 · 时间口径混用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统一口径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集团出标准，景区可以自己加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指标 = 数一数（卖了多少、来了多少）；标签 = 贴个签（年卡用户、喜欢夜游）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18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434692" y="2142667"/>
            <a:ext cx="3822191" cy="67757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集团标准库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标准指标 · 标准标签 · 版本管理</a:t>
            </a:r>
          </a:p>
        </p:txBody>
      </p:sp>
      <p:sp>
        <p:nvSpPr>
          <p:cNvPr id="142" name="Down Arrow 141"/>
          <p:cNvSpPr/>
          <p:nvPr/>
        </p:nvSpPr>
        <p:spPr>
          <a:xfrm>
            <a:off x="1593950" y="2889732"/>
            <a:ext cx="173736" cy="225856"/>
          </a:xfrm>
          <a:prstGeom prst="downArrow">
            <a:avLst/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13485" y="3185083"/>
            <a:ext cx="15346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7F6F82"/>
                </a:solidFill>
                <a:latin typeface="微软雅黑"/>
                <a:ea typeface="微软雅黑"/>
              </a:rPr>
              <a:t>景区 A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13485" y="3706291"/>
            <a:ext cx="153466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自定义空间</a:t>
            </a:r>
          </a:p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只给自己用</a:t>
            </a:r>
          </a:p>
        </p:txBody>
      </p:sp>
      <p:sp>
        <p:nvSpPr>
          <p:cNvPr id="145" name="Down Arrow 144"/>
          <p:cNvSpPr/>
          <p:nvPr/>
        </p:nvSpPr>
        <p:spPr>
          <a:xfrm>
            <a:off x="3258921" y="2889732"/>
            <a:ext cx="173736" cy="225856"/>
          </a:xfrm>
          <a:prstGeom prst="downArrow">
            <a:avLst/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2578455" y="3185083"/>
            <a:ext cx="15346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7F6F82"/>
                </a:solidFill>
                <a:latin typeface="微软雅黑"/>
                <a:ea typeface="微软雅黑"/>
              </a:rPr>
              <a:t>景区 B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578455" y="3706291"/>
            <a:ext cx="153466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自定义空间</a:t>
            </a:r>
          </a:p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只给自己用</a:t>
            </a:r>
          </a:p>
        </p:txBody>
      </p:sp>
      <p:sp>
        <p:nvSpPr>
          <p:cNvPr id="148" name="Down Arrow 147"/>
          <p:cNvSpPr/>
          <p:nvPr/>
        </p:nvSpPr>
        <p:spPr>
          <a:xfrm>
            <a:off x="4923890" y="2889732"/>
            <a:ext cx="173736" cy="225856"/>
          </a:xfrm>
          <a:prstGeom prst="downArrow">
            <a:avLst/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243424" y="3185083"/>
            <a:ext cx="15346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7F6F82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243424" y="3706291"/>
            <a:ext cx="1534668" cy="53858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5C8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自定义空间</a:t>
            </a:r>
          </a:p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只给自己用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4366488"/>
            <a:ext cx="4864607" cy="364845"/>
          </a:xfrm>
          <a:prstGeom prst="roundRect">
            <a:avLst>
              <a:gd name="adj" fmla="val 19047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refresh-cw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7" y="4444669"/>
            <a:ext cx="208483" cy="208483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47825" y="4366488"/>
            <a:ext cx="4343400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好用的自定义指标，评审后收回成集团标准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3485" y="4861636"/>
            <a:ext cx="4864607" cy="7383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只能基于集团标准和已授权的数据派生</a:t>
            </a:r>
          </a:p>
          <a:p>
            <a:pPr algn="l">
              <a:lnSpc>
                <a:spcPct val="110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不能和集团标准同名，不覆盖、不影响别人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038696" y="2142667"/>
            <a:ext cx="4569256" cy="1867662"/>
          </a:xfrm>
          <a:prstGeom prst="roundRect">
            <a:avLst>
              <a:gd name="adj" fmla="val 558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12432" y="2229535"/>
            <a:ext cx="430865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一个指标要说清四件事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12432" y="2629128"/>
            <a:ext cx="938174" cy="62544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算什么</a:t>
            </a: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支付金额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150607" y="2629128"/>
            <a:ext cx="156362" cy="6254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306970" y="2629128"/>
            <a:ext cx="938174" cy="62544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加条件</a:t>
            </a: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线上成人票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45144" y="2629128"/>
            <a:ext cx="156362" cy="6254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401507" y="2629128"/>
            <a:ext cx="938174" cy="62544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什么时间</a:t>
            </a: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近 7 天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339681" y="2629128"/>
            <a:ext cx="156362" cy="62544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496044" y="2629128"/>
            <a:ext cx="938174" cy="62544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按什么看</a:t>
            </a:r>
          </a:p>
          <a:p>
            <a:pPr algn="ctr">
              <a:spcBef>
                <a:spcPts val="95"/>
              </a:spcBef>
            </a:pPr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按景区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212432" y="3384880"/>
            <a:ext cx="4221784" cy="477773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= 近 7 天线上渠道成人票支付金额（按景区）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038696" y="4166692"/>
            <a:ext cx="456925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948496"/>
                </a:solidFill>
                <a:latin typeface="微软雅黑"/>
                <a:ea typeface="微软雅黑"/>
              </a:rPr>
              <a:t>新指标四步认证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038696" y="4540224"/>
            <a:ext cx="946861" cy="625449"/>
          </a:xfrm>
          <a:prstGeom prst="roundRect">
            <a:avLst>
              <a:gd name="adj" fmla="val 13888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起草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167" name="Right Arrow 166"/>
          <p:cNvSpPr/>
          <p:nvPr/>
        </p:nvSpPr>
        <p:spPr>
          <a:xfrm>
            <a:off x="7020305" y="4766081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246162" y="4540224"/>
            <a:ext cx="946861" cy="625449"/>
          </a:xfrm>
          <a:prstGeom prst="roundRect">
            <a:avLst>
              <a:gd name="adj" fmla="val 13888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确认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业务负责人</a:t>
            </a:r>
          </a:p>
        </p:txBody>
      </p:sp>
      <p:sp>
        <p:nvSpPr>
          <p:cNvPr id="169" name="Right Arrow 168"/>
          <p:cNvSpPr/>
          <p:nvPr/>
        </p:nvSpPr>
        <p:spPr>
          <a:xfrm>
            <a:off x="8227770" y="4766081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8453628" y="4540224"/>
            <a:ext cx="946861" cy="625449"/>
          </a:xfrm>
          <a:prstGeom prst="roundRect">
            <a:avLst>
              <a:gd name="adj" fmla="val 13888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拍板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治理小组</a:t>
            </a:r>
          </a:p>
        </p:txBody>
      </p:sp>
      <p:sp>
        <p:nvSpPr>
          <p:cNvPr id="171" name="Right Arrow 170"/>
          <p:cNvSpPr/>
          <p:nvPr/>
        </p:nvSpPr>
        <p:spPr>
          <a:xfrm>
            <a:off x="9435236" y="4766081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9661093" y="4540224"/>
            <a:ext cx="946861" cy="625449"/>
          </a:xfrm>
          <a:prstGeom prst="roundRect">
            <a:avLst>
              <a:gd name="adj" fmla="val 13888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发布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记录版本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038696" y="5426278"/>
            <a:ext cx="4569256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badge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806" y="5534863"/>
            <a:ext cx="260603" cy="260603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6603339" y="5426278"/>
            <a:ext cx="3830878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FFE2C8"/>
                </a:solidFill>
                <a:latin typeface="微软雅黑"/>
                <a:ea typeface="微软雅黑"/>
              </a:rPr>
              <a:t>门槛　</a:t>
            </a: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认证过的指标和标签，才能进老板看板、接口和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管好权限①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数据分四级，各有各的主人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越敏感，管得越严；谁的数据，只服务谁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19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1129284" cy="747064"/>
          </a:xfrm>
          <a:prstGeom prst="roundRect">
            <a:avLst>
              <a:gd name="adj" fmla="val 11627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  <a:p>
            <a:pPr algn="ctr"/>
            <a:r>
              <a:rPr sz="950" b="0">
                <a:solidFill>
                  <a:srgbClr val="F5E2DB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147010" y="2176272"/>
            <a:ext cx="4760366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320747" y="2176272"/>
            <a:ext cx="4430268" cy="747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手机号、证件号、人脸、政务核验结果</a:t>
            </a:r>
          </a:p>
          <a:p>
            <a:pPr algn="l"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加密、打码、最小授权、全程审计；明文不进大模型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74089" y="3044952"/>
            <a:ext cx="1129284" cy="747064"/>
          </a:xfrm>
          <a:prstGeom prst="roundRect">
            <a:avLst>
              <a:gd name="adj" fmla="val 11627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  <a:p>
            <a:pPr algn="ctr"/>
            <a:r>
              <a:rPr sz="950" b="0">
                <a:solidFill>
                  <a:srgbClr val="EFE6E5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407615" y="3044952"/>
            <a:ext cx="4499762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581351" y="3044952"/>
            <a:ext cx="4169663" cy="747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单景区经营数据、价格、结算、供应商合作</a:t>
            </a:r>
          </a:p>
          <a:p>
            <a:pPr algn="l"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按景区 / 供应商隔离；跨主体只看汇总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434692" y="3913631"/>
            <a:ext cx="1129284" cy="747064"/>
          </a:xfrm>
          <a:prstGeom prst="roundRect">
            <a:avLst>
              <a:gd name="adj" fmla="val 11627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  <a:p>
            <a:pPr algn="ctr"/>
            <a:r>
              <a:rPr sz="950" b="0">
                <a:solidFill>
                  <a:srgbClr val="EFE6E5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668219" y="3913631"/>
            <a:ext cx="4239158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41955" y="3913631"/>
            <a:ext cx="3909059" cy="747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日志、设备状态、运营数据</a:t>
            </a:r>
          </a:p>
          <a:p>
            <a:pPr algn="l"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内部按角色授权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695297" y="4782312"/>
            <a:ext cx="1129284" cy="747064"/>
          </a:xfrm>
          <a:prstGeom prst="roundRect">
            <a:avLst>
              <a:gd name="adj" fmla="val 11627"/>
            </a:avLst>
          </a:prstGeom>
          <a:solidFill>
            <a:srgbClr val="BB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  <a:p>
            <a:pPr algn="ctr"/>
            <a:r>
              <a:rPr sz="950" b="0">
                <a:solidFill>
                  <a:srgbClr val="EFE6E5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928823" y="4782312"/>
            <a:ext cx="3978554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102559" y="4782312"/>
            <a:ext cx="3648456" cy="747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已发布的报告、规范</a:t>
            </a:r>
          </a:p>
          <a:p>
            <a:pPr algn="l"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可以公开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167981" y="2176272"/>
            <a:ext cx="3439972" cy="3353104"/>
          </a:xfrm>
          <a:prstGeom prst="roundRect">
            <a:avLst>
              <a:gd name="adj" fmla="val 362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key-rou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151" y="2332634"/>
            <a:ext cx="312724" cy="31272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7776056" y="2297887"/>
            <a:ext cx="2745028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谁的数据，只服务谁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428585" y="2810408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景区数据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601303" y="2810408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只服务该景区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28585" y="3192627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供应商数据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601303" y="3192627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只服务该供应商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428585" y="3574846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渠道数据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601303" y="3574846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不给其他渠道看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28585" y="3957065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游客信息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601303" y="3957065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在授权范围内用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428585" y="4339285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政务数据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601303" y="4339285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只用核验结果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428585" y="4721504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外部数据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601303" y="4721504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按合同约定用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428585" y="5103723"/>
            <a:ext cx="1216151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对外输出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601303" y="5103723"/>
            <a:ext cx="1876348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只给匿名汇总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管好权限②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谁能看什么，三把锁锁住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角色决定能用哪些功能，范围决定能看哪些景区，等级决定能看哪些字段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20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259939" y="2073173"/>
            <a:ext cx="1111910" cy="364845"/>
          </a:xfrm>
          <a:prstGeom prst="roundRect">
            <a:avLst>
              <a:gd name="adj" fmla="val 19047"/>
            </a:avLst>
          </a:prstGeom>
          <a:solidFill>
            <a:srgbClr val="BBAF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423970" y="2073173"/>
            <a:ext cx="1111910" cy="364845"/>
          </a:xfrm>
          <a:prstGeom prst="roundRect">
            <a:avLst>
              <a:gd name="adj" fmla="val 19047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588002" y="2073173"/>
            <a:ext cx="1111910" cy="364845"/>
          </a:xfrm>
          <a:prstGeom prst="roundRect">
            <a:avLst>
              <a:gd name="adj" fmla="val 19047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敏感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752033" y="2073173"/>
            <a:ext cx="1111910" cy="364845"/>
          </a:xfrm>
          <a:prstGeom prst="roundRect">
            <a:avLst>
              <a:gd name="adj" fmla="val 19047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高敏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3485" y="2507513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集团管理层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259939" y="2507513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423970" y="2507513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88002" y="2507513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看汇总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752033" y="2507513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2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3A7AB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3485" y="2993974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259939" y="299397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423970" y="299397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88002" y="299397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按项目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752033" y="299397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A5A4B"/>
                </a:solidFill>
                <a:latin typeface="微软雅黑"/>
                <a:ea typeface="微软雅黑"/>
              </a:rPr>
              <a:t>审批打码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13485" y="3480434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259939" y="348043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423970" y="348043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588002" y="348043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本业务线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752033" y="3480434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2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3A7AB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3485" y="3966895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景区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259939" y="3966895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423970" y="3966895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588002" y="3966895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本景区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752033" y="3966895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A5A4B"/>
                </a:solidFill>
                <a:latin typeface="微软雅黑"/>
                <a:ea typeface="微软雅黑"/>
              </a:rPr>
              <a:t>授权打码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13485" y="4453356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259939" y="4453356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423970" y="4453356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588002" y="4453356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本供应商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752033" y="4453356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2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3A7AB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13485" y="4939817"/>
            <a:ext cx="1259586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外部伙伴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259939" y="4939817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可看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423970" y="4939817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2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3A7AB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588002" y="4939817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E3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F6F82"/>
                </a:solidFill>
                <a:latin typeface="微软雅黑"/>
                <a:ea typeface="微软雅黑"/>
              </a:rPr>
              <a:t>匿名汇总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752033" y="4939817"/>
            <a:ext cx="1111910" cy="434340"/>
          </a:xfrm>
          <a:prstGeom prst="roundRect">
            <a:avLst>
              <a:gd name="adj" fmla="val 16000"/>
            </a:avLst>
          </a:prstGeom>
          <a:solidFill>
            <a:srgbClr val="F2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B3A7AB"/>
                </a:solidFill>
                <a:latin typeface="微软雅黑"/>
                <a:ea typeface="微软雅黑"/>
              </a:rPr>
              <a:t>不可看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13485" y="5426278"/>
            <a:ext cx="5950457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AI 智能体　</a:t>
            </a:r>
            <a:r>
              <a:rPr sz="1150" b="0">
                <a:solidFill>
                  <a:srgbClr val="F4ECEC"/>
                </a:solidFill>
                <a:latin typeface="微软雅黑"/>
                <a:ea typeface="微软雅黑"/>
              </a:rPr>
              <a:t>不单独开权限，继承提问人的权限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167981" y="2073173"/>
            <a:ext cx="34399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948496"/>
                </a:solidFill>
                <a:latin typeface="微软雅黑"/>
                <a:ea typeface="微软雅黑"/>
              </a:rPr>
              <a:t>权限怎么申请和收回</a:t>
            </a:r>
          </a:p>
        </p:txBody>
      </p:sp>
      <p:sp>
        <p:nvSpPr>
          <p:cNvPr id="177" name="Oval 176"/>
          <p:cNvSpPr/>
          <p:nvPr/>
        </p:nvSpPr>
        <p:spPr>
          <a:xfrm>
            <a:off x="7167981" y="2524886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222" y="2629128"/>
            <a:ext cx="208483" cy="208483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7706562" y="2490139"/>
            <a:ext cx="287533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申请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706562" y="2742057"/>
            <a:ext cx="287533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说明用途和期限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7376464" y="2959226"/>
            <a:ext cx="0" cy="173736"/>
          </a:xfrm>
          <a:prstGeom prst="line">
            <a:avLst/>
          </a:prstGeom>
          <a:ln w="15875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7167981" y="3150336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stam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222" y="3254578"/>
            <a:ext cx="208483" cy="208483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7706562" y="3115589"/>
            <a:ext cx="287533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审批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706562" y="3367506"/>
            <a:ext cx="287533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数据负责人；高敏加安全负责人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7376464" y="3584676"/>
            <a:ext cx="0" cy="173736"/>
          </a:xfrm>
          <a:prstGeom prst="line">
            <a:avLst/>
          </a:prstGeom>
          <a:ln w="15875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7167981" y="3775786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key-rou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222" y="3880027"/>
            <a:ext cx="208483" cy="208483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7706562" y="3741038"/>
            <a:ext cx="287533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授权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706562" y="3992956"/>
            <a:ext cx="287533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最小范围，设到期时间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7376464" y="4210126"/>
            <a:ext cx="0" cy="173736"/>
          </a:xfrm>
          <a:prstGeom prst="line">
            <a:avLst/>
          </a:prstGeom>
          <a:ln w="15875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7167981" y="4401235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3" name="Picture 192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222" y="4505477"/>
            <a:ext cx="208483" cy="208483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7706562" y="4366488"/>
            <a:ext cx="287533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706562" y="4618405"/>
            <a:ext cx="287533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访问全程留痕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7376464" y="4835575"/>
            <a:ext cx="0" cy="173736"/>
          </a:xfrm>
          <a:prstGeom prst="line">
            <a:avLst/>
          </a:prstGeom>
          <a:ln w="15875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7167981" y="5026685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archiv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222" y="5130926"/>
            <a:ext cx="208483" cy="20848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7706562" y="4991938"/>
            <a:ext cx="287533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回收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706562" y="5243855"/>
            <a:ext cx="287533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到期、离岗、项目结束自动收回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7167981" y="5660821"/>
            <a:ext cx="3439972" cy="312724"/>
          </a:xfrm>
          <a:prstGeom prst="roundRect">
            <a:avLst>
              <a:gd name="adj" fmla="val 50000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A5A4B"/>
                </a:solidFill>
                <a:latin typeface="微软雅黑"/>
                <a:ea typeface="微软雅黑"/>
              </a:rPr>
              <a:t>每季度复核一次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定期大扫除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给数据资产打分，没人用的就下线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像体检报告一样，每月按负责人、按业务给数据资产打“健康分”，公示排名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21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90547"/>
            <a:ext cx="4604003" cy="3865626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913485" y="2090547"/>
            <a:ext cx="4604003" cy="312724"/>
          </a:xfrm>
          <a:prstGeom prst="roundRect">
            <a:avLst>
              <a:gd name="adj" fmla="val 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43787" y="2194788"/>
            <a:ext cx="104241" cy="104241"/>
          </a:xfrm>
          <a:prstGeom prst="ellipse">
            <a:avLst/>
          </a:prstGeom>
          <a:solidFill>
            <a:srgbClr val="C7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217523" y="2194788"/>
            <a:ext cx="104241" cy="104241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391259" y="2194788"/>
            <a:ext cx="104241" cy="104241"/>
          </a:xfrm>
          <a:prstGeom prst="ellipse">
            <a:avLst/>
          </a:prstGeom>
          <a:solidFill>
            <a:srgbClr val="8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651862" y="2090547"/>
            <a:ext cx="3735324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7B7074"/>
                </a:solidFill>
                <a:latin typeface="微软雅黑"/>
                <a:ea typeface="微软雅黑"/>
              </a:rPr>
              <a:t>资产健康分 · 月度公示（示意）</a:t>
            </a:r>
          </a:p>
        </p:txBody>
      </p:sp>
      <p:sp>
        <p:nvSpPr>
          <p:cNvPr id="147" name="Oval 146"/>
          <p:cNvSpPr/>
          <p:nvPr/>
        </p:nvSpPr>
        <p:spPr>
          <a:xfrm>
            <a:off x="1130655" y="2594380"/>
            <a:ext cx="390906" cy="39090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file-tex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82" y="2692106"/>
            <a:ext cx="195453" cy="195453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651862" y="2550947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规范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51862" y="2811550"/>
            <a:ext cx="3648456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命名、注释、负责人、等级是否齐全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433675" y="2620441"/>
            <a:ext cx="2823210" cy="138988"/>
          </a:xfrm>
          <a:prstGeom prst="roundRect">
            <a:avLst>
              <a:gd name="adj" fmla="val 50000"/>
            </a:avLst>
          </a:prstGeom>
          <a:solidFill>
            <a:srgbClr val="EF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2433675" y="2620441"/>
            <a:ext cx="2315032" cy="1389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30655" y="3245890"/>
            <a:ext cx="390906" cy="39090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stethoscop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82" y="3343617"/>
            <a:ext cx="195453" cy="195453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651862" y="3202457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质量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651862" y="3463061"/>
            <a:ext cx="3648456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规则覆盖、通过率、按时产出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433675" y="3271951"/>
            <a:ext cx="2823210" cy="138988"/>
          </a:xfrm>
          <a:prstGeom prst="roundRect">
            <a:avLst>
              <a:gd name="adj" fmla="val 50000"/>
            </a:avLst>
          </a:prstGeom>
          <a:solidFill>
            <a:srgbClr val="EF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2433675" y="3271951"/>
            <a:ext cx="1919782" cy="1389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30655" y="3897401"/>
            <a:ext cx="390906" cy="39090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382" y="3995127"/>
            <a:ext cx="195453" cy="195453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1651862" y="3853967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51862" y="4114571"/>
            <a:ext cx="3648456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敏感字段是否打标、是否打码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433675" y="3923461"/>
            <a:ext cx="2823210" cy="138988"/>
          </a:xfrm>
          <a:prstGeom prst="roundRect">
            <a:avLst>
              <a:gd name="adj" fmla="val 50000"/>
            </a:avLst>
          </a:prstGeom>
          <a:solidFill>
            <a:srgbClr val="EF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2433675" y="3923461"/>
            <a:ext cx="2540888" cy="1389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30655" y="4548911"/>
            <a:ext cx="390906" cy="39090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Picture 165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382" y="4646637"/>
            <a:ext cx="195453" cy="195453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651862" y="4505477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使用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651862" y="4766081"/>
            <a:ext cx="3648456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访问次数、下游引用数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433675" y="4574971"/>
            <a:ext cx="2823210" cy="138988"/>
          </a:xfrm>
          <a:prstGeom prst="roundRect">
            <a:avLst>
              <a:gd name="adj" fmla="val 50000"/>
            </a:avLst>
          </a:prstGeom>
          <a:solidFill>
            <a:srgbClr val="EF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2433675" y="4574971"/>
            <a:ext cx="1552765" cy="1389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30655" y="5200421"/>
            <a:ext cx="390906" cy="39090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coin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382" y="5298147"/>
            <a:ext cx="195453" cy="195453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651862" y="5156987"/>
            <a:ext cx="86868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651862" y="5417591"/>
            <a:ext cx="3648456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存储量、计算耗时、重复计算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433675" y="5226481"/>
            <a:ext cx="2823210" cy="138988"/>
          </a:xfrm>
          <a:prstGeom prst="roundRect">
            <a:avLst>
              <a:gd name="adj" fmla="val 50000"/>
            </a:avLst>
          </a:prstGeom>
          <a:solidFill>
            <a:srgbClr val="EF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433675" y="5226481"/>
            <a:ext cx="1750390" cy="1389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5778092" y="2160041"/>
            <a:ext cx="52120" cy="208483"/>
          </a:xfrm>
          <a:prstGeom prst="roundRect">
            <a:avLst>
              <a:gd name="adj" fmla="val 0"/>
            </a:avLst>
          </a:prstGeom>
          <a:solidFill>
            <a:srgbClr val="9A5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917082" y="2090547"/>
            <a:ext cx="482986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A5A4B"/>
                </a:solidFill>
                <a:latin typeface="微软雅黑"/>
                <a:ea typeface="微软雅黑"/>
              </a:rPr>
              <a:t>没人用的数据，按步骤下线</a:t>
            </a:r>
          </a:p>
        </p:txBody>
      </p:sp>
      <p:sp>
        <p:nvSpPr>
          <p:cNvPr id="179" name="Oval 178"/>
          <p:cNvSpPr/>
          <p:nvPr/>
        </p:nvSpPr>
        <p:spPr>
          <a:xfrm>
            <a:off x="5778092" y="2524887"/>
            <a:ext cx="399592" cy="399592"/>
          </a:xfrm>
          <a:prstGeom prst="ellipse">
            <a:avLst/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search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3648" y="2620441"/>
            <a:ext cx="208483" cy="208483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6299300" y="2524887"/>
            <a:ext cx="1085850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发现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385151" y="2524887"/>
            <a:ext cx="3179368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90 天没人访问 · 没有下游 · 重复模型 · 临时表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5977890" y="2924479"/>
            <a:ext cx="0" cy="138988"/>
          </a:xfrm>
          <a:prstGeom prst="line">
            <a:avLst/>
          </a:prstGeom>
          <a:ln w="15875">
            <a:solidFill>
              <a:srgbClr val="E2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5778092" y="3063468"/>
            <a:ext cx="399592" cy="399592"/>
          </a:xfrm>
          <a:prstGeom prst="ellipse">
            <a:avLst/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bell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3648" y="3159023"/>
            <a:ext cx="208483" cy="208483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6299300" y="3063468"/>
            <a:ext cx="1085850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通知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385151" y="3063468"/>
            <a:ext cx="3179368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负责人确认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977890" y="3463061"/>
            <a:ext cx="0" cy="138988"/>
          </a:xfrm>
          <a:prstGeom prst="line">
            <a:avLst/>
          </a:prstGeom>
          <a:ln w="15875">
            <a:solidFill>
              <a:srgbClr val="E2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5778092" y="3602050"/>
            <a:ext cx="399592" cy="399592"/>
          </a:xfrm>
          <a:prstGeom prst="ellipse">
            <a:avLst/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Picture 189" descr="lock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3648" y="3697604"/>
            <a:ext cx="208483" cy="208483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6299300" y="3602050"/>
            <a:ext cx="1085850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先停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385151" y="3602050"/>
            <a:ext cx="3179368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停调度或改只读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5977890" y="4001643"/>
            <a:ext cx="0" cy="138988"/>
          </a:xfrm>
          <a:prstGeom prst="line">
            <a:avLst/>
          </a:prstGeom>
          <a:ln w="15875">
            <a:solidFill>
              <a:srgbClr val="E2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5778092" y="4140631"/>
            <a:ext cx="399592" cy="399592"/>
          </a:xfrm>
          <a:prstGeom prst="ellipse">
            <a:avLst/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clock_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3648" y="4236186"/>
            <a:ext cx="208483" cy="208483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6299300" y="4140631"/>
            <a:ext cx="1085850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观察 30 天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385151" y="4140631"/>
            <a:ext cx="3179368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没人反馈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5977890" y="4540224"/>
            <a:ext cx="0" cy="138988"/>
          </a:xfrm>
          <a:prstGeom prst="line">
            <a:avLst/>
          </a:prstGeom>
          <a:ln w="15875">
            <a:solidFill>
              <a:srgbClr val="E2C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5778092" y="4679213"/>
            <a:ext cx="399592" cy="399592"/>
          </a:xfrm>
          <a:prstGeom prst="ellipse">
            <a:avLst/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Picture 199" descr="trash2_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3648" y="4774768"/>
            <a:ext cx="208483" cy="208483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6299300" y="4679213"/>
            <a:ext cx="1085850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删除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385151" y="4679213"/>
            <a:ext cx="3179368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有人反馈就恢复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778092" y="5287289"/>
            <a:ext cx="4829860" cy="668883"/>
          </a:xfrm>
          <a:prstGeom prst="roundRect">
            <a:avLst>
              <a:gd name="adj" fmla="val 1298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951829" y="5287289"/>
            <a:ext cx="4569256" cy="6688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· 临时表到期自动清理</a:t>
            </a:r>
          </a:p>
          <a:p>
            <a:pPr algn="l">
              <a:lnSpc>
                <a:spcPct val="110000"/>
              </a:lnSpc>
              <a:spcBef>
                <a:spcPts val="190"/>
              </a:spcBef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· 重复模型合并到公共层，先双跑对比再切换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统一出口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所有数据只从一个“窗口”出去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不再点对点导数、私接数据库；对内对外都走动态数据开放 API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22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242565"/>
            <a:ext cx="2084831" cy="694944"/>
          </a:xfrm>
          <a:prstGeom prst="roundRect">
            <a:avLst>
              <a:gd name="adj" fmla="val 125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认证指标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口径确认过的数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2998317" y="2590037"/>
            <a:ext cx="521207" cy="390906"/>
          </a:xfrm>
          <a:prstGeom prst="line">
            <a:avLst/>
          </a:prstGeom>
          <a:ln w="19050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913485" y="3067811"/>
            <a:ext cx="2084831" cy="694944"/>
          </a:xfrm>
          <a:prstGeom prst="roundRect">
            <a:avLst>
              <a:gd name="adj" fmla="val 125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统一标签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标准 + 自定义</a:t>
            </a:r>
          </a:p>
        </p:txBody>
      </p:sp>
      <p:cxnSp>
        <p:nvCxnSpPr>
          <p:cNvPr id="144" name="Connector 143"/>
          <p:cNvCxnSpPr/>
          <p:nvPr/>
        </p:nvCxnSpPr>
        <p:spPr>
          <a:xfrm flipV="1">
            <a:off x="2998317" y="2980943"/>
            <a:ext cx="521207" cy="434340"/>
          </a:xfrm>
          <a:prstGeom prst="line">
            <a:avLst/>
          </a:prstGeom>
          <a:ln w="19050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3562958" y="2155697"/>
            <a:ext cx="2866644" cy="1693925"/>
          </a:xfrm>
          <a:prstGeom prst="roundRect">
            <a:avLst>
              <a:gd name="adj" fmla="val 8205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2259939"/>
            <a:ext cx="382219" cy="382219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3562958" y="2676905"/>
            <a:ext cx="2866644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动态数据开放 API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36695" y="3067811"/>
            <a:ext cx="251917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统一鉴权 · 按景区隔离</a:t>
            </a:r>
          </a:p>
          <a:p>
            <a:pPr algn="ctr">
              <a:lnSpc>
                <a:spcPct val="110000"/>
              </a:lnSpc>
              <a:spcBef>
                <a:spcPts val="190"/>
              </a:spcBef>
            </a:pPr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调用计量 · 全程监控</a:t>
            </a:r>
          </a:p>
        </p:txBody>
      </p:sp>
      <p:cxnSp>
        <p:nvCxnSpPr>
          <p:cNvPr id="149" name="Connector 148"/>
          <p:cNvCxnSpPr/>
          <p:nvPr/>
        </p:nvCxnSpPr>
        <p:spPr>
          <a:xfrm flipV="1">
            <a:off x="6429602" y="2329433"/>
            <a:ext cx="521207" cy="677570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6950810" y="2155697"/>
            <a:ext cx="3657142" cy="3648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layout-dashboard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2" y="2225192"/>
            <a:ext cx="225856" cy="225856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7385150" y="2155697"/>
            <a:ext cx="3135934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景区 SaaS / 经营看板</a:t>
            </a:r>
          </a:p>
        </p:txBody>
      </p:sp>
      <p:cxnSp>
        <p:nvCxnSpPr>
          <p:cNvPr id="153" name="Connector 152"/>
          <p:cNvCxnSpPr/>
          <p:nvPr/>
        </p:nvCxnSpPr>
        <p:spPr>
          <a:xfrm flipV="1">
            <a:off x="6429602" y="2763773"/>
            <a:ext cx="521207" cy="243230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6950810" y="2590037"/>
            <a:ext cx="3657142" cy="3648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megapho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112" y="2659532"/>
            <a:ext cx="225856" cy="22585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385150" y="2590037"/>
            <a:ext cx="3135934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营销：圈人 · 触达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6429602" y="3007004"/>
            <a:ext cx="521207" cy="191109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6950810" y="3024377"/>
            <a:ext cx="3657142" cy="3648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handshak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112" y="3093872"/>
            <a:ext cx="225856" cy="225856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7385150" y="3024377"/>
            <a:ext cx="3135934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供应商 / 合作伙伴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6429602" y="3007004"/>
            <a:ext cx="521207" cy="625449"/>
          </a:xfrm>
          <a:prstGeom prst="line">
            <a:avLst/>
          </a:prstGeom>
          <a:ln w="15875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ounded Rectangle 161"/>
          <p:cNvSpPr/>
          <p:nvPr/>
        </p:nvSpPr>
        <p:spPr>
          <a:xfrm>
            <a:off x="6950810" y="3458717"/>
            <a:ext cx="3657142" cy="36484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bo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112" y="3528211"/>
            <a:ext cx="225856" cy="225856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7385150" y="3458717"/>
            <a:ext cx="3135934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AI 智能体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13485" y="4179722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2474" y="4110227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四种用法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13485" y="4501133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69847" y="46314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69847" y="4631436"/>
            <a:ext cx="347472" cy="34747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04187" y="4614062"/>
            <a:ext cx="1641805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只查指标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7220" y="5091836"/>
            <a:ext cx="1989277" cy="7383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景区经营看板：销售额、核销量、入园人次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380536" y="4501133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536899" y="46314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536899" y="4631436"/>
            <a:ext cx="347472" cy="34747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71239" y="4614062"/>
            <a:ext cx="1641805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指标 + 标签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554272" y="5091836"/>
            <a:ext cx="1989277" cy="7383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按会员等级看复购率；按游客偏好看各票种销量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847588" y="4501133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003950" y="46314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003950" y="4631436"/>
            <a:ext cx="347472" cy="34747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438290" y="4614062"/>
            <a:ext cx="1641805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标签圈人 + 指标看效果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21324" y="5091836"/>
            <a:ext cx="1989277" cy="7383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圈出“近 90 天没复购的年卡用户”推活动，再看转化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8314639" y="4501133"/>
            <a:ext cx="2293315" cy="1389888"/>
          </a:xfrm>
          <a:prstGeom prst="roundRect">
            <a:avLst>
              <a:gd name="adj" fmla="val 7500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471001" y="4631436"/>
            <a:ext cx="347472" cy="34747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471001" y="4631436"/>
            <a:ext cx="347472" cy="34747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905341" y="4614062"/>
            <a:ext cx="1641805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只查标签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488375" y="5091836"/>
            <a:ext cx="1989277" cy="7383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智能体按游客偏好做个性化推荐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185422" y="112347"/>
            <a:ext cx="3820849" cy="830525"/>
            <a:chOff x="2659221" y="1745433"/>
            <a:chExt cx="3820849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498897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249424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治理写进开发每一步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事前定规范、事中设卡点、事后做治理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不另起流程，而是把检查站放进大家每天都要走的路上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23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90547"/>
            <a:ext cx="2970885" cy="3865626"/>
          </a:xfrm>
          <a:prstGeom prst="roundRect">
            <a:avLst>
              <a:gd name="adj" fmla="val 4093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913485" y="2090547"/>
            <a:ext cx="2970885" cy="825246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913485" y="2681249"/>
            <a:ext cx="2970885" cy="23454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clipboar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55" y="2290343"/>
            <a:ext cx="390906" cy="390906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651862" y="2160041"/>
            <a:ext cx="2102205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4ECEC"/>
                </a:solidFill>
                <a:latin typeface="微软雅黑"/>
                <a:ea typeface="微软雅黑"/>
              </a:rPr>
              <a:t>事前 · </a:t>
            </a: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定规范</a:t>
            </a:r>
          </a:p>
        </p:txBody>
      </p:sp>
      <p:pic>
        <p:nvPicPr>
          <p:cNvPr id="146" name="Picture 14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3185083"/>
            <a:ext cx="208483" cy="208483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391259" y="311558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需求：确认口径，复用已认证指标</a:t>
            </a:r>
          </a:p>
        </p:txBody>
      </p:sp>
      <p:pic>
        <p:nvPicPr>
          <p:cNvPr id="148" name="Picture 147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" y="3671543"/>
            <a:ext cx="208483" cy="208483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391259" y="360204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设计：模型评审，定数据域、分层、等级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04595" y="4635779"/>
            <a:ext cx="2623413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48496"/>
                </a:solidFill>
                <a:latin typeface="微软雅黑"/>
                <a:ea typeface="微软雅黑"/>
              </a:rPr>
              <a:t>谁来做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04595" y="4852949"/>
            <a:ext cx="262341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数据架构师 · 治理专员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87220" y="5243855"/>
            <a:ext cx="2623413" cy="538581"/>
          </a:xfrm>
          <a:prstGeom prst="roundRect">
            <a:avLst>
              <a:gd name="adj" fmla="val 12903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17373" bIns="17373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做不到会怎样</a:t>
            </a:r>
          </a:p>
          <a:p>
            <a:pPr algn="l"/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不过评审，不能进入开发</a:t>
            </a:r>
          </a:p>
        </p:txBody>
      </p:sp>
      <p:sp>
        <p:nvSpPr>
          <p:cNvPr id="153" name="Right Arrow 152"/>
          <p:cNvSpPr/>
          <p:nvPr/>
        </p:nvSpPr>
        <p:spPr>
          <a:xfrm>
            <a:off x="3971238" y="3853967"/>
            <a:ext cx="217170" cy="260603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4275277" y="2090547"/>
            <a:ext cx="2970885" cy="3865626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 w="19050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4275277" y="2090547"/>
            <a:ext cx="2970885" cy="825246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275277" y="2681249"/>
            <a:ext cx="2970885" cy="23454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447" y="2290343"/>
            <a:ext cx="390906" cy="390906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013655" y="2160041"/>
            <a:ext cx="2102205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4ECEC"/>
                </a:solidFill>
                <a:latin typeface="微软雅黑"/>
                <a:ea typeface="微软雅黑"/>
              </a:rPr>
              <a:t>事中 · </a:t>
            </a: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设卡点</a:t>
            </a:r>
          </a:p>
        </p:txBody>
      </p:sp>
      <p:pic>
        <p:nvPicPr>
          <p:cNvPr id="159" name="Picture 158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386" y="3185083"/>
            <a:ext cx="208483" cy="208483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4753051" y="311558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开发：按规范写，绑定质量规则</a:t>
            </a:r>
          </a:p>
        </p:txBody>
      </p:sp>
      <p:pic>
        <p:nvPicPr>
          <p:cNvPr id="161" name="Picture 160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386" y="3671543"/>
            <a:ext cx="208483" cy="208483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4753051" y="360204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发布：检查脚本自动卡</a:t>
            </a:r>
          </a:p>
        </p:txBody>
      </p:sp>
      <p:pic>
        <p:nvPicPr>
          <p:cNvPr id="163" name="Picture 162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386" y="4158005"/>
            <a:ext cx="208483" cy="208483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753051" y="4088510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运行：质量检查，不合格拦下游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466386" y="4635779"/>
            <a:ext cx="2623413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48496"/>
                </a:solidFill>
                <a:latin typeface="微软雅黑"/>
                <a:ea typeface="微软雅黑"/>
              </a:rPr>
              <a:t>谁来做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66386" y="4852949"/>
            <a:ext cx="262341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平台自动执行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449013" y="5243855"/>
            <a:ext cx="2623413" cy="538581"/>
          </a:xfrm>
          <a:prstGeom prst="roundRect">
            <a:avLst>
              <a:gd name="adj" fmla="val 12903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17373" bIns="17373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做不到会怎样</a:t>
            </a:r>
          </a:p>
          <a:p>
            <a:pPr algn="l"/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不合规发不出去；下游不运行</a:t>
            </a:r>
          </a:p>
        </p:txBody>
      </p:sp>
      <p:sp>
        <p:nvSpPr>
          <p:cNvPr id="168" name="Right Arrow 167"/>
          <p:cNvSpPr/>
          <p:nvPr/>
        </p:nvSpPr>
        <p:spPr>
          <a:xfrm>
            <a:off x="7333029" y="3853967"/>
            <a:ext cx="217170" cy="260603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7637068" y="2090547"/>
            <a:ext cx="2970885" cy="3865626"/>
          </a:xfrm>
          <a:prstGeom prst="roundRect">
            <a:avLst>
              <a:gd name="adj" fmla="val 4093"/>
            </a:avLst>
          </a:prstGeom>
          <a:solidFill>
            <a:srgbClr val="F7F3F1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637068" y="2090547"/>
            <a:ext cx="2970885" cy="825246"/>
          </a:xfrm>
          <a:prstGeom prst="roundRect">
            <a:avLst>
              <a:gd name="adj" fmla="val 1473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7637068" y="2681249"/>
            <a:ext cx="2970885" cy="23454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4238" y="2290343"/>
            <a:ext cx="390906" cy="390906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8375446" y="2160041"/>
            <a:ext cx="2102205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4ECEC"/>
                </a:solidFill>
                <a:latin typeface="微软雅黑"/>
                <a:ea typeface="微软雅黑"/>
              </a:rPr>
              <a:t>事后 · </a:t>
            </a: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做治理</a:t>
            </a:r>
          </a:p>
        </p:txBody>
      </p:sp>
      <p:pic>
        <p:nvPicPr>
          <p:cNvPr id="174" name="Picture 173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178" y="3185083"/>
            <a:ext cx="208483" cy="208483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8114842" y="311558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运营：健康分、成本、下线</a:t>
            </a:r>
          </a:p>
        </p:txBody>
      </p:sp>
      <p:pic>
        <p:nvPicPr>
          <p:cNvPr id="176" name="Picture 175" descr="circle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178" y="3671543"/>
            <a:ext cx="208483" cy="208483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8114842" y="3602049"/>
            <a:ext cx="2362809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复盘：补规范、补规则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28178" y="4635779"/>
            <a:ext cx="2623413" cy="2171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>
                <a:solidFill>
                  <a:srgbClr val="948496"/>
                </a:solidFill>
                <a:latin typeface="微软雅黑"/>
                <a:ea typeface="微软雅黑"/>
              </a:rPr>
              <a:t>谁来做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828178" y="4852949"/>
            <a:ext cx="262341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数据负责人 · 治理专员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810804" y="5243855"/>
            <a:ext cx="2623413" cy="538581"/>
          </a:xfrm>
          <a:prstGeom prst="roundRect">
            <a:avLst>
              <a:gd name="adj" fmla="val 12903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17373" bIns="17373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做不到会怎样</a:t>
            </a:r>
          </a:p>
          <a:p>
            <a:pPr algn="l"/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健康分低的排名公示，限期整改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谁来管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一个小组拍板，各业务线有人对接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治理不是数据团队一家的事，口径要业务来确认，争议要有人拍板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24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433675" y="2099233"/>
            <a:ext cx="3214116" cy="738378"/>
          </a:xfrm>
          <a:prstGeom prst="roundRect">
            <a:avLst>
              <a:gd name="adj" fmla="val 14117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数据治理小组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裁定口径 · 审批规范和指标认证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040733" y="2837611"/>
            <a:ext cx="0" cy="24323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2433675" y="3080842"/>
            <a:ext cx="3214116" cy="738378"/>
          </a:xfrm>
          <a:prstGeom prst="roundRect">
            <a:avLst>
              <a:gd name="adj" fmla="val 14117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数据负责人</a:t>
            </a:r>
          </a:p>
          <a:p>
            <a:pPr algn="ctr">
              <a:spcBef>
                <a:spcPts val="95"/>
              </a:spcBef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定方案 · 跨部门协调 · 对健康分负责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4040733" y="3819220"/>
            <a:ext cx="0" cy="21717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912467" y="4036390"/>
            <a:ext cx="4256532" cy="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912467" y="4036390"/>
            <a:ext cx="0" cy="21717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913485" y="4253560"/>
            <a:ext cx="1997963" cy="169392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651862" y="4357801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briefc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306" y="4477245"/>
            <a:ext cx="238886" cy="238886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00353" y="4905070"/>
            <a:ext cx="1824228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业务数据专员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00353" y="5165674"/>
            <a:ext cx="1824228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948496"/>
                </a:solidFill>
                <a:latin typeface="微软雅黑"/>
                <a:ea typeface="微软雅黑"/>
              </a:rPr>
              <a:t>每个业务线一名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0353" y="5426278"/>
            <a:ext cx="1824228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提规则 · 确认口径 · 验收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40733" y="4036390"/>
            <a:ext cx="0" cy="21717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3041751" y="4253560"/>
            <a:ext cx="1997963" cy="169392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780128" y="4357801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clipboar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573" y="4477245"/>
            <a:ext cx="238886" cy="238886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3128619" y="4905070"/>
            <a:ext cx="1824228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数据治理专员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28619" y="5426278"/>
            <a:ext cx="1824228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标准 · 指标 · 质量 · 资产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168999" y="4036390"/>
            <a:ext cx="0" cy="217170"/>
          </a:xfrm>
          <a:prstGeom prst="line">
            <a:avLst/>
          </a:prstGeom>
          <a:ln w="19050">
            <a:solidFill>
              <a:srgbClr val="D5C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5170017" y="4253560"/>
            <a:ext cx="1997963" cy="1693925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908395" y="4357801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cod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839" y="4477245"/>
            <a:ext cx="238886" cy="238886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5256885" y="4905070"/>
            <a:ext cx="1824228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架构师 / 开发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256885" y="5426278"/>
            <a:ext cx="1824228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模型落地 · 问题修复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472019" y="2099233"/>
            <a:ext cx="3135934" cy="3848251"/>
          </a:xfrm>
          <a:prstGeom prst="roundRect">
            <a:avLst>
              <a:gd name="adj" fmla="val 387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89189" y="2212162"/>
            <a:ext cx="278846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948496"/>
                </a:solidFill>
                <a:latin typeface="微软雅黑"/>
                <a:ea typeface="微软雅黑"/>
              </a:rPr>
              <a:t>运转节奏</a:t>
            </a:r>
          </a:p>
        </p:txBody>
      </p:sp>
      <p:sp>
        <p:nvSpPr>
          <p:cNvPr id="167" name="Oval 166"/>
          <p:cNvSpPr/>
          <p:nvPr/>
        </p:nvSpPr>
        <p:spPr>
          <a:xfrm>
            <a:off x="7689189" y="2820238"/>
            <a:ext cx="538581" cy="538581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calendar-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834" y="2954883"/>
            <a:ext cx="269290" cy="26929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8384133" y="2733370"/>
            <a:ext cx="213695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948496"/>
                </a:solidFill>
                <a:latin typeface="微软雅黑"/>
                <a:ea typeface="微软雅黑"/>
              </a:rPr>
              <a:t>两周一次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384133" y="3011347"/>
            <a:ext cx="21369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口径评审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384133" y="3358819"/>
            <a:ext cx="213695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新口径、口径争议集中定</a:t>
            </a:r>
          </a:p>
        </p:txBody>
      </p:sp>
      <p:sp>
        <p:nvSpPr>
          <p:cNvPr id="172" name="Oval 171"/>
          <p:cNvSpPr/>
          <p:nvPr/>
        </p:nvSpPr>
        <p:spPr>
          <a:xfrm>
            <a:off x="7689189" y="3862653"/>
            <a:ext cx="538581" cy="538581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chart-colum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834" y="3997299"/>
            <a:ext cx="269290" cy="26929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8384133" y="3775786"/>
            <a:ext cx="213695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948496"/>
                </a:solidFill>
                <a:latin typeface="微软雅黑"/>
                <a:ea typeface="微软雅黑"/>
              </a:rPr>
              <a:t>每月一次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84133" y="4053763"/>
            <a:ext cx="21369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健康分公示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84133" y="4401235"/>
            <a:ext cx="213695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按负责人、按业务排名</a:t>
            </a:r>
          </a:p>
        </p:txBody>
      </p:sp>
      <p:sp>
        <p:nvSpPr>
          <p:cNvPr id="177" name="Oval 176"/>
          <p:cNvSpPr/>
          <p:nvPr/>
        </p:nvSpPr>
        <p:spPr>
          <a:xfrm>
            <a:off x="7689189" y="4905070"/>
            <a:ext cx="538581" cy="538581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refresh-cw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3834" y="5039715"/>
            <a:ext cx="269290" cy="269290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8384133" y="4818202"/>
            <a:ext cx="2136952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1">
                <a:solidFill>
                  <a:srgbClr val="948496"/>
                </a:solidFill>
                <a:latin typeface="微软雅黑"/>
                <a:ea typeface="微软雅黑"/>
              </a:rPr>
              <a:t>每季度一次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384133" y="5096179"/>
            <a:ext cx="21369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复盘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384133" y="5443651"/>
            <a:ext cx="213695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补规范、补规则、调整目标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14606" y="112347"/>
            <a:ext cx="3162481" cy="830525"/>
            <a:chOff x="2659221" y="1745433"/>
            <a:chExt cx="3162481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840529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591056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怎么算做好了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试点主线的 8 个目标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先在“订单 → 核销 → 结算”上达标，再按数据域推广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25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34082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book-open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026" y="2207818"/>
            <a:ext cx="277977" cy="277977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104595" y="2164384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数据标准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04595" y="2468422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04595" y="3163366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新表规范符合率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80536" y="2034082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folder-tre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078" y="2207818"/>
            <a:ext cx="277977" cy="277977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3571646" y="2164384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数据家谱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71646" y="2468422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71646" y="3163366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核心表注释、负责人覆盖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847588" y="2034082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d-card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129" y="2207818"/>
            <a:ext cx="277977" cy="27797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6038697" y="2164384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统一编号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38697" y="2468422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38697" y="3163366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景区、商品、渠道编号映射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314639" y="2034082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stethoscop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0180" y="2207818"/>
            <a:ext cx="277977" cy="277977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505748" y="2164384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505748" y="2468422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505748" y="3163366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核心表强规则覆盖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13485" y="3814876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time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9026" y="3988612"/>
            <a:ext cx="277977" cy="277977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104595" y="3945178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每天体检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04595" y="4249216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≥99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04595" y="4944160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核心报表按时产出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380536" y="3814876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scal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6078" y="3988612"/>
            <a:ext cx="277977" cy="277977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571646" y="3945178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统一口径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571646" y="4249216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71646" y="4944160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老板看板认证指标占比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847588" y="3814876"/>
            <a:ext cx="2293315" cy="1607058"/>
          </a:xfrm>
          <a:prstGeom prst="roundRect">
            <a:avLst>
              <a:gd name="adj" fmla="val 648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lock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3129" y="3988612"/>
            <a:ext cx="277977" cy="277977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038697" y="3945178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管好权限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038697" y="4249216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7F6F82"/>
                </a:solidFill>
                <a:latin typeface="微软雅黑"/>
                <a:ea typeface="微软雅黑"/>
              </a:rPr>
              <a:t>100</a:t>
            </a:r>
            <a:r>
              <a:rPr sz="1350" b="1">
                <a:solidFill>
                  <a:srgbClr val="7F6F8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038697" y="4944160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敏感字段识别打标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314639" y="3814876"/>
            <a:ext cx="2293315" cy="1607058"/>
          </a:xfrm>
          <a:prstGeom prst="roundRect">
            <a:avLst>
              <a:gd name="adj" fmla="val 648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arrow-left-righ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0180" y="3988612"/>
            <a:ext cx="277977" cy="27797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8505748" y="3945178"/>
            <a:ext cx="159837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F4ECEC"/>
                </a:solidFill>
                <a:latin typeface="微软雅黑"/>
                <a:ea typeface="微软雅黑"/>
              </a:rPr>
              <a:t>一致性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505748" y="4249216"/>
            <a:ext cx="2032711" cy="6515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 差异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505748" y="4944160"/>
            <a:ext cx="1989277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核销量各出口差异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13485" y="5578297"/>
            <a:ext cx="96944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trash2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595" y="5665165"/>
            <a:ext cx="260603" cy="260603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478127" y="5578297"/>
            <a:ext cx="895609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7F6F82"/>
                </a:solidFill>
                <a:latin typeface="微软雅黑"/>
                <a:ea typeface="微软雅黑"/>
              </a:rPr>
              <a:t>另外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没用的表和任务，每季度清理一轮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落地四步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统接入 → 统建模 → 统开发 → 统服务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每一步都先在试点主线上做，做通了再铺开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26  ·  AI＋数据平台 · 01  数据平台</a:t>
            </a:r>
          </a:p>
        </p:txBody>
      </p:sp>
      <p:grpSp>
        <p:nvGrpSpPr>
          <p:cNvPr id="21000" name="素材 3"/>
          <p:cNvGrpSpPr/>
          <p:nvPr/>
        </p:nvGrpSpPr>
        <p:grpSpPr>
          <a:xfrm>
            <a:off x="1200150" y="2442362"/>
            <a:ext cx="8947404" cy="2079186"/>
            <a:chOff x="742226" y="3016129"/>
            <a:chExt cx="9386508" cy="2181225"/>
          </a:xfrm>
        </p:grpSpPr>
        <p:sp>
          <p:nvSpPr>
            <p:cNvPr id="21001" name="Oval 5"/>
            <p:cNvSpPr>
              <a:spLocks noChangeArrowheads="1"/>
            </p:cNvSpPr>
            <p:nvPr/>
          </p:nvSpPr>
          <p:spPr bwMode="auto">
            <a:xfrm>
              <a:off x="822820" y="3521788"/>
              <a:ext cx="1173806" cy="1169906"/>
            </a:xfrm>
            <a:prstGeom prst="ellipse">
              <a:avLst/>
            </a:pr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>
              <a:spLocks noEditPoints="1"/>
            </p:cNvSpPr>
            <p:nvPr/>
          </p:nvSpPr>
          <p:spPr bwMode="auto">
            <a:xfrm>
              <a:off x="742226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948496">
                <a:lumMod val="85000"/>
              </a:srgbClr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3" name="Pentagon 6"/>
            <p:cNvSpPr/>
            <p:nvPr/>
          </p:nvSpPr>
          <p:spPr>
            <a:xfrm>
              <a:off x="2226707" y="4030542"/>
              <a:ext cx="955423" cy="152400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948496">
                <a:shade val="50000"/>
              </a:srgbClr>
            </a:lnRef>
            <a:fillRef idx="1">
              <a:srgbClr val="948496"/>
            </a:fillRef>
            <a:effectRef idx="0">
              <a:srgbClr val="948496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86868" tIns="43434" rIns="86868" bIns="43434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004" name="Oval 5"/>
            <p:cNvSpPr>
              <a:spLocks noChangeArrowheads="1"/>
            </p:cNvSpPr>
            <p:nvPr/>
          </p:nvSpPr>
          <p:spPr bwMode="auto">
            <a:xfrm>
              <a:off x="3460173" y="3521788"/>
              <a:ext cx="1173806" cy="1169906"/>
            </a:xfrm>
            <a:prstGeom prst="ellipse">
              <a:avLst/>
            </a:pr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5" name="Freeform 6"/>
            <p:cNvSpPr>
              <a:spLocks noEditPoints="1"/>
            </p:cNvSpPr>
            <p:nvPr/>
          </p:nvSpPr>
          <p:spPr bwMode="auto">
            <a:xfrm>
              <a:off x="3379579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948496">
                <a:lumMod val="85000"/>
              </a:srgbClr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6" name="Pentagon 11"/>
            <p:cNvSpPr/>
            <p:nvPr/>
          </p:nvSpPr>
          <p:spPr>
            <a:xfrm>
              <a:off x="4910545" y="4030542"/>
              <a:ext cx="955423" cy="152400"/>
            </a:xfrm>
            <a:prstGeom prst="homePlate">
              <a:avLst/>
            </a:prstGeom>
            <a:solidFill>
              <a:srgbClr val="948496"/>
            </a:solidFill>
            <a:ln>
              <a:noFill/>
            </a:ln>
          </p:spPr>
          <p:style>
            <a:lnRef idx="2">
              <a:srgbClr val="948496">
                <a:shade val="50000"/>
              </a:srgbClr>
            </a:lnRef>
            <a:fillRef idx="1">
              <a:srgbClr val="948496"/>
            </a:fillRef>
            <a:effectRef idx="0">
              <a:srgbClr val="948496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86868" tIns="43434" rIns="86868" bIns="43434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7" name="Oval 5"/>
            <p:cNvSpPr>
              <a:spLocks noChangeArrowheads="1"/>
            </p:cNvSpPr>
            <p:nvPr/>
          </p:nvSpPr>
          <p:spPr bwMode="auto">
            <a:xfrm>
              <a:off x="6175752" y="3521788"/>
              <a:ext cx="1173806" cy="1169906"/>
            </a:xfrm>
            <a:prstGeom prst="ellipse">
              <a:avLst/>
            </a:pr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8" name="Freeform 6"/>
            <p:cNvSpPr>
              <a:spLocks noEditPoints="1"/>
            </p:cNvSpPr>
            <p:nvPr/>
          </p:nvSpPr>
          <p:spPr bwMode="auto">
            <a:xfrm>
              <a:off x="6095158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948496">
                <a:lumMod val="85000"/>
              </a:srgbClr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9" name="Pentagon 15"/>
            <p:cNvSpPr/>
            <p:nvPr/>
          </p:nvSpPr>
          <p:spPr>
            <a:xfrm>
              <a:off x="7594383" y="4030542"/>
              <a:ext cx="955423" cy="152400"/>
            </a:xfrm>
            <a:prstGeom prst="homePlate">
              <a:avLst/>
            </a:prstGeom>
            <a:solidFill>
              <a:srgbClr val="948496"/>
            </a:solidFill>
            <a:ln>
              <a:noFill/>
            </a:ln>
          </p:spPr>
          <p:style>
            <a:lnRef idx="2">
              <a:srgbClr val="948496">
                <a:shade val="50000"/>
              </a:srgbClr>
            </a:lnRef>
            <a:fillRef idx="1">
              <a:srgbClr val="948496"/>
            </a:fillRef>
            <a:effectRef idx="0">
              <a:srgbClr val="948496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86868" tIns="43434" rIns="86868" bIns="43434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10" name="Oval 5"/>
            <p:cNvSpPr>
              <a:spLocks noChangeArrowheads="1"/>
            </p:cNvSpPr>
            <p:nvPr/>
          </p:nvSpPr>
          <p:spPr bwMode="auto">
            <a:xfrm>
              <a:off x="8874335" y="3521788"/>
              <a:ext cx="1173806" cy="1169906"/>
            </a:xfrm>
            <a:prstGeom prst="ellipse">
              <a:avLst/>
            </a:pr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11" name="Freeform 6"/>
            <p:cNvSpPr>
              <a:spLocks noEditPoints="1"/>
            </p:cNvSpPr>
            <p:nvPr/>
          </p:nvSpPr>
          <p:spPr bwMode="auto">
            <a:xfrm>
              <a:off x="8793741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948496">
                <a:lumMod val="85000"/>
              </a:srgbClr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012" name="Picture 21011" descr="plu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02" y="3246376"/>
            <a:ext cx="469087" cy="469087"/>
          </a:xfrm>
          <a:prstGeom prst="rect">
            <a:avLst/>
          </a:prstGeom>
        </p:spPr>
      </p:pic>
      <p:sp>
        <p:nvSpPr>
          <p:cNvPr id="21013" name="TextBox 21012"/>
          <p:cNvSpPr txBox="1"/>
          <p:nvPr/>
        </p:nvSpPr>
        <p:spPr>
          <a:xfrm>
            <a:off x="662227" y="2068830"/>
            <a:ext cx="2345436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948496"/>
                </a:solidFill>
                <a:latin typeface="微软雅黑"/>
                <a:ea typeface="微软雅黑"/>
              </a:rPr>
              <a:t>01  统接入</a:t>
            </a:r>
          </a:p>
        </p:txBody>
      </p:sp>
      <p:sp>
        <p:nvSpPr>
          <p:cNvPr id="21014" name="TextBox 21013"/>
          <p:cNvSpPr txBox="1"/>
          <p:nvPr/>
        </p:nvSpPr>
        <p:spPr>
          <a:xfrm>
            <a:off x="662227" y="4535733"/>
            <a:ext cx="2345436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把数据接进来</a:t>
            </a:r>
          </a:p>
        </p:txBody>
      </p:sp>
      <p:sp>
        <p:nvSpPr>
          <p:cNvPr id="21015" name="TextBox 21014"/>
          <p:cNvSpPr txBox="1"/>
          <p:nvPr/>
        </p:nvSpPr>
        <p:spPr>
          <a:xfrm>
            <a:off x="662227" y="4883204"/>
            <a:ext cx="2345436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统一接入规范和编号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补齐数据源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订单、核销实时链路</a:t>
            </a:r>
          </a:p>
        </p:txBody>
      </p:sp>
      <p:pic>
        <p:nvPicPr>
          <p:cNvPr id="21016" name="Picture 21015" descr="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80" y="3246376"/>
            <a:ext cx="469087" cy="469087"/>
          </a:xfrm>
          <a:prstGeom prst="rect">
            <a:avLst/>
          </a:prstGeom>
        </p:spPr>
      </p:pic>
      <p:sp>
        <p:nvSpPr>
          <p:cNvPr id="21017" name="TextBox 21016"/>
          <p:cNvSpPr txBox="1"/>
          <p:nvPr/>
        </p:nvSpPr>
        <p:spPr>
          <a:xfrm>
            <a:off x="3172505" y="2068830"/>
            <a:ext cx="2345436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948496"/>
                </a:solidFill>
                <a:latin typeface="微软雅黑"/>
                <a:ea typeface="微软雅黑"/>
              </a:rPr>
              <a:t>02  统建模</a:t>
            </a:r>
          </a:p>
        </p:txBody>
      </p:sp>
      <p:sp>
        <p:nvSpPr>
          <p:cNvPr id="21018" name="TextBox 21017"/>
          <p:cNvSpPr txBox="1"/>
          <p:nvPr/>
        </p:nvSpPr>
        <p:spPr>
          <a:xfrm>
            <a:off x="3172505" y="4535733"/>
            <a:ext cx="2345436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把数据理清楚</a:t>
            </a:r>
          </a:p>
        </p:txBody>
      </p:sp>
      <p:sp>
        <p:nvSpPr>
          <p:cNvPr id="21019" name="TextBox 21018"/>
          <p:cNvSpPr txBox="1"/>
          <p:nvPr/>
        </p:nvSpPr>
        <p:spPr>
          <a:xfrm>
            <a:off x="3172505" y="4883204"/>
            <a:ext cx="2345436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划好数据域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首批指标和标签认证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重复模型合并</a:t>
            </a:r>
          </a:p>
        </p:txBody>
      </p:sp>
      <p:pic>
        <p:nvPicPr>
          <p:cNvPr id="21020" name="Picture 21019" descr="shield-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403" y="3246376"/>
            <a:ext cx="469087" cy="469087"/>
          </a:xfrm>
          <a:prstGeom prst="rect">
            <a:avLst/>
          </a:prstGeom>
        </p:spPr>
      </p:pic>
      <p:sp>
        <p:nvSpPr>
          <p:cNvPr id="21021" name="TextBox 21020"/>
          <p:cNvSpPr txBox="1"/>
          <p:nvPr/>
        </p:nvSpPr>
        <p:spPr>
          <a:xfrm>
            <a:off x="5761229" y="2068830"/>
            <a:ext cx="2345436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948496"/>
                </a:solidFill>
                <a:latin typeface="微软雅黑"/>
                <a:ea typeface="微软雅黑"/>
              </a:rPr>
              <a:t>03  统开发</a:t>
            </a:r>
          </a:p>
        </p:txBody>
      </p:sp>
      <p:sp>
        <p:nvSpPr>
          <p:cNvPr id="21022" name="TextBox 21021"/>
          <p:cNvSpPr txBox="1"/>
          <p:nvPr/>
        </p:nvSpPr>
        <p:spPr>
          <a:xfrm>
            <a:off x="5761229" y="4535733"/>
            <a:ext cx="2345436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把关口设起来</a:t>
            </a:r>
          </a:p>
        </p:txBody>
      </p:sp>
      <p:sp>
        <p:nvSpPr>
          <p:cNvPr id="21023" name="TextBox 21022"/>
          <p:cNvSpPr txBox="1"/>
          <p:nvPr/>
        </p:nvSpPr>
        <p:spPr>
          <a:xfrm>
            <a:off x="5761229" y="4883204"/>
            <a:ext cx="2345436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发布卡点上线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质量规则绑定任务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核销逐层核对</a:t>
            </a:r>
          </a:p>
        </p:txBody>
      </p:sp>
      <p:pic>
        <p:nvPicPr>
          <p:cNvPr id="21024" name="Picture 21023" descr="sen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9410" y="3246376"/>
            <a:ext cx="469087" cy="469087"/>
          </a:xfrm>
          <a:prstGeom prst="rect">
            <a:avLst/>
          </a:prstGeom>
        </p:spPr>
      </p:pic>
      <p:sp>
        <p:nvSpPr>
          <p:cNvPr id="21025" name="TextBox 21024"/>
          <p:cNvSpPr txBox="1"/>
          <p:nvPr/>
        </p:nvSpPr>
        <p:spPr>
          <a:xfrm>
            <a:off x="8341236" y="2068830"/>
            <a:ext cx="2345436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948496"/>
                </a:solidFill>
                <a:latin typeface="微软雅黑"/>
                <a:ea typeface="微软雅黑"/>
              </a:rPr>
              <a:t>04  统服务</a:t>
            </a:r>
          </a:p>
        </p:txBody>
      </p:sp>
      <p:sp>
        <p:nvSpPr>
          <p:cNvPr id="21026" name="TextBox 21025"/>
          <p:cNvSpPr txBox="1"/>
          <p:nvPr/>
        </p:nvSpPr>
        <p:spPr>
          <a:xfrm>
            <a:off x="8341236" y="4535733"/>
            <a:ext cx="2345436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把数据用起来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8341236" y="4883204"/>
            <a:ext cx="2345436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接口联合提供指标和标签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小Q 数据集统一</a:t>
            </a:r>
          </a:p>
          <a:p>
            <a:pPr algn="ctr">
              <a:lnSpc>
                <a:spcPct val="105000"/>
              </a:lnSpc>
              <a:spcBef>
                <a:spcPts val="190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业务自助分析</a:t>
            </a:r>
          </a:p>
        </p:txBody>
      </p:sp>
      <p:sp>
        <p:nvSpPr>
          <p:cNvPr id="21028" name="Rounded Rectangle 21027"/>
          <p:cNvSpPr/>
          <p:nvPr/>
        </p:nvSpPr>
        <p:spPr>
          <a:xfrm>
            <a:off x="913485" y="5543550"/>
            <a:ext cx="4760366" cy="434340"/>
          </a:xfrm>
          <a:prstGeom prst="roundRect">
            <a:avLst>
              <a:gd name="adj" fmla="val 2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试点先行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先做“订单 → 核销 → 结算”</a:t>
            </a:r>
          </a:p>
        </p:txBody>
      </p:sp>
      <p:sp>
        <p:nvSpPr>
          <p:cNvPr id="21029" name="Rounded Rectangle 21028"/>
          <p:cNvSpPr/>
          <p:nvPr/>
        </p:nvSpPr>
        <p:spPr>
          <a:xfrm>
            <a:off x="5847588" y="5543550"/>
            <a:ext cx="4760366" cy="434340"/>
          </a:xfrm>
          <a:prstGeom prst="roundRect">
            <a:avLst>
              <a:gd name="adj" fmla="val 2000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稳妥切换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老模型先双跑对比再切换，可回退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落地效果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建成后看得见的六个变化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每一项都能对比“以前”和“以后”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27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5569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87220" y="231206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book-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05" y="2420645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25803" y="231206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统一规范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87220" y="286801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规范只写在文档里</a:t>
            </a:r>
          </a:p>
        </p:txBody>
      </p:sp>
      <p:sp>
        <p:nvSpPr>
          <p:cNvPr id="146" name="Down Arrow 145"/>
          <p:cNvSpPr/>
          <p:nvPr/>
        </p:nvSpPr>
        <p:spPr>
          <a:xfrm>
            <a:off x="2384450" y="333710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087220" y="340659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不合规的表发不出去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02887" y="215569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376623" y="231206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z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208" y="2420645"/>
            <a:ext cx="217170" cy="21717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4915204" y="231206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统一底座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376623" y="286801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订单、核销第二天才看到</a:t>
            </a:r>
          </a:p>
        </p:txBody>
      </p:sp>
      <p:sp>
        <p:nvSpPr>
          <p:cNvPr id="153" name="Down Arrow 152"/>
          <p:cNvSpPr/>
          <p:nvPr/>
        </p:nvSpPr>
        <p:spPr>
          <a:xfrm>
            <a:off x="5673852" y="333710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4376623" y="340659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分钟级就能看到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492288" y="215569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666023" y="231206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lay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608" y="2420645"/>
            <a:ext cx="217170" cy="21717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204606" y="231206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统一湖仓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666023" y="286801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同一指标两套结果</a:t>
            </a:r>
          </a:p>
        </p:txBody>
      </p:sp>
      <p:sp>
        <p:nvSpPr>
          <p:cNvPr id="160" name="Down Arrow 159"/>
          <p:cNvSpPr/>
          <p:nvPr/>
        </p:nvSpPr>
        <p:spPr>
          <a:xfrm>
            <a:off x="8963253" y="333710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666023" y="340659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只建一次，改口径只改一处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13485" y="411022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87220" y="426659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sca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805" y="4375175"/>
            <a:ext cx="217170" cy="21717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625803" y="426659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统一指标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87220" y="482254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报表、接口、AI 各说各的</a:t>
            </a:r>
          </a:p>
        </p:txBody>
      </p:sp>
      <p:sp>
        <p:nvSpPr>
          <p:cNvPr id="167" name="Down Arrow 166"/>
          <p:cNvSpPr/>
          <p:nvPr/>
        </p:nvSpPr>
        <p:spPr>
          <a:xfrm>
            <a:off x="2384450" y="529163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1087220" y="536112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三处数字一致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202887" y="411022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376623" y="426659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user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208" y="4375175"/>
            <a:ext cx="217170" cy="21717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4915204" y="426659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标签复用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376623" y="482254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各部门各做一套</a:t>
            </a:r>
          </a:p>
        </p:txBody>
      </p:sp>
      <p:sp>
        <p:nvSpPr>
          <p:cNvPr id="174" name="Down Arrow 173"/>
          <p:cNvSpPr/>
          <p:nvPr/>
        </p:nvSpPr>
        <p:spPr>
          <a:xfrm>
            <a:off x="5673852" y="529163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4376623" y="536112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一个游客一个身份，到处能用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492288" y="4110228"/>
            <a:ext cx="3115665" cy="1780793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666023" y="426659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search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4608" y="4375175"/>
            <a:ext cx="217170" cy="217170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8204606" y="4266590"/>
            <a:ext cx="2246985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自助分析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666023" y="4822546"/>
            <a:ext cx="2768193" cy="434340"/>
          </a:xfrm>
          <a:prstGeom prst="roundRect">
            <a:avLst>
              <a:gd name="adj" fmla="val 16000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B3A7AB"/>
                </a:solidFill>
                <a:latin typeface="微软雅黑"/>
                <a:ea typeface="微软雅黑"/>
              </a:rPr>
              <a:t>以前　</a:t>
            </a: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找数据团队要数</a:t>
            </a:r>
          </a:p>
        </p:txBody>
      </p:sp>
      <p:sp>
        <p:nvSpPr>
          <p:cNvPr id="181" name="Down Arrow 180"/>
          <p:cNvSpPr/>
          <p:nvPr/>
        </p:nvSpPr>
        <p:spPr>
          <a:xfrm>
            <a:off x="8963253" y="5291633"/>
            <a:ext cx="173736" cy="121615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666023" y="5361127"/>
            <a:ext cx="2768193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0302" tIns="0" bIns="0"/>
          <a:lstStyle/>
          <a:p>
            <a:pPr algn="l"/>
            <a:r>
              <a:rPr sz="1000" b="1">
                <a:solidFill>
                  <a:srgbClr val="EFE6E5"/>
                </a:solidFill>
                <a:latin typeface="微软雅黑"/>
                <a:ea typeface="微软雅黑"/>
              </a:rPr>
              <a:t>以后　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业务自己查、自己看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对公司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从“找人要数”变成“数据找人”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五个方面都有可衡量的变化；先建立基线，再定目标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28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90547"/>
            <a:ext cx="2866644" cy="3865626"/>
          </a:xfrm>
          <a:prstGeom prst="roundRect">
            <a:avLst>
              <a:gd name="adj" fmla="val 4242"/>
            </a:avLst>
          </a:prstGeom>
          <a:solidFill>
            <a:srgbClr val="F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655" y="2203475"/>
            <a:ext cx="2519172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B3A7AB"/>
                </a:solidFill>
                <a:latin typeface="微软雅黑"/>
                <a:ea typeface="微软雅黑"/>
              </a:rPr>
              <a:t>以前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30655" y="2507513"/>
            <a:ext cx="2519172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>
                <a:solidFill>
                  <a:srgbClr val="7B7074"/>
                </a:solidFill>
                <a:latin typeface="微软雅黑"/>
                <a:ea typeface="微软雅黑"/>
              </a:rPr>
              <a:t>找人要数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30655" y="3115589"/>
            <a:ext cx="2519172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· 开会先对数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30655" y="3463061"/>
            <a:ext cx="2519172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· 第二天才看到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30655" y="3810533"/>
            <a:ext cx="2519172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· 临时找人取数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0655" y="4158005"/>
            <a:ext cx="2519172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· 同样的模型做好几遍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3849623" y="3853967"/>
            <a:ext cx="295351" cy="34747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4214468" y="2090547"/>
            <a:ext cx="6393484" cy="3865626"/>
          </a:xfrm>
          <a:prstGeom prst="roundRect">
            <a:avLst>
              <a:gd name="adj" fmla="val 314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31639" y="2203475"/>
            <a:ext cx="2606039" cy="30403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48496"/>
                </a:solidFill>
                <a:latin typeface="微软雅黑"/>
                <a:ea typeface="微软雅黑"/>
              </a:rPr>
              <a:t>以后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31639" y="2507513"/>
            <a:ext cx="3474720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100" b="1">
                <a:solidFill>
                  <a:srgbClr val="7F6F82"/>
                </a:solidFill>
                <a:latin typeface="微软雅黑"/>
                <a:ea typeface="微软雅黑"/>
              </a:rPr>
              <a:t>数据找人</a:t>
            </a:r>
          </a:p>
        </p:txBody>
      </p:sp>
      <p:sp>
        <p:nvSpPr>
          <p:cNvPr id="152" name="Oval 151"/>
          <p:cNvSpPr/>
          <p:nvPr/>
        </p:nvSpPr>
        <p:spPr>
          <a:xfrm>
            <a:off x="4431639" y="3080842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badge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881" y="3185083"/>
            <a:ext cx="208483" cy="208483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4978907" y="3046095"/>
            <a:ext cx="6949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可信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04356" y="3046095"/>
            <a:ext cx="28666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一个指标一个口径，数字可追溯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27567" y="3167710"/>
            <a:ext cx="1786343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认证指标覆盖率 · 对账差异率</a:t>
            </a:r>
          </a:p>
        </p:txBody>
      </p:sp>
      <p:sp>
        <p:nvSpPr>
          <p:cNvPr id="157" name="Oval 156"/>
          <p:cNvSpPr/>
          <p:nvPr/>
        </p:nvSpPr>
        <p:spPr>
          <a:xfrm>
            <a:off x="4431639" y="3654171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z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881" y="3758412"/>
            <a:ext cx="208483" cy="208483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4978907" y="3619423"/>
            <a:ext cx="6949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时效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04356" y="3619423"/>
            <a:ext cx="28666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订单、核销第二天 → 分钟级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427567" y="3741038"/>
            <a:ext cx="851065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端到端延迟</a:t>
            </a:r>
          </a:p>
        </p:txBody>
      </p:sp>
      <p:sp>
        <p:nvSpPr>
          <p:cNvPr id="162" name="Oval 161"/>
          <p:cNvSpPr/>
          <p:nvPr/>
        </p:nvSpPr>
        <p:spPr>
          <a:xfrm>
            <a:off x="4431639" y="4227499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gau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881" y="4331741"/>
            <a:ext cx="208483" cy="208483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978907" y="4192752"/>
            <a:ext cx="6949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效率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04356" y="4192752"/>
            <a:ext cx="28666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公共模型复用，改动影响可预判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427567" y="4314367"/>
            <a:ext cx="1442491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模型复用率 · 交付周期</a:t>
            </a:r>
          </a:p>
        </p:txBody>
      </p:sp>
      <p:sp>
        <p:nvSpPr>
          <p:cNvPr id="167" name="Oval 166"/>
          <p:cNvSpPr/>
          <p:nvPr/>
        </p:nvSpPr>
        <p:spPr>
          <a:xfrm>
            <a:off x="4431639" y="4800828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piggy-ba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881" y="4905070"/>
            <a:ext cx="208483" cy="208483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4978907" y="4766081"/>
            <a:ext cx="6949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604356" y="4766081"/>
            <a:ext cx="28666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重复模型、无用报表和任务下线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427567" y="4887696"/>
            <a:ext cx="965681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存储计算成本</a:t>
            </a:r>
          </a:p>
        </p:txBody>
      </p:sp>
      <p:sp>
        <p:nvSpPr>
          <p:cNvPr id="172" name="Oval 171"/>
          <p:cNvSpPr/>
          <p:nvPr/>
        </p:nvSpPr>
        <p:spPr>
          <a:xfrm>
            <a:off x="4431639" y="5374157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shiel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881" y="5478398"/>
            <a:ext cx="208483" cy="208483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4978907" y="5339410"/>
            <a:ext cx="6949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04356" y="5339410"/>
            <a:ext cx="2866644" cy="4864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敏感数据分级、打码、可审计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427567" y="5461025"/>
            <a:ext cx="1309535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敏感字段识别覆盖率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对各业务线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每个人都用上靠谱的数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从管理层到景区，九类角色的变化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29  ·  AI＋数据平台 · 01  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0357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87220" y="232074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crow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80" y="2446705"/>
            <a:ext cx="251917" cy="251917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738731" y="2207818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管理层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38731" y="252054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驾驶舱全用认证指标，不用先对数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02887" y="210357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376623" y="232074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581" y="2446705"/>
            <a:ext cx="251917" cy="25191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5028133" y="2207818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28133" y="252054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核销口径统一，差异自动定位；节假日实时看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492288" y="210357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666023" y="232074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982" y="2446705"/>
            <a:ext cx="251917" cy="251917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8317533" y="2207818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17533" y="252054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业务与财务逐层对账，差异自动列原因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3485" y="321548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87220" y="343265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180" y="3558616"/>
            <a:ext cx="251917" cy="251917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738731" y="331972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738731" y="363245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销量、佣金、返利口径统一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202887" y="321548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376623" y="343265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mega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581" y="3558616"/>
            <a:ext cx="251917" cy="251917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028133" y="331972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28133" y="363245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标签圈人、指标看效果，复盘自动完成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92288" y="3215487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666023" y="343265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heads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982" y="3558616"/>
            <a:ext cx="251917" cy="251917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8317533" y="331972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运营 / 客户成功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317533" y="3632453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景区经营报告自动生成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13485" y="4327398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87220" y="454456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cod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3180" y="4670525"/>
            <a:ext cx="251917" cy="251917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738731" y="443163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产品研发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38731" y="4744364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上线前定好口径，上线即有数据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202887" y="4327398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376623" y="4544567"/>
            <a:ext cx="503834" cy="503834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databas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2581" y="4670525"/>
            <a:ext cx="251917" cy="251917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5028133" y="443163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数据团队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28133" y="4744364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从取数对数转向建模型、做分析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492288" y="4327398"/>
            <a:ext cx="3115665" cy="938174"/>
          </a:xfrm>
          <a:prstGeom prst="roundRect">
            <a:avLst>
              <a:gd name="adj" fmla="val 111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666023" y="4544567"/>
            <a:ext cx="503834" cy="503834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landmar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1982" y="4670525"/>
            <a:ext cx="251917" cy="251917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8317533" y="4431639"/>
            <a:ext cx="216011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景区 / 供应商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317533" y="4744364"/>
            <a:ext cx="2160116" cy="45171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直接用标准指标，不够用自己加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913485" y="5439308"/>
            <a:ext cx="9694468" cy="503834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za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4595" y="5560923"/>
            <a:ext cx="260603" cy="260603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478127" y="5439308"/>
            <a:ext cx="8956090" cy="5038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为第二部分打基础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数据可信、有口径、有权限，AI 接上去才能答得准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 descr="D:\51PPT模板网\51pptmoban.com\图片.jpg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 descr="D:\51PPT模板网\51pptmoban.com\图片.jpg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 descr="D:\51PPT模板网\51pptmoban.com\图片.jpg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" name="文本框 4"/>
          <p:cNvSpPr txBox="1"/>
          <p:nvPr/>
        </p:nvSpPr>
        <p:spPr>
          <a:xfrm>
            <a:off x="2730499" y="2755382"/>
            <a:ext cx="6731002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7F6F82"/>
                </a:solidFill>
                <a:latin typeface="微软雅黑"/>
                <a:ea typeface="微软雅黑"/>
              </a:rPr>
              <a:t>先借力卖起来，再自己建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4555754" y="1792224"/>
            <a:ext cx="3080185" cy="830525"/>
            <a:chOff x="2659221" y="1745433"/>
            <a:chExt cx="3080185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58233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508760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8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智能体平台</a:t>
              </a:r>
              <a:endParaRPr lang="zh-CN" altLang="en-US" sz="1600" b="1" dirty="0"/>
            </a:p>
          </p:txBody>
        </p:sp>
      </p:grpSp>
      <p:sp>
        <p:nvSpPr>
          <p:cNvPr id="159" name="Rounded Rectangle 158"/>
          <p:cNvSpPr/>
          <p:nvPr/>
        </p:nvSpPr>
        <p:spPr>
          <a:xfrm>
            <a:off x="2441448" y="3703320"/>
            <a:ext cx="7315200" cy="18288"/>
          </a:xfrm>
          <a:prstGeom prst="roundRect">
            <a:avLst>
              <a:gd name="adj" fmla="val 0"/>
            </a:avLst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441448" y="3794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948496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44144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现状与底气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04487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能做哪些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6752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三步怎么走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3056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先验证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93608" y="41605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再复制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441448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何时自建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04487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建成什么样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67528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能省什么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830568" y="4507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怎么切换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现状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已经有 8 个智能体，来自三个地方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智能体 = 能听懂问题、还能帮你办事的 AI 助手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31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21052"/>
            <a:ext cx="6341364" cy="1172718"/>
          </a:xfrm>
          <a:prstGeom prst="roundRect">
            <a:avLst>
              <a:gd name="adj" fmla="val 1037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04595" y="2212162"/>
            <a:ext cx="434340" cy="43434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2316403"/>
            <a:ext cx="225856" cy="22585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95297" y="2194788"/>
            <a:ext cx="347472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扣子平台上配置的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25565" y="2090547"/>
            <a:ext cx="955547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 个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695297" y="2611754"/>
            <a:ext cx="89184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674010" y="2611754"/>
            <a:ext cx="89184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652723" y="2611754"/>
            <a:ext cx="89184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631436" y="2611754"/>
            <a:ext cx="807872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526176" y="2611754"/>
            <a:ext cx="807872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95297" y="2941853"/>
            <a:ext cx="5472683" cy="2084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给游客用 · 工作流配置成智能体，标准化、配置化输出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13485" y="3324072"/>
            <a:ext cx="6341364" cy="1172718"/>
          </a:xfrm>
          <a:prstGeom prst="roundRect">
            <a:avLst>
              <a:gd name="adj" fmla="val 10370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104595" y="3515182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180" y="3623767"/>
            <a:ext cx="217170" cy="21717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695297" y="3497808"/>
            <a:ext cx="347472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和合作企业一起做的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25565" y="3393567"/>
            <a:ext cx="955547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250" b="1">
                <a:solidFill>
                  <a:srgbClr val="B97A6A"/>
                </a:solidFill>
                <a:latin typeface="微软雅黑"/>
                <a:ea typeface="微软雅黑"/>
              </a:rPr>
              <a:t>1</a:t>
            </a:r>
            <a:r>
              <a:rPr sz="1150" b="1">
                <a:solidFill>
                  <a:srgbClr val="B97A6A"/>
                </a:solidFill>
                <a:latin typeface="微软雅黑"/>
                <a:ea typeface="微软雅黑"/>
              </a:rPr>
              <a:t> 个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695297" y="3914775"/>
            <a:ext cx="60228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9A5A4B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695297" y="4244873"/>
            <a:ext cx="5472683" cy="2084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给听障游客用 · 接入合作方的专业能力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13485" y="4627092"/>
            <a:ext cx="6341364" cy="1172718"/>
          </a:xfrm>
          <a:prstGeom prst="roundRect">
            <a:avLst>
              <a:gd name="adj" fmla="val 1037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104595" y="4818202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hart-colum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180" y="4926787"/>
            <a:ext cx="217170" cy="21717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695297" y="4800828"/>
            <a:ext cx="347472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小Q 自带的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125565" y="4696587"/>
            <a:ext cx="955547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3250" b="1">
                <a:solidFill>
                  <a:srgbClr val="3B3337"/>
                </a:solidFill>
                <a:latin typeface="微软雅黑"/>
                <a:ea typeface="微软雅黑"/>
              </a:rPr>
              <a:t>2</a:t>
            </a:r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 个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695297" y="5217795"/>
            <a:ext cx="89184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智能问数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674010" y="5217795"/>
            <a:ext cx="1181404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智能数据解读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695297" y="5547893"/>
            <a:ext cx="5472683" cy="20848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给景区和内部管理者用 · 直接用小Q 的 AI 能力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7776056" y="1960244"/>
            <a:ext cx="2779776" cy="4126230"/>
          </a:xfrm>
          <a:prstGeom prst="roundRect">
            <a:avLst>
              <a:gd name="adj" fmla="val 10000"/>
            </a:avLst>
          </a:prstGeom>
          <a:solidFill>
            <a:srgbClr val="3B3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862924" y="2047113"/>
            <a:ext cx="2606039" cy="3952494"/>
          </a:xfrm>
          <a:prstGeom prst="roundRect">
            <a:avLst>
              <a:gd name="adj" fmla="val 8333"/>
            </a:avLst>
          </a:prstGeom>
          <a:solidFill>
            <a:srgbClr val="F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775039" y="2073172"/>
            <a:ext cx="781812" cy="104241"/>
          </a:xfrm>
          <a:prstGeom prst="roundRect">
            <a:avLst>
              <a:gd name="adj" fmla="val 50000"/>
            </a:avLst>
          </a:prstGeom>
          <a:solidFill>
            <a:srgbClr val="3B3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7862924" y="2264283"/>
            <a:ext cx="2606039" cy="53858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993226" y="2333777"/>
            <a:ext cx="382219" cy="382219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bo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781" y="2429332"/>
            <a:ext cx="191109" cy="191109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8471000" y="2307716"/>
            <a:ext cx="1911095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智能客服 · 示意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71000" y="2550947"/>
            <a:ext cx="1911095" cy="1911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8FA88F"/>
                </a:solidFill>
                <a:latin typeface="微软雅黑"/>
                <a:ea typeface="微软雅黑"/>
              </a:rPr>
              <a:t>● 在线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388657" y="2959227"/>
            <a:ext cx="1950005" cy="31272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明天上午去，几点开园？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993226" y="3393567"/>
            <a:ext cx="2095689" cy="66019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明天 8:00 开园。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刷身份证或人脸就能入园，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不用换票。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825711" y="4175379"/>
            <a:ext cx="1512951" cy="31272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帮我买两张成人票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993226" y="4609719"/>
            <a:ext cx="1973314" cy="48646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已选好明天成人票 2 张，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点这里去支付 →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993226" y="5521832"/>
            <a:ext cx="2345436" cy="33009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166962" y="5521832"/>
            <a:ext cx="1737360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B3A7AB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181" name="Oval 180"/>
          <p:cNvSpPr/>
          <p:nvPr/>
        </p:nvSpPr>
        <p:spPr>
          <a:xfrm>
            <a:off x="10034624" y="5547893"/>
            <a:ext cx="277977" cy="277977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s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6746" y="5600013"/>
            <a:ext cx="173736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404878" y="112347"/>
            <a:ext cx="3381937" cy="830525"/>
            <a:chOff x="2659221" y="1745433"/>
            <a:chExt cx="3381937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059985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810512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我们凭什么能做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系统在现场、数据在手里、客户在用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别人只能做“通用聊天”，我们能做“帮景区和游客办事”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32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03780"/>
            <a:ext cx="3474720" cy="3605022"/>
          </a:xfrm>
          <a:prstGeom prst="roundRect">
            <a:avLst>
              <a:gd name="adj" fmla="val 3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04595" y="2060143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box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37" y="2179586"/>
            <a:ext cx="238886" cy="23888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95297" y="2042769"/>
            <a:ext cx="260603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产品积累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95297" y="2320747"/>
            <a:ext cx="260603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8 条产品线，系统装在景区现场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87220" y="275508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63" y="2911449"/>
            <a:ext cx="243230" cy="24323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504187" y="275508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694279" y="275508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521" y="2911449"/>
            <a:ext cx="243230" cy="24323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111246" y="275508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景区业态管理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87220" y="3415284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activity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463" y="3571646"/>
            <a:ext cx="243230" cy="24323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1504187" y="3415284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景区运营管理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694279" y="3415284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wallet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8521" y="3571646"/>
            <a:ext cx="243230" cy="24323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3111246" y="3415284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景区财务管理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87220" y="4075480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monitor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1463" y="4231843"/>
            <a:ext cx="243230" cy="24323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504187" y="4075480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景区智慧终端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694279" y="4075480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brai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521" y="4231843"/>
            <a:ext cx="243230" cy="24323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3111246" y="4075480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AI 数字大脑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87220" y="473567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smartphone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" y="4892040"/>
            <a:ext cx="243230" cy="24323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504187" y="473567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694279" y="473567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megaphone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8521" y="4892040"/>
            <a:ext cx="243230" cy="24323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3111246" y="473567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561941" y="1903780"/>
            <a:ext cx="3474720" cy="3605022"/>
          </a:xfrm>
          <a:prstGeom prst="roundRect">
            <a:avLst>
              <a:gd name="adj" fmla="val 3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753051" y="2060143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databas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2494" y="2179586"/>
            <a:ext cx="238886" cy="238886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5343753" y="2042769"/>
            <a:ext cx="260603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数据在手里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343753" y="2320747"/>
            <a:ext cx="260603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办事要用的数据，都在我们系统里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735677" y="275508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receipt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9919" y="2911449"/>
            <a:ext cx="243230" cy="24323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5152644" y="275508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交易与客流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342735" y="275508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tag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977" y="2911449"/>
            <a:ext cx="243230" cy="24323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6759702" y="275508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售票与分销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735677" y="3415284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919" y="3571646"/>
            <a:ext cx="243230" cy="243230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5152644" y="3415284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九大业态系统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342735" y="3415284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calendar-check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977" y="3571646"/>
            <a:ext cx="243230" cy="243230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6759702" y="3415284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年卡与预约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4735677" y="4075480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file-text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9919" y="4231843"/>
            <a:ext cx="243230" cy="243230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5152644" y="4075480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订单与结算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342735" y="4075480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Picture 190" descr="users_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6977" y="4231843"/>
            <a:ext cx="243230" cy="24323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6759702" y="4075480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会员与营销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735677" y="473567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Picture 193" descr="scan-face_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39919" y="4892040"/>
            <a:ext cx="243230" cy="243230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5152644" y="473567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闸机与物联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342735" y="4735677"/>
            <a:ext cx="1520189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Picture 196" descr="badge-check_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6977" y="4892040"/>
            <a:ext cx="243230" cy="243230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6759702" y="4735677"/>
            <a:ext cx="1068476" cy="55595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认证指标与标签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210397" y="1903780"/>
            <a:ext cx="2397556" cy="3605022"/>
          </a:xfrm>
          <a:prstGeom prst="roundRect">
            <a:avLst>
              <a:gd name="adj" fmla="val 5072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401507" y="2060143"/>
            <a:ext cx="477773" cy="477773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Picture 200" descr="handshake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14435" y="2173071"/>
            <a:ext cx="251917" cy="251917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8992209" y="2042769"/>
            <a:ext cx="1528875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客户在用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992209" y="2320747"/>
            <a:ext cx="1528875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大量景区已用我们的票务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8384133" y="2755087"/>
            <a:ext cx="2050084" cy="764438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557869" y="2824581"/>
            <a:ext cx="1789479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接口现成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557869" y="3145993"/>
            <a:ext cx="178947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系统已对接，基本零开发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84133" y="3623767"/>
            <a:ext cx="2050084" cy="764438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557869" y="3693261"/>
            <a:ext cx="1789479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信任已有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557869" y="4014673"/>
            <a:ext cx="178947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老客户，成交最快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384133" y="4492447"/>
            <a:ext cx="2050084" cy="764438"/>
          </a:xfrm>
          <a:prstGeom prst="roundRect">
            <a:avLst>
              <a:gd name="adj" fmla="val 11363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557869" y="4561941"/>
            <a:ext cx="1789479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入口现成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557869" y="4883353"/>
            <a:ext cx="1789479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小程序、公众号、APP、终端都在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13485" y="5665165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" name="Picture 213" descr="shield-check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4595" y="5773750"/>
            <a:ext cx="260603" cy="260603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1478127" y="5665165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结论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别人做通用聊天，我们做“能办事”的智能体 —— 这是我们的护城河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325874" y="112347"/>
            <a:ext cx="3539945" cy="830525"/>
            <a:chOff x="2659221" y="1745433"/>
            <a:chExt cx="3539945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17993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968520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游客端能做 17 个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覆盖游前、游中、游后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已有 6 个；其余 11 个基于现有系统和数据都可以扩展，只是先后问题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33  ·  AI＋数据平台 · 02  智能体平台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174089" y="2290343"/>
            <a:ext cx="9173260" cy="0"/>
          </a:xfrm>
          <a:prstGeom prst="line">
            <a:avLst/>
          </a:prstGeom>
          <a:ln w="38100">
            <a:solidFill>
              <a:srgbClr val="D5C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1000353" y="2012365"/>
            <a:ext cx="555955" cy="55595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compa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" y="2151354"/>
            <a:ext cx="277977" cy="277977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1651862" y="2099233"/>
            <a:ext cx="709421" cy="382219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游前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448152" y="2116607"/>
            <a:ext cx="13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想去 · 了解 · 买票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13485" y="2750743"/>
            <a:ext cx="2823210" cy="2910078"/>
          </a:xfrm>
          <a:prstGeom prst="roundRect">
            <a:avLst>
              <a:gd name="adj" fmla="val 3692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87220" y="2837611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7B7074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87220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景区咨询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934667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行程规划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87220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购票预约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934667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门票候补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87220" y="3810533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87220" y="4114571"/>
            <a:ext cx="756716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904746" y="4114571"/>
            <a:ext cx="756716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87220" y="4470730"/>
            <a:ext cx="945172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093200" y="4470730"/>
            <a:ext cx="945172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87220" y="4826889"/>
            <a:ext cx="1154861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预约与候补提醒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346806" y="2837611"/>
            <a:ext cx="121615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5 个 · 已有 2</a:t>
            </a:r>
          </a:p>
        </p:txBody>
      </p:sp>
      <p:sp>
        <p:nvSpPr>
          <p:cNvPr id="159" name="Oval 158"/>
          <p:cNvSpPr/>
          <p:nvPr/>
        </p:nvSpPr>
        <p:spPr>
          <a:xfrm>
            <a:off x="3997298" y="2012365"/>
            <a:ext cx="555955" cy="55595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ferris-whe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287" y="2151354"/>
            <a:ext cx="277977" cy="277977"/>
          </a:xfrm>
          <a:prstGeom prst="rect">
            <a:avLst/>
          </a:prstGeom>
        </p:spPr>
      </p:pic>
      <p:sp>
        <p:nvSpPr>
          <p:cNvPr id="161" name="Rounded Rectangle 160"/>
          <p:cNvSpPr/>
          <p:nvPr/>
        </p:nvSpPr>
        <p:spPr>
          <a:xfrm>
            <a:off x="4648809" y="2099233"/>
            <a:ext cx="709421" cy="382219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游中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445099" y="2116607"/>
            <a:ext cx="13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入园 · 游玩 · 消费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910431" y="2750743"/>
            <a:ext cx="3874312" cy="2910078"/>
          </a:xfrm>
          <a:prstGeom prst="roundRect">
            <a:avLst>
              <a:gd name="adj" fmla="val 3582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084167" y="2837611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7B7074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084167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入园核验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931613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导览讲解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779058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陪伴互动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626503" y="3141649"/>
            <a:ext cx="91597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无障碍服务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084167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乐园项目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931613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演出观看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779058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游船乘坐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626503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餐饮购物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084167" y="3732352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停车租赁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931613" y="3732352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酒店温泉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84167" y="4105884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084167" y="4409922"/>
            <a:ext cx="756716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901692" y="4409922"/>
            <a:ext cx="679742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5642241" y="4409922"/>
            <a:ext cx="491286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194336" y="4409922"/>
            <a:ext cx="1420291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乐园排队与项目推荐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084167" y="4766081"/>
            <a:ext cx="1022146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演出选座推荐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167122" y="4766081"/>
            <a:ext cx="1022146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餐饮二消推荐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250076" y="4766081"/>
            <a:ext cx="756716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停车引导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084167" y="5122240"/>
            <a:ext cx="1154861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自助机语音购票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394855" y="2837611"/>
            <a:ext cx="121615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8 个 · 已有 3</a:t>
            </a:r>
          </a:p>
        </p:txBody>
      </p:sp>
      <p:sp>
        <p:nvSpPr>
          <p:cNvPr id="185" name="Oval 184"/>
          <p:cNvSpPr/>
          <p:nvPr/>
        </p:nvSpPr>
        <p:spPr>
          <a:xfrm>
            <a:off x="8045348" y="2012365"/>
            <a:ext cx="555955" cy="55595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camera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37" y="2151354"/>
            <a:ext cx="277977" cy="277977"/>
          </a:xfrm>
          <a:prstGeom prst="rect">
            <a:avLst/>
          </a:prstGeom>
        </p:spPr>
      </p:pic>
      <p:sp>
        <p:nvSpPr>
          <p:cNvPr id="187" name="Rounded Rectangle 186"/>
          <p:cNvSpPr/>
          <p:nvPr/>
        </p:nvSpPr>
        <p:spPr>
          <a:xfrm>
            <a:off x="8696858" y="2099233"/>
            <a:ext cx="709421" cy="382219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游后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9493148" y="2116607"/>
            <a:ext cx="13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回味 · 分享 · 再来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958480" y="2750743"/>
            <a:ext cx="2649473" cy="2910078"/>
          </a:xfrm>
          <a:prstGeom prst="roundRect">
            <a:avLst>
              <a:gd name="adj" fmla="val 3934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132215" y="2837611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7B7074"/>
                </a:solidFill>
                <a:latin typeface="微软雅黑"/>
                <a:ea typeface="微软雅黑"/>
              </a:rPr>
              <a:t>场景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132215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拍照留念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979662" y="3141649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游记分享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8132215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点评反馈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979662" y="3437000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年卡复游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132215" y="3732352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EE8E6"/>
          </a:solidFill>
          <a:ln w="12700">
            <a:solidFill>
              <a:srgbClr val="EEE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434" tIns="0" rIns="43434" bIns="0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积分权益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132215" y="4105884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132215" y="4409922"/>
            <a:ext cx="679742" cy="295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872766" y="4409922"/>
            <a:ext cx="1154861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游记与行程总结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132215" y="4766081"/>
            <a:ext cx="1022146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点评分享助手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9215169" y="4766081"/>
            <a:ext cx="1022146" cy="2953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年卡服务助手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218066" y="2837611"/>
            <a:ext cx="1216151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F6F82"/>
                </a:solidFill>
                <a:latin typeface="微软雅黑"/>
                <a:ea typeface="微软雅黑"/>
              </a:rPr>
              <a:t>4 个 · 已有 1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913485" y="5791123"/>
            <a:ext cx="651509" cy="2432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651862" y="5791123"/>
            <a:ext cx="825246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650845" y="5791123"/>
            <a:ext cx="694944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实心为已有，空心为基于积累可扩展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325874" y="112347"/>
            <a:ext cx="3539945" cy="830525"/>
            <a:chOff x="2659221" y="1745433"/>
            <a:chExt cx="3539945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17993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968520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景区端能做 28 个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从经营、运营到安全调度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已有 2 个；票务、业态、财务、营销、调度的系统都是我们的，扩展有基础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34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03780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chart-lin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7" y="2008022"/>
            <a:ext cx="225856" cy="225856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365199" y="1903780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经营分析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16504" y="1903780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经营问数 · 经营洞察 · 日报周报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301337" y="1990648"/>
            <a:ext cx="8450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198491" y="1990648"/>
            <a:ext cx="8450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095644" y="1990648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经营日报周报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062774" y="1990648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报表解读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13485" y="2390241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ticket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87" y="2494483"/>
            <a:ext cx="225856" cy="225856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365199" y="2390241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票务运营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16504" y="2390241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定价库存 · 分销渠道 · 团队报名 · 检票核销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301337" y="2477109"/>
            <a:ext cx="1122527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票务 AI 运营助手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475986" y="2477109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分销渠道助手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43116" y="2477109"/>
            <a:ext cx="103565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旅行社报团助手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530896" y="2477109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检票异常解释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498027" y="2477109"/>
            <a:ext cx="103565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窗口售票员助手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13485" y="2876702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ferris-wheel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" y="2980944"/>
            <a:ext cx="225856" cy="225856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365199" y="2876702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业态运营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16504" y="2876702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乐园 · 演出 · 游船 · 酒店 · 温泉 · 餐饮 · 停车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301337" y="2963570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业态经营助手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13485" y="3363163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bel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87" y="3467404"/>
            <a:ext cx="225856" cy="225856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365199" y="3363163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运营服务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216504" y="3363163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年卡 · 分时预约 · 候补 · 免证 · 一卡通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301337" y="3450031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268468" y="3450031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13485" y="3849624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calculato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" y="3953865"/>
            <a:ext cx="225856" cy="225856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365199" y="3849624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216504" y="3849624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对账 · 发票 · 报表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301337" y="3936491"/>
            <a:ext cx="84503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198491" y="3936491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发票助手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13485" y="4336084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megaphon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87" y="4440326"/>
            <a:ext cx="225856" cy="225856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5199" y="4336084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营销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216504" y="4336084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会员 · 人群 · 全民营销 · 活动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301337" y="4422952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会员画像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027168" y="4422952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人群圈选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752998" y="4422952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营销文案生成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720128" y="4422952"/>
            <a:ext cx="79435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推广员助手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566609" y="4422952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活动复盘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913485" y="4822545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sir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" y="4926787"/>
            <a:ext cx="225856" cy="225856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1365199" y="4822545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216504" y="4822545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客流秩序 · 车船调度 · 防火生态 · 气象设施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301337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旅游安全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5027168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秩序治理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752998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车辆调度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478828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游船调度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7204659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930489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生态监测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656319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9382149" y="49094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设施监测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913485" y="5309006"/>
            <a:ext cx="9694468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Picture 196" descr="cpu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787" y="5413248"/>
            <a:ext cx="225856" cy="225856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1365199" y="5309006"/>
            <a:ext cx="86868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设备终端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216504" y="5309006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7B7074"/>
                </a:solidFill>
                <a:latin typeface="微软雅黑"/>
                <a:ea typeface="微软雅黑"/>
              </a:rPr>
              <a:t>闸机 · 自助机 · 窗口 · 边云网关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301337" y="5395874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设备运维诊断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13485" y="5899708"/>
            <a:ext cx="651509" cy="2432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651862" y="5899708"/>
            <a:ext cx="825246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可扩展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650845" y="5899708"/>
            <a:ext cx="6949440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安全调度 8 个即“景区 AI 调度中枢”；实心为已有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怎么走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先借力，再复制，后自建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三步走，每两步之间设一道关卡，过关才进下一步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35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681249"/>
            <a:ext cx="2606039" cy="1563624"/>
          </a:xfrm>
          <a:prstGeom prst="roundRect">
            <a:avLst>
              <a:gd name="adj" fmla="val 777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655" y="2811551"/>
            <a:ext cx="2171700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948496"/>
                </a:solidFill>
                <a:latin typeface="微软雅黑"/>
                <a:ea typeface="微软雅黑"/>
              </a:rPr>
              <a:t>① 借力验证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30655" y="3159023"/>
            <a:ext cx="217170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验证商业模式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30655" y="3480434"/>
            <a:ext cx="2171700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最小投入回答：卖给谁、卖什么、怎么收钱、能不能赚钱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30655" y="3880027"/>
            <a:ext cx="2258568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7B7074"/>
                </a:solidFill>
                <a:latin typeface="微软雅黑"/>
                <a:ea typeface="微软雅黑"/>
              </a:rPr>
              <a:t>依托 Coze · 火山方舟 · 羚羊小Q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589020" y="3115589"/>
            <a:ext cx="799185" cy="738378"/>
          </a:xfrm>
          <a:prstGeom prst="roundRect">
            <a:avLst>
              <a:gd name="adj" fmla="val 14117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关卡一</a:t>
            </a:r>
          </a:p>
          <a:p>
            <a:pPr algn="ctr">
              <a:spcBef>
                <a:spcPts val="190"/>
              </a:spcBef>
            </a:pPr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跑通？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457700" y="2333777"/>
            <a:ext cx="2606039" cy="1911095"/>
          </a:xfrm>
          <a:prstGeom prst="roundRect">
            <a:avLst>
              <a:gd name="adj" fmla="val 636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674870" y="2464079"/>
            <a:ext cx="2171700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948496"/>
                </a:solidFill>
                <a:latin typeface="微软雅黑"/>
                <a:ea typeface="微软雅黑"/>
              </a:rPr>
              <a:t>② 借力复制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74870" y="2811551"/>
            <a:ext cx="217170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快速占领市场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74870" y="3132963"/>
            <a:ext cx="2171700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仍借平台，把跑通的产品按业态快速复制，抢市场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74870" y="3880027"/>
            <a:ext cx="2258568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7B7074"/>
                </a:solidFill>
                <a:latin typeface="微软雅黑"/>
                <a:ea typeface="微软雅黑"/>
              </a:rPr>
              <a:t>依托 Coze · 火山方舟 · 羚羊小Q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133234" y="3115589"/>
            <a:ext cx="799185" cy="738378"/>
          </a:xfrm>
          <a:prstGeom prst="roundRect">
            <a:avLst>
              <a:gd name="adj" fmla="val 14117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关卡二</a:t>
            </a:r>
          </a:p>
          <a:p>
            <a:pPr algn="ctr">
              <a:spcBef>
                <a:spcPts val="190"/>
              </a:spcBef>
            </a:pPr>
            <a:r>
              <a:rPr sz="1200" b="1">
                <a:solidFill>
                  <a:srgbClr val="9A5A4B"/>
                </a:solidFill>
                <a:latin typeface="微软雅黑"/>
                <a:ea typeface="微软雅黑"/>
              </a:rPr>
              <a:t>划算？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001913" y="1986305"/>
            <a:ext cx="2606039" cy="2258568"/>
          </a:xfrm>
          <a:prstGeom prst="roundRect">
            <a:avLst>
              <a:gd name="adj" fmla="val 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19083" y="2116606"/>
            <a:ext cx="2171700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③ 能力自给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19083" y="2464078"/>
            <a:ext cx="2171700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F3D9CF"/>
                </a:solidFill>
                <a:latin typeface="微软雅黑"/>
                <a:ea typeface="微软雅黑"/>
              </a:rPr>
              <a:t>建自己的平台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19083" y="2785491"/>
            <a:ext cx="2171700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用沉淀的模板、知识、接口、数据建平台，成本和交付自己掌握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19083" y="3880027"/>
            <a:ext cx="2258568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F4ECEC"/>
                </a:solidFill>
                <a:latin typeface="微软雅黑"/>
                <a:ea typeface="微软雅黑"/>
              </a:rPr>
              <a:t>数字大脑作为智能体管理台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13485" y="4418609"/>
            <a:ext cx="4760366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69847" y="457497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z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2" y="4683555"/>
            <a:ext cx="217170" cy="21717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1608429" y="4574970"/>
            <a:ext cx="393512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为什么先借力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04595" y="5096179"/>
            <a:ext cx="4378147" cy="2779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卖不卖得动、景区愿付多少钱，现在还不知道。先自建 = 需求没验证就砸钱；借平台，几周就能做出来去试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847588" y="4418609"/>
            <a:ext cx="4760366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003950" y="4574970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building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535" y="4683555"/>
            <a:ext cx="217170" cy="21717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6542532" y="4574970"/>
            <a:ext cx="393512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为什么最终要自建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038697" y="5096179"/>
            <a:ext cx="4378147" cy="2779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景区越多平台费越高，交付和定制受平台限制，数据和资产在别人那里。规模起来后，自建更省、更快、更可控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5608700"/>
            <a:ext cx="9694468" cy="451713"/>
          </a:xfrm>
          <a:prstGeom prst="roundRect">
            <a:avLst>
              <a:gd name="adj" fmla="val 1923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" y="5704255"/>
            <a:ext cx="260603" cy="260603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478127" y="5608700"/>
            <a:ext cx="8956090" cy="4517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FFE2C8"/>
                </a:solidFill>
                <a:latin typeface="微软雅黑"/>
                <a:ea typeface="微软雅黑"/>
              </a:rPr>
              <a:t>贯穿始终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借平台，不交资产 —— 知识、接口、数据、模板从第一天起就留在自己手里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借力验证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先验证“能不能卖、能不能赚钱”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五个问题要用真实的景区、真实的钱来回答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36  ·  AI＋数据平台 · 02  智能体平台</a:t>
            </a:r>
          </a:p>
        </p:txBody>
      </p:sp>
      <p:grpSp>
        <p:nvGrpSpPr>
          <p:cNvPr id="21000" name="素材 31"/>
          <p:cNvGrpSpPr/>
          <p:nvPr/>
        </p:nvGrpSpPr>
        <p:grpSpPr>
          <a:xfrm>
            <a:off x="913485" y="2225192"/>
            <a:ext cx="6341364" cy="2627700"/>
            <a:chOff x="1728589" y="2236993"/>
            <a:chExt cx="7979490" cy="3306499"/>
          </a:xfrm>
        </p:grpSpPr>
        <p:grpSp>
          <p:nvGrpSpPr>
            <p:cNvPr id="210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0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0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0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0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0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0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0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948496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10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7F6F82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10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BBAFBD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10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C4A39C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  <p:cxnSp>
          <p:nvCxnSpPr>
            <p:cNvPr id="210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B97A6A"/>
              </a:solidFill>
              <a:headEnd type="oval" w="med" len="med"/>
              <a:tailEnd type="oval" w="med" len="med"/>
            </a:ln>
          </p:spPr>
          <p:style>
            <a:lnRef idx="1">
              <a:srgbClr val="948496"/>
            </a:lnRef>
            <a:fillRef idx="0">
              <a:srgbClr val="948496"/>
            </a:fillRef>
            <a:effectRef idx="0">
              <a:srgbClr val="948496"/>
            </a:effectRef>
            <a:fontRef idx="minor">
              <a:srgbClr val="3B3337"/>
            </a:fontRef>
          </p:style>
        </p:cxnSp>
      </p:grpSp>
      <p:pic>
        <p:nvPicPr>
          <p:cNvPr id="21021" name="Picture 2102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60" y="2531504"/>
            <a:ext cx="382219" cy="382219"/>
          </a:xfrm>
          <a:prstGeom prst="rect">
            <a:avLst/>
          </a:prstGeom>
        </p:spPr>
      </p:pic>
      <p:sp>
        <p:nvSpPr>
          <p:cNvPr id="21022" name="TextBox 21021"/>
          <p:cNvSpPr txBox="1"/>
          <p:nvPr/>
        </p:nvSpPr>
        <p:spPr>
          <a:xfrm>
            <a:off x="901658" y="2965844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卖给谁</a:t>
            </a:r>
          </a:p>
        </p:txBody>
      </p:sp>
      <p:sp>
        <p:nvSpPr>
          <p:cNvPr id="21023" name="TextBox 21022"/>
          <p:cNvSpPr txBox="1"/>
          <p:nvPr/>
        </p:nvSpPr>
        <p:spPr>
          <a:xfrm>
            <a:off x="727922" y="4234697"/>
            <a:ext cx="1911095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哪类景区最需要</a:t>
            </a:r>
          </a:p>
        </p:txBody>
      </p:sp>
      <p:pic>
        <p:nvPicPr>
          <p:cNvPr id="21024" name="Picture 21023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384" y="3229119"/>
            <a:ext cx="382219" cy="382219"/>
          </a:xfrm>
          <a:prstGeom prst="rect">
            <a:avLst/>
          </a:prstGeom>
        </p:spPr>
      </p:pic>
      <p:sp>
        <p:nvSpPr>
          <p:cNvPr id="21025" name="TextBox 21024"/>
          <p:cNvSpPr txBox="1"/>
          <p:nvPr/>
        </p:nvSpPr>
        <p:spPr>
          <a:xfrm>
            <a:off x="2100681" y="3663459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卖什么</a:t>
            </a:r>
          </a:p>
        </p:txBody>
      </p:sp>
      <p:sp>
        <p:nvSpPr>
          <p:cNvPr id="21026" name="TextBox 21025"/>
          <p:cNvSpPr txBox="1"/>
          <p:nvPr/>
        </p:nvSpPr>
        <p:spPr>
          <a:xfrm>
            <a:off x="1926945" y="4903243"/>
            <a:ext cx="1911095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哪些组合景区最认</a:t>
            </a:r>
          </a:p>
        </p:txBody>
      </p:sp>
      <p:pic>
        <p:nvPicPr>
          <p:cNvPr id="21027" name="Picture 21026" descr="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407" y="2531504"/>
            <a:ext cx="382219" cy="382219"/>
          </a:xfrm>
          <a:prstGeom prst="rect">
            <a:avLst/>
          </a:prstGeom>
        </p:spPr>
      </p:pic>
      <p:sp>
        <p:nvSpPr>
          <p:cNvPr id="21028" name="TextBox 21027"/>
          <p:cNvSpPr txBox="1"/>
          <p:nvPr/>
        </p:nvSpPr>
        <p:spPr>
          <a:xfrm>
            <a:off x="3299705" y="2965844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怎么收钱</a:t>
            </a:r>
          </a:p>
        </p:txBody>
      </p:sp>
      <p:sp>
        <p:nvSpPr>
          <p:cNvPr id="21029" name="TextBox 21028"/>
          <p:cNvSpPr txBox="1"/>
          <p:nvPr/>
        </p:nvSpPr>
        <p:spPr>
          <a:xfrm>
            <a:off x="3125969" y="4234697"/>
            <a:ext cx="1911095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四种方式选哪种</a:t>
            </a:r>
          </a:p>
        </p:txBody>
      </p:sp>
      <p:pic>
        <p:nvPicPr>
          <p:cNvPr id="21030" name="Picture 21029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6698" y="3229119"/>
            <a:ext cx="382219" cy="382219"/>
          </a:xfrm>
          <a:prstGeom prst="rect">
            <a:avLst/>
          </a:prstGeom>
        </p:spPr>
      </p:pic>
      <p:sp>
        <p:nvSpPr>
          <p:cNvPr id="21031" name="TextBox 21030"/>
          <p:cNvSpPr txBox="1"/>
          <p:nvPr/>
        </p:nvSpPr>
        <p:spPr>
          <a:xfrm>
            <a:off x="4505996" y="3663459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花多少钱</a:t>
            </a:r>
          </a:p>
        </p:txBody>
      </p:sp>
      <p:sp>
        <p:nvSpPr>
          <p:cNvPr id="21032" name="TextBox 21031"/>
          <p:cNvSpPr txBox="1"/>
          <p:nvPr/>
        </p:nvSpPr>
        <p:spPr>
          <a:xfrm>
            <a:off x="4332260" y="4903243"/>
            <a:ext cx="1911095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平台费 + 交付 + 运营</a:t>
            </a:r>
          </a:p>
        </p:txBody>
      </p:sp>
      <p:pic>
        <p:nvPicPr>
          <p:cNvPr id="21033" name="Picture 21032" descr="thumbs-u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088" y="2531504"/>
            <a:ext cx="382219" cy="382219"/>
          </a:xfrm>
          <a:prstGeom prst="rect">
            <a:avLst/>
          </a:prstGeom>
        </p:spPr>
      </p:pic>
      <p:sp>
        <p:nvSpPr>
          <p:cNvPr id="21034" name="TextBox 21033"/>
          <p:cNvSpPr txBox="1"/>
          <p:nvPr/>
        </p:nvSpPr>
        <p:spPr>
          <a:xfrm>
            <a:off x="5701385" y="2965844"/>
            <a:ext cx="1563624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值不值</a:t>
            </a:r>
          </a:p>
        </p:txBody>
      </p:sp>
      <p:sp>
        <p:nvSpPr>
          <p:cNvPr id="21035" name="TextBox 21034"/>
          <p:cNvSpPr txBox="1"/>
          <p:nvPr/>
        </p:nvSpPr>
        <p:spPr>
          <a:xfrm>
            <a:off x="5527649" y="4234697"/>
            <a:ext cx="1911095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省人、多卖、更满意</a:t>
            </a:r>
          </a:p>
        </p:txBody>
      </p:sp>
      <p:sp>
        <p:nvSpPr>
          <p:cNvPr id="21036" name="Rounded Rectangle 21035"/>
          <p:cNvSpPr/>
          <p:nvPr/>
        </p:nvSpPr>
        <p:spPr>
          <a:xfrm>
            <a:off x="7758683" y="2112264"/>
            <a:ext cx="2849270" cy="3822191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7" name="Rounded Rectangle 21036"/>
          <p:cNvSpPr/>
          <p:nvPr/>
        </p:nvSpPr>
        <p:spPr>
          <a:xfrm>
            <a:off x="7758683" y="2112264"/>
            <a:ext cx="2849270" cy="538581"/>
          </a:xfrm>
          <a:prstGeom prst="roundRect">
            <a:avLst>
              <a:gd name="adj" fmla="val 2258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Rounded Rectangle 21037"/>
          <p:cNvSpPr/>
          <p:nvPr/>
        </p:nvSpPr>
        <p:spPr>
          <a:xfrm>
            <a:off x="7758683" y="2442362"/>
            <a:ext cx="2849270" cy="20848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39" name="Picture 21038" descr="calcula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19" y="2225192"/>
            <a:ext cx="295351" cy="295351"/>
          </a:xfrm>
          <a:prstGeom prst="rect">
            <a:avLst/>
          </a:prstGeom>
        </p:spPr>
      </p:pic>
      <p:sp>
        <p:nvSpPr>
          <p:cNvPr id="21040" name="TextBox 21039"/>
          <p:cNvSpPr txBox="1"/>
          <p:nvPr/>
        </p:nvSpPr>
        <p:spPr>
          <a:xfrm>
            <a:off x="8323325" y="2112264"/>
            <a:ext cx="2241194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单个景区算一笔账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7975854" y="2833268"/>
            <a:ext cx="34747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B97A6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1042" name="TextBox 21041"/>
          <p:cNvSpPr txBox="1"/>
          <p:nvPr/>
        </p:nvSpPr>
        <p:spPr>
          <a:xfrm>
            <a:off x="8366759" y="2833268"/>
            <a:ext cx="206745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一年收入</a:t>
            </a:r>
          </a:p>
        </p:txBody>
      </p:sp>
      <p:cxnSp>
        <p:nvCxnSpPr>
          <p:cNvPr id="21043" name="Connector 21042"/>
          <p:cNvCxnSpPr/>
          <p:nvPr/>
        </p:nvCxnSpPr>
        <p:spPr>
          <a:xfrm>
            <a:off x="7975854" y="3319729"/>
            <a:ext cx="2414930" cy="0"/>
          </a:xfrm>
          <a:prstGeom prst="line">
            <a:avLst/>
          </a:prstGeom>
          <a:ln w="9525">
            <a:solidFill>
              <a:srgbClr val="EAE2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4" name="TextBox 21043"/>
          <p:cNvSpPr txBox="1"/>
          <p:nvPr/>
        </p:nvSpPr>
        <p:spPr>
          <a:xfrm>
            <a:off x="7975854" y="3371850"/>
            <a:ext cx="34747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B97A6A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45" name="TextBox 21044"/>
          <p:cNvSpPr txBox="1"/>
          <p:nvPr/>
        </p:nvSpPr>
        <p:spPr>
          <a:xfrm>
            <a:off x="8366759" y="3371850"/>
            <a:ext cx="206745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7B7074"/>
                </a:solidFill>
                <a:latin typeface="微软雅黑"/>
                <a:ea typeface="微软雅黑"/>
              </a:rPr>
              <a:t>平台调用费</a:t>
            </a:r>
          </a:p>
        </p:txBody>
      </p:sp>
      <p:cxnSp>
        <p:nvCxnSpPr>
          <p:cNvPr id="21046" name="Connector 21045"/>
          <p:cNvCxnSpPr/>
          <p:nvPr/>
        </p:nvCxnSpPr>
        <p:spPr>
          <a:xfrm>
            <a:off x="7975854" y="3858310"/>
            <a:ext cx="2414930" cy="0"/>
          </a:xfrm>
          <a:prstGeom prst="line">
            <a:avLst/>
          </a:prstGeom>
          <a:ln w="9525">
            <a:solidFill>
              <a:srgbClr val="EAE2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47" name="TextBox 21046"/>
          <p:cNvSpPr txBox="1"/>
          <p:nvPr/>
        </p:nvSpPr>
        <p:spPr>
          <a:xfrm>
            <a:off x="7975854" y="3910431"/>
            <a:ext cx="34747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B97A6A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48" name="TextBox 21047"/>
          <p:cNvSpPr txBox="1"/>
          <p:nvPr/>
        </p:nvSpPr>
        <p:spPr>
          <a:xfrm>
            <a:off x="8366759" y="3910431"/>
            <a:ext cx="206745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7B7074"/>
                </a:solidFill>
                <a:latin typeface="微软雅黑"/>
                <a:ea typeface="微软雅黑"/>
              </a:rPr>
              <a:t>交付成本（摊销）</a:t>
            </a:r>
          </a:p>
        </p:txBody>
      </p:sp>
      <p:cxnSp>
        <p:nvCxnSpPr>
          <p:cNvPr id="21049" name="Connector 21048"/>
          <p:cNvCxnSpPr/>
          <p:nvPr/>
        </p:nvCxnSpPr>
        <p:spPr>
          <a:xfrm>
            <a:off x="7975854" y="4396892"/>
            <a:ext cx="2414930" cy="0"/>
          </a:xfrm>
          <a:prstGeom prst="line">
            <a:avLst/>
          </a:prstGeom>
          <a:ln w="9525">
            <a:solidFill>
              <a:srgbClr val="EAE2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0" name="TextBox 21049"/>
          <p:cNvSpPr txBox="1"/>
          <p:nvPr/>
        </p:nvSpPr>
        <p:spPr>
          <a:xfrm>
            <a:off x="7975854" y="4449013"/>
            <a:ext cx="347472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B97A6A"/>
                </a:solidFill>
                <a:latin typeface="微软雅黑"/>
                <a:ea typeface="微软雅黑"/>
              </a:rPr>
              <a:t>−</a:t>
            </a:r>
          </a:p>
        </p:txBody>
      </p:sp>
      <p:sp>
        <p:nvSpPr>
          <p:cNvPr id="21051" name="TextBox 21050"/>
          <p:cNvSpPr txBox="1"/>
          <p:nvPr/>
        </p:nvSpPr>
        <p:spPr>
          <a:xfrm>
            <a:off x="8366759" y="4449013"/>
            <a:ext cx="2067458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>
                <a:solidFill>
                  <a:srgbClr val="7B7074"/>
                </a:solidFill>
                <a:latin typeface="微软雅黑"/>
                <a:ea typeface="微软雅黑"/>
              </a:rPr>
              <a:t>运营支持</a:t>
            </a:r>
          </a:p>
        </p:txBody>
      </p:sp>
      <p:cxnSp>
        <p:nvCxnSpPr>
          <p:cNvPr id="21052" name="Connector 21051"/>
          <p:cNvCxnSpPr/>
          <p:nvPr/>
        </p:nvCxnSpPr>
        <p:spPr>
          <a:xfrm>
            <a:off x="7975854" y="4935474"/>
            <a:ext cx="2414930" cy="0"/>
          </a:xfrm>
          <a:prstGeom prst="line">
            <a:avLst/>
          </a:prstGeom>
          <a:ln w="9525">
            <a:solidFill>
              <a:srgbClr val="EAE2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53" name="Rounded Rectangle 21052"/>
          <p:cNvSpPr/>
          <p:nvPr/>
        </p:nvSpPr>
        <p:spPr>
          <a:xfrm>
            <a:off x="7932419" y="5048402"/>
            <a:ext cx="2501798" cy="694944"/>
          </a:xfrm>
          <a:prstGeom prst="roundRect">
            <a:avLst>
              <a:gd name="adj" fmla="val 12500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＞ 0</a:t>
            </a:r>
            <a:r>
              <a:rPr sz="1250" b="0">
                <a:solidFill>
                  <a:srgbClr val="F5E2DB"/>
                </a:solidFill>
                <a:latin typeface="微软雅黑"/>
                <a:ea typeface="微软雅黑"/>
              </a:rPr>
              <a:t>　才算能赚钱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075694" y="112347"/>
            <a:ext cx="4040305" cy="830525"/>
            <a:chOff x="2659221" y="1745433"/>
            <a:chExt cx="4040305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718353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468880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怎么收钱、景区认什么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先试两种收费，用数据证明价值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验证期同时试“随票务打包”和“年费订阅”，看哪种成交快、续费稳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37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203475"/>
            <a:ext cx="2293315" cy="2041398"/>
          </a:xfrm>
          <a:prstGeom prst="roundRect">
            <a:avLst>
              <a:gd name="adj" fmla="val 5106"/>
            </a:avLst>
          </a:prstGeom>
          <a:solidFill>
            <a:srgbClr val="F7F3F1"/>
          </a:solidFill>
          <a:ln w="19050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2294686" y="2081860"/>
            <a:ext cx="799185" cy="243230"/>
          </a:xfrm>
          <a:prstGeom prst="roundRect">
            <a:avLst>
              <a:gd name="adj" fmla="val 50000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87220" y="2316403"/>
            <a:ext cx="194584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7F6F82"/>
                </a:solidFill>
                <a:latin typeface="微软雅黑"/>
                <a:ea typeface="微软雅黑"/>
              </a:rPr>
              <a:t>随票务打包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87220" y="2707309"/>
            <a:ext cx="194584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作为票务增值模块，提高票务年费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7220" y="3228517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7220" y="3428314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已用我们票务的景区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7220" y="3714978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87220" y="3914775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能否提升续约率和客单价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80536" y="2203475"/>
            <a:ext cx="2293315" cy="2041398"/>
          </a:xfrm>
          <a:prstGeom prst="roundRect">
            <a:avLst>
              <a:gd name="adj" fmla="val 5106"/>
            </a:avLst>
          </a:prstGeom>
          <a:solidFill>
            <a:srgbClr val="F7F3F1"/>
          </a:solidFill>
          <a:ln w="19050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761738" y="2081860"/>
            <a:ext cx="799185" cy="243230"/>
          </a:xfrm>
          <a:prstGeom prst="roundRect">
            <a:avLst>
              <a:gd name="adj" fmla="val 50000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建议先试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54272" y="2316403"/>
            <a:ext cx="194584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7F6F82"/>
                </a:solidFill>
                <a:latin typeface="微软雅黑"/>
                <a:ea typeface="微软雅黑"/>
              </a:rPr>
              <a:t>年费订阅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54272" y="2707309"/>
            <a:ext cx="194584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按景区规模或智能体数量分档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554272" y="3228517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54272" y="3428314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新客户、单独采购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54272" y="3714978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554272" y="3914775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景区能接受的价位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847588" y="2203475"/>
            <a:ext cx="2293315" cy="2041398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021324" y="2316403"/>
            <a:ext cx="194584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按效果分成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21324" y="2707309"/>
            <a:ext cx="194584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按 AI 带来的购票、二消收入分成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021324" y="3228517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021324" y="3428314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购票、营销类智能体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021324" y="3714978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021324" y="3914775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增量能否算清楚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314639" y="2203475"/>
            <a:ext cx="2293315" cy="2041398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488375" y="2316403"/>
            <a:ext cx="194584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按用量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488375" y="2707309"/>
            <a:ext cx="194584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按对话量或调用量计费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88375" y="3228517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适合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488375" y="3428314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大客流景区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488375" y="3714978"/>
            <a:ext cx="194584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A5A4B"/>
                </a:solidFill>
                <a:latin typeface="微软雅黑"/>
                <a:ea typeface="微软雅黑"/>
              </a:rPr>
              <a:t>要验证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88375" y="3914775"/>
            <a:ext cx="1945843" cy="2432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能否接受账单波动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13485" y="4470730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2474" y="4401235"/>
            <a:ext cx="521207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景区认的价值，要用数据证明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13485" y="4792141"/>
            <a:ext cx="2293315" cy="1172718"/>
          </a:xfrm>
          <a:prstGeom prst="roundRect">
            <a:avLst>
              <a:gd name="adj" fmla="val 888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69847" y="4922443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user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45" y="5022342"/>
            <a:ext cx="199796" cy="199796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564995" y="4922443"/>
            <a:ext cx="1554937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少用人工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69847" y="5400217"/>
            <a:ext cx="2032711" cy="5212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智能体解决咨询的比例、省下的客服人力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380536" y="4792141"/>
            <a:ext cx="2293315" cy="1172718"/>
          </a:xfrm>
          <a:prstGeom prst="roundRect">
            <a:avLst>
              <a:gd name="adj" fmla="val 888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536899" y="4922443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797" y="5022342"/>
            <a:ext cx="199796" cy="199796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4032046" y="4922443"/>
            <a:ext cx="1554937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多卖票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536899" y="5400217"/>
            <a:ext cx="2032711" cy="5212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智能体带来的线上购票、二消订单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847588" y="4792141"/>
            <a:ext cx="2293315" cy="1172718"/>
          </a:xfrm>
          <a:prstGeom prst="roundRect">
            <a:avLst>
              <a:gd name="adj" fmla="val 888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003950" y="4922443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5" name="Picture 184" descr="thumbs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848" y="5022342"/>
            <a:ext cx="199796" cy="199796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6499098" y="4922443"/>
            <a:ext cx="1554937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游客更满意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003950" y="5400217"/>
            <a:ext cx="2032711" cy="5212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满意度、差评率、排队与等待减少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8314639" y="4792141"/>
            <a:ext cx="2293315" cy="1172718"/>
          </a:xfrm>
          <a:prstGeom prst="roundRect">
            <a:avLst>
              <a:gd name="adj" fmla="val 8888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71001" y="4922443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Picture 189" descr="clo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899" y="5022342"/>
            <a:ext cx="199796" cy="199796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8966149" y="4922443"/>
            <a:ext cx="1554937" cy="399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管理更省心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471001" y="5400217"/>
            <a:ext cx="2032711" cy="5212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报表、对账、预警的人工时间减少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怎么验证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挑标杆、快速搭、跑一个旺季、让数据说话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效果好的定型，效果不好的回平台调，没人用的场景及时停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38  ·  AI＋数据平台 · 02  智能体平台</a:t>
            </a:r>
          </a:p>
        </p:txBody>
      </p:sp>
      <p:sp>
        <p:nvSpPr>
          <p:cNvPr id="141" name="Pentagon 140"/>
          <p:cNvSpPr/>
          <p:nvPr/>
        </p:nvSpPr>
        <p:spPr>
          <a:xfrm>
            <a:off x="913485" y="2176272"/>
            <a:ext cx="2619070" cy="538581"/>
          </a:xfrm>
          <a:prstGeom prst="homePlate">
            <a:avLst>
              <a:gd name="adj" fmla="val 3500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fl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22" y="2297887"/>
            <a:ext cx="295351" cy="295351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608429" y="2176272"/>
            <a:ext cx="148978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0353" y="2871215"/>
            <a:ext cx="214129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挑标杆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0353" y="3236061"/>
            <a:ext cx="209786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从已用我们票务的景区里挑，覆盖 2–3 类业态，愿意配合</a:t>
            </a:r>
          </a:p>
        </p:txBody>
      </p:sp>
      <p:sp>
        <p:nvSpPr>
          <p:cNvPr id="146" name="Chevron 145"/>
          <p:cNvSpPr/>
          <p:nvPr/>
        </p:nvSpPr>
        <p:spPr>
          <a:xfrm>
            <a:off x="3271951" y="2176272"/>
            <a:ext cx="2619070" cy="538581"/>
          </a:xfrm>
          <a:prstGeom prst="chevron">
            <a:avLst>
              <a:gd name="adj" fmla="val 35000"/>
            </a:avLst>
          </a:prstGeom>
          <a:solidFill>
            <a:srgbClr val="C4A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725" y="2297887"/>
            <a:ext cx="295351" cy="295351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140631" y="2176272"/>
            <a:ext cx="148978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19423" y="2871215"/>
            <a:ext cx="214129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快速搭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619423" y="3236061"/>
            <a:ext cx="209786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平台上搭好现有 8 个，再挑 1–2 个高价值新场景</a:t>
            </a:r>
          </a:p>
        </p:txBody>
      </p:sp>
      <p:sp>
        <p:nvSpPr>
          <p:cNvPr id="151" name="Chevron 150"/>
          <p:cNvSpPr/>
          <p:nvPr/>
        </p:nvSpPr>
        <p:spPr>
          <a:xfrm>
            <a:off x="5630418" y="2176272"/>
            <a:ext cx="2619070" cy="538581"/>
          </a:xfrm>
          <a:prstGeom prst="chevron">
            <a:avLst>
              <a:gd name="adj" fmla="val 35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297887"/>
            <a:ext cx="295351" cy="295351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6499098" y="2176272"/>
            <a:ext cx="148978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77890" y="2871215"/>
            <a:ext cx="214129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3B3337"/>
                </a:solidFill>
                <a:latin typeface="微软雅黑"/>
                <a:ea typeface="微软雅黑"/>
              </a:rPr>
              <a:t>跑一个旺季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77890" y="3236061"/>
            <a:ext cx="209786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节假日客流最能检验效果和成本</a:t>
            </a:r>
          </a:p>
        </p:txBody>
      </p:sp>
      <p:sp>
        <p:nvSpPr>
          <p:cNvPr id="156" name="Chevron 155"/>
          <p:cNvSpPr/>
          <p:nvPr/>
        </p:nvSpPr>
        <p:spPr>
          <a:xfrm>
            <a:off x="7988884" y="2176272"/>
            <a:ext cx="2619070" cy="538581"/>
          </a:xfrm>
          <a:prstGeom prst="chevron">
            <a:avLst>
              <a:gd name="adj" fmla="val 35000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58" y="2297887"/>
            <a:ext cx="295351" cy="295351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857564" y="2176272"/>
            <a:ext cx="148978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36356" y="2871215"/>
            <a:ext cx="214129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9A5A4B"/>
                </a:solidFill>
                <a:latin typeface="微软雅黑"/>
                <a:ea typeface="微软雅黑"/>
              </a:rPr>
              <a:t>数据回流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36356" y="3236061"/>
            <a:ext cx="2097862" cy="6949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对话、转人工、评价、订单从第一天进数据平台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13485" y="4243730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52474" y="4174235"/>
            <a:ext cx="26060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看五件事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042769" y="4217669"/>
            <a:ext cx="971715" cy="277977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9525">
            <a:solidFill>
              <a:srgbClr val="EE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有没有人用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118726" y="4217669"/>
            <a:ext cx="1249210" cy="277977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9525">
            <a:solidFill>
              <a:srgbClr val="EE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能不能解决问题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472178" y="4217669"/>
            <a:ext cx="1249210" cy="277977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9525">
            <a:solidFill>
              <a:srgbClr val="EE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景区愿不愿付费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825629" y="4217669"/>
            <a:ext cx="971715" cy="277977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9525">
            <a:solidFill>
              <a:srgbClr val="EE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多久能交付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901586" y="4217669"/>
            <a:ext cx="1249210" cy="277977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9525">
            <a:solidFill>
              <a:srgbClr val="EE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单景区成本多少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4712817"/>
            <a:ext cx="1688713" cy="477773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选场景</a:t>
            </a:r>
          </a:p>
        </p:txBody>
      </p:sp>
      <p:sp>
        <p:nvSpPr>
          <p:cNvPr id="169" name="Right Arrow 168"/>
          <p:cNvSpPr/>
          <p:nvPr/>
        </p:nvSpPr>
        <p:spPr>
          <a:xfrm>
            <a:off x="2663006" y="4864836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2914923" y="4712817"/>
            <a:ext cx="1688713" cy="477773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平台上搭建</a:t>
            </a:r>
          </a:p>
        </p:txBody>
      </p:sp>
      <p:sp>
        <p:nvSpPr>
          <p:cNvPr id="171" name="Right Arrow 170"/>
          <p:cNvSpPr/>
          <p:nvPr/>
        </p:nvSpPr>
        <p:spPr>
          <a:xfrm>
            <a:off x="4664445" y="4864836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4916362" y="4712817"/>
            <a:ext cx="1688713" cy="477773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标杆试点</a:t>
            </a:r>
          </a:p>
        </p:txBody>
      </p:sp>
      <p:sp>
        <p:nvSpPr>
          <p:cNvPr id="173" name="Right Arrow 172"/>
          <p:cNvSpPr/>
          <p:nvPr/>
        </p:nvSpPr>
        <p:spPr>
          <a:xfrm>
            <a:off x="6665883" y="4864836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917801" y="4712817"/>
            <a:ext cx="1688713" cy="477773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B3337"/>
                </a:solidFill>
                <a:latin typeface="微软雅黑"/>
                <a:ea typeface="微软雅黑"/>
              </a:rPr>
              <a:t>看效果</a:t>
            </a:r>
          </a:p>
        </p:txBody>
      </p:sp>
      <p:sp>
        <p:nvSpPr>
          <p:cNvPr id="175" name="Right Arrow 174"/>
          <p:cNvSpPr/>
          <p:nvPr/>
        </p:nvSpPr>
        <p:spPr>
          <a:xfrm>
            <a:off x="8667322" y="4864836"/>
            <a:ext cx="191109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8919240" y="4712817"/>
            <a:ext cx="1688713" cy="477773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120" tIns="26060" rIns="52120" bIns="2606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定价与交付定型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13485" y="5373014"/>
            <a:ext cx="9694468" cy="364845"/>
          </a:xfrm>
          <a:prstGeom prst="roundRect">
            <a:avLst>
              <a:gd name="adj" fmla="val 19047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150" b="1">
                <a:solidFill>
                  <a:srgbClr val="9A5A4B"/>
                </a:solidFill>
                <a:latin typeface="微软雅黑"/>
                <a:ea typeface="微软雅黑"/>
              </a:rPr>
              <a:t>迭代　</a:t>
            </a:r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效果不好的回平台调整；没人用的场景及时停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关卡一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怎样才算“商业模式跑通了”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五条都满足，才进入第二步；不满足就调整再试，不硬推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39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42667"/>
            <a:ext cx="5993892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43787" y="2272969"/>
            <a:ext cx="382219" cy="3822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64995" y="2142667"/>
            <a:ext cx="1042415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用起来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563977" y="2142667"/>
            <a:ext cx="3909059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标杆景区持续在用，问题解决率达标</a:t>
            </a:r>
          </a:p>
        </p:txBody>
      </p:sp>
      <p:pic>
        <p:nvPicPr>
          <p:cNvPr id="145" name="Picture 144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1" y="2316403"/>
            <a:ext cx="295351" cy="295351"/>
          </a:xfrm>
          <a:prstGeom prst="rect">
            <a:avLst/>
          </a:prstGeom>
        </p:spPr>
      </p:pic>
      <p:sp>
        <p:nvSpPr>
          <p:cNvPr id="146" name="Rounded Rectangle 145"/>
          <p:cNvSpPr/>
          <p:nvPr/>
        </p:nvSpPr>
        <p:spPr>
          <a:xfrm>
            <a:off x="913485" y="2889732"/>
            <a:ext cx="5993892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043787" y="3020034"/>
            <a:ext cx="382219" cy="3822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64995" y="2889732"/>
            <a:ext cx="1042415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有价值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63977" y="2889732"/>
            <a:ext cx="3909059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景区认可的指标有提升</a:t>
            </a:r>
          </a:p>
        </p:txBody>
      </p:sp>
      <p:pic>
        <p:nvPicPr>
          <p:cNvPr id="150" name="Picture 149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1" y="3063468"/>
            <a:ext cx="295351" cy="295351"/>
          </a:xfrm>
          <a:prstGeom prst="rect">
            <a:avLst/>
          </a:prstGeom>
        </p:spPr>
      </p:pic>
      <p:sp>
        <p:nvSpPr>
          <p:cNvPr id="151" name="Rounded Rectangle 150"/>
          <p:cNvSpPr/>
          <p:nvPr/>
        </p:nvSpPr>
        <p:spPr>
          <a:xfrm>
            <a:off x="913485" y="3636797"/>
            <a:ext cx="5993892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43787" y="3767099"/>
            <a:ext cx="382219" cy="3822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64995" y="3636797"/>
            <a:ext cx="1042415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愿付费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563977" y="3636797"/>
            <a:ext cx="3909059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有景区按拟定价格付费或明确续费</a:t>
            </a:r>
          </a:p>
        </p:txBody>
      </p:sp>
      <p:pic>
        <p:nvPicPr>
          <p:cNvPr id="155" name="Picture 154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1" y="3810533"/>
            <a:ext cx="295351" cy="295351"/>
          </a:xfrm>
          <a:prstGeom prst="rect">
            <a:avLst/>
          </a:prstGeom>
        </p:spPr>
      </p:pic>
      <p:sp>
        <p:nvSpPr>
          <p:cNvPr id="156" name="Rounded Rectangle 155"/>
          <p:cNvSpPr/>
          <p:nvPr/>
        </p:nvSpPr>
        <p:spPr>
          <a:xfrm>
            <a:off x="913485" y="4383862"/>
            <a:ext cx="5993892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43787" y="4514164"/>
            <a:ext cx="382219" cy="3822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64995" y="4383862"/>
            <a:ext cx="1042415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能赚钱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63977" y="4383862"/>
            <a:ext cx="3909059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单景区收入覆盖平台费、交付和运营</a:t>
            </a:r>
          </a:p>
        </p:txBody>
      </p:sp>
      <p:pic>
        <p:nvPicPr>
          <p:cNvPr id="160" name="Picture 159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1" y="4557598"/>
            <a:ext cx="295351" cy="295351"/>
          </a:xfrm>
          <a:prstGeom prst="rect">
            <a:avLst/>
          </a:prstGeom>
        </p:spPr>
      </p:pic>
      <p:sp>
        <p:nvSpPr>
          <p:cNvPr id="161" name="Rounded Rectangle 160"/>
          <p:cNvSpPr/>
          <p:nvPr/>
        </p:nvSpPr>
        <p:spPr>
          <a:xfrm>
            <a:off x="913485" y="5130926"/>
            <a:ext cx="5993892" cy="642823"/>
          </a:xfrm>
          <a:prstGeom prst="roundRect">
            <a:avLst>
              <a:gd name="adj" fmla="val 1351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043787" y="5261229"/>
            <a:ext cx="382219" cy="3822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64995" y="5130926"/>
            <a:ext cx="1042415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可复制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563977" y="5130926"/>
            <a:ext cx="3909059" cy="64282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不靠核心研发，按标准流程就能上线</a:t>
            </a:r>
          </a:p>
        </p:txBody>
      </p:sp>
      <p:pic>
        <p:nvPicPr>
          <p:cNvPr id="165" name="Picture 164" descr="circle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1" y="5304663"/>
            <a:ext cx="295351" cy="295351"/>
          </a:xfrm>
          <a:prstGeom prst="rect">
            <a:avLst/>
          </a:prstGeom>
        </p:spPr>
      </p:pic>
      <p:sp>
        <p:nvSpPr>
          <p:cNvPr id="166" name="Right Arrow 165"/>
          <p:cNvSpPr/>
          <p:nvPr/>
        </p:nvSpPr>
        <p:spPr>
          <a:xfrm>
            <a:off x="6994245" y="2820238"/>
            <a:ext cx="260603" cy="260603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7341717" y="2142667"/>
            <a:ext cx="3266236" cy="17373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door-o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887" y="2299030"/>
            <a:ext cx="364845" cy="364845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8036661" y="2281656"/>
            <a:ext cx="248442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五条都满足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558887" y="2820238"/>
            <a:ext cx="2918764" cy="95554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→ 进入第二步：借力复制</a:t>
            </a:r>
          </a:p>
          <a:p>
            <a:pPr algn="l">
              <a:lnSpc>
                <a:spcPct val="115000"/>
              </a:lnSpc>
              <a:spcBef>
                <a:spcPts val="380"/>
              </a:spcBef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模板、定价、交付流程定型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341717" y="4079824"/>
            <a:ext cx="3266236" cy="1824228"/>
          </a:xfrm>
          <a:prstGeom prst="roundRect">
            <a:avLst>
              <a:gd name="adj" fmla="val 6666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refresh-cw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87" y="4236186"/>
            <a:ext cx="347472" cy="347472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8036661" y="4210126"/>
            <a:ext cx="248442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9A5A4B"/>
                </a:solidFill>
                <a:latin typeface="微软雅黑"/>
                <a:ea typeface="微软雅黑"/>
              </a:rPr>
              <a:t>没过关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558887" y="4731334"/>
            <a:ext cx="2918764" cy="11292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· 调整场景组合或定价，再验一轮</a:t>
            </a:r>
          </a:p>
          <a:p>
            <a:pPr algn="l">
              <a:lnSpc>
                <a:spcPct val="115000"/>
              </a:lnSpc>
              <a:spcBef>
                <a:spcPts val="380"/>
              </a:spcBef>
            </a:pP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· 还不行的场景停掉</a:t>
            </a:r>
          </a:p>
          <a:p>
            <a:pPr algn="l">
              <a:lnSpc>
                <a:spcPct val="115000"/>
              </a:lnSpc>
              <a:spcBef>
                <a:spcPts val="380"/>
              </a:spcBef>
            </a:pP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· 不硬推，不盲目铺开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借力复制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先打老客户，再按业态复制，用 AI 撬新客户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从最容易成交的客户开始，用标杆案例带动同类景区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40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20950"/>
            <a:ext cx="3115665" cy="2041398"/>
          </a:xfrm>
          <a:prstGeom prst="roundRect">
            <a:avLst>
              <a:gd name="adj" fmla="val 5957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04595" y="2277313"/>
            <a:ext cx="477773" cy="477773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hou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22" y="2390241"/>
            <a:ext cx="251917" cy="251917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3290773" y="2277313"/>
            <a:ext cx="56464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7F6F82"/>
                </a:solidFill>
                <a:latin typeface="微软雅黑"/>
                <a:ea typeface="微软雅黑"/>
              </a:rPr>
              <a:t>最先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04595" y="2841955"/>
            <a:ext cx="276819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已用我们票务的景区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04595" y="3232861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3D9CF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4595" y="3423970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随票务续约推，开通即用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04595" y="3684574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F3D9CF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4595" y="3875684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F4ECEC"/>
                </a:solidFill>
                <a:latin typeface="微软雅黑"/>
                <a:ea typeface="微软雅黑"/>
              </a:rPr>
              <a:t>系统已对接，基本零开发；信任已有，成交最快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202887" y="2120950"/>
            <a:ext cx="3115665" cy="2041398"/>
          </a:xfrm>
          <a:prstGeom prst="roundRect">
            <a:avLst>
              <a:gd name="adj" fmla="val 595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393996" y="2277313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cop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440" y="2396756"/>
            <a:ext cx="238886" cy="238886"/>
          </a:xfrm>
          <a:prstGeom prst="rect">
            <a:avLst/>
          </a:prstGeom>
        </p:spPr>
      </p:pic>
      <p:sp>
        <p:nvSpPr>
          <p:cNvPr id="153" name="Rounded Rectangle 152"/>
          <p:cNvSpPr/>
          <p:nvPr/>
        </p:nvSpPr>
        <p:spPr>
          <a:xfrm>
            <a:off x="6580174" y="2277313"/>
            <a:ext cx="56464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其次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93996" y="2841955"/>
            <a:ext cx="276819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同业态景区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393996" y="3232861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93996" y="3423970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用标杆案例按业态复制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93996" y="3684574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93996" y="3875684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场景相同，模板直接复用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492288" y="2120950"/>
            <a:ext cx="3115665" cy="2041398"/>
          </a:xfrm>
          <a:prstGeom prst="roundRect">
            <a:avLst>
              <a:gd name="adj" fmla="val 595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683398" y="2277313"/>
            <a:ext cx="477773" cy="47777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user-plu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2841" y="2396756"/>
            <a:ext cx="238886" cy="238886"/>
          </a:xfrm>
          <a:prstGeom prst="rect">
            <a:avLst/>
          </a:prstGeom>
        </p:spPr>
      </p:pic>
      <p:sp>
        <p:nvSpPr>
          <p:cNvPr id="162" name="Rounded Rectangle 161"/>
          <p:cNvSpPr/>
          <p:nvPr/>
        </p:nvSpPr>
        <p:spPr>
          <a:xfrm>
            <a:off x="9869576" y="2277313"/>
            <a:ext cx="56464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同步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683398" y="2841955"/>
            <a:ext cx="2768193" cy="36484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>
                <a:solidFill>
                  <a:srgbClr val="3B3337"/>
                </a:solidFill>
                <a:latin typeface="微软雅黑"/>
                <a:ea typeface="微软雅黑"/>
              </a:rPr>
              <a:t>新客户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683398" y="3232861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打法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683398" y="3423970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智能体做差异化卖点，带动票务签约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683398" y="3684574"/>
            <a:ext cx="2768193" cy="2084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948496"/>
                </a:solidFill>
                <a:latin typeface="微软雅黑"/>
                <a:ea typeface="微软雅黑"/>
              </a:rPr>
              <a:t>为什么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83398" y="3875684"/>
            <a:ext cx="2768193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用 AI 撬动新客户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4431639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52474" y="4362145"/>
            <a:ext cx="781811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业态先后：客流大、咨询多、线上购票比例高的先做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13485" y="4753051"/>
            <a:ext cx="781812" cy="1172718"/>
          </a:xfrm>
          <a:prstGeom prst="roundRect">
            <a:avLst>
              <a:gd name="adj" fmla="val 1111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第一批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782165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mountain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757" y="4883353"/>
            <a:ext cx="382219" cy="382219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782165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山岳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050438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ferris-wheel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0031" y="4883353"/>
            <a:ext cx="382219" cy="382219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3050438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主题乐园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318711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landmar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4883353"/>
            <a:ext cx="382219" cy="382219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4318711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古镇街区</a:t>
            </a:r>
          </a:p>
        </p:txBody>
      </p:sp>
      <p:sp>
        <p:nvSpPr>
          <p:cNvPr id="180" name="Right Arrow 179"/>
          <p:cNvSpPr/>
          <p:nvPr/>
        </p:nvSpPr>
        <p:spPr>
          <a:xfrm>
            <a:off x="5630418" y="5230825"/>
            <a:ext cx="260603" cy="225856"/>
          </a:xfrm>
          <a:prstGeom prst="rightArrow">
            <a:avLst/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021324" y="4753051"/>
            <a:ext cx="781812" cy="1172718"/>
          </a:xfrm>
          <a:prstGeom prst="roundRect">
            <a:avLst>
              <a:gd name="adj" fmla="val 11111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第二批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890004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book-open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595" y="4883353"/>
            <a:ext cx="382219" cy="382219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6890004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博物馆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8158276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waves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7869" y="4883353"/>
            <a:ext cx="382219" cy="382219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8158276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温泉度假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9426549" y="4753051"/>
            <a:ext cx="1181404" cy="117271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9" name="Picture 188" descr="ship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6141" y="4883353"/>
            <a:ext cx="382219" cy="382219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9426549" y="5361127"/>
            <a:ext cx="1181404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游船演出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14606" y="112347"/>
            <a:ext cx="3162481" cy="830525"/>
            <a:chOff x="2659221" y="1745433"/>
            <a:chExt cx="3162481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840529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591056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怎么复制得快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六步上线，差异全部做成配置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实施人员和渠道伙伴按手册就能独立交付，不占核心研发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41  ·  AI＋数据平台 · 02  智能体平台</a:t>
            </a:r>
          </a:p>
        </p:txBody>
      </p:sp>
      <p:grpSp>
        <p:nvGrpSpPr>
          <p:cNvPr id="21000" name="素材 24"/>
          <p:cNvGrpSpPr/>
          <p:nvPr/>
        </p:nvGrpSpPr>
        <p:grpSpPr>
          <a:xfrm>
            <a:off x="913485" y="2607612"/>
            <a:ext cx="6601968" cy="1935390"/>
            <a:chOff x="936501" y="2932416"/>
            <a:chExt cx="9757504" cy="2860448"/>
          </a:xfrm>
        </p:grpSpPr>
        <p:sp>
          <p:nvSpPr>
            <p:cNvPr id="210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B97A6A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7F6F82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B97A6A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C4A39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94849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B97A6A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7F6F82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B97A6A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BBAFB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86868" tIns="43434" rIns="86868" bIns="43434" numCol="1" anchor="t" anchorCtr="0" compatLnSpc="1"/>
            <a:lstStyle/>
            <a:p>
              <a:pPr algn="ctr"/>
              <a:endParaRPr lang="en-US" sz="1500">
                <a:solidFill>
                  <a:srgbClr val="FFFFFF"/>
                </a:solidFill>
              </a:endParaRPr>
            </a:p>
          </p:txBody>
        </p:sp>
        <p:sp>
          <p:nvSpPr>
            <p:cNvPr id="210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948496"/>
                  </a:solidFill>
                  <a:latin typeface="微软雅黑"/>
                </a:rPr>
                <a:t>步骤 01</a:t>
              </a:r>
              <a:endParaRPr lang="en-US" sz="1700" b="1" dirty="0">
                <a:solidFill>
                  <a:srgbClr val="948496"/>
                </a:solidFill>
                <a:latin typeface="微软雅黑"/>
              </a:endParaRPr>
            </a:p>
          </p:txBody>
        </p:sp>
        <p:sp>
          <p:nvSpPr>
            <p:cNvPr id="210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7F6F82"/>
                  </a:solidFill>
                  <a:latin typeface="微软雅黑"/>
                </a:rPr>
                <a:t>步骤 03</a:t>
              </a:r>
              <a:endParaRPr lang="en-US" sz="1350" dirty="0">
                <a:solidFill>
                  <a:srgbClr val="7F6F82"/>
                </a:solidFill>
                <a:latin typeface="微软雅黑"/>
              </a:endParaRPr>
            </a:p>
          </p:txBody>
        </p:sp>
        <p:sp>
          <p:nvSpPr>
            <p:cNvPr id="210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BBAFBD"/>
                  </a:solidFill>
                  <a:latin typeface="微软雅黑"/>
                </a:rPr>
                <a:t>步骤 05</a:t>
              </a:r>
              <a:endParaRPr lang="en-US" sz="1350" dirty="0">
                <a:solidFill>
                  <a:srgbClr val="BBAFBD"/>
                </a:solidFill>
                <a:latin typeface="微软雅黑"/>
              </a:endParaRPr>
            </a:p>
          </p:txBody>
        </p:sp>
        <p:sp>
          <p:nvSpPr>
            <p:cNvPr id="210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3B3337"/>
                  </a:solidFill>
                  <a:latin typeface="微软雅黑"/>
                </a:rPr>
                <a:t>步骤 02</a:t>
              </a:r>
              <a:endParaRPr lang="en-US" sz="1700" b="1" dirty="0">
                <a:solidFill>
                  <a:srgbClr val="3B3337"/>
                </a:solidFill>
                <a:latin typeface="微软雅黑"/>
              </a:endParaRPr>
            </a:p>
          </p:txBody>
        </p:sp>
        <p:sp>
          <p:nvSpPr>
            <p:cNvPr id="210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3B3337"/>
                  </a:solidFill>
                  <a:latin typeface="微软雅黑"/>
                </a:rPr>
                <a:t>步骤 04</a:t>
              </a:r>
              <a:endParaRPr lang="en-US" sz="1700" b="1" dirty="0">
                <a:solidFill>
                  <a:srgbClr val="3B3337"/>
                </a:solidFill>
                <a:latin typeface="微软雅黑"/>
              </a:endParaRPr>
            </a:p>
          </p:txBody>
        </p:sp>
        <p:sp>
          <p:nvSpPr>
            <p:cNvPr id="210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Wingdings" panose="05000000000000000000" pitchFamily="2" charset="2"/>
                <a:buChar char="§"/>
                <a:defRPr sz="22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8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950"/>
                </a:spcAft>
                <a:buFont typeface="Symbol" panose="05050102010706020507" pitchFamily="18" charset="2"/>
                <a:buChar char="-"/>
                <a:defRPr sz="15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rgbClr val="3B3337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140"/>
                </a:spcAft>
                <a:buNone/>
              </a:pPr>
              <a:r>
                <a:rPr lang="en-US" sz="1700" b="1" dirty="0">
                  <a:solidFill>
                    <a:srgbClr val="3B3337"/>
                  </a:solidFill>
                  <a:latin typeface="微软雅黑"/>
                </a:rPr>
                <a:t>步骤 06</a:t>
              </a:r>
              <a:endParaRPr lang="en-US" sz="1700" b="1" dirty="0">
                <a:solidFill>
                  <a:srgbClr val="3B3337"/>
                </a:solidFill>
                <a:latin typeface="微软雅黑"/>
              </a:endParaRPr>
            </a:p>
          </p:txBody>
        </p:sp>
      </p:grpSp>
      <p:pic>
        <p:nvPicPr>
          <p:cNvPr id="21019" name="Picture 21018" descr="pen-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439" y="2943099"/>
            <a:ext cx="347472" cy="347472"/>
          </a:xfrm>
          <a:prstGeom prst="rect">
            <a:avLst/>
          </a:prstGeom>
        </p:spPr>
      </p:pic>
      <p:sp>
        <p:nvSpPr>
          <p:cNvPr id="21020" name="TextBox 21019"/>
          <p:cNvSpPr txBox="1"/>
          <p:nvPr/>
        </p:nvSpPr>
        <p:spPr>
          <a:xfrm>
            <a:off x="1375495" y="2033881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签约</a:t>
            </a:r>
          </a:p>
        </p:txBody>
      </p:sp>
      <p:sp>
        <p:nvSpPr>
          <p:cNvPr id="21021" name="TextBox 21020"/>
          <p:cNvSpPr txBox="1"/>
          <p:nvPr/>
        </p:nvSpPr>
        <p:spPr>
          <a:xfrm>
            <a:off x="1375495" y="2242364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随续约或新签</a:t>
            </a:r>
          </a:p>
        </p:txBody>
      </p:sp>
      <p:pic>
        <p:nvPicPr>
          <p:cNvPr id="21022" name="Picture 21021" descr="boxe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171" y="3864942"/>
            <a:ext cx="347472" cy="347472"/>
          </a:xfrm>
          <a:prstGeom prst="rect">
            <a:avLst/>
          </a:prstGeom>
        </p:spPr>
      </p:pic>
      <p:sp>
        <p:nvSpPr>
          <p:cNvPr id="21023" name="TextBox 21022"/>
          <p:cNvSpPr txBox="1"/>
          <p:nvPr/>
        </p:nvSpPr>
        <p:spPr>
          <a:xfrm>
            <a:off x="2161227" y="4644992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选模板</a:t>
            </a:r>
          </a:p>
        </p:txBody>
      </p:sp>
      <p:sp>
        <p:nvSpPr>
          <p:cNvPr id="21024" name="TextBox 21023"/>
          <p:cNvSpPr txBox="1"/>
          <p:nvPr/>
        </p:nvSpPr>
        <p:spPr>
          <a:xfrm>
            <a:off x="2161227" y="4853475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已验证的业态模板</a:t>
            </a:r>
          </a:p>
        </p:txBody>
      </p:sp>
      <p:pic>
        <p:nvPicPr>
          <p:cNvPr id="21025" name="Picture 21024" descr="book-ope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97" y="2943099"/>
            <a:ext cx="347472" cy="347472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2950053" y="2033881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配知识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2950053" y="2242364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统一采集表</a:t>
            </a:r>
          </a:p>
        </p:txBody>
      </p:sp>
      <p:pic>
        <p:nvPicPr>
          <p:cNvPr id="21028" name="Picture 21027" descr="li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729" y="3864942"/>
            <a:ext cx="347472" cy="347472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735785" y="4644992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绑入口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735785" y="4853475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pic>
        <p:nvPicPr>
          <p:cNvPr id="21031" name="Picture 21030" descr="clipboard-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3368" y="2943099"/>
            <a:ext cx="347472" cy="347472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4518424" y="2033881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测试验收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4518424" y="2242364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统一测试清单</a:t>
            </a:r>
          </a:p>
        </p:txBody>
      </p:sp>
      <p:pic>
        <p:nvPicPr>
          <p:cNvPr id="21034" name="Picture 21033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288" y="3864942"/>
            <a:ext cx="347472" cy="347472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5310344" y="4644992"/>
            <a:ext cx="1737360" cy="2779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5310344" y="4853475"/>
            <a:ext cx="1737360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持续出效果报告</a:t>
            </a:r>
          </a:p>
        </p:txBody>
      </p:sp>
      <p:sp>
        <p:nvSpPr>
          <p:cNvPr id="21037" name="Rounded Rectangle 21036"/>
          <p:cNvSpPr/>
          <p:nvPr/>
        </p:nvSpPr>
        <p:spPr>
          <a:xfrm>
            <a:off x="7732623" y="2147212"/>
            <a:ext cx="2875330" cy="3865626"/>
          </a:xfrm>
          <a:prstGeom prst="roundRect">
            <a:avLst>
              <a:gd name="adj" fmla="val 4229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8" name="TextBox 21037"/>
          <p:cNvSpPr txBox="1"/>
          <p:nvPr/>
        </p:nvSpPr>
        <p:spPr>
          <a:xfrm>
            <a:off x="7906359" y="2234080"/>
            <a:ext cx="261472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五个环节标准化</a:t>
            </a:r>
          </a:p>
        </p:txBody>
      </p:sp>
      <p:sp>
        <p:nvSpPr>
          <p:cNvPr id="21039" name="Rounded Rectangle 21038"/>
          <p:cNvSpPr/>
          <p:nvPr/>
        </p:nvSpPr>
        <p:spPr>
          <a:xfrm>
            <a:off x="7888986" y="2651046"/>
            <a:ext cx="2562606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0" name="TextBox 21039"/>
          <p:cNvSpPr txBox="1"/>
          <p:nvPr/>
        </p:nvSpPr>
        <p:spPr>
          <a:xfrm>
            <a:off x="8010601" y="2685794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21041" name="TextBox 21040"/>
          <p:cNvSpPr txBox="1"/>
          <p:nvPr/>
        </p:nvSpPr>
        <p:spPr>
          <a:xfrm>
            <a:off x="8010601" y="2929024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按业态出模板，差异做成配置</a:t>
            </a:r>
          </a:p>
        </p:txBody>
      </p:sp>
      <p:sp>
        <p:nvSpPr>
          <p:cNvPr id="21042" name="Rounded Rectangle 21041"/>
          <p:cNvSpPr/>
          <p:nvPr/>
        </p:nvSpPr>
        <p:spPr>
          <a:xfrm>
            <a:off x="7888986" y="3293870"/>
            <a:ext cx="2562606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3" name="TextBox 21042"/>
          <p:cNvSpPr txBox="1"/>
          <p:nvPr/>
        </p:nvSpPr>
        <p:spPr>
          <a:xfrm>
            <a:off x="8010601" y="3328617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知识采集</a:t>
            </a:r>
          </a:p>
        </p:txBody>
      </p:sp>
      <p:sp>
        <p:nvSpPr>
          <p:cNvPr id="21044" name="TextBox 21043"/>
          <p:cNvSpPr txBox="1"/>
          <p:nvPr/>
        </p:nvSpPr>
        <p:spPr>
          <a:xfrm>
            <a:off x="8010601" y="3571847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统一采集表，景区填、实施审</a:t>
            </a:r>
          </a:p>
        </p:txBody>
      </p:sp>
      <p:sp>
        <p:nvSpPr>
          <p:cNvPr id="21045" name="Rounded Rectangle 21044"/>
          <p:cNvSpPr/>
          <p:nvPr/>
        </p:nvSpPr>
        <p:spPr>
          <a:xfrm>
            <a:off x="7888986" y="3936693"/>
            <a:ext cx="2562606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6" name="TextBox 21045"/>
          <p:cNvSpPr txBox="1"/>
          <p:nvPr/>
        </p:nvSpPr>
        <p:spPr>
          <a:xfrm>
            <a:off x="8010601" y="3971440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系统接入</a:t>
            </a:r>
          </a:p>
        </p:txBody>
      </p:sp>
      <p:sp>
        <p:nvSpPr>
          <p:cNvPr id="21047" name="TextBox 21046"/>
          <p:cNvSpPr txBox="1"/>
          <p:nvPr/>
        </p:nvSpPr>
        <p:spPr>
          <a:xfrm>
            <a:off x="8010601" y="4214670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老客户接口现成</a:t>
            </a:r>
          </a:p>
        </p:txBody>
      </p:sp>
      <p:sp>
        <p:nvSpPr>
          <p:cNvPr id="21048" name="Rounded Rectangle 21047"/>
          <p:cNvSpPr/>
          <p:nvPr/>
        </p:nvSpPr>
        <p:spPr>
          <a:xfrm>
            <a:off x="7888986" y="4579516"/>
            <a:ext cx="2562606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9" name="TextBox 21048"/>
          <p:cNvSpPr txBox="1"/>
          <p:nvPr/>
        </p:nvSpPr>
        <p:spPr>
          <a:xfrm>
            <a:off x="8010601" y="4614263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实施</a:t>
            </a:r>
          </a:p>
        </p:txBody>
      </p:sp>
      <p:sp>
        <p:nvSpPr>
          <p:cNvPr id="21050" name="TextBox 21049"/>
          <p:cNvSpPr txBox="1"/>
          <p:nvPr/>
        </p:nvSpPr>
        <p:spPr>
          <a:xfrm>
            <a:off x="8010601" y="4857494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手册 + 培训，伙伴可独立交付</a:t>
            </a:r>
          </a:p>
        </p:txBody>
      </p:sp>
      <p:sp>
        <p:nvSpPr>
          <p:cNvPr id="21051" name="Rounded Rectangle 21050"/>
          <p:cNvSpPr/>
          <p:nvPr/>
        </p:nvSpPr>
        <p:spPr>
          <a:xfrm>
            <a:off x="7888986" y="5222339"/>
            <a:ext cx="2562606" cy="55595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2" name="TextBox 21051"/>
          <p:cNvSpPr txBox="1"/>
          <p:nvPr/>
        </p:nvSpPr>
        <p:spPr>
          <a:xfrm>
            <a:off x="8010601" y="5257087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053" name="TextBox 21052"/>
          <p:cNvSpPr txBox="1"/>
          <p:nvPr/>
        </p:nvSpPr>
        <p:spPr>
          <a:xfrm>
            <a:off x="8010601" y="5500317"/>
            <a:ext cx="2354122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统一测试清单，跑完即上线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销售与续费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票务团队带单，用效果报告促续费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卖出去只是开始，持续让景区看到效果，才能续费、加购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42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55698"/>
            <a:ext cx="5385816" cy="833932"/>
          </a:xfrm>
          <a:prstGeom prst="roundRect">
            <a:avLst>
              <a:gd name="adj" fmla="val 12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87220" y="2329433"/>
            <a:ext cx="486460" cy="48646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briefc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2451049"/>
            <a:ext cx="243230" cy="24323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738731" y="2225192"/>
            <a:ext cx="4430268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销售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38731" y="2546603"/>
            <a:ext cx="4430268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票务销售团队带单，智能体纳入销售考核；区域渠道伙伴代理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13485" y="3111246"/>
            <a:ext cx="5385816" cy="833932"/>
          </a:xfrm>
          <a:prstGeom prst="roundRect">
            <a:avLst>
              <a:gd name="adj" fmla="val 12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87220" y="3284982"/>
            <a:ext cx="486460" cy="48646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st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836" y="3406597"/>
            <a:ext cx="243230" cy="24323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738731" y="3180740"/>
            <a:ext cx="4430268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案例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38731" y="3502151"/>
            <a:ext cx="4430268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每类业态的标杆做成案例，用数据讲效果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4066794"/>
            <a:ext cx="5385816" cy="833932"/>
          </a:xfrm>
          <a:prstGeom prst="roundRect">
            <a:avLst>
              <a:gd name="adj" fmla="val 12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87220" y="4240529"/>
            <a:ext cx="486460" cy="48646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heads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836" y="4362145"/>
            <a:ext cx="243230" cy="24323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1738731" y="4136288"/>
            <a:ext cx="4430268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客户成功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38731" y="4457699"/>
            <a:ext cx="4430268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上线后定期出效果报告：解决多少咨询、带来多少订单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3485" y="5022342"/>
            <a:ext cx="5385816" cy="833932"/>
          </a:xfrm>
          <a:prstGeom prst="roundRect">
            <a:avLst>
              <a:gd name="adj" fmla="val 1250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87220" y="5196077"/>
            <a:ext cx="486460" cy="48646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refresh-cw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836" y="5317693"/>
            <a:ext cx="243230" cy="24323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738731" y="5091836"/>
            <a:ext cx="4430268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升级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738731" y="5413248"/>
            <a:ext cx="4430268" cy="3909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模板统一升级，所有景区同步受益，增加粘性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603339" y="2155698"/>
            <a:ext cx="4004614" cy="3735324"/>
          </a:xfrm>
          <a:prstGeom prst="roundRect">
            <a:avLst>
              <a:gd name="adj" fmla="val 279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6603339" y="2155698"/>
            <a:ext cx="4004614" cy="312724"/>
          </a:xfrm>
          <a:prstGeom prst="roundRect">
            <a:avLst>
              <a:gd name="adj" fmla="val 0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733641" y="2259939"/>
            <a:ext cx="104241" cy="104241"/>
          </a:xfrm>
          <a:prstGeom prst="ellipse">
            <a:avLst/>
          </a:prstGeom>
          <a:solidFill>
            <a:srgbClr val="C77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907377" y="2259939"/>
            <a:ext cx="104241" cy="104241"/>
          </a:xfrm>
          <a:prstGeom prst="ellipse">
            <a:avLst/>
          </a:prstGeom>
          <a:solidFill>
            <a:srgbClr val="D9B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081113" y="2259939"/>
            <a:ext cx="104241" cy="104241"/>
          </a:xfrm>
          <a:prstGeom prst="ellipse">
            <a:avLst/>
          </a:prstGeom>
          <a:solidFill>
            <a:srgbClr val="8FA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341716" y="2155698"/>
            <a:ext cx="3135934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7B7074"/>
                </a:solidFill>
                <a:latin typeface="微软雅黑"/>
                <a:ea typeface="微软雅黑"/>
              </a:rPr>
              <a:t>景区 AI 效果月报（示意）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20509" y="2572664"/>
            <a:ext cx="365714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××景区 · ××月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777075" y="3007004"/>
            <a:ext cx="1741703" cy="799185"/>
          </a:xfrm>
          <a:prstGeom prst="roundRect">
            <a:avLst>
              <a:gd name="adj" fmla="val 8695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907377" y="3059125"/>
            <a:ext cx="1567967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解决咨询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907377" y="3284982"/>
            <a:ext cx="1567967" cy="4517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>
                <a:solidFill>
                  <a:srgbClr val="7F6F82"/>
                </a:solidFill>
                <a:latin typeface="微软雅黑"/>
                <a:ea typeface="微软雅黑"/>
              </a:rPr>
              <a:t>×××</a:t>
            </a:r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 次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692515" y="3007004"/>
            <a:ext cx="1741703" cy="799185"/>
          </a:xfrm>
          <a:prstGeom prst="roundRect">
            <a:avLst>
              <a:gd name="adj" fmla="val 8695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822817" y="3059125"/>
            <a:ext cx="1567967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带来订单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822817" y="3284982"/>
            <a:ext cx="1567967" cy="4517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>
                <a:solidFill>
                  <a:srgbClr val="7F6F82"/>
                </a:solidFill>
                <a:latin typeface="微软雅黑"/>
                <a:ea typeface="微软雅黑"/>
              </a:rPr>
              <a:t>×××</a:t>
            </a:r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 单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777075" y="3919118"/>
            <a:ext cx="1741703" cy="799185"/>
          </a:xfrm>
          <a:prstGeom prst="roundRect">
            <a:avLst>
              <a:gd name="adj" fmla="val 8695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907377" y="3971239"/>
            <a:ext cx="1567967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转人工率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907377" y="4197096"/>
            <a:ext cx="1567967" cy="4517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>
                <a:solidFill>
                  <a:srgbClr val="7F6F82"/>
                </a:solidFill>
                <a:latin typeface="微软雅黑"/>
                <a:ea typeface="微软雅黑"/>
              </a:rPr>
              <a:t>××</a:t>
            </a:r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 %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692515" y="3919118"/>
            <a:ext cx="1741703" cy="799185"/>
          </a:xfrm>
          <a:prstGeom prst="roundRect">
            <a:avLst>
              <a:gd name="adj" fmla="val 8695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822817" y="3971239"/>
            <a:ext cx="1567967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游客满意度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822817" y="4197096"/>
            <a:ext cx="1567967" cy="4517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>
                <a:solidFill>
                  <a:srgbClr val="7F6F82"/>
                </a:solidFill>
                <a:latin typeface="微软雅黑"/>
                <a:ea typeface="微软雅黑"/>
              </a:rPr>
              <a:t>××</a:t>
            </a:r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 分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907376" y="5352440"/>
            <a:ext cx="225856" cy="304037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272222" y="5222138"/>
            <a:ext cx="225856" cy="43434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637067" y="5291632"/>
            <a:ext cx="225856" cy="364845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8001913" y="5117896"/>
            <a:ext cx="225856" cy="538581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8366759" y="5178704"/>
            <a:ext cx="225856" cy="477773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8731604" y="5031028"/>
            <a:ext cx="225856" cy="625449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209379" y="5048402"/>
            <a:ext cx="1224838" cy="608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趋势与建议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由系统自动生成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295151" y="112347"/>
            <a:ext cx="3601392" cy="830525"/>
            <a:chOff x="2659221" y="1745433"/>
            <a:chExt cx="3601392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79440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029967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借平台，不交资产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六样东西必须留在自己手里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这是第三步能低成本切过去的前提，从第一天就要做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43  ·  AI＋数据平台 · 02  智能体平台</a:t>
            </a:r>
          </a:p>
        </p:txBody>
      </p:sp>
      <p:sp>
        <p:nvSpPr>
          <p:cNvPr id="141" name="Oval 140"/>
          <p:cNvSpPr/>
          <p:nvPr/>
        </p:nvSpPr>
        <p:spPr>
          <a:xfrm>
            <a:off x="4848606" y="2954883"/>
            <a:ext cx="1824228" cy="1824228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631436" y="2737713"/>
            <a:ext cx="2258568" cy="2258568"/>
          </a:xfrm>
          <a:prstGeom prst="ellipse">
            <a:avLst/>
          </a:prstGeom>
          <a:noFill/>
          <a:ln w="15875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116" y="3215487"/>
            <a:ext cx="521207" cy="521207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4892040" y="3780129"/>
            <a:ext cx="1737360" cy="5212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留在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自己手里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13485" y="214701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69847" y="230337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book-ope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432" y="2411958"/>
            <a:ext cx="217170" cy="21717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608429" y="2285999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景区知识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87220" y="277246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按自有结构存一份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87220" y="299831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直接导入自建平台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344771" y="2720339"/>
            <a:ext cx="286664" cy="1146657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13485" y="345003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69847" y="360639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432" y="3714978"/>
            <a:ext cx="217170" cy="21717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608429" y="3589020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业务接口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7220" y="407548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售票、订单、核销、会员接口自己封装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87220" y="430133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平台直接复用</a:t>
            </a:r>
          </a:p>
        </p:txBody>
      </p:sp>
      <p:cxnSp>
        <p:nvCxnSpPr>
          <p:cNvPr id="158" name="Connector 157"/>
          <p:cNvCxnSpPr/>
          <p:nvPr/>
        </p:nvCxnSpPr>
        <p:spPr>
          <a:xfrm flipV="1">
            <a:off x="4344771" y="3866997"/>
            <a:ext cx="286664" cy="156362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913485" y="475305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69847" y="490941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file-tex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432" y="5017998"/>
            <a:ext cx="217170" cy="21717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608429" y="4892040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模板设计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87220" y="537850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流程、提示词、配置写成文档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87220" y="560435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迁入模板库</a:t>
            </a:r>
          </a:p>
        </p:txBody>
      </p:sp>
      <p:cxnSp>
        <p:nvCxnSpPr>
          <p:cNvPr id="165" name="Connector 164"/>
          <p:cNvCxnSpPr/>
          <p:nvPr/>
        </p:nvCxnSpPr>
        <p:spPr>
          <a:xfrm flipV="1">
            <a:off x="4344771" y="3866997"/>
            <a:ext cx="286664" cy="1459382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7176668" y="214701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33030" y="230337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messages-squa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1615" y="2411958"/>
            <a:ext cx="217170" cy="21717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7871612" y="2285999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交互数据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50404" y="277246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对话、评价、转人工回流数据平台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50404" y="299831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做测试题、优化效果</a:t>
            </a:r>
          </a:p>
        </p:txBody>
      </p:sp>
      <p:cxnSp>
        <p:nvCxnSpPr>
          <p:cNvPr id="172" name="Connector 171"/>
          <p:cNvCxnSpPr/>
          <p:nvPr/>
        </p:nvCxnSpPr>
        <p:spPr>
          <a:xfrm flipH="1">
            <a:off x="6890004" y="2720339"/>
            <a:ext cx="286664" cy="1146657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/>
        </p:nvSpPr>
        <p:spPr>
          <a:xfrm>
            <a:off x="7176668" y="345003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333030" y="360639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615" y="3714978"/>
            <a:ext cx="217170" cy="21717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7871612" y="3589020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成本数据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350404" y="407548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按景区、按智能体记录每月平台费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50404" y="430133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判断何时自建</a:t>
            </a:r>
          </a:p>
        </p:txBody>
      </p:sp>
      <p:cxnSp>
        <p:nvCxnSpPr>
          <p:cNvPr id="179" name="Connector 178"/>
          <p:cNvCxnSpPr/>
          <p:nvPr/>
        </p:nvCxnSpPr>
        <p:spPr>
          <a:xfrm flipH="1" flipV="1">
            <a:off x="6890004" y="3866997"/>
            <a:ext cx="286664" cy="156362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7176668" y="4753051"/>
            <a:ext cx="3431286" cy="1146657"/>
          </a:xfrm>
          <a:prstGeom prst="roundRect">
            <a:avLst>
              <a:gd name="adj" fmla="val 909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333030" y="490941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2" name="Picture 181" descr="list-check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615" y="5017998"/>
            <a:ext cx="217170" cy="217170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7871612" y="4892040"/>
            <a:ext cx="2649473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需求清单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350404" y="5378500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48496"/>
                </a:solidFill>
                <a:latin typeface="微软雅黑"/>
                <a:ea typeface="微软雅黑"/>
              </a:rPr>
              <a:t>现在　</a:t>
            </a: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记录客户要、平台做不了的功能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350404" y="5604357"/>
            <a:ext cx="3170682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9A5A4B"/>
                </a:solidFill>
                <a:latin typeface="微软雅黑"/>
                <a:ea typeface="微软雅黑"/>
              </a:rPr>
              <a:t>以后　</a:t>
            </a: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自建平台的需求来源</a:t>
            </a:r>
          </a:p>
        </p:txBody>
      </p:sp>
      <p:cxnSp>
        <p:nvCxnSpPr>
          <p:cNvPr id="186" name="Connector 185"/>
          <p:cNvCxnSpPr/>
          <p:nvPr/>
        </p:nvCxnSpPr>
        <p:spPr>
          <a:xfrm flipH="1" flipV="1">
            <a:off x="6890004" y="3866997"/>
            <a:ext cx="286664" cy="1459382"/>
          </a:xfrm>
          <a:prstGeom prst="line">
            <a:avLst/>
          </a:prstGeom>
          <a:ln w="12700">
            <a:solidFill>
              <a:srgbClr val="D5C8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14606" y="112347"/>
            <a:ext cx="3162481" cy="830525"/>
            <a:chOff x="2659221" y="1745433"/>
            <a:chExt cx="3162481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840529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591056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借平台的代价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景区越多，问题越明显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第二步做得越成功，这些弊端越突出 —— 这正是第三步要解决的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44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76272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9847" y="2332634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trending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32" y="2441219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08429" y="2332634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成本越做越高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04595" y="2853842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按调用、账号、空间收费，景区越多平台费越高，利润被分走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02887" y="2176272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359249" y="2332634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wre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834" y="2441219"/>
            <a:ext cx="217170" cy="21717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897831" y="2332634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交付受限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393996" y="2853842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功能受平台限制，个性需求做不了；多平台分别配置、分别维护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492288" y="2176272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648650" y="2332634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clou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235" y="2441219"/>
            <a:ext cx="217170" cy="21717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8187232" y="2332634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资产在外部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3398" y="2853842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工作流、知识库、对话数据在第三方，难沉淀、难迁移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3485" y="3757269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69847" y="3913631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spli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432" y="4022216"/>
            <a:ext cx="217170" cy="21717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608429" y="391363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管理分散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04595" y="4434840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多平台多入口，权限、计量、监控各管各的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202887" y="3757269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359249" y="3913631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triangle-ale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7834" y="4022216"/>
            <a:ext cx="217170" cy="21717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897831" y="391363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受制于人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393996" y="4434840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平台调价、改规则、下线功能，直接影响交付和报价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92288" y="3757269"/>
            <a:ext cx="3115665" cy="1407261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648650" y="3913631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235" y="4022216"/>
            <a:ext cx="217170" cy="21717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8187232" y="3913631"/>
            <a:ext cx="2290419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难形成壁垒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683398" y="4434840"/>
            <a:ext cx="2733446" cy="64282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同样的平台谁都能用；数据出域有合规顾虑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13485" y="5199278"/>
            <a:ext cx="9694468" cy="521207"/>
          </a:xfrm>
          <a:prstGeom prst="roundRect">
            <a:avLst>
              <a:gd name="adj" fmla="val 16666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lightbul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595" y="5329580"/>
            <a:ext cx="260603" cy="260603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478127" y="5199278"/>
            <a:ext cx="8956090" cy="52120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  <a:latin typeface="微软雅黑"/>
                <a:ea typeface="微软雅黑"/>
              </a:rPr>
              <a:t>所以　</a:t>
            </a: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规模起来以后，自己建平台更省钱、更快、更可控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能力自给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什么时候自己建？看成本交叉点和五个信号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满足任意两条就启动自建；不提前，也不拖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45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90547"/>
            <a:ext cx="4690872" cy="3865626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130655" y="2194788"/>
            <a:ext cx="3474720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总成本随景区数量变化（示意）</a:t>
            </a:r>
          </a:p>
        </p:txBody>
      </p:sp>
      <p:graphicFrame>
        <p:nvGraphicFramePr>
          <p:cNvPr id="143" name="Chart 142"/>
          <p:cNvGraphicFramePr>
            <a:graphicFrameLocks noGrp="1"/>
          </p:cNvGraphicFramePr>
          <p:nvPr/>
        </p:nvGraphicFramePr>
        <p:xfrm>
          <a:off x="1043787" y="2524887"/>
          <a:ext cx="4430268" cy="29969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1174089" y="5565267"/>
            <a:ext cx="4169663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景区数量 →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806194" y="3350133"/>
            <a:ext cx="1650492" cy="312724"/>
          </a:xfrm>
          <a:prstGeom prst="roundRect">
            <a:avLst>
              <a:gd name="adj" fmla="val 5000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交叉点 = 该自建了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864961" y="2090547"/>
            <a:ext cx="4742992" cy="573328"/>
          </a:xfrm>
          <a:prstGeom prst="roundRect">
            <a:avLst>
              <a:gd name="adj" fmla="val 1515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995263" y="2177415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161" y="2277313"/>
            <a:ext cx="199796" cy="199796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6516471" y="2090547"/>
            <a:ext cx="1476756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成本交叉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49793" y="2090547"/>
            <a:ext cx="2571292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按记录的成本测算，自建总成本已更低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864961" y="2750743"/>
            <a:ext cx="4742992" cy="573328"/>
          </a:xfrm>
          <a:prstGeom prst="roundRect">
            <a:avLst>
              <a:gd name="adj" fmla="val 1515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995263" y="2837611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trending-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161" y="2937510"/>
            <a:ext cx="199796" cy="199796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6516471" y="2750743"/>
            <a:ext cx="1476756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平台费占比上升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49793" y="2750743"/>
            <a:ext cx="2571292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平台费占智能体收入的比例持续上升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864961" y="3410940"/>
            <a:ext cx="4742992" cy="573328"/>
          </a:xfrm>
          <a:prstGeom prst="roundRect">
            <a:avLst>
              <a:gd name="adj" fmla="val 1515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995263" y="3497808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circle-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161" y="3597706"/>
            <a:ext cx="199796" cy="199796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6516471" y="3410940"/>
            <a:ext cx="1476756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场景稳定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49793" y="3410940"/>
            <a:ext cx="2571292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主力模板已稳定，不再频繁大改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864961" y="4071137"/>
            <a:ext cx="4742992" cy="573328"/>
          </a:xfrm>
          <a:prstGeom prst="roundRect">
            <a:avLst>
              <a:gd name="adj" fmla="val 1515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995263" y="4158005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circle-x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161" y="4257903"/>
            <a:ext cx="199796" cy="199796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6516471" y="4071137"/>
            <a:ext cx="1476756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平台限制丢单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949793" y="4071137"/>
            <a:ext cx="2571292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个性需求、大客户项目因平台限制接不了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864961" y="4731334"/>
            <a:ext cx="4742992" cy="573328"/>
          </a:xfrm>
          <a:prstGeom prst="roundRect">
            <a:avLst>
              <a:gd name="adj" fmla="val 1515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995263" y="4818202"/>
            <a:ext cx="399592" cy="399592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161" y="4918100"/>
            <a:ext cx="199796" cy="199796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6516471" y="4731334"/>
            <a:ext cx="1476756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合规要求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49793" y="4731334"/>
            <a:ext cx="2571292" cy="573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景区或管理方要求数据不出域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864961" y="5408904"/>
            <a:ext cx="4742992" cy="538581"/>
          </a:xfrm>
          <a:prstGeom prst="roundRect">
            <a:avLst>
              <a:gd name="adj" fmla="val 16129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满足任意两条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，就启动自建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295151" y="112347"/>
            <a:ext cx="3601392" cy="830525"/>
            <a:chOff x="2659221" y="1745433"/>
            <a:chExt cx="3601392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79440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029967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建什么、不建什么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钱只花在“壁垒”上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能买的买、能借的借，只自建承载我们业务和数据的部分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46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03780"/>
            <a:ext cx="9694468" cy="660196"/>
          </a:xfrm>
          <a:prstGeom prst="roundRect">
            <a:avLst>
              <a:gd name="adj" fmla="val 1315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43787" y="2016709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72" y="2125294"/>
            <a:ext cx="217170" cy="21717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608429" y="1903780"/>
            <a:ext cx="2953512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大模型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05375" y="2077516"/>
            <a:ext cx="1172718" cy="312724"/>
          </a:xfrm>
          <a:prstGeom prst="roundRect">
            <a:avLst>
              <a:gd name="adj" fmla="val 5000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951829" y="1903780"/>
            <a:ext cx="2432303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不自研 · 调用模型服务，多家可替换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84133" y="1903780"/>
            <a:ext cx="2093518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投入大，不是我们的优势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3485" y="2650845"/>
            <a:ext cx="9694468" cy="660196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43787" y="2763773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mi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2872358"/>
            <a:ext cx="217170" cy="21717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608429" y="2650845"/>
            <a:ext cx="2953512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语音 · 图像 · 数字人 · 手语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605375" y="2824581"/>
            <a:ext cx="1172718" cy="312724"/>
          </a:xfrm>
          <a:prstGeom prst="roundRect">
            <a:avLst>
              <a:gd name="adj" fmla="val 5000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51829" y="2650845"/>
            <a:ext cx="2432303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采购或合作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84133" y="2650845"/>
            <a:ext cx="2093518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专业能力，自建不划算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13485" y="3397910"/>
            <a:ext cx="9694468" cy="660196"/>
          </a:xfrm>
          <a:prstGeom prst="roundRect">
            <a:avLst>
              <a:gd name="adj" fmla="val 1315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43787" y="3510838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workflow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372" y="3619423"/>
            <a:ext cx="217170" cy="21717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608429" y="3397910"/>
            <a:ext cx="2953512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编排引擎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605375" y="3571646"/>
            <a:ext cx="1172718" cy="312724"/>
          </a:xfrm>
          <a:prstGeom prst="roundRect">
            <a:avLst>
              <a:gd name="adj" fmla="val 50000"/>
            </a:avLst>
          </a:prstGeom>
          <a:solidFill>
            <a:srgbClr val="EDE5EE"/>
          </a:solidFill>
          <a:ln w="12700">
            <a:solidFill>
              <a:srgbClr val="B9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E5F72"/>
                </a:solidFill>
                <a:latin typeface="微软雅黑"/>
                <a:ea typeface="微软雅黑"/>
              </a:rPr>
              <a:t>开源改造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951829" y="3397910"/>
            <a:ext cx="2432303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开源框架二次开发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84133" y="3397910"/>
            <a:ext cx="2093518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不从零写，缩短周期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13485" y="4144975"/>
            <a:ext cx="9694468" cy="660196"/>
          </a:xfrm>
          <a:prstGeom prst="roundRect">
            <a:avLst>
              <a:gd name="adj" fmla="val 13157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43787" y="4257903"/>
            <a:ext cx="434340" cy="43434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building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029" y="4362145"/>
            <a:ext cx="225856" cy="225856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1608429" y="4144975"/>
            <a:ext cx="2953512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管理台 · 能力与知识 · 业务工具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05375" y="4318711"/>
            <a:ext cx="1172718" cy="3127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951829" y="4144975"/>
            <a:ext cx="2432303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384133" y="4144975"/>
            <a:ext cx="2093518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承载我们的业务、数据和交付方式，是壁垒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13485" y="4892040"/>
            <a:ext cx="9694468" cy="660196"/>
          </a:xfrm>
          <a:prstGeom prst="roundRect">
            <a:avLst>
              <a:gd name="adj" fmla="val 1315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43787" y="5004968"/>
            <a:ext cx="434340" cy="434340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Picture 170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372" y="5113553"/>
            <a:ext cx="217170" cy="21717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608429" y="4892040"/>
            <a:ext cx="2953512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数据服务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605375" y="5065775"/>
            <a:ext cx="1172718" cy="312724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复用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951829" y="4892040"/>
            <a:ext cx="2432303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复用第一部分的数据平台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84133" y="4892040"/>
            <a:ext cx="2093518" cy="6601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已经有了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13485" y="5708599"/>
            <a:ext cx="96944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targe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595" y="5795467"/>
            <a:ext cx="260603" cy="260603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478127" y="5708599"/>
            <a:ext cx="895609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7F6F82"/>
                </a:solidFill>
                <a:latin typeface="微软雅黑"/>
                <a:ea typeface="微软雅黑"/>
              </a:rPr>
              <a:t>原则　</a:t>
            </a:r>
            <a:r>
              <a:rPr sz="1200" b="0">
                <a:solidFill>
                  <a:srgbClr val="3B3337"/>
                </a:solidFill>
                <a:latin typeface="微软雅黑"/>
                <a:ea typeface="微软雅黑"/>
              </a:rPr>
              <a:t>不碰重投入、非优势的部分；把钱和人放在“业务 + 数据 + 交付”上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295151" y="112347"/>
            <a:ext cx="3601392" cy="830525"/>
            <a:chOff x="2659221" y="1745433"/>
            <a:chExt cx="3601392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279440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029967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自建平台长什么样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数字大脑做管理台，底下接数据平台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颜色代表“怎么来”：自建 / 开源改造 / 采购合作 / 复用已有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47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68830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渠道入口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277313" y="2068830"/>
            <a:ext cx="919353" cy="382219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畅游小程序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266160" y="2068830"/>
            <a:ext cx="919353" cy="382219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票付通 APP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55008" y="2068830"/>
            <a:ext cx="919353" cy="382219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景数通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243855" y="2068830"/>
            <a:ext cx="919353" cy="382219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公众号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32702" y="2068830"/>
            <a:ext cx="919353" cy="382219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智慧终端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221550" y="2068830"/>
            <a:ext cx="919353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开放 API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3485" y="2520543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智能体应用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277313" y="252054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游客服务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463929" y="252054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景区管理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50546" y="252054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票务财务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837163" y="252054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安全调度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023780" y="252054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精准营销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13485" y="2972257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管理台 · 搭建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277313" y="2972257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模板库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463929" y="2972257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可视化编排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650546" y="2972257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配置化生成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837163" y="2972257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多智能体协同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023780" y="2972257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测试与发布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13485" y="3423969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管理台 · 运营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277313" y="3423969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多租户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463929" y="3423969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权限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650546" y="3423969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运行监控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837163" y="3423969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计量到景区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023780" y="3423969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13485" y="3875683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277313" y="387568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业务工具中心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463929" y="387568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景区知识库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650546" y="387568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游客记忆与画像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837163" y="3875683"/>
            <a:ext cx="1117122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测试用例库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023780" y="3875683"/>
            <a:ext cx="1117122" cy="382219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数据服务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13485" y="4327397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引擎层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277313" y="4327397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DE5EE"/>
          </a:solidFill>
          <a:ln w="12700">
            <a:solidFill>
              <a:srgbClr val="B9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6E5F72"/>
                </a:solidFill>
                <a:latin typeface="微软雅黑"/>
                <a:ea typeface="微软雅黑"/>
              </a:rPr>
              <a:t>编排引擎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760584" y="4327397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DE5EE"/>
          </a:solidFill>
          <a:ln w="12700">
            <a:solidFill>
              <a:srgbClr val="B9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6E5F72"/>
                </a:solidFill>
                <a:latin typeface="微软雅黑"/>
                <a:ea typeface="微软雅黑"/>
              </a:rPr>
              <a:t>检索引擎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243855" y="4327397"/>
            <a:ext cx="1413776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模型网关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727126" y="4327397"/>
            <a:ext cx="1413776" cy="382219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内容安全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13485" y="4779110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外部能力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277313" y="4779110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大模型 · 可替换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760584" y="4779110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语音 · 图像 · 数字人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243855" y="4779110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727126" y="4779110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9A5A4B"/>
                </a:solidFill>
                <a:latin typeface="微软雅黑"/>
                <a:ea typeface="微软雅黑"/>
              </a:rPr>
              <a:t>小Q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13485" y="5230824"/>
            <a:ext cx="1259586" cy="382219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数据底座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2277313" y="5230824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认证指标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760584" y="5230824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统一标签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243855" y="5230824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湖仓与实时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6727126" y="5230824"/>
            <a:ext cx="1413776" cy="382219"/>
          </a:xfrm>
          <a:prstGeom prst="roundRect">
            <a:avLst>
              <a:gd name="adj" fmla="val 18181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000" b="0">
                <a:solidFill>
                  <a:srgbClr val="7F6F82"/>
                </a:solidFill>
                <a:latin typeface="微软雅黑"/>
                <a:ea typeface="微软雅黑"/>
              </a:rPr>
              <a:t>交互数据回流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207818" y="2937510"/>
            <a:ext cx="6002578" cy="903427"/>
          </a:xfrm>
          <a:prstGeom prst="roundRect">
            <a:avLst>
              <a:gd name="adj" fmla="val 9615"/>
            </a:avLst>
          </a:prstGeom>
          <a:noFill/>
          <a:ln w="19050">
            <a:solidFill>
              <a:srgbClr val="B97A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913485" y="5734658"/>
            <a:ext cx="554024" cy="2432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自建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554378" y="5734658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EDE5EE"/>
          </a:solidFill>
          <a:ln w="12700">
            <a:solidFill>
              <a:srgbClr val="B9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6E5F72"/>
                </a:solidFill>
                <a:latin typeface="微软雅黑"/>
                <a:ea typeface="微软雅黑"/>
              </a:rPr>
              <a:t>开源改造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436571" y="5734658"/>
            <a:ext cx="935278" cy="243230"/>
          </a:xfrm>
          <a:prstGeom prst="roundRect">
            <a:avLst>
              <a:gd name="adj" fmla="val 50000"/>
            </a:avLst>
          </a:prstGeom>
          <a:solidFill>
            <a:srgbClr val="F6ECE8"/>
          </a:solidFill>
          <a:ln w="12700">
            <a:solidFill>
              <a:srgbClr val="E2C3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9A5A4B"/>
                </a:solidFill>
                <a:latin typeface="微软雅黑"/>
                <a:ea typeface="微软雅黑"/>
              </a:rPr>
              <a:t>采购 / 合作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458718" y="5734658"/>
            <a:ext cx="554024" cy="243230"/>
          </a:xfrm>
          <a:prstGeom prst="roundRect">
            <a:avLst>
              <a:gd name="adj" fmla="val 5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复用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4099610" y="5734658"/>
            <a:ext cx="795324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已有入口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068671" y="5734658"/>
            <a:ext cx="260603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1">
                <a:solidFill>
                  <a:srgbClr val="9A5A4B"/>
                </a:solidFill>
                <a:latin typeface="微软雅黑"/>
                <a:ea typeface="微软雅黑"/>
              </a:rPr>
              <a:t>橙色虚线框 = 数字大脑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401507" y="2068830"/>
            <a:ext cx="2206447" cy="3909059"/>
          </a:xfrm>
          <a:prstGeom prst="roundRect">
            <a:avLst>
              <a:gd name="adj" fmla="val 5511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575243" y="2155698"/>
            <a:ext cx="1945843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948496"/>
                </a:solidFill>
                <a:latin typeface="微软雅黑"/>
                <a:ea typeface="微软雅黑"/>
              </a:rPr>
              <a:t>前两步的积累，直接搬进来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8505748" y="2572664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景区知识</a:t>
            </a:r>
          </a:p>
        </p:txBody>
      </p:sp>
      <p:sp>
        <p:nvSpPr>
          <p:cNvPr id="197" name="Right Arrow 196"/>
          <p:cNvSpPr/>
          <p:nvPr/>
        </p:nvSpPr>
        <p:spPr>
          <a:xfrm>
            <a:off x="9322308" y="2711653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9496044" y="2572664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景区知识库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505748" y="3128619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业务接口</a:t>
            </a:r>
          </a:p>
        </p:txBody>
      </p:sp>
      <p:sp>
        <p:nvSpPr>
          <p:cNvPr id="200" name="Right Arrow 199"/>
          <p:cNvSpPr/>
          <p:nvPr/>
        </p:nvSpPr>
        <p:spPr>
          <a:xfrm>
            <a:off x="9322308" y="3267608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9496044" y="3128619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业务工具中心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505748" y="3684574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模板设计</a:t>
            </a:r>
          </a:p>
        </p:txBody>
      </p:sp>
      <p:sp>
        <p:nvSpPr>
          <p:cNvPr id="203" name="Right Arrow 202"/>
          <p:cNvSpPr/>
          <p:nvPr/>
        </p:nvSpPr>
        <p:spPr>
          <a:xfrm>
            <a:off x="9322308" y="3823563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9496044" y="3684574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模板库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8505748" y="4240530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交互数据</a:t>
            </a:r>
          </a:p>
        </p:txBody>
      </p:sp>
      <p:sp>
        <p:nvSpPr>
          <p:cNvPr id="206" name="Right Arrow 205"/>
          <p:cNvSpPr/>
          <p:nvPr/>
        </p:nvSpPr>
        <p:spPr>
          <a:xfrm>
            <a:off x="9322308" y="4379518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9496044" y="4240530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测试用例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8505748" y="4796485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成本记录</a:t>
            </a:r>
          </a:p>
        </p:txBody>
      </p:sp>
      <p:sp>
        <p:nvSpPr>
          <p:cNvPr id="209" name="Right Arrow 208"/>
          <p:cNvSpPr/>
          <p:nvPr/>
        </p:nvSpPr>
        <p:spPr>
          <a:xfrm>
            <a:off x="9322308" y="4935474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9496044" y="4796485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计量与定价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505748" y="5352440"/>
            <a:ext cx="781812" cy="4343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3B3337"/>
                </a:solidFill>
                <a:latin typeface="微软雅黑"/>
                <a:ea typeface="微软雅黑"/>
              </a:rPr>
              <a:t>需求清单</a:t>
            </a:r>
          </a:p>
        </p:txBody>
      </p:sp>
      <p:sp>
        <p:nvSpPr>
          <p:cNvPr id="212" name="Right Arrow 211"/>
          <p:cNvSpPr/>
          <p:nvPr/>
        </p:nvSpPr>
        <p:spPr>
          <a:xfrm>
            <a:off x="9322308" y="5491429"/>
            <a:ext cx="138988" cy="156362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9496044" y="5352440"/>
            <a:ext cx="1007668" cy="4343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首批功能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3965966" y="112347"/>
            <a:ext cx="4259761" cy="830525"/>
            <a:chOff x="2659221" y="1745433"/>
            <a:chExt cx="4259761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937809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688336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最终由自建平台统一承载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全景 22 个智能体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产品全景中已有 8 个、待建 14 个；加上可扩展的场景，都在一个平台上管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48  ·  AI＋数据平台 · 02  智能体平台</a:t>
            </a:r>
          </a:p>
        </p:txBody>
      </p:sp>
      <p:graphicFrame>
        <p:nvGraphicFramePr>
          <p:cNvPr id="141" name="Chart 140"/>
          <p:cNvGraphicFramePr>
            <a:graphicFrameLocks noGrp="1"/>
          </p:cNvGraphicFramePr>
          <p:nvPr/>
        </p:nvGraphicFramePr>
        <p:xfrm>
          <a:off x="1000353" y="2186101"/>
          <a:ext cx="2953512" cy="2953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1000353" y="3141649"/>
            <a:ext cx="2953512" cy="6080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3800" b="1">
                <a:solidFill>
                  <a:srgbClr val="7F6F82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0353" y="3706291"/>
            <a:ext cx="2953512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50" b="0">
                <a:solidFill>
                  <a:srgbClr val="7B7074"/>
                </a:solidFill>
                <a:latin typeface="微软雅黑"/>
                <a:ea typeface="微软雅黑"/>
              </a:rPr>
              <a:t>个全景智能体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30655" y="5269915"/>
            <a:ext cx="1259586" cy="538581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 已有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520543" y="5269915"/>
            <a:ext cx="1259586" cy="538581"/>
          </a:xfrm>
          <a:prstGeom prst="roundRect">
            <a:avLst>
              <a:gd name="adj" fmla="val 16129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7F6F82"/>
                </a:solidFill>
                <a:latin typeface="微软雅黑"/>
                <a:ea typeface="微软雅黑"/>
              </a:rPr>
              <a:t>14</a:t>
            </a:r>
            <a:r>
              <a:rPr sz="1050" b="0">
                <a:solidFill>
                  <a:srgbClr val="7F6F82"/>
                </a:solidFill>
                <a:latin typeface="微软雅黑"/>
                <a:ea typeface="微软雅黑"/>
              </a:rPr>
              <a:t> 待建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14468" y="2073173"/>
            <a:ext cx="6393484" cy="886053"/>
          </a:xfrm>
          <a:prstGeom prst="roundRect">
            <a:avLst>
              <a:gd name="adj" fmla="val 980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344771" y="2203475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smartpho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013" y="2307716"/>
            <a:ext cx="208483" cy="208483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4865979" y="2160041"/>
            <a:ext cx="1911095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畅游 AI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65979" y="2438019"/>
            <a:ext cx="1911095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面向游客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429602" y="2186101"/>
            <a:ext cx="673709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智能助手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155433" y="2186101"/>
            <a:ext cx="673709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智能客服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881263" y="2186101"/>
            <a:ext cx="673709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智能导览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607093" y="2186101"/>
            <a:ext cx="6037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伴游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262947" y="2186101"/>
            <a:ext cx="6037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旅拍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918801" y="2186101"/>
            <a:ext cx="432409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手语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429602" y="2498826"/>
            <a:ext cx="84503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AI 旅游规划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326757" y="2498826"/>
            <a:ext cx="84503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AI 智能购票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214468" y="3046095"/>
            <a:ext cx="6393484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344771" y="3176397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bra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013" y="3280638"/>
            <a:ext cx="208483" cy="208483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4865979" y="3132962"/>
            <a:ext cx="1911095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AI 数字大脑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65979" y="3410940"/>
            <a:ext cx="1911095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面向景区管理者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429602" y="3159023"/>
            <a:ext cx="8450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智能问数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326757" y="3159023"/>
            <a:ext cx="845032" cy="26060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智能洞察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223910" y="3159023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消息通知预警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191040" y="3159023"/>
            <a:ext cx="9150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工单调度处置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214468" y="3880027"/>
            <a:ext cx="6393484" cy="747064"/>
          </a:xfrm>
          <a:prstGeom prst="roundRect">
            <a:avLst>
              <a:gd name="adj" fmla="val 11627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344771" y="4010329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013" y="4114571"/>
            <a:ext cx="208483" cy="208483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4865979" y="3966895"/>
            <a:ext cx="1911095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智慧票务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865979" y="4244873"/>
            <a:ext cx="1911095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面向票务与财务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429602" y="3992956"/>
            <a:ext cx="1122527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票务 AI 运营助手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7604251" y="3992956"/>
            <a:ext cx="845032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AI 对账助手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214468" y="4713960"/>
            <a:ext cx="6393484" cy="886053"/>
          </a:xfrm>
          <a:prstGeom prst="roundRect">
            <a:avLst>
              <a:gd name="adj" fmla="val 9803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344771" y="4844262"/>
            <a:ext cx="416966" cy="416966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Picture 176" descr="sire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013" y="4948504"/>
            <a:ext cx="208483" cy="208483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4865979" y="4800828"/>
            <a:ext cx="1911095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B3337"/>
                </a:solidFill>
                <a:latin typeface="微软雅黑"/>
                <a:ea typeface="微软雅黑"/>
              </a:rPr>
              <a:t>景区 AI 调度中枢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65979" y="5078806"/>
            <a:ext cx="1911095" cy="2258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7B7074"/>
                </a:solidFill>
                <a:latin typeface="微软雅黑"/>
                <a:ea typeface="微软雅黑"/>
              </a:rPr>
              <a:t>面向安全调度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6429602" y="4826889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旅游安全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155433" y="4826889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秩序治理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7881263" y="4826889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车辆调度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607093" y="4826889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游船调度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9332924" y="4826889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森林防火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429602" y="51396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生态监测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155433" y="51396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气象服务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881263" y="5139613"/>
            <a:ext cx="673709" cy="2606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设施监测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214468" y="5730316"/>
            <a:ext cx="651509" cy="24323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已有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4952846" y="5730316"/>
            <a:ext cx="825246" cy="2432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0">
                <a:solidFill>
                  <a:srgbClr val="7F6F82"/>
                </a:solidFill>
                <a:latin typeface="微软雅黑"/>
                <a:ea typeface="微软雅黑"/>
              </a:rPr>
              <a:t>待建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951829" y="5730316"/>
            <a:ext cx="5212079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实心为已有，空心为待建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404878" y="112347"/>
            <a:ext cx="3381937" cy="830525"/>
            <a:chOff x="2659221" y="1745433"/>
            <a:chExt cx="3381937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059985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810512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自己建能省什么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成本、交付、定制、数据、风险、竞争力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对比第二步借平台和第三步自建平台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49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520543" y="2077516"/>
            <a:ext cx="2519172" cy="416966"/>
          </a:xfrm>
          <a:prstGeom prst="roundRect">
            <a:avLst>
              <a:gd name="adj" fmla="val 16666"/>
            </a:avLst>
          </a:prstGeom>
          <a:solidFill>
            <a:srgbClr val="F6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借平台（第二步）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126582" y="2077516"/>
            <a:ext cx="2519172" cy="416966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自建平台（第三步）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732623" y="2077516"/>
            <a:ext cx="2831896" cy="416966"/>
          </a:xfrm>
          <a:prstGeom prst="roundRect">
            <a:avLst>
              <a:gd name="adj" fmla="val 16666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7F6F82"/>
                </a:solidFill>
                <a:latin typeface="微软雅黑"/>
                <a:ea typeface="微软雅黑"/>
              </a:rPr>
              <a:t>对公司的影响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13485" y="2563977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coin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7" y="2711653"/>
            <a:ext cx="243230" cy="24323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391259" y="2563977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50845" y="2563977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按调用、账号计费，随景区数增长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56885" y="2563977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只付模型调用和自身运维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62924" y="2563977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单景区成本下降，规模越大利润越高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13485" y="3137306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tim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87" y="3284982"/>
            <a:ext cx="243230" cy="24323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391259" y="3137306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交付周期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50845" y="3137306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每个景区在外部平台单独配置、调试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256885" y="3137306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集团建一次，景区开通即用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62924" y="3137306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省交付人天，上线更快，承接更多景区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3485" y="3710635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puzzl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" y="3858310"/>
            <a:ext cx="243230" cy="24323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1391259" y="3710635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定制能力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50845" y="3710635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个性需求受平台限制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56885" y="3710635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按需自主扩展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862924" y="3710635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能接大客户和个性项目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13485" y="4283964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database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87" y="4431639"/>
            <a:ext cx="243230" cy="24323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391259" y="4283964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数据资产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650845" y="4283964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工作流、知识、对话数据在外部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56885" y="4283964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全部在自己手里，回流数据平台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62924" y="4283964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越用越准，数据成为资产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3485" y="4857292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7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shield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787" y="5004968"/>
            <a:ext cx="243230" cy="24323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391259" y="4857292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650845" y="4857292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平台调价、改规则直接影响报价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256885" y="4857292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自主可控，模型可替换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862924" y="4857292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经营稳定，报价有底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913485" y="5430621"/>
            <a:ext cx="9694468" cy="538581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crown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87" y="5578297"/>
            <a:ext cx="243230" cy="24323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391259" y="5430621"/>
            <a:ext cx="1042415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3B3337"/>
                </a:solidFill>
                <a:latin typeface="微软雅黑"/>
                <a:ea typeface="微软雅黑"/>
              </a:rPr>
              <a:t>竞争力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650845" y="5430621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同平台谁都能做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256885" y="5430621"/>
            <a:ext cx="2345436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业务系统 + 数据 + 平台一体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862924" y="5430621"/>
            <a:ext cx="2658160" cy="53858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形成壁垒，提高续约和客单价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怎么切过去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五步走，双轨运行、随时可退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不搞一刀切，用同一套测试题对比，达标才切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50  ·  AI＋数据平台 · 02  智能体平台</a:t>
            </a:r>
          </a:p>
        </p:txBody>
      </p:sp>
      <p:grpSp>
        <p:nvGrpSpPr>
          <p:cNvPr id="21000" name="素材 22"/>
          <p:cNvGrpSpPr/>
          <p:nvPr/>
        </p:nvGrpSpPr>
        <p:grpSpPr>
          <a:xfrm>
            <a:off x="1026413" y="2433590"/>
            <a:ext cx="8078724" cy="2499216"/>
            <a:chOff x="897064" y="2795992"/>
            <a:chExt cx="8850635" cy="2738013"/>
          </a:xfrm>
        </p:grpSpPr>
        <p:sp>
          <p:nvSpPr>
            <p:cNvPr id="210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94849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C4A39C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7F6F8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B97A6A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B97A6A"/>
              </a:solidFill>
              <a:prstDash val="solid"/>
              <a:round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0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0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grpSp>
          <p:nvGrpSpPr>
            <p:cNvPr id="210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0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  <p:sp>
            <p:nvSpPr>
              <p:cNvPr id="210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grpSp>
          <p:nvGrpSpPr>
            <p:cNvPr id="210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0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grpSp>
          <p:nvGrpSpPr>
            <p:cNvPr id="210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0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0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grpSp>
          <p:nvGrpSpPr>
            <p:cNvPr id="210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0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  <p:sp>
            <p:nvSpPr>
              <p:cNvPr id="210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sp>
          <p:nvSpPr>
            <p:cNvPr id="210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7F6F8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94849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C4A39C"/>
              </a:solidFill>
              <a:prstDash val="solid"/>
              <a:round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0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BBAFBD"/>
              </a:solidFill>
              <a:prstDash val="solid"/>
              <a:round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025" name="Picture 21024" descr="ro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648" y="3399340"/>
            <a:ext cx="434340" cy="434340"/>
          </a:xfrm>
          <a:prstGeom prst="rect">
            <a:avLst/>
          </a:prstGeom>
        </p:spPr>
      </p:pic>
      <p:sp>
        <p:nvSpPr>
          <p:cNvPr id="21026" name="TextBox 21025"/>
          <p:cNvSpPr txBox="1"/>
          <p:nvPr/>
        </p:nvSpPr>
        <p:spPr>
          <a:xfrm>
            <a:off x="2160669" y="2051541"/>
            <a:ext cx="1997963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01  核心先上</a:t>
            </a:r>
          </a:p>
        </p:txBody>
      </p:sp>
      <p:sp>
        <p:nvSpPr>
          <p:cNvPr id="21027" name="TextBox 21026"/>
          <p:cNvSpPr txBox="1"/>
          <p:nvPr/>
        </p:nvSpPr>
        <p:spPr>
          <a:xfrm>
            <a:off x="2160669" y="2364266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核心模块、主力智能体先上</a:t>
            </a:r>
          </a:p>
        </p:txBody>
      </p:sp>
      <p:pic>
        <p:nvPicPr>
          <p:cNvPr id="21028" name="Picture 21027" descr="scal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096" y="3399340"/>
            <a:ext cx="434340" cy="434340"/>
          </a:xfrm>
          <a:prstGeom prst="rect">
            <a:avLst/>
          </a:prstGeom>
        </p:spPr>
      </p:pic>
      <p:sp>
        <p:nvSpPr>
          <p:cNvPr id="21029" name="TextBox 21028"/>
          <p:cNvSpPr txBox="1"/>
          <p:nvPr/>
        </p:nvSpPr>
        <p:spPr>
          <a:xfrm>
            <a:off x="3713117" y="4555493"/>
            <a:ext cx="1997963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02  对比验证</a:t>
            </a:r>
          </a:p>
        </p:txBody>
      </p:sp>
      <p:sp>
        <p:nvSpPr>
          <p:cNvPr id="21030" name="TextBox 21029"/>
          <p:cNvSpPr txBox="1"/>
          <p:nvPr/>
        </p:nvSpPr>
        <p:spPr>
          <a:xfrm>
            <a:off x="3713117" y="4868217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同一套测试题，不低于成熟平台才切</a:t>
            </a:r>
          </a:p>
        </p:txBody>
      </p:sp>
      <p:pic>
        <p:nvPicPr>
          <p:cNvPr id="21031" name="Picture 21030" descr="user-plu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720" y="3399340"/>
            <a:ext cx="434340" cy="434340"/>
          </a:xfrm>
          <a:prstGeom prst="rect">
            <a:avLst/>
          </a:prstGeom>
        </p:spPr>
      </p:pic>
      <p:sp>
        <p:nvSpPr>
          <p:cNvPr id="21032" name="TextBox 21031"/>
          <p:cNvSpPr txBox="1"/>
          <p:nvPr/>
        </p:nvSpPr>
        <p:spPr>
          <a:xfrm>
            <a:off x="5269741" y="2051541"/>
            <a:ext cx="1997963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03  新增先上</a:t>
            </a:r>
          </a:p>
        </p:txBody>
      </p:sp>
      <p:sp>
        <p:nvSpPr>
          <p:cNvPr id="21033" name="TextBox 21032"/>
          <p:cNvSpPr txBox="1"/>
          <p:nvPr/>
        </p:nvSpPr>
        <p:spPr>
          <a:xfrm>
            <a:off x="5269741" y="2364266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新签景区直接上自建平台</a:t>
            </a:r>
          </a:p>
        </p:txBody>
      </p:sp>
      <p:pic>
        <p:nvPicPr>
          <p:cNvPr id="21034" name="Picture 21033" descr="repeat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516" y="3399340"/>
            <a:ext cx="434340" cy="434340"/>
          </a:xfrm>
          <a:prstGeom prst="rect">
            <a:avLst/>
          </a:prstGeom>
        </p:spPr>
      </p:pic>
      <p:sp>
        <p:nvSpPr>
          <p:cNvPr id="21035" name="TextBox 21034"/>
          <p:cNvSpPr txBox="1"/>
          <p:nvPr/>
        </p:nvSpPr>
        <p:spPr>
          <a:xfrm>
            <a:off x="6830537" y="4555493"/>
            <a:ext cx="1997963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04  存量随续约迁移</a:t>
            </a:r>
          </a:p>
        </p:txBody>
      </p:sp>
      <p:sp>
        <p:nvSpPr>
          <p:cNvPr id="21036" name="TextBox 21035"/>
          <p:cNvSpPr txBox="1"/>
          <p:nvPr/>
        </p:nvSpPr>
        <p:spPr>
          <a:xfrm>
            <a:off x="6830537" y="4868217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双轨运行、逐个迁移、可回退</a:t>
            </a:r>
          </a:p>
        </p:txBody>
      </p:sp>
      <p:pic>
        <p:nvPicPr>
          <p:cNvPr id="21037" name="Picture 21036" descr="layer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966" y="3399340"/>
            <a:ext cx="434340" cy="434340"/>
          </a:xfrm>
          <a:prstGeom prst="rect">
            <a:avLst/>
          </a:prstGeom>
        </p:spPr>
      </p:pic>
      <p:sp>
        <p:nvSpPr>
          <p:cNvPr id="21038" name="TextBox 21037"/>
          <p:cNvSpPr txBox="1"/>
          <p:nvPr/>
        </p:nvSpPr>
        <p:spPr>
          <a:xfrm>
            <a:off x="8382986" y="2051541"/>
            <a:ext cx="1997963" cy="3127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3B3337"/>
                </a:solidFill>
                <a:latin typeface="微软雅黑"/>
                <a:ea typeface="微软雅黑"/>
              </a:rPr>
              <a:t>05  成熟平台转补充</a:t>
            </a:r>
          </a:p>
        </p:txBody>
      </p:sp>
      <p:sp>
        <p:nvSpPr>
          <p:cNvPr id="21039" name="TextBox 21038"/>
          <p:cNvSpPr txBox="1"/>
          <p:nvPr/>
        </p:nvSpPr>
        <p:spPr>
          <a:xfrm>
            <a:off x="8382986" y="2364266"/>
            <a:ext cx="1997963" cy="4343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外部平台变成补充能力</a:t>
            </a:r>
          </a:p>
        </p:txBody>
      </p:sp>
      <p:sp>
        <p:nvSpPr>
          <p:cNvPr id="21040" name="Rounded Rectangle 21039"/>
          <p:cNvSpPr/>
          <p:nvPr/>
        </p:nvSpPr>
        <p:spPr>
          <a:xfrm>
            <a:off x="913485" y="5517404"/>
            <a:ext cx="9694468" cy="477773"/>
          </a:xfrm>
          <a:prstGeom prst="roundRect">
            <a:avLst>
              <a:gd name="adj" fmla="val 18181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41" name="Picture 21040" descr="shield-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595" y="5625989"/>
            <a:ext cx="260603" cy="260603"/>
          </a:xfrm>
          <a:prstGeom prst="rect">
            <a:avLst/>
          </a:prstGeom>
        </p:spPr>
      </p:pic>
      <p:sp>
        <p:nvSpPr>
          <p:cNvPr id="21042" name="TextBox 21041"/>
          <p:cNvSpPr txBox="1"/>
          <p:nvPr/>
        </p:nvSpPr>
        <p:spPr>
          <a:xfrm>
            <a:off x="1478127" y="5517404"/>
            <a:ext cx="8956090" cy="47777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  <a:latin typeface="微软雅黑"/>
                <a:ea typeface="微软雅黑"/>
              </a:rPr>
              <a:t>原则　</a:t>
            </a:r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每一步都可以回退；客户无感知迁移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风险与底线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风险怎么控，底线怎么守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自建有风险，提前想好应对；智能体有底线，从第一天就守住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51  ·  AI＋数据平台 · 02  智能体平台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090547"/>
            <a:ext cx="4716932" cy="3865626"/>
          </a:xfrm>
          <a:prstGeom prst="roundRect">
            <a:avLst>
              <a:gd name="adj" fmla="val 3146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triangle-alert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655" y="2229535"/>
            <a:ext cx="312724" cy="31272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521561" y="2194788"/>
            <a:ext cx="4021988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四个风险，四个应对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87220" y="2768117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60957" y="2820238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投入超预期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60957" y="3115589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→ 小团队先做核心模块，跟着迁移进度分批投入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87220" y="3549929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60957" y="3602049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效果不如成熟平台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0957" y="3897401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→ 迁移前用同一套测试题对比，达标才切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87220" y="4331741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60957" y="4383862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迁移影响客户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60957" y="4679213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→ 双轨运行、逐个迁移、可回退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87220" y="5113553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60957" y="5165673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A5A4B"/>
                </a:solidFill>
                <a:latin typeface="微软雅黑"/>
                <a:ea typeface="微软雅黑"/>
              </a:rPr>
              <a:t>团队能力不足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0957" y="5461025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→ 前两步就培养自己的 AI 应用团队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891021" y="2090547"/>
            <a:ext cx="4716932" cy="3865626"/>
          </a:xfrm>
          <a:prstGeom prst="roundRect">
            <a:avLst>
              <a:gd name="adj" fmla="val 3146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shield-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1" y="2229535"/>
            <a:ext cx="312724" cy="312724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6499097" y="2194788"/>
            <a:ext cx="4021988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四条底线，贯穿始终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064757" y="2768117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38494" y="2820238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只用授权数据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238494" y="3115589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数据按景区隔离，景区只看本景区数据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064757" y="3549929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238494" y="3602049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关键动作人工确认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238494" y="3897401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退款、调度等处置要人点确认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064757" y="4331741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238494" y="4383862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不碰敏感信息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38494" y="4679213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手机号、证件号不进对话和知识库，展示打码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064757" y="5113553"/>
            <a:ext cx="4369459" cy="677570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238494" y="5165673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不乱承诺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38494" y="5461025"/>
            <a:ext cx="4108856" cy="27797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F4ECEC"/>
                </a:solidFill>
                <a:latin typeface="微软雅黑"/>
                <a:ea typeface="微软雅黑"/>
              </a:rPr>
              <a:t>价格、退改以系统为准，答不了就转人工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 descr="D:\51PPT模板网\51pptmoban.com\图片.jpg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 descr="D:\51PPT模板网\51pptmoban.com\图片.jpg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 descr="D:\51PPT模板网\51pptmoban.com\图片.jpg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" name="文本框 4"/>
          <p:cNvSpPr txBox="1"/>
          <p:nvPr/>
        </p:nvSpPr>
        <p:spPr>
          <a:xfrm>
            <a:off x="2730499" y="2755382"/>
            <a:ext cx="6731002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7F6F82"/>
                </a:solidFill>
                <a:latin typeface="微软雅黑"/>
                <a:ea typeface="微软雅黑"/>
              </a:rPr>
              <a:t>数据在公司里转起来，越用越准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4417497" y="1792224"/>
            <a:ext cx="3356699" cy="830525"/>
            <a:chOff x="2659221" y="1745433"/>
            <a:chExt cx="3356699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034747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785274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8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AI＋数据平台</a:t>
              </a:r>
              <a:endParaRPr lang="zh-CN" altLang="en-US" sz="1600" b="1" dirty="0"/>
            </a:p>
          </p:txBody>
        </p:sp>
      </p:grpSp>
      <p:sp>
        <p:nvSpPr>
          <p:cNvPr id="159" name="Rounded Rectangle 158"/>
          <p:cNvSpPr/>
          <p:nvPr/>
        </p:nvSpPr>
        <p:spPr>
          <a:xfrm>
            <a:off x="2441448" y="3703320"/>
            <a:ext cx="7315200" cy="18288"/>
          </a:xfrm>
          <a:prstGeom prst="roundRect">
            <a:avLst>
              <a:gd name="adj" fmla="val 0"/>
            </a:avLst>
          </a:prstGeom>
          <a:solidFill>
            <a:srgbClr val="D5C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441448" y="379476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948496"/>
                </a:solidFill>
                <a:latin typeface="微软雅黑"/>
                <a:ea typeface="微软雅黑"/>
              </a:rPr>
              <a:t>这一部分讲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441448" y="4160520"/>
            <a:ext cx="2438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数据怎么流转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79847" y="4160520"/>
            <a:ext cx="2438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五个环节的闭环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318248" y="4160520"/>
            <a:ext cx="2438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3B3337"/>
                </a:solidFill>
                <a:latin typeface="微软雅黑"/>
                <a:ea typeface="微软雅黑"/>
              </a:rPr>
              <a:t>· 一张门票的例子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3965966" y="112347"/>
            <a:ext cx="4259761" cy="830525"/>
            <a:chOff x="2659221" y="1745433"/>
            <a:chExt cx="4259761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937809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688336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数据在公司里怎么转起来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产数 → 治数 → 办事 → 用数，再回流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数据平台让数据可信，智能体让数据办事；两者接上，形成一条完整的数据链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53  ·  AI＋数据平台 · 03  AI＋数据平台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1929841"/>
            <a:ext cx="134645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用数</a:t>
            </a: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游客 · 景区 · 内部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364181" y="1929841"/>
            <a:ext cx="209641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小程序 · 公众号 · 终端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530090" y="1929841"/>
            <a:ext cx="209641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景数通 · APP · SaaS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695998" y="1929841"/>
            <a:ext cx="209641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内部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管理层 · 业务线 · 小Q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364181" y="2607411"/>
            <a:ext cx="6428232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948496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③ 服务：智能体办事，报表和接口直接用数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13485" y="2902762"/>
            <a:ext cx="134645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办事</a:t>
            </a: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智能体 · 报表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364181" y="2902762"/>
            <a:ext cx="2096414" cy="677570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游客端智能体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客服 · 导览 · 伴游 · 旅拍 · 购票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30090" y="2902762"/>
            <a:ext cx="2096414" cy="677570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景区端智能体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问数 · 洞察 · 对账 · 预警 · 调度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695998" y="2902762"/>
            <a:ext cx="2096414" cy="677570"/>
          </a:xfrm>
          <a:prstGeom prst="roundRect">
            <a:avLst>
              <a:gd name="adj" fmla="val 1282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报表与接口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直接用数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64181" y="3580333"/>
            <a:ext cx="6428232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948496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② 供给：认证指标 · 统一标签 · 景区知识 · 数据服务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3485" y="3875684"/>
            <a:ext cx="134645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治数</a:t>
            </a: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数据平台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364181" y="3875684"/>
            <a:ext cx="1554937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统一接入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离线 + 实时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988612" y="3875684"/>
            <a:ext cx="1554937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湖仓公共模型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原料 → 成品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613044" y="3875684"/>
            <a:ext cx="1554937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指标 · 标签 · 知识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认证口径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237476" y="3875684"/>
            <a:ext cx="1554937" cy="67757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94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数据服务</a:t>
            </a:r>
          </a:p>
          <a:p>
            <a:pPr algn="ctr">
              <a:spcBef>
                <a:spcPts val="95"/>
              </a:spcBef>
            </a:pPr>
            <a:r>
              <a:rPr sz="900" b="0">
                <a:solidFill>
                  <a:srgbClr val="7F6F82"/>
                </a:solidFill>
                <a:latin typeface="微软雅黑"/>
                <a:ea typeface="微软雅黑"/>
              </a:rPr>
              <a:t>开放 API · 小Q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364181" y="4553254"/>
            <a:ext cx="6428232" cy="29535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0">
                <a:solidFill>
                  <a:srgbClr val="948496"/>
                </a:solidFill>
                <a:latin typeface="微软雅黑"/>
                <a:ea typeface="微软雅黑"/>
              </a:rPr>
              <a:t>▲ </a:t>
            </a:r>
            <a:r>
              <a:rPr sz="1100" b="1">
                <a:solidFill>
                  <a:srgbClr val="948496"/>
                </a:solidFill>
                <a:latin typeface="微软雅黑"/>
                <a:ea typeface="微软雅黑"/>
              </a:rPr>
              <a:t>① 生产入湖：交易 · 核销 · 客流 · 设备 · 会员 · 财务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3485" y="4848606"/>
            <a:ext cx="1346454" cy="677570"/>
          </a:xfrm>
          <a:prstGeom prst="roundRect">
            <a:avLst>
              <a:gd name="adj" fmla="val 12820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产数</a:t>
            </a:r>
          </a:p>
          <a:p>
            <a:pPr algn="ctr">
              <a:spcBef>
                <a:spcPts val="95"/>
              </a:spcBef>
            </a:pPr>
            <a:r>
              <a:rPr sz="950" b="0">
                <a:solidFill>
                  <a:srgbClr val="F4ECEC"/>
                </a:solidFill>
                <a:latin typeface="微软雅黑"/>
                <a:ea typeface="微软雅黑"/>
              </a:rPr>
              <a:t>业务系统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364181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票务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176397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九大业态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988612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运营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800828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613044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终端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425260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畅游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237476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会员营销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049691" y="4848606"/>
            <a:ext cx="742721" cy="677570"/>
          </a:xfrm>
          <a:prstGeom prst="roundRect">
            <a:avLst>
              <a:gd name="adj" fmla="val 1282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373" tIns="0" rIns="17373" bIns="0"/>
          <a:lstStyle/>
          <a:p>
            <a:pPr algn="ctr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数字大脑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966149" y="1929841"/>
            <a:ext cx="1641805" cy="3596335"/>
          </a:xfrm>
          <a:prstGeom prst="roundRect">
            <a:avLst>
              <a:gd name="adj" fmla="val 7407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096451" y="2034082"/>
            <a:ext cx="1381201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9A5A4B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096451" y="2407615"/>
            <a:ext cx="1381201" cy="13030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问答记录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游客评价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转人工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预警与工单结果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3B3337"/>
                </a:solidFill>
                <a:latin typeface="微软雅黑"/>
                <a:ea typeface="微软雅黑"/>
              </a:rPr>
              <a:t>使用行为</a:t>
            </a:r>
          </a:p>
        </p:txBody>
      </p:sp>
      <p:sp>
        <p:nvSpPr>
          <p:cNvPr id="169" name="Down Arrow 168"/>
          <p:cNvSpPr/>
          <p:nvPr/>
        </p:nvSpPr>
        <p:spPr>
          <a:xfrm>
            <a:off x="9674123" y="3754069"/>
            <a:ext cx="225856" cy="312724"/>
          </a:xfrm>
          <a:prstGeom prst="downArrow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96451" y="4144975"/>
            <a:ext cx="1381201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9A5A4B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96451" y="4518507"/>
            <a:ext cx="1381201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调定价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做营销</a:t>
            </a:r>
          </a:p>
          <a:p>
            <a:pPr algn="ctr">
              <a:lnSpc>
                <a:spcPct val="105000"/>
              </a:lnSpc>
              <a:spcBef>
                <a:spcPts val="95"/>
              </a:spcBef>
            </a:pPr>
            <a:r>
              <a:rPr sz="1100" b="0">
                <a:solidFill>
                  <a:srgbClr val="3B3337"/>
                </a:solidFill>
                <a:latin typeface="微软雅黑"/>
                <a:ea typeface="微软雅黑"/>
              </a:rPr>
              <a:t>优化调度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13485" y="5682538"/>
            <a:ext cx="9694468" cy="434340"/>
          </a:xfrm>
          <a:prstGeom prst="roundRect">
            <a:avLst>
              <a:gd name="adj" fmla="val 20000"/>
            </a:avLst>
          </a:prstGeom>
          <a:solidFill>
            <a:srgbClr val="EE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shield-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5769406"/>
            <a:ext cx="260603" cy="260603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478127" y="5682538"/>
            <a:ext cx="8956090" cy="4343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7F6F82"/>
                </a:solidFill>
                <a:latin typeface="微软雅黑"/>
                <a:ea typeface="微软雅黑"/>
              </a:rPr>
              <a:t>底座　</a:t>
            </a:r>
            <a:r>
              <a:rPr sz="1150" b="0">
                <a:solidFill>
                  <a:srgbClr val="3B3337"/>
                </a:solidFill>
                <a:latin typeface="微软雅黑"/>
                <a:ea typeface="微软雅黑"/>
              </a:rPr>
              <a:t>DataWorks · 数据地图 · 资产治理，治理贯穿全程；智能体前期借平台，后期自建管理台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185422" y="112347"/>
            <a:ext cx="3820849" cy="830525"/>
            <a:chOff x="2659221" y="1745433"/>
            <a:chExt cx="3820849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3498897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2249424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五个环节转成一个圈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每转一圈，数据更全、更准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54  ·  AI＋数据平台 · 03  AI＋数据平台</a:t>
            </a:r>
          </a:p>
        </p:txBody>
      </p:sp>
      <p:grpSp>
        <p:nvGrpSpPr>
          <p:cNvPr id="20800" name="素材 30"/>
          <p:cNvGrpSpPr/>
          <p:nvPr/>
        </p:nvGrpSpPr>
        <p:grpSpPr>
          <a:xfrm>
            <a:off x="913485" y="2441253"/>
            <a:ext cx="7470648" cy="2751947"/>
            <a:chOff x="991320" y="2358345"/>
            <a:chExt cx="9455150" cy="3482975"/>
          </a:xfrm>
        </p:grpSpPr>
        <p:sp>
          <p:nvSpPr>
            <p:cNvPr id="20801" name="Freeform 6"/>
            <p:cNvSpPr>
              <a:spLocks noEditPoints="1"/>
            </p:cNvSpPr>
            <p:nvPr/>
          </p:nvSpPr>
          <p:spPr bwMode="auto">
            <a:xfrm>
              <a:off x="139772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948496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802" name="Freeform 7"/>
            <p:cNvSpPr>
              <a:spLocks noEditPoints="1"/>
            </p:cNvSpPr>
            <p:nvPr/>
          </p:nvSpPr>
          <p:spPr bwMode="auto">
            <a:xfrm>
              <a:off x="316937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C4A39C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803" name="Freeform 8"/>
            <p:cNvSpPr>
              <a:spLocks noEditPoints="1"/>
            </p:cNvSpPr>
            <p:nvPr/>
          </p:nvSpPr>
          <p:spPr bwMode="auto">
            <a:xfrm>
              <a:off x="4942607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2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5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7F6F82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3B3337"/>
                </a:solidFill>
              </a:endParaRPr>
            </a:p>
          </p:txBody>
        </p:sp>
        <p:sp>
          <p:nvSpPr>
            <p:cNvPr id="20804" name="Freeform 9"/>
            <p:cNvSpPr>
              <a:spLocks noEditPoints="1"/>
            </p:cNvSpPr>
            <p:nvPr/>
          </p:nvSpPr>
          <p:spPr bwMode="auto">
            <a:xfrm>
              <a:off x="6714257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7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4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4" y="87"/>
                  </a:cubicBezTo>
                  <a:close/>
                </a:path>
              </a:pathLst>
            </a:custGeom>
            <a:solidFill>
              <a:srgbClr val="B97A6A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805" name="Freeform 10"/>
            <p:cNvSpPr>
              <a:spLocks noEditPoints="1"/>
            </p:cNvSpPr>
            <p:nvPr/>
          </p:nvSpPr>
          <p:spPr bwMode="auto">
            <a:xfrm>
              <a:off x="8487495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6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6" y="158"/>
                    <a:pt x="86" y="245"/>
                  </a:cubicBezTo>
                  <a:cubicBezTo>
                    <a:pt x="86" y="332"/>
                    <a:pt x="157" y="403"/>
                    <a:pt x="244" y="403"/>
                  </a:cubicBezTo>
                  <a:cubicBezTo>
                    <a:pt x="331" y="403"/>
                    <a:pt x="402" y="332"/>
                    <a:pt x="402" y="245"/>
                  </a:cubicBezTo>
                  <a:cubicBezTo>
                    <a:pt x="402" y="158"/>
                    <a:pt x="331" y="87"/>
                    <a:pt x="244" y="87"/>
                  </a:cubicBezTo>
                  <a:close/>
                </a:path>
              </a:pathLst>
            </a:custGeom>
            <a:solidFill>
              <a:srgbClr val="BBAFBD"/>
            </a:solidFill>
            <a:ln>
              <a:noFill/>
            </a:ln>
          </p:spPr>
          <p:txBody>
            <a:bodyPr vert="horz" wrap="square" lIns="86868" tIns="43434" rIns="86868" bIns="43434" numCol="1" anchor="t" anchorCtr="0" compatLnSpc="1"/>
            <a:lstStyle/>
            <a:p>
              <a:endParaRPr lang="en-US">
                <a:solidFill>
                  <a:srgbClr val="3B3337"/>
                </a:solidFill>
              </a:endParaRPr>
            </a:p>
          </p:txBody>
        </p:sp>
        <p:grpSp>
          <p:nvGrpSpPr>
            <p:cNvPr id="20806" name="Group 3"/>
            <p:cNvGrpSpPr/>
            <p:nvPr/>
          </p:nvGrpSpPr>
          <p:grpSpPr>
            <a:xfrm>
              <a:off x="991320" y="4633233"/>
              <a:ext cx="2355850" cy="1208087"/>
              <a:chOff x="1370013" y="4633233"/>
              <a:chExt cx="2355850" cy="1208087"/>
            </a:xfrm>
          </p:grpSpPr>
          <p:sp>
            <p:nvSpPr>
              <p:cNvPr id="20807" name="Freeform 11"/>
              <p:cNvSpPr/>
              <p:nvPr/>
            </p:nvSpPr>
            <p:spPr bwMode="auto">
              <a:xfrm>
                <a:off x="13700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08" name="Oval 12"/>
              <p:cNvSpPr>
                <a:spLocks noChangeArrowheads="1"/>
              </p:cNvSpPr>
              <p:nvPr/>
            </p:nvSpPr>
            <p:spPr bwMode="auto">
              <a:xfrm>
                <a:off x="2481263" y="5326970"/>
                <a:ext cx="136525" cy="136525"/>
              </a:xfrm>
              <a:prstGeom prst="ellipse">
                <a:avLst/>
              </a:pr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09" name="Freeform 13"/>
              <p:cNvSpPr/>
              <p:nvPr/>
            </p:nvSpPr>
            <p:spPr bwMode="auto">
              <a:xfrm>
                <a:off x="2503488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948496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10" name="Group 26"/>
            <p:cNvGrpSpPr/>
            <p:nvPr/>
          </p:nvGrpSpPr>
          <p:grpSpPr>
            <a:xfrm>
              <a:off x="4539382" y="4633233"/>
              <a:ext cx="2355850" cy="1208087"/>
              <a:chOff x="4918075" y="4633233"/>
              <a:chExt cx="2355850" cy="1208087"/>
            </a:xfrm>
          </p:grpSpPr>
          <p:sp>
            <p:nvSpPr>
              <p:cNvPr id="20811" name="Freeform 14"/>
              <p:cNvSpPr/>
              <p:nvPr/>
            </p:nvSpPr>
            <p:spPr bwMode="auto">
              <a:xfrm>
                <a:off x="4918075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3 w 744"/>
                  <a:gd name="T3" fmla="*/ 27 h 316"/>
                  <a:gd name="T4" fmla="*/ 10 w 744"/>
                  <a:gd name="T5" fmla="*/ 25 h 316"/>
                  <a:gd name="T6" fmla="*/ 0 w 744"/>
                  <a:gd name="T7" fmla="*/ 31 h 316"/>
                  <a:gd name="T8" fmla="*/ 0 w 744"/>
                  <a:gd name="T9" fmla="*/ 0 h 316"/>
                  <a:gd name="T10" fmla="*/ 26 w 744"/>
                  <a:gd name="T11" fmla="*/ 17 h 316"/>
                  <a:gd name="T12" fmla="*/ 15 w 744"/>
                  <a:gd name="T13" fmla="*/ 23 h 316"/>
                  <a:gd name="T14" fmla="*/ 728 w 744"/>
                  <a:gd name="T15" fmla="*/ 24 h 316"/>
                  <a:gd name="T16" fmla="*/ 717 w 744"/>
                  <a:gd name="T17" fmla="*/ 19 h 316"/>
                  <a:gd name="T18" fmla="*/ 743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3" y="27"/>
                      <a:pt x="733" y="27"/>
                      <a:pt x="733" y="27"/>
                    </a:cubicBezTo>
                    <a:cubicBezTo>
                      <a:pt x="579" y="314"/>
                      <a:pt x="164" y="316"/>
                      <a:pt x="10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6" y="308"/>
                      <a:pt x="576" y="308"/>
                      <a:pt x="728" y="24"/>
                    </a:cubicBezTo>
                    <a:cubicBezTo>
                      <a:pt x="717" y="19"/>
                      <a:pt x="717" y="19"/>
                      <a:pt x="717" y="19"/>
                    </a:cubicBezTo>
                    <a:cubicBezTo>
                      <a:pt x="743" y="2"/>
                      <a:pt x="743" y="2"/>
                      <a:pt x="743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  <p:sp>
            <p:nvSpPr>
              <p:cNvPr id="20812" name="Oval 15"/>
              <p:cNvSpPr>
                <a:spLocks noChangeArrowheads="1"/>
              </p:cNvSpPr>
              <p:nvPr/>
            </p:nvSpPr>
            <p:spPr bwMode="auto">
              <a:xfrm>
                <a:off x="6026150" y="5326970"/>
                <a:ext cx="136525" cy="136525"/>
              </a:xfrm>
              <a:prstGeom prst="ellipse">
                <a:avLst/>
              </a:pr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  <p:sp>
            <p:nvSpPr>
              <p:cNvPr id="20813" name="Freeform 16"/>
              <p:cNvSpPr/>
              <p:nvPr/>
            </p:nvSpPr>
            <p:spPr bwMode="auto">
              <a:xfrm>
                <a:off x="6048375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7F6F82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</p:grpSp>
        <p:grpSp>
          <p:nvGrpSpPr>
            <p:cNvPr id="20814" name="Group 25"/>
            <p:cNvGrpSpPr/>
            <p:nvPr/>
          </p:nvGrpSpPr>
          <p:grpSpPr>
            <a:xfrm>
              <a:off x="2767732" y="2358345"/>
              <a:ext cx="2354263" cy="1204913"/>
              <a:chOff x="3146425" y="2358345"/>
              <a:chExt cx="2354263" cy="1204913"/>
            </a:xfrm>
          </p:grpSpPr>
          <p:sp>
            <p:nvSpPr>
              <p:cNvPr id="20815" name="Freeform 17"/>
              <p:cNvSpPr/>
              <p:nvPr/>
            </p:nvSpPr>
            <p:spPr bwMode="auto">
              <a:xfrm>
                <a:off x="3146425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0 w 744"/>
                  <a:gd name="T5" fmla="*/ 291 h 316"/>
                  <a:gd name="T6" fmla="*/ 0 w 744"/>
                  <a:gd name="T7" fmla="*/ 285 h 316"/>
                  <a:gd name="T8" fmla="*/ 0 w 744"/>
                  <a:gd name="T9" fmla="*/ 316 h 316"/>
                  <a:gd name="T10" fmla="*/ 26 w 744"/>
                  <a:gd name="T11" fmla="*/ 299 h 316"/>
                  <a:gd name="T12" fmla="*/ 15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4" y="0"/>
                      <a:pt x="10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5" y="294"/>
                      <a:pt x="15" y="294"/>
                      <a:pt x="15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16" name="Oval 18"/>
              <p:cNvSpPr>
                <a:spLocks noChangeArrowheads="1"/>
              </p:cNvSpPr>
              <p:nvPr/>
            </p:nvSpPr>
            <p:spPr bwMode="auto">
              <a:xfrm>
                <a:off x="4254500" y="2732995"/>
                <a:ext cx="134938" cy="139700"/>
              </a:xfrm>
              <a:prstGeom prst="ellipse">
                <a:avLst/>
              </a:pr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17" name="Freeform 19"/>
              <p:cNvSpPr/>
              <p:nvPr/>
            </p:nvSpPr>
            <p:spPr bwMode="auto">
              <a:xfrm>
                <a:off x="4276725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C4A39C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18" name="Group 27"/>
            <p:cNvGrpSpPr/>
            <p:nvPr/>
          </p:nvGrpSpPr>
          <p:grpSpPr>
            <a:xfrm>
              <a:off x="6303095" y="2358345"/>
              <a:ext cx="2354263" cy="1204913"/>
              <a:chOff x="6681788" y="2358345"/>
              <a:chExt cx="2354263" cy="1204913"/>
            </a:xfrm>
          </p:grpSpPr>
          <p:sp>
            <p:nvSpPr>
              <p:cNvPr id="20819" name="Freeform 20"/>
              <p:cNvSpPr/>
              <p:nvPr/>
            </p:nvSpPr>
            <p:spPr bwMode="auto">
              <a:xfrm>
                <a:off x="6681788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1 w 744"/>
                  <a:gd name="T5" fmla="*/ 291 h 316"/>
                  <a:gd name="T6" fmla="*/ 0 w 744"/>
                  <a:gd name="T7" fmla="*/ 285 h 316"/>
                  <a:gd name="T8" fmla="*/ 1 w 744"/>
                  <a:gd name="T9" fmla="*/ 316 h 316"/>
                  <a:gd name="T10" fmla="*/ 26 w 744"/>
                  <a:gd name="T11" fmla="*/ 299 h 316"/>
                  <a:gd name="T12" fmla="*/ 16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5" y="0"/>
                      <a:pt x="11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1" y="316"/>
                      <a:pt x="1" y="316"/>
                      <a:pt x="1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6" y="294"/>
                      <a:pt x="16" y="294"/>
                      <a:pt x="16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20" name="Oval 21"/>
              <p:cNvSpPr>
                <a:spLocks noChangeArrowheads="1"/>
              </p:cNvSpPr>
              <p:nvPr/>
            </p:nvSpPr>
            <p:spPr bwMode="auto">
              <a:xfrm>
                <a:off x="7789863" y="2732995"/>
                <a:ext cx="138113" cy="139700"/>
              </a:xfrm>
              <a:prstGeom prst="ellipse">
                <a:avLst/>
              </a:pr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821" name="Freeform 22"/>
              <p:cNvSpPr/>
              <p:nvPr/>
            </p:nvSpPr>
            <p:spPr bwMode="auto">
              <a:xfrm>
                <a:off x="7812088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B97A6A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0822" name="Group 29"/>
            <p:cNvGrpSpPr/>
            <p:nvPr/>
          </p:nvGrpSpPr>
          <p:grpSpPr>
            <a:xfrm>
              <a:off x="8090620" y="4633233"/>
              <a:ext cx="2355850" cy="1208087"/>
              <a:chOff x="8469313" y="4633233"/>
              <a:chExt cx="2355850" cy="1208087"/>
            </a:xfrm>
          </p:grpSpPr>
          <p:sp>
            <p:nvSpPr>
              <p:cNvPr id="20823" name="Freeform 24"/>
              <p:cNvSpPr/>
              <p:nvPr/>
            </p:nvSpPr>
            <p:spPr bwMode="auto">
              <a:xfrm>
                <a:off x="84693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BBAFBD"/>
              </a:solidFill>
              <a:ln>
                <a:noFill/>
              </a:ln>
            </p:spPr>
            <p:txBody>
              <a:bodyPr vert="horz" wrap="square" lIns="86868" tIns="43434" rIns="86868" bIns="43434" numCol="1" anchor="t" anchorCtr="0" compatLnSpc="1"/>
              <a:lstStyle/>
              <a:p>
                <a:endParaRPr lang="en-US">
                  <a:solidFill>
                    <a:srgbClr val="3B3337"/>
                  </a:solidFill>
                </a:endParaRPr>
              </a:p>
            </p:txBody>
          </p:sp>
          <p:grpSp>
            <p:nvGrpSpPr>
              <p:cNvPr id="20824" name="Group 28"/>
              <p:cNvGrpSpPr/>
              <p:nvPr/>
            </p:nvGrpSpPr>
            <p:grpSpPr>
              <a:xfrm>
                <a:off x="9580563" y="5114245"/>
                <a:ext cx="136525" cy="727075"/>
                <a:chOff x="9580563" y="5114245"/>
                <a:chExt cx="136525" cy="727075"/>
              </a:xfrm>
            </p:grpSpPr>
            <p:sp>
              <p:nvSpPr>
                <p:cNvPr id="20825" name="Freeform 23"/>
                <p:cNvSpPr/>
                <p:nvPr/>
              </p:nvSpPr>
              <p:spPr bwMode="auto">
                <a:xfrm>
                  <a:off x="9602788" y="5114245"/>
                  <a:ext cx="95250" cy="727075"/>
                </a:xfrm>
                <a:custGeom>
                  <a:avLst/>
                  <a:gdLst>
                    <a:gd name="T0" fmla="*/ 60 w 60"/>
                    <a:gd name="T1" fmla="*/ 54 h 458"/>
                    <a:gd name="T2" fmla="*/ 36 w 60"/>
                    <a:gd name="T3" fmla="*/ 54 h 458"/>
                    <a:gd name="T4" fmla="*/ 36 w 60"/>
                    <a:gd name="T5" fmla="*/ 404 h 458"/>
                    <a:gd name="T6" fmla="*/ 60 w 60"/>
                    <a:gd name="T7" fmla="*/ 404 h 458"/>
                    <a:gd name="T8" fmla="*/ 30 w 60"/>
                    <a:gd name="T9" fmla="*/ 458 h 458"/>
                    <a:gd name="T10" fmla="*/ 0 w 60"/>
                    <a:gd name="T11" fmla="*/ 404 h 458"/>
                    <a:gd name="T12" fmla="*/ 24 w 60"/>
                    <a:gd name="T13" fmla="*/ 404 h 458"/>
                    <a:gd name="T14" fmla="*/ 24 w 60"/>
                    <a:gd name="T15" fmla="*/ 54 h 458"/>
                    <a:gd name="T16" fmla="*/ 0 w 60"/>
                    <a:gd name="T17" fmla="*/ 54 h 458"/>
                    <a:gd name="T18" fmla="*/ 30 w 60"/>
                    <a:gd name="T19" fmla="*/ 0 h 458"/>
                    <a:gd name="T20" fmla="*/ 60 w 60"/>
                    <a:gd name="T21" fmla="*/ 54 h 458"/>
                    <a:gd name="T22" fmla="*/ 60 w 60"/>
                    <a:gd name="T23" fmla="*/ 54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0" h="458">
                      <a:moveTo>
                        <a:pt x="60" y="54"/>
                      </a:moveTo>
                      <a:lnTo>
                        <a:pt x="36" y="54"/>
                      </a:lnTo>
                      <a:lnTo>
                        <a:pt x="36" y="404"/>
                      </a:lnTo>
                      <a:lnTo>
                        <a:pt x="60" y="404"/>
                      </a:lnTo>
                      <a:lnTo>
                        <a:pt x="30" y="458"/>
                      </a:lnTo>
                      <a:lnTo>
                        <a:pt x="0" y="404"/>
                      </a:lnTo>
                      <a:lnTo>
                        <a:pt x="24" y="404"/>
                      </a:lnTo>
                      <a:lnTo>
                        <a:pt x="24" y="54"/>
                      </a:lnTo>
                      <a:lnTo>
                        <a:pt x="0" y="54"/>
                      </a:lnTo>
                      <a:lnTo>
                        <a:pt x="30" y="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close/>
                    </a:path>
                  </a:pathLst>
                </a:custGeom>
                <a:solidFill>
                  <a:srgbClr val="BBAFBD"/>
                </a:solidFill>
                <a:ln>
                  <a:noFill/>
                </a:ln>
              </p:spPr>
              <p:txBody>
                <a:bodyPr vert="horz" wrap="square" lIns="86868" tIns="43434" rIns="86868" bIns="43434" numCol="1" anchor="t" anchorCtr="0" compatLnSpc="1"/>
                <a:lstStyle/>
                <a:p>
                  <a:endParaRPr lang="en-US">
                    <a:solidFill>
                      <a:srgbClr val="3B3337"/>
                    </a:solidFill>
                  </a:endParaRPr>
                </a:p>
              </p:txBody>
            </p:sp>
            <p:sp>
              <p:nvSpPr>
                <p:cNvPr id="20826" name="Oval 25"/>
                <p:cNvSpPr>
                  <a:spLocks noChangeArrowheads="1"/>
                </p:cNvSpPr>
                <p:nvPr/>
              </p:nvSpPr>
              <p:spPr bwMode="auto">
                <a:xfrm>
                  <a:off x="9580563" y="5326970"/>
                  <a:ext cx="136525" cy="136525"/>
                </a:xfrm>
                <a:prstGeom prst="ellipse">
                  <a:avLst/>
                </a:prstGeom>
                <a:solidFill>
                  <a:srgbClr val="BBAFBD"/>
                </a:solidFill>
                <a:ln>
                  <a:noFill/>
                </a:ln>
              </p:spPr>
              <p:txBody>
                <a:bodyPr vert="horz" wrap="square" lIns="86868" tIns="43434" rIns="86868" bIns="43434" numCol="1" anchor="t" anchorCtr="0" compatLnSpc="1"/>
                <a:lstStyle/>
                <a:p>
                  <a:endParaRPr lang="en-US">
                    <a:solidFill>
                      <a:srgbClr val="3B3337"/>
                    </a:solidFill>
                  </a:endParaRPr>
                </a:p>
              </p:txBody>
            </p:sp>
          </p:grpSp>
        </p:grpSp>
      </p:grpSp>
      <p:pic>
        <p:nvPicPr>
          <p:cNvPr id="20827" name="Picture 20826" descr="factory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37" y="3613345"/>
            <a:ext cx="416966" cy="416966"/>
          </a:xfrm>
          <a:prstGeom prst="rect">
            <a:avLst/>
          </a:prstGeom>
        </p:spPr>
      </p:pic>
      <p:sp>
        <p:nvSpPr>
          <p:cNvPr id="20828" name="TextBox 20827"/>
          <p:cNvSpPr txBox="1"/>
          <p:nvPr/>
        </p:nvSpPr>
        <p:spPr>
          <a:xfrm>
            <a:off x="934006" y="5237890"/>
            <a:ext cx="1824228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① 生产</a:t>
            </a:r>
          </a:p>
        </p:txBody>
      </p:sp>
      <p:sp>
        <p:nvSpPr>
          <p:cNvPr id="20829" name="TextBox 20828"/>
          <p:cNvSpPr txBox="1"/>
          <p:nvPr/>
        </p:nvSpPr>
        <p:spPr>
          <a:xfrm>
            <a:off x="934006" y="5446373"/>
            <a:ext cx="1824228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各业务系统</a:t>
            </a:r>
          </a:p>
        </p:txBody>
      </p:sp>
      <p:pic>
        <p:nvPicPr>
          <p:cNvPr id="20830" name="Picture 20829" descr="shield-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249" y="3613345"/>
            <a:ext cx="416966" cy="416966"/>
          </a:xfrm>
          <a:prstGeom prst="rect">
            <a:avLst/>
          </a:prstGeom>
        </p:spPr>
      </p:pic>
      <p:sp>
        <p:nvSpPr>
          <p:cNvPr id="20831" name="TextBox 20830"/>
          <p:cNvSpPr txBox="1"/>
          <p:nvPr/>
        </p:nvSpPr>
        <p:spPr>
          <a:xfrm>
            <a:off x="2335618" y="1882486"/>
            <a:ext cx="1824228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② 治理</a:t>
            </a:r>
          </a:p>
        </p:txBody>
      </p:sp>
      <p:sp>
        <p:nvSpPr>
          <p:cNvPr id="20832" name="TextBox 20831"/>
          <p:cNvSpPr txBox="1"/>
          <p:nvPr/>
        </p:nvSpPr>
        <p:spPr>
          <a:xfrm>
            <a:off x="2335618" y="2090969"/>
            <a:ext cx="1824228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数据团队 · 数据平台</a:t>
            </a:r>
          </a:p>
        </p:txBody>
      </p:sp>
      <p:pic>
        <p:nvPicPr>
          <p:cNvPr id="20833" name="Picture 20832" descr="bot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861" y="3613345"/>
            <a:ext cx="416966" cy="416966"/>
          </a:xfrm>
          <a:prstGeom prst="rect">
            <a:avLst/>
          </a:prstGeom>
        </p:spPr>
      </p:pic>
      <p:sp>
        <p:nvSpPr>
          <p:cNvPr id="20834" name="TextBox 20833"/>
          <p:cNvSpPr txBox="1"/>
          <p:nvPr/>
        </p:nvSpPr>
        <p:spPr>
          <a:xfrm>
            <a:off x="3737230" y="5237890"/>
            <a:ext cx="1824228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③ 应用</a:t>
            </a:r>
          </a:p>
        </p:txBody>
      </p:sp>
      <p:sp>
        <p:nvSpPr>
          <p:cNvPr id="20835" name="TextBox 20834"/>
          <p:cNvSpPr txBox="1"/>
          <p:nvPr/>
        </p:nvSpPr>
        <p:spPr>
          <a:xfrm>
            <a:off x="3737230" y="5446373"/>
            <a:ext cx="1824228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智能体与各应用</a:t>
            </a:r>
          </a:p>
        </p:txBody>
      </p:sp>
      <p:pic>
        <p:nvPicPr>
          <p:cNvPr id="20836" name="Picture 20835" descr="refresh-cw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248" y="3613345"/>
            <a:ext cx="416966" cy="416966"/>
          </a:xfrm>
          <a:prstGeom prst="rect">
            <a:avLst/>
          </a:prstGeom>
        </p:spPr>
      </p:pic>
      <p:sp>
        <p:nvSpPr>
          <p:cNvPr id="20837" name="TextBox 20836"/>
          <p:cNvSpPr txBox="1"/>
          <p:nvPr/>
        </p:nvSpPr>
        <p:spPr>
          <a:xfrm>
            <a:off x="5131617" y="1882486"/>
            <a:ext cx="1824228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20838" name="TextBox 20837"/>
          <p:cNvSpPr txBox="1"/>
          <p:nvPr/>
        </p:nvSpPr>
        <p:spPr>
          <a:xfrm>
            <a:off x="5131617" y="2090969"/>
            <a:ext cx="1824228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自动回传，统一入湖</a:t>
            </a:r>
          </a:p>
        </p:txBody>
      </p:sp>
      <p:pic>
        <p:nvPicPr>
          <p:cNvPr id="20839" name="Picture 20838" descr="trending-up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860" y="3613345"/>
            <a:ext cx="416966" cy="416966"/>
          </a:xfrm>
          <a:prstGeom prst="rect">
            <a:avLst/>
          </a:prstGeom>
        </p:spPr>
      </p:pic>
      <p:sp>
        <p:nvSpPr>
          <p:cNvPr id="20840" name="TextBox 20839"/>
          <p:cNvSpPr txBox="1"/>
          <p:nvPr/>
        </p:nvSpPr>
        <p:spPr>
          <a:xfrm>
            <a:off x="6533229" y="5237890"/>
            <a:ext cx="1824228" cy="29535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20841" name="TextBox 20840"/>
          <p:cNvSpPr txBox="1"/>
          <p:nvPr/>
        </p:nvSpPr>
        <p:spPr>
          <a:xfrm>
            <a:off x="6533229" y="5446373"/>
            <a:ext cx="1824228" cy="2606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>
                <a:solidFill>
                  <a:srgbClr val="7B7074"/>
                </a:solidFill>
                <a:latin typeface="微软雅黑"/>
                <a:ea typeface="微软雅黑"/>
              </a:rPr>
              <a:t>业务线</a:t>
            </a:r>
          </a:p>
        </p:txBody>
      </p:sp>
      <p:sp>
        <p:nvSpPr>
          <p:cNvPr id="20842" name="Rounded Rectangle 20841"/>
          <p:cNvSpPr/>
          <p:nvPr/>
        </p:nvSpPr>
        <p:spPr>
          <a:xfrm>
            <a:off x="8601303" y="2024287"/>
            <a:ext cx="2006650" cy="3865626"/>
          </a:xfrm>
          <a:prstGeom prst="roundRect">
            <a:avLst>
              <a:gd name="adj" fmla="val 606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3" name="TextBox 20842"/>
          <p:cNvSpPr txBox="1"/>
          <p:nvPr/>
        </p:nvSpPr>
        <p:spPr>
          <a:xfrm>
            <a:off x="8775039" y="2111155"/>
            <a:ext cx="1746046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948496"/>
                </a:solidFill>
                <a:latin typeface="微软雅黑"/>
                <a:ea typeface="微软雅黑"/>
              </a:rPr>
              <a:t>每个环节产出什么</a:t>
            </a:r>
          </a:p>
        </p:txBody>
      </p:sp>
      <p:sp>
        <p:nvSpPr>
          <p:cNvPr id="20844" name="TextBox 20843"/>
          <p:cNvSpPr txBox="1"/>
          <p:nvPr/>
        </p:nvSpPr>
        <p:spPr>
          <a:xfrm>
            <a:off x="8775039" y="2510748"/>
            <a:ext cx="1746046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① 生产</a:t>
            </a:r>
          </a:p>
        </p:txBody>
      </p:sp>
      <p:sp>
        <p:nvSpPr>
          <p:cNvPr id="20845" name="TextBox 20844"/>
          <p:cNvSpPr txBox="1"/>
          <p:nvPr/>
        </p:nvSpPr>
        <p:spPr>
          <a:xfrm>
            <a:off x="8775039" y="2753978"/>
            <a:ext cx="1746046" cy="3648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B3337"/>
                </a:solidFill>
                <a:latin typeface="微软雅黑"/>
                <a:ea typeface="微软雅黑"/>
              </a:rPr>
              <a:t>交易、核销、客流、设备、会员、财务数据</a:t>
            </a:r>
          </a:p>
        </p:txBody>
      </p:sp>
      <p:sp>
        <p:nvSpPr>
          <p:cNvPr id="20846" name="TextBox 20845"/>
          <p:cNvSpPr txBox="1"/>
          <p:nvPr/>
        </p:nvSpPr>
        <p:spPr>
          <a:xfrm>
            <a:off x="8775039" y="3170945"/>
            <a:ext cx="1746046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② 治理</a:t>
            </a:r>
          </a:p>
        </p:txBody>
      </p:sp>
      <p:sp>
        <p:nvSpPr>
          <p:cNvPr id="20847" name="TextBox 20846"/>
          <p:cNvSpPr txBox="1"/>
          <p:nvPr/>
        </p:nvSpPr>
        <p:spPr>
          <a:xfrm>
            <a:off x="8775039" y="3414175"/>
            <a:ext cx="1746046" cy="3648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B3337"/>
                </a:solidFill>
                <a:latin typeface="微软雅黑"/>
                <a:ea typeface="微软雅黑"/>
              </a:rPr>
              <a:t>公共模型、认证指标、统一标签、景区知识</a:t>
            </a:r>
          </a:p>
        </p:txBody>
      </p:sp>
      <p:sp>
        <p:nvSpPr>
          <p:cNvPr id="20848" name="TextBox 20847"/>
          <p:cNvSpPr txBox="1"/>
          <p:nvPr/>
        </p:nvSpPr>
        <p:spPr>
          <a:xfrm>
            <a:off x="8775039" y="3831141"/>
            <a:ext cx="1746046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③ 应用</a:t>
            </a:r>
          </a:p>
        </p:txBody>
      </p:sp>
      <p:sp>
        <p:nvSpPr>
          <p:cNvPr id="20849" name="TextBox 20848"/>
          <p:cNvSpPr txBox="1"/>
          <p:nvPr/>
        </p:nvSpPr>
        <p:spPr>
          <a:xfrm>
            <a:off x="8775039" y="4074372"/>
            <a:ext cx="1746046" cy="3648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B3337"/>
                </a:solidFill>
                <a:latin typeface="微软雅黑"/>
                <a:ea typeface="微软雅黑"/>
              </a:rPr>
              <a:t>游客服务、经营分析、运营提效、预警调度</a:t>
            </a:r>
          </a:p>
        </p:txBody>
      </p:sp>
      <p:sp>
        <p:nvSpPr>
          <p:cNvPr id="20850" name="TextBox 20849"/>
          <p:cNvSpPr txBox="1"/>
          <p:nvPr/>
        </p:nvSpPr>
        <p:spPr>
          <a:xfrm>
            <a:off x="8775039" y="4491338"/>
            <a:ext cx="1746046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F6F82"/>
                </a:solidFill>
                <a:latin typeface="微软雅黑"/>
                <a:ea typeface="微软雅黑"/>
              </a:rPr>
              <a:t>④ 回流</a:t>
            </a:r>
          </a:p>
        </p:txBody>
      </p:sp>
      <p:sp>
        <p:nvSpPr>
          <p:cNvPr id="20851" name="TextBox 20850"/>
          <p:cNvSpPr txBox="1"/>
          <p:nvPr/>
        </p:nvSpPr>
        <p:spPr>
          <a:xfrm>
            <a:off x="8775039" y="4734569"/>
            <a:ext cx="1746046" cy="3648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B3337"/>
                </a:solidFill>
                <a:latin typeface="微软雅黑"/>
                <a:ea typeface="微软雅黑"/>
              </a:rPr>
              <a:t>问答、评价、转人工、工单结果、使用行为</a:t>
            </a:r>
          </a:p>
        </p:txBody>
      </p:sp>
      <p:sp>
        <p:nvSpPr>
          <p:cNvPr id="20852" name="TextBox 20851"/>
          <p:cNvSpPr txBox="1"/>
          <p:nvPr/>
        </p:nvSpPr>
        <p:spPr>
          <a:xfrm>
            <a:off x="8775039" y="5151535"/>
            <a:ext cx="1746046" cy="2432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9A5A4B"/>
                </a:solidFill>
                <a:latin typeface="微软雅黑"/>
                <a:ea typeface="微软雅黑"/>
              </a:rPr>
              <a:t>⑤ 反哺</a:t>
            </a:r>
          </a:p>
        </p:txBody>
      </p:sp>
      <p:sp>
        <p:nvSpPr>
          <p:cNvPr id="20853" name="TextBox 20852"/>
          <p:cNvSpPr txBox="1"/>
          <p:nvPr/>
        </p:nvSpPr>
        <p:spPr>
          <a:xfrm>
            <a:off x="8775039" y="5394765"/>
            <a:ext cx="1746046" cy="36484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3B3337"/>
                </a:solidFill>
                <a:latin typeface="微软雅黑"/>
                <a:ea typeface="微软雅黑"/>
              </a:rPr>
              <a:t>调定价、圈人营销、优化预约与调度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举个例子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一张门票的数据旅程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游客买一张票，数据在公司里转一圈，景区和游客都受益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55  ·  AI＋数据平台 · 03  AI＋数据平台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07920"/>
            <a:ext cx="2026920" cy="1389888"/>
          </a:xfrm>
          <a:prstGeom prst="roundRect">
            <a:avLst>
              <a:gd name="adj" fmla="val 875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87220" y="2281656"/>
            <a:ext cx="364845" cy="36484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87220" y="2281656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pic>
        <p:nvPicPr>
          <p:cNvPr id="144" name="Picture 143" descr="ticke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97" y="2281656"/>
            <a:ext cx="330098" cy="33009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087220" y="2759430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买票入园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7220" y="3080842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售票 · 闸机核销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157575" y="2107920"/>
            <a:ext cx="2026920" cy="1389888"/>
          </a:xfrm>
          <a:prstGeom prst="roundRect">
            <a:avLst>
              <a:gd name="adj" fmla="val 875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31311" y="2281656"/>
            <a:ext cx="364845" cy="36484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331311" y="2281656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pic>
        <p:nvPicPr>
          <p:cNvPr id="150" name="Picture 149" descr="databas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87" y="2281656"/>
            <a:ext cx="330098" cy="33009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331311" y="2759430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数据进平台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31311" y="3080842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订单 · 核销 · 客流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01665" y="2107920"/>
            <a:ext cx="2026920" cy="1389888"/>
          </a:xfrm>
          <a:prstGeom prst="roundRect">
            <a:avLst>
              <a:gd name="adj" fmla="val 875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575401" y="2281656"/>
            <a:ext cx="364845" cy="36484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575401" y="2281656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pic>
        <p:nvPicPr>
          <p:cNvPr id="156" name="Picture 155" descr="chart-line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377" y="2281656"/>
            <a:ext cx="330098" cy="330098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5575401" y="2759430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算出指标和标签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75401" y="3080842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实时客流 · 游客偏好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01665" y="3801846"/>
            <a:ext cx="2026920" cy="1389888"/>
          </a:xfrm>
          <a:prstGeom prst="roundRect">
            <a:avLst>
              <a:gd name="adj" fmla="val 875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575401" y="3975582"/>
            <a:ext cx="364845" cy="36484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575401" y="3975582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pic>
        <p:nvPicPr>
          <p:cNvPr id="162" name="Picture 161" descr="bot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377" y="3975582"/>
            <a:ext cx="330098" cy="33009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5575401" y="4453356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智能体办事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75401" y="4774768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客流预警 · 二消推荐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157575" y="3801846"/>
            <a:ext cx="2026920" cy="1389888"/>
          </a:xfrm>
          <a:prstGeom prst="roundRect">
            <a:avLst>
              <a:gd name="adj" fmla="val 8750"/>
            </a:avLst>
          </a:prstGeom>
          <a:solidFill>
            <a:srgbClr val="F7F3F1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331311" y="3975582"/>
            <a:ext cx="364845" cy="364845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331311" y="3975582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pic>
        <p:nvPicPr>
          <p:cNvPr id="168" name="Picture 167" descr="refresh-cw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287" y="3975582"/>
            <a:ext cx="330098" cy="33009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3331311" y="4453356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结果回流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331311" y="4774768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处置结果 · 推荐转化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13485" y="3801846"/>
            <a:ext cx="2026920" cy="1389888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87220" y="3975582"/>
            <a:ext cx="364845" cy="364845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87220" y="3975582"/>
            <a:ext cx="364845" cy="364845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174" name="Picture 173" descr="trending-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9197" y="3975582"/>
            <a:ext cx="330098" cy="33009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1087220" y="4453356"/>
            <a:ext cx="17663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反哺业务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87220" y="4774768"/>
            <a:ext cx="1766315" cy="304037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F4ECEC"/>
                </a:solidFill>
                <a:latin typeface="微软雅黑"/>
                <a:ea typeface="微软雅黑"/>
              </a:rPr>
              <a:t>调预约 · 调营销</a:t>
            </a:r>
          </a:p>
        </p:txBody>
      </p:sp>
      <p:sp>
        <p:nvSpPr>
          <p:cNvPr id="177" name="Right Arrow 176"/>
          <p:cNvSpPr/>
          <p:nvPr/>
        </p:nvSpPr>
        <p:spPr>
          <a:xfrm>
            <a:off x="2957779" y="2715996"/>
            <a:ext cx="173736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eft Arrow 177"/>
          <p:cNvSpPr/>
          <p:nvPr/>
        </p:nvSpPr>
        <p:spPr>
          <a:xfrm>
            <a:off x="2957779" y="4409922"/>
            <a:ext cx="173736" cy="173736"/>
          </a:xfrm>
          <a:prstGeom prst="lef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ight Arrow 178"/>
          <p:cNvSpPr/>
          <p:nvPr/>
        </p:nvSpPr>
        <p:spPr>
          <a:xfrm>
            <a:off x="5201869" y="2715996"/>
            <a:ext cx="173736" cy="173736"/>
          </a:xfrm>
          <a:prstGeom prst="righ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Left Arrow 179"/>
          <p:cNvSpPr/>
          <p:nvPr/>
        </p:nvSpPr>
        <p:spPr>
          <a:xfrm>
            <a:off x="5201869" y="4409922"/>
            <a:ext cx="173736" cy="173736"/>
          </a:xfrm>
          <a:prstGeom prst="left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own Arrow 180"/>
          <p:cNvSpPr/>
          <p:nvPr/>
        </p:nvSpPr>
        <p:spPr>
          <a:xfrm>
            <a:off x="6328257" y="3523869"/>
            <a:ext cx="173736" cy="260603"/>
          </a:xfrm>
          <a:prstGeom prst="downArrow">
            <a:avLst/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913485" y="5434965"/>
            <a:ext cx="6515100" cy="521207"/>
          </a:xfrm>
          <a:prstGeom prst="roundRect">
            <a:avLst>
              <a:gd name="adj" fmla="val 16666"/>
            </a:avLst>
          </a:prstGeom>
          <a:solidFill>
            <a:srgbClr val="7F6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7170" tIns="0" bIns="0"/>
          <a:lstStyle/>
          <a:p>
            <a:pPr algn="l"/>
            <a:r>
              <a:rPr sz="1200" b="1">
                <a:solidFill>
                  <a:srgbClr val="F3D9CF"/>
                </a:solidFill>
                <a:latin typeface="微软雅黑"/>
                <a:ea typeface="微软雅黑"/>
              </a:rPr>
              <a:t>结果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游客体验更好 · 景区多卖钱、少出事 · 数据和智能体更准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819491" y="2047113"/>
            <a:ext cx="2788462" cy="3952494"/>
          </a:xfrm>
          <a:prstGeom prst="roundRect">
            <a:avLst>
              <a:gd name="adj" fmla="val 9968"/>
            </a:avLst>
          </a:prstGeom>
          <a:solidFill>
            <a:srgbClr val="3B3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7906359" y="2133981"/>
            <a:ext cx="2614726" cy="3778757"/>
          </a:xfrm>
          <a:prstGeom prst="roundRect">
            <a:avLst>
              <a:gd name="adj" fmla="val 8305"/>
            </a:avLst>
          </a:prstGeom>
          <a:solidFill>
            <a:srgbClr val="FA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8822817" y="2160040"/>
            <a:ext cx="781812" cy="104241"/>
          </a:xfrm>
          <a:prstGeom prst="roundRect">
            <a:avLst>
              <a:gd name="adj" fmla="val 50000"/>
            </a:avLst>
          </a:prstGeom>
          <a:solidFill>
            <a:srgbClr val="3B3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7906359" y="2351151"/>
            <a:ext cx="2614726" cy="53858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036661" y="2420645"/>
            <a:ext cx="382219" cy="382219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bo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2215" y="2516200"/>
            <a:ext cx="191109" cy="191109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8514434" y="2394584"/>
            <a:ext cx="1919782" cy="26060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>
                <a:solidFill>
                  <a:srgbClr val="3B3337"/>
                </a:solidFill>
                <a:latin typeface="微软雅黑"/>
                <a:ea typeface="微软雅黑"/>
              </a:rPr>
              <a:t>票付通 APP · 示意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514434" y="2637815"/>
            <a:ext cx="1919782" cy="19110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50" b="0">
                <a:solidFill>
                  <a:srgbClr val="8FA88F"/>
                </a:solidFill>
                <a:latin typeface="微软雅黑"/>
                <a:ea typeface="微软雅黑"/>
              </a:rPr>
              <a:t>● 消息通知预警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036661" y="3046095"/>
            <a:ext cx="2095689" cy="66019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【客流预警】东门入园排队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变长，预计 20 分钟后接近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预约上限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036661" y="3827906"/>
            <a:ext cx="1658635" cy="48646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建议：增开闸机，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引导游客从西门入园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8877833" y="4435983"/>
            <a:ext cx="1512951" cy="312724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收到，已派人处理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8036661" y="4870323"/>
            <a:ext cx="1804319" cy="48646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1615" tIns="52120" bIns="52120"/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已记录处置结果，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3B3337"/>
                </a:solidFill>
                <a:latin typeface="微软雅黑"/>
                <a:ea typeface="微软雅黑"/>
              </a:rPr>
              <a:t>明天的预约名额会参考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036661" y="5434965"/>
            <a:ext cx="2354122" cy="33009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210396" y="5434965"/>
            <a:ext cx="1746046" cy="3300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B3A7AB"/>
                </a:solidFill>
                <a:latin typeface="微软雅黑"/>
                <a:ea typeface="微软雅黑"/>
              </a:rPr>
              <a:t>有问题尽管问我…</a:t>
            </a:r>
          </a:p>
        </p:txBody>
      </p:sp>
      <p:sp>
        <p:nvSpPr>
          <p:cNvPr id="197" name="Oval 196"/>
          <p:cNvSpPr/>
          <p:nvPr/>
        </p:nvSpPr>
        <p:spPr>
          <a:xfrm>
            <a:off x="10086746" y="5461025"/>
            <a:ext cx="277977" cy="277977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sen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8867" y="5513146"/>
            <a:ext cx="173736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37" name="组合 136"/>
          <p:cNvGrpSpPr/>
          <p:nvPr/>
        </p:nvGrpSpPr>
        <p:grpSpPr>
          <a:xfrm>
            <a:off x="4574764" y="112347"/>
            <a:ext cx="3042166" cy="830525"/>
            <a:chOff x="2659221" y="1745433"/>
            <a:chExt cx="3042166" cy="830525"/>
          </a:xfrm>
        </p:grpSpPr>
        <p:sp>
          <p:nvSpPr>
            <p:cNvPr id="43" name="任意多边形: 形状 42"/>
            <p:cNvSpPr/>
            <p:nvPr/>
          </p:nvSpPr>
          <p:spPr>
            <a:xfrm rot="21040048" flipH="1">
              <a:off x="2981173" y="1745433"/>
              <a:ext cx="2720214" cy="830525"/>
            </a:xfrm>
            <a:custGeom>
              <a:avLst/>
              <a:gdLst>
                <a:gd name="csX0" fmla="*/ 374881 w 374881"/>
                <a:gd name="csY0" fmla="*/ 44357 h 146734"/>
                <a:gd name="csX1" fmla="*/ 355927 w 374881"/>
                <a:gd name="csY1" fmla="*/ 77409 h 146734"/>
                <a:gd name="csX2" fmla="*/ 328305 w 374881"/>
                <a:gd name="csY2" fmla="*/ 87124 h 146734"/>
                <a:gd name="csX3" fmla="*/ 110658 w 374881"/>
                <a:gd name="csY3" fmla="*/ 132844 h 146734"/>
                <a:gd name="csX4" fmla="*/ 60842 w 374881"/>
                <a:gd name="csY4" fmla="*/ 145322 h 146734"/>
                <a:gd name="csX5" fmla="*/ 24324 w 374881"/>
                <a:gd name="csY5" fmla="*/ 143630 h 146734"/>
                <a:gd name="csX6" fmla="*/ 694 w 374881"/>
                <a:gd name="csY6" fmla="*/ 120229 h 146734"/>
                <a:gd name="csX7" fmla="*/ 42958 w 374881"/>
                <a:gd name="csY7" fmla="*/ 74081 h 146734"/>
                <a:gd name="csX8" fmla="*/ 292300 w 374881"/>
                <a:gd name="csY8" fmla="*/ 828 h 146734"/>
                <a:gd name="csX9" fmla="*/ 348116 w 374881"/>
                <a:gd name="csY9" fmla="*/ 8734 h 146734"/>
                <a:gd name="csX10" fmla="*/ 374881 w 374881"/>
                <a:gd name="csY10" fmla="*/ 44357 h 146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4881" h="146734">
                  <a:moveTo>
                    <a:pt x="374881" y="44357"/>
                  </a:moveTo>
                  <a:cubicBezTo>
                    <a:pt x="374501" y="59788"/>
                    <a:pt x="367833" y="70741"/>
                    <a:pt x="355927" y="77409"/>
                  </a:cubicBezTo>
                  <a:cubicBezTo>
                    <a:pt x="347449" y="82076"/>
                    <a:pt x="337734" y="86267"/>
                    <a:pt x="328305" y="87124"/>
                  </a:cubicBezTo>
                  <a:cubicBezTo>
                    <a:pt x="254009" y="94268"/>
                    <a:pt x="182762" y="115604"/>
                    <a:pt x="110658" y="132844"/>
                  </a:cubicBezTo>
                  <a:cubicBezTo>
                    <a:pt x="93989" y="136845"/>
                    <a:pt x="75231" y="143524"/>
                    <a:pt x="60842" y="145322"/>
                  </a:cubicBezTo>
                  <a:cubicBezTo>
                    <a:pt x="46453" y="147120"/>
                    <a:pt x="34349" y="147812"/>
                    <a:pt x="24324" y="143630"/>
                  </a:cubicBezTo>
                  <a:cubicBezTo>
                    <a:pt x="14299" y="139448"/>
                    <a:pt x="1759" y="132183"/>
                    <a:pt x="694" y="120229"/>
                  </a:cubicBezTo>
                  <a:cubicBezTo>
                    <a:pt x="-367" y="108321"/>
                    <a:pt x="-5643" y="93981"/>
                    <a:pt x="42958" y="74081"/>
                  </a:cubicBezTo>
                  <a:cubicBezTo>
                    <a:pt x="91559" y="54181"/>
                    <a:pt x="211052" y="9781"/>
                    <a:pt x="292300" y="828"/>
                  </a:cubicBezTo>
                  <a:cubicBezTo>
                    <a:pt x="311445" y="-1268"/>
                    <a:pt x="330400" y="352"/>
                    <a:pt x="348116" y="8734"/>
                  </a:cubicBezTo>
                  <a:cubicBezTo>
                    <a:pt x="363452" y="16258"/>
                    <a:pt x="373834" y="27593"/>
                    <a:pt x="374881" y="44357"/>
                  </a:cubicBezTo>
                  <a:close/>
                </a:path>
              </a:pathLst>
            </a:custGeom>
            <a:solidFill>
              <a:srgbClr val="D8C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50" name="组合 49"/>
            <p:cNvGrpSpPr/>
            <p:nvPr/>
          </p:nvGrpSpPr>
          <p:grpSpPr>
            <a:xfrm>
              <a:off x="2659221" y="1851133"/>
              <a:ext cx="651400" cy="619125"/>
              <a:chOff x="2758849" y="2091584"/>
              <a:chExt cx="651400" cy="619125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758849" y="2091584"/>
                <a:ext cx="619125" cy="619125"/>
              </a:xfrm>
              <a:prstGeom prst="ellipse">
                <a:avLst/>
              </a:prstGeom>
              <a:solidFill>
                <a:srgbClr val="D1BAB4"/>
              </a:solidFill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783154" y="2137901"/>
                <a:ext cx="6270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sz="2000" dirty="0" b="1">
                    <a:solidFill>
                      <a:schemeClr val="bg1"/>
                    </a:solidFill>
                    <a:latin typeface="Arial"/>
                    <a:ea typeface="Arial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3401266" y="1983650"/>
              <a:ext cx="1470741" cy="338554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r>
                <a:rPr lang="zh-CN" altLang="en-US" sz="1600" b="1" dirty="0">
                  <a:solidFill>
                    <a:srgbClr val="3B3337"/>
                  </a:solidFill>
                  <a:latin typeface="微软雅黑"/>
                  <a:ea typeface="微软雅黑"/>
                </a:rPr>
                <a:t>接下来</a:t>
              </a:r>
              <a:endParaRPr lang="zh-CN" altLang="en-US" sz="1600" b="1" dirty="0"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097280" y="914400"/>
            <a:ext cx="999713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>
                <a:solidFill>
                  <a:srgbClr val="3B3337"/>
                </a:solidFill>
                <a:latin typeface="微软雅黑"/>
                <a:ea typeface="微软雅黑"/>
              </a:rPr>
              <a:t>先做三件事，需要您支持四件事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" y="1335024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0">
                <a:solidFill>
                  <a:srgbClr val="7B7074"/>
                </a:solidFill>
                <a:latin typeface="微软雅黑"/>
                <a:ea typeface="微软雅黑"/>
              </a:rPr>
              <a:t>先在一条主线、几家标杆景区上做出结果，再铺开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1480" y="6473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A39AA0"/>
                </a:solidFill>
                <a:latin typeface="微软雅黑"/>
                <a:ea typeface="微软雅黑"/>
              </a:rPr>
              <a:t>56  ·  AI＋数据平台 · 接下来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3485" y="2160041"/>
            <a:ext cx="52120" cy="208483"/>
          </a:xfrm>
          <a:prstGeom prst="roundRect">
            <a:avLst>
              <a:gd name="adj" fmla="val 0"/>
            </a:avLst>
          </a:prstGeom>
          <a:solidFill>
            <a:srgbClr val="94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2474" y="2090547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1">
                <a:solidFill>
                  <a:srgbClr val="948496"/>
                </a:solidFill>
                <a:latin typeface="微软雅黑"/>
                <a:ea typeface="微软雅黑"/>
              </a:rPr>
              <a:t>接下来先做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3485" y="2507513"/>
            <a:ext cx="5212079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87220" y="2681249"/>
            <a:ext cx="451713" cy="45171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49" y="2794177"/>
            <a:ext cx="225856" cy="22585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695297" y="2629128"/>
            <a:ext cx="434340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数据：主线试点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95297" y="2959227"/>
            <a:ext cx="4343400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“订单 → 核销 → 结算”定口径、上卡点、逐层核对</a:t>
            </a: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订单、核销实时链路建起来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3485" y="3662856"/>
            <a:ext cx="5212079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87220" y="3836593"/>
            <a:ext cx="451713" cy="45171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49" y="3949522"/>
            <a:ext cx="225856" cy="225856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695297" y="3784472"/>
            <a:ext cx="434340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智能体：标杆验证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95297" y="4114570"/>
            <a:ext cx="4343400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挑 2–3 家老客户做标杆，跑一个完整旺季</a:t>
            </a: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同时试“随票务打包”和“年费订阅”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13485" y="4818202"/>
            <a:ext cx="5212079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87220" y="4991938"/>
            <a:ext cx="451713" cy="451713"/>
          </a:xfrm>
          <a:prstGeom prst="ellipse">
            <a:avLst/>
          </a:prstGeom>
          <a:gradFill rotWithShape="1">
            <a:gsLst>
              <a:gs pos="0">
                <a:srgbClr val="7F6F82"/>
              </a:gs>
              <a:gs pos="100000">
                <a:srgbClr val="A08F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49" y="5104866"/>
            <a:ext cx="225856" cy="22585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695297" y="4939816"/>
            <a:ext cx="4343400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打通：统一取数、数据回流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95297" y="5269914"/>
            <a:ext cx="4343400" cy="53858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智能体统一从数据平台取数，交互数据回流</a:t>
            </a:r>
          </a:p>
          <a:p>
            <a:pPr algn="l">
              <a:lnSpc>
                <a:spcPct val="105000"/>
              </a:lnSpc>
              <a:spcBef>
                <a:spcPts val="95"/>
              </a:spcBef>
            </a:pPr>
            <a:r>
              <a:rPr sz="1050" b="0">
                <a:solidFill>
                  <a:srgbClr val="7B7074"/>
                </a:solidFill>
                <a:latin typeface="微软雅黑"/>
                <a:ea typeface="微软雅黑"/>
              </a:rPr>
              <a:t>· 知识、接口、模板、成本数据留在手里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386169" y="2090547"/>
            <a:ext cx="4221784" cy="3865626"/>
          </a:xfrm>
          <a:prstGeom prst="roundRect">
            <a:avLst>
              <a:gd name="adj" fmla="val 3146"/>
            </a:avLst>
          </a:prstGeom>
          <a:solidFill>
            <a:srgbClr val="F6ECE8"/>
          </a:solidFill>
          <a:ln w="12700">
            <a:solidFill>
              <a:srgbClr val="B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flag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39" y="2229535"/>
            <a:ext cx="312724" cy="31272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994245" y="2194788"/>
            <a:ext cx="3526840" cy="38221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9A5A4B"/>
                </a:solidFill>
                <a:latin typeface="微软雅黑"/>
                <a:ea typeface="微软雅黑"/>
              </a:rPr>
              <a:t>需要您支持</a:t>
            </a:r>
          </a:p>
        </p:txBody>
      </p:sp>
      <p:sp>
        <p:nvSpPr>
          <p:cNvPr id="161" name="Oval 160"/>
          <p:cNvSpPr/>
          <p:nvPr/>
        </p:nvSpPr>
        <p:spPr>
          <a:xfrm>
            <a:off x="6603339" y="2794177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03339" y="2794177"/>
            <a:ext cx="434340" cy="43434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11415" y="2724683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口径谁拍板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11415" y="3037408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成立数据治理小组，口径争议有人定</a:t>
            </a:r>
          </a:p>
        </p:txBody>
      </p:sp>
      <p:sp>
        <p:nvSpPr>
          <p:cNvPr id="165" name="Oval 164"/>
          <p:cNvSpPr/>
          <p:nvPr/>
        </p:nvSpPr>
        <p:spPr>
          <a:xfrm>
            <a:off x="6603339" y="3593363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603339" y="3593363"/>
            <a:ext cx="434340" cy="43434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211415" y="3523868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规范强制执行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11415" y="3836593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不合规的数据不上线，需公司层面授权</a:t>
            </a:r>
          </a:p>
        </p:txBody>
      </p:sp>
      <p:sp>
        <p:nvSpPr>
          <p:cNvPr id="169" name="Oval 168"/>
          <p:cNvSpPr/>
          <p:nvPr/>
        </p:nvSpPr>
        <p:spPr>
          <a:xfrm>
            <a:off x="6603339" y="4392548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603339" y="4392548"/>
            <a:ext cx="434340" cy="43434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11415" y="4323054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标杆与销售配合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211415" y="4635779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标杆景区配合试点；智能体纳入销售考核</a:t>
            </a:r>
          </a:p>
        </p:txBody>
      </p:sp>
      <p:sp>
        <p:nvSpPr>
          <p:cNvPr id="173" name="Oval 172"/>
          <p:cNvSpPr/>
          <p:nvPr/>
        </p:nvSpPr>
        <p:spPr>
          <a:xfrm>
            <a:off x="6603339" y="5191734"/>
            <a:ext cx="434340" cy="434340"/>
          </a:xfrm>
          <a:prstGeom prst="ellipse">
            <a:avLst/>
          </a:prstGeom>
          <a:solidFill>
            <a:srgbClr val="B9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603339" y="5191734"/>
            <a:ext cx="434340" cy="43434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211415" y="5122240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3B3337"/>
                </a:solidFill>
                <a:latin typeface="微软雅黑"/>
                <a:ea typeface="微软雅黑"/>
              </a:rPr>
              <a:t>自建时点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211415" y="5434965"/>
            <a:ext cx="3266236" cy="3127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7B7074"/>
                </a:solidFill>
                <a:latin typeface="微软雅黑"/>
                <a:ea typeface="微软雅黑"/>
              </a:rPr>
              <a:t>定期用成本数据评估，由您决策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8" name="任意多边形: 形状 157"/>
          <p:cNvSpPr/>
          <p:nvPr/>
        </p:nvSpPr>
        <p:spPr>
          <a:xfrm>
            <a:off x="4138364" y="2589079"/>
            <a:ext cx="8053637" cy="4268921"/>
          </a:xfrm>
          <a:custGeom>
            <a:avLst/>
            <a:gdLst>
              <a:gd name="csX0" fmla="*/ 8053637 w 8053637"/>
              <a:gd name="csY0" fmla="*/ 0 h 4268921"/>
              <a:gd name="csX1" fmla="*/ 8053637 w 8053637"/>
              <a:gd name="csY1" fmla="*/ 4268921 h 4268921"/>
              <a:gd name="csX2" fmla="*/ 0 w 8053637"/>
              <a:gd name="csY2" fmla="*/ 4268921 h 4268921"/>
              <a:gd name="csX3" fmla="*/ 24011 w 8053637"/>
              <a:gd name="csY3" fmla="*/ 4245969 h 4268921"/>
              <a:gd name="csX4" fmla="*/ 2249737 w 8053637"/>
              <a:gd name="csY4" fmla="*/ 2465521 h 4268921"/>
              <a:gd name="csX5" fmla="*/ 5234237 w 8053637"/>
              <a:gd name="csY5" fmla="*/ 2249621 h 4268921"/>
              <a:gd name="csX6" fmla="*/ 6428037 w 8053637"/>
              <a:gd name="csY6" fmla="*/ 598621 h 4268921"/>
              <a:gd name="csX7" fmla="*/ 8023842 w 8053637"/>
              <a:gd name="csY7" fmla="*/ 5746 h 4268921"/>
              <a:gd name="csX8" fmla="*/ 8053637 w 8053637"/>
              <a:gd name="csY8" fmla="*/ 0 h 426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53637" h="4268921">
                <a:moveTo>
                  <a:pt x="8053637" y="0"/>
                </a:moveTo>
                <a:lnTo>
                  <a:pt x="8053637" y="4268921"/>
                </a:lnTo>
                <a:lnTo>
                  <a:pt x="0" y="4268921"/>
                </a:lnTo>
                <a:lnTo>
                  <a:pt x="24011" y="4245969"/>
                </a:lnTo>
                <a:cubicBezTo>
                  <a:pt x="574661" y="3714843"/>
                  <a:pt x="1501628" y="2775084"/>
                  <a:pt x="2249737" y="2465521"/>
                </a:cubicBezTo>
                <a:cubicBezTo>
                  <a:pt x="3170487" y="2084521"/>
                  <a:pt x="4537854" y="2560771"/>
                  <a:pt x="5234237" y="2249621"/>
                </a:cubicBezTo>
                <a:cubicBezTo>
                  <a:pt x="5930620" y="1938471"/>
                  <a:pt x="5784570" y="966921"/>
                  <a:pt x="6428037" y="598621"/>
                </a:cubicBezTo>
                <a:cubicBezTo>
                  <a:pt x="6891587" y="264453"/>
                  <a:pt x="7440589" y="132045"/>
                  <a:pt x="8023842" y="5746"/>
                </a:cubicBezTo>
                <a:lnTo>
                  <a:pt x="8053637" y="0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5809026" cy="3416441"/>
          </a:xfrm>
          <a:custGeom>
            <a:avLst/>
            <a:gdLst>
              <a:gd name="csX0" fmla="*/ 0 w 5809026"/>
              <a:gd name="csY0" fmla="*/ 0 h 3416441"/>
              <a:gd name="csX1" fmla="*/ 5809026 w 5809026"/>
              <a:gd name="csY1" fmla="*/ 0 h 3416441"/>
              <a:gd name="csX2" fmla="*/ 5762644 w 5809026"/>
              <a:gd name="csY2" fmla="*/ 126590 h 3416441"/>
              <a:gd name="csX3" fmla="*/ 5029201 w 5809026"/>
              <a:gd name="csY3" fmla="*/ 990600 h 3416441"/>
              <a:gd name="csX4" fmla="*/ 2362200 w 5809026"/>
              <a:gd name="csY4" fmla="*/ 1244600 h 3416441"/>
              <a:gd name="csX5" fmla="*/ 1041400 w 5809026"/>
              <a:gd name="csY5" fmla="*/ 3225800 h 3416441"/>
              <a:gd name="csX6" fmla="*/ 112185 w 5809026"/>
              <a:gd name="csY6" fmla="*/ 3385418 h 3416441"/>
              <a:gd name="csX7" fmla="*/ 0 w 5809026"/>
              <a:gd name="csY7" fmla="*/ 3360127 h 34164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809026" h="3416441">
                <a:moveTo>
                  <a:pt x="0" y="0"/>
                </a:moveTo>
                <a:lnTo>
                  <a:pt x="5809026" y="0"/>
                </a:lnTo>
                <a:lnTo>
                  <a:pt x="5762644" y="126590"/>
                </a:lnTo>
                <a:cubicBezTo>
                  <a:pt x="5615831" y="488387"/>
                  <a:pt x="5406232" y="802746"/>
                  <a:pt x="5029201" y="990600"/>
                </a:cubicBezTo>
                <a:cubicBezTo>
                  <a:pt x="4425950" y="1291167"/>
                  <a:pt x="3026833" y="872067"/>
                  <a:pt x="2362200" y="1244600"/>
                </a:cubicBezTo>
                <a:cubicBezTo>
                  <a:pt x="1697567" y="1617133"/>
                  <a:pt x="1513417" y="2895600"/>
                  <a:pt x="1041400" y="3225800"/>
                </a:cubicBezTo>
                <a:cubicBezTo>
                  <a:pt x="746390" y="3432175"/>
                  <a:pt x="432775" y="3445074"/>
                  <a:pt x="112185" y="3385418"/>
                </a:cubicBezTo>
                <a:lnTo>
                  <a:pt x="0" y="3360127"/>
                </a:lnTo>
                <a:close/>
              </a:path>
            </a:pathLst>
          </a:custGeom>
          <a:solidFill>
            <a:srgbClr val="EBE7E4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2" name="任意多边形: 形状 151" descr="D:\51PPT模板网\51pptmoban.com\图片.jpg"/>
          <p:cNvSpPr/>
          <p:nvPr/>
        </p:nvSpPr>
        <p:spPr>
          <a:xfrm>
            <a:off x="0" y="1"/>
            <a:ext cx="4705768" cy="2772795"/>
          </a:xfrm>
          <a:custGeom>
            <a:avLst/>
            <a:gdLst>
              <a:gd name="csX0" fmla="*/ 0 w 4705768"/>
              <a:gd name="csY0" fmla="*/ 0 h 2772795"/>
              <a:gd name="csX1" fmla="*/ 4671937 w 4705768"/>
              <a:gd name="csY1" fmla="*/ 0 h 2772795"/>
              <a:gd name="csX2" fmla="*/ 4684550 w 4705768"/>
              <a:gd name="csY2" fmla="*/ 45800 h 2772795"/>
              <a:gd name="csX3" fmla="*/ 4574265 w 4705768"/>
              <a:gd name="csY3" fmla="*/ 473114 h 2772795"/>
              <a:gd name="csX4" fmla="*/ 1880708 w 4705768"/>
              <a:gd name="csY4" fmla="*/ 848299 h 2772795"/>
              <a:gd name="csX5" fmla="*/ 844725 w 4705768"/>
              <a:gd name="csY5" fmla="*/ 2724226 h 2772795"/>
              <a:gd name="csX6" fmla="*/ 67076 w 4705768"/>
              <a:gd name="csY6" fmla="*/ 2500881 h 2772795"/>
              <a:gd name="csX7" fmla="*/ 0 w 4705768"/>
              <a:gd name="csY7" fmla="*/ 2442900 h 2772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705768" h="2772795">
                <a:moveTo>
                  <a:pt x="0" y="0"/>
                </a:moveTo>
                <a:lnTo>
                  <a:pt x="4671937" y="0"/>
                </a:lnTo>
                <a:lnTo>
                  <a:pt x="4684550" y="45800"/>
                </a:lnTo>
                <a:cubicBezTo>
                  <a:pt x="4725190" y="220965"/>
                  <a:pt x="4717045" y="375409"/>
                  <a:pt x="4574265" y="473114"/>
                </a:cubicBezTo>
                <a:cubicBezTo>
                  <a:pt x="4117370" y="785768"/>
                  <a:pt x="2502299" y="473114"/>
                  <a:pt x="1880708" y="848299"/>
                </a:cubicBezTo>
                <a:cubicBezTo>
                  <a:pt x="1259119" y="1223484"/>
                  <a:pt x="1229898" y="2526212"/>
                  <a:pt x="844725" y="2724226"/>
                </a:cubicBezTo>
                <a:cubicBezTo>
                  <a:pt x="603992" y="2847985"/>
                  <a:pt x="339911" y="2721377"/>
                  <a:pt x="67076" y="2500881"/>
                </a:cubicBezTo>
                <a:lnTo>
                  <a:pt x="0" y="2442900"/>
                </a:lnTo>
                <a:close/>
              </a:path>
            </a:pathLst>
          </a:custGeom>
          <a:solidFill>
            <a:srgbClr val="D1B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50" name="任意多边形: 形状 149"/>
          <p:cNvSpPr/>
          <p:nvPr/>
        </p:nvSpPr>
        <p:spPr>
          <a:xfrm>
            <a:off x="4868894" y="3337556"/>
            <a:ext cx="7323106" cy="3520444"/>
          </a:xfrm>
          <a:custGeom>
            <a:avLst/>
            <a:gdLst>
              <a:gd name="csX0" fmla="*/ 7323106 w 7323106"/>
              <a:gd name="csY0" fmla="*/ 0 h 3520444"/>
              <a:gd name="csX1" fmla="*/ 7323106 w 7323106"/>
              <a:gd name="csY1" fmla="*/ 3520444 h 3520444"/>
              <a:gd name="csX2" fmla="*/ 0 w 7323106"/>
              <a:gd name="csY2" fmla="*/ 3520444 h 3520444"/>
              <a:gd name="csX3" fmla="*/ 134763 w 7323106"/>
              <a:gd name="csY3" fmla="*/ 3493289 h 3520444"/>
              <a:gd name="csX4" fmla="*/ 1011206 w 7323106"/>
              <a:gd name="csY4" fmla="*/ 3164844 h 3520444"/>
              <a:gd name="csX5" fmla="*/ 2535206 w 7323106"/>
              <a:gd name="csY5" fmla="*/ 1920244 h 3520444"/>
              <a:gd name="csX6" fmla="*/ 5481606 w 7323106"/>
              <a:gd name="csY6" fmla="*/ 1767844 h 3520444"/>
              <a:gd name="csX7" fmla="*/ 6154706 w 7323106"/>
              <a:gd name="csY7" fmla="*/ 218444 h 3520444"/>
              <a:gd name="csX8" fmla="*/ 7244525 w 7323106"/>
              <a:gd name="csY8" fmla="*/ 956 h 3520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323106" h="3520444">
                <a:moveTo>
                  <a:pt x="7323106" y="0"/>
                </a:moveTo>
                <a:lnTo>
                  <a:pt x="7323106" y="3520444"/>
                </a:lnTo>
                <a:lnTo>
                  <a:pt x="0" y="3520444"/>
                </a:lnTo>
                <a:lnTo>
                  <a:pt x="134763" y="3493289"/>
                </a:lnTo>
                <a:cubicBezTo>
                  <a:pt x="418953" y="3430833"/>
                  <a:pt x="708258" y="3338146"/>
                  <a:pt x="1011206" y="3164844"/>
                </a:cubicBezTo>
                <a:cubicBezTo>
                  <a:pt x="1495924" y="2887561"/>
                  <a:pt x="1790140" y="2153077"/>
                  <a:pt x="2535206" y="1920244"/>
                </a:cubicBezTo>
                <a:cubicBezTo>
                  <a:pt x="3280273" y="1687411"/>
                  <a:pt x="4878356" y="2051477"/>
                  <a:pt x="5481606" y="1767844"/>
                </a:cubicBezTo>
                <a:cubicBezTo>
                  <a:pt x="6084856" y="1484211"/>
                  <a:pt x="5621306" y="506311"/>
                  <a:pt x="6154706" y="218444"/>
                </a:cubicBezTo>
                <a:cubicBezTo>
                  <a:pt x="6421406" y="74511"/>
                  <a:pt x="6803994" y="16302"/>
                  <a:pt x="7244525" y="956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15" name="任意多边形: 形状 214"/>
          <p:cNvSpPr/>
          <p:nvPr/>
        </p:nvSpPr>
        <p:spPr>
          <a:xfrm>
            <a:off x="3936491" y="3276577"/>
            <a:ext cx="4319018" cy="699006"/>
          </a:xfrm>
          <a:custGeom>
            <a:avLst/>
            <a:gdLst>
              <a:gd name="csX0" fmla="*/ 2415778 w 2635182"/>
              <a:gd name="csY0" fmla="*/ 415234 h 506006"/>
              <a:gd name="csX1" fmla="*/ 2345198 w 2635182"/>
              <a:gd name="csY1" fmla="*/ 397994 h 506006"/>
              <a:gd name="csX2" fmla="*/ 2312051 w 2635182"/>
              <a:gd name="csY2" fmla="*/ 406947 h 506006"/>
              <a:gd name="csX3" fmla="*/ 2117170 w 2635182"/>
              <a:gd name="csY3" fmla="*/ 448190 h 506006"/>
              <a:gd name="csX4" fmla="*/ 2064401 w 2635182"/>
              <a:gd name="csY4" fmla="*/ 436380 h 506006"/>
              <a:gd name="csX5" fmla="*/ 1974866 w 2635182"/>
              <a:gd name="csY5" fmla="*/ 421616 h 506006"/>
              <a:gd name="csX6" fmla="*/ 1945910 w 2635182"/>
              <a:gd name="csY6" fmla="*/ 418377 h 506006"/>
              <a:gd name="csX7" fmla="*/ 1879902 w 2635182"/>
              <a:gd name="csY7" fmla="*/ 420187 h 506006"/>
              <a:gd name="csX8" fmla="*/ 1846374 w 2635182"/>
              <a:gd name="csY8" fmla="*/ 425235 h 506006"/>
              <a:gd name="csX9" fmla="*/ 1710547 w 2635182"/>
              <a:gd name="csY9" fmla="*/ 424950 h 506006"/>
              <a:gd name="csX10" fmla="*/ 1675019 w 2635182"/>
              <a:gd name="csY10" fmla="*/ 424473 h 506006"/>
              <a:gd name="csX11" fmla="*/ 1576340 w 2635182"/>
              <a:gd name="csY11" fmla="*/ 431236 h 506006"/>
              <a:gd name="csX12" fmla="*/ 1533954 w 2635182"/>
              <a:gd name="csY12" fmla="*/ 434093 h 506006"/>
              <a:gd name="csX13" fmla="*/ 1434798 w 2635182"/>
              <a:gd name="csY13" fmla="*/ 441999 h 506006"/>
              <a:gd name="csX14" fmla="*/ 1385554 w 2635182"/>
              <a:gd name="csY14" fmla="*/ 448095 h 506006"/>
              <a:gd name="csX15" fmla="*/ 1255919 w 2635182"/>
              <a:gd name="csY15" fmla="*/ 454001 h 506006"/>
              <a:gd name="csX16" fmla="*/ 1209056 w 2635182"/>
              <a:gd name="csY16" fmla="*/ 456572 h 506006"/>
              <a:gd name="csX17" fmla="*/ 1121331 w 2635182"/>
              <a:gd name="csY17" fmla="*/ 465240 h 506006"/>
              <a:gd name="csX18" fmla="*/ 1050084 w 2635182"/>
              <a:gd name="csY18" fmla="*/ 472193 h 506006"/>
              <a:gd name="csX19" fmla="*/ 893017 w 2635182"/>
              <a:gd name="csY19" fmla="*/ 463716 h 506006"/>
              <a:gd name="csX20" fmla="*/ 855297 w 2635182"/>
              <a:gd name="csY20" fmla="*/ 438284 h 506006"/>
              <a:gd name="csX21" fmla="*/ 818912 w 2635182"/>
              <a:gd name="csY21" fmla="*/ 442380 h 506006"/>
              <a:gd name="csX22" fmla="*/ 645271 w 2635182"/>
              <a:gd name="csY22" fmla="*/ 499626 h 506006"/>
              <a:gd name="csX23" fmla="*/ 484204 w 2635182"/>
              <a:gd name="csY23" fmla="*/ 449048 h 506006"/>
              <a:gd name="csX24" fmla="*/ 445056 w 2635182"/>
              <a:gd name="csY24" fmla="*/ 430664 h 506006"/>
              <a:gd name="csX25" fmla="*/ 406194 w 2635182"/>
              <a:gd name="csY25" fmla="*/ 434189 h 506006"/>
              <a:gd name="csX26" fmla="*/ 275701 w 2635182"/>
              <a:gd name="csY26" fmla="*/ 463145 h 506006"/>
              <a:gd name="csX27" fmla="*/ 245793 w 2635182"/>
              <a:gd name="csY27" fmla="*/ 470003 h 506006"/>
              <a:gd name="csX28" fmla="*/ 104061 w 2635182"/>
              <a:gd name="csY28" fmla="*/ 495720 h 506006"/>
              <a:gd name="csX29" fmla="*/ 810 w 2635182"/>
              <a:gd name="csY29" fmla="*/ 393612 h 506006"/>
              <a:gd name="csX30" fmla="*/ 3096 w 2635182"/>
              <a:gd name="csY30" fmla="*/ 350655 h 506006"/>
              <a:gd name="csX31" fmla="*/ 75962 w 2635182"/>
              <a:gd name="csY31" fmla="*/ 189396 h 506006"/>
              <a:gd name="csX32" fmla="*/ 178261 w 2635182"/>
              <a:gd name="csY32" fmla="*/ 112434 h 506006"/>
              <a:gd name="csX33" fmla="*/ 331232 w 2635182"/>
              <a:gd name="csY33" fmla="*/ 143009 h 506006"/>
              <a:gd name="csX34" fmla="*/ 354759 w 2635182"/>
              <a:gd name="csY34" fmla="*/ 155392 h 506006"/>
              <a:gd name="csX35" fmla="*/ 407908 w 2635182"/>
              <a:gd name="csY35" fmla="*/ 175109 h 506006"/>
              <a:gd name="csX36" fmla="*/ 481251 w 2635182"/>
              <a:gd name="csY36" fmla="*/ 162917 h 506006"/>
              <a:gd name="csX37" fmla="*/ 584311 w 2635182"/>
              <a:gd name="csY37" fmla="*/ 117006 h 506006"/>
              <a:gd name="csX38" fmla="*/ 618506 w 2635182"/>
              <a:gd name="csY38" fmla="*/ 106814 h 506006"/>
              <a:gd name="csX39" fmla="*/ 757666 w 2635182"/>
              <a:gd name="csY39" fmla="*/ 101957 h 506006"/>
              <a:gd name="csX40" fmla="*/ 780717 w 2635182"/>
              <a:gd name="csY40" fmla="*/ 111672 h 506006"/>
              <a:gd name="csX41" fmla="*/ 817197 w 2635182"/>
              <a:gd name="csY41" fmla="*/ 105005 h 506006"/>
              <a:gd name="csX42" fmla="*/ 946738 w 2635182"/>
              <a:gd name="csY42" fmla="*/ 74525 h 506006"/>
              <a:gd name="csX43" fmla="*/ 985790 w 2635182"/>
              <a:gd name="csY43" fmla="*/ 62333 h 506006"/>
              <a:gd name="csX44" fmla="*/ 1015222 w 2635182"/>
              <a:gd name="csY44" fmla="*/ 37092 h 506006"/>
              <a:gd name="csX45" fmla="*/ 1177623 w 2635182"/>
              <a:gd name="csY45" fmla="*/ 44330 h 506006"/>
              <a:gd name="csX46" fmla="*/ 1210294 w 2635182"/>
              <a:gd name="csY46" fmla="*/ 58427 h 506006"/>
              <a:gd name="csX47" fmla="*/ 1259062 w 2635182"/>
              <a:gd name="csY47" fmla="*/ 69191 h 506006"/>
              <a:gd name="csX48" fmla="*/ 1286971 w 2635182"/>
              <a:gd name="csY48" fmla="*/ 65762 h 506006"/>
              <a:gd name="csX49" fmla="*/ 1432417 w 2635182"/>
              <a:gd name="csY49" fmla="*/ 48998 h 506006"/>
              <a:gd name="csX50" fmla="*/ 1463659 w 2635182"/>
              <a:gd name="csY50" fmla="*/ 42616 h 506006"/>
              <a:gd name="csX51" fmla="*/ 1582341 w 2635182"/>
              <a:gd name="csY51" fmla="*/ 15946 h 506006"/>
              <a:gd name="csX52" fmla="*/ 1647492 w 2635182"/>
              <a:gd name="csY52" fmla="*/ 47664 h 506006"/>
              <a:gd name="csX53" fmla="*/ 1684068 w 2635182"/>
              <a:gd name="csY53" fmla="*/ 64619 h 506006"/>
              <a:gd name="csX54" fmla="*/ 1731883 w 2635182"/>
              <a:gd name="csY54" fmla="*/ 79287 h 506006"/>
              <a:gd name="csX55" fmla="*/ 1757029 w 2635182"/>
              <a:gd name="csY55" fmla="*/ 76430 h 506006"/>
              <a:gd name="csX56" fmla="*/ 1907048 w 2635182"/>
              <a:gd name="csY56" fmla="*/ 54617 h 506006"/>
              <a:gd name="csX57" fmla="*/ 1935623 w 2635182"/>
              <a:gd name="csY57" fmla="*/ 55760 h 506006"/>
              <a:gd name="csX58" fmla="*/ 2030111 w 2635182"/>
              <a:gd name="csY58" fmla="*/ 54998 h 506006"/>
              <a:gd name="csX59" fmla="*/ 2062020 w 2635182"/>
              <a:gd name="csY59" fmla="*/ 44997 h 506006"/>
              <a:gd name="csX60" fmla="*/ 2263474 w 2635182"/>
              <a:gd name="csY60" fmla="*/ 46997 h 506006"/>
              <a:gd name="csX61" fmla="*/ 2300716 w 2635182"/>
              <a:gd name="csY61" fmla="*/ 72143 h 506006"/>
              <a:gd name="csX62" fmla="*/ 2346817 w 2635182"/>
              <a:gd name="csY62" fmla="*/ 96337 h 506006"/>
              <a:gd name="csX63" fmla="*/ 2373964 w 2635182"/>
              <a:gd name="csY63" fmla="*/ 106148 h 506006"/>
              <a:gd name="csX64" fmla="*/ 2441115 w 2635182"/>
              <a:gd name="csY64" fmla="*/ 117673 h 506006"/>
              <a:gd name="csX65" fmla="*/ 2468261 w 2635182"/>
              <a:gd name="csY65" fmla="*/ 120626 h 506006"/>
              <a:gd name="csX66" fmla="*/ 2558082 w 2635182"/>
              <a:gd name="csY66" fmla="*/ 159297 h 506006"/>
              <a:gd name="csX67" fmla="*/ 2585895 w 2635182"/>
              <a:gd name="csY67" fmla="*/ 178633 h 506006"/>
              <a:gd name="csX68" fmla="*/ 2622185 w 2635182"/>
              <a:gd name="csY68" fmla="*/ 294743 h 506006"/>
              <a:gd name="csX69" fmla="*/ 2560178 w 2635182"/>
              <a:gd name="csY69" fmla="*/ 360560 h 506006"/>
              <a:gd name="csX70" fmla="*/ 2484168 w 2635182"/>
              <a:gd name="csY70" fmla="*/ 401994 h 506006"/>
              <a:gd name="csX71" fmla="*/ 2415778 w 2635182"/>
              <a:gd name="csY71" fmla="*/ 415234 h 5060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2635182" h="506006">
                <a:moveTo>
                  <a:pt x="2415778" y="415234"/>
                </a:moveTo>
                <a:cubicBezTo>
                  <a:pt x="2390537" y="416377"/>
                  <a:pt x="2368058" y="406280"/>
                  <a:pt x="2345198" y="397994"/>
                </a:cubicBezTo>
                <a:cubicBezTo>
                  <a:pt x="2327101" y="391422"/>
                  <a:pt x="2324624" y="391802"/>
                  <a:pt x="2312051" y="406947"/>
                </a:cubicBezTo>
                <a:cubicBezTo>
                  <a:pt x="2263378" y="465621"/>
                  <a:pt x="2184702" y="479051"/>
                  <a:pt x="2117170" y="448190"/>
                </a:cubicBezTo>
                <a:cubicBezTo>
                  <a:pt x="2100025" y="440380"/>
                  <a:pt x="2083070" y="435713"/>
                  <a:pt x="2064401" y="436380"/>
                </a:cubicBezTo>
                <a:cubicBezTo>
                  <a:pt x="2033635" y="437522"/>
                  <a:pt x="2003822" y="432665"/>
                  <a:pt x="1974866" y="421616"/>
                </a:cubicBezTo>
                <a:cubicBezTo>
                  <a:pt x="1966103" y="418282"/>
                  <a:pt x="1955626" y="418282"/>
                  <a:pt x="1945910" y="418377"/>
                </a:cubicBezTo>
                <a:cubicBezTo>
                  <a:pt x="1923907" y="418472"/>
                  <a:pt x="1901809" y="419044"/>
                  <a:pt x="1879902" y="420187"/>
                </a:cubicBezTo>
                <a:cubicBezTo>
                  <a:pt x="1868662" y="420854"/>
                  <a:pt x="1856756" y="421330"/>
                  <a:pt x="1846374" y="425235"/>
                </a:cubicBezTo>
                <a:cubicBezTo>
                  <a:pt x="1800844" y="442380"/>
                  <a:pt x="1755791" y="443904"/>
                  <a:pt x="1710547" y="424950"/>
                </a:cubicBezTo>
                <a:cubicBezTo>
                  <a:pt x="1698641" y="419997"/>
                  <a:pt x="1687021" y="419806"/>
                  <a:pt x="1675019" y="424473"/>
                </a:cubicBezTo>
                <a:cubicBezTo>
                  <a:pt x="1642825" y="437142"/>
                  <a:pt x="1610249" y="438475"/>
                  <a:pt x="1576340" y="431236"/>
                </a:cubicBezTo>
                <a:cubicBezTo>
                  <a:pt x="1562910" y="428378"/>
                  <a:pt x="1547194" y="429902"/>
                  <a:pt x="1533954" y="434093"/>
                </a:cubicBezTo>
                <a:cubicBezTo>
                  <a:pt x="1501188" y="444285"/>
                  <a:pt x="1468422" y="447619"/>
                  <a:pt x="1434798" y="441999"/>
                </a:cubicBezTo>
                <a:cubicBezTo>
                  <a:pt x="1417654" y="439142"/>
                  <a:pt x="1401461" y="441809"/>
                  <a:pt x="1385554" y="448095"/>
                </a:cubicBezTo>
                <a:cubicBezTo>
                  <a:pt x="1342978" y="464955"/>
                  <a:pt x="1299829" y="466859"/>
                  <a:pt x="1255919" y="454001"/>
                </a:cubicBezTo>
                <a:cubicBezTo>
                  <a:pt x="1240107" y="449429"/>
                  <a:pt x="1224963" y="450667"/>
                  <a:pt x="1209056" y="456572"/>
                </a:cubicBezTo>
                <a:cubicBezTo>
                  <a:pt x="1180862" y="467145"/>
                  <a:pt x="1151144" y="470003"/>
                  <a:pt x="1121331" y="465240"/>
                </a:cubicBezTo>
                <a:cubicBezTo>
                  <a:pt x="1096661" y="461240"/>
                  <a:pt x="1073896" y="462954"/>
                  <a:pt x="1050084" y="472193"/>
                </a:cubicBezTo>
                <a:cubicBezTo>
                  <a:pt x="997030" y="492768"/>
                  <a:pt x="943880" y="489434"/>
                  <a:pt x="893017" y="463716"/>
                </a:cubicBezTo>
                <a:cubicBezTo>
                  <a:pt x="879586" y="456953"/>
                  <a:pt x="867680" y="447047"/>
                  <a:pt x="855297" y="438284"/>
                </a:cubicBezTo>
                <a:cubicBezTo>
                  <a:pt x="838057" y="426093"/>
                  <a:pt x="831961" y="426759"/>
                  <a:pt x="818912" y="442380"/>
                </a:cubicBezTo>
                <a:cubicBezTo>
                  <a:pt x="772906" y="497530"/>
                  <a:pt x="714137" y="517532"/>
                  <a:pt x="645271" y="499626"/>
                </a:cubicBezTo>
                <a:cubicBezTo>
                  <a:pt x="590884" y="485528"/>
                  <a:pt x="537639" y="466669"/>
                  <a:pt x="484204" y="449048"/>
                </a:cubicBezTo>
                <a:cubicBezTo>
                  <a:pt x="470583" y="444571"/>
                  <a:pt x="458200" y="436570"/>
                  <a:pt x="445056" y="430664"/>
                </a:cubicBezTo>
                <a:cubicBezTo>
                  <a:pt x="431626" y="424664"/>
                  <a:pt x="419148" y="425807"/>
                  <a:pt x="406194" y="434189"/>
                </a:cubicBezTo>
                <a:cubicBezTo>
                  <a:pt x="366475" y="460192"/>
                  <a:pt x="323422" y="471336"/>
                  <a:pt x="275701" y="463145"/>
                </a:cubicBezTo>
                <a:cubicBezTo>
                  <a:pt x="266272" y="461526"/>
                  <a:pt x="253699" y="464478"/>
                  <a:pt x="245793" y="470003"/>
                </a:cubicBezTo>
                <a:cubicBezTo>
                  <a:pt x="202263" y="500578"/>
                  <a:pt x="154448" y="506674"/>
                  <a:pt x="104061" y="495720"/>
                </a:cubicBezTo>
                <a:cubicBezTo>
                  <a:pt x="54817" y="485052"/>
                  <a:pt x="6429" y="449619"/>
                  <a:pt x="810" y="393612"/>
                </a:cubicBezTo>
                <a:cubicBezTo>
                  <a:pt x="-619" y="379515"/>
                  <a:pt x="-333" y="364371"/>
                  <a:pt x="3096" y="350655"/>
                </a:cubicBezTo>
                <a:cubicBezTo>
                  <a:pt x="17574" y="292647"/>
                  <a:pt x="39291" y="237497"/>
                  <a:pt x="75962" y="189396"/>
                </a:cubicBezTo>
                <a:cubicBezTo>
                  <a:pt x="102727" y="154249"/>
                  <a:pt x="134922" y="125579"/>
                  <a:pt x="178261" y="112434"/>
                </a:cubicBezTo>
                <a:cubicBezTo>
                  <a:pt x="234649" y="95289"/>
                  <a:pt x="286465" y="100814"/>
                  <a:pt x="331232" y="143009"/>
                </a:cubicBezTo>
                <a:cubicBezTo>
                  <a:pt x="337423" y="148915"/>
                  <a:pt x="346567" y="152153"/>
                  <a:pt x="354759" y="155392"/>
                </a:cubicBezTo>
                <a:cubicBezTo>
                  <a:pt x="372380" y="162250"/>
                  <a:pt x="391049" y="166822"/>
                  <a:pt x="407908" y="175109"/>
                </a:cubicBezTo>
                <a:cubicBezTo>
                  <a:pt x="437055" y="189301"/>
                  <a:pt x="458105" y="186539"/>
                  <a:pt x="481251" y="162917"/>
                </a:cubicBezTo>
                <a:cubicBezTo>
                  <a:pt x="509540" y="134151"/>
                  <a:pt x="542306" y="115006"/>
                  <a:pt x="584311" y="117006"/>
                </a:cubicBezTo>
                <a:cubicBezTo>
                  <a:pt x="596884" y="117578"/>
                  <a:pt x="607552" y="113672"/>
                  <a:pt x="618506" y="106814"/>
                </a:cubicBezTo>
                <a:cubicBezTo>
                  <a:pt x="663655" y="78525"/>
                  <a:pt x="710422" y="78811"/>
                  <a:pt x="757666" y="101957"/>
                </a:cubicBezTo>
                <a:cubicBezTo>
                  <a:pt x="765191" y="105576"/>
                  <a:pt x="772811" y="109196"/>
                  <a:pt x="780717" y="111672"/>
                </a:cubicBezTo>
                <a:cubicBezTo>
                  <a:pt x="793861" y="115863"/>
                  <a:pt x="805863" y="113672"/>
                  <a:pt x="817197" y="105005"/>
                </a:cubicBezTo>
                <a:cubicBezTo>
                  <a:pt x="855774" y="75668"/>
                  <a:pt x="899684" y="67000"/>
                  <a:pt x="946738" y="74525"/>
                </a:cubicBezTo>
                <a:cubicBezTo>
                  <a:pt x="962739" y="77096"/>
                  <a:pt x="974646" y="73477"/>
                  <a:pt x="985790" y="62333"/>
                </a:cubicBezTo>
                <a:cubicBezTo>
                  <a:pt x="994934" y="53189"/>
                  <a:pt x="1004745" y="44616"/>
                  <a:pt x="1015222" y="37092"/>
                </a:cubicBezTo>
                <a:cubicBezTo>
                  <a:pt x="1065514" y="896"/>
                  <a:pt x="1130665" y="3754"/>
                  <a:pt x="1177623" y="44330"/>
                </a:cubicBezTo>
                <a:cubicBezTo>
                  <a:pt x="1187339" y="52713"/>
                  <a:pt x="1197531" y="56903"/>
                  <a:pt x="1210294" y="58427"/>
                </a:cubicBezTo>
                <a:cubicBezTo>
                  <a:pt x="1226773" y="60523"/>
                  <a:pt x="1243156" y="64333"/>
                  <a:pt x="1259062" y="69191"/>
                </a:cubicBezTo>
                <a:cubicBezTo>
                  <a:pt x="1269540" y="72334"/>
                  <a:pt x="1277922" y="71667"/>
                  <a:pt x="1286971" y="65762"/>
                </a:cubicBezTo>
                <a:cubicBezTo>
                  <a:pt x="1332595" y="35948"/>
                  <a:pt x="1381078" y="27662"/>
                  <a:pt x="1432417" y="48998"/>
                </a:cubicBezTo>
                <a:cubicBezTo>
                  <a:pt x="1445276" y="54332"/>
                  <a:pt x="1453848" y="49664"/>
                  <a:pt x="1463659" y="42616"/>
                </a:cubicBezTo>
                <a:cubicBezTo>
                  <a:pt x="1499378" y="16898"/>
                  <a:pt x="1538621" y="6135"/>
                  <a:pt x="1582341" y="15946"/>
                </a:cubicBezTo>
                <a:cubicBezTo>
                  <a:pt x="1606534" y="21375"/>
                  <a:pt x="1628347" y="32138"/>
                  <a:pt x="1647492" y="47664"/>
                </a:cubicBezTo>
                <a:cubicBezTo>
                  <a:pt x="1658541" y="56618"/>
                  <a:pt x="1670161" y="61856"/>
                  <a:pt x="1684068" y="64619"/>
                </a:cubicBezTo>
                <a:cubicBezTo>
                  <a:pt x="1700356" y="67857"/>
                  <a:pt x="1716357" y="73286"/>
                  <a:pt x="1731883" y="79287"/>
                </a:cubicBezTo>
                <a:cubicBezTo>
                  <a:pt x="1741504" y="83002"/>
                  <a:pt x="1748933" y="83288"/>
                  <a:pt x="1757029" y="76430"/>
                </a:cubicBezTo>
                <a:cubicBezTo>
                  <a:pt x="1802464" y="38139"/>
                  <a:pt x="1852851" y="34520"/>
                  <a:pt x="1907048" y="54617"/>
                </a:cubicBezTo>
                <a:cubicBezTo>
                  <a:pt x="1915621" y="57761"/>
                  <a:pt x="1926860" y="58332"/>
                  <a:pt x="1935623" y="55760"/>
                </a:cubicBezTo>
                <a:cubicBezTo>
                  <a:pt x="1967341" y="46426"/>
                  <a:pt x="1998774" y="45473"/>
                  <a:pt x="2030111" y="54998"/>
                </a:cubicBezTo>
                <a:cubicBezTo>
                  <a:pt x="2043922" y="59189"/>
                  <a:pt x="2052876" y="55380"/>
                  <a:pt x="2062020" y="44997"/>
                </a:cubicBezTo>
                <a:cubicBezTo>
                  <a:pt x="2123266" y="-24059"/>
                  <a:pt x="2220230" y="-5771"/>
                  <a:pt x="2263474" y="46997"/>
                </a:cubicBezTo>
                <a:cubicBezTo>
                  <a:pt x="2273380" y="59094"/>
                  <a:pt x="2286143" y="66333"/>
                  <a:pt x="2300716" y="72143"/>
                </a:cubicBezTo>
                <a:cubicBezTo>
                  <a:pt x="2316719" y="78525"/>
                  <a:pt x="2331292" y="88622"/>
                  <a:pt x="2346817" y="96337"/>
                </a:cubicBezTo>
                <a:cubicBezTo>
                  <a:pt x="2355485" y="100623"/>
                  <a:pt x="2364820" y="106052"/>
                  <a:pt x="2373964" y="106148"/>
                </a:cubicBezTo>
                <a:cubicBezTo>
                  <a:pt x="2397109" y="106434"/>
                  <a:pt x="2419207" y="110339"/>
                  <a:pt x="2441115" y="117673"/>
                </a:cubicBezTo>
                <a:cubicBezTo>
                  <a:pt x="2449592" y="120530"/>
                  <a:pt x="2459117" y="120435"/>
                  <a:pt x="2468261" y="120626"/>
                </a:cubicBezTo>
                <a:cubicBezTo>
                  <a:pt x="2503408" y="121578"/>
                  <a:pt x="2533222" y="133961"/>
                  <a:pt x="2558082" y="159297"/>
                </a:cubicBezTo>
                <a:cubicBezTo>
                  <a:pt x="2565892" y="167203"/>
                  <a:pt x="2575703" y="174442"/>
                  <a:pt x="2585895" y="178633"/>
                </a:cubicBezTo>
                <a:cubicBezTo>
                  <a:pt x="2626567" y="195206"/>
                  <a:pt x="2651998" y="238926"/>
                  <a:pt x="2622185" y="294743"/>
                </a:cubicBezTo>
                <a:cubicBezTo>
                  <a:pt x="2607612" y="321984"/>
                  <a:pt x="2586562" y="344463"/>
                  <a:pt x="2560178" y="360560"/>
                </a:cubicBezTo>
                <a:cubicBezTo>
                  <a:pt x="2535603" y="375610"/>
                  <a:pt x="2509409" y="387993"/>
                  <a:pt x="2484168" y="401994"/>
                </a:cubicBezTo>
                <a:cubicBezTo>
                  <a:pt x="2462832" y="413996"/>
                  <a:pt x="2439496" y="415329"/>
                  <a:pt x="2415778" y="415234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6" name="文本框 215"/>
          <p:cNvSpPr txBox="1"/>
          <p:nvPr/>
        </p:nvSpPr>
        <p:spPr>
          <a:xfrm>
            <a:off x="3746639" y="1524538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b="1">
                <a:solidFill>
                  <a:srgbClr val="3B3337"/>
                </a:solidFill>
                <a:latin typeface="微软雅黑" panose="02020900000000000000" pitchFamily="18" charset="-122"/>
                <a:ea typeface="微软雅黑" panose="02020900000000000000" pitchFamily="18" charset="-122"/>
              </a:rPr>
              <a:t>谢谢</a:t>
            </a:r>
            <a:endParaRPr lang="zh-CN" altLang="en-US" sz="8800" dirty="0">
              <a:solidFill>
                <a:srgbClr val="070203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947738" y="6009912"/>
            <a:ext cx="4313944" cy="315056"/>
            <a:chOff x="1253246" y="4118390"/>
            <a:chExt cx="4313944" cy="315056"/>
          </a:xfrm>
        </p:grpSpPr>
        <p:sp>
          <p:nvSpPr>
            <p:cNvPr id="218" name="文本框 217"/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D1BAB4"/>
                  </a:solidFill>
                  <a:latin typeface="微软雅黑"/>
                  <a:ea typeface="微软雅黑"/>
                  <a:cs typeface="+mn-ea"/>
                  <a:sym typeface="+mn-lt"/>
                </a:rPr>
                <a:t>汇报：票付通</a:t>
              </a:r>
              <a:endParaRPr lang="zh-CN" altLang="en-US" sz="1400" dirty="0">
                <a:solidFill>
                  <a:srgbClr val="D1BAB4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D1B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1BAB4"/>
                </a:solidFill>
                <a:cs typeface="+mn-ea"/>
                <a:sym typeface="+mn-lt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D1BAB4"/>
                  </a:solidFill>
                  <a:latin typeface="微软雅黑"/>
                  <a:ea typeface="微软雅黑"/>
                  <a:cs typeface="+mn-ea"/>
                  <a:sym typeface="+mn-lt"/>
                </a:rPr>
                <a:t>时间：2026.10</a:t>
              </a:r>
              <a:endParaRPr lang="zh-CN" altLang="en-US" sz="1400" dirty="0">
                <a:solidFill>
                  <a:srgbClr val="D1BAB4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1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D1BA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D1BAB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>
            <a:off x="875724" y="506220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b="1">
                <a:solidFill>
                  <a:srgbClr val="7F6F82"/>
                </a:solidFill>
                <a:latin typeface="微软雅黑"/>
                <a:ea typeface="微软雅黑"/>
                <a:cs typeface="+mn-ea"/>
                <a:sym typeface="+mn-lt"/>
              </a:rPr>
              <a:t>请您指示</a:t>
            </a:r>
            <a:endParaRPr lang="zh-CN" altLang="en-US" sz="1100" dirty="0">
              <a:solidFill>
                <a:srgbClr val="D8CFC8"/>
              </a:solidFill>
              <a:cs typeface="+mn-ea"/>
              <a:sym typeface="+mn-lt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246442" y="3498733"/>
            <a:ext cx="3732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70203"/>
                </a:solidFill>
                <a:latin typeface="微软雅黑"/>
                <a:ea typeface="微软雅黑"/>
              </a:rPr>
              <a:t>数据可信  ·  智能体快速落地  ·  数据越用越准</a:t>
            </a:r>
            <a:endParaRPr lang="zh-CN" altLang="en-US" sz="1400" b="1" dirty="0">
              <a:solidFill>
                <a:srgbClr val="070203"/>
              </a:solidFill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771591" y="0"/>
            <a:ext cx="735042" cy="669403"/>
          </a:xfrm>
          <a:custGeom>
            <a:avLst/>
            <a:gdLst>
              <a:gd name="csX0" fmla="*/ 357360 w 357359"/>
              <a:gd name="csY0" fmla="*/ 95 h 325447"/>
              <a:gd name="csX1" fmla="*/ 291542 w 357359"/>
              <a:gd name="csY1" fmla="*/ 135255 h 325447"/>
              <a:gd name="csX2" fmla="*/ 106185 w 357359"/>
              <a:gd name="csY2" fmla="*/ 301847 h 325447"/>
              <a:gd name="csX3" fmla="*/ 27890 w 357359"/>
              <a:gd name="csY3" fmla="*/ 325279 h 325447"/>
              <a:gd name="csX4" fmla="*/ 8649 w 357359"/>
              <a:gd name="csY4" fmla="*/ 323945 h 325447"/>
              <a:gd name="csX5" fmla="*/ 77 w 357359"/>
              <a:gd name="csY5" fmla="*/ 316325 h 325447"/>
              <a:gd name="csX6" fmla="*/ 5887 w 357359"/>
              <a:gd name="csY6" fmla="*/ 307848 h 325447"/>
              <a:gd name="csX7" fmla="*/ 98470 w 357359"/>
              <a:gd name="csY7" fmla="*/ 228505 h 325447"/>
              <a:gd name="csX8" fmla="*/ 214485 w 357359"/>
              <a:gd name="csY8" fmla="*/ 53721 h 325447"/>
              <a:gd name="csX9" fmla="*/ 229344 w 357359"/>
              <a:gd name="csY9" fmla="*/ 0 h 325447"/>
              <a:gd name="csX10" fmla="*/ 357360 w 357359"/>
              <a:gd name="csY10" fmla="*/ 95 h 325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57359" h="325447">
                <a:moveTo>
                  <a:pt x="357360" y="95"/>
                </a:moveTo>
                <a:cubicBezTo>
                  <a:pt x="340310" y="47530"/>
                  <a:pt x="319165" y="92964"/>
                  <a:pt x="291542" y="135255"/>
                </a:cubicBezTo>
                <a:cubicBezTo>
                  <a:pt x="244489" y="207169"/>
                  <a:pt x="184290" y="264509"/>
                  <a:pt x="106185" y="301847"/>
                </a:cubicBezTo>
                <a:cubicBezTo>
                  <a:pt x="81420" y="313754"/>
                  <a:pt x="55893" y="323755"/>
                  <a:pt x="27890" y="325279"/>
                </a:cubicBezTo>
                <a:cubicBezTo>
                  <a:pt x="21508" y="325660"/>
                  <a:pt x="14841" y="325469"/>
                  <a:pt x="8649" y="323945"/>
                </a:cubicBezTo>
                <a:cubicBezTo>
                  <a:pt x="5220" y="323088"/>
                  <a:pt x="1220" y="319564"/>
                  <a:pt x="77" y="316325"/>
                </a:cubicBezTo>
                <a:cubicBezTo>
                  <a:pt x="-590" y="314420"/>
                  <a:pt x="3220" y="310134"/>
                  <a:pt x="5887" y="307848"/>
                </a:cubicBezTo>
                <a:cubicBezTo>
                  <a:pt x="36748" y="281369"/>
                  <a:pt x="69228" y="256699"/>
                  <a:pt x="98470" y="228505"/>
                </a:cubicBezTo>
                <a:cubicBezTo>
                  <a:pt x="149810" y="179070"/>
                  <a:pt x="187815" y="119825"/>
                  <a:pt x="214485" y="53721"/>
                </a:cubicBezTo>
                <a:cubicBezTo>
                  <a:pt x="221438" y="36576"/>
                  <a:pt x="224486" y="17907"/>
                  <a:pt x="229344" y="0"/>
                </a:cubicBezTo>
                <a:cubicBezTo>
                  <a:pt x="272111" y="95"/>
                  <a:pt x="314688" y="95"/>
                  <a:pt x="357360" y="95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任意多边形: 形状 14"/>
          <p:cNvSpPr/>
          <p:nvPr/>
        </p:nvSpPr>
        <p:spPr>
          <a:xfrm>
            <a:off x="1700803" y="894678"/>
            <a:ext cx="618871" cy="456965"/>
          </a:xfrm>
          <a:custGeom>
            <a:avLst/>
            <a:gdLst>
              <a:gd name="csX0" fmla="*/ 407275 w 507963"/>
              <a:gd name="csY0" fmla="*/ 0 h 375072"/>
              <a:gd name="csX1" fmla="*/ 462329 w 507963"/>
              <a:gd name="csY1" fmla="*/ 8858 h 375072"/>
              <a:gd name="csX2" fmla="*/ 507954 w 507963"/>
              <a:gd name="csY2" fmla="*/ 57721 h 375072"/>
              <a:gd name="csX3" fmla="*/ 460234 w 507963"/>
              <a:gd name="csY3" fmla="*/ 104680 h 375072"/>
              <a:gd name="csX4" fmla="*/ 443375 w 507963"/>
              <a:gd name="csY4" fmla="*/ 107728 h 375072"/>
              <a:gd name="csX5" fmla="*/ 189438 w 507963"/>
              <a:gd name="csY5" fmla="*/ 206121 h 375072"/>
              <a:gd name="csX6" fmla="*/ 70471 w 507963"/>
              <a:gd name="csY6" fmla="*/ 324326 h 375072"/>
              <a:gd name="csX7" fmla="*/ 54659 w 507963"/>
              <a:gd name="csY7" fmla="*/ 354616 h 375072"/>
              <a:gd name="csX8" fmla="*/ 27323 w 507963"/>
              <a:gd name="csY8" fmla="*/ 374904 h 375072"/>
              <a:gd name="csX9" fmla="*/ 1796 w 507963"/>
              <a:gd name="csY9" fmla="*/ 348044 h 375072"/>
              <a:gd name="csX10" fmla="*/ 19798 w 507963"/>
              <a:gd name="csY10" fmla="*/ 243840 h 375072"/>
              <a:gd name="csX11" fmla="*/ 132669 w 507963"/>
              <a:gd name="csY11" fmla="*/ 108109 h 375072"/>
              <a:gd name="csX12" fmla="*/ 345648 w 507963"/>
              <a:gd name="csY12" fmla="*/ 7620 h 375072"/>
              <a:gd name="csX13" fmla="*/ 407275 w 507963"/>
              <a:gd name="csY13" fmla="*/ 0 h 375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507963" h="375072">
                <a:moveTo>
                  <a:pt x="407275" y="0"/>
                </a:moveTo>
                <a:cubicBezTo>
                  <a:pt x="424229" y="2572"/>
                  <a:pt x="443660" y="4096"/>
                  <a:pt x="462329" y="8858"/>
                </a:cubicBezTo>
                <a:cubicBezTo>
                  <a:pt x="490714" y="16097"/>
                  <a:pt x="508430" y="36385"/>
                  <a:pt x="507954" y="57721"/>
                </a:cubicBezTo>
                <a:cubicBezTo>
                  <a:pt x="507478" y="79057"/>
                  <a:pt x="488523" y="97726"/>
                  <a:pt x="460234" y="104680"/>
                </a:cubicBezTo>
                <a:cubicBezTo>
                  <a:pt x="454709" y="106013"/>
                  <a:pt x="449090" y="107251"/>
                  <a:pt x="443375" y="107728"/>
                </a:cubicBezTo>
                <a:cubicBezTo>
                  <a:pt x="349363" y="116395"/>
                  <a:pt x="266686" y="154019"/>
                  <a:pt x="189438" y="206121"/>
                </a:cubicBezTo>
                <a:cubicBezTo>
                  <a:pt x="142194" y="237934"/>
                  <a:pt x="100570" y="275368"/>
                  <a:pt x="70471" y="324326"/>
                </a:cubicBezTo>
                <a:cubicBezTo>
                  <a:pt x="64470" y="334042"/>
                  <a:pt x="59517" y="344329"/>
                  <a:pt x="54659" y="354616"/>
                </a:cubicBezTo>
                <a:cubicBezTo>
                  <a:pt x="48563" y="367475"/>
                  <a:pt x="37133" y="376428"/>
                  <a:pt x="27323" y="374904"/>
                </a:cubicBezTo>
                <a:cubicBezTo>
                  <a:pt x="13416" y="372904"/>
                  <a:pt x="4177" y="363665"/>
                  <a:pt x="1796" y="348044"/>
                </a:cubicBezTo>
                <a:cubicBezTo>
                  <a:pt x="-3824" y="311372"/>
                  <a:pt x="4177" y="276606"/>
                  <a:pt x="19798" y="243840"/>
                </a:cubicBezTo>
                <a:cubicBezTo>
                  <a:pt x="45801" y="189167"/>
                  <a:pt x="84854" y="144685"/>
                  <a:pt x="132669" y="108109"/>
                </a:cubicBezTo>
                <a:cubicBezTo>
                  <a:pt x="196391" y="59436"/>
                  <a:pt x="266591" y="23717"/>
                  <a:pt x="345648" y="7620"/>
                </a:cubicBezTo>
                <a:cubicBezTo>
                  <a:pt x="365174" y="3715"/>
                  <a:pt x="385082" y="2667"/>
                  <a:pt x="407275" y="0"/>
                </a:cubicBezTo>
                <a:close/>
              </a:path>
            </a:pathLst>
          </a:custGeom>
          <a:solidFill>
            <a:srgbClr val="A69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任意多边形: 形状 15"/>
          <p:cNvSpPr/>
          <p:nvPr/>
        </p:nvSpPr>
        <p:spPr>
          <a:xfrm>
            <a:off x="10028477" y="4515406"/>
            <a:ext cx="491886" cy="515541"/>
          </a:xfrm>
          <a:custGeom>
            <a:avLst/>
            <a:gdLst>
              <a:gd name="csX0" fmla="*/ 363613 w 363612"/>
              <a:gd name="csY0" fmla="*/ 72260 h 381098"/>
              <a:gd name="csX1" fmla="*/ 327989 w 363612"/>
              <a:gd name="csY1" fmla="*/ 194466 h 381098"/>
              <a:gd name="csX2" fmla="*/ 177018 w 363612"/>
              <a:gd name="csY2" fmla="*/ 351342 h 381098"/>
              <a:gd name="csX3" fmla="*/ 105104 w 363612"/>
              <a:gd name="csY3" fmla="*/ 379441 h 381098"/>
              <a:gd name="csX4" fmla="*/ 43382 w 363612"/>
              <a:gd name="csY4" fmla="*/ 373250 h 381098"/>
              <a:gd name="csX5" fmla="*/ 7568 w 363612"/>
              <a:gd name="csY5" fmla="*/ 342770 h 381098"/>
              <a:gd name="csX6" fmla="*/ 14807 w 363612"/>
              <a:gd name="csY6" fmla="*/ 285525 h 381098"/>
              <a:gd name="csX7" fmla="*/ 65956 w 363612"/>
              <a:gd name="csY7" fmla="*/ 252092 h 381098"/>
              <a:gd name="csX8" fmla="*/ 218546 w 363612"/>
              <a:gd name="csY8" fmla="*/ 132839 h 381098"/>
              <a:gd name="csX9" fmla="*/ 284936 w 363612"/>
              <a:gd name="csY9" fmla="*/ 28064 h 381098"/>
              <a:gd name="csX10" fmla="*/ 316940 w 363612"/>
              <a:gd name="csY10" fmla="*/ 346 h 381098"/>
              <a:gd name="csX11" fmla="*/ 354468 w 363612"/>
              <a:gd name="csY11" fmla="*/ 23111 h 381098"/>
              <a:gd name="csX12" fmla="*/ 363613 w 363612"/>
              <a:gd name="csY12" fmla="*/ 72260 h 381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63612" h="381098">
                <a:moveTo>
                  <a:pt x="363613" y="72260"/>
                </a:moveTo>
                <a:cubicBezTo>
                  <a:pt x="361231" y="116170"/>
                  <a:pt x="349039" y="156651"/>
                  <a:pt x="327989" y="194466"/>
                </a:cubicBezTo>
                <a:cubicBezTo>
                  <a:pt x="291603" y="260093"/>
                  <a:pt x="241025" y="312290"/>
                  <a:pt x="177018" y="351342"/>
                </a:cubicBezTo>
                <a:cubicBezTo>
                  <a:pt x="154824" y="364868"/>
                  <a:pt x="131107" y="375250"/>
                  <a:pt x="105104" y="379441"/>
                </a:cubicBezTo>
                <a:cubicBezTo>
                  <a:pt x="83958" y="382870"/>
                  <a:pt x="63384" y="381060"/>
                  <a:pt x="43382" y="373250"/>
                </a:cubicBezTo>
                <a:cubicBezTo>
                  <a:pt x="27951" y="367249"/>
                  <a:pt x="15854" y="357248"/>
                  <a:pt x="7568" y="342770"/>
                </a:cubicBezTo>
                <a:cubicBezTo>
                  <a:pt x="-3957" y="322291"/>
                  <a:pt x="-2910" y="300955"/>
                  <a:pt x="14807" y="285525"/>
                </a:cubicBezTo>
                <a:cubicBezTo>
                  <a:pt x="30047" y="272285"/>
                  <a:pt x="47668" y="260664"/>
                  <a:pt x="65956" y="252092"/>
                </a:cubicBezTo>
                <a:cubicBezTo>
                  <a:pt x="126059" y="223898"/>
                  <a:pt x="175779" y="183036"/>
                  <a:pt x="218546" y="132839"/>
                </a:cubicBezTo>
                <a:cubicBezTo>
                  <a:pt x="245598" y="101025"/>
                  <a:pt x="267314" y="65878"/>
                  <a:pt x="284936" y="28064"/>
                </a:cubicBezTo>
                <a:cubicBezTo>
                  <a:pt x="291508" y="13967"/>
                  <a:pt x="300080" y="2537"/>
                  <a:pt x="316940" y="346"/>
                </a:cubicBezTo>
                <a:cubicBezTo>
                  <a:pt x="334085" y="-1845"/>
                  <a:pt x="349897" y="6442"/>
                  <a:pt x="354468" y="23111"/>
                </a:cubicBezTo>
                <a:cubicBezTo>
                  <a:pt x="358945" y="39208"/>
                  <a:pt x="360659" y="55877"/>
                  <a:pt x="363613" y="72260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任意多边形: 形状 16"/>
          <p:cNvSpPr/>
          <p:nvPr/>
        </p:nvSpPr>
        <p:spPr>
          <a:xfrm>
            <a:off x="6986729" y="5467512"/>
            <a:ext cx="628510" cy="399182"/>
          </a:xfrm>
          <a:custGeom>
            <a:avLst/>
            <a:gdLst>
              <a:gd name="csX0" fmla="*/ 329239 w 412178"/>
              <a:gd name="csY0" fmla="*/ 0 h 261784"/>
              <a:gd name="csX1" fmla="*/ 380388 w 412178"/>
              <a:gd name="csY1" fmla="*/ 17240 h 261784"/>
              <a:gd name="csX2" fmla="*/ 380960 w 412178"/>
              <a:gd name="csY2" fmla="*/ 120491 h 261784"/>
              <a:gd name="csX3" fmla="*/ 333620 w 412178"/>
              <a:gd name="csY3" fmla="*/ 134779 h 261784"/>
              <a:gd name="csX4" fmla="*/ 127118 w 412178"/>
              <a:gd name="csY4" fmla="*/ 209740 h 261784"/>
              <a:gd name="csX5" fmla="*/ 65206 w 412178"/>
              <a:gd name="csY5" fmla="*/ 252698 h 261784"/>
              <a:gd name="csX6" fmla="*/ 14914 w 412178"/>
              <a:gd name="csY6" fmla="*/ 254984 h 261784"/>
              <a:gd name="csX7" fmla="*/ 1960 w 412178"/>
              <a:gd name="csY7" fmla="*/ 209836 h 261784"/>
              <a:gd name="csX8" fmla="*/ 32440 w 412178"/>
              <a:gd name="csY8" fmla="*/ 158305 h 261784"/>
              <a:gd name="csX9" fmla="*/ 302093 w 412178"/>
              <a:gd name="csY9" fmla="*/ 5905 h 261784"/>
              <a:gd name="csX10" fmla="*/ 315618 w 412178"/>
              <a:gd name="csY10" fmla="*/ 3905 h 261784"/>
              <a:gd name="csX11" fmla="*/ 328191 w 412178"/>
              <a:gd name="csY11" fmla="*/ 3143 h 261784"/>
              <a:gd name="csX12" fmla="*/ 329239 w 412178"/>
              <a:gd name="csY12" fmla="*/ 0 h 261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2178" h="261784">
                <a:moveTo>
                  <a:pt x="329239" y="0"/>
                </a:moveTo>
                <a:cubicBezTo>
                  <a:pt x="346384" y="5524"/>
                  <a:pt x="364958" y="8572"/>
                  <a:pt x="380388" y="17240"/>
                </a:cubicBezTo>
                <a:cubicBezTo>
                  <a:pt x="422489" y="40862"/>
                  <a:pt x="422870" y="96393"/>
                  <a:pt x="380960" y="120491"/>
                </a:cubicBezTo>
                <a:cubicBezTo>
                  <a:pt x="366958" y="128588"/>
                  <a:pt x="349527" y="134588"/>
                  <a:pt x="333620" y="134779"/>
                </a:cubicBezTo>
                <a:cubicBezTo>
                  <a:pt x="255801" y="136017"/>
                  <a:pt x="190365" y="169545"/>
                  <a:pt x="127118" y="209740"/>
                </a:cubicBezTo>
                <a:cubicBezTo>
                  <a:pt x="105973" y="223171"/>
                  <a:pt x="85780" y="238220"/>
                  <a:pt x="65206" y="252698"/>
                </a:cubicBezTo>
                <a:cubicBezTo>
                  <a:pt x="49204" y="263843"/>
                  <a:pt x="29201" y="264890"/>
                  <a:pt x="14914" y="254984"/>
                </a:cubicBezTo>
                <a:cubicBezTo>
                  <a:pt x="1484" y="245745"/>
                  <a:pt x="-2993" y="230124"/>
                  <a:pt x="1960" y="209836"/>
                </a:cubicBezTo>
                <a:cubicBezTo>
                  <a:pt x="6913" y="189547"/>
                  <a:pt x="18248" y="172783"/>
                  <a:pt x="32440" y="158305"/>
                </a:cubicBezTo>
                <a:cubicBezTo>
                  <a:pt x="107783" y="82010"/>
                  <a:pt x="197413" y="30480"/>
                  <a:pt x="302093" y="5905"/>
                </a:cubicBezTo>
                <a:cubicBezTo>
                  <a:pt x="306569" y="4858"/>
                  <a:pt x="311141" y="4381"/>
                  <a:pt x="315618" y="3905"/>
                </a:cubicBezTo>
                <a:cubicBezTo>
                  <a:pt x="319809" y="3429"/>
                  <a:pt x="324000" y="3334"/>
                  <a:pt x="328191" y="3143"/>
                </a:cubicBezTo>
                <a:cubicBezTo>
                  <a:pt x="328477" y="2096"/>
                  <a:pt x="328858" y="1048"/>
                  <a:pt x="32923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8" name="任意多边形: 形状 17" descr="D:\51PPT模板网\51pptmoban.com\图片.jpg"/>
          <p:cNvSpPr/>
          <p:nvPr/>
        </p:nvSpPr>
        <p:spPr>
          <a:xfrm>
            <a:off x="11121276" y="3812150"/>
            <a:ext cx="557460" cy="484009"/>
          </a:xfrm>
          <a:custGeom>
            <a:avLst/>
            <a:gdLst>
              <a:gd name="csX0" fmla="*/ 217919 w 311963"/>
              <a:gd name="csY0" fmla="*/ 0 h 270859"/>
              <a:gd name="csX1" fmla="*/ 295738 w 311963"/>
              <a:gd name="csY1" fmla="*/ 34100 h 270859"/>
              <a:gd name="csX2" fmla="*/ 294309 w 311963"/>
              <a:gd name="csY2" fmla="*/ 109252 h 270859"/>
              <a:gd name="csX3" fmla="*/ 238683 w 311963"/>
              <a:gd name="csY3" fmla="*/ 141922 h 270859"/>
              <a:gd name="csX4" fmla="*/ 186486 w 311963"/>
              <a:gd name="csY4" fmla="*/ 162020 h 270859"/>
              <a:gd name="csX5" fmla="*/ 93427 w 311963"/>
              <a:gd name="csY5" fmla="*/ 243840 h 270859"/>
              <a:gd name="csX6" fmla="*/ 91617 w 311963"/>
              <a:gd name="csY6" fmla="*/ 246697 h 270859"/>
              <a:gd name="csX7" fmla="*/ 74853 w 311963"/>
              <a:gd name="csY7" fmla="*/ 267843 h 270859"/>
              <a:gd name="csX8" fmla="*/ 35801 w 311963"/>
              <a:gd name="csY8" fmla="*/ 266795 h 270859"/>
              <a:gd name="csX9" fmla="*/ 367 w 311963"/>
              <a:gd name="csY9" fmla="*/ 217551 h 270859"/>
              <a:gd name="csX10" fmla="*/ 5416 w 311963"/>
              <a:gd name="csY10" fmla="*/ 169259 h 270859"/>
              <a:gd name="csX11" fmla="*/ 142861 w 311963"/>
              <a:gd name="csY11" fmla="*/ 15430 h 270859"/>
              <a:gd name="csX12" fmla="*/ 217919 w 311963"/>
              <a:gd name="csY12" fmla="*/ 0 h 270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1963" h="270859">
                <a:moveTo>
                  <a:pt x="217919" y="0"/>
                </a:moveTo>
                <a:cubicBezTo>
                  <a:pt x="244588" y="1048"/>
                  <a:pt x="273354" y="9716"/>
                  <a:pt x="295738" y="34100"/>
                </a:cubicBezTo>
                <a:cubicBezTo>
                  <a:pt x="317931" y="58388"/>
                  <a:pt x="317264" y="85534"/>
                  <a:pt x="294309" y="109252"/>
                </a:cubicBezTo>
                <a:cubicBezTo>
                  <a:pt x="278783" y="125254"/>
                  <a:pt x="259161" y="134207"/>
                  <a:pt x="238683" y="141922"/>
                </a:cubicBezTo>
                <a:cubicBezTo>
                  <a:pt x="221252" y="148495"/>
                  <a:pt x="203440" y="154305"/>
                  <a:pt x="186486" y="162020"/>
                </a:cubicBezTo>
                <a:cubicBezTo>
                  <a:pt x="147243" y="179737"/>
                  <a:pt x="116953" y="208121"/>
                  <a:pt x="93427" y="243840"/>
                </a:cubicBezTo>
                <a:cubicBezTo>
                  <a:pt x="92760" y="244792"/>
                  <a:pt x="91998" y="245650"/>
                  <a:pt x="91617" y="246697"/>
                </a:cubicBezTo>
                <a:cubicBezTo>
                  <a:pt x="88664" y="255842"/>
                  <a:pt x="85711" y="264605"/>
                  <a:pt x="74853" y="267843"/>
                </a:cubicBezTo>
                <a:cubicBezTo>
                  <a:pt x="61518" y="271843"/>
                  <a:pt x="48564" y="272225"/>
                  <a:pt x="35801" y="266795"/>
                </a:cubicBezTo>
                <a:cubicBezTo>
                  <a:pt x="14083" y="257556"/>
                  <a:pt x="1892" y="240221"/>
                  <a:pt x="367" y="217551"/>
                </a:cubicBezTo>
                <a:cubicBezTo>
                  <a:pt x="-680" y="201549"/>
                  <a:pt x="367" y="184309"/>
                  <a:pt x="5416" y="169259"/>
                </a:cubicBezTo>
                <a:cubicBezTo>
                  <a:pt x="29038" y="98584"/>
                  <a:pt x="75710" y="47434"/>
                  <a:pt x="142861" y="15430"/>
                </a:cubicBezTo>
                <a:cubicBezTo>
                  <a:pt x="164769" y="4858"/>
                  <a:pt x="188296" y="286"/>
                  <a:pt x="217919" y="0"/>
                </a:cubicBezTo>
                <a:close/>
              </a:path>
            </a:pathLst>
          </a:custGeom>
          <a:solidFill>
            <a:srgbClr val="D8CFC8"/>
          </a:solidFill>
          <a:ln w="9525" cap="flat">
            <a:noFill/>
            <a:prstDash val="solid"/>
            <a:miter/>
          </a:ln>
        </p:spPr>
      </p:sp>
      <p:sp>
        <p:nvSpPr>
          <p:cNvPr id="19" name="任意多边形: 形状 18"/>
          <p:cNvSpPr/>
          <p:nvPr/>
        </p:nvSpPr>
        <p:spPr>
          <a:xfrm>
            <a:off x="312849" y="2776673"/>
            <a:ext cx="863851" cy="429355"/>
          </a:xfrm>
          <a:custGeom>
            <a:avLst/>
            <a:gdLst>
              <a:gd name="csX0" fmla="*/ 143412 w 419983"/>
              <a:gd name="csY0" fmla="*/ 208742 h 208742"/>
              <a:gd name="csX1" fmla="*/ 26445 w 419983"/>
              <a:gd name="csY1" fmla="*/ 170547 h 208742"/>
              <a:gd name="csX2" fmla="*/ 4347 w 419983"/>
              <a:gd name="csY2" fmla="*/ 143496 h 208742"/>
              <a:gd name="csX3" fmla="*/ 18729 w 419983"/>
              <a:gd name="csY3" fmla="*/ 99110 h 208742"/>
              <a:gd name="csX4" fmla="*/ 57210 w 419983"/>
              <a:gd name="csY4" fmla="*/ 92919 h 208742"/>
              <a:gd name="csX5" fmla="*/ 80166 w 419983"/>
              <a:gd name="csY5" fmla="*/ 99205 h 208742"/>
              <a:gd name="csX6" fmla="*/ 210277 w 419983"/>
              <a:gd name="csY6" fmla="*/ 100538 h 208742"/>
              <a:gd name="csX7" fmla="*/ 336007 w 419983"/>
              <a:gd name="csY7" fmla="*/ 31768 h 208742"/>
              <a:gd name="csX8" fmla="*/ 375822 w 419983"/>
              <a:gd name="csY8" fmla="*/ 5288 h 208742"/>
              <a:gd name="csX9" fmla="*/ 399825 w 419983"/>
              <a:gd name="csY9" fmla="*/ 50 h 208742"/>
              <a:gd name="csX10" fmla="*/ 417732 w 419983"/>
              <a:gd name="csY10" fmla="*/ 29292 h 208742"/>
              <a:gd name="csX11" fmla="*/ 321720 w 419983"/>
              <a:gd name="csY11" fmla="*/ 147973 h 208742"/>
              <a:gd name="csX12" fmla="*/ 143412 w 419983"/>
              <a:gd name="csY12" fmla="*/ 208742 h 208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9983" h="208742">
                <a:moveTo>
                  <a:pt x="143412" y="208742"/>
                </a:moveTo>
                <a:cubicBezTo>
                  <a:pt x="98930" y="208076"/>
                  <a:pt x="59592" y="197884"/>
                  <a:pt x="26445" y="170547"/>
                </a:cubicBezTo>
                <a:cubicBezTo>
                  <a:pt x="17586" y="163213"/>
                  <a:pt x="9776" y="153593"/>
                  <a:pt x="4347" y="143496"/>
                </a:cubicBezTo>
                <a:cubicBezTo>
                  <a:pt x="-4893" y="126256"/>
                  <a:pt x="918" y="106825"/>
                  <a:pt x="18729" y="99110"/>
                </a:cubicBezTo>
                <a:cubicBezTo>
                  <a:pt x="30350" y="94062"/>
                  <a:pt x="44256" y="93300"/>
                  <a:pt x="57210" y="92919"/>
                </a:cubicBezTo>
                <a:cubicBezTo>
                  <a:pt x="64830" y="92633"/>
                  <a:pt x="72927" y="95967"/>
                  <a:pt x="80166" y="99205"/>
                </a:cubicBezTo>
                <a:cubicBezTo>
                  <a:pt x="123409" y="118826"/>
                  <a:pt x="166748" y="116255"/>
                  <a:pt x="210277" y="100538"/>
                </a:cubicBezTo>
                <a:cubicBezTo>
                  <a:pt x="255807" y="84155"/>
                  <a:pt x="297431" y="60915"/>
                  <a:pt x="336007" y="31768"/>
                </a:cubicBezTo>
                <a:cubicBezTo>
                  <a:pt x="348771" y="22148"/>
                  <a:pt x="361915" y="12909"/>
                  <a:pt x="375822" y="5288"/>
                </a:cubicBezTo>
                <a:cubicBezTo>
                  <a:pt x="382775" y="1479"/>
                  <a:pt x="391824" y="-331"/>
                  <a:pt x="399825" y="50"/>
                </a:cubicBezTo>
                <a:cubicBezTo>
                  <a:pt x="417446" y="812"/>
                  <a:pt x="423828" y="12718"/>
                  <a:pt x="417732" y="29292"/>
                </a:cubicBezTo>
                <a:cubicBezTo>
                  <a:pt x="399158" y="79774"/>
                  <a:pt x="365916" y="118446"/>
                  <a:pt x="321720" y="147973"/>
                </a:cubicBezTo>
                <a:cubicBezTo>
                  <a:pt x="267141" y="184359"/>
                  <a:pt x="207420" y="206171"/>
                  <a:pt x="143412" y="208742"/>
                </a:cubicBezTo>
                <a:close/>
              </a:path>
            </a:pathLst>
          </a:custGeom>
          <a:solidFill>
            <a:srgbClr val="D8C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8" name="组合 37" descr="D:\51PPT模板网\51pptmoban.com\图片.jpg"/>
          <p:cNvGrpSpPr/>
          <p:nvPr/>
        </p:nvGrpSpPr>
        <p:grpSpPr>
          <a:xfrm>
            <a:off x="10806023" y="5667103"/>
            <a:ext cx="514848" cy="576778"/>
            <a:chOff x="9870474" y="5637905"/>
            <a:chExt cx="514848" cy="576778"/>
          </a:xfrm>
          <a:solidFill>
            <a:schemeClr val="bg1"/>
          </a:solidFill>
        </p:grpSpPr>
        <p:sp>
          <p:nvSpPr>
            <p:cNvPr id="21" name="任意多边形: 形状 20"/>
            <p:cNvSpPr/>
            <p:nvPr/>
          </p:nvSpPr>
          <p:spPr>
            <a:xfrm>
              <a:off x="10189400" y="5739204"/>
              <a:ext cx="166197" cy="141441"/>
            </a:xfrm>
            <a:custGeom>
              <a:avLst/>
              <a:gdLst>
                <a:gd name="csX0" fmla="*/ 38219 w 80801"/>
                <a:gd name="csY0" fmla="*/ 68765 h 68765"/>
                <a:gd name="csX1" fmla="*/ 14217 w 80801"/>
                <a:gd name="csY1" fmla="*/ 59621 h 68765"/>
                <a:gd name="csX2" fmla="*/ 8597 w 80801"/>
                <a:gd name="csY2" fmla="*/ 15806 h 68765"/>
                <a:gd name="csX3" fmla="*/ 54031 w 80801"/>
                <a:gd name="csY3" fmla="*/ 1138 h 68765"/>
                <a:gd name="csX4" fmla="*/ 71366 w 80801"/>
                <a:gd name="csY4" fmla="*/ 53145 h 68765"/>
                <a:gd name="csX5" fmla="*/ 38219 w 80801"/>
                <a:gd name="csY5" fmla="*/ 68765 h 6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801" h="68765">
                  <a:moveTo>
                    <a:pt x="38219" y="68765"/>
                  </a:moveTo>
                  <a:cubicBezTo>
                    <a:pt x="30123" y="65813"/>
                    <a:pt x="21360" y="64003"/>
                    <a:pt x="14217" y="59621"/>
                  </a:cubicBezTo>
                  <a:cubicBezTo>
                    <a:pt x="-2452" y="49525"/>
                    <a:pt x="-4643" y="30094"/>
                    <a:pt x="8597" y="15806"/>
                  </a:cubicBezTo>
                  <a:cubicBezTo>
                    <a:pt x="20884" y="2567"/>
                    <a:pt x="36314" y="-2481"/>
                    <a:pt x="54031" y="1138"/>
                  </a:cubicBezTo>
                  <a:cubicBezTo>
                    <a:pt x="80701" y="6567"/>
                    <a:pt x="89273" y="32761"/>
                    <a:pt x="71366" y="53145"/>
                  </a:cubicBezTo>
                  <a:cubicBezTo>
                    <a:pt x="63556" y="62098"/>
                    <a:pt x="51745" y="67051"/>
                    <a:pt x="38219" y="6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2" name="任意多边形: 形状 21"/>
            <p:cNvSpPr/>
            <p:nvPr/>
          </p:nvSpPr>
          <p:spPr>
            <a:xfrm>
              <a:off x="9945095" y="6083738"/>
              <a:ext cx="165196" cy="130945"/>
            </a:xfrm>
            <a:custGeom>
              <a:avLst/>
              <a:gdLst>
                <a:gd name="csX0" fmla="*/ 35265 w 80314"/>
                <a:gd name="csY0" fmla="*/ 63663 h 63662"/>
                <a:gd name="csX1" fmla="*/ 16691 w 80314"/>
                <a:gd name="csY1" fmla="*/ 58805 h 63662"/>
                <a:gd name="csX2" fmla="*/ 6975 w 80314"/>
                <a:gd name="csY2" fmla="*/ 16228 h 63662"/>
                <a:gd name="csX3" fmla="*/ 64316 w 80314"/>
                <a:gd name="csY3" fmla="*/ 4607 h 63662"/>
                <a:gd name="csX4" fmla="*/ 72126 w 80314"/>
                <a:gd name="csY4" fmla="*/ 47280 h 63662"/>
                <a:gd name="csX5" fmla="*/ 35265 w 80314"/>
                <a:gd name="csY5" fmla="*/ 63663 h 63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314" h="63662">
                  <a:moveTo>
                    <a:pt x="35265" y="63663"/>
                  </a:moveTo>
                  <a:cubicBezTo>
                    <a:pt x="29073" y="62043"/>
                    <a:pt x="22501" y="61281"/>
                    <a:pt x="16691" y="58805"/>
                  </a:cubicBezTo>
                  <a:cubicBezTo>
                    <a:pt x="-930" y="51280"/>
                    <a:pt x="-5312" y="31182"/>
                    <a:pt x="6975" y="16228"/>
                  </a:cubicBezTo>
                  <a:cubicBezTo>
                    <a:pt x="19739" y="607"/>
                    <a:pt x="46314" y="-4727"/>
                    <a:pt x="64316" y="4607"/>
                  </a:cubicBezTo>
                  <a:cubicBezTo>
                    <a:pt x="82128" y="13847"/>
                    <a:pt x="85557" y="32421"/>
                    <a:pt x="72126" y="47280"/>
                  </a:cubicBezTo>
                  <a:cubicBezTo>
                    <a:pt x="63268" y="57185"/>
                    <a:pt x="49743" y="62900"/>
                    <a:pt x="35265" y="636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3" name="任意多边形: 形状 22"/>
            <p:cNvSpPr/>
            <p:nvPr/>
          </p:nvSpPr>
          <p:spPr>
            <a:xfrm>
              <a:off x="10225694" y="5899846"/>
              <a:ext cx="159628" cy="127843"/>
            </a:xfrm>
            <a:custGeom>
              <a:avLst/>
              <a:gdLst>
                <a:gd name="csX0" fmla="*/ 45530 w 77607"/>
                <a:gd name="csY0" fmla="*/ 0 h 62154"/>
                <a:gd name="csX1" fmla="*/ 69057 w 77607"/>
                <a:gd name="csY1" fmla="*/ 9715 h 62154"/>
                <a:gd name="csX2" fmla="*/ 76295 w 77607"/>
                <a:gd name="csY2" fmla="*/ 30575 h 62154"/>
                <a:gd name="csX3" fmla="*/ 16859 w 77607"/>
                <a:gd name="csY3" fmla="*/ 58103 h 62154"/>
                <a:gd name="csX4" fmla="*/ 12192 w 77607"/>
                <a:gd name="csY4" fmla="*/ 14954 h 62154"/>
                <a:gd name="csX5" fmla="*/ 45530 w 77607"/>
                <a:gd name="csY5" fmla="*/ 0 h 62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7607" h="62154">
                  <a:moveTo>
                    <a:pt x="45530" y="0"/>
                  </a:moveTo>
                  <a:cubicBezTo>
                    <a:pt x="54674" y="3715"/>
                    <a:pt x="62484" y="5620"/>
                    <a:pt x="69057" y="9715"/>
                  </a:cubicBezTo>
                  <a:cubicBezTo>
                    <a:pt x="76390" y="14288"/>
                    <a:pt x="79629" y="22288"/>
                    <a:pt x="76295" y="30575"/>
                  </a:cubicBezTo>
                  <a:cubicBezTo>
                    <a:pt x="67437" y="52864"/>
                    <a:pt x="44863" y="70390"/>
                    <a:pt x="16859" y="58103"/>
                  </a:cubicBezTo>
                  <a:cubicBezTo>
                    <a:pt x="-3334" y="49244"/>
                    <a:pt x="-6001" y="27241"/>
                    <a:pt x="12192" y="14954"/>
                  </a:cubicBezTo>
                  <a:cubicBezTo>
                    <a:pt x="22289" y="8287"/>
                    <a:pt x="34481" y="4858"/>
                    <a:pt x="455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4" name="任意多边形: 形状 23"/>
            <p:cNvSpPr/>
            <p:nvPr/>
          </p:nvSpPr>
          <p:spPr>
            <a:xfrm>
              <a:off x="10040748" y="5922163"/>
              <a:ext cx="144979" cy="113846"/>
            </a:xfrm>
            <a:custGeom>
              <a:avLst/>
              <a:gdLst>
                <a:gd name="csX0" fmla="*/ 34957 w 70485"/>
                <a:gd name="csY0" fmla="*/ 55349 h 55349"/>
                <a:gd name="csX1" fmla="*/ 0 w 70485"/>
                <a:gd name="csY1" fmla="*/ 28869 h 55349"/>
                <a:gd name="csX2" fmla="*/ 34767 w 70485"/>
                <a:gd name="csY2" fmla="*/ 8 h 55349"/>
                <a:gd name="csX3" fmla="*/ 70485 w 70485"/>
                <a:gd name="csY3" fmla="*/ 27631 h 55349"/>
                <a:gd name="csX4" fmla="*/ 34957 w 70485"/>
                <a:gd name="csY4" fmla="*/ 55349 h 55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485" h="55349">
                  <a:moveTo>
                    <a:pt x="34957" y="55349"/>
                  </a:moveTo>
                  <a:cubicBezTo>
                    <a:pt x="14859" y="55444"/>
                    <a:pt x="-95" y="44109"/>
                    <a:pt x="0" y="28869"/>
                  </a:cubicBezTo>
                  <a:cubicBezTo>
                    <a:pt x="96" y="12963"/>
                    <a:pt x="15241" y="390"/>
                    <a:pt x="34767" y="8"/>
                  </a:cubicBezTo>
                  <a:cubicBezTo>
                    <a:pt x="54198" y="-372"/>
                    <a:pt x="70390" y="12105"/>
                    <a:pt x="70485" y="27631"/>
                  </a:cubicBezTo>
                  <a:cubicBezTo>
                    <a:pt x="70581" y="43062"/>
                    <a:pt x="54960" y="55254"/>
                    <a:pt x="34957" y="553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5" name="任意多边形: 形状 24"/>
            <p:cNvSpPr/>
            <p:nvPr/>
          </p:nvSpPr>
          <p:spPr>
            <a:xfrm>
              <a:off x="10041900" y="5637905"/>
              <a:ext cx="146612" cy="106124"/>
            </a:xfrm>
            <a:custGeom>
              <a:avLst/>
              <a:gdLst>
                <a:gd name="csX0" fmla="*/ 41827 w 71279"/>
                <a:gd name="csY0" fmla="*/ 0 h 51595"/>
                <a:gd name="csX1" fmla="*/ 59924 w 71279"/>
                <a:gd name="csY1" fmla="*/ 5524 h 51595"/>
                <a:gd name="csX2" fmla="*/ 64687 w 71279"/>
                <a:gd name="csY2" fmla="*/ 35433 h 51595"/>
                <a:gd name="csX3" fmla="*/ 19348 w 71279"/>
                <a:gd name="csY3" fmla="*/ 49911 h 51595"/>
                <a:gd name="csX4" fmla="*/ 107 w 71279"/>
                <a:gd name="csY4" fmla="*/ 29908 h 51595"/>
                <a:gd name="csX5" fmla="*/ 14966 w 71279"/>
                <a:gd name="csY5" fmla="*/ 7906 h 51595"/>
                <a:gd name="csX6" fmla="*/ 41827 w 71279"/>
                <a:gd name="csY6" fmla="*/ 0 h 5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279" h="51595">
                  <a:moveTo>
                    <a:pt x="41827" y="0"/>
                  </a:moveTo>
                  <a:cubicBezTo>
                    <a:pt x="48494" y="2000"/>
                    <a:pt x="54685" y="2857"/>
                    <a:pt x="59924" y="5524"/>
                  </a:cubicBezTo>
                  <a:cubicBezTo>
                    <a:pt x="72973" y="12097"/>
                    <a:pt x="75069" y="25146"/>
                    <a:pt x="64687" y="35433"/>
                  </a:cubicBezTo>
                  <a:cubicBezTo>
                    <a:pt x="52114" y="47911"/>
                    <a:pt x="37445" y="55054"/>
                    <a:pt x="19348" y="49911"/>
                  </a:cubicBezTo>
                  <a:cubicBezTo>
                    <a:pt x="9346" y="47054"/>
                    <a:pt x="1250" y="41243"/>
                    <a:pt x="107" y="29908"/>
                  </a:cubicBezTo>
                  <a:cubicBezTo>
                    <a:pt x="-941" y="18859"/>
                    <a:pt x="5822" y="11811"/>
                    <a:pt x="14966" y="7906"/>
                  </a:cubicBezTo>
                  <a:cubicBezTo>
                    <a:pt x="23634" y="4191"/>
                    <a:pt x="32969" y="2476"/>
                    <a:pt x="4182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10138110" y="6050246"/>
              <a:ext cx="134308" cy="104878"/>
            </a:xfrm>
            <a:custGeom>
              <a:avLst/>
              <a:gdLst>
                <a:gd name="csX0" fmla="*/ 32675 w 65297"/>
                <a:gd name="csY0" fmla="*/ 50990 h 50989"/>
                <a:gd name="csX1" fmla="*/ 11244 w 65297"/>
                <a:gd name="csY1" fmla="*/ 43465 h 50989"/>
                <a:gd name="csX2" fmla="*/ 9720 w 65297"/>
                <a:gd name="csY2" fmla="*/ 8699 h 50989"/>
                <a:gd name="csX3" fmla="*/ 47724 w 65297"/>
                <a:gd name="csY3" fmla="*/ 1745 h 50989"/>
                <a:gd name="csX4" fmla="*/ 57059 w 65297"/>
                <a:gd name="csY4" fmla="*/ 37464 h 50989"/>
                <a:gd name="csX5" fmla="*/ 32675 w 65297"/>
                <a:gd name="csY5" fmla="*/ 50990 h 50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5297" h="50989">
                  <a:moveTo>
                    <a:pt x="32675" y="50990"/>
                  </a:moveTo>
                  <a:cubicBezTo>
                    <a:pt x="23912" y="48037"/>
                    <a:pt x="16959" y="46799"/>
                    <a:pt x="11244" y="43465"/>
                  </a:cubicBezTo>
                  <a:cubicBezTo>
                    <a:pt x="-3139" y="35083"/>
                    <a:pt x="-3806" y="18509"/>
                    <a:pt x="9720" y="8699"/>
                  </a:cubicBezTo>
                  <a:cubicBezTo>
                    <a:pt x="21150" y="412"/>
                    <a:pt x="34104" y="-2065"/>
                    <a:pt x="47724" y="1745"/>
                  </a:cubicBezTo>
                  <a:cubicBezTo>
                    <a:pt x="66298" y="6889"/>
                    <a:pt x="71346" y="24605"/>
                    <a:pt x="57059" y="37464"/>
                  </a:cubicBezTo>
                  <a:cubicBezTo>
                    <a:pt x="50106" y="43655"/>
                    <a:pt x="40390" y="46799"/>
                    <a:pt x="32675" y="509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9973171" y="5807764"/>
              <a:ext cx="128116" cy="101533"/>
            </a:xfrm>
            <a:custGeom>
              <a:avLst/>
              <a:gdLst>
                <a:gd name="csX0" fmla="*/ 34093 w 62287"/>
                <a:gd name="csY0" fmla="*/ 0 h 49363"/>
                <a:gd name="csX1" fmla="*/ 53619 w 62287"/>
                <a:gd name="csY1" fmla="*/ 8096 h 49363"/>
                <a:gd name="csX2" fmla="*/ 56667 w 62287"/>
                <a:gd name="csY2" fmla="*/ 36767 h 49363"/>
                <a:gd name="csX3" fmla="*/ 12566 w 62287"/>
                <a:gd name="csY3" fmla="*/ 46672 h 49363"/>
                <a:gd name="csX4" fmla="*/ 2470 w 62287"/>
                <a:gd name="csY4" fmla="*/ 19431 h 49363"/>
                <a:gd name="csX5" fmla="*/ 34093 w 62287"/>
                <a:gd name="csY5" fmla="*/ 0 h 49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287" h="49363">
                  <a:moveTo>
                    <a:pt x="34093" y="0"/>
                  </a:moveTo>
                  <a:cubicBezTo>
                    <a:pt x="40665" y="2667"/>
                    <a:pt x="47904" y="4286"/>
                    <a:pt x="53619" y="8096"/>
                  </a:cubicBezTo>
                  <a:cubicBezTo>
                    <a:pt x="64192" y="15145"/>
                    <a:pt x="64954" y="27146"/>
                    <a:pt x="56667" y="36767"/>
                  </a:cubicBezTo>
                  <a:cubicBezTo>
                    <a:pt x="46856" y="48101"/>
                    <a:pt x="26378" y="52769"/>
                    <a:pt x="12566" y="46672"/>
                  </a:cubicBezTo>
                  <a:cubicBezTo>
                    <a:pt x="851" y="41529"/>
                    <a:pt x="-3055" y="31052"/>
                    <a:pt x="2470" y="19431"/>
                  </a:cubicBezTo>
                  <a:cubicBezTo>
                    <a:pt x="7804" y="8477"/>
                    <a:pt x="19901" y="1429"/>
                    <a:pt x="3409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28" name="任意多边形: 形状 27"/>
            <p:cNvSpPr/>
            <p:nvPr/>
          </p:nvSpPr>
          <p:spPr>
            <a:xfrm>
              <a:off x="9870474" y="5950000"/>
              <a:ext cx="126191" cy="94521"/>
            </a:xfrm>
            <a:custGeom>
              <a:avLst/>
              <a:gdLst>
                <a:gd name="csX0" fmla="*/ 28586 w 61351"/>
                <a:gd name="csY0" fmla="*/ 0 h 45954"/>
                <a:gd name="csX1" fmla="*/ 46207 w 61351"/>
                <a:gd name="csY1" fmla="*/ 4191 h 45954"/>
                <a:gd name="csX2" fmla="*/ 61352 w 61351"/>
                <a:gd name="csY2" fmla="*/ 23622 h 45954"/>
                <a:gd name="csX3" fmla="*/ 47160 w 61351"/>
                <a:gd name="csY3" fmla="*/ 42291 h 45954"/>
                <a:gd name="csX4" fmla="*/ 18299 w 61351"/>
                <a:gd name="csY4" fmla="*/ 45529 h 45954"/>
                <a:gd name="csX5" fmla="*/ 6964 w 61351"/>
                <a:gd name="csY5" fmla="*/ 13049 h 45954"/>
                <a:gd name="csX6" fmla="*/ 28586 w 61351"/>
                <a:gd name="csY6" fmla="*/ 0 h 4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351" h="45954">
                  <a:moveTo>
                    <a:pt x="28586" y="0"/>
                  </a:moveTo>
                  <a:cubicBezTo>
                    <a:pt x="36682" y="1905"/>
                    <a:pt x="41730" y="2381"/>
                    <a:pt x="46207" y="4191"/>
                  </a:cubicBezTo>
                  <a:cubicBezTo>
                    <a:pt x="54780" y="7620"/>
                    <a:pt x="61352" y="13525"/>
                    <a:pt x="61352" y="23622"/>
                  </a:cubicBezTo>
                  <a:cubicBezTo>
                    <a:pt x="61352" y="33147"/>
                    <a:pt x="55542" y="40005"/>
                    <a:pt x="47160" y="42291"/>
                  </a:cubicBezTo>
                  <a:cubicBezTo>
                    <a:pt x="37920" y="44863"/>
                    <a:pt x="27633" y="46863"/>
                    <a:pt x="18299" y="45529"/>
                  </a:cubicBezTo>
                  <a:cubicBezTo>
                    <a:pt x="-275" y="42958"/>
                    <a:pt x="-5895" y="26670"/>
                    <a:pt x="6964" y="13049"/>
                  </a:cubicBezTo>
                  <a:cubicBezTo>
                    <a:pt x="12965" y="6668"/>
                    <a:pt x="22395" y="3620"/>
                    <a:pt x="285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grpSp>
        <p:nvGrpSpPr>
          <p:cNvPr id="37" name="组合 36"/>
          <p:cNvGrpSpPr/>
          <p:nvPr/>
        </p:nvGrpSpPr>
        <p:grpSpPr>
          <a:xfrm>
            <a:off x="568202" y="632729"/>
            <a:ext cx="379536" cy="345410"/>
            <a:chOff x="950962" y="1985807"/>
            <a:chExt cx="379536" cy="345410"/>
          </a:xfrm>
          <a:solidFill>
            <a:schemeClr val="bg1"/>
          </a:solidFill>
        </p:grpSpPr>
        <p:sp>
          <p:nvSpPr>
            <p:cNvPr id="29" name="任意多边形: 形状 28"/>
            <p:cNvSpPr/>
            <p:nvPr/>
          </p:nvSpPr>
          <p:spPr>
            <a:xfrm>
              <a:off x="1000853" y="2009228"/>
              <a:ext cx="102767" cy="90027"/>
            </a:xfrm>
            <a:custGeom>
              <a:avLst/>
              <a:gdLst>
                <a:gd name="csX0" fmla="*/ 25665 w 49963"/>
                <a:gd name="csY0" fmla="*/ 43767 h 43769"/>
                <a:gd name="csX1" fmla="*/ 18140 w 49963"/>
                <a:gd name="csY1" fmla="*/ 42338 h 43769"/>
                <a:gd name="csX2" fmla="*/ 233 w 49963"/>
                <a:gd name="csY2" fmla="*/ 22526 h 43769"/>
                <a:gd name="csX3" fmla="*/ 10711 w 49963"/>
                <a:gd name="csY3" fmla="*/ 2905 h 43769"/>
                <a:gd name="csX4" fmla="*/ 38048 w 49963"/>
                <a:gd name="csY4" fmla="*/ 6810 h 43769"/>
                <a:gd name="csX5" fmla="*/ 49287 w 49963"/>
                <a:gd name="csY5" fmla="*/ 24908 h 43769"/>
                <a:gd name="csX6" fmla="*/ 25665 w 49963"/>
                <a:gd name="csY6" fmla="*/ 43767 h 43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963" h="43769">
                  <a:moveTo>
                    <a:pt x="25665" y="43767"/>
                  </a:moveTo>
                  <a:cubicBezTo>
                    <a:pt x="24046" y="43481"/>
                    <a:pt x="20998" y="43196"/>
                    <a:pt x="18140" y="42338"/>
                  </a:cubicBezTo>
                  <a:cubicBezTo>
                    <a:pt x="8234" y="39386"/>
                    <a:pt x="1662" y="33099"/>
                    <a:pt x="233" y="22526"/>
                  </a:cubicBezTo>
                  <a:cubicBezTo>
                    <a:pt x="-1005" y="13668"/>
                    <a:pt x="2710" y="6810"/>
                    <a:pt x="10711" y="2905"/>
                  </a:cubicBezTo>
                  <a:cubicBezTo>
                    <a:pt x="20522" y="-1858"/>
                    <a:pt x="30428" y="-905"/>
                    <a:pt x="38048" y="6810"/>
                  </a:cubicBezTo>
                  <a:cubicBezTo>
                    <a:pt x="42906" y="11763"/>
                    <a:pt x="46811" y="18335"/>
                    <a:pt x="49287" y="24908"/>
                  </a:cubicBezTo>
                  <a:cubicBezTo>
                    <a:pt x="52907" y="34718"/>
                    <a:pt x="41572" y="43958"/>
                    <a:pt x="25665" y="4376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任意多边形: 形状 29"/>
            <p:cNvSpPr/>
            <p:nvPr/>
          </p:nvSpPr>
          <p:spPr>
            <a:xfrm>
              <a:off x="1175504" y="2126087"/>
              <a:ext cx="88386" cy="85817"/>
            </a:xfrm>
            <a:custGeom>
              <a:avLst/>
              <a:gdLst>
                <a:gd name="csX0" fmla="*/ 17431 w 42971"/>
                <a:gd name="csY0" fmla="*/ 2 h 41722"/>
                <a:gd name="csX1" fmla="*/ 42958 w 42971"/>
                <a:gd name="csY1" fmla="*/ 26101 h 41722"/>
                <a:gd name="csX2" fmla="*/ 24479 w 42971"/>
                <a:gd name="csY2" fmla="*/ 41722 h 41722"/>
                <a:gd name="csX3" fmla="*/ 0 w 42971"/>
                <a:gd name="csY3" fmla="*/ 17052 h 41722"/>
                <a:gd name="csX4" fmla="*/ 17431 w 42971"/>
                <a:gd name="csY4" fmla="*/ 2 h 41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971" h="41722">
                  <a:moveTo>
                    <a:pt x="17431" y="2"/>
                  </a:moveTo>
                  <a:cubicBezTo>
                    <a:pt x="29718" y="-188"/>
                    <a:pt x="42386" y="12766"/>
                    <a:pt x="42958" y="26101"/>
                  </a:cubicBezTo>
                  <a:cubicBezTo>
                    <a:pt x="43339" y="35245"/>
                    <a:pt x="35719" y="41626"/>
                    <a:pt x="24479" y="41722"/>
                  </a:cubicBezTo>
                  <a:cubicBezTo>
                    <a:pt x="10763" y="41817"/>
                    <a:pt x="95" y="31054"/>
                    <a:pt x="0" y="17052"/>
                  </a:cubicBezTo>
                  <a:cubicBezTo>
                    <a:pt x="0" y="7336"/>
                    <a:pt x="7239" y="193"/>
                    <a:pt x="17431" y="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任意多边形: 形状 30"/>
            <p:cNvSpPr/>
            <p:nvPr/>
          </p:nvSpPr>
          <p:spPr>
            <a:xfrm>
              <a:off x="1054211" y="2139414"/>
              <a:ext cx="94268" cy="78955"/>
            </a:xfrm>
            <a:custGeom>
              <a:avLst/>
              <a:gdLst>
                <a:gd name="csX0" fmla="*/ 23822 w 45831"/>
                <a:gd name="csY0" fmla="*/ 38386 h 38386"/>
                <a:gd name="csX1" fmla="*/ 10 w 45831"/>
                <a:gd name="csY1" fmla="*/ 18860 h 38386"/>
                <a:gd name="csX2" fmla="*/ 22108 w 45831"/>
                <a:gd name="csY2" fmla="*/ 1 h 38386"/>
                <a:gd name="csX3" fmla="*/ 45825 w 45831"/>
                <a:gd name="csY3" fmla="*/ 20384 h 38386"/>
                <a:gd name="csX4" fmla="*/ 23822 w 45831"/>
                <a:gd name="csY4" fmla="*/ 38386 h 3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31" h="38386">
                  <a:moveTo>
                    <a:pt x="23822" y="38386"/>
                  </a:moveTo>
                  <a:cubicBezTo>
                    <a:pt x="10678" y="38291"/>
                    <a:pt x="-371" y="29338"/>
                    <a:pt x="10" y="18860"/>
                  </a:cubicBezTo>
                  <a:cubicBezTo>
                    <a:pt x="391" y="8859"/>
                    <a:pt x="10963" y="-95"/>
                    <a:pt x="22108" y="1"/>
                  </a:cubicBezTo>
                  <a:cubicBezTo>
                    <a:pt x="34014" y="96"/>
                    <a:pt x="45444" y="10002"/>
                    <a:pt x="45825" y="20384"/>
                  </a:cubicBezTo>
                  <a:cubicBezTo>
                    <a:pt x="46111" y="30671"/>
                    <a:pt x="36681" y="38386"/>
                    <a:pt x="23822" y="3838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任意多边形: 形状 31"/>
            <p:cNvSpPr/>
            <p:nvPr/>
          </p:nvSpPr>
          <p:spPr>
            <a:xfrm>
              <a:off x="1233876" y="2061633"/>
              <a:ext cx="96622" cy="72883"/>
            </a:xfrm>
            <a:custGeom>
              <a:avLst/>
              <a:gdLst>
                <a:gd name="csX0" fmla="*/ 21151 w 46975"/>
                <a:gd name="csY0" fmla="*/ 1 h 35434"/>
                <a:gd name="csX1" fmla="*/ 46963 w 46975"/>
                <a:gd name="csY1" fmla="*/ 21242 h 35434"/>
                <a:gd name="csX2" fmla="*/ 25437 w 46975"/>
                <a:gd name="csY2" fmla="*/ 35434 h 35434"/>
                <a:gd name="csX3" fmla="*/ 5 w 46975"/>
                <a:gd name="csY3" fmla="*/ 16384 h 35434"/>
                <a:gd name="csX4" fmla="*/ 21151 w 46975"/>
                <a:gd name="csY4" fmla="*/ 1 h 35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5" h="35434">
                  <a:moveTo>
                    <a:pt x="21151" y="1"/>
                  </a:moveTo>
                  <a:cubicBezTo>
                    <a:pt x="33343" y="96"/>
                    <a:pt x="47440" y="11717"/>
                    <a:pt x="46963" y="21242"/>
                  </a:cubicBezTo>
                  <a:cubicBezTo>
                    <a:pt x="46487" y="29528"/>
                    <a:pt x="37534" y="35434"/>
                    <a:pt x="25437" y="35434"/>
                  </a:cubicBezTo>
                  <a:cubicBezTo>
                    <a:pt x="11245" y="35529"/>
                    <a:pt x="-281" y="26766"/>
                    <a:pt x="5" y="16384"/>
                  </a:cubicBezTo>
                  <a:cubicBezTo>
                    <a:pt x="291" y="7240"/>
                    <a:pt x="9721" y="-94"/>
                    <a:pt x="21151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任意多边形: 形状 32"/>
            <p:cNvSpPr/>
            <p:nvPr/>
          </p:nvSpPr>
          <p:spPr>
            <a:xfrm>
              <a:off x="1126294" y="1985807"/>
              <a:ext cx="85259" cy="66032"/>
            </a:xfrm>
            <a:custGeom>
              <a:avLst/>
              <a:gdLst>
                <a:gd name="csX0" fmla="*/ 21544 w 41451"/>
                <a:gd name="csY0" fmla="*/ 32103 h 32103"/>
                <a:gd name="csX1" fmla="*/ 17 w 41451"/>
                <a:gd name="csY1" fmla="*/ 14958 h 32103"/>
                <a:gd name="csX2" fmla="*/ 19734 w 41451"/>
                <a:gd name="csY2" fmla="*/ 4 h 32103"/>
                <a:gd name="csX3" fmla="*/ 41451 w 41451"/>
                <a:gd name="csY3" fmla="*/ 19245 h 32103"/>
                <a:gd name="csX4" fmla="*/ 21544 w 41451"/>
                <a:gd name="csY4" fmla="*/ 32103 h 32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1451" h="32103">
                  <a:moveTo>
                    <a:pt x="21544" y="32103"/>
                  </a:moveTo>
                  <a:cubicBezTo>
                    <a:pt x="9066" y="32008"/>
                    <a:pt x="-459" y="24483"/>
                    <a:pt x="17" y="14958"/>
                  </a:cubicBezTo>
                  <a:cubicBezTo>
                    <a:pt x="398" y="6481"/>
                    <a:pt x="9161" y="-186"/>
                    <a:pt x="19734" y="4"/>
                  </a:cubicBezTo>
                  <a:cubicBezTo>
                    <a:pt x="30783" y="99"/>
                    <a:pt x="41546" y="9720"/>
                    <a:pt x="41451" y="19245"/>
                  </a:cubicBezTo>
                  <a:cubicBezTo>
                    <a:pt x="41260" y="26579"/>
                    <a:pt x="32688" y="32103"/>
                    <a:pt x="21544" y="3210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任意多边形: 形状 33"/>
            <p:cNvSpPr/>
            <p:nvPr/>
          </p:nvSpPr>
          <p:spPr>
            <a:xfrm>
              <a:off x="950962" y="2182888"/>
              <a:ext cx="83141" cy="64868"/>
            </a:xfrm>
            <a:custGeom>
              <a:avLst/>
              <a:gdLst>
                <a:gd name="csX0" fmla="*/ 24109 w 40421"/>
                <a:gd name="csY0" fmla="*/ 31537 h 31537"/>
                <a:gd name="csX1" fmla="*/ 10 w 40421"/>
                <a:gd name="csY1" fmla="*/ 14392 h 31537"/>
                <a:gd name="csX2" fmla="*/ 20108 w 40421"/>
                <a:gd name="csY2" fmla="*/ 10 h 31537"/>
                <a:gd name="csX3" fmla="*/ 40396 w 40421"/>
                <a:gd name="csY3" fmla="*/ 18964 h 31537"/>
                <a:gd name="csX4" fmla="*/ 24109 w 40421"/>
                <a:gd name="csY4" fmla="*/ 31537 h 31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421" h="31537">
                  <a:moveTo>
                    <a:pt x="24109" y="31537"/>
                  </a:moveTo>
                  <a:cubicBezTo>
                    <a:pt x="9916" y="31251"/>
                    <a:pt x="-371" y="23631"/>
                    <a:pt x="10" y="14392"/>
                  </a:cubicBezTo>
                  <a:cubicBezTo>
                    <a:pt x="391" y="5915"/>
                    <a:pt x="9059" y="-276"/>
                    <a:pt x="20108" y="10"/>
                  </a:cubicBezTo>
                  <a:cubicBezTo>
                    <a:pt x="31633" y="390"/>
                    <a:pt x="40968" y="8772"/>
                    <a:pt x="40396" y="18964"/>
                  </a:cubicBezTo>
                  <a:cubicBezTo>
                    <a:pt x="39730" y="29632"/>
                    <a:pt x="31729" y="31156"/>
                    <a:pt x="24109" y="3153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任意多边形: 形状 34"/>
            <p:cNvSpPr/>
            <p:nvPr/>
          </p:nvSpPr>
          <p:spPr>
            <a:xfrm>
              <a:off x="1051278" y="2266360"/>
              <a:ext cx="81717" cy="64857"/>
            </a:xfrm>
            <a:custGeom>
              <a:avLst/>
              <a:gdLst>
                <a:gd name="csX0" fmla="*/ 19724 w 39729"/>
                <a:gd name="csY0" fmla="*/ 31532 h 31532"/>
                <a:gd name="csX1" fmla="*/ 7 w 39729"/>
                <a:gd name="csY1" fmla="*/ 15434 h 31532"/>
                <a:gd name="csX2" fmla="*/ 20676 w 39729"/>
                <a:gd name="csY2" fmla="*/ 4 h 31532"/>
                <a:gd name="csX3" fmla="*/ 39726 w 39729"/>
                <a:gd name="csY3" fmla="*/ 15815 h 31532"/>
                <a:gd name="csX4" fmla="*/ 19724 w 39729"/>
                <a:gd name="csY4" fmla="*/ 31532 h 315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729" h="31532">
                  <a:moveTo>
                    <a:pt x="19724" y="31532"/>
                  </a:moveTo>
                  <a:cubicBezTo>
                    <a:pt x="8008" y="31436"/>
                    <a:pt x="-279" y="24674"/>
                    <a:pt x="7" y="15434"/>
                  </a:cubicBezTo>
                  <a:cubicBezTo>
                    <a:pt x="198" y="6671"/>
                    <a:pt x="9342" y="-187"/>
                    <a:pt x="20676" y="4"/>
                  </a:cubicBezTo>
                  <a:cubicBezTo>
                    <a:pt x="31535" y="194"/>
                    <a:pt x="39441" y="6767"/>
                    <a:pt x="39726" y="15815"/>
                  </a:cubicBezTo>
                  <a:cubicBezTo>
                    <a:pt x="39917" y="24959"/>
                    <a:pt x="31440" y="31627"/>
                    <a:pt x="19724" y="315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任意多边形: 形状 35"/>
            <p:cNvSpPr/>
            <p:nvPr/>
          </p:nvSpPr>
          <p:spPr>
            <a:xfrm>
              <a:off x="1159829" y="2268324"/>
              <a:ext cx="81629" cy="59213"/>
            </a:xfrm>
            <a:custGeom>
              <a:avLst/>
              <a:gdLst>
                <a:gd name="csX0" fmla="*/ 18289 w 39686"/>
                <a:gd name="csY0" fmla="*/ 1 h 28788"/>
                <a:gd name="csX1" fmla="*/ 39625 w 39686"/>
                <a:gd name="csY1" fmla="*/ 15718 h 28788"/>
                <a:gd name="csX2" fmla="*/ 21337 w 39686"/>
                <a:gd name="csY2" fmla="*/ 28767 h 28788"/>
                <a:gd name="csX3" fmla="*/ 1 w 39686"/>
                <a:gd name="csY3" fmla="*/ 12955 h 28788"/>
                <a:gd name="csX4" fmla="*/ 18289 w 39686"/>
                <a:gd name="csY4" fmla="*/ 1 h 28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686" h="28788">
                  <a:moveTo>
                    <a:pt x="18289" y="1"/>
                  </a:moveTo>
                  <a:cubicBezTo>
                    <a:pt x="30385" y="97"/>
                    <a:pt x="40577" y="7240"/>
                    <a:pt x="39625" y="15718"/>
                  </a:cubicBezTo>
                  <a:cubicBezTo>
                    <a:pt x="38482" y="26386"/>
                    <a:pt x="30195" y="28481"/>
                    <a:pt x="21337" y="28767"/>
                  </a:cubicBezTo>
                  <a:cubicBezTo>
                    <a:pt x="9621" y="29243"/>
                    <a:pt x="-95" y="21718"/>
                    <a:pt x="1" y="12955"/>
                  </a:cubicBezTo>
                  <a:cubicBezTo>
                    <a:pt x="191" y="5145"/>
                    <a:pt x="7525" y="-94"/>
                    <a:pt x="1828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4c1c560-07e4-4903-b0b7-fc1cb353e47f">
      <a:majorFont>
        <a:latin typeface="HarmonyOS Sans SC Light"/>
        <a:ea typeface="阿里巴巴普惠体 2 55 Regular"/>
        <a:cs typeface=""/>
      </a:majorFont>
      <a:minorFont>
        <a:latin typeface="HarmonyOS Sans SC Light"/>
        <a:ea typeface="阿里巴巴普惠体 2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56C80"/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4775</Words>
  <Application>WPS 演示</Application>
  <PresentationFormat>宽屏</PresentationFormat>
  <Paragraphs>672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8" baseType="lpstr">
      <vt:lpstr>Arial</vt:lpstr>
      <vt:lpstr>宋体</vt:lpstr>
      <vt:lpstr>Wingdings</vt:lpstr>
      <vt:lpstr>HarmonyOS Sans SC Light</vt:lpstr>
      <vt:lpstr>阿里巴巴普惠体 2.0 55 Regular</vt:lpstr>
      <vt:lpstr>乐米元气团团体 Bold</vt:lpstr>
      <vt:lpstr>思源宋体 CN Heavy</vt:lpstr>
      <vt:lpstr>HarmonyOS Sans SC Black</vt:lpstr>
      <vt:lpstr>KSOF28C28C15</vt:lpstr>
      <vt:lpstr>FFont-Family</vt:lpstr>
      <vt:lpstr>阿里巴巴普惠体 2 55 Regular</vt:lpstr>
      <vt:lpstr>KSOF28C30074</vt:lpstr>
      <vt:lpstr>微软雅黑</vt:lpstr>
      <vt:lpstr>Arial Unicode MS</vt:lpstr>
      <vt:lpstr>等线</vt:lpstr>
      <vt:lpstr>Agency FB</vt:lpstr>
      <vt:lpstr>Calibri</vt:lpstr>
      <vt:lpstr>MiSans Demibold</vt:lpstr>
      <vt:lpstr>Gill Sans</vt:lpstr>
      <vt:lpstr>ヒラギノ角ゴ ProN W3</vt:lpstr>
      <vt:lpstr>KSOFD38F9ACC</vt:lpstr>
      <vt:lpstr>KSOFE22CBF3B</vt:lpstr>
      <vt:lpstr>Trebuchet MS</vt:lpstr>
      <vt:lpstr>Yu Gothic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莫兰迪灰粉流体几何风工作总结报告PPT模板</dc:title>
  <dc:creator>©51PPT模板网（www.51pptmoban.com）</dc:creator>
  <cp:keywords>版权归属：51PPT模板网；</cp:keywords>
  <dc:description>51PPT模板网，幻灯片演示模板及素材免费下载！
51PPT模板网 唯一访问网址：www.51pptmoban.com。</dc:description>
  <cp:lastModifiedBy>寶安居士</cp:lastModifiedBy>
  <cp:revision>1590</cp:revision>
  <dcterms:created xsi:type="dcterms:W3CDTF">2026-05-24T00:54:00Z</dcterms:created>
  <dcterms:modified xsi:type="dcterms:W3CDTF">2026-10-18T01:07:12Z</dcterms:modified>
  <cp:version>51pptmoban.com（V51PPT-26091501版）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C0490160CEB74B9F88DF999E242D42F9_12</vt:lpwstr>
  </property>
  <property fmtid="{D5CDD505-2E9C-101B-9397-08002B2CF9AE}" pid="3" name="KSOProductBuildVer">
    <vt:lpwstr>2052-12.1.0.29161</vt:lpwstr>
  </property>
</Properties>
</file>