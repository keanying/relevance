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3"/>
  </p:sldMasterIdLst>
  <p:notesMasterIdLst>
    <p:notesMasterId r:id="rId82"/>
  </p:notesMasterIdLst>
  <p:handoutMasterIdLst>
    <p:handoutMasterId r:id="rId8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</p:sldIdLst>
  <p:sldSz cx="11522075" cy="8640445"/>
  <p:notesSz cx="6858000" cy="9144000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1pPr>
    <a:lvl2pPr marL="5759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2pPr>
    <a:lvl3pPr marL="11518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3pPr>
    <a:lvl4pPr marL="172847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4pPr>
    <a:lvl5pPr marL="230441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5pPr>
    <a:lvl6pPr marL="288036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6pPr>
    <a:lvl7pPr marL="3456305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7pPr>
    <a:lvl8pPr marL="403225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8pPr>
    <a:lvl9pPr marL="460883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22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990099"/>
    <a:srgbClr val="FF3399"/>
    <a:srgbClr val="66FF33"/>
    <a:srgbClr val="99FF66"/>
    <a:srgbClr val="FFCC66"/>
    <a:srgbClr val="FF9900"/>
    <a:srgbClr val="FFFFFF"/>
    <a:srgbClr val="FFCC0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34" autoAdjust="0"/>
    <p:restoredTop sz="95672" autoAdjust="0"/>
  </p:normalViewPr>
  <p:slideViewPr>
    <p:cSldViewPr showGuides="1">
      <p:cViewPr>
        <p:scale>
          <a:sx n="50" d="100"/>
          <a:sy n="50" d="100"/>
        </p:scale>
        <p:origin x="2814" y="1077"/>
      </p:cViewPr>
      <p:guideLst>
        <p:guide orient="horz" pos="2722"/>
        <p:guide pos="362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5304"/>
    </p:cViewPr>
  </p:sorterViewPr>
  <p:notesViewPr>
    <p:cSldViewPr>
      <p:cViewPr varScale="1">
        <p:scale>
          <a:sx n="81" d="100"/>
          <a:sy n="81" d="100"/>
        </p:scale>
        <p:origin x="-3288" y="-10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82" Type="http://schemas.openxmlformats.org/officeDocument/2006/relationships/notesMaster" Target="notesMasters/notesMaster1.xml"/><Relationship Id="rId83" Type="http://schemas.openxmlformats.org/officeDocument/2006/relationships/handoutMaster" Target="handoutMasters/handout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E1A7895-9E8F-4C50-B5E8-7345F3E6B0B6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1C19984-4B2A-48B4-B869-87DEC631B6E0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D0698-BD05-4639-9D81-B9F65B9CB3B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0DEE79-D6A9-404B-B2E7-14B1D354893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594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5189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847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30441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8036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5630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3225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60883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今天向您汇报三件事：第一，我们的数据平台要怎么建，让公司的数据理得清、算得准；第二，智能体，也就是能帮我们干活的 AI 助手，要怎么做、怎么卖；第三，这两件事打通以后，数据怎么在公司里转起来，越用越准。整体按实际能落地的思路讲，不讲虚的。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结论。第一件事是数据平台：把公司的数据理清、算准、管住，同一个数全公司只有一个答案。第二件事是智能体：先借现成的平台快速做出来、卖出去，验证能赚钱，再快速铺到更多景区，等规模起来再自己建平台，省钱、交付快。第三件事是把两者打通：业务产生的数据经过平台整理，给智能体和报表用，用完的结果再回来，数据越用越准。最后有几件事需要您拍板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第一部分：数据平台，把数据理清、算准、管住。主要讲：现状、问题、手里的数据、怎么建、怎么治理、数据安全、建成后的变化。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先说现状。工具上，我们已经买了阿里云 DataWorks 的核心模块，相当于数据加工的车间；有动态数据开放 API，是对内对外提供数据的窗口；有小Q 看报表；数据仓库也建了一部分。最重要的是主干道已经通了：每天会把前一天的订单、游客、供应商这些核心数据自动算好。但还有几块没做：实时数据、数据质量检查、统一标签、指标口径管理、数据规范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说问题，都是平时真实遇到的。一是数据散：想看售票加二消加结算的综合情况，要从三个以上系统导数据、手工拼表。二是一个数多个答案：同一天同一个景区，看板、对账、接口三个地方的核销量不一样。三是没规矩：表名随便起、字段没说明、没人负责。四是重复干活：同一张订单表，两个地方各做一份，结果还对不上。五是数字不准：入园、核销和现场对不上，节假日更明显。六是看得慢：订单核销第二天才能看到，高峰期靠人盯。前五个问题根子是同一个：没有统一的规矩、口径和检查，所以要系统地治理；最后一个是能力缺口，要补实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数据按业务分成八大块。交易：卖了多少票、核销多少；商品与资源：产品、库存；用户：游客和会员；合作方：供应商；流量营销：渠道和活动；运营：日常运营数据；财务：结算和对账；内部管理：系统任务和成本。现在订单、用户、供应商这几块已经进了数据仓库，其他是部分进入。现场设备、外部数据、AI 产生的数据后面要补上。我们的难点不在数据量，而在节假日高峰、订单状态多次变化、设备离线补传，以及多景区之间的数据隔离。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这张图是整个数据平台的样子，从下往上看。最下面是数据从哪来：票务、订单、小程序、供应商、营销、渠道、设备和外部数据。往上是统一底座，就是数据仓库，DataWorks 和每天的主流程已经有了，要补实时计算。再往上是“算好的数”，也就是统一的指标和标签，小Q 用来看。再往上是数据服务，对外提供数据的窗口，动态数据开放 API 已经有。然后是 AI 能力，让 AI 能用这些数据。最上面是谁在用：内部经营、景区运营、合作伙伴、行业报告。右边的数据治理贯穿每一层。深色是已经有的，白色是要新建或升级的。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治理听起来很技术，其实就六件事。一是定规矩：表怎么起名、字段怎么写，全公司一个说法，就像公司统一的文件命名规范。二是统一编码：景区、商品、渠道、供应商、游客，全公司一个编号，不会一个景区有三个名字。三是说清来源：每个数从哪来、到哪去，出了错能顺藤摸瓜。四是每天体检：关键数据算完自动检查，不合格就拦住，不让错数流到报表里，同时通知负责人。五是统一口径：比如核销量，全公司只有一个算法。六是管好权限：谁能看什么，手机号身份证这类信息要打码。关键一点：这些规矩不只是写在文档里，而是写进开发流程里，不合规的表发不出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最常见的例子：核销量。第一步，先把四个容易混的数分开：核销次数、有效核销票数、入园人次、去重游客数，这四个不是一回事，以前经常混着用，所以各处对不上。第二步，从闸机到业务系统、到数据仓库、再到报表和接口，每一层都按景区加日期对一次数。第三步，对不上就自动报警，查原因、修复、重算。常见的原因有设备离线后补传、重复上报、撤销冲正、按下单时间还是核销时间统计混用。核销做通了，同样的方法复制到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标和标签是两个常用的词。指标就是数一数，比如卖了多少、来了多少人；标签就是贴个签，比如这个游客是年卡用户、喜欢夜游。我们的做法是两级：集团统一出一套标准的指标和标签，按级别下发给景区和供应商，大家用同一套口径；如果标准的不够用，景区和供应商可以在自己的空间里自定义，只给自己用，不影响别人；好用的自定义指标，评审后收回来变成集团标准。认证过的指标和标签才能进老板看板、对外接口和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安全分四级管理。最高的是高敏信息，比如手机号、身份证、人脸，要加密、打码，明文不进大模型。第二级是敏感数据，比如单个景区的经营数据、价格、结算，按景区和供应商隔离，跨主体只能看汇总。第三级是内部数据，比如日志、设备状态，内部按角色授权。最低一级是公开信息。再加三条底线：景区的数据只给这个景区用，供应商的数据只给这个供应商用，对外只给汇总以后的数。申请权限要审批、到期自动回收，访问全程留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落到实处是六件事。一是统一规范：新表不合规就发不出去。二是统一底座：一份存储，每天算加实时算两种方式，订单核销能做到分钟级看到。三是离线和湖仓合一：同一个逻辑只写一遍，不再出两套结果。四是统一指标：企业一个口径，景区保留自己专属的。五是标签复用：一处做好，营销、分析、AI 都能用。六是自助分析：业务自己看数，少找人要数。推进上，先在订单到核销到结算这条主线上试点，跑通了再推广到其他业务。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成以后对公司有五个变化。可信：一个指标一个口径，每个数都能追溯来源，开会不用先对数。及时：订单、核销从第二天才能看到，变成几分钟就能看到。省事：做新需求优先用现成的模型，改一个地方能预判影响哪些报表。省钱：重复的模型、没人用的报表和任务下线，存储和计算成本下来。安全：敏感数据分级、打码、可审计。衡量的时候先建立基线再定目标，看实际使用效果，不看上了多少个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各个业务线，变化很具体。管理层：驾驶舱全部用认证过的指标，不用先对数。票务：核销口径统一，有差异自动定位，节假日实时看。财务：业务和财务逐层对账，差异自动列出原因。渠道：销量、佣金、返利口径统一。营销：用标签圈人、用指标看效果。运营和客户成功：景区经营报告自动生成。产品研发：上线前定好埋点和口径，上线就有数据。数据团队：从天天帮人取数对数，转向建模型做分析。景区和供应商：直接用集团标准的指标和标签，不够用可以自己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第二部分：智能体平台，先借力卖起来，再自己建。主要讲：现状、能做哪些、怎么走、先验证、再复制、什么时候自建、能省什么。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先解释一下智能体：就是能听懂问题、还能帮你办事的 AI 助手。我们现在一共有 8 个智能体，来自三个地方。第一类是在字节的扣子平台上用工作流搭出来的，有 5 个：智能助手、智能客服、智能导览、AI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这些年在票务、九大业态、运营、财务、终端、会员营销上的积累，能做的智能体远不止现在这 8 个。我们按游客和景区两边梳理了一下：游客这边可以做 17 个，从游前的咨询规划购票，到游中的导览陪伴、乐园排队、演出选座、餐饮推荐、停车引导，到游后的拍照、游记、点评、年卡续费。景区这边可以做 28 个，包括问数洞察、票务运营助手、对账助手、发票助手、营销圈人和文案、消息预警和工单，还有调度中枢的 8 个安全调度类智能体。我们的底气在于：系统就在景区现场，交易和客流数据在我们手里，还有大量已经在用我们票务的景区客户。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整体分三步走。第一步借力验证：借扣子、火山方舟、羚羊小Q 这些现成平台，用最小的投入回答四个问题：卖给谁、卖什么、怎么收钱、能不能赚钱。过了第一关，商业模式跑通了，进入第二步借力复制：还是借平台，把跑通的产品快速铺到各类景区，抢市场。规模起来以后看第二关：自己建是不是更划算。划算了进入第三步，自己建平台。为什么先借力？因为现在还不知道景区愿不愿意买、愿意付多少钱，先自建等于需求没验证就砸钱。为什么最终要自建？规模大了平台费越来越高，功能受限，数据也在别人那里。最关键的一条：借平台，但不把资产交出去，知识、接口、数据、模板从第一天起就留在自己手里，这样第三步才能低成本切过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步要回答五个问题。卖给谁：哪类景区最需要、最愿意付钱。卖什么：哪些智能体组合起来景区最认。怎么收钱：有四种方式可以选，随票务打包、按年订阅、按效果分成、按用量收费，建议先同时试前两种，看哪个成交快、续费稳。花多少钱：平台调用费、交付人力、运营支持，一个景区算得清。值不值：景区看得到价值，少用人工、多卖票、游客更满意。最后算一笔账：一个景区一年的收入，减去平台费、交付和运营成本，大于零才算能赚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怎么验证：从已经在用我们票务的景区里挑两三家标杆，覆盖主要的景区类型；在现成平台上把现有 8 个智能体搭好，再加一两个价值最高的，比如智能购票；跑一个完整的旺季，节假日最能检验效果和成本；从第一天起，对话、转人工、评价、订单数据都回到数据平台，结论靠数据说话。什么叫跑通了，五条标准：用起来、有价值、愿付费、能赚钱、可复制。没过关的，调整场景组合或者定价再试一轮，还不行的场景就停掉，不带到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步是快速铺开。先打谁：第一是已经在用我们票务的景区，系统已经对接好，基本不用开发，信任也有，成交最快；第二是同类型的景区，用标杆案例按业态复制；第三是新客户，用智能体做差异化卖点，带动票务签约。业态上优先客流大、咨询多的：山岳、主题乐园、古镇街区。怎么铺得快：签约、选已经验证过的模板、配上这个景区的知识、绑定入口、测试验收、上线，实施人员按流程就能做。销售上，智能体随票务一起报价，标杆做成案例，上线后定期给景区出效果报告，促续费。一边铺一边把知识、接口、数据留在自己手里，为第三步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借平台快，但规模越大，代价越明显，主要六个。一是成本越做越高：按调用量、账号收费，景区越多平台费越高，利润被平台分走。二是交付受限：功能受平台限制，个性化需求做不了。三是资产在外面：工作流、知识库、对话数据都在别人平台上，难沉淀、难迁移。四是管理分散：多个平台多个入口，权限、计量、监控各管各的。五是受制于人：平台一调价、改规则、下线功能，直接影响我们的交付和报价。六是难形成壁垒：同样的平台谁都能用，产品容易被复制，景区和游客数据出去也有合规顾虑。这就是为什么规模起来以后要考虑自己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什么时候自己建？看左边这张图：继续用平台，成本随着景区数量一路往上涨；自己建，前期有一笔建设投入，之后主要是模型调用和运维，涨得慢。两条线交叉的地方，就是该自己建的时候。具体看几个信号：测算下来自建更便宜了、平台费占收入的比例越来越高、主力场景已经稳定、因为平台限制丢单了、客户要求数据不出去，满足两条就启动。建什么不建什么：大模型不自己研发，直接买，可以换；语音、图像、数字人、手语买或者合作；编排引擎用开源的改；管理台、知识、业务工具自己建，因为这里装着我们的业务和数据，是真正的壁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建以后，对公司的变化有五点。成本：借平台时平台费随规模一路涨，自己建以后只付模型调用费，景区越多越划算。交付：借平台时每个景区要在外部平台单独配置调试，自己建以后集团建一次，景区开通就能用，省人天、上线快。定制：借平台受功能限制，自己建可以按大客户需求扩展。数据：借平台数据在外面，自己建全在自己手里，还能回流到数据平台，越用越准。风险：平台调价改规则直接影响报价，自己建自主可控，模型也可以换。切换的时候不推倒重来：先上核心功能，用同一套测试题对比效果，新景区先上自建平台，老景区随续约逐步迁移，可以回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第三部分：AI＋数据平台，数据在公司里转起来，越用越准。主要讲：数据怎么转、一个例子。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把前面两部分串起来，从下往上看。最下面是我们的各个业务系统：票务、九大业态、运营、财务、终端、畅游、会员营销，每天在产生数据。第一步，这些数据进入数据平台，经过整理，变成可信的指标、标签和知识。第二步，智能体和报表来用这些数据：智能体帮游客和景区办事，报表和接口直接看数。第三步，服务到游客、景区和公司内部。最关键的是右边这条回流：用的过程中产生的问答、评价、处置结果再回到数据平台，补充指标、标签和知识；整理好的数据再反哺业务，比如调定价、做营销、优化调度。这样就形成了一个闭环，数据越用越多，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例子，一张门票的数据旅程。游客买票入园，闸机核销，数据进了数据平台；平台算出实时客流，也给游客贴上偏好标签；智能体看到客流快到上限，提前预警，推送给现场工作人员处理，同时根据游客偏好推荐二次消费；处理的结果和推荐带来的转化又回到平台；第二天景区就可以据此调整预约名额、调整营销活动。这一圈下来，游客体验更好，景区多卖钱、少出事，我们的数据和智能体也更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说接下来。先做三件事：第一，数据上，在订单到核销到结算这条主线上试点治理，把核销量这些关键数字做准。第二，智能体上，挑两三家标杆景区验证商业模式，同时试随票务打包和年费订阅两种收费。第三，打通上，智能体统一从数据平台取数，交互数据回流。需要您支持四件事：一是指标口径谁来拍板，建议成立数据治理小组；二是数据规范要强制执行，不合规不上线；三是标杆景区和销售团队的配合；四是什么时候自己建平台，定期用数据评估，由您来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microsoft.com/office/2007/relationships/hdphoto" Target="../media/image2.wdp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1.jpeg"/><Relationship Id="rId4" Type="http://schemas.microsoft.com/office/2007/relationships/hdphoto" Target="../media/image2.wdp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Relationship Id="rId8" Type="http://schemas.openxmlformats.org/officeDocument/2006/relationships/tags" Target="../tags/tag2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tags" Target="../tags/tag26.xml"/><Relationship Id="rId6" Type="http://schemas.openxmlformats.org/officeDocument/2006/relationships/tags" Target="../tags/tag27.xml"/><Relationship Id="rId7" Type="http://schemas.openxmlformats.org/officeDocument/2006/relationships/tags" Target="../tags/tag28.xml"/><Relationship Id="rId8" Type="http://schemas.openxmlformats.org/officeDocument/2006/relationships/tags" Target="../tags/tag29.xml"/><Relationship Id="rId9" Type="http://schemas.openxmlformats.org/officeDocument/2006/relationships/tags" Target="../tags/tag30.xml"/><Relationship Id="rId10" Type="http://schemas.openxmlformats.org/officeDocument/2006/relationships/tags" Target="../tags/tag3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2.xml"/><Relationship Id="rId3" Type="http://schemas.openxmlformats.org/officeDocument/2006/relationships/tags" Target="../tags/tag33.xml"/><Relationship Id="rId4" Type="http://schemas.openxmlformats.org/officeDocument/2006/relationships/tags" Target="../tags/tag34.xml"/><Relationship Id="rId5" Type="http://schemas.openxmlformats.org/officeDocument/2006/relationships/tags" Target="../tags/tag35.xml"/><Relationship Id="rId6" Type="http://schemas.openxmlformats.org/officeDocument/2006/relationships/tags" Target="../tags/tag36.xml"/><Relationship Id="rId7" Type="http://schemas.openxmlformats.org/officeDocument/2006/relationships/tags" Target="../tags/tag37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tags" Target="../tags/tag49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3.xml"/><Relationship Id="rId3" Type="http://schemas.openxmlformats.org/officeDocument/2006/relationships/tags" Target="../tags/tag54.xml"/><Relationship Id="rId4" Type="http://schemas.openxmlformats.org/officeDocument/2006/relationships/tags" Target="../tags/tag55.xml"/><Relationship Id="rId5" Type="http://schemas.openxmlformats.org/officeDocument/2006/relationships/tags" Target="../tags/tag56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tags" Target="../tags/tag59.xml"/><Relationship Id="rId5" Type="http://schemas.openxmlformats.org/officeDocument/2006/relationships/tags" Target="../tags/tag60.xml"/><Relationship Id="rId6" Type="http://schemas.openxmlformats.org/officeDocument/2006/relationships/tags" Target="../tags/tag6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tags" Target="../tags/tag70.xml"/><Relationship Id="rId11" Type="http://schemas.openxmlformats.org/officeDocument/2006/relationships/tags" Target="../tags/tag7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矩形 11"/>
          <p:cNvSpPr/>
          <p:nvPr userDrawn="1"/>
        </p:nvSpPr>
        <p:spPr bwMode="auto">
          <a:xfrm>
            <a:off x="-10867" y="1009940"/>
            <a:ext cx="11568081" cy="6768925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</a:schemeClr>
              </a:gs>
              <a:gs pos="50000">
                <a:schemeClr val="tx1">
                  <a:lumMod val="75000"/>
                  <a:lumOff val="25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5" name="矩形 4"/>
          <p:cNvSpPr/>
          <p:nvPr userDrawn="1"/>
        </p:nvSpPr>
        <p:spPr bwMode="auto">
          <a:xfrm>
            <a:off x="-8002" y="-18002"/>
            <a:ext cx="11565216" cy="1098098"/>
          </a:xfrm>
          <a:prstGeom prst="rect">
            <a:avLst/>
          </a:prstGeom>
          <a:blipFill dpi="0" rotWithShape="1">
            <a:blip r:embed="rId4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8556379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0399074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/>
        </p:nvSpPr>
        <p:spPr bwMode="auto">
          <a:xfrm>
            <a:off x="-21737" y="1054219"/>
            <a:ext cx="11568081" cy="6768925"/>
          </a:xfrm>
          <a:prstGeom prst="rect">
            <a:avLst/>
          </a:prstGeom>
          <a:gradFill flip="none" rotWithShape="1">
            <a:gsLst>
              <a:gs pos="0">
                <a:srgbClr val="16355B"/>
              </a:gs>
              <a:gs pos="50000">
                <a:srgbClr val="0A2037"/>
              </a:gs>
              <a:gs pos="100000">
                <a:srgbClr val="000D18"/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7" name="矩形 6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8" name="图片 11" descr="png素材 (276).png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矩形 8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11" name="Picture 6"/>
          <p:cNvPicPr>
            <a:picLocks noChangeAspect="1" noChangeArrowheads="1"/>
          </p:cNvPicPr>
          <p:nvPr userDrawn="1"/>
        </p:nvPicPr>
        <p:blipFill>
          <a:blip r:embed="rId4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extBox 11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3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@path_Ellipse 9 (Stroke)-2050&amp;12778"/>
          <p:cNvSpPr/>
          <p:nvPr userDrawn="1">
            <p:custDataLst>
              <p:tags r:id="rId2"/>
            </p:custDataLst>
          </p:nvPr>
        </p:nvSpPr>
        <p:spPr>
          <a:xfrm>
            <a:off x="8641556" y="1079639"/>
            <a:ext cx="2877638" cy="3793643"/>
          </a:xfrm>
          <a:custGeom>
            <a:avLst/>
            <a:gdLst/>
            <a:ahLst/>
            <a:cxnLst/>
            <a:rect l="l" t="t" r="r" b="b"/>
            <a:pathLst>
              <a:path w="3044952" h="4014216">
                <a:moveTo>
                  <a:pt x="694944" y="0"/>
                </a:moveTo>
                <a:cubicBezTo>
                  <a:pt x="576072" y="301752"/>
                  <a:pt x="512064" y="621792"/>
                  <a:pt x="512064" y="969264"/>
                </a:cubicBezTo>
                <a:cubicBezTo>
                  <a:pt x="512064" y="2368296"/>
                  <a:pt x="1645920" y="3502152"/>
                  <a:pt x="3044952" y="3502152"/>
                </a:cubicBezTo>
                <a:lnTo>
                  <a:pt x="3044952" y="4014216"/>
                </a:lnTo>
                <a:cubicBezTo>
                  <a:pt x="1362456" y="4014216"/>
                  <a:pt x="0" y="2651760"/>
                  <a:pt x="0" y="969264"/>
                </a:cubicBezTo>
                <a:cubicBezTo>
                  <a:pt x="0" y="630936"/>
                  <a:pt x="54864" y="301752"/>
                  <a:pt x="155448" y="0"/>
                </a:cubicBezTo>
                <a:lnTo>
                  <a:pt x="694944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9" name="Ellipse 3 (Stroke)_#color-2050&amp;12715"/>
          <p:cNvSpPr/>
          <p:nvPr userDrawn="1">
            <p:custDataLst>
              <p:tags r:id="rId3"/>
            </p:custDataLst>
          </p:nvPr>
        </p:nvSpPr>
        <p:spPr>
          <a:xfrm>
            <a:off x="5844573" y="2911649"/>
            <a:ext cx="5677502" cy="4649157"/>
          </a:xfrm>
          <a:custGeom>
            <a:avLst/>
            <a:gdLst/>
            <a:ahLst/>
            <a:cxnLst/>
            <a:rect l="l" t="t" r="r" b="b"/>
            <a:pathLst>
              <a:path w="6007608" h="4919472">
                <a:moveTo>
                  <a:pt x="6007608" y="640080"/>
                </a:moveTo>
                <a:cubicBezTo>
                  <a:pt x="5394960" y="237744"/>
                  <a:pt x="4663440" y="0"/>
                  <a:pt x="3877056" y="0"/>
                </a:cubicBezTo>
                <a:cubicBezTo>
                  <a:pt x="1737360" y="0"/>
                  <a:pt x="0" y="1737360"/>
                  <a:pt x="0" y="3877056"/>
                </a:cubicBezTo>
                <a:cubicBezTo>
                  <a:pt x="0" y="4233672"/>
                  <a:pt x="45720" y="4581144"/>
                  <a:pt x="137160" y="4919472"/>
                </a:cubicBezTo>
                <a:lnTo>
                  <a:pt x="676656" y="4919472"/>
                </a:lnTo>
                <a:cubicBezTo>
                  <a:pt x="566928" y="4590288"/>
                  <a:pt x="512064" y="4233672"/>
                  <a:pt x="512064" y="3877056"/>
                </a:cubicBezTo>
                <a:cubicBezTo>
                  <a:pt x="512064" y="2011680"/>
                  <a:pt x="2011680" y="512064"/>
                  <a:pt x="3877056" y="512064"/>
                </a:cubicBezTo>
                <a:cubicBezTo>
                  <a:pt x="4681728" y="512064"/>
                  <a:pt x="5422392" y="795528"/>
                  <a:pt x="6007608" y="1271016"/>
                </a:cubicBezTo>
                <a:lnTo>
                  <a:pt x="6007608" y="64008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1" name="Ellipse 8 (Stroke)_#color-2050&amp;12718"/>
          <p:cNvSpPr/>
          <p:nvPr userDrawn="1">
            <p:custDataLst>
              <p:tags r:id="rId4"/>
            </p:custDataLst>
          </p:nvPr>
        </p:nvSpPr>
        <p:spPr>
          <a:xfrm>
            <a:off x="5020744" y="5409059"/>
            <a:ext cx="596267" cy="1875218"/>
          </a:xfrm>
          <a:custGeom>
            <a:avLst/>
            <a:gdLst/>
            <a:ahLst/>
            <a:cxnLst/>
            <a:rect l="l" t="t" r="r" b="b"/>
            <a:pathLst>
              <a:path w="630936" h="1984248">
                <a:moveTo>
                  <a:pt x="438912" y="9144"/>
                </a:moveTo>
                <a:cubicBezTo>
                  <a:pt x="576072" y="45720"/>
                  <a:pt x="658368" y="182880"/>
                  <a:pt x="621792" y="320040"/>
                </a:cubicBezTo>
                <a:cubicBezTo>
                  <a:pt x="512064" y="749808"/>
                  <a:pt x="475488" y="1216152"/>
                  <a:pt x="539496" y="1691640"/>
                </a:cubicBezTo>
                <a:cubicBezTo>
                  <a:pt x="557784" y="1828800"/>
                  <a:pt x="457200" y="1956816"/>
                  <a:pt x="320040" y="1975104"/>
                </a:cubicBezTo>
                <a:cubicBezTo>
                  <a:pt x="182880" y="1993392"/>
                  <a:pt x="54864" y="1901952"/>
                  <a:pt x="36576" y="1755648"/>
                </a:cubicBezTo>
                <a:cubicBezTo>
                  <a:pt x="-36576" y="1216152"/>
                  <a:pt x="0" y="685800"/>
                  <a:pt x="128016" y="192024"/>
                </a:cubicBezTo>
                <a:cubicBezTo>
                  <a:pt x="164592" y="54864"/>
                  <a:pt x="301752" y="-27432"/>
                  <a:pt x="438912" y="9144"/>
                </a:cubicBezTo>
              </a:path>
            </a:pathLst>
          </a:custGeom>
          <a:solidFill>
            <a:schemeClr val="accent1"/>
          </a:solidFill>
        </p:spPr>
      </p:sp>
      <p:sp>
        <p:nvSpPr>
          <p:cNvPr id="12" name="Ellipse 4 (Stroke)_#color_$accent2_$accent2-2050&amp;12721"/>
          <p:cNvSpPr/>
          <p:nvPr userDrawn="1">
            <p:custDataLst>
              <p:tags r:id="rId5"/>
            </p:custDataLst>
          </p:nvPr>
        </p:nvSpPr>
        <p:spPr>
          <a:xfrm>
            <a:off x="6368827" y="2920290"/>
            <a:ext cx="5150368" cy="2073974"/>
          </a:xfrm>
          <a:custGeom>
            <a:avLst/>
            <a:gdLst/>
            <a:ahLst/>
            <a:cxnLst/>
            <a:rect l="l" t="t" r="r" b="b"/>
            <a:pathLst>
              <a:path w="5449824" h="2194560">
                <a:moveTo>
                  <a:pt x="5449824" y="640080"/>
                </a:moveTo>
                <a:lnTo>
                  <a:pt x="5449824" y="1280160"/>
                </a:lnTo>
                <a:cubicBezTo>
                  <a:pt x="4864608" y="795528"/>
                  <a:pt x="4123944" y="512064"/>
                  <a:pt x="3310128" y="512064"/>
                </a:cubicBezTo>
                <a:cubicBezTo>
                  <a:pt x="2112264" y="512064"/>
                  <a:pt x="1060704" y="1133856"/>
                  <a:pt x="466344" y="2075688"/>
                </a:cubicBezTo>
                <a:cubicBezTo>
                  <a:pt x="393192" y="2194560"/>
                  <a:pt x="237744" y="2221992"/>
                  <a:pt x="118872" y="2148840"/>
                </a:cubicBezTo>
                <a:cubicBezTo>
                  <a:pt x="0" y="2075688"/>
                  <a:pt x="-36576" y="1920240"/>
                  <a:pt x="36576" y="1801368"/>
                </a:cubicBezTo>
                <a:cubicBezTo>
                  <a:pt x="722376" y="722376"/>
                  <a:pt x="1929384" y="0"/>
                  <a:pt x="3310128" y="0"/>
                </a:cubicBezTo>
                <a:cubicBezTo>
                  <a:pt x="4096512" y="0"/>
                  <a:pt x="4837176" y="237744"/>
                  <a:pt x="5449824" y="640080"/>
                </a:cubicBezTo>
              </a:path>
            </a:pathLst>
          </a:custGeom>
          <a:gradFill>
            <a:gsLst>
              <a:gs pos="0">
                <a:schemeClr val="accent1">
                  <a:lumMod val="75000"/>
                  <a:alpha val="7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3" name="Ellipse 10 (Stroke)_#color-2050&amp;12724"/>
          <p:cNvSpPr/>
          <p:nvPr userDrawn="1">
            <p:custDataLst>
              <p:tags r:id="rId6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7"/>
            </p:custDataLst>
          </p:nvPr>
        </p:nvSpPr>
        <p:spPr>
          <a:xfrm>
            <a:off x="825149" y="2791147"/>
            <a:ext cx="5448981" cy="1962353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105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1"/>
            </p:custDataLst>
          </p:nvPr>
        </p:nvSpPr>
        <p:spPr>
          <a:xfrm>
            <a:off x="792143" y="5076359"/>
            <a:ext cx="2509052" cy="57310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rgbClr val="FFFFFF"/>
                </a:solidFill>
                <a:latin typeface="+mn-ea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75 (Stroke)_#color-2050&amp;12727"/>
          <p:cNvSpPr/>
          <p:nvPr userDrawn="1">
            <p:custDataLst>
              <p:tags r:id="rId2"/>
            </p:custDataLst>
          </p:nvPr>
        </p:nvSpPr>
        <p:spPr>
          <a:xfrm>
            <a:off x="3102319" y="1079639"/>
            <a:ext cx="2177672" cy="6481167"/>
          </a:xfrm>
          <a:custGeom>
            <a:avLst/>
            <a:gdLst/>
            <a:ahLst/>
            <a:cxnLst/>
            <a:rect l="l" t="t" r="r" b="b"/>
            <a:pathLst>
              <a:path w="2304288" h="6858000">
                <a:moveTo>
                  <a:pt x="0" y="6858000"/>
                </a:moveTo>
                <a:lnTo>
                  <a:pt x="813816" y="6858000"/>
                </a:lnTo>
                <a:cubicBezTo>
                  <a:pt x="1728216" y="6007608"/>
                  <a:pt x="2304288" y="4782312"/>
                  <a:pt x="2304288" y="3429000"/>
                </a:cubicBezTo>
                <a:cubicBezTo>
                  <a:pt x="2304288" y="2075688"/>
                  <a:pt x="1728216" y="850392"/>
                  <a:pt x="813816" y="0"/>
                </a:cubicBezTo>
                <a:lnTo>
                  <a:pt x="0" y="0"/>
                </a:lnTo>
                <a:cubicBezTo>
                  <a:pt x="1088136" y="749808"/>
                  <a:pt x="1801368" y="2011680"/>
                  <a:pt x="1801368" y="3429000"/>
                </a:cubicBezTo>
                <a:cubicBezTo>
                  <a:pt x="1801368" y="4846320"/>
                  <a:pt x="1088136" y="6108192"/>
                  <a:pt x="0" y="6858000"/>
                </a:cubicBez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5" name="Ellipse 3 (Stroke)_#color-2050&amp;12730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4415835" cy="6481167"/>
          </a:xfrm>
          <a:custGeom>
            <a:avLst/>
            <a:gdLst/>
            <a:ahLst/>
            <a:cxnLst/>
            <a:rect l="l" t="t" r="r" b="b"/>
            <a:pathLst>
              <a:path w="4672584" h="6858000">
                <a:moveTo>
                  <a:pt x="0" y="6848856"/>
                </a:moveTo>
                <a:lnTo>
                  <a:pt x="0" y="6858000"/>
                </a:lnTo>
                <a:lnTo>
                  <a:pt x="45720" y="6858000"/>
                </a:lnTo>
                <a:cubicBezTo>
                  <a:pt x="27432" y="6858000"/>
                  <a:pt x="18288" y="6848856"/>
                  <a:pt x="0" y="6848856"/>
                </a:cubicBezTo>
                <a:moveTo>
                  <a:pt x="1261872" y="6858000"/>
                </a:moveTo>
                <a:cubicBezTo>
                  <a:pt x="1463040" y="6821424"/>
                  <a:pt x="1664208" y="6766560"/>
                  <a:pt x="1856232" y="6693408"/>
                </a:cubicBezTo>
                <a:cubicBezTo>
                  <a:pt x="3666744" y="6035040"/>
                  <a:pt x="4590288" y="4032504"/>
                  <a:pt x="3931920" y="2221992"/>
                </a:cubicBezTo>
                <a:cubicBezTo>
                  <a:pt x="3493008" y="1033272"/>
                  <a:pt x="2478024" y="228600"/>
                  <a:pt x="1316736" y="0"/>
                </a:cubicBezTo>
                <a:lnTo>
                  <a:pt x="2752344" y="0"/>
                </a:lnTo>
                <a:cubicBezTo>
                  <a:pt x="3493008" y="457200"/>
                  <a:pt x="4096512" y="1152144"/>
                  <a:pt x="4425696" y="2039112"/>
                </a:cubicBezTo>
                <a:cubicBezTo>
                  <a:pt x="5093208" y="3877056"/>
                  <a:pt x="4343400" y="5888736"/>
                  <a:pt x="2734056" y="6858000"/>
                </a:cubicBezTo>
                <a:lnTo>
                  <a:pt x="1261872" y="685800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6" name="Ellipse 4 (Stroke)_#color_$accent2_$accent2-2050&amp;12733"/>
          <p:cNvSpPr/>
          <p:nvPr userDrawn="1">
            <p:custDataLst>
              <p:tags r:id="rId4"/>
            </p:custDataLst>
          </p:nvPr>
        </p:nvSpPr>
        <p:spPr>
          <a:xfrm>
            <a:off x="0" y="4821433"/>
            <a:ext cx="4329420" cy="2739373"/>
          </a:xfrm>
          <a:custGeom>
            <a:avLst/>
            <a:gdLst/>
            <a:ahLst/>
            <a:cxnLst/>
            <a:rect l="l" t="t" r="r" b="b"/>
            <a:pathLst>
              <a:path w="4581144" h="2898648">
                <a:moveTo>
                  <a:pt x="4078224" y="201168"/>
                </a:moveTo>
                <a:cubicBezTo>
                  <a:pt x="3831336" y="1335024"/>
                  <a:pt x="3035808" y="2313432"/>
                  <a:pt x="1865376" y="2743200"/>
                </a:cubicBezTo>
                <a:cubicBezTo>
                  <a:pt x="1682496" y="2807208"/>
                  <a:pt x="1499616" y="2862072"/>
                  <a:pt x="1307592" y="2898648"/>
                </a:cubicBezTo>
                <a:lnTo>
                  <a:pt x="2715768" y="2898648"/>
                </a:lnTo>
                <a:cubicBezTo>
                  <a:pt x="3685032" y="2322576"/>
                  <a:pt x="4343400" y="1371600"/>
                  <a:pt x="4572000" y="310896"/>
                </a:cubicBezTo>
                <a:cubicBezTo>
                  <a:pt x="4599432" y="173736"/>
                  <a:pt x="4517136" y="36576"/>
                  <a:pt x="4379976" y="9144"/>
                </a:cubicBezTo>
                <a:cubicBezTo>
                  <a:pt x="4242816" y="-27432"/>
                  <a:pt x="4105656" y="64008"/>
                  <a:pt x="4078224" y="201168"/>
                </a:cubicBezTo>
                <a:moveTo>
                  <a:pt x="9144" y="2898648"/>
                </a:moveTo>
                <a:cubicBezTo>
                  <a:pt x="9144" y="2898648"/>
                  <a:pt x="0" y="2898648"/>
                  <a:pt x="0" y="2898648"/>
                </a:cubicBezTo>
                <a:lnTo>
                  <a:pt x="0" y="2898648"/>
                </a:lnTo>
                <a:lnTo>
                  <a:pt x="9144" y="2898648"/>
                </a:lnTo>
              </a:path>
            </a:pathLst>
          </a:custGeom>
          <a:gradFill>
            <a:gsLst>
              <a:gs pos="100000">
                <a:schemeClr val="accent1">
                  <a:lumMod val="75000"/>
                  <a:alpha val="70000"/>
                </a:schemeClr>
              </a:gs>
              <a:gs pos="73000">
                <a:schemeClr val="accent2">
                  <a:alpha val="0"/>
                </a:schemeClr>
              </a:gs>
            </a:gsLst>
            <a:lin ang="0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78976" y="3699740"/>
            <a:ext cx="2511963" cy="1241054"/>
          </a:xfrm>
        </p:spPr>
        <p:txBody>
          <a:bodyPr wrap="square" anchor="ctr" anchorCtr="0">
            <a:normAutofit/>
          </a:bodyPr>
          <a:lstStyle>
            <a:lvl1pPr>
              <a:defRPr sz="4535"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_#color-2050&amp;12358"/>
          <p:cNvSpPr/>
          <p:nvPr userDrawn="1">
            <p:custDataLst>
              <p:tags r:id="rId2"/>
            </p:custDataLst>
          </p:nvPr>
        </p:nvSpPr>
        <p:spPr>
          <a:xfrm>
            <a:off x="144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9" name="Ellipse 5 (Stroke)_#color-2050&amp;12736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3914625" cy="4294853"/>
          </a:xfrm>
          <a:custGeom>
            <a:avLst/>
            <a:gdLst/>
            <a:ahLst/>
            <a:cxnLst/>
            <a:rect l="l" t="t" r="r" b="b"/>
            <a:pathLst>
              <a:path w="4142232" h="4544568">
                <a:moveTo>
                  <a:pt x="0" y="4032504"/>
                </a:moveTo>
                <a:cubicBezTo>
                  <a:pt x="91440" y="4032504"/>
                  <a:pt x="173736" y="4041648"/>
                  <a:pt x="265176" y="4041648"/>
                </a:cubicBezTo>
                <a:cubicBezTo>
                  <a:pt x="2121408" y="4041648"/>
                  <a:pt x="3630168" y="2532888"/>
                  <a:pt x="3630168" y="676656"/>
                </a:cubicBezTo>
                <a:cubicBezTo>
                  <a:pt x="3630168" y="438912"/>
                  <a:pt x="3611880" y="219456"/>
                  <a:pt x="3566160" y="0"/>
                </a:cubicBezTo>
                <a:lnTo>
                  <a:pt x="4078224" y="0"/>
                </a:lnTo>
                <a:cubicBezTo>
                  <a:pt x="4123944" y="219456"/>
                  <a:pt x="4142232" y="448056"/>
                  <a:pt x="4142232" y="676656"/>
                </a:cubicBezTo>
                <a:cubicBezTo>
                  <a:pt x="4142232" y="2816352"/>
                  <a:pt x="2404872" y="4544568"/>
                  <a:pt x="265176" y="4544568"/>
                </a:cubicBezTo>
                <a:cubicBezTo>
                  <a:pt x="173736" y="4544568"/>
                  <a:pt x="91440" y="4544568"/>
                  <a:pt x="0" y="4535424"/>
                </a:cubicBezTo>
                <a:lnTo>
                  <a:pt x="0" y="4032504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10" name="Ellipse 3 (Stroke)_#color_$lt1_$lt1-2050&amp;12739"/>
          <p:cNvSpPr/>
          <p:nvPr userDrawn="1">
            <p:custDataLst>
              <p:tags r:id="rId4"/>
            </p:custDataLst>
          </p:nvPr>
        </p:nvSpPr>
        <p:spPr>
          <a:xfrm>
            <a:off x="0" y="2401797"/>
            <a:ext cx="5763918" cy="5159009"/>
          </a:xfrm>
          <a:custGeom>
            <a:avLst/>
            <a:gdLst/>
            <a:ahLst/>
            <a:cxnLst/>
            <a:rect l="l" t="t" r="r" b="b"/>
            <a:pathLst>
              <a:path w="6099048" h="5458968">
                <a:moveTo>
                  <a:pt x="5760720" y="5458968"/>
                </a:moveTo>
                <a:cubicBezTo>
                  <a:pt x="5971032" y="4974336"/>
                  <a:pt x="6099048" y="4434840"/>
                  <a:pt x="6099048" y="3877056"/>
                </a:cubicBezTo>
                <a:cubicBezTo>
                  <a:pt x="6099048" y="1737360"/>
                  <a:pt x="4361688" y="0"/>
                  <a:pt x="2221992" y="0"/>
                </a:cubicBezTo>
                <a:cubicBezTo>
                  <a:pt x="1399032" y="0"/>
                  <a:pt x="630936" y="256032"/>
                  <a:pt x="0" y="704088"/>
                </a:cubicBezTo>
                <a:lnTo>
                  <a:pt x="0" y="1344168"/>
                </a:lnTo>
                <a:cubicBezTo>
                  <a:pt x="594360" y="822960"/>
                  <a:pt x="1371600" y="512064"/>
                  <a:pt x="2221992" y="512064"/>
                </a:cubicBezTo>
                <a:cubicBezTo>
                  <a:pt x="4078224" y="512064"/>
                  <a:pt x="5586984" y="2011680"/>
                  <a:pt x="5586984" y="3877056"/>
                </a:cubicBezTo>
                <a:cubicBezTo>
                  <a:pt x="5586984" y="4443984"/>
                  <a:pt x="5440680" y="4992624"/>
                  <a:pt x="5193792" y="5458968"/>
                </a:cubicBezTo>
                <a:lnTo>
                  <a:pt x="5760720" y="5458968"/>
                </a:lnTo>
              </a:path>
            </a:pathLst>
          </a:custGeom>
          <a:gradFill>
            <a:gsLst>
              <a:gs pos="41000">
                <a:schemeClr val="lt1">
                  <a:alpha val="45000"/>
                </a:schemeClr>
              </a:gs>
              <a:gs pos="0">
                <a:srgbClr val="FFFFFF">
                  <a:alpha val="0"/>
                </a:srgbClr>
              </a:gs>
              <a:gs pos="10000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1" name="Ellipse 4 (Stroke)_#color_$lt1_$accent1-2050&amp;12742"/>
          <p:cNvSpPr/>
          <p:nvPr userDrawn="1">
            <p:custDataLst>
              <p:tags r:id="rId5"/>
            </p:custDataLst>
          </p:nvPr>
        </p:nvSpPr>
        <p:spPr>
          <a:xfrm>
            <a:off x="0" y="2401797"/>
            <a:ext cx="5236783" cy="2073974"/>
          </a:xfrm>
          <a:custGeom>
            <a:avLst/>
            <a:gdLst/>
            <a:ahLst/>
            <a:cxnLst/>
            <a:rect l="l" t="t" r="r" b="b"/>
            <a:pathLst>
              <a:path w="5541264" h="2194560">
                <a:moveTo>
                  <a:pt x="0" y="1353312"/>
                </a:moveTo>
                <a:lnTo>
                  <a:pt x="0" y="704088"/>
                </a:lnTo>
                <a:cubicBezTo>
                  <a:pt x="630936" y="265176"/>
                  <a:pt x="1399032" y="0"/>
                  <a:pt x="2231136" y="0"/>
                </a:cubicBezTo>
                <a:cubicBezTo>
                  <a:pt x="3602736" y="0"/>
                  <a:pt x="4809744" y="722376"/>
                  <a:pt x="5495544" y="1801368"/>
                </a:cubicBezTo>
                <a:cubicBezTo>
                  <a:pt x="5568696" y="1920240"/>
                  <a:pt x="5541264" y="2075688"/>
                  <a:pt x="5422392" y="2148840"/>
                </a:cubicBezTo>
                <a:cubicBezTo>
                  <a:pt x="5303520" y="2221992"/>
                  <a:pt x="5148072" y="2194560"/>
                  <a:pt x="5065776" y="2075688"/>
                </a:cubicBezTo>
                <a:cubicBezTo>
                  <a:pt x="4471416" y="1133856"/>
                  <a:pt x="3419856" y="512064"/>
                  <a:pt x="2231136" y="512064"/>
                </a:cubicBezTo>
                <a:cubicBezTo>
                  <a:pt x="1371600" y="512064"/>
                  <a:pt x="594360" y="822960"/>
                  <a:pt x="0" y="1353312"/>
                </a:cubicBezTo>
              </a:path>
            </a:pathLst>
          </a:custGeom>
          <a:gradFill>
            <a:gsLst>
              <a:gs pos="81000">
                <a:schemeClr val="lt1">
                  <a:alpha val="100000"/>
                </a:schemeClr>
              </a:gs>
              <a:gs pos="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 userDrawn="1">
            <p:ph type="title"/>
            <p:custDataLst>
              <p:tags r:id="rId6"/>
            </p:custDataLst>
          </p:nvPr>
        </p:nvSpPr>
        <p:spPr>
          <a:xfrm>
            <a:off x="6263328" y="4044173"/>
            <a:ext cx="4467204" cy="1874138"/>
          </a:xfrm>
        </p:spPr>
        <p:txBody>
          <a:bodyPr wrap="square" anchor="t">
            <a:normAutofit/>
          </a:bodyPr>
          <a:lstStyle>
            <a:lvl1pPr algn="l">
              <a:defRPr sz="4255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 userDrawn="1">
            <p:ph type="body" sz="quarter" idx="13" hasCustomPrompt="1"/>
            <p:custDataLst>
              <p:tags r:id="rId7"/>
            </p:custDataLst>
          </p:nvPr>
        </p:nvSpPr>
        <p:spPr>
          <a:xfrm>
            <a:off x="459683" y="4169628"/>
            <a:ext cx="4845033" cy="2607913"/>
          </a:xfrm>
        </p:spPr>
        <p:txBody>
          <a:bodyPr wrap="square" anchor="b">
            <a:normAutofit/>
          </a:bodyPr>
          <a:lstStyle>
            <a:lvl1pPr marL="0" indent="0" algn="ctr">
              <a:buNone/>
              <a:defRPr sz="11245" b="1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>
                <a:latin typeface="+mj-lt"/>
                <a:ea typeface="+mj-lt"/>
                <a:cs typeface="+mj-lt"/>
              </a:defRPr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57718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833050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57718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57718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5833050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5833050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57718" y="1419900"/>
            <a:ext cx="10208438" cy="549819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</a:defRPr>
            </a:lvl1pPr>
            <a:lvl2pPr>
              <a:defRPr>
                <a:latin typeface="+mn-lt"/>
                <a:ea typeface="+mn-lt"/>
                <a:cs typeface="+mn-lt"/>
              </a:defRPr>
            </a:lvl2pPr>
            <a:lvl3pPr>
              <a:defRPr>
                <a:latin typeface="+mn-lt"/>
                <a:ea typeface="+mn-lt"/>
                <a:cs typeface="+mn-lt"/>
              </a:defRPr>
            </a:lvl3pPr>
            <a:lvl4pPr>
              <a:defRPr>
                <a:latin typeface="+mn-lt"/>
                <a:ea typeface="+mn-lt"/>
                <a:cs typeface="+mn-lt"/>
              </a:defRPr>
            </a:lvl4pPr>
            <a:lvl5pPr>
              <a:defRPr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57718" y="2309860"/>
            <a:ext cx="10205701" cy="383269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270" b="0">
                <a:latin typeface="+mn-lt"/>
                <a:ea typeface="+mn-lt"/>
                <a:cs typeface="+mn-lt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g_#color-2050&amp;12433"/>
          <p:cNvSpPr/>
          <p:nvPr userDrawn="1">
            <p:custDataLst>
              <p:tags r:id="rId2"/>
            </p:custDataLst>
          </p:nvPr>
        </p:nvSpPr>
        <p:spPr>
          <a:xfrm>
            <a:off x="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5" name="Ellipse 3_#color_$lt1_$lt1-2050&amp;12754"/>
          <p:cNvSpPr/>
          <p:nvPr userDrawn="1">
            <p:custDataLst>
              <p:tags r:id="rId3"/>
            </p:custDataLst>
          </p:nvPr>
        </p:nvSpPr>
        <p:spPr>
          <a:xfrm>
            <a:off x="8402473" y="1079639"/>
            <a:ext cx="3119602" cy="3664020"/>
          </a:xfrm>
          <a:custGeom>
            <a:avLst/>
            <a:gdLst/>
            <a:ahLst/>
            <a:cxnLst/>
            <a:rect l="l" t="t" r="r" b="b"/>
            <a:pathLst>
              <a:path w="3300984" h="3877056">
                <a:moveTo>
                  <a:pt x="512064" y="0"/>
                </a:moveTo>
                <a:lnTo>
                  <a:pt x="0" y="0"/>
                </a:lnTo>
                <a:cubicBezTo>
                  <a:pt x="-27432" y="1920240"/>
                  <a:pt x="1380744" y="3584448"/>
                  <a:pt x="3300984" y="3877056"/>
                </a:cubicBezTo>
                <a:lnTo>
                  <a:pt x="3300984" y="3355848"/>
                </a:lnTo>
                <a:cubicBezTo>
                  <a:pt x="1664208" y="3081528"/>
                  <a:pt x="484632" y="1645920"/>
                  <a:pt x="512064" y="0"/>
                </a:cubicBezTo>
              </a:path>
            </a:pathLst>
          </a:custGeom>
          <a:gradFill>
            <a:gsLst>
              <a:gs pos="69000">
                <a:srgbClr val="FFFFFF">
                  <a:alpha val="100000"/>
                </a:srgbClr>
              </a:gs>
              <a:gs pos="82000">
                <a:schemeClr val="lt1">
                  <a:alpha val="0"/>
                </a:schemeClr>
              </a:gs>
              <a:gs pos="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6" name="Ellipse 4 (Stroke)_#color_$lt1_$accent1-2050&amp;12757"/>
          <p:cNvSpPr/>
          <p:nvPr userDrawn="1">
            <p:custDataLst>
              <p:tags r:id="rId4"/>
            </p:custDataLst>
          </p:nvPr>
        </p:nvSpPr>
        <p:spPr>
          <a:xfrm>
            <a:off x="8753896" y="2393155"/>
            <a:ext cx="2765298" cy="2341862"/>
          </a:xfrm>
          <a:custGeom>
            <a:avLst/>
            <a:gdLst/>
            <a:ahLst/>
            <a:cxnLst/>
            <a:rect l="l" t="t" r="r" b="b"/>
            <a:pathLst>
              <a:path w="2926080" h="2478024">
                <a:moveTo>
                  <a:pt x="2926080" y="2478024"/>
                </a:moveTo>
                <a:lnTo>
                  <a:pt x="2926080" y="1965960"/>
                </a:lnTo>
                <a:cubicBezTo>
                  <a:pt x="1837944" y="1783080"/>
                  <a:pt x="941832" y="1078992"/>
                  <a:pt x="484632" y="137160"/>
                </a:cubicBezTo>
                <a:cubicBezTo>
                  <a:pt x="420624" y="18288"/>
                  <a:pt x="265176" y="-36576"/>
                  <a:pt x="137160" y="27432"/>
                </a:cubicBezTo>
                <a:cubicBezTo>
                  <a:pt x="18288" y="91440"/>
                  <a:pt x="-36576" y="237744"/>
                  <a:pt x="27432" y="365760"/>
                </a:cubicBezTo>
                <a:cubicBezTo>
                  <a:pt x="566928" y="1472184"/>
                  <a:pt x="1627632" y="2286000"/>
                  <a:pt x="2926080" y="2478024"/>
                </a:cubicBezTo>
              </a:path>
            </a:pathLst>
          </a:custGeom>
          <a:gradFill>
            <a:gsLst>
              <a:gs pos="0">
                <a:schemeClr val="lt1">
                  <a:alpha val="8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7" name="Ellipse 8 (Stroke)_#color-2050&amp;12760"/>
          <p:cNvSpPr/>
          <p:nvPr userDrawn="1">
            <p:custDataLst>
              <p:tags r:id="rId5"/>
            </p:custDataLst>
          </p:nvPr>
        </p:nvSpPr>
        <p:spPr>
          <a:xfrm>
            <a:off x="10127904" y="4691809"/>
            <a:ext cx="1391291" cy="795023"/>
          </a:xfrm>
          <a:custGeom>
            <a:avLst/>
            <a:gdLst/>
            <a:ahLst/>
            <a:cxnLst/>
            <a:rect l="l" t="t" r="r" b="b"/>
            <a:pathLst>
              <a:path w="1472184" h="841248">
                <a:moveTo>
                  <a:pt x="1472184" y="329184"/>
                </a:moveTo>
                <a:lnTo>
                  <a:pt x="1472184" y="841248"/>
                </a:lnTo>
                <a:cubicBezTo>
                  <a:pt x="1005840" y="795528"/>
                  <a:pt x="557784" y="676656"/>
                  <a:pt x="146304" y="484632"/>
                </a:cubicBezTo>
                <a:cubicBezTo>
                  <a:pt x="18288" y="429768"/>
                  <a:pt x="-36576" y="274320"/>
                  <a:pt x="27432" y="146304"/>
                </a:cubicBezTo>
                <a:cubicBezTo>
                  <a:pt x="82296" y="18288"/>
                  <a:pt x="237744" y="-36576"/>
                  <a:pt x="356616" y="27432"/>
                </a:cubicBezTo>
                <a:cubicBezTo>
                  <a:pt x="704088" y="182880"/>
                  <a:pt x="1078992" y="292608"/>
                  <a:pt x="1472184" y="329184"/>
                </a:cubicBezTo>
              </a:path>
            </a:pathLst>
          </a:custGeom>
          <a:solidFill>
            <a:schemeClr val="lt1">
              <a:alpha val="40000"/>
            </a:schemeClr>
          </a:solidFill>
        </p:spPr>
      </p:sp>
      <p:sp>
        <p:nvSpPr>
          <p:cNvPr id="19" name="Ellipse 9_#color-2050&amp;12763"/>
          <p:cNvSpPr/>
          <p:nvPr userDrawn="1">
            <p:custDataLst>
              <p:tags r:id="rId6"/>
            </p:custDataLst>
          </p:nvPr>
        </p:nvSpPr>
        <p:spPr>
          <a:xfrm>
            <a:off x="0" y="4320223"/>
            <a:ext cx="3076394" cy="3240584"/>
          </a:xfrm>
          <a:custGeom>
            <a:avLst/>
            <a:gdLst/>
            <a:ahLst/>
            <a:cxnLst/>
            <a:rect l="l" t="t" r="r" b="b"/>
            <a:pathLst>
              <a:path w="3255264" h="3429000">
                <a:moveTo>
                  <a:pt x="3227832" y="3429000"/>
                </a:moveTo>
                <a:cubicBezTo>
                  <a:pt x="3246120" y="3300984"/>
                  <a:pt x="3255264" y="3172968"/>
                  <a:pt x="3255264" y="3044952"/>
                </a:cubicBezTo>
                <a:cubicBezTo>
                  <a:pt x="3255264" y="1362456"/>
                  <a:pt x="1883664" y="0"/>
                  <a:pt x="201168" y="0"/>
                </a:cubicBezTo>
                <a:cubicBezTo>
                  <a:pt x="137160" y="0"/>
                  <a:pt x="64008" y="0"/>
                  <a:pt x="0" y="9144"/>
                </a:cubicBezTo>
                <a:lnTo>
                  <a:pt x="0" y="512064"/>
                </a:lnTo>
                <a:cubicBezTo>
                  <a:pt x="64008" y="512064"/>
                  <a:pt x="137160" y="512064"/>
                  <a:pt x="201168" y="512064"/>
                </a:cubicBezTo>
                <a:cubicBezTo>
                  <a:pt x="1609344" y="512064"/>
                  <a:pt x="2743200" y="1645920"/>
                  <a:pt x="2743200" y="3044952"/>
                </a:cubicBezTo>
                <a:cubicBezTo>
                  <a:pt x="2743200" y="3172968"/>
                  <a:pt x="2734056" y="3300984"/>
                  <a:pt x="2715768" y="3429000"/>
                </a:cubicBezTo>
                <a:lnTo>
                  <a:pt x="3227832" y="3429000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7"/>
            </p:custDataLst>
          </p:nvPr>
        </p:nvSpPr>
        <p:spPr>
          <a:xfrm>
            <a:off x="792143" y="1511717"/>
            <a:ext cx="9937223" cy="2834022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560">
                <a:solidFill>
                  <a:schemeClr val="lt1">
                    <a:lumMod val="10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 userDrawn="1">
            <p:ph type="body" sz="quarter" idx="17" hasCustomPrompt="1"/>
            <p:custDataLst>
              <p:tags r:id="rId11"/>
            </p:custDataLst>
          </p:nvPr>
        </p:nvSpPr>
        <p:spPr>
          <a:xfrm>
            <a:off x="792143" y="4773233"/>
            <a:ext cx="9937223" cy="1172394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chemeClr val="lt1">
                    <a:lumMod val="100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tags" Target="../tags/tag72.xml"/><Relationship Id="rId13" Type="http://schemas.openxmlformats.org/officeDocument/2006/relationships/tags" Target="../tags/tag73.xml"/><Relationship Id="rId14" Type="http://schemas.openxmlformats.org/officeDocument/2006/relationships/tags" Target="../tags/tag74.xml"/><Relationship Id="rId15" Type="http://schemas.openxmlformats.org/officeDocument/2006/relationships/tags" Target="../tags/tag75.xml"/><Relationship Id="rId16" Type="http://schemas.openxmlformats.org/officeDocument/2006/relationships/tags" Target="../tags/tag76.xml"/><Relationship Id="rId17" Type="http://schemas.openxmlformats.org/officeDocument/2006/relationships/tags" Target="../tags/tag77.xml"/><Relationship Id="rId18" Type="http://schemas.openxmlformats.org/officeDocument/2006/relationships/tags" Target="../tags/tag78.xml"/><Relationship Id="rId19" Type="http://schemas.openxmlformats.org/officeDocument/2006/relationships/tags" Target="../tags/tag79.xml"/><Relationship Id="rId20" Type="http://schemas.openxmlformats.org/officeDocument/2006/relationships/tags" Target="../tags/tag80.xml"/><Relationship Id="rId2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标题占位符 1"/>
          <p:cNvSpPr>
            <a:spLocks noGrp="1"/>
          </p:cNvSpPr>
          <p:nvPr>
            <p:ph type="title"/>
          </p:nvPr>
        </p:nvSpPr>
        <p:spPr bwMode="auto">
          <a:xfrm>
            <a:off x="576104" y="346031"/>
            <a:ext cx="10369868" cy="14401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576104" y="2016179"/>
            <a:ext cx="10369868" cy="570250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76104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7E97B707-22D4-4B06-9A8A-89EF284804D8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36709" y="8008708"/>
            <a:ext cx="3648657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257487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53F49717-76DA-4DAA-9161-16E5D566D94E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5pPr>
      <a:lvl6pPr marL="57594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6pPr>
      <a:lvl7pPr marL="115189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7pPr>
      <a:lvl8pPr marL="172847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8pPr>
      <a:lvl9pPr marL="230441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9pPr>
    </p:titleStyle>
    <p:bodyStyle>
      <a:lvl1pPr marL="431800" indent="-4318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1pPr>
      <a:lvl2pPr marL="935990" indent="-36004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6125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9207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865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4459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2054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9648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594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5189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847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0441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8036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5630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225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0883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5 (Stroke)_#color-2050&amp;12748"/>
          <p:cNvSpPr/>
          <p:nvPr userDrawn="1">
            <p:custDataLst>
              <p:tags r:id="rId12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8" name="Ellipse 3 (Stroke)_#color-2050&amp;12745"/>
          <p:cNvSpPr/>
          <p:nvPr userDrawn="1">
            <p:custDataLst>
              <p:tags r:id="rId13"/>
            </p:custDataLst>
          </p:nvPr>
        </p:nvSpPr>
        <p:spPr>
          <a:xfrm>
            <a:off x="10651918" y="6535221"/>
            <a:ext cx="867756" cy="1024985"/>
          </a:xfrm>
          <a:custGeom>
            <a:avLst/>
            <a:gdLst/>
            <a:ahLst/>
            <a:cxnLst/>
            <a:rect l="l" t="t" r="r" b="b"/>
            <a:pathLst>
              <a:path w="3236976" h="3822192">
                <a:moveTo>
                  <a:pt x="3236976" y="0"/>
                </a:moveTo>
                <a:cubicBezTo>
                  <a:pt x="1399032" y="301752"/>
                  <a:pt x="0" y="1901952"/>
                  <a:pt x="0" y="3822192"/>
                </a:cubicBezTo>
                <a:lnTo>
                  <a:pt x="512064" y="3822192"/>
                </a:lnTo>
                <a:cubicBezTo>
                  <a:pt x="512064" y="2176272"/>
                  <a:pt x="1682496" y="813816"/>
                  <a:pt x="3236976" y="512064"/>
                </a:cubicBezTo>
                <a:lnTo>
                  <a:pt x="3236976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10" name="Ellipse 4 (Stroke)_#color_$accent2_$accent2-2050&amp;12751"/>
          <p:cNvSpPr/>
          <p:nvPr userDrawn="1">
            <p:custDataLst>
              <p:tags r:id="rId14"/>
            </p:custDataLst>
          </p:nvPr>
        </p:nvSpPr>
        <p:spPr>
          <a:xfrm>
            <a:off x="10801345" y="6535221"/>
            <a:ext cx="718329" cy="573703"/>
          </a:xfrm>
          <a:custGeom>
            <a:avLst/>
            <a:gdLst/>
            <a:ahLst/>
            <a:cxnLst/>
            <a:rect l="l" t="t" r="r" b="b"/>
            <a:pathLst>
              <a:path w="2679192" h="2139696">
                <a:moveTo>
                  <a:pt x="2679192" y="0"/>
                </a:moveTo>
                <a:lnTo>
                  <a:pt x="2679192" y="512064"/>
                </a:lnTo>
                <a:cubicBezTo>
                  <a:pt x="1746504" y="694944"/>
                  <a:pt x="960120" y="1252728"/>
                  <a:pt x="466344" y="2020824"/>
                </a:cubicBezTo>
                <a:cubicBezTo>
                  <a:pt x="393192" y="2139696"/>
                  <a:pt x="237744" y="2176272"/>
                  <a:pt x="118872" y="2103120"/>
                </a:cubicBezTo>
                <a:cubicBezTo>
                  <a:pt x="0" y="2020824"/>
                  <a:pt x="-36576" y="1865376"/>
                  <a:pt x="36576" y="1746504"/>
                </a:cubicBezTo>
                <a:cubicBezTo>
                  <a:pt x="621792" y="832104"/>
                  <a:pt x="1572768" y="182880"/>
                  <a:pt x="2679192" y="0"/>
                </a:cubicBezTo>
              </a:path>
            </a:pathLst>
          </a:custGeom>
          <a:gradFill>
            <a:gsLst>
              <a:gs pos="0">
                <a:schemeClr val="accent2">
                  <a:alpha val="1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57718" y="1419858"/>
            <a:ext cx="10206563" cy="680438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57718" y="2309860"/>
            <a:ext cx="10206563" cy="4605829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57718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3816687" y="7086721"/>
            <a:ext cx="3888700" cy="345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272970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1" name="KSO_TEMPLATE" hidden="1"/>
          <p:cNvSpPr/>
          <p:nvPr userDrawn="1">
            <p:custDataLst>
              <p:tags r:id="rId20"/>
            </p:custDataLst>
          </p:nvPr>
        </p:nvSpPr>
        <p:spPr>
          <a:xfrm>
            <a:off x="0" y="1079639"/>
            <a:ext cx="0" cy="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fontAlgn="auto"/>
            <a:endParaRPr lang="zh-CN" altLang="en-US" sz="17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864235" rtl="0" eaLnBrk="1" latinLnBrk="0" hangingPunct="1">
        <a:lnSpc>
          <a:spcPct val="100000"/>
        </a:lnSpc>
        <a:spcBef>
          <a:spcPct val="0"/>
        </a:spcBef>
        <a:buNone/>
        <a:defRPr sz="302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5900" indent="-215900" algn="l" defTabSz="864235" rtl="0" eaLnBrk="1" latinLnBrk="0" hangingPunct="1">
        <a:lnSpc>
          <a:spcPct val="130000"/>
        </a:lnSpc>
        <a:spcBef>
          <a:spcPts val="945"/>
        </a:spcBef>
        <a:buFont typeface="Arial" panose="020B0604020202020204" pitchFamily="34" charset="0"/>
        <a:buChar char="•"/>
        <a:defRPr sz="2270" kern="1200">
          <a:solidFill>
            <a:schemeClr val="tx1"/>
          </a:solidFill>
          <a:latin typeface="+mn-lt"/>
          <a:ea typeface="+mn-ea"/>
          <a:cs typeface="+mn-cs"/>
        </a:defRPr>
      </a:lvl1pPr>
      <a:lvl2pPr marL="508635" indent="-19494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55015" indent="-15303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7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974090" indent="-140970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51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167130" indent="-12001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32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37617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7284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180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642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284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927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245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5694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20.png"/><Relationship Id="rId5" Type="http://schemas.openxmlformats.org/officeDocument/2006/relationships/image" Target="../media/image7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7.png"/><Relationship Id="rId8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png"/><Relationship Id="rId4" Type="http://schemas.openxmlformats.org/officeDocument/2006/relationships/image" Target="../media/image22.png"/><Relationship Id="rId5" Type="http://schemas.openxmlformats.org/officeDocument/2006/relationships/image" Target="../media/image8.png"/><Relationship Id="rId6" Type="http://schemas.openxmlformats.org/officeDocument/2006/relationships/image" Target="../media/image17.png"/><Relationship Id="rId7" Type="http://schemas.openxmlformats.org/officeDocument/2006/relationships/image" Target="../media/image10.png"/><Relationship Id="rId8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5.png"/><Relationship Id="rId4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0.png"/><Relationship Id="rId4" Type="http://schemas.openxmlformats.org/officeDocument/2006/relationships/image" Target="../media/image22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Relationship Id="rId4" Type="http://schemas.openxmlformats.org/officeDocument/2006/relationships/image" Target="../media/image32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3.png"/><Relationship Id="rId8" Type="http://schemas.openxmlformats.org/officeDocument/2006/relationships/image" Target="../media/image21.png"/><Relationship Id="rId9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Relationship Id="rId4" Type="http://schemas.openxmlformats.org/officeDocument/2006/relationships/image" Target="../media/image27.png"/><Relationship Id="rId5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514600"/>
            <a:ext cx="6035040" cy="1920240"/>
          </a:xfrm>
        </p:spPr>
        <p:txBody>
          <a:bodyPr wrap="square" lIns="0" tIns="0" rIns="0" bIns="0" anchor="ctr"/>
          <a:lstStyle/>
          <a:p>
            <a:pPr algn="l"/>
            <a:r>
              <a:rPr sz="4600" b="1">
                <a:solidFill>
                  <a:srgbClr val="2B2F42"/>
                </a:solidFill>
              </a:rPr>
              <a:t>AI＋数据平台</a:t>
            </a:r>
          </a:p>
          <a:p>
            <a:pPr algn="l">
              <a:spcBef>
                <a:spcPts val="800"/>
              </a:spcBef>
            </a:pPr>
            <a:r>
              <a:rPr sz="2200" b="1">
                <a:solidFill>
                  <a:srgbClr val="655BE6"/>
                </a:solidFill>
              </a:rPr>
              <a:t>把数据用起来，让 AI 帮我们干活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>
          <a:xfrm>
            <a:off x="795528" y="5074920"/>
            <a:ext cx="5394960" cy="576072"/>
          </a:xfrm>
        </p:spPr>
        <p:txBody>
          <a:bodyPr wrap="square" t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数据可信 · 智能体快速落地 · 数据越用越准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5852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票付通 · 内部汇报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6035040"/>
            <a:ext cx="975360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数据平台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844040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90928" y="603504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智能体平台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64408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1296" y="6035040"/>
            <a:ext cx="1298448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AI＋数据平台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一页说清：我们要做的三件事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汇报要点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532888"/>
            <a:ext cx="1828800" cy="896112"/>
          </a:xfrm>
          <a:prstGeom prst="roundRect">
            <a:avLst>
              <a:gd name="adj" fmla="val 1020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数据平台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2532888"/>
            <a:ext cx="8238744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98648" y="2532888"/>
            <a:ext cx="640080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把数据“理清、算准、管住”：同一个数，全公司一个答案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94520" y="2825496"/>
            <a:ext cx="11673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776CFD"/>
                </a:solidFill>
              </a:rPr>
              <a:t>一、数据平台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630168"/>
            <a:ext cx="1828800" cy="896112"/>
          </a:xfrm>
          <a:prstGeom prst="roundRect">
            <a:avLst>
              <a:gd name="adj" fmla="val 1020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智能体平台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3630168"/>
            <a:ext cx="8238744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98648" y="3630168"/>
            <a:ext cx="640080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先借现成平台快速做、快速卖；规模起来后再自己建，更省钱、交付更快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54820" y="3922776"/>
            <a:ext cx="13070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776CFD"/>
                </a:solidFill>
              </a:rPr>
              <a:t>二、智能体平台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727447"/>
            <a:ext cx="1828800" cy="896112"/>
          </a:xfrm>
          <a:prstGeom prst="roundRect">
            <a:avLst>
              <a:gd name="adj" fmla="val 1020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两者打通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4328" y="4727447"/>
            <a:ext cx="8238744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98648" y="4727447"/>
            <a:ext cx="640080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业务产生数据 → 平台整理 → 智能体和报表使用 → 结果回流，越用越准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98356" y="5020056"/>
            <a:ext cx="146354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776CFD"/>
                </a:solidFill>
              </a:rPr>
              <a:t>三、AI＋数据平台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824727"/>
            <a:ext cx="1828800" cy="896112"/>
          </a:xfrm>
          <a:prstGeom prst="roundRect">
            <a:avLst>
              <a:gd name="adj" fmla="val 10204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需要支持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24328" y="5824727"/>
            <a:ext cx="8238744" cy="896112"/>
          </a:xfrm>
          <a:prstGeom prst="roundRect">
            <a:avLst>
              <a:gd name="adj" fmla="val 10204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98648" y="5824727"/>
            <a:ext cx="640080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口径由谁拍板 · 规范强制执行 · 标杆景区与销售配合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3920" y="6117336"/>
            <a:ext cx="8879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4551A"/>
                </a:solidFill>
              </a:rPr>
              <a:t>需要决策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776CFD"/>
                </a:solidFill>
              </a:rPr>
              <a:t>目 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507492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C7C2FD"/>
                </a:solidFill>
              </a:rPr>
              <a:t>CONTENTS</a:t>
            </a:r>
          </a:p>
        </p:txBody>
      </p:sp>
      <p:sp>
        <p:nvSpPr>
          <p:cNvPr id="4" name="Oval 3"/>
          <p:cNvSpPr/>
          <p:nvPr/>
        </p:nvSpPr>
        <p:spPr>
          <a:xfrm>
            <a:off x="5212080" y="2286000"/>
            <a:ext cx="731520" cy="7315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12080" y="2286000"/>
            <a:ext cx="731520" cy="73152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226771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>
                <a:solidFill>
                  <a:srgbClr val="2B2F42"/>
                </a:solidFill>
              </a:rPr>
              <a:t>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697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0">
                <a:solidFill>
                  <a:srgbClr val="5E6478"/>
                </a:solidFill>
              </a:rPr>
              <a:t>把数据理清、算准、管住</a:t>
            </a:r>
          </a:p>
        </p:txBody>
      </p:sp>
      <p:sp>
        <p:nvSpPr>
          <p:cNvPr id="8" name="Oval 7"/>
          <p:cNvSpPr/>
          <p:nvPr/>
        </p:nvSpPr>
        <p:spPr>
          <a:xfrm>
            <a:off x="5669280" y="3611880"/>
            <a:ext cx="731520" cy="7315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0" y="3611880"/>
            <a:ext cx="731520" cy="73152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59359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>
                <a:solidFill>
                  <a:srgbClr val="2B2F42"/>
                </a:solidFill>
              </a:rPr>
              <a:t>智能体平台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2336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0">
                <a:solidFill>
                  <a:srgbClr val="5E6478"/>
                </a:solidFill>
              </a:rPr>
              <a:t>先借力卖起来，再自己建</a:t>
            </a:r>
          </a:p>
        </p:txBody>
      </p:sp>
      <p:sp>
        <p:nvSpPr>
          <p:cNvPr id="12" name="Oval 11"/>
          <p:cNvSpPr/>
          <p:nvPr/>
        </p:nvSpPr>
        <p:spPr>
          <a:xfrm>
            <a:off x="5212080" y="4937760"/>
            <a:ext cx="731520" cy="7315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12080" y="4937760"/>
            <a:ext cx="731520" cy="73152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91947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>
                <a:solidFill>
                  <a:srgbClr val="2B2F42"/>
                </a:solidFill>
              </a:rPr>
              <a:t>AI＋数据平台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53492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0">
                <a:solidFill>
                  <a:srgbClr val="5E6478"/>
                </a:solidFill>
              </a:rPr>
              <a:t>数据在公司里转起来，越用越准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数据平台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把数据理清、算准、管住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这一部分讲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现状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问题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手里的数据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怎么建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怎么治理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数据安全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建成后的变化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现状：数据的“仓库”已经搭起来，主干道已经通了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29484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已经有的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40964"/>
            <a:ext cx="324612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7" y="332384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34427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35607" y="3323844"/>
            <a:ext cx="2331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DataWorks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918204"/>
            <a:ext cx="2843784" cy="2560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数据加工“车间”，核心模块已采购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87368" y="3140964"/>
            <a:ext cx="324612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332384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344271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64607" y="3323844"/>
            <a:ext cx="2331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动态数据开放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8536" y="3918204"/>
            <a:ext cx="2843784" cy="2560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对内对外提供数据的“窗口”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39412"/>
            <a:ext cx="324612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7" y="462229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a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19" y="4741164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35607" y="4622292"/>
            <a:ext cx="2331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小Q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216652"/>
            <a:ext cx="2843784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看报表、做分析的工具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87368" y="4439412"/>
            <a:ext cx="324612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70248" y="462229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lou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741164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64607" y="4622292"/>
            <a:ext cx="2331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湖仓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88536" y="5216652"/>
            <a:ext cx="2843784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存数据的“仓库”，部分模型已建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62088" y="2729484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已经跑通的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62088" y="3140964"/>
            <a:ext cx="3300984" cy="2441448"/>
          </a:xfrm>
          <a:prstGeom prst="roundRect">
            <a:avLst>
              <a:gd name="adj" fmla="val 524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6408" y="3369564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36408" y="3963924"/>
            <a:ext cx="275234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000" b="1">
                <a:solidFill>
                  <a:srgbClr val="FFFFFF"/>
                </a:solidFill>
              </a:rPr>
              <a:t>离线主流程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36408" y="4421123"/>
            <a:ext cx="275234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EEDFF"/>
                </a:solidFill>
              </a:rPr>
              <a:t>每天把前一天的订单、游客、供应商等核心数据自动算好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884164"/>
            <a:ext cx="10204704" cy="640080"/>
          </a:xfrm>
          <a:prstGeom prst="roundRect">
            <a:avLst>
              <a:gd name="adj" fmla="val 14285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warning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" y="6067044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5884164"/>
            <a:ext cx="9427464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还没做　</a:t>
            </a:r>
            <a:r>
              <a:rPr sz="1300" b="0">
                <a:solidFill>
                  <a:srgbClr val="2B2F42"/>
                </a:solidFill>
              </a:rPr>
              <a:t>实时数据 · 数据质量检查 · 统一标签 · 指标口径管理 · 数据规范落地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问题：平时遇到的这些麻烦，根子是同一个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06624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88950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300837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35607" y="2889504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数据散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83864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想看“售票+二消+结算”，要从 3 个以上系统导数、手工拼表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6992" y="2706624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09872" y="288950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arn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44" y="3008376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04232" y="2889504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一个数多个答案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160" y="3483864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同一天同一景区，看板、对账、接口三处“核销量”不一样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95616" y="2706624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8496" y="288950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7368" y="3008376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72856" y="2889504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没规矩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6784" y="3483864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表名随意、字段没说明、出了问题找不到负责人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79392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7" y="446227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ea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19" y="4581144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35607" y="4462272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重复干活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056631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同一张订单表做了两份，结果还对不上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6992" y="4279392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9872" y="446227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ctivity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8744" y="4581144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04232" y="4462272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数字不准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8160" y="5056631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入园、核销和现场对不上，节假日更明显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95616" y="4279392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78496" y="446227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lo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7368" y="458114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72856" y="4462272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看得慢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96784" y="5056631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订单、核销第二天才看到，高峰预警靠人盯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861304"/>
            <a:ext cx="10204704" cy="685800"/>
          </a:xfrm>
          <a:prstGeom prst="roundRect">
            <a:avLst>
              <a:gd name="adj" fmla="val 133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6067044"/>
            <a:ext cx="274320" cy="2743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52728" y="5861304"/>
            <a:ext cx="9427464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根子　</a:t>
            </a:r>
            <a:r>
              <a:rPr sz="1300" b="0">
                <a:solidFill>
                  <a:srgbClr val="FFFFFF"/>
                </a:solidFill>
              </a:rPr>
              <a:t>前五个都是没有统一的规矩、口径和检查 —— 要系统治理；“看得慢”是能力缺口 —— 要补实时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我们手里有哪些数据：按业务分成 8 大块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06040"/>
            <a:ext cx="2400300" cy="1188720"/>
          </a:xfrm>
          <a:prstGeom prst="roundRect">
            <a:avLst>
              <a:gd name="adj" fmla="val 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交易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EEEDFF"/>
                </a:solidFill>
              </a:rPr>
              <a:t>卖了多少票、核销多少</a:t>
            </a:r>
          </a:p>
          <a:p>
            <a:pPr algn="ctr">
              <a:spcBef>
                <a:spcPts val="400"/>
              </a:spcBef>
            </a:pPr>
            <a:r>
              <a:rPr sz="1100" b="1">
                <a:solidFill>
                  <a:srgbClr val="FFE2C8"/>
                </a:solidFill>
              </a:rPr>
              <a:t>已入仓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836" y="2606040"/>
            <a:ext cx="2400300" cy="1188720"/>
          </a:xfrm>
          <a:prstGeom prst="roundRect">
            <a:avLst>
              <a:gd name="adj" fmla="val 923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B2F42"/>
                </a:solidFill>
              </a:rPr>
              <a:t>商品与资源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E6478"/>
                </a:solidFill>
              </a:rPr>
              <a:t>产品、库存</a:t>
            </a:r>
          </a:p>
          <a:p>
            <a:pPr algn="ctr">
              <a:spcBef>
                <a:spcPts val="400"/>
              </a:spcBef>
            </a:pPr>
            <a:r>
              <a:rPr sz="1100" b="1">
                <a:solidFill>
                  <a:srgbClr val="776CFD"/>
                </a:solidFill>
              </a:rPr>
              <a:t>部分入仓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4" y="2606040"/>
            <a:ext cx="2400300" cy="1188720"/>
          </a:xfrm>
          <a:prstGeom prst="roundRect">
            <a:avLst>
              <a:gd name="adj" fmla="val 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用户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EEEDFF"/>
                </a:solidFill>
              </a:rPr>
              <a:t>游客、会员</a:t>
            </a:r>
          </a:p>
          <a:p>
            <a:pPr algn="ctr">
              <a:spcBef>
                <a:spcPts val="400"/>
              </a:spcBef>
            </a:pPr>
            <a:r>
              <a:rPr sz="1100" b="1">
                <a:solidFill>
                  <a:srgbClr val="FFE2C8"/>
                </a:solidFill>
              </a:rPr>
              <a:t>已入仓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62772" y="2606040"/>
            <a:ext cx="2400300" cy="1188720"/>
          </a:xfrm>
          <a:prstGeom prst="roundRect">
            <a:avLst>
              <a:gd name="adj" fmla="val 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合作方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EEEDFF"/>
                </a:solidFill>
              </a:rPr>
              <a:t>供应商</a:t>
            </a:r>
          </a:p>
          <a:p>
            <a:pPr algn="ctr">
              <a:spcBef>
                <a:spcPts val="400"/>
              </a:spcBef>
            </a:pPr>
            <a:r>
              <a:rPr sz="1100" b="1">
                <a:solidFill>
                  <a:srgbClr val="FFE2C8"/>
                </a:solidFill>
              </a:rPr>
              <a:t>已入仓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995927"/>
            <a:ext cx="2400300" cy="1188720"/>
          </a:xfrm>
          <a:prstGeom prst="roundRect">
            <a:avLst>
              <a:gd name="adj" fmla="val 923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B2F42"/>
                </a:solidFill>
              </a:rPr>
              <a:t>流量营销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E6478"/>
                </a:solidFill>
              </a:rPr>
              <a:t>渠道、活动</a:t>
            </a:r>
          </a:p>
          <a:p>
            <a:pPr algn="ctr">
              <a:spcBef>
                <a:spcPts val="400"/>
              </a:spcBef>
            </a:pPr>
            <a:r>
              <a:rPr sz="1100" b="1">
                <a:solidFill>
                  <a:srgbClr val="776CFD"/>
                </a:solidFill>
              </a:rPr>
              <a:t>部分入仓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9836" y="3995927"/>
            <a:ext cx="2400300" cy="1188720"/>
          </a:xfrm>
          <a:prstGeom prst="roundRect">
            <a:avLst>
              <a:gd name="adj" fmla="val 923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B2F42"/>
                </a:solidFill>
              </a:rPr>
              <a:t>运营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E6478"/>
                </a:solidFill>
              </a:rPr>
              <a:t>日常运营数据</a:t>
            </a:r>
          </a:p>
          <a:p>
            <a:pPr algn="ctr">
              <a:spcBef>
                <a:spcPts val="400"/>
              </a:spcBef>
            </a:pPr>
            <a:r>
              <a:rPr sz="1100" b="1">
                <a:solidFill>
                  <a:srgbClr val="776CFD"/>
                </a:solidFill>
              </a:rPr>
              <a:t>部分入仓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61304" y="3995927"/>
            <a:ext cx="2400300" cy="1188720"/>
          </a:xfrm>
          <a:prstGeom prst="roundRect">
            <a:avLst>
              <a:gd name="adj" fmla="val 923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B2F42"/>
                </a:solidFill>
              </a:rPr>
              <a:t>财务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E6478"/>
                </a:solidFill>
              </a:rPr>
              <a:t>结算、对账</a:t>
            </a:r>
          </a:p>
          <a:p>
            <a:pPr algn="ctr">
              <a:spcBef>
                <a:spcPts val="400"/>
              </a:spcBef>
            </a:pPr>
            <a:r>
              <a:rPr sz="1100" b="1">
                <a:solidFill>
                  <a:srgbClr val="776CFD"/>
                </a:solidFill>
              </a:rPr>
              <a:t>部分入仓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62772" y="3995927"/>
            <a:ext cx="2400300" cy="1188720"/>
          </a:xfrm>
          <a:prstGeom prst="roundRect">
            <a:avLst>
              <a:gd name="adj" fmla="val 923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B2F42"/>
                </a:solidFill>
              </a:rPr>
              <a:t>内部管理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E6478"/>
                </a:solidFill>
              </a:rPr>
              <a:t>系统任务、成本</a:t>
            </a:r>
          </a:p>
          <a:p>
            <a:pPr algn="ctr">
              <a:spcBef>
                <a:spcPts val="400"/>
              </a:spcBef>
            </a:pPr>
            <a:r>
              <a:rPr sz="1100" b="1">
                <a:solidFill>
                  <a:srgbClr val="776CFD"/>
                </a:solidFill>
              </a:rPr>
              <a:t>部分入仓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34924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ol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495544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52728" y="534924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待补　</a:t>
            </a:r>
            <a:r>
              <a:rPr sz="1300" b="0">
                <a:solidFill>
                  <a:srgbClr val="2B2F42"/>
                </a:solidFill>
              </a:rPr>
              <a:t>现场设备数据、外部数据、AI 产生的数据，后续新增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608076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arning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6227064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52728" y="608076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难点　</a:t>
            </a:r>
            <a:r>
              <a:rPr sz="1300" b="0">
                <a:solidFill>
                  <a:srgbClr val="2B2F42"/>
                </a:solidFill>
              </a:rPr>
              <a:t>不在数据量，在节假日高峰、订单状态多次变化、设备离线补传、多景区数据隔离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怎么建：六层搭起来，治理管全程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40280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应用与服务</a:t>
            </a: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谁在用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4327" y="2240280"/>
            <a:ext cx="123444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内部经营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50208" y="2240280"/>
            <a:ext cx="123444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景区运营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76088" y="2240280"/>
            <a:ext cx="123444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伙伴接入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1968" y="2240280"/>
            <a:ext cx="123444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行业报告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7848" y="2240280"/>
            <a:ext cx="123444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数据产品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53512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能力</a:t>
            </a: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让 AI 能用数据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4327" y="2953512"/>
            <a:ext cx="156591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1678" y="2953512"/>
            <a:ext cx="156591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39028" y="2953512"/>
            <a:ext cx="156591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工具服务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96378" y="2953512"/>
            <a:ext cx="156591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评测运营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66744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数据服务</a:t>
            </a: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对外的窗口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24327" y="3666744"/>
            <a:ext cx="156591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1678" y="3666744"/>
            <a:ext cx="156591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39028" y="3666744"/>
            <a:ext cx="156591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标签服务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96378" y="3666744"/>
            <a:ext cx="156591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一键接入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379976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指标与分析</a:t>
            </a: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算好的数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24327" y="4379976"/>
            <a:ext cx="156591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企业标准指标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1678" y="4379976"/>
            <a:ext cx="156591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景区自定义指标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39028" y="4379976"/>
            <a:ext cx="156591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统一标签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96378" y="4379976"/>
            <a:ext cx="156591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小Q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093208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统一底座</a:t>
            </a: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数据仓库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24327" y="5093208"/>
            <a:ext cx="123444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DataWorks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50208" y="5093208"/>
            <a:ext cx="123444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离线主流程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76088" y="5093208"/>
            <a:ext cx="123444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1968" y="5093208"/>
            <a:ext cx="123444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27848" y="5093208"/>
            <a:ext cx="123444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公共模型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806440"/>
            <a:ext cx="1828800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数据来源</a:t>
            </a: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数据从哪来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24327" y="5806440"/>
            <a:ext cx="737235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53002" y="5806440"/>
            <a:ext cx="737235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订单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81677" y="5806440"/>
            <a:ext cx="737235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10352" y="5806440"/>
            <a:ext cx="737235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39027" y="5806440"/>
            <a:ext cx="737235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67702" y="5806440"/>
            <a:ext cx="737235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96377" y="5806440"/>
            <a:ext cx="737235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25053" y="5806440"/>
            <a:ext cx="737235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45167" y="2240280"/>
            <a:ext cx="1517904" cy="4169663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46336" y="2423160"/>
            <a:ext cx="115214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数据治理</a:t>
            </a:r>
          </a:p>
          <a:p>
            <a:pPr algn="l"/>
            <a:r>
              <a:rPr sz="1600" b="1">
                <a:solidFill>
                  <a:srgbClr val="FFFFFF"/>
                </a:solidFill>
              </a:rPr>
              <a:t>贯穿每一层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291840"/>
            <a:ext cx="1152144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EEEDFF"/>
                </a:solidFill>
              </a:rPr>
              <a:t>定规矩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50" b="0">
                <a:solidFill>
                  <a:srgbClr val="EEEDFF"/>
                </a:solidFill>
              </a:rPr>
              <a:t>统一编码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50" b="0">
                <a:solidFill>
                  <a:srgbClr val="EEEDFF"/>
                </a:solidFill>
              </a:rPr>
              <a:t>说清来源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50" b="0">
                <a:solidFill>
                  <a:srgbClr val="EEEDFF"/>
                </a:solidFill>
              </a:rPr>
              <a:t>每天体检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50" b="0">
                <a:solidFill>
                  <a:srgbClr val="EEEDFF"/>
                </a:solidFill>
              </a:rPr>
              <a:t>统一口径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50" b="0">
                <a:solidFill>
                  <a:srgbClr val="EEEDFF"/>
                </a:solidFill>
              </a:rPr>
              <a:t>管好权限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6592824"/>
            <a:ext cx="92456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已经有的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692656" y="6592824"/>
            <a:ext cx="122631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655BE6"/>
                </a:solidFill>
              </a:rPr>
              <a:t>要新建 / 升级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数据治理：给数据定规矩、做体检、管权限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06624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88950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o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300837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35607" y="2889504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定规矩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83864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表怎么起名、字段怎么写，全公司一个说法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6992" y="2706624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09872" y="288950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erifie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44" y="3008376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04232" y="2889504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统一编码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160" y="3483864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景区、商品、渠道、供应商、游客，全公司一个编号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95616" y="2706624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8496" y="288950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7368" y="3008376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72856" y="2889504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说清来源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6784" y="3483864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每个数从哪来、到哪去，出错能顺藤摸瓜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79392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7" y="446227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19" y="4581144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35607" y="4462272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每天体检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056631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关键数据算完自动检查，不合格就拦住并通知负责人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6992" y="4279392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9872" y="446227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ta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8744" y="4581144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04232" y="4462272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统一口径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8160" y="5056631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“核销量”这样的指标，全公司只有一个算法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95616" y="4279392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78496" y="446227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o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7368" y="458114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72856" y="4462272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管好权限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96784" y="5056631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谁能看什么分清楚，敏感信息自动打码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861304"/>
            <a:ext cx="10204704" cy="685800"/>
          </a:xfrm>
          <a:prstGeom prst="roundRect">
            <a:avLst>
              <a:gd name="adj" fmla="val 13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bol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6067044"/>
            <a:ext cx="274320" cy="2743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52728" y="5861304"/>
            <a:ext cx="9427464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关键　</a:t>
            </a:r>
            <a:r>
              <a:rPr sz="1300" b="0">
                <a:solidFill>
                  <a:srgbClr val="FFFFFF"/>
                </a:solidFill>
              </a:rPr>
              <a:t>规矩不只写在文档里，而是写进开发流程 —— 不合规的表发不出去，有问题的数据流不到报表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举个例子：“核销量”怎么做到各处一致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46604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第一步：先把四个容易混的数分开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58084"/>
            <a:ext cx="2173986" cy="640080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655BE6"/>
                </a:solidFill>
              </a:rPr>
              <a:t>核销次数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2354" y="2958084"/>
            <a:ext cx="5029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5274" y="2958084"/>
            <a:ext cx="2173986" cy="640080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655BE6"/>
                </a:solidFill>
              </a:rPr>
              <a:t>有效核销票数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9260" y="2958084"/>
            <a:ext cx="5029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12180" y="2958084"/>
            <a:ext cx="2173986" cy="640080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655BE6"/>
                </a:solidFill>
              </a:rPr>
              <a:t>入园人次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6166" y="2958084"/>
            <a:ext cx="5029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9086" y="2958084"/>
            <a:ext cx="2173986" cy="640080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655BE6"/>
                </a:solidFill>
              </a:rPr>
              <a:t>去重游客数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72484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第二步：从现场到报表，每一层按“景区 + 日期”对一次数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83964"/>
            <a:ext cx="1733702" cy="868680"/>
          </a:xfrm>
          <a:prstGeom prst="roundRect">
            <a:avLst>
              <a:gd name="adj" fmla="val 1263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2B2F42"/>
                </a:solidFill>
              </a:rPr>
              <a:t>闸机 / 手持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>
                <a:solidFill>
                  <a:srgbClr val="5E6478"/>
                </a:solidFill>
              </a:rPr>
              <a:t>现场记录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465222" y="461772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76118" y="4283964"/>
            <a:ext cx="1733702" cy="868680"/>
          </a:xfrm>
          <a:prstGeom prst="roundRect">
            <a:avLst>
              <a:gd name="adj" fmla="val 1263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2B2F42"/>
                </a:solidFill>
              </a:rPr>
              <a:t>业务系统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>
                <a:solidFill>
                  <a:srgbClr val="5E6478"/>
                </a:solidFill>
              </a:rPr>
              <a:t>订单与核销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582972" y="461772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93868" y="4283964"/>
            <a:ext cx="1733702" cy="868680"/>
          </a:xfrm>
          <a:prstGeom prst="roundRect">
            <a:avLst>
              <a:gd name="adj" fmla="val 1263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2B2F42"/>
                </a:solidFill>
              </a:rPr>
              <a:t>数据仓库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>
                <a:solidFill>
                  <a:srgbClr val="5E6478"/>
                </a:solidFill>
              </a:rPr>
              <a:t>明细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700723" y="461772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1619" y="4283964"/>
            <a:ext cx="1733702" cy="868680"/>
          </a:xfrm>
          <a:prstGeom prst="roundRect">
            <a:avLst>
              <a:gd name="adj" fmla="val 1263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2B2F42"/>
                </a:solidFill>
              </a:rPr>
              <a:t>数据仓库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>
                <a:solidFill>
                  <a:srgbClr val="5E6478"/>
                </a:solidFill>
              </a:rPr>
              <a:t>汇总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18473" y="461772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29369" y="4283964"/>
            <a:ext cx="1733702" cy="868680"/>
          </a:xfrm>
          <a:prstGeom prst="roundRect">
            <a:avLst>
              <a:gd name="adj" fmla="val 1263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报表 / 接口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>
                <a:solidFill>
                  <a:srgbClr val="EEEDFF"/>
                </a:solidFill>
              </a:rPr>
              <a:t>大家看到的数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72684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618988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52728" y="5472684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第三步　</a:t>
            </a:r>
            <a:r>
              <a:rPr sz="1300" b="0">
                <a:solidFill>
                  <a:srgbClr val="2B2F42"/>
                </a:solidFill>
              </a:rPr>
              <a:t>对不上就自动报警 → 查原因 → 修复 → 重算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158484"/>
            <a:ext cx="1020470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常见原因：设备离线补传、重复上报、撤销冲正、按下单时间还是核销时间统计混用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指标与标签：集团出标准，景区可以自己加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4937760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468880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2587752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35607" y="2468880"/>
            <a:ext cx="4023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指标 = 数一数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063240"/>
            <a:ext cx="4535424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卖了多少、核销多少、来了多少人、收入多少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25312" y="2286000"/>
            <a:ext cx="4937760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08192" y="2468880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t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064" y="2587752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02551" y="2468880"/>
            <a:ext cx="4023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标签 = 贴个签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3063240"/>
            <a:ext cx="4535424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年卡用户、高频复购、喜欢夜游、可能流失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84448" y="3794760"/>
            <a:ext cx="4352544" cy="6858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集团标准库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统一口径 · 分级下发 · 版本管理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2395728" y="4572000"/>
            <a:ext cx="201168" cy="27432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207007" y="4937760"/>
            <a:ext cx="2560320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景区 A · 直接用标准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532120"/>
            <a:ext cx="2560320" cy="50292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C7C2F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不够用：自己空间里自定义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669279" y="4572000"/>
            <a:ext cx="201168" cy="27432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80559" y="4937760"/>
            <a:ext cx="2560320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景区 B · 直接用标准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59" y="5532120"/>
            <a:ext cx="2560320" cy="50292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C7C2F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不够用：自己空间里自定义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8942832" y="4572000"/>
            <a:ext cx="201168" cy="27432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54112" y="4937760"/>
            <a:ext cx="2560320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供应商 · 直接用标准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54112" y="5532120"/>
            <a:ext cx="2560320" cy="50292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C7C2F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不够用：自己空间里自定义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626364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6409944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52728" y="626364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规则　</a:t>
            </a:r>
            <a:r>
              <a:rPr sz="1250" b="0">
                <a:solidFill>
                  <a:srgbClr val="2B2F42"/>
                </a:solidFill>
              </a:rPr>
              <a:t>自定义只给自己用、不影响别人；好用的评审后收回成集团标准；认证过的才能进老板看板、对外接口和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数据安全：分级管，谁的数据谁能看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83764"/>
            <a:ext cx="1463040" cy="658368"/>
          </a:xfrm>
          <a:prstGeom prst="roundRect">
            <a:avLst>
              <a:gd name="adj" fmla="val 13888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高敏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31136" y="2683764"/>
            <a:ext cx="5486400" cy="658368"/>
          </a:xfrm>
          <a:prstGeom prst="roundRect">
            <a:avLst>
              <a:gd name="adj" fmla="val 13888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41448" y="2683764"/>
            <a:ext cx="52120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手机号、身份证、人脸</a:t>
            </a:r>
          </a:p>
          <a:p>
            <a:pPr algn="l">
              <a:spcBef>
                <a:spcPts val="100"/>
              </a:spcBef>
            </a:pPr>
            <a:r>
              <a:rPr sz="1200" b="0">
                <a:solidFill>
                  <a:srgbClr val="5E6478"/>
                </a:solidFill>
              </a:rPr>
              <a:t>加密、打码，明文不进大模型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48" y="3470148"/>
            <a:ext cx="1463040" cy="658368"/>
          </a:xfrm>
          <a:prstGeom prst="roundRect">
            <a:avLst>
              <a:gd name="adj" fmla="val 13888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敏感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2615" y="3470148"/>
            <a:ext cx="5074920" cy="658368"/>
          </a:xfrm>
          <a:prstGeom prst="roundRect">
            <a:avLst>
              <a:gd name="adj" fmla="val 13888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8" y="3470148"/>
            <a:ext cx="48006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单景区经营数据、价格、结算</a:t>
            </a:r>
          </a:p>
          <a:p>
            <a:pPr algn="l">
              <a:spcBef>
                <a:spcPts val="100"/>
              </a:spcBef>
            </a:pPr>
            <a:r>
              <a:rPr sz="1200" b="0">
                <a:solidFill>
                  <a:srgbClr val="5E6478"/>
                </a:solidFill>
              </a:rPr>
              <a:t>按景区 / 供应商隔离，跨主体只看汇总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81328" y="4256532"/>
            <a:ext cx="1463040" cy="658368"/>
          </a:xfrm>
          <a:prstGeom prst="roundRect">
            <a:avLst>
              <a:gd name="adj" fmla="val 13888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内部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54096" y="4256532"/>
            <a:ext cx="4663440" cy="658368"/>
          </a:xfrm>
          <a:prstGeom prst="roundRect">
            <a:avLst>
              <a:gd name="adj" fmla="val 13888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4256532"/>
            <a:ext cx="438912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日志、设备状态、运营数据</a:t>
            </a:r>
          </a:p>
          <a:p>
            <a:pPr algn="l">
              <a:spcBef>
                <a:spcPts val="100"/>
              </a:spcBef>
            </a:pPr>
            <a:r>
              <a:rPr sz="1200" b="0">
                <a:solidFill>
                  <a:srgbClr val="5E6478"/>
                </a:solidFill>
              </a:rPr>
              <a:t>内部按角色授权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92808" y="5042916"/>
            <a:ext cx="1463040" cy="658368"/>
          </a:xfrm>
          <a:prstGeom prst="roundRect">
            <a:avLst>
              <a:gd name="adj" fmla="val 13888"/>
            </a:avLst>
          </a:prstGeom>
          <a:solidFill>
            <a:srgbClr val="6C9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公开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5576" y="5042916"/>
            <a:ext cx="4251960" cy="658368"/>
          </a:xfrm>
          <a:prstGeom prst="roundRect">
            <a:avLst>
              <a:gd name="adj" fmla="val 13888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5042916"/>
            <a:ext cx="39776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已发布的报告、规范</a:t>
            </a:r>
          </a:p>
          <a:p>
            <a:pPr algn="l">
              <a:spcBef>
                <a:spcPts val="100"/>
              </a:spcBef>
            </a:pPr>
            <a:r>
              <a:rPr sz="1200" b="0">
                <a:solidFill>
                  <a:srgbClr val="5E6478"/>
                </a:solidFill>
              </a:rPr>
              <a:t>可以公开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9288" y="2683764"/>
            <a:ext cx="2843783" cy="3017520"/>
          </a:xfrm>
          <a:prstGeom prst="roundRect">
            <a:avLst>
              <a:gd name="adj" fmla="val 450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20924"/>
            <a:ext cx="2386583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FFFFFF"/>
                </a:solidFill>
              </a:rPr>
              <a:t>三条底线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278124"/>
            <a:ext cx="23865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</a:rPr>
              <a:t>景区数据只给该景区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>
                <a:solidFill>
                  <a:srgbClr val="FFFFFF"/>
                </a:solidFill>
              </a:rPr>
              <a:t>供应商数据只给该供应商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>
                <a:solidFill>
                  <a:srgbClr val="FFFFFF"/>
                </a:solidFill>
              </a:rPr>
              <a:t>对外只给汇总后的数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975604"/>
            <a:ext cx="10204704" cy="594360"/>
          </a:xfrm>
          <a:prstGeom prst="roundRect">
            <a:avLst>
              <a:gd name="adj" fmla="val 1538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35623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52728" y="5975604"/>
            <a:ext cx="9427464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流程　</a:t>
            </a:r>
            <a:r>
              <a:rPr sz="1300" b="0">
                <a:solidFill>
                  <a:srgbClr val="2B2F42"/>
                </a:solidFill>
              </a:rPr>
              <a:t>申请 → 审批 → 按最小范围授权 → 访问全程留痕 → 到期自动回收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建设落地：六件事，每件都看得见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06624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88950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o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300837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35607" y="2889504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统一规范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83864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新表不合规就发不出去，存量的按优先级整改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6992" y="2706624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09872" y="288950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44" y="3008376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04232" y="2889504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统一底座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160" y="3483864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一份存储，离线 + 实时，订单核销分钟级看到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95616" y="2706624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8496" y="288950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7368" y="3008376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72856" y="2889504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同一逻辑只写一遍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6784" y="3483864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离线和湖仓合一，不再出两套结果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79392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7" y="446227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ta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19" y="4581144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35607" y="4462272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统一指标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056631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企业一个口径，景区保留自己专属的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6992" y="4279392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9872" y="446227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user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8744" y="4581144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04232" y="4462272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标签复用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8160" y="5056631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一处做好，营销、分析、AI 都能用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95616" y="4279392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78496" y="446227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earch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7368" y="458114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72856" y="4462272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自助分析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96784" y="5056631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业务自己看数，少找人要数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861304"/>
            <a:ext cx="10204704" cy="685800"/>
          </a:xfrm>
          <a:prstGeom prst="roundRect">
            <a:avLst>
              <a:gd name="adj" fmla="val 133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ctivity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6067044"/>
            <a:ext cx="274320" cy="2743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52728" y="5861304"/>
            <a:ext cx="9427464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怎么推　</a:t>
            </a:r>
            <a:r>
              <a:rPr sz="1300" b="0">
                <a:solidFill>
                  <a:srgbClr val="FFFFFF"/>
                </a:solidFill>
              </a:rPr>
              <a:t>先在“订单 → 核销 → 结算”主线试点，跑通再推广；老模型先双跑对比再切换，可回退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建成后对公司：可信、及时、省事、省钱、安全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52344"/>
            <a:ext cx="1894636" cy="2834640"/>
          </a:xfrm>
          <a:prstGeom prst="roundRect">
            <a:avLst>
              <a:gd name="adj" fmla="val 675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935224"/>
            <a:ext cx="152887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400" b="1">
                <a:solidFill>
                  <a:srgbClr val="FFFFFF"/>
                </a:solidFill>
              </a:rPr>
              <a:t>可信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21024"/>
            <a:ext cx="1528876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</a:rPr>
              <a:t>一个指标一个口径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</a:rPr>
              <a:t>数字能追溯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4946904"/>
            <a:ext cx="1528876" cy="1828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038344"/>
            <a:ext cx="15288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FFE2C8"/>
                </a:solidFill>
              </a:rPr>
              <a:t>开会不用先对数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35884" y="2752344"/>
            <a:ext cx="1894636" cy="2834640"/>
          </a:xfrm>
          <a:prstGeom prst="roundRect">
            <a:avLst>
              <a:gd name="adj" fmla="val 675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18764" y="2935224"/>
            <a:ext cx="152887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400" b="1">
                <a:solidFill>
                  <a:srgbClr val="776CFD"/>
                </a:solidFill>
              </a:rPr>
              <a:t>及时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8764" y="3621024"/>
            <a:ext cx="1528876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F42"/>
                </a:solidFill>
              </a:rPr>
              <a:t>订单、核销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F42"/>
                </a:solidFill>
              </a:rPr>
              <a:t>第二天 → 分钟级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18764" y="4946904"/>
            <a:ext cx="1528876" cy="18288"/>
          </a:xfrm>
          <a:prstGeom prst="roundRect">
            <a:avLst>
              <a:gd name="adj" fmla="val 0"/>
            </a:avLst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18764" y="5038344"/>
            <a:ext cx="15288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B4551A"/>
                </a:solidFill>
              </a:rPr>
              <a:t>高峰实时看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3401" y="2752344"/>
            <a:ext cx="1894636" cy="2834640"/>
          </a:xfrm>
          <a:prstGeom prst="roundRect">
            <a:avLst>
              <a:gd name="adj" fmla="val 675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6281" y="2935224"/>
            <a:ext cx="152887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400" b="1">
                <a:solidFill>
                  <a:srgbClr val="776CFD"/>
                </a:solidFill>
              </a:rPr>
              <a:t>省事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6281" y="3621024"/>
            <a:ext cx="1528876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F42"/>
                </a:solidFill>
              </a:rPr>
              <a:t>优先复用现成模型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F42"/>
                </a:solidFill>
              </a:rPr>
              <a:t>改动影响可预判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96281" y="4946904"/>
            <a:ext cx="1528876" cy="18288"/>
          </a:xfrm>
          <a:prstGeom prst="roundRect">
            <a:avLst>
              <a:gd name="adj" fmla="val 0"/>
            </a:avLst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6281" y="5038344"/>
            <a:ext cx="15288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B4551A"/>
                </a:solidFill>
              </a:rPr>
              <a:t>需求交付更快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90918" y="2752344"/>
            <a:ext cx="1894636" cy="2834640"/>
          </a:xfrm>
          <a:prstGeom prst="roundRect">
            <a:avLst>
              <a:gd name="adj" fmla="val 675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73798" y="2935224"/>
            <a:ext cx="152887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400" b="1">
                <a:solidFill>
                  <a:srgbClr val="776CFD"/>
                </a:solidFill>
              </a:rPr>
              <a:t>省钱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3798" y="3621024"/>
            <a:ext cx="1528876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F42"/>
                </a:solidFill>
              </a:rPr>
              <a:t>重复模型、没人用的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F42"/>
                </a:solidFill>
              </a:rPr>
              <a:t>报表和任务下线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73798" y="4946904"/>
            <a:ext cx="1528876" cy="18288"/>
          </a:xfrm>
          <a:prstGeom prst="roundRect">
            <a:avLst>
              <a:gd name="adj" fmla="val 0"/>
            </a:avLst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3798" y="5038344"/>
            <a:ext cx="15288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B4551A"/>
                </a:solidFill>
              </a:rPr>
              <a:t>存储计算成本下降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8435" y="2752344"/>
            <a:ext cx="1894636" cy="2834640"/>
          </a:xfrm>
          <a:prstGeom prst="roundRect">
            <a:avLst>
              <a:gd name="adj" fmla="val 675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1315" y="2935224"/>
            <a:ext cx="152887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400" b="1">
                <a:solidFill>
                  <a:srgbClr val="776CFD"/>
                </a:solidFill>
              </a:rPr>
              <a:t>安全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1315" y="3621024"/>
            <a:ext cx="1528876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F42"/>
                </a:solidFill>
              </a:rPr>
              <a:t>敏感数据分级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F42"/>
                </a:solidFill>
              </a:rPr>
              <a:t>打码、可审计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51315" y="4946904"/>
            <a:ext cx="1528876" cy="18288"/>
          </a:xfrm>
          <a:prstGeom prst="roundRect">
            <a:avLst>
              <a:gd name="adj" fmla="val 0"/>
            </a:avLst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51315" y="5038344"/>
            <a:ext cx="15288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B4551A"/>
                </a:solidFill>
              </a:rPr>
              <a:t>合规有底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907024"/>
            <a:ext cx="10204704" cy="594360"/>
          </a:xfrm>
          <a:prstGeom prst="roundRect">
            <a:avLst>
              <a:gd name="adj" fmla="val 1538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ar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067044"/>
            <a:ext cx="274320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52728" y="5907024"/>
            <a:ext cx="9427464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怎么衡量　</a:t>
            </a:r>
            <a:r>
              <a:rPr sz="1300" b="0">
                <a:solidFill>
                  <a:srgbClr val="2B2F42"/>
                </a:solidFill>
              </a:rPr>
              <a:t>先建立基线再定目标；看实际使用和业务结果，不看上了多少个看板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建成后对各业务线：每个人都用上靠谱的数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3267456" cy="1024128"/>
          </a:xfrm>
          <a:prstGeom prst="roundRect">
            <a:avLst>
              <a:gd name="adj" fmla="val 1071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697480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7" y="2697480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596896"/>
            <a:ext cx="2215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管理层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944368"/>
            <a:ext cx="2215896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驾驶舱全用认证指标，不用先对数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6992" y="2468880"/>
            <a:ext cx="3267456" cy="1024128"/>
          </a:xfrm>
          <a:prstGeom prst="roundRect">
            <a:avLst>
              <a:gd name="adj" fmla="val 1071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09872" y="2697480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09872" y="2697480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392" y="2596896"/>
            <a:ext cx="2215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1392" y="2944368"/>
            <a:ext cx="2215896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核销口径统一，差异自动定位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95616" y="2468880"/>
            <a:ext cx="3267456" cy="1024128"/>
          </a:xfrm>
          <a:prstGeom prst="roundRect">
            <a:avLst>
              <a:gd name="adj" fmla="val 1071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8496" y="2697480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8496" y="2697480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0016" y="2596896"/>
            <a:ext cx="2215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财务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0016" y="2944368"/>
            <a:ext cx="2215896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业务与财务逐层对账，差异自动列原因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94176"/>
            <a:ext cx="3267456" cy="1024128"/>
          </a:xfrm>
          <a:prstGeom prst="roundRect">
            <a:avLst>
              <a:gd name="adj" fmla="val 1071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7" y="3922776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1247" y="3922776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72768" y="3822192"/>
            <a:ext cx="2215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2768" y="4169663"/>
            <a:ext cx="2215896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销量、佣金、返利口径统一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6992" y="3694176"/>
            <a:ext cx="3267456" cy="1024128"/>
          </a:xfrm>
          <a:prstGeom prst="roundRect">
            <a:avLst>
              <a:gd name="adj" fmla="val 1071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9872" y="3922776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09872" y="3922776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1392" y="3822192"/>
            <a:ext cx="2215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1392" y="4169663"/>
            <a:ext cx="2215896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标签圈人、指标看效果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95616" y="3694176"/>
            <a:ext cx="3267456" cy="1024128"/>
          </a:xfrm>
          <a:prstGeom prst="roundRect">
            <a:avLst>
              <a:gd name="adj" fmla="val 1071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78496" y="3922776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78496" y="3922776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10016" y="3822192"/>
            <a:ext cx="2215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运营 / 客户成功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10016" y="4169663"/>
            <a:ext cx="2215896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景区经营报告自动生成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919472"/>
            <a:ext cx="3267456" cy="1024128"/>
          </a:xfrm>
          <a:prstGeom prst="roundRect">
            <a:avLst>
              <a:gd name="adj" fmla="val 1071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41247" y="5148072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1247" y="5148072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72768" y="5047487"/>
            <a:ext cx="2215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产品研发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72768" y="5394959"/>
            <a:ext cx="2215896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上线前定好口径，上线即有数据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6992" y="4919472"/>
            <a:ext cx="3267456" cy="1024128"/>
          </a:xfrm>
          <a:prstGeom prst="roundRect">
            <a:avLst>
              <a:gd name="adj" fmla="val 1071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09872" y="5148072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09872" y="5148072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41392" y="5047487"/>
            <a:ext cx="2215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41392" y="5394959"/>
            <a:ext cx="2215896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从取数对数转向建模型、做分析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95616" y="4919472"/>
            <a:ext cx="3267456" cy="1024128"/>
          </a:xfrm>
          <a:prstGeom prst="roundRect">
            <a:avLst>
              <a:gd name="adj" fmla="val 1071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778496" y="5148072"/>
            <a:ext cx="566928" cy="56692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778496" y="5148072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10016" y="5047487"/>
            <a:ext cx="2215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景区 / 供应商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0016" y="5394959"/>
            <a:ext cx="2215896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直接用标准指标，不够用自己加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" y="6217920"/>
            <a:ext cx="10204704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o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64224"/>
            <a:ext cx="274320" cy="27432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252728" y="62179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为第二部分打基础　</a:t>
            </a:r>
            <a:r>
              <a:rPr sz="1300" b="0">
                <a:solidFill>
                  <a:srgbClr val="FFFFFF"/>
                </a:solidFill>
              </a:rPr>
              <a:t>数据可信、有口径、有权限，AI 接上去才能答得准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智能体平台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先借力卖起来，再自己建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这一部分讲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现状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能做哪些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怎么走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先验证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再复制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什么时候自建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能省什么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现状：已经有 8 个智能体，来自三个地方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29484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0" rIns="182880" bIns="0"/>
          <a:lstStyle/>
          <a:p>
            <a:pPr algn="l"/>
            <a:r>
              <a:rPr sz="1500" b="1">
                <a:solidFill>
                  <a:srgbClr val="655BE6"/>
                </a:solidFill>
              </a:rPr>
              <a:t>智能体 = </a:t>
            </a:r>
            <a:r>
              <a:rPr sz="1500" b="0">
                <a:solidFill>
                  <a:srgbClr val="2B2F42"/>
                </a:solidFill>
              </a:rPr>
              <a:t>能听懂问题、还能帮你办事的 AI 助手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52444"/>
            <a:ext cx="4572000" cy="2971800"/>
          </a:xfrm>
          <a:prstGeom prst="roundRect">
            <a:avLst>
              <a:gd name="adj" fmla="val 4307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689604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</a:rPr>
              <a:t>扣子平台上搭的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3598163"/>
            <a:ext cx="9144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4466844"/>
            <a:ext cx="98958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300" b="0">
                <a:solidFill>
                  <a:srgbClr val="655BE6"/>
                </a:solidFill>
              </a:rPr>
              <a:t>智能助手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7991" y="4466844"/>
            <a:ext cx="98958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300" b="0">
                <a:solidFill>
                  <a:srgbClr val="655BE6"/>
                </a:solidFill>
              </a:rPr>
              <a:t>智能客服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49016" y="4466844"/>
            <a:ext cx="98958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300" b="0">
                <a:solidFill>
                  <a:srgbClr val="655BE6"/>
                </a:solidFill>
              </a:rPr>
              <a:t>智能导览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" y="4942332"/>
            <a:ext cx="89382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300" b="0">
                <a:solidFill>
                  <a:srgbClr val="655BE6"/>
                </a:solidFill>
              </a:rPr>
              <a:t>AI 旅拍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72234" y="4942332"/>
            <a:ext cx="89382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300" b="0">
                <a:solidFill>
                  <a:srgbClr val="655BE6"/>
                </a:solidFill>
              </a:rPr>
              <a:t>AI 伴游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884163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EEEDFF"/>
                </a:solidFill>
              </a:rPr>
              <a:t>给游客用，标准化、配置化输出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1536" y="3552444"/>
            <a:ext cx="2377440" cy="2971800"/>
          </a:xfrm>
          <a:prstGeom prst="roundRect">
            <a:avLst>
              <a:gd name="adj" fmla="val 5384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0136" y="3689604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合作企业做的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5" y="3598163"/>
            <a:ext cx="9144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600" b="1">
                <a:solidFill>
                  <a:srgbClr val="F08A3C"/>
                </a:solidFill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0136" y="4466844"/>
            <a:ext cx="659383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300" b="0">
                <a:solidFill>
                  <a:srgbClr val="B4551A"/>
                </a:solidFill>
              </a:rPr>
              <a:t>手语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0136" y="5884163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给听障游客用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3552444"/>
            <a:ext cx="2852928" cy="2971800"/>
          </a:xfrm>
          <a:prstGeom prst="roundRect">
            <a:avLst>
              <a:gd name="adj" fmla="val 448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8744" y="3689604"/>
            <a:ext cx="166420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小Q 自带的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5792" y="3598163"/>
            <a:ext cx="91440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600" b="1">
                <a:solidFill>
                  <a:srgbClr val="2B2F42"/>
                </a:solidFill>
              </a:rPr>
              <a:t>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466844"/>
            <a:ext cx="98958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300" b="0">
                <a:solidFill>
                  <a:srgbClr val="655BE6"/>
                </a:solidFill>
              </a:rPr>
              <a:t>智能问数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19768" y="4466844"/>
            <a:ext cx="131978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300" b="0">
                <a:solidFill>
                  <a:srgbClr val="655BE6"/>
                </a:solidFill>
              </a:rPr>
              <a:t>智能数据解读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5884163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给景区和内部管理者用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能做的远不止 8 个：游客端 17 个、景区端 28 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4983480" cy="3429000"/>
          </a:xfrm>
          <a:prstGeom prst="roundRect">
            <a:avLst>
              <a:gd name="adj" fmla="val 373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1061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2B2F42"/>
                </a:solidFill>
              </a:rPr>
              <a:t>游客端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4408" y="254660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200" b="1">
                <a:solidFill>
                  <a:srgbClr val="776CFD"/>
                </a:solidFill>
              </a:rPr>
              <a:t>17</a:t>
            </a:r>
            <a:r>
              <a:rPr sz="1300" b="0">
                <a:solidFill>
                  <a:srgbClr val="5E6478"/>
                </a:solidFill>
              </a:rPr>
              <a:t> 个可做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067812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其中已有 6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46100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游前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01368" y="34610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景区咨询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7903" y="34610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行程规划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4439" y="34610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智能购票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91820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游中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01368" y="39182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智能导览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7903" y="3918204"/>
            <a:ext cx="8286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AI 伴游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9730" y="39182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乐园排队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01368" y="4320540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演出选座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7903" y="4320540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餐饮推荐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74439" y="4320540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停车引导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77774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游后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01368" y="4777740"/>
            <a:ext cx="8286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AI 旅拍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03195" y="4777740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游记总结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89730" y="4777740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点评分享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01368" y="5180076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年卡续费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79592" y="2500884"/>
            <a:ext cx="4983480" cy="3429000"/>
          </a:xfrm>
          <a:prstGeom prst="roundRect">
            <a:avLst>
              <a:gd name="adj" fmla="val 373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261061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2B2F42"/>
                </a:solidFill>
              </a:rPr>
              <a:t>景区端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254660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200" b="1">
                <a:solidFill>
                  <a:srgbClr val="776CFD"/>
                </a:solidFill>
              </a:rPr>
              <a:t>28</a:t>
            </a:r>
            <a:r>
              <a:rPr sz="1300" b="0">
                <a:solidFill>
                  <a:srgbClr val="5E6478"/>
                </a:solidFill>
              </a:rPr>
              <a:t> 个可做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08192" y="3067812"/>
            <a:ext cx="45262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其中已有 2 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8192" y="346100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经营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22592" y="34610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智能问数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9128" y="34610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智能洞察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95664" y="34610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经营日报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391820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票务财务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22592" y="39182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票务运营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09128" y="39182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对账助手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95664" y="39182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发票助手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8192" y="437540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营销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22592" y="43754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会员画像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09128" y="43754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人群圈选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95664" y="43754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营销文案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83260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安全调度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22592" y="48326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消息预警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09128" y="4832604"/>
            <a:ext cx="913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工单处置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95664" y="4832604"/>
            <a:ext cx="9367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2B2F42"/>
                </a:solidFill>
              </a:rPr>
              <a:t>调度 8 个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8368" y="6158484"/>
            <a:ext cx="10204704" cy="59436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t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18504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252728" y="6158484"/>
            <a:ext cx="9427464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底气　</a:t>
            </a:r>
            <a:r>
              <a:rPr sz="1300" b="0">
                <a:solidFill>
                  <a:srgbClr val="FFFFFF"/>
                </a:solidFill>
              </a:rPr>
              <a:t>系统在景区现场 · 交易和客流数据在我们手里 · 大量景区已在用我们的票务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怎么走：先借力，再复制，后自建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520440"/>
            <a:ext cx="2697480" cy="2240280"/>
          </a:xfrm>
          <a:prstGeom prst="roundRect">
            <a:avLst>
              <a:gd name="adj" fmla="val 571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370332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776CFD"/>
                </a:solidFill>
              </a:rPr>
              <a:t>① 借力验证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4251959"/>
            <a:ext cx="224028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F42"/>
                </a:solidFill>
              </a:rPr>
              <a:t>用现成平台，最小投入回答：卖给谁、卖什么、怎么收钱、能不能赚钱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525780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5E6478"/>
                </a:solidFill>
              </a:rPr>
              <a:t>依托 Coze · 火山方舟 · 羚羊小Q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4023359"/>
            <a:ext cx="923543" cy="868680"/>
          </a:xfrm>
          <a:prstGeom prst="roundRect">
            <a:avLst>
              <a:gd name="adj" fmla="val 12631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B4551A"/>
                </a:solidFill>
              </a:rPr>
              <a:t>第一关</a:t>
            </a:r>
          </a:p>
          <a:p>
            <a:pPr algn="ctr">
              <a:spcBef>
                <a:spcPts val="200"/>
              </a:spcBef>
            </a:pPr>
            <a:r>
              <a:rPr sz="1250" b="1">
                <a:solidFill>
                  <a:srgbClr val="B4551A"/>
                </a:solidFill>
              </a:rPr>
              <a:t>跑通？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063240"/>
            <a:ext cx="2697480" cy="2697480"/>
          </a:xfrm>
          <a:prstGeom prst="roundRect">
            <a:avLst>
              <a:gd name="adj" fmla="val 474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324612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776CFD"/>
                </a:solidFill>
              </a:rPr>
              <a:t>② 借力复制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59"/>
            <a:ext cx="224028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F42"/>
                </a:solidFill>
              </a:rPr>
              <a:t>仍借平台，把跑通的产品快速铺到各类景区，抢市场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25780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5E6478"/>
                </a:solidFill>
              </a:rPr>
              <a:t>依托 Coze · 火山方舟 · 羚羊小Q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41464" y="4023359"/>
            <a:ext cx="923543" cy="868680"/>
          </a:xfrm>
          <a:prstGeom prst="roundRect">
            <a:avLst>
              <a:gd name="adj" fmla="val 12631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B4551A"/>
                </a:solidFill>
              </a:rPr>
              <a:t>第二关</a:t>
            </a:r>
          </a:p>
          <a:p>
            <a:pPr algn="ctr">
              <a:spcBef>
                <a:spcPts val="200"/>
              </a:spcBef>
            </a:pPr>
            <a:r>
              <a:rPr sz="1250" b="1">
                <a:solidFill>
                  <a:srgbClr val="B4551A"/>
                </a:solidFill>
              </a:rPr>
              <a:t>划算？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606040"/>
            <a:ext cx="2697480" cy="3154680"/>
          </a:xfrm>
          <a:prstGeom prst="roundRect">
            <a:avLst>
              <a:gd name="adj" fmla="val 474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8471" y="278892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FFFFFF"/>
                </a:solidFill>
              </a:rPr>
              <a:t>③ 能力自给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3337559"/>
            <a:ext cx="224028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</a:rPr>
              <a:t>用积累下来的知识、接口、数据，自己建平台，成本和交付自己掌握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1" y="525780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FE2C8"/>
                </a:solidFill>
              </a:rPr>
              <a:t>自建智能体管理台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89320"/>
            <a:ext cx="10204704" cy="658368"/>
          </a:xfrm>
          <a:prstGeom prst="roundRect">
            <a:avLst>
              <a:gd name="adj" fmla="val 13888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81344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52728" y="5989320"/>
            <a:ext cx="9427464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最关键　</a:t>
            </a:r>
            <a:r>
              <a:rPr sz="1300" b="0">
                <a:solidFill>
                  <a:srgbClr val="FFFFFF"/>
                </a:solidFill>
              </a:rPr>
              <a:t>借平台，不交资产 —— 知识、接口、数据、模板从第一天起留在自己手里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第一步：先验证能不能卖、能不能赚钱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46604"/>
            <a:ext cx="1894636" cy="1874519"/>
          </a:xfrm>
          <a:prstGeom prst="roundRect">
            <a:avLst>
              <a:gd name="adj" fmla="val 682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711196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77" y="2836926"/>
            <a:ext cx="251460" cy="2514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1247" y="3323844"/>
            <a:ext cx="15288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卖给谁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735324"/>
            <a:ext cx="152887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6478"/>
                </a:solidFill>
              </a:rPr>
              <a:t>哪类景区最需要、最愿付钱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35884" y="2546604"/>
            <a:ext cx="1894636" cy="1874519"/>
          </a:xfrm>
          <a:prstGeom prst="roundRect">
            <a:avLst>
              <a:gd name="adj" fmla="val 682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18764" y="2711196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t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494" y="2836926"/>
            <a:ext cx="251460" cy="2514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18764" y="3323844"/>
            <a:ext cx="15288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卖什么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8764" y="3735324"/>
            <a:ext cx="152887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6478"/>
                </a:solidFill>
              </a:rPr>
              <a:t>哪些智能体组合起来景区最认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3401" y="2546604"/>
            <a:ext cx="1894636" cy="1874519"/>
          </a:xfrm>
          <a:prstGeom prst="roundRect">
            <a:avLst>
              <a:gd name="adj" fmla="val 68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96281" y="2711196"/>
            <a:ext cx="502920" cy="50292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725" y="2834640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96281" y="3323844"/>
            <a:ext cx="15288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怎么收钱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281" y="3735324"/>
            <a:ext cx="152887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EEDFF"/>
                </a:solidFill>
              </a:rPr>
              <a:t>四种方式里哪种景区接受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90918" y="2546604"/>
            <a:ext cx="1894636" cy="1874519"/>
          </a:xfrm>
          <a:prstGeom prst="roundRect">
            <a:avLst>
              <a:gd name="adj" fmla="val 682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73798" y="2711196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9528" y="2836926"/>
            <a:ext cx="251460" cy="2514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73798" y="3323844"/>
            <a:ext cx="15288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花多少钱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3798" y="3735324"/>
            <a:ext cx="152887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6478"/>
                </a:solidFill>
              </a:rPr>
              <a:t>平台费 + 交付 + 运营，一个景区算得清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8435" y="2546604"/>
            <a:ext cx="1894636" cy="1874519"/>
          </a:xfrm>
          <a:prstGeom prst="roundRect">
            <a:avLst>
              <a:gd name="adj" fmla="val 682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51315" y="2711196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7045" y="2836926"/>
            <a:ext cx="251460" cy="2514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151315" y="3323844"/>
            <a:ext cx="15288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值不值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1315" y="3735324"/>
            <a:ext cx="152887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6478"/>
                </a:solidFill>
              </a:rPr>
              <a:t>少用人工、多卖票、游客更满意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695444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收费方式备选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61204"/>
            <a:ext cx="2414016" cy="777240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655BE6"/>
                </a:solidFill>
              </a:rPr>
              <a:t>随票务打包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提高票务年费 · 适合存量客户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12264" y="4942332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建议先试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55264" y="5061204"/>
            <a:ext cx="2414016" cy="777240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655BE6"/>
                </a:solidFill>
              </a:rPr>
              <a:t>年费订阅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按景区规模分档 · 适合新客户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09160" y="4942332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建议先试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52160" y="5061204"/>
            <a:ext cx="2414016" cy="777240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B2F42"/>
                </a:solidFill>
              </a:rPr>
              <a:t>按效果分成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按带来的订单分成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49056" y="5061204"/>
            <a:ext cx="2414016" cy="777240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B2F42"/>
                </a:solidFill>
              </a:rPr>
              <a:t>按用量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按对话量计费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6112764"/>
            <a:ext cx="10204704" cy="594360"/>
          </a:xfrm>
          <a:prstGeom prst="roundRect">
            <a:avLst>
              <a:gd name="adj" fmla="val 15384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activity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" y="6272784"/>
            <a:ext cx="274320" cy="2743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252728" y="6112764"/>
            <a:ext cx="9427464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算一笔账　</a:t>
            </a:r>
            <a:r>
              <a:rPr sz="1300" b="0">
                <a:solidFill>
                  <a:srgbClr val="2B2F42"/>
                </a:solidFill>
              </a:rPr>
              <a:t>一个景区一年的收入 − 平台费 − 交付成本 − 运营支持 ＞ 0，才算能赚钱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怎么验证，什么叫“跑通了”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15184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怎么验证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026664"/>
            <a:ext cx="2263140" cy="914400"/>
          </a:xfrm>
          <a:prstGeom prst="roundRect">
            <a:avLst>
              <a:gd name="adj" fmla="val 12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2B2F42"/>
                </a:solidFill>
              </a:rPr>
              <a:t>挑标杆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>
                <a:solidFill>
                  <a:srgbClr val="5E6478"/>
                </a:solidFill>
              </a:rPr>
              <a:t>2–3 家已用票务的景区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94660" y="33832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05556" y="3026664"/>
            <a:ext cx="2263140" cy="914400"/>
          </a:xfrm>
          <a:prstGeom prst="roundRect">
            <a:avLst>
              <a:gd name="adj" fmla="val 12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2B2F42"/>
                </a:solidFill>
              </a:rPr>
              <a:t>平台上搭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>
                <a:solidFill>
                  <a:srgbClr val="5E6478"/>
                </a:solidFill>
              </a:rPr>
              <a:t>现有 8 个 + 智能购票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641848" y="33832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52744" y="3026664"/>
            <a:ext cx="2263140" cy="914400"/>
          </a:xfrm>
          <a:prstGeom prst="roundRect">
            <a:avLst>
              <a:gd name="adj" fmla="val 12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2B2F42"/>
                </a:solidFill>
              </a:rPr>
              <a:t>跑一个旺季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>
                <a:solidFill>
                  <a:srgbClr val="5E6478"/>
                </a:solidFill>
              </a:rPr>
              <a:t>节假日最能检验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289036" y="33832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9932" y="3026664"/>
            <a:ext cx="2263140" cy="9144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</a:rPr>
              <a:t>看数据定价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50" b="0">
                <a:solidFill>
                  <a:srgbClr val="EEEDFF"/>
                </a:solidFill>
              </a:rPr>
              <a:t>对话、订单都回流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215384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什么叫“跑通了”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626864"/>
            <a:ext cx="1894636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476402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07007" y="4736592"/>
            <a:ext cx="125455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用起来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5175504"/>
            <a:ext cx="157459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6478"/>
                </a:solidFill>
              </a:rPr>
              <a:t>标杆景区持续在用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35884" y="4626864"/>
            <a:ext cx="1894636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764" y="476402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284524" y="4736592"/>
            <a:ext cx="125455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有价值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8764" y="5175504"/>
            <a:ext cx="157459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6478"/>
                </a:solidFill>
              </a:rPr>
              <a:t>人工咨询少了、购票多了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13401" y="4626864"/>
            <a:ext cx="1894636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6281" y="476402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362041" y="4736592"/>
            <a:ext cx="125455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愿付费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6281" y="5175504"/>
            <a:ext cx="157459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6478"/>
                </a:solidFill>
              </a:rPr>
              <a:t>有景区按价格付钱或续费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90918" y="4626864"/>
            <a:ext cx="1894636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798" y="4764024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439558" y="4736592"/>
            <a:ext cx="125455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能赚钱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73798" y="5175504"/>
            <a:ext cx="157459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6478"/>
                </a:solidFill>
              </a:rPr>
              <a:t>收入盖得住成本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8435" y="4626864"/>
            <a:ext cx="1894636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315" y="4764024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17075" y="4736592"/>
            <a:ext cx="125455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可复制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1315" y="5175504"/>
            <a:ext cx="157459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E6478"/>
                </a:solidFill>
              </a:rPr>
              <a:t>不靠核心研发也能上线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6044184"/>
            <a:ext cx="10204704" cy="594360"/>
          </a:xfrm>
          <a:prstGeom prst="roundRect">
            <a:avLst>
              <a:gd name="adj" fmla="val 15384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warning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6204204"/>
            <a:ext cx="274320" cy="2743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52728" y="6044184"/>
            <a:ext cx="9427464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没过关　</a:t>
            </a:r>
            <a:r>
              <a:rPr sz="1300" b="0">
                <a:solidFill>
                  <a:srgbClr val="2B2F42"/>
                </a:solidFill>
              </a:rPr>
              <a:t>调整场景或定价再试一轮；还不行的场景停掉，不带进下一步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第二步：把跑通的产品快速铺开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37460"/>
            <a:ext cx="3267456" cy="1325880"/>
          </a:xfrm>
          <a:prstGeom prst="roundRect">
            <a:avLst>
              <a:gd name="adj" fmla="val 827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720340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2839212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35607" y="2720340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先打存量客户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314700"/>
            <a:ext cx="2865120" cy="4389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已在用我们票务的景区：系统现成、信任已有，成交最快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6992" y="2537460"/>
            <a:ext cx="3267456" cy="1325880"/>
          </a:xfrm>
          <a:prstGeom prst="roundRect">
            <a:avLst>
              <a:gd name="adj" fmla="val 827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09872" y="2720340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t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44" y="2839212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04232" y="2720340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标杆带同类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160" y="3314700"/>
            <a:ext cx="2865120" cy="4389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每类景区做一家标杆，再复制同类型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95616" y="2537460"/>
            <a:ext cx="3267456" cy="1325880"/>
          </a:xfrm>
          <a:prstGeom prst="roundRect">
            <a:avLst>
              <a:gd name="adj" fmla="val 827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8496" y="2720340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7368" y="28392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72856" y="2720340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撬动新客户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6784" y="3314700"/>
            <a:ext cx="2865120" cy="4389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智能体做差异化卖点，带动票务签约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0919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怎么铺得快：实施按流程走，不用改智能体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503420"/>
            <a:ext cx="1426463" cy="658368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B2F42"/>
                </a:solidFill>
              </a:rPr>
              <a:t>签约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130551" y="473202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14015" y="4503420"/>
            <a:ext cx="1426463" cy="658368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B2F42"/>
                </a:solidFill>
              </a:rPr>
              <a:t>选已验证模板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886199" y="473202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169663" y="4503420"/>
            <a:ext cx="1426463" cy="658368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B2F42"/>
                </a:solidFill>
              </a:rPr>
              <a:t>配本景区知识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41847" y="473202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925312" y="4503420"/>
            <a:ext cx="1426463" cy="658368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B2F42"/>
                </a:solidFill>
              </a:rPr>
              <a:t>绑定入口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397496" y="473202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680960" y="4503420"/>
            <a:ext cx="1426463" cy="658368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2B2F42"/>
                </a:solidFill>
              </a:rPr>
              <a:t>测试验收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153144" y="473202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436608" y="4503420"/>
            <a:ext cx="1426463" cy="658368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</a:rPr>
              <a:t>上线运营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46354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har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60984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546354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卖法　</a:t>
            </a:r>
            <a:r>
              <a:rPr sz="1300" b="0">
                <a:solidFill>
                  <a:srgbClr val="2B2F42"/>
                </a:solidFill>
              </a:rPr>
              <a:t>随票务一起报价 · 标杆做成案例 · 上线后定期给景区出效果报告，促续费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614934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295644"/>
            <a:ext cx="274320" cy="2743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52728" y="614934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同时　</a:t>
            </a:r>
            <a:r>
              <a:rPr sz="1300" b="0">
                <a:solidFill>
                  <a:srgbClr val="FFFFFF"/>
                </a:solidFill>
              </a:rPr>
              <a:t>一边铺，一边把知识、接口、数据、模板留在自己手里 —— 为第三步做准备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借平台的代价：景区越多，问题越明显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20340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903220"/>
            <a:ext cx="475488" cy="47548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ctivity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3022092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35607" y="2903220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成本越做越高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97580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按调用、账号收费，景区越多平台费越高，利润被分走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6992" y="2720340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09872" y="2903220"/>
            <a:ext cx="475488" cy="47548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re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44" y="3022092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04232" y="2903220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交付受限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160" y="3497580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功能受平台限制，个性需求做不了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95616" y="2720340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8496" y="2903220"/>
            <a:ext cx="475488" cy="47548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u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7368" y="302209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72856" y="2903220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资产在外面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6784" y="3497580"/>
            <a:ext cx="2865120" cy="4846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工作流、知识库、对话数据在别人平台上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93108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7" y="4475988"/>
            <a:ext cx="475488" cy="47548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ea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19" y="4594860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35607" y="4475988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管理分散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070347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多平台多入口，权限、计量、监控各管各的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6992" y="4293108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9872" y="4475988"/>
            <a:ext cx="475488" cy="47548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arning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8744" y="4594860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04232" y="4475988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受制于人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8160" y="5070347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平台调价、改规则，直接影响交付和报价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95616" y="4293108"/>
            <a:ext cx="3267456" cy="1371600"/>
          </a:xfrm>
          <a:prstGeom prst="roundRect">
            <a:avLst>
              <a:gd name="adj" fmla="val 8000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78496" y="4475988"/>
            <a:ext cx="475488" cy="47548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7368" y="4594860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72856" y="4475988"/>
            <a:ext cx="2353056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难形成壁垒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96784" y="5070347"/>
            <a:ext cx="2865120" cy="4846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E6478"/>
                </a:solidFill>
              </a:rPr>
              <a:t>同样的平台谁都能用；数据出去有合规顾虑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875020"/>
            <a:ext cx="10204704" cy="658368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6067044"/>
            <a:ext cx="274320" cy="2743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52728" y="5875020"/>
            <a:ext cx="9427464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所以　</a:t>
            </a:r>
            <a:r>
              <a:rPr sz="1300" b="0">
                <a:solidFill>
                  <a:srgbClr val="FFFFFF"/>
                </a:solidFill>
              </a:rPr>
              <a:t>规模起来以后，自己建平台更省钱、更快、更可控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第三步：什么时候自己建，建什么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46604"/>
            <a:ext cx="5120640" cy="32918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61288" y="5289804"/>
            <a:ext cx="4343400" cy="0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61288" y="2866644"/>
            <a:ext cx="0" cy="2423160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75887" y="536295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100" b="0">
                <a:solidFill>
                  <a:srgbClr val="5E6478"/>
                </a:solidFill>
              </a:rPr>
              <a:t>景区数 / 用量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59232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总成本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161288" y="3186684"/>
            <a:ext cx="3977639" cy="1965960"/>
          </a:xfrm>
          <a:prstGeom prst="line">
            <a:avLst/>
          </a:prstGeom>
          <a:ln w="3492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61288" y="3461004"/>
            <a:ext cx="3977639" cy="640080"/>
          </a:xfrm>
          <a:prstGeom prst="line">
            <a:avLst/>
          </a:prstGeom>
          <a:ln w="34925">
            <a:solidFill>
              <a:srgbClr val="655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81328" y="3049524"/>
            <a:ext cx="320040" cy="0"/>
          </a:xfrm>
          <a:prstGeom prst="line">
            <a:avLst/>
          </a:prstGeom>
          <a:ln w="3492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892808" y="291236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继续用平台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81528" y="3049524"/>
            <a:ext cx="320040" cy="0"/>
          </a:xfrm>
          <a:prstGeom prst="line">
            <a:avLst/>
          </a:prstGeom>
          <a:ln w="34925">
            <a:solidFill>
              <a:srgbClr val="655B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493008" y="29123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655BE6"/>
                </a:solidFill>
              </a:rPr>
              <a:t>自己建</a:t>
            </a:r>
          </a:p>
        </p:txBody>
      </p:sp>
      <p:sp>
        <p:nvSpPr>
          <p:cNvPr id="19" name="Oval 18"/>
          <p:cNvSpPr/>
          <p:nvPr/>
        </p:nvSpPr>
        <p:spPr>
          <a:xfrm>
            <a:off x="4215383" y="3492850"/>
            <a:ext cx="201168" cy="20116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55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315967" y="3694018"/>
            <a:ext cx="0" cy="1595786"/>
          </a:xfrm>
          <a:prstGeom prst="line">
            <a:avLst/>
          </a:prstGeom>
          <a:ln w="12700">
            <a:solidFill>
              <a:srgbClr val="655B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443983" y="3867754"/>
            <a:ext cx="12801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655BE6"/>
                </a:solidFill>
              </a:rPr>
              <a:t>交叉点</a:t>
            </a:r>
          </a:p>
          <a:p>
            <a:pPr algn="l"/>
            <a:r>
              <a:rPr sz="1200" b="1">
                <a:solidFill>
                  <a:srgbClr val="655BE6"/>
                </a:solidFill>
              </a:rPr>
              <a:t>该自建了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2546604"/>
            <a:ext cx="4855464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建什么，不建什么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07607" y="2958084"/>
            <a:ext cx="4855464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rIns="182880" bIns="0"/>
          <a:lstStyle/>
          <a:p>
            <a:pPr algn="l"/>
            <a:r>
              <a:rPr sz="1350" b="1">
                <a:solidFill>
                  <a:srgbClr val="2B2F42"/>
                </a:solidFill>
              </a:rPr>
              <a:t>大模型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不自研，直接买，可以换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7607" y="3689604"/>
            <a:ext cx="4855464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rIns="182880" bIns="0"/>
          <a:lstStyle/>
          <a:p>
            <a:pPr algn="l"/>
            <a:r>
              <a:rPr sz="1350" b="1">
                <a:solidFill>
                  <a:srgbClr val="2B2F42"/>
                </a:solidFill>
              </a:rPr>
              <a:t>语音 · 图像 · 数字人 · 手语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采购或合作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7607" y="4421124"/>
            <a:ext cx="4855464" cy="621792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rIns="182880" bIns="0"/>
          <a:lstStyle/>
          <a:p>
            <a:pPr algn="l"/>
            <a:r>
              <a:rPr sz="1350" b="1">
                <a:solidFill>
                  <a:srgbClr val="2B2F42"/>
                </a:solidFill>
              </a:rPr>
              <a:t>编排引擎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用开源的改，不从零写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07607" y="5152644"/>
            <a:ext cx="4855464" cy="621792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rIns="182880" bIns="0"/>
          <a:lstStyle/>
          <a:p>
            <a:pPr algn="l"/>
            <a:r>
              <a:rPr sz="1350" b="1">
                <a:solidFill>
                  <a:srgbClr val="FFFFFF"/>
                </a:solidFill>
              </a:rPr>
              <a:t>管理台 · 知识 · 业务工具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EEEDFF"/>
                </a:solidFill>
              </a:rPr>
              <a:t>自己建 —— 装着我们的业务和数据，是壁垒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6067044"/>
            <a:ext cx="10204704" cy="640080"/>
          </a:xfrm>
          <a:prstGeom prst="roundRect">
            <a:avLst>
              <a:gd name="adj" fmla="val 14285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52728" y="6067044"/>
            <a:ext cx="9427464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4551A"/>
                </a:solidFill>
              </a:rPr>
              <a:t>启动信号　</a:t>
            </a:r>
            <a:r>
              <a:rPr sz="1250" b="0">
                <a:solidFill>
                  <a:srgbClr val="2B2F42"/>
                </a:solidFill>
              </a:rPr>
              <a:t>自建更便宜 · 平台费占比上升 · 主力场景稳定 · 平台限制丢单 · 客户要求数据不出去 —— 满足两条就启动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自己建能省什么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848" y="24917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B4551A"/>
                </a:solidFill>
              </a:rPr>
              <a:t>借平台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4917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655BE6"/>
                </a:solidFill>
              </a:rPr>
              <a:t>自己建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8" y="2491740"/>
            <a:ext cx="2432304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776CFD"/>
                </a:solidFill>
              </a:rPr>
              <a:t>对公司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857500"/>
            <a:ext cx="123444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29967" y="2857500"/>
            <a:ext cx="3063240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平台费随规模一路涨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2857500"/>
            <a:ext cx="3063240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FFFF"/>
                </a:solidFill>
              </a:rPr>
              <a:t>只付模型调用费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30768" y="2857500"/>
            <a:ext cx="2432304" cy="530352"/>
          </a:xfrm>
          <a:prstGeom prst="roundRect">
            <a:avLst>
              <a:gd name="adj" fmla="val 1724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655BE6"/>
                </a:solidFill>
              </a:rPr>
              <a:t>景区越多越划算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497580"/>
            <a:ext cx="123444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交付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29967" y="3497580"/>
            <a:ext cx="3063240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每个景区在外部平台单独配置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3497580"/>
            <a:ext cx="3063240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FFFF"/>
                </a:solidFill>
              </a:rPr>
              <a:t>集团建一次，景区开通即用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497580"/>
            <a:ext cx="2432304" cy="530352"/>
          </a:xfrm>
          <a:prstGeom prst="roundRect">
            <a:avLst>
              <a:gd name="adj" fmla="val 1724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655BE6"/>
                </a:solidFill>
              </a:rPr>
              <a:t>省人天、上线快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137660"/>
            <a:ext cx="123444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定制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9967" y="4137660"/>
            <a:ext cx="3063240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受平台功能限制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30368" y="4137660"/>
            <a:ext cx="3063240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FFFF"/>
                </a:solidFill>
              </a:rPr>
              <a:t>按大客户需求自主扩展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4137660"/>
            <a:ext cx="2432304" cy="530352"/>
          </a:xfrm>
          <a:prstGeom prst="roundRect">
            <a:avLst>
              <a:gd name="adj" fmla="val 1724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655BE6"/>
                </a:solidFill>
              </a:rPr>
              <a:t>能接大单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777739"/>
            <a:ext cx="123444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29967" y="4777739"/>
            <a:ext cx="3063240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留在别人平台上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30368" y="4777739"/>
            <a:ext cx="3063240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FFFF"/>
                </a:solidFill>
              </a:rPr>
              <a:t>全在自己手里，回流数据平台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4777739"/>
            <a:ext cx="2432304" cy="530352"/>
          </a:xfrm>
          <a:prstGeom prst="roundRect">
            <a:avLst>
              <a:gd name="adj" fmla="val 1724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655BE6"/>
                </a:solidFill>
              </a:rPr>
              <a:t>越用越准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417820"/>
            <a:ext cx="123444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风险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29967" y="5417820"/>
            <a:ext cx="3063240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平台调价、改规则影响报价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0368" y="5417820"/>
            <a:ext cx="3063240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FFFF"/>
                </a:solidFill>
              </a:rPr>
              <a:t>自主可控，模型可换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5417820"/>
            <a:ext cx="2432304" cy="530352"/>
          </a:xfrm>
          <a:prstGeom prst="roundRect">
            <a:avLst>
              <a:gd name="adj" fmla="val 1724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655BE6"/>
                </a:solidFill>
              </a:rPr>
              <a:t>报价有底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619506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4136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52728" y="619506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怎么切　</a:t>
            </a:r>
            <a:r>
              <a:rPr sz="1300" b="0">
                <a:solidFill>
                  <a:srgbClr val="2B2F42"/>
                </a:solidFill>
              </a:rPr>
              <a:t>核心先上 → 同一套测试题对比 → 新景区先上 → 老景区随续约迁移，可回退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AI＋数据平台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数据在公司里转起来，越用越准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这一部分讲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数据怎么转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一个例子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数据在公司里怎么转起来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AI＋数据平台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03  AI＋数据平台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40280"/>
            <a:ext cx="16002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用数</a:t>
            </a: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游客 · 景区 · 内部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5727" y="2240280"/>
            <a:ext cx="2240279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游客：小程序 · 公众号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27448" y="2240280"/>
            <a:ext cx="2240279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景区：景数通 · APP · SaaS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59167" y="2240280"/>
            <a:ext cx="2240279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内部：管理层 · 业务线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7" y="2971800"/>
            <a:ext cx="69037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776CFD"/>
                </a:solidFill>
              </a:rPr>
              <a:t>▲ </a:t>
            </a:r>
            <a:r>
              <a:rPr sz="1200" b="1">
                <a:solidFill>
                  <a:srgbClr val="776CFD"/>
                </a:solidFill>
              </a:rPr>
              <a:t>③ 服务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300984"/>
            <a:ext cx="16002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办事</a:t>
            </a: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智能体 · 报表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5727" y="3300984"/>
            <a:ext cx="2240279" cy="731520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游客端智能体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3300984"/>
            <a:ext cx="2240279" cy="731520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景区端智能体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7" y="3300984"/>
            <a:ext cx="2240279" cy="731520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报表与接口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7" y="4032504"/>
            <a:ext cx="69037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776CFD"/>
                </a:solidFill>
              </a:rPr>
              <a:t>▲ </a:t>
            </a:r>
            <a:r>
              <a:rPr sz="1200" b="1">
                <a:solidFill>
                  <a:srgbClr val="776CFD"/>
                </a:solidFill>
              </a:rPr>
              <a:t>② 供给：可信的指标、标签、知识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61688"/>
            <a:ext cx="16002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治数</a:t>
            </a: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数据平台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95727" y="4361688"/>
            <a:ext cx="165735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统一接入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44518" y="4361688"/>
            <a:ext cx="165735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数据仓库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3308" y="4361688"/>
            <a:ext cx="165735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指标 · 标签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42098" y="4361688"/>
            <a:ext cx="165735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数据服务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7" y="5093208"/>
            <a:ext cx="69037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776CFD"/>
                </a:solidFill>
              </a:rPr>
              <a:t>▲ </a:t>
            </a:r>
            <a:r>
              <a:rPr sz="1200" b="1">
                <a:solidFill>
                  <a:srgbClr val="776CFD"/>
                </a:solidFill>
              </a:rPr>
              <a:t>① 每天产生：交易 · 核销 · 客流 · 会员 · 财务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422392"/>
            <a:ext cx="16002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产数</a:t>
            </a: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业务系统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95727" y="5422392"/>
            <a:ext cx="907868" cy="731520"/>
          </a:xfrm>
          <a:prstGeom prst="roundRect">
            <a:avLst>
              <a:gd name="adj" fmla="val 125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95036" y="5422392"/>
            <a:ext cx="907868" cy="731520"/>
          </a:xfrm>
          <a:prstGeom prst="roundRect">
            <a:avLst>
              <a:gd name="adj" fmla="val 125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业态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94345" y="5422392"/>
            <a:ext cx="907868" cy="731520"/>
          </a:xfrm>
          <a:prstGeom prst="roundRect">
            <a:avLst>
              <a:gd name="adj" fmla="val 125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运营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93653" y="5422392"/>
            <a:ext cx="907868" cy="731520"/>
          </a:xfrm>
          <a:prstGeom prst="roundRect">
            <a:avLst>
              <a:gd name="adj" fmla="val 125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财务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92962" y="5422392"/>
            <a:ext cx="907868" cy="731520"/>
          </a:xfrm>
          <a:prstGeom prst="roundRect">
            <a:avLst>
              <a:gd name="adj" fmla="val 125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终端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92270" y="5422392"/>
            <a:ext cx="907868" cy="731520"/>
          </a:xfrm>
          <a:prstGeom prst="roundRect">
            <a:avLst>
              <a:gd name="adj" fmla="val 125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畅游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91579" y="5422392"/>
            <a:ext cx="907868" cy="731520"/>
          </a:xfrm>
          <a:prstGeom prst="roundRect">
            <a:avLst>
              <a:gd name="adj" fmla="val 125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会员营销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82328" y="2240280"/>
            <a:ext cx="1380744" cy="3913632"/>
          </a:xfrm>
          <a:prstGeom prst="roundRect">
            <a:avLst>
              <a:gd name="adj" fmla="val 9271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19488" y="2377440"/>
            <a:ext cx="1106424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500" b="1">
                <a:solidFill>
                  <a:srgbClr val="B4551A"/>
                </a:solidFill>
              </a:rPr>
              <a:t>④ 回流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9488" y="2788920"/>
            <a:ext cx="1106424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问答记录</a:t>
            </a:r>
          </a:p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游客评价</a:t>
            </a:r>
          </a:p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处置结果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10053828" y="3931920"/>
            <a:ext cx="237744" cy="365760"/>
          </a:xfrm>
          <a:prstGeom prst="down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19488" y="4434840"/>
            <a:ext cx="1106424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500" b="1">
                <a:solidFill>
                  <a:srgbClr val="B4551A"/>
                </a:solidFill>
              </a:rPr>
              <a:t>⑤ 反哺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9488" y="4846320"/>
            <a:ext cx="1106424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调定价</a:t>
            </a:r>
          </a:p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做营销</a:t>
            </a:r>
          </a:p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优化调度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6428232"/>
            <a:ext cx="10204704" cy="59436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ctivity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588252"/>
            <a:ext cx="274320" cy="2743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52728" y="6428232"/>
            <a:ext cx="9427464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闭环　</a:t>
            </a:r>
            <a:r>
              <a:rPr sz="1300" b="0">
                <a:solidFill>
                  <a:srgbClr val="FFFFFF"/>
                </a:solidFill>
              </a:rPr>
              <a:t>产数 → 治数 → 用数 → 回流 → 反哺：数据越用越多，越用越准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举个例子：一张门票的数据旅程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AI＋数据平台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03  AI＋数据平台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60904"/>
            <a:ext cx="3267456" cy="1234440"/>
          </a:xfrm>
          <a:prstGeom prst="roundRect">
            <a:avLst>
              <a:gd name="adj" fmla="val 1037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999232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2999232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2862072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买票入园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8488" y="3300984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售票 · 闸机核销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6992" y="2660904"/>
            <a:ext cx="3267456" cy="1234440"/>
          </a:xfrm>
          <a:prstGeom prst="roundRect">
            <a:avLst>
              <a:gd name="adj" fmla="val 1037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28160" y="2999232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28160" y="2999232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7112" y="2862072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数据进平台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7112" y="3300984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订单 · 核销 · 客流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95616" y="2660904"/>
            <a:ext cx="3267456" cy="1234440"/>
          </a:xfrm>
          <a:prstGeom prst="roundRect">
            <a:avLst>
              <a:gd name="adj" fmla="val 1037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96784" y="2999232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96784" y="2999232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55736" y="2862072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算出指标和标签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55736" y="3300984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实时客流 · 游客偏好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95616" y="4261104"/>
            <a:ext cx="3267456" cy="1234440"/>
          </a:xfrm>
          <a:prstGeom prst="roundRect">
            <a:avLst>
              <a:gd name="adj" fmla="val 1037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96784" y="4599432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96784" y="4599432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55736" y="4462272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智能体办事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55736" y="4901184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客流预警 · 二消推荐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6992" y="4261104"/>
            <a:ext cx="3267456" cy="1234440"/>
          </a:xfrm>
          <a:prstGeom prst="roundRect">
            <a:avLst>
              <a:gd name="adj" fmla="val 1037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28160" y="4599432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28160" y="4599432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7112" y="4462272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结果回流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87112" y="4901184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5E6478"/>
                </a:solidFill>
              </a:rPr>
              <a:t>处置结果 · 推荐转化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261104"/>
            <a:ext cx="3267456" cy="1234440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18488" y="4462272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FFFFFF"/>
                </a:solidFill>
              </a:rPr>
              <a:t>反哺业务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18488" y="4901184"/>
            <a:ext cx="2170176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EEEDFF"/>
                </a:solidFill>
              </a:rPr>
              <a:t>调预约 · 调营销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925824" y="3172968"/>
            <a:ext cx="20116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Left Arrow 38"/>
          <p:cNvSpPr/>
          <p:nvPr/>
        </p:nvSpPr>
        <p:spPr>
          <a:xfrm>
            <a:off x="3925824" y="4773168"/>
            <a:ext cx="201168" cy="201168"/>
          </a:xfrm>
          <a:prstGeom prst="lef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7394448" y="3172968"/>
            <a:ext cx="20116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Left Arrow 40"/>
          <p:cNvSpPr/>
          <p:nvPr/>
        </p:nvSpPr>
        <p:spPr>
          <a:xfrm>
            <a:off x="7394448" y="4773168"/>
            <a:ext cx="201168" cy="201168"/>
          </a:xfrm>
          <a:prstGeom prst="lef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wn Arrow 41"/>
          <p:cNvSpPr/>
          <p:nvPr/>
        </p:nvSpPr>
        <p:spPr>
          <a:xfrm>
            <a:off x="9128760" y="3922776"/>
            <a:ext cx="201168" cy="310896"/>
          </a:xfrm>
          <a:prstGeom prst="down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58368" y="5952744"/>
            <a:ext cx="10204704" cy="640080"/>
          </a:xfrm>
          <a:prstGeom prst="roundRect">
            <a:avLst>
              <a:gd name="adj" fmla="val 1428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st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35624"/>
            <a:ext cx="274320" cy="2743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252728" y="5952744"/>
            <a:ext cx="9427464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结果　</a:t>
            </a:r>
            <a:r>
              <a:rPr sz="1300" b="0">
                <a:solidFill>
                  <a:srgbClr val="FFFFFF"/>
                </a:solidFill>
              </a:rPr>
              <a:t>游客体验更好 · 景区多卖钱、少出事 · 我们的数据和智能体更准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接下来先做的三件事，以及需要的支持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接下来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接下来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83764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接下来先做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095244"/>
            <a:ext cx="49834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7" y="327812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339699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35607" y="3278124"/>
            <a:ext cx="406908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数据：主线试点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872484"/>
            <a:ext cx="4581144" cy="2103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E6478"/>
                </a:solidFill>
              </a:rPr>
              <a:t>在“订单 → 核销 → 结算”上试点治理，先把核销量做准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83964"/>
            <a:ext cx="49834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7" y="446684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458571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35607" y="4466844"/>
            <a:ext cx="406908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智能体：标杆验证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061204"/>
            <a:ext cx="4581144" cy="2103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E6478"/>
                </a:solidFill>
              </a:rPr>
              <a:t>挑 2–3 家标杆景区，验证能卖、能赚钱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472684"/>
            <a:ext cx="49834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7" y="565556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19" y="5774436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35607" y="5655564"/>
            <a:ext cx="406908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打通：统一取数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6249924"/>
            <a:ext cx="4581144" cy="2103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E6478"/>
                </a:solidFill>
              </a:rPr>
              <a:t>智能体统一从数据平台取数，交互数据回流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16168" y="2683764"/>
            <a:ext cx="4946904" cy="3886200"/>
          </a:xfrm>
          <a:prstGeom prst="roundRect">
            <a:avLst>
              <a:gd name="adj" fmla="val 3294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0488" y="2820924"/>
            <a:ext cx="4398264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需要您支持</a:t>
            </a:r>
          </a:p>
        </p:txBody>
      </p:sp>
      <p:sp>
        <p:nvSpPr>
          <p:cNvPr id="26" name="Oval 25"/>
          <p:cNvSpPr/>
          <p:nvPr/>
        </p:nvSpPr>
        <p:spPr>
          <a:xfrm>
            <a:off x="6190488" y="3424428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90488" y="3424428"/>
            <a:ext cx="457200" cy="45720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369564"/>
            <a:ext cx="38496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口径谁拍板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698748"/>
            <a:ext cx="38496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成立数据治理小组，指标口径有人定</a:t>
            </a:r>
          </a:p>
        </p:txBody>
      </p:sp>
      <p:sp>
        <p:nvSpPr>
          <p:cNvPr id="30" name="Oval 29"/>
          <p:cNvSpPr/>
          <p:nvPr/>
        </p:nvSpPr>
        <p:spPr>
          <a:xfrm>
            <a:off x="6190488" y="4210812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190488" y="4210812"/>
            <a:ext cx="457200" cy="45720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0568" y="4155948"/>
            <a:ext cx="38496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规范强制执行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0568" y="4485132"/>
            <a:ext cx="38496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不合规的数据不上线</a:t>
            </a:r>
          </a:p>
        </p:txBody>
      </p:sp>
      <p:sp>
        <p:nvSpPr>
          <p:cNvPr id="34" name="Oval 33"/>
          <p:cNvSpPr/>
          <p:nvPr/>
        </p:nvSpPr>
        <p:spPr>
          <a:xfrm>
            <a:off x="6190488" y="4997195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190488" y="4997195"/>
            <a:ext cx="457200" cy="45720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4942332"/>
            <a:ext cx="38496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标杆与销售配合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0568" y="5271516"/>
            <a:ext cx="38496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标杆景区、销售团队一起推</a:t>
            </a:r>
          </a:p>
        </p:txBody>
      </p:sp>
      <p:sp>
        <p:nvSpPr>
          <p:cNvPr id="38" name="Oval 37"/>
          <p:cNvSpPr/>
          <p:nvPr/>
        </p:nvSpPr>
        <p:spPr>
          <a:xfrm>
            <a:off x="6190488" y="5783580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90488" y="5783580"/>
            <a:ext cx="457200" cy="45720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5728716"/>
            <a:ext cx="38496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自建时点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30568" y="6057900"/>
            <a:ext cx="38496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定期用数据评估，由您决策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4400" b="1">
                <a:solidFill>
                  <a:srgbClr val="FFFFFF"/>
                </a:solidFill>
              </a:rPr>
              <a:t>谢谢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TYPE" val="a"/>
  <p:tag name="KSO_WM_UNIT_INDEX" val="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2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5"/>
  <p:tag name="KSO_WM_TEMPLATE_CATEGORY" val="custom"/>
  <p:tag name="KSO_WM_TEMPLATE_INDEX" val="20233105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105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105"/>
  <p:tag name="KSO_WM_TEMPLATE_THUMBS_INDEX" val="1、9"/>
</p:tagLst>
</file>

<file path=ppt/theme/theme1.xml><?xml version="1.0" encoding="utf-8"?>
<a:theme xmlns:a="http://schemas.openxmlformats.org/drawingml/2006/main" name="第一PPT模板网：www.1ppt.c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413ee637-1583-4e68-adee-a086e9f023e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bg1">
              <a:lumMod val="75000"/>
            </a:schemeClr>
          </a:solidFill>
        </a:ln>
        <a:scene3d>
          <a:camera prst="orthographicFront"/>
          <a:lightRig rig="flat" dir="t"/>
        </a:scene3d>
        <a:sp3d>
          <a:extrusionClr>
            <a:schemeClr val="bg1"/>
          </a:extrusionClr>
          <a:contourClr>
            <a:schemeClr val="bg1"/>
          </a:contourClr>
        </a:sp3d>
      </a:spPr>
      <a:bodyPr rtlCol="0" anchor="ctr"/>
      <a:lstStyle>
        <a:defPPr marL="0" algn="ctr" eaLnBrk="0" fontAlgn="ctr" hangingPunct="0">
          <a:spcBef>
            <a:spcPts val="0"/>
          </a:spcBef>
          <a:spcAft>
            <a:spcPts val="0"/>
          </a:spcAft>
          <a:buClr>
            <a:srgbClr val="FF0000"/>
          </a:buClr>
          <a:buSzPct val="70000"/>
          <a:tabLst>
            <a:tab pos="136525" algn="l"/>
          </a:tabLst>
          <a:defRPr sz="140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85">
      <a:dk1>
        <a:srgbClr val="000000"/>
      </a:dk1>
      <a:lt1>
        <a:srgbClr val="FFFFFF"/>
      </a:lt1>
      <a:dk2>
        <a:srgbClr val="44546A"/>
      </a:dk2>
      <a:lt2>
        <a:srgbClr val="FFFFFF"/>
      </a:lt2>
      <a:accent1>
        <a:srgbClr val="776CFD"/>
      </a:accent1>
      <a:accent2>
        <a:srgbClr val="5D95F1"/>
      </a:accent2>
      <a:accent3>
        <a:srgbClr val="655BE6"/>
      </a:accent3>
      <a:accent4>
        <a:srgbClr val="6C95FD"/>
      </a:accent4>
      <a:accent5>
        <a:srgbClr val="64DCBF"/>
      </a:accent5>
      <a:accent6>
        <a:srgbClr val="33C2FF"/>
      </a:accent6>
      <a:hlink>
        <a:srgbClr val="658BD5"/>
      </a:hlink>
      <a:folHlink>
        <a:srgbClr val="A16AA5"/>
      </a:folHlink>
    </a:clrScheme>
    <a:fontScheme name="自定义 32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21268</Words>
  <Application>WPS 演示</Application>
  <PresentationFormat>自定义</PresentationFormat>
  <Paragraphs>3534</Paragraphs>
  <Slides>78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78</vt:i4>
      </vt:variant>
    </vt:vector>
  </HeadingPairs>
  <TitlesOfParts>
    <vt:vector size="120" baseType="lpstr">
      <vt:lpstr>Arial</vt:lpstr>
      <vt:lpstr>SimSun</vt:lpstr>
      <vt:lpstr>Wingdings</vt:lpstr>
      <vt:lpstr>Microsoft YaHei</vt:lpstr>
      <vt:lpstr>Calibri</vt:lpstr>
      <vt:lpstr>Arial Unicode MS</vt:lpstr>
      <vt:lpstr>STXihei</vt:lpstr>
      <vt:lpstr>Calibri</vt:lpstr>
      <vt:lpstr>苹方 特粗</vt:lpstr>
      <vt:lpstr>OPPOSans B</vt:lpstr>
      <vt:lpstr>Microsoft YaHei UI Bold</vt:lpstr>
      <vt:lpstr>Microsoft YaHei UI Regular</vt:lpstr>
      <vt:lpstr>Arial</vt:lpstr>
      <vt:lpstr>DM Sans Regular</vt:lpstr>
      <vt:lpstr>FFont-Family</vt:lpstr>
      <vt:lpstr>Barlow Medium</vt:lpstr>
      <vt:lpstr>Helvetica Neue</vt:lpstr>
      <vt:lpstr>Microsoft YaHei Bold</vt:lpstr>
      <vt:lpstr>Helvetica Neue Medium</vt:lpstr>
      <vt:lpstr>Arial Unicode MS</vt:lpstr>
      <vt:lpstr>Gilroy ExtraBold</vt:lpstr>
      <vt:lpstr>OPPOSans R</vt:lpstr>
      <vt:lpstr>DengXian</vt:lpstr>
      <vt:lpstr>Jost-Bold</vt:lpstr>
      <vt:lpstr>思源宋体 CN Heavy</vt:lpstr>
      <vt:lpstr>Barlow Bold</vt:lpstr>
      <vt:lpstr>思源黑体 CN Normal</vt:lpstr>
      <vt:lpstr>SimHei</vt:lpstr>
      <vt:lpstr>Barlow SemiBold</vt:lpstr>
      <vt:lpstr>阿里巴巴普惠体 2.0 45 Light</vt:lpstr>
      <vt:lpstr>Alibaba PuHuiTi 3.0 55 Regular</vt:lpstr>
      <vt:lpstr>Roboto Regular</vt:lpstr>
      <vt:lpstr>思源黑体 CN Regular</vt:lpstr>
      <vt:lpstr>Alibaba PuHuiTi 3.0 55 Regular</vt:lpstr>
      <vt:lpstr>Barlow SemiBold</vt:lpstr>
      <vt:lpstr>Helvetica Neue</vt:lpstr>
      <vt:lpstr>Wingdings</vt:lpstr>
      <vt:lpstr>Microsoft YaHei</vt:lpstr>
      <vt:lpstr>+mn-ea微软雅黑</vt:lpstr>
      <vt:lpstr>+mn-lt微软雅黑</vt:lpstr>
      <vt:lpstr>第一PPT模板网：www.1ppt.com</vt:lpstr>
      <vt:lpstr>Office 主题​​</vt:lpstr>
      <vt:lpstr>点击输入总结内容</vt:lpstr>
      <vt:lpstr>目 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</dc:title>
  <dc:creator>www.1ppt.com</dc:creator>
  <cp:keywords>第一PPT www.1ppt.com</cp:keywords>
  <dc:description>http://www.1ppt.com</dc:description>
  <cp:category>http://www.1ppt.com</cp:category>
  <cp:lastModifiedBy>寶安居士</cp:lastModifiedBy>
  <cp:revision>1446</cp:revision>
  <dcterms:created xsi:type="dcterms:W3CDTF">2009-02-11T05:37:00Z</dcterms:created>
  <dcterms:modified xsi:type="dcterms:W3CDTF">2026-10-14T11:53:47Z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锐普图表</vt:lpwstr>
  </property>
  <property fmtid="{D5CDD505-2E9C-101B-9397-08002B2CF9AE}" pid="3" name="SlideDescription">
    <vt:lpwstr/>
  </property>
  <property fmtid="{D5CDD505-2E9C-101B-9397-08002B2CF9AE}" pid="4" name="ICV">
    <vt:lpwstr>B14B338463114CB1AA48C40141CB66E8_12</vt:lpwstr>
  </property>
  <property fmtid="{D5CDD505-2E9C-101B-9397-08002B2CF9AE}" pid="5" name="KSOProductBuildVer">
    <vt:lpwstr>2052-12.1.0.29161</vt:lpwstr>
  </property>
</Properties>
</file>