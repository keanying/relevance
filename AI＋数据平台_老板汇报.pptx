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82"/>
  </p:notesMasterIdLst>
  <p:handoutMasterIdLst>
    <p:handoutMasterId r:id="rId8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</p:sldIdLst>
  <p:sldSz cx="11522075" cy="864044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5759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11518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72847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230441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88036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3456305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403225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460883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2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990099"/>
    <a:srgbClr val="FF3399"/>
    <a:srgbClr val="66FF33"/>
    <a:srgbClr val="99FF66"/>
    <a:srgbClr val="FFCC66"/>
    <a:srgbClr val="FF9900"/>
    <a:srgbClr val="FFFFFF"/>
    <a:srgbClr val="FFCC0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34" autoAdjust="0"/>
    <p:restoredTop sz="95672" autoAdjust="0"/>
  </p:normalViewPr>
  <p:slideViewPr>
    <p:cSldViewPr showGuides="1">
      <p:cViewPr>
        <p:scale>
          <a:sx n="50" d="100"/>
          <a:sy n="50" d="100"/>
        </p:scale>
        <p:origin x="2814" y="1077"/>
      </p:cViewPr>
      <p:guideLst>
        <p:guide orient="horz" pos="2722"/>
        <p:guide pos="36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5304"/>
    </p:cViewPr>
  </p:sorterViewPr>
  <p:notesViewPr>
    <p:cSldViewPr>
      <p:cViewPr varScale="1">
        <p:scale>
          <a:sx n="81" d="100"/>
          <a:sy n="81" d="100"/>
        </p:scale>
        <p:origin x="-328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82" Type="http://schemas.openxmlformats.org/officeDocument/2006/relationships/notesMaster" Target="notesMasters/notesMaster1.xml"/><Relationship Id="rId83" Type="http://schemas.openxmlformats.org/officeDocument/2006/relationships/handoutMaster" Target="handoutMasters/handout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继续用平台</c:v>
                </c:pt>
              </c:strCache>
            </c:strRef>
          </c:tx>
          <c:spPr>
            <a:ln w="38100">
              <a:solidFill>
                <a:srgbClr val="F08A3C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</c:v>
                </c:pt>
                <c:pt idx="1">
                  <c:v>17</c:v>
                </c:pt>
                <c:pt idx="2">
                  <c:v>26</c:v>
                </c:pt>
                <c:pt idx="3">
                  <c:v>35</c:v>
                </c:pt>
                <c:pt idx="4">
                  <c:v>44</c:v>
                </c:pt>
                <c:pt idx="5">
                  <c:v>53</c:v>
                </c:pt>
                <c:pt idx="6">
                  <c:v>62</c:v>
                </c:pt>
                <c:pt idx="7">
                  <c:v>71</c:v>
                </c:pt>
                <c:pt idx="8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自己建</c:v>
                </c:pt>
              </c:strCache>
            </c:strRef>
          </c:tx>
          <c:spPr>
            <a:ln w="38100">
              <a:solidFill>
                <a:srgbClr val="655BE6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36</c:v>
                </c:pt>
                <c:pt idx="1">
                  <c:v>39</c:v>
                </c:pt>
                <c:pt idx="2">
                  <c:v>42</c:v>
                </c:pt>
                <c:pt idx="3">
                  <c:v>45</c:v>
                </c:pt>
                <c:pt idx="4">
                  <c:v>48</c:v>
                </c:pt>
                <c:pt idx="5">
                  <c:v>51</c:v>
                </c:pt>
                <c:pt idx="6">
                  <c:v>54</c:v>
                </c:pt>
                <c:pt idx="7">
                  <c:v>57</c:v>
                </c:pt>
                <c:pt idx="8">
                  <c:v>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CFCBF9"/>
            </a:solidFill>
          </a:ln>
        </c:spPr>
        <c:txPr>
          <a:bodyPr/>
          <a:lstStyle/>
          <a:p>
            <a:pPr>
              <a:defRPr sz="1000">
                <a:solidFill>
                  <a:srgbClr val="5E647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>
          <c:spPr>
            <a:ln>
              <a:solidFill>
                <a:srgbClr val="ECEBF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E6478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E6478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76CFD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4E2FF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E1A7895-9E8F-4C50-B5E8-7345F3E6B0B6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C19984-4B2A-48B4-B869-87DEC631B6E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D0698-BD05-4639-9D81-B9F65B9CB3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DEE79-D6A9-404B-B2E7-14B1D35489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594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5189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847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0441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8036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5630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3225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0883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今天向您汇报三件事：第一，数据平台要怎么建，让公司的数据理得清、算得准、管得住；第二，智能体，也就是能帮我们干活的 AI 助手，要怎么做、怎么卖、什么时候自己建平台；第三，这两件事打通以后，数据怎么在公司里转起来，越用越准。整体按能落地的思路讲，每一部分都会讲到具体做什么、怎么做、做成什么样。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结论，一页讲清楚。第一件事，数据平台：把公司的数据理清、算准、管住。具体就是定规矩、统一编号和口径、每天体检、管好权限，先从订单到核销到结算这条主线做起。第二件事，智能体：先借扣子、火山方舟、小Q 这些现成平台，几周就能做出来去卖，验证能赚钱；然后把跑通的产品快速铺到更多景区；规模起来后再自己建平台，更省钱、交付更快。第三件事，两者打通：业务产生的数据经过平台整理，给智能体和报表用，用完的结果再回到平台，数据越用越准。最下面是需要您拍板支持的几件事，最后一页会详细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第一部分：数据平台，把数据理清、算准、管住。主要讲：现状与问题、手里的数据、怎么建、治理八件事、数据安全、怎么落地、建成后的变化。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先说现状。工具上：DataWorks 是数据加工的车间，我们已经买了开发、调度、找数、管资产、出数这几个核心模块；动态数据开放 API 是对内对外提供数据的窗口；小Q 用来看报表做分析；湖仓是存数据的仓库，部分模型已经建了。最重要的是每天的主流程已经通了：订单、游客、供应商这些核心数据，每天凌晨自动从原料一路加工成报表能用的成品。还没建的有五块：实时数据、数据质量检查、统一标签、指标口径管理、数据规范落地，这些就是接下来要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个问题都是平时真实遇到的，我按“平时什么样、为什么会这样”讲。一，数据散：想看售票加二消加结算的综合情况，要从三个以上系统导数、手工拼表，因为没有统一接入，景区、商品、渠道的编号各系统不一样。二，一个数多个答案：同一天同一个景区，看板、对账、接口三个地方核销量不一样，因为公司层面没有统一定义。三，没规矩：表名随意、字段没说明、没人负责，因为规范只在文档里，上线没人卡。四，重复干活：订单宽表离线和湖仓各做一份，结果不一样，因为没有统一的公共层。五，数字不准：入园、核销和现场对不上，节假日更明显，原因是补传、重复上报、撤销冲正、时间口径混用，又缺少逐层核对。六，看得慢：高峰期订单核销第二天才能看到，预警靠人盯，因为只有每天跑一次的离线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前五个问题放在一起看，根子是同一个：缺少统一的标准、统一的模型、统一的口径和统一的检查。所以单个问题修修补补会反复出现，比如这次把核销量对平了，下次换个指标又对不上。必须体系化地治理，也就是后面要讲的数据治理。第六个“看得慢”不一样，它是能力缺口，要在统一的公共模型上补实时计算，否则实时数据又会变成新的一套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数据按业务分成八大块，叫数据域，每块里面再分主题。交易：订单、票务，比如订单数、销售额、核销次数；商品与资源：产品和库存，比如售罄率；用户：游客和会员，比如会员等级、复购倾向；合作方：供应商，比如履约率；流量营销：渠道和活动，比如转化率、活动回报；运营：日常运营，比如房态占用率；财务：结算对账；内部管理：系统任务、存储计算成本。每块数据都定了敏感等级，用户明细是最高级。目前订单、用户、供应商已经进了仓库，其他部分进入。现场设备、外部数据、AI 产生的数据后面要新增。难点不在数据量，而在节假日高峰、订单状态多次变化、设备离线补传、多景区之间的数据隔离。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这张图是整个数据平台的样子，从下往上看。最下面是数据从哪来：票务、订单、小程序、供应商、营销、渠道、设备和外部数据。往上是统一底座，就是数据仓库和加工车间，DataWorks 和每天的主流程已经有了，要补实时计算和湖仓存储。再往上是“算好的数”，也就是统一的指标和标签，小Q 用来看。再往上是数据服务，对外给数据的窗口，动态数据开放 API 已经有。再往上是 AI 能力，让 AI 能安全地用这些数据。最上面是谁在用：内部经营、景区运营、合作伙伴、行业报告、数据产品。右边的数据治理贯穿每一层。深色是已经有的，白色是要新建或升级的。整体思路就两句话：统一标准，治理写进研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到工具，分七类能力。数据集成，就是把数据接进来：已有批量同步，要升级埋点采集和现场设备回传，新建实时采集和标准连接器。存储计算：已有离线计算，新建实时计算和湖仓统一存储。开发运维：已有开发和运维中心，新建发布卡点和成本治理。数据治理：已有数据地图和资产治理，升级血缘和健康分，新建质量、标准、分级打码。指标标签：全部新建。服务分析：已有开放 API、数据服务和小Q，要统一出口、新建嵌入式分析。AI 能力：升级 AI 问数，新建模型网关、知识检索和评测。另外有几个阿里云模块我们没买，先用省钱的办法：数据质量用自己加的检查节点，数据标准用规范文档加检查脚本，安全中心先用引擎权限加打码视图，实时计算先做小范围试验，验证了再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治理怎么做？核心一句话：不搞一次性运动，而是把规矩写进日常的开发流程，每张表、每个指标从设计到下线都要过检查站。治理分五层来看：最上面是目标，四个词：数字可信、口径统一、安全合规、成本可控。往下是管哪些事，一共八件，下一页细讲。再往下是怎么嵌进去：事前定规范、事中设卡点、事后做治理。然后是用什么工具：大部分用已经买的 DataWorks 模块，没买的用我们自己写的检查脚本和检查节点。最下面是谁来管：治理小组拍板，数据负责人推动，治理专员执行，健康分每月公示。推进顺序上，先治最核心的一条线：订单到核销到结算，做通了再按数据域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治理具体管八件事，每件都有明确的产出和考核指标。一，定规矩，也就是数据标准：命名、分层、字段、码值，看规范符合率。二，建家谱，就是数据血缘：每张表的含义、负责人、上下游，看注释和负责人覆盖率。三，统一编号，就是主数据：景区、商品、渠道、供应商、游客全公司一个编号，看重复率和映射覆盖率。四，每天体检，就是数据质量：完整、准确、一致、及时、唯一，看规则覆盖率和按时产出率。五，统一口径，就是指标与标签：口径、分类、认证，看认证指标覆盖率。六，管好权限：分级、权属、审批、审计，看敏感字段识别覆盖率。七，定期大扫除，就是资产运营：健康分、成本、下线，看健康分和无用资产占比。八，统一出口，就是数据分发：对内对外只走一个出口，看出口收敛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第一件事，定规矩。最直观的是表名：以前表名随便起，现在每张表都有像身份证号一样的名字。比如 dwd_ord_order_item_di，拆开看：dwd 说明加工到了“洗干净”这一层，ord 说明是订单这块业务，order_item 说明是订单明细，di 说明每天增量更新。一看名字就知道是什么、在哪一层、怎么更新。字段也统一叫法，比如景区全公司都叫 scenic_id，金额都以 amt 结尾。建表时有 8 项必填，缺负责人就发不出去。这些都靠发布前的自动检查脚本卡住：不合规的直接打回，列出哪里不对。老表不一次性改名，新表强制执行，老表按健康分排名分批整改，改名时保留兼容视图，不影响下游。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件事，统一编号，专业叫主数据。以前同一个景区在票务、分销、财务系统里各有各的编号，拼数据时对不上。现在六类对象全公司统一编号：景区一个编码，集团、分园区、子景点分级挂靠；商品，票种、套票、二消商品统一编码，挂到景区；渠道，OTA、自营、分销、团队统一分类；供应商，同一个主体只建一个编码，多个账号挂在下面；游客，用手机号、证件号、会员号按规则归并成一个人，叫 OneID；区域直接用国家标准的行政区划码。做法是建一张对照表，把各系统的老编号映射到统一编号，之后所有报表、指标、标签只认统一编号。新建景区、商品、供应商时先查再建，变更要审批，并保留历史，旧报表还能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第三件事，建家谱，专业叫数据血缘。就是把每个数从哪来、经过了哪些加工、最后去了哪里，全部记下来，从业务系统一直打通到小Q 报表、开放接口和 AI 智能体。家谱有三个用处：第一，查错，报表数字不对，沿着家谱往上查，很快找到哪一层出了问题；第二，改之前先评估，要改一张表或改一个口径，先查下游有哪些报表和接口会受影响，提前通知负责人；第三，清理，没有下游、没人访问的表和任务，进入下线清单。家谱里记三类信息：技术信息，比如表结构、存储量，系统自动采集；业务信息，比如含义、口径、负责人、安全等级，开发填、专员审；运行信息，比如几点产出、跑了多久、多少人在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件事，每天体检，专业叫数据质量。检查分五项：完整，比如订单号、景区编号不能空，日订单量比近七天平均波动超过三成就报警；准确，比如金额不能是负数，核销时间不能早于下单时间；一致，比如仓库里的订单金额汇总要和业务系统对得上；及时，比如核心报表每天七点前必须算完；唯一，比如同一张票不能重复核销。规则分强弱两档：强规则用在订单、核销、结算和对外接口这些核心表上，不通过就把下游全部拦住，通知负责人，当天修好；弱规则用在一般表上，只提醒不拦，一周内修好。每个问题都登记问题单，同类问题出现两次就补一条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个最常见的例子：核销量。为什么以前各处对不上？第一个原因是四个数经常混着用：核销次数、有效核销票数、入园人次、去重游客数，其实是四个不同的数，比如一个人一张年卡一天进出三次，核销次数是三，入园人次是三，去重游客数是一。第二步，从闸机、手持机，到业务系统，到仓库明细、汇总，再到报表和接口，每一层都按景区加日期对一次数。第三步，对不上就自动报警，查原因、修复、重算。常见的原因有四个：设备离线后补传、重复上报、撤销冲正、按下单时间还是核销时间统计混用了。核销做通了，就是一个样板，同样的方法复制到销售额、入园人数等其他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件事，统一口径，管的是指标和标签。指标就是数一数，比如卖了多少、来了多少人；标签就是贴个签，比如这个游客是年卡用户、喜欢夜游。我们的做法是两级：集团统一出一套标准指标和标准标签，按级别授权下发给景区和供应商，大家用同一套口径；标准的不够用时，景区和供应商可以在自己的空间里自定义，只给自己用，不能和集团标准同名，不影响别人；好用的自定义指标，评审后收回来变成集团标准。一个指标要说清楚四件事：算什么、加什么条件、什么时间、按什么维度，比如“近七天线上渠道成人票支付金额，按景区”。新指标要经过四步认证：数据团队起草、业务负责人确认、治理小组拍板、发布并记录版本。只有认证过的指标和标签，才能进老板看板、对外接口和 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六件事，管好权限，分两页讲。这一页是分级和权属。数据分四级：最高的是高敏，手机号、证件号、人脸、政务核验结果，加密存储、展示打码、最小授权、全程审计，明文不进大模型。第二级敏感，单景区的经营数据、价格、结算、供应商合作数据，按景区和供应商隔离，跨主体只能看汇总。第三级内部，日志、设备状态、运营数据，内部按角色授权。最低一级公开，已发布的报告和规范。再说权属，也就是数据的主人：景区数据只服务这个景区，供应商数据只服务这个供应商，渠道数据不给其他渠道看，游客信息只在授权范围内用，政务数据只用核验结果不留原始数据，外部买的数据按合同用，对外只给匿名汇总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“谁能看什么”。每个人能看到的数据，由三把锁决定：角色决定能用哪些功能，数据范围决定能看哪些景区、哪些供应商，字段等级决定能看哪些字段、是不是打码。左边这张表就是规则：集团管理层能看汇总，看不到个人明细；数据团队敏感数据按项目授权，高敏数据审批后打码使用；业务线只看本业务线；景区只看本景区，游客信息授权后打码；供应商只看本供应商；外部伙伴只能拿匿名汇总；AI 智能体不单独开权限，继承提问人的权限。右边是流程：申请要说明用途和期限，数据负责人审批，高敏数据还要安全负责人审批；按最小范围授权，设到期时间；访问全程留痕；到期、离岗、项目结束自动回收；每季度复核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七件事，定期大扫除，专业叫资产运营。一是资产目录：所有表、指标、标签、接口都按数据域编好目录，可以搜索，能看口径和来源，按权限申请使用。二是健康分：每月按负责人、按业务给数据资产打分，看五个方面：规范齐不齐，质量好不好，安全措施到不到位，有没有人用，花了多少钱，排名每月公示。三是下线：九十天没人访问、没有下游、重复的模型、临时表，先通知负责人确认，然后停掉调度或改成只读，观察三十天没人反馈再删除，有人反馈就恢复。临时表自动到期清理，重复模型合并到公共层，先双跑对比再切换。这样存储和计算成本能降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第八件事，统一出口。以前要数据，经常是点对点导一份、或者直接连数据库，口径和权限都管不住。以后所有对内对外的数据，都从一个窗口出去，就是动态数据开放 API。它同时提供认证过的指标和标签，统一鉴权、按景区隔离、按调用计量、全程监控。用法有四种：只查指标，比如景区经营看板看销售额、核销量、入园人次；指标加标签一起用，比如按会员等级看复购率；先用标签圈人、再用指标看效果，比如圈出近九十天没复购的年卡用户推活动，活动后看转化；只查标签，比如智能体按游客偏好做个性化推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八件事怎么落到日常？就是把检查站放进开发的每一步，不另起流程。事前定规范：需求阶段先确认口径，优先用已经认证的指标；设计阶段做模型评审，确定数据域、分层和安全等级。由数据架构师和治理专员负责，不过评审，模型就不能进入开发。事中设卡点：开发时按规范写、绑定质量规则；发布时检查脚本自动卡；运行时质量检查，不合格就拦住下游、报警。这一步是平台自动执行，不合规的发不出去，下游也不会跑。事后做治理：健康分公示、存量整改、问题复盘，补规范、补规则。由数据负责人和治理专员负责，健康分低的负责人排名公示、限期整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谁来管？治理不只是数据团队的事。最上面是数据治理小组，负责裁定口径争议、审批规范和指标认证，这里需要公司层面授权。下面是数据负责人，制定治理方案、跨部门协调，对健康分负责。再下面三类角色：业务数据专员，每个业务线出一个人，提业务规则、确认口径、验收数据；数据治理专员，维护标准、指标字典、质量规则和资产目录；数据架构师和开发，负责模型设计、规范落地和问题修复。运转节奏是：两周一次口径评审，每月公示健康分，每季度复盘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算做好了？我们给试点主线定了八个目标，都是可以量化检查的。新建表规范符合率百分之百；核心表的注释和负责人百分之百覆盖；景区、商品、渠道编号映射百分之百覆盖；核心表强规则百分之百覆盖；核心报表按时产出率不低于百分之九十九；管理层看板里认证指标占比百分之百；敏感字段识别打标百分之百；核销量各个出口零差异，或者差异都有原因说明。另外没用的表和任务每季度清理一轮。这些先在订单、核销、结算这条主线上达标，再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地分四步。第一步统接入：定统一的接入规范和编号，补齐数据源，把订单和核销的实时链路建起来。第二步统建模：划好数据域，首批指标和标签做认证，重复的模型合并。第三步统开发：发布卡点上线、质量规则绑定任务，核销逐层核对做成样板。第四步统服务：开放接口把指标和标签一起提供出去，小Q 的数据集统一，业务可以自助分析。推进原则两条：先在订单、核销、结算这条线试点，做通后推广；老模型先双跑对比再切换，随时可以回退。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建成以后，有六个看得见的变化。一，统一规范：以前规范只写在文档里，以后不合规的表发不出去，老表按优先级整改，还可以用 AI 帮忙补描述。二，统一底座：以前订单和核销第二天才能看到，以后分钟级就能看到。三，统一湖仓：以前离线和湖仓各做一套，同一个指标两个结果，以后公共层只建一次，改口径只改一处。四，统一指标：以前报表、接口、AI 各说各的，以后三处数字一致，景区还有自己的专属空间。五，标签复用：以前各部门各做一套，以后一个游客一个身份，订单、会员、年卡、人脸归并到一起，标签一处加工，营销、分析、AI、景区都来取。六，自助分析：以前要找数据团队要数，以后业务自己查、自己看，数据团队从临时取数转向建模型、做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公司整体，一句话：从找人要数变成数据找人。具体五个方面，每个都有衡量方法。可信：一个指标一个口径，数字可追溯，看认证指标覆盖率和对账差异率。及时：订单核销从第二天变成分钟级，看端到端延迟。效率：公共模型复用，改动影响能预判，看模型复用率和需求交付周期。成本：重复模型、没人用的报表和任务下线，看存储计算成本。安全：敏感数据分级、打码、可审计，看敏感字段识别覆盖率。衡量原则：先把现在的基线测出来再定目标；看实际使用和业务结果，不看上了多少个看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各个业务线，变化很具体。管理层：驾驶舱全部用认证过的指标，不用先对数。票务：核销口径统一，有差异自动定位，节假日实时看数。财务：业务和财务逐层对账，差异自动列出原因。渠道：销量、佣金、返利口径统一。营销：用标签圈人、用指标看效果，活动复盘自动完成。运营和客户成功：景区经营报告自动生成。产品研发：上线前定好埋点和口径，上线就有数据。数据团队：从天天帮人取数对数，转向建模型、做分析。景区和供应商：直接用集团标准的指标和标签，不够用可以在自己的空间里加。这些也为第二部分打基础：数据可信、有口径、有权限，AI 接上去才能答得准。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第二部分：智能体平台，先借力卖起来，再自己建。主要讲：现状与底气、能做哪些、三步怎么走、先验证、再复制、何时自建、建成什么样、能省什么、怎么切换。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先解释一下智能体：就是能听懂问题、还能帮你办事的 AI 助手，比如游客问几点开园，它能回答，还能直接帮他买票。我们现在一共有 8 个智能体，来自三个地方。第一类是在字节的扣子平台上，用工作流配置出来的，有 5 个：智能助手、智能客服、智能导览、AI 旅拍、AI 伴游，主要给游客用，已经是标准化产品，可以配置化输出。第二类是和合作企业一起做的手语服务，给听障游客用。第三类是小Q 自带的 AI 能力，智能问数和智能数据解读，给景区和内部管理者用。右边是一个游客对话的示意。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我们做智能体，有三个别人很难复制的底气。第一，产品积累：这么多年做了智慧票务、景区业态管理、运营管理、财务管理、智慧终端、AI 数字大脑、畅游 AI、会员营销八条产品线，系统就装在景区现场。第二，数据在手里：交易和客流、售票分销库存价格、九大业态、年卡预约候补、订单结算发票、会员营销、闸机和物联设备、工单和推送，再加上第一部分治理好的指标和标签。第三，客户在用：大量景区已经在用我们的票务系统，接口现成，基本不用开发就能开通，信任也已经有了，成交最快。所以别人只能做通用聊天，我们能做真正帮景区和游客办事的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先看游客这一端，按游客的一次出游来看。游前：游客要咨询、规划行程、买票预约、候补，对应智能客服、智能助手这两个已有的，可以扩展 AI 旅游规划、AI 智能购票、预约与候补提醒。游中：入园核验、导览讲解、陪伴互动、无障碍服务、乐园项目、演出、游船、餐饮购物、停车，对应已有的智能导览、AI 伴游、手语，可以扩展乐园排队与项目推荐、演出选座推荐、餐饮二消推荐、停车引导、自助机语音购票。游后：拍照留念、游记分享、点评反馈、年卡复游、积分权益，对应已有的 AI 旅拍，可以扩展游记与行程总结、点评分享助手、年卡服务助手。一共 17 个，已有 6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再看景区这一端，按景区的业务来看，一共可以做 28 个。经营分析：已有 AI 智能问数和智能洞察，可以扩展经营日报周报、报表解读。票务运营：票务 AI 运营助手、分销渠道助手、旅行社报团助手、检票异常解释、窗口售票员助手。业态运营：业态经营助手，覆盖乐园、演出、游船、酒店、温泉、餐饮、停车。运营服务：消息通知预警、工单调度处置。财务：AI 对账助手、发票助手。营销：会员画像、人群圈选、营销文案生成、推广员助手、活动复盘。安全调度：也就是景区 AI 调度中枢的 8 个，旅游安全、秩序治理、车辆调度、游船调度、森林防火、生态监测、气象服务、设施监测。设备终端：设备运维诊断。这些系统都是我们自己的，扩展有基础。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整体分三步走，回答三个问题：商业模式能不能跑通，市场能不能快速占住，平台要不要、什么时候自己建。第一步借力验证：借扣子、火山方舟、羚羊小Q 这些现成平台，用最小的投入回答卖给谁、卖什么、怎么收钱、能不能赚钱。过了第一关，商业模式跑通了，进入第二步借力复制：还是借平台，把跑通的产品按业态快速铺开，抢市场。规模起来以后看第二关：自己建是不是更划算。划算了进入第三步，以数字大脑作为智能体管理台，自己建平台。为什么先借力？现在还不知道景区愿不愿意买、愿意付多少钱，先自建等于需求没验证就砸钱和时间；借平台，几周就能做出来去试。为什么最终要自建？景区越多平台费越高，交付和定制受限制，数据和资产在别人那里。最关键的一条：借平台，但不交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验证，要回答五个问题。卖给谁：哪类景区最需要、最愿意付钱。卖什么：哪些智能体组合成一个包，景区最认。怎么收钱：随票务打包、年费订阅、按效果分成、按用量，下一页细讲。花多少钱：平台调用费、交付人力、运营支持。值不值：景区看得到价值，少用人工、多卖票、游客更满意。最后归结为右边这一笔账：一个景区一年的收入，减去平台调用费、交付成本的摊销、运营支持，大于零，才算能赚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收钱，有四种方式。随票务打包：作为票务系统的增值模块，提高票务年费，适合已经用我们票务的景区，要验证能不能提升续约率和客单价。年费订阅：按景区规模或智能体数量分档收年费，适合新客户、单独采购，要验证景区能接受的价位。按效果分成：按 AI 带来的购票和二消收入分成，适合购票、营销类智能体，要验证增量能不能算清楚。按用量：按对话量或调用量收费，适合大客流景区，要验证景区能不能接受账单波动。建议验证期同时试前两种。景区认的价值有四个，每个都要能用数据证明：少用人工，看智能体解决咨询的比例和省下的客服人力；多卖票，看智能体带来的线上购票和二消订单；游客更满意，看满意度、差评率、排队等待；管理更省心，看报表、对账、预警的人工时间减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怎么验证？四步。第一，挑标杆：从已经用我们票务的景区里挑，覆盖两到三类主要业态，有配合意愿，客流有代表性。第二，快速搭：在成熟平台上把现有 8 个智能体搭起来，再挑一到两个价值最高的新场景，比如智能购票。第三，跑一个完整旺季：节假日客流最能检验效果和成本。第四，数据从第一天就回流：对话、转人工、评价、订单都进数据平台，验证结论靠数据说话，不靠感觉。整个过程是：选场景、平台上搭、标杆试点、看效果、定价和交付定型。看五件事：有没有人用、能不能解决问题、景区愿不愿意付费、多久能交付、单景区成本多少。效果不好的回平台调整，没人用的场景及时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卡一，怎样才算商业模式跑通了？五条标准。用起来：标杆景区持续在用，问题解决率达标。有价值：景区认可的指标有提升。愿付费：有景区按拟定价格付费，或者明确续费。能赚钱：单景区收入覆盖平台费、交付和运营。可复制：不依赖核心研发，按标准流程就能上线。五条都满足，进入第二步。没过关：调整场景组合或者定价，再验证一轮；还不行的场景就停掉，不硬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，借力复制，先说打哪些客户。第一类，已经用我们票务的景区：随票务续约一起推，开通就能用，因为系统已经对接，基本零开发，信任也有，成交最快。第二类，同业态景区：用标杆案例按业态复制，场景相同，模板直接复用。第三类，新客户：智能体作为差异化卖点，带动票务签约，用 AI 撬动新客户。业态上，先做客流大、咨询多、线上购票比例高的：山岳、主题乐园、古镇街区；再到博物馆、温泉度假、游船演出。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复制得快？关键是标准化。上线流程六步：签约、选已经验证过的模板、配本景区的知识、绑定入口、测试验收、上线运营。右边是五个环节怎么标准化：产品按业态出模板，景区之间的差异全部做成配置；知识采集用统一的采集表，景区填、实施审；系统接入，已用我们票务的景区接口是现成的；实施有手册和培训，实施人员和渠道伙伴都能独立交付；验收有统一测试清单，跑完就上线。同时每做一个景区，都在沉淀场景模板、知识结构、业务接口、交付经验、需求清单和交互数据，为第三步做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销售和续费怎么做？四个环节。销售：票务销售团队带单，智能体纳入销售考核，区域渠道伙伴代理。案例：每类业态的标杆做成案例，用数据讲效果。客户成功：上线后定期给景区出效果报告，比如解决了多少咨询、带来了多少订单、转人工率多少，促进续费。升级：模板统一升级，所有景区同步受益，增加粘性。右边是效果报告的样子，这是示意，具体数字由系统自动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托外部平台的同时，有六样东西必须留在自己手里，这是第三步能低成本切过去的前提。一，景区知识：按我们自己的结构存一份，不只存在外部平台，以后直接导入自建平台。二，业务接口：售票、订单、核销、会员这些接口由我们自己封装成服务，外部平台只是调用，以后平台直接复用。三，模板设计：每个模板的流程、提示词、配置项写成文档，以后迁入模板库。四，交互数据：对话、评价、转人工记录回流到数据平台，用来做测试题、优化效果。五，成本数据：按景区、按智能体记录每月平台费用，用来判断什么时候该自建。六，需求清单：记录客户要、但平台做不了的功能，这就是自建平台的需求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借平台在前期很划算，但规模越大，弊端越明显。一，成本越做越高：平台按调用、账号、空间收费，景区越多平台费越高，利润被平台分走。二，交付受限：功能受平台限制，个性需求做不了；多个平台要分别配置、分别维护。三，资产在外部：工作流、知识库、对话数据留在第三方平台，难沉淀、难迁移。四，管理分散：多平台多入口，权限、计量、监控各管各的。五，受制于人：平台一调价、改规则、下线功能，直接影响我们的交付和报价。六，难形成壁垒：同样的平台谁都能用；景区和游客数据出域还有合规顾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什么时候自己建？看左边这张示意图：继续用成熟平台，平台费随景区数量线性上涨；自己建，前期有一笔建设投入，之后主要是模型调用和运维，涨得慢。两条线交叉的地方，就是该自建的时候。具体看五个信号：成本交叉，用前面记录的成本数据测算，自建总成本已经更低；平台费占比上升，平台费占智能体收入的比例持续上升，压缩利润；场景稳定，主力智能体模板已经稳定，不再频繁大改；平台限制丢单，个性需求或大客户项目因为平台限制接不了；合规要求，景区或管理方要求数据不出域。满足任意两条，就启动自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建不是什么都自己做。大模型不自研，直接调用模型服务，多家可以替换，因为投入太大，也不是我们的优势。语音、图像、数字人、手语这些专业能力，采购或者合作，自建不划算。编排引擎，就是让智能体按流程干活的引擎，用开源框架二次开发，不从零写，缩短周期。真正要自建的是三样：智能体管理台、能力与知识、业务工具，因为它们承载着我们的业务、数据和交付方式，是壁垒所在。数据服务直接复用第一部分的数据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自建平台长这样，从上往下看。最上面是渠道入口：畅游小程序、票付通 APP、景数通、公众号小程序、智慧终端都已经有了，再自建开放接口。往下是智能体应用：游客服务、景区管理、票务财务、安全调度、精准营销，按场景模板生成，自建。核心是智能体管理台，就是数字大脑，自建：一半是搭建，模板库、可视化编排、配置化生成、多智能体协同、测试与发布；一半是运营，集团和景区多租户、权限、运行监控、费用计量到景区、效果评估。再往下是能力层：业务工具中心、景区知识库、游客记忆与画像、测试用例库自建，数据服务复用。引擎层：编排和检索用开源改造，模型网关和内容安全自建，模型网关能统一接各家模型、路由、降级、计量。外部能力：大模型多家可替换，语音图像数字人、手语、小Q 采购或合作。最底下数据底座复用第一部分。右边是前两步留在手里的资产，分别落到哪：知识进知识库，接口进业务工具中心，模板进模板库，交互数据变成测试用例和游客画像，成本记录变成计量和定价依据，需求清单变成首批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按产品全景来看，四条产品线一共 22 个智能体，已有 8 个，还有 14 个待建，最终都由自建平台统一承载。畅游 AI：已有智能助手、智能客服、智能导览、AI 伴游、AI 旅拍、手语；待建 AI 旅游规划、AI 智能购票。AI 数字大脑：已有 AI 智能问数、AI 智能洞察；待建消息通知预警、工单调度处置。智慧票务：待建票务 AI 运营助手、AI 对账助手。景区 AI 调度中枢：待建旅游安全、秩序治理、车辆调度、游船调度、森林防火、生态监测、气象服务、设施监测。再加上前面梳理的可扩展场景，都在同一个平台上管理、计量和评估。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建平台，对公司意味着什么？六个方面对比。成本：借平台按调用、账号收费，随景区数增长；自建只付模型调用和自身运维，单景区成本下降，规模越大利润越高。交付周期：借平台每个景区要在外部平台单独配置调试；自建集团建一次，景区开通即用，省交付人天，上线更快，能承接更多景区。定制能力：借平台个性需求受限；自建可以自主扩展，能接大客户和个性项目。数据资产：借平台工作流、知识、对话数据在外部；自建全部在自己手里，回流数据平台，越用越准。风险：借平台调价改规则直接影响报价；自建自主可控，模型可替换，经营稳定。竞争力：借平台谁都能做；自建是业务系统加数据加平台一体，形成壁垒，提高续约和客单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从借平台切到自建平台？五步，不搞一刀切。第一步，核心先上：先把核心模块和主力智能体放到自建平台。第二步，对比验证：用同一套测试题对比，效果不低于成熟平台才切。第三步，新增先上：新签的景区直接上自建平台。第四步，存量随续约迁移：老景区在续约时逐个迁移，双轨运行，随时可以回退。第五步，成熟平台转为补充：外部平台不是一下子不用，而是变成补充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建有四个风险，都有应对。投入超预期：小团队先做核心模块，跟着迁移进度分批投入。效果不如成熟平台：迁移前用同一套测试题对比，达标才切。迁移影响客户：双轨运行、逐个迁移、可以回退。团队能力不足：前两步就开始培养自己的 AI 应用团队，第三步延续。另外，智能体从第一天起就要守住四条底线：只用授权数据，数据按景区隔离，景区只能看到自己的数据；关键动作人工确认，退款、调度这些处置要人点确认；不碰敏感信息，手机号、证件号不进对话和知识库，展示时打码；不乱承诺，价格和退改规则以系统返回为准，答不了就转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第三部分：AI＋数据平台，数据在公司里转起来，越用越准。主要讲：数据怎么流转、五个环节的闭环、一张门票的例子。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这张图把前面两部分串起来，从下往上看。最下面是产数：智慧票务、九大业态、景区运营、财务、智慧终端、畅游 AI、会员营销、数字大脑这些业务系统，每天产生交易、核销、客流、设备、会员、财务数据，第一步进入数据平台。第二层是治数，也就是第一部分的数据平台：统一接入，离线加实时；湖仓公共模型；算成认证的指标、标签和景区知识；再通过开放接口和小Q 提供出去，治理贯穿全程。第三层是办事，也就是第二部分的智能体：游客端的客服、导览、伴游、旅拍、规划、购票，景区端的问数、洞察、运营、对账、预警、调度；报表和接口也直接用数。最上面是用数：游客用小程序、公众号、自助终端，景区用景数通、票付通 APP、景区 SaaS，内部是管理层和业务线。最关键是右边：用的过程中产生的问答记录、游客评价、转人工、预警和工单结果、使用行为，回流到数据平台；整理好的指标、标签、洞察再反哺业务系统，调定价、做营销、优化调度。这样数据越用越多、越用越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这张图简化成一个圈，五个环节。第一，生产：票务、业态、运营、财务、终端、畅游、会员营销各个产品，产生交易、核销、客流、设备、会员、财务数据。第二，治理：数据团队用第一部分的数据平台，做出公共模型、认证指标、统一标签和景区知识。第三，应用：智能体和各个应用，提供游客服务、经营分析、运营提效、预警调度。第四，回流：智能体和应用自动回传问答记录、评价、转人工、工单结果、使用行为，统一入湖。第五，反哺：业务线用这些指标、标签、洞察去调定价、圈人做营销、优化预约和调度。反哺后的业务又产生新数据，进入下一轮。每转一圈，数据更全、指标更准、智能体更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个例子，一张门票的数据旅程。第一步，游客买票入园，售票和闸机核销产生数据。第二步，订单、核销、客流进入数据平台。第三步，平台算出实时客流这样的指标，也给游客打上偏好标签。第四步，智能体办事：客流接近预约上限时提前预警，推送给现场工作人员处置；同时根据游客偏好推荐餐饮、演出等二次消费。第五步，处置结果和推荐转化回流到平台。第六步，反哺业务：景区据此调整预约名额、调整营销活动。右边是工作人员在票付通 APP 上收到预警的示意。这一圈下来，游客体验更好，景区多卖钱、少出事，我们的数据和智能体也更准了。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说接下来。先做三件事。第一，数据：在订单到核销到结算这条主线上试点治理，定口径、上卡点、做逐层核对，先把核销量这些关键数字做准，同时把订单核销的实时链路建起来。第二，智能体：挑两三家已经用我们票务的标杆景区，在成熟平台上搭好现有智能体，加一两个高价值新场景，跑一个完整旺季，同时试随票务打包和年费订阅两种收费。第三，打通：智能体统一从数据平台取数，对话、评价、转人工等数据从第一天回流，知识、接口、模板、成本数据留在自己手里。需要您支持四件事：一，口径谁拍板，建议成立数据治理小组，有争议时有人定；二，规范强制执行，不合规的数据不上线，这需要公司层面授权；三，标杆景区和销售团队的配合，智能体纳入销售考核；四，什么时候自己建平台，我们定期用成本数据评估，由您来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汇报完毕，请您指示。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image2.wdp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://www.1ppt.com/tubiao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jpeg"/><Relationship Id="rId4" Type="http://schemas.microsoft.com/office/2007/relationships/hdphoto" Target="../media/image2.wdp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://www.1ppt.com/tubiao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tags" Target="../tags/tag28.xml"/><Relationship Id="rId8" Type="http://schemas.openxmlformats.org/officeDocument/2006/relationships/tags" Target="../tags/tag29.xml"/><Relationship Id="rId9" Type="http://schemas.openxmlformats.org/officeDocument/2006/relationships/tags" Target="../tags/tag30.xml"/><Relationship Id="rId10" Type="http://schemas.openxmlformats.org/officeDocument/2006/relationships/tags" Target="../tags/tag3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tags" Target="../tags/tag34.xml"/><Relationship Id="rId5" Type="http://schemas.openxmlformats.org/officeDocument/2006/relationships/tags" Target="../tags/tag35.xml"/><Relationship Id="rId6" Type="http://schemas.openxmlformats.org/officeDocument/2006/relationships/tags" Target="../tags/tag36.xml"/><Relationship Id="rId7" Type="http://schemas.openxmlformats.org/officeDocument/2006/relationships/tags" Target="../tags/tag3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tags" Target="../tags/tag49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3.xml"/><Relationship Id="rId3" Type="http://schemas.openxmlformats.org/officeDocument/2006/relationships/tags" Target="../tags/tag54.xml"/><Relationship Id="rId4" Type="http://schemas.openxmlformats.org/officeDocument/2006/relationships/tags" Target="../tags/tag55.xml"/><Relationship Id="rId5" Type="http://schemas.openxmlformats.org/officeDocument/2006/relationships/tags" Target="../tags/tag5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2.xml"/><Relationship Id="rId3" Type="http://schemas.openxmlformats.org/officeDocument/2006/relationships/tags" Target="../tags/tag63.xml"/><Relationship Id="rId4" Type="http://schemas.openxmlformats.org/officeDocument/2006/relationships/tags" Target="../tags/tag64.xml"/><Relationship Id="rId5" Type="http://schemas.openxmlformats.org/officeDocument/2006/relationships/tags" Target="../tags/tag65.xml"/><Relationship Id="rId6" Type="http://schemas.openxmlformats.org/officeDocument/2006/relationships/tags" Target="../tags/tag66.xml"/><Relationship Id="rId7" Type="http://schemas.openxmlformats.org/officeDocument/2006/relationships/tags" Target="../tags/tag67.xml"/><Relationship Id="rId8" Type="http://schemas.openxmlformats.org/officeDocument/2006/relationships/tags" Target="../tags/tag68.xml"/><Relationship Id="rId9" Type="http://schemas.openxmlformats.org/officeDocument/2006/relationships/tags" Target="../tags/tag69.xml"/><Relationship Id="rId10" Type="http://schemas.openxmlformats.org/officeDocument/2006/relationships/tags" Target="../tags/tag70.xml"/><Relationship Id="rId11" Type="http://schemas.openxmlformats.org/officeDocument/2006/relationships/tags" Target="../tags/tag7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4963" y="999071"/>
            <a:ext cx="11583047" cy="676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/>
          <p:cNvSpPr/>
          <p:nvPr userDrawn="1"/>
        </p:nvSpPr>
        <p:spPr bwMode="auto">
          <a:xfrm>
            <a:off x="-10867" y="1009940"/>
            <a:ext cx="11568081" cy="676892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 bwMode="auto">
          <a:xfrm>
            <a:off x="-8002" y="-18002"/>
            <a:ext cx="11565216" cy="1098098"/>
          </a:xfrm>
          <a:prstGeom prst="rect">
            <a:avLst/>
          </a:prstGeom>
          <a:blipFill dpi="0" rotWithShape="1">
            <a:blip r:embed="rId4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11" descr="png素材 (276)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492660" y="18556379"/>
            <a:ext cx="5081165" cy="453634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800" dirty="0"/>
              <a:t>第一</a:t>
            </a:r>
            <a:r>
              <a:rPr lang="en-US" altLang="zh-CN" sz="1800" dirty="0"/>
              <a:t>PPT</a:t>
            </a:r>
            <a:r>
              <a:rPr lang="zh-CN" altLang="en-US" sz="1800" dirty="0"/>
              <a:t>模板网</a:t>
            </a:r>
            <a:endParaRPr lang="en-US" altLang="zh-CN" sz="1800" dirty="0"/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800" dirty="0">
                <a:hlinkClick r:id="rId7"/>
              </a:rPr>
              <a:t>www.1ppt.com/tubiao/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-8002" y="-18002"/>
            <a:ext cx="11576085" cy="1098098"/>
          </a:xfrm>
          <a:prstGeom prst="rect">
            <a:avLst/>
          </a:prstGeom>
          <a:blipFill dpi="0" rotWithShape="1">
            <a:blip r:embed="rId2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4963" y="999071"/>
            <a:ext cx="11583047" cy="676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11" descr="png素材 (276)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492660" y="10399074"/>
            <a:ext cx="5081165" cy="453634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800" dirty="0"/>
              <a:t>第一</a:t>
            </a:r>
            <a:r>
              <a:rPr lang="en-US" altLang="zh-CN" sz="1800" dirty="0"/>
              <a:t>PPT</a:t>
            </a:r>
            <a:r>
              <a:rPr lang="zh-CN" altLang="en-US" sz="1800" dirty="0"/>
              <a:t>模板网</a:t>
            </a:r>
            <a:endParaRPr lang="en-US" altLang="zh-CN" sz="1800" dirty="0"/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800" dirty="0">
                <a:hlinkClick r:id="rId7"/>
              </a:rPr>
              <a:t>www.1ppt.com/tubiao/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-21737" y="1054219"/>
            <a:ext cx="11568081" cy="6768925"/>
          </a:xfrm>
          <a:prstGeom prst="rect">
            <a:avLst/>
          </a:prstGeom>
          <a:gradFill flip="none" rotWithShape="1">
            <a:gsLst>
              <a:gs pos="0">
                <a:srgbClr val="16355B"/>
              </a:gs>
              <a:gs pos="50000">
                <a:srgbClr val="0A2037"/>
              </a:gs>
              <a:gs pos="100000">
                <a:srgbClr val="000D18"/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endParaRPr lang="zh-CN" altLang="en-US" sz="1800"/>
          </a:p>
        </p:txBody>
      </p:sp>
      <p:sp>
        <p:nvSpPr>
          <p:cNvPr id="7" name="矩形 6"/>
          <p:cNvSpPr/>
          <p:nvPr userDrawn="1"/>
        </p:nvSpPr>
        <p:spPr bwMode="auto">
          <a:xfrm>
            <a:off x="-8002" y="-18002"/>
            <a:ext cx="11576085" cy="1098098"/>
          </a:xfrm>
          <a:prstGeom prst="rect">
            <a:avLst/>
          </a:prstGeom>
          <a:blipFill dpi="0" rotWithShape="1">
            <a:blip r:embed="rId2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8" name="图片 11" descr="png素材 (276)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1" name="Picture 6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@path_Ellipse 9 (Stroke)-2050&amp;12778"/>
          <p:cNvSpPr/>
          <p:nvPr userDrawn="1">
            <p:custDataLst>
              <p:tags r:id="rId2"/>
            </p:custDataLst>
          </p:nvPr>
        </p:nvSpPr>
        <p:spPr>
          <a:xfrm>
            <a:off x="8641556" y="1079639"/>
            <a:ext cx="2877638" cy="3793643"/>
          </a:xfrm>
          <a:custGeom>
            <a:avLst/>
            <a:gdLst/>
            <a:ahLst/>
            <a:cxnLst/>
            <a:rect l="l" t="t" r="r" b="b"/>
            <a:pathLst>
              <a:path w="3044952" h="4014216">
                <a:moveTo>
                  <a:pt x="694944" y="0"/>
                </a:moveTo>
                <a:cubicBezTo>
                  <a:pt x="576072" y="301752"/>
                  <a:pt x="512064" y="621792"/>
                  <a:pt x="512064" y="969264"/>
                </a:cubicBezTo>
                <a:cubicBezTo>
                  <a:pt x="512064" y="2368296"/>
                  <a:pt x="1645920" y="3502152"/>
                  <a:pt x="3044952" y="3502152"/>
                </a:cubicBezTo>
                <a:lnTo>
                  <a:pt x="3044952" y="4014216"/>
                </a:lnTo>
                <a:cubicBezTo>
                  <a:pt x="1362456" y="4014216"/>
                  <a:pt x="0" y="2651760"/>
                  <a:pt x="0" y="969264"/>
                </a:cubicBezTo>
                <a:cubicBezTo>
                  <a:pt x="0" y="630936"/>
                  <a:pt x="54864" y="301752"/>
                  <a:pt x="155448" y="0"/>
                </a:cubicBezTo>
                <a:lnTo>
                  <a:pt x="694944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 fontAlgn="auto"/>
            <a:endParaRPr lang="zh-CN" altLang="en-US" sz="1700">
              <a:latin typeface="+mn-lt"/>
              <a:ea typeface="+mn-ea"/>
            </a:endParaRPr>
          </a:p>
        </p:txBody>
      </p:sp>
      <p:sp>
        <p:nvSpPr>
          <p:cNvPr id="9" name="Ellipse 3 (Stroke)_#color-2050&amp;12715"/>
          <p:cNvSpPr/>
          <p:nvPr userDrawn="1">
            <p:custDataLst>
              <p:tags r:id="rId3"/>
            </p:custDataLst>
          </p:nvPr>
        </p:nvSpPr>
        <p:spPr>
          <a:xfrm>
            <a:off x="5844573" y="2911649"/>
            <a:ext cx="5677502" cy="4649157"/>
          </a:xfrm>
          <a:custGeom>
            <a:avLst/>
            <a:gdLst/>
            <a:ahLst/>
            <a:cxnLst/>
            <a:rect l="l" t="t" r="r" b="b"/>
            <a:pathLst>
              <a:path w="6007608" h="4919472">
                <a:moveTo>
                  <a:pt x="6007608" y="640080"/>
                </a:moveTo>
                <a:cubicBezTo>
                  <a:pt x="5394960" y="237744"/>
                  <a:pt x="4663440" y="0"/>
                  <a:pt x="3877056" y="0"/>
                </a:cubicBezTo>
                <a:cubicBezTo>
                  <a:pt x="1737360" y="0"/>
                  <a:pt x="0" y="1737360"/>
                  <a:pt x="0" y="3877056"/>
                </a:cubicBezTo>
                <a:cubicBezTo>
                  <a:pt x="0" y="4233672"/>
                  <a:pt x="45720" y="4581144"/>
                  <a:pt x="137160" y="4919472"/>
                </a:cubicBezTo>
                <a:lnTo>
                  <a:pt x="676656" y="4919472"/>
                </a:lnTo>
                <a:cubicBezTo>
                  <a:pt x="566928" y="4590288"/>
                  <a:pt x="512064" y="4233672"/>
                  <a:pt x="512064" y="3877056"/>
                </a:cubicBezTo>
                <a:cubicBezTo>
                  <a:pt x="512064" y="2011680"/>
                  <a:pt x="2011680" y="512064"/>
                  <a:pt x="3877056" y="512064"/>
                </a:cubicBezTo>
                <a:cubicBezTo>
                  <a:pt x="4681728" y="512064"/>
                  <a:pt x="5422392" y="795528"/>
                  <a:pt x="6007608" y="1271016"/>
                </a:cubicBezTo>
                <a:lnTo>
                  <a:pt x="6007608" y="64008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8 (Stroke)_#color-2050&amp;12718"/>
          <p:cNvSpPr/>
          <p:nvPr userDrawn="1">
            <p:custDataLst>
              <p:tags r:id="rId4"/>
            </p:custDataLst>
          </p:nvPr>
        </p:nvSpPr>
        <p:spPr>
          <a:xfrm>
            <a:off x="5020744" y="5409059"/>
            <a:ext cx="596267" cy="1875218"/>
          </a:xfrm>
          <a:custGeom>
            <a:avLst/>
            <a:gdLst/>
            <a:ahLst/>
            <a:cxnLst/>
            <a:rect l="l" t="t" r="r" b="b"/>
            <a:pathLst>
              <a:path w="630936" h="1984248">
                <a:moveTo>
                  <a:pt x="438912" y="9144"/>
                </a:moveTo>
                <a:cubicBezTo>
                  <a:pt x="576072" y="45720"/>
                  <a:pt x="658368" y="182880"/>
                  <a:pt x="621792" y="320040"/>
                </a:cubicBezTo>
                <a:cubicBezTo>
                  <a:pt x="512064" y="749808"/>
                  <a:pt x="475488" y="1216152"/>
                  <a:pt x="539496" y="1691640"/>
                </a:cubicBezTo>
                <a:cubicBezTo>
                  <a:pt x="557784" y="1828800"/>
                  <a:pt x="457200" y="1956816"/>
                  <a:pt x="320040" y="1975104"/>
                </a:cubicBezTo>
                <a:cubicBezTo>
                  <a:pt x="182880" y="1993392"/>
                  <a:pt x="54864" y="1901952"/>
                  <a:pt x="36576" y="1755648"/>
                </a:cubicBezTo>
                <a:cubicBezTo>
                  <a:pt x="-36576" y="1216152"/>
                  <a:pt x="0" y="685800"/>
                  <a:pt x="128016" y="192024"/>
                </a:cubicBezTo>
                <a:cubicBezTo>
                  <a:pt x="164592" y="54864"/>
                  <a:pt x="301752" y="-27432"/>
                  <a:pt x="438912" y="9144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2" name="Ellipse 4 (Stroke)_#color_$accent2_$accent2-2050&amp;12721"/>
          <p:cNvSpPr/>
          <p:nvPr userDrawn="1">
            <p:custDataLst>
              <p:tags r:id="rId5"/>
            </p:custDataLst>
          </p:nvPr>
        </p:nvSpPr>
        <p:spPr>
          <a:xfrm>
            <a:off x="6368827" y="2920290"/>
            <a:ext cx="5150368" cy="2073974"/>
          </a:xfrm>
          <a:custGeom>
            <a:avLst/>
            <a:gdLst/>
            <a:ahLst/>
            <a:cxnLst/>
            <a:rect l="l" t="t" r="r" b="b"/>
            <a:pathLst>
              <a:path w="5449824" h="2194560">
                <a:moveTo>
                  <a:pt x="5449824" y="640080"/>
                </a:moveTo>
                <a:lnTo>
                  <a:pt x="5449824" y="1280160"/>
                </a:lnTo>
                <a:cubicBezTo>
                  <a:pt x="4864608" y="795528"/>
                  <a:pt x="4123944" y="512064"/>
                  <a:pt x="3310128" y="512064"/>
                </a:cubicBezTo>
                <a:cubicBezTo>
                  <a:pt x="2112264" y="512064"/>
                  <a:pt x="1060704" y="1133856"/>
                  <a:pt x="466344" y="2075688"/>
                </a:cubicBezTo>
                <a:cubicBezTo>
                  <a:pt x="393192" y="2194560"/>
                  <a:pt x="237744" y="2221992"/>
                  <a:pt x="118872" y="2148840"/>
                </a:cubicBezTo>
                <a:cubicBezTo>
                  <a:pt x="0" y="2075688"/>
                  <a:pt x="-36576" y="1920240"/>
                  <a:pt x="36576" y="1801368"/>
                </a:cubicBezTo>
                <a:cubicBezTo>
                  <a:pt x="722376" y="722376"/>
                  <a:pt x="1929384" y="0"/>
                  <a:pt x="3310128" y="0"/>
                </a:cubicBezTo>
                <a:cubicBezTo>
                  <a:pt x="4096512" y="0"/>
                  <a:pt x="4837176" y="237744"/>
                  <a:pt x="5449824" y="640080"/>
                </a:cubicBezTo>
              </a:path>
            </a:pathLst>
          </a:custGeom>
          <a:gradFill>
            <a:gsLst>
              <a:gs pos="0">
                <a:schemeClr val="accent1">
                  <a:lumMod val="75000"/>
                  <a:alpha val="7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Ellipse 10 (Stroke)_#color-2050&amp;12724"/>
          <p:cNvSpPr/>
          <p:nvPr userDrawn="1">
            <p:custDataLst>
              <p:tags r:id="rId6"/>
            </p:custDataLst>
          </p:nvPr>
        </p:nvSpPr>
        <p:spPr>
          <a:xfrm>
            <a:off x="0" y="1079639"/>
            <a:ext cx="1650537" cy="1564122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825149" y="2791147"/>
            <a:ext cx="5448981" cy="1962353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105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37465" y="7086721"/>
            <a:ext cx="2592467" cy="34506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92143" y="5076359"/>
            <a:ext cx="2509052" cy="57310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70">
                <a:solidFill>
                  <a:srgbClr val="FFFFFF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2"/>
            </p:custDataLst>
          </p:nvPr>
        </p:nvSpPr>
        <p:spPr>
          <a:xfrm>
            <a:off x="3102319" y="1079639"/>
            <a:ext cx="2177672" cy="6481167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3"/>
            </p:custDataLst>
          </p:nvPr>
        </p:nvSpPr>
        <p:spPr>
          <a:xfrm>
            <a:off x="0" y="1079639"/>
            <a:ext cx="4415835" cy="6481167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4"/>
            </p:custDataLst>
          </p:nvPr>
        </p:nvSpPr>
        <p:spPr>
          <a:xfrm>
            <a:off x="0" y="4821433"/>
            <a:ext cx="4329420" cy="2739373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78976" y="3699740"/>
            <a:ext cx="2511963" cy="1241054"/>
          </a:xfrm>
        </p:spPr>
        <p:txBody>
          <a:bodyPr wrap="square" anchor="ctr" anchorCtr="0">
            <a:normAutofit/>
          </a:bodyPr>
          <a:lstStyle>
            <a:lvl1pPr>
              <a:defRPr sz="4535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2"/>
            </p:custDataLst>
          </p:nvPr>
        </p:nvSpPr>
        <p:spPr>
          <a:xfrm>
            <a:off x="1440" y="1079639"/>
            <a:ext cx="11519194" cy="6481167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3"/>
            </p:custDataLst>
          </p:nvPr>
        </p:nvSpPr>
        <p:spPr>
          <a:xfrm>
            <a:off x="0" y="1079639"/>
            <a:ext cx="3914625" cy="4294853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4"/>
            </p:custDataLst>
          </p:nvPr>
        </p:nvSpPr>
        <p:spPr>
          <a:xfrm>
            <a:off x="0" y="2401797"/>
            <a:ext cx="5763918" cy="5159009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5"/>
            </p:custDataLst>
          </p:nvPr>
        </p:nvSpPr>
        <p:spPr>
          <a:xfrm>
            <a:off x="0" y="2401797"/>
            <a:ext cx="5236783" cy="2073974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263328" y="4044173"/>
            <a:ext cx="4467204" cy="1874138"/>
          </a:xfrm>
        </p:spPr>
        <p:txBody>
          <a:bodyPr wrap="square" anchor="t">
            <a:normAutofit/>
          </a:bodyPr>
          <a:lstStyle>
            <a:lvl1pPr algn="l">
              <a:defRPr sz="4255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459683" y="4169628"/>
            <a:ext cx="4845033" cy="2607913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11245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57718" y="2309860"/>
            <a:ext cx="5031306" cy="4607932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833050" y="2309860"/>
            <a:ext cx="5031306" cy="4607932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57718" y="2309860"/>
            <a:ext cx="5031306" cy="3887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70" b="1">
                <a:latin typeface="+mn-ea"/>
                <a:ea typeface="+mn-ea"/>
                <a:cs typeface="+mn-ea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57718" y="2851705"/>
            <a:ext cx="5031306" cy="4063985"/>
          </a:xfrm>
        </p:spPr>
        <p:txBody>
          <a:bodyPr wrap="square">
            <a:normAutofit/>
          </a:bodyPr>
          <a:lstStyle>
            <a:lvl1pPr>
              <a:defRPr sz="208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5833050" y="2309860"/>
            <a:ext cx="5031306" cy="3887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70" b="1">
                <a:latin typeface="+mn-ea"/>
                <a:ea typeface="+mn-ea"/>
                <a:cs typeface="+mn-ea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833050" y="2851705"/>
            <a:ext cx="5031306" cy="4063985"/>
          </a:xfrm>
        </p:spPr>
        <p:txBody>
          <a:bodyPr wrap="square">
            <a:normAutofit/>
          </a:bodyPr>
          <a:lstStyle>
            <a:lvl1pPr>
              <a:defRPr sz="208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57718" y="1419900"/>
            <a:ext cx="10208438" cy="549819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</a:defRPr>
            </a:lvl1pPr>
            <a:lvl2pPr>
              <a:defRPr>
                <a:latin typeface="+mn-lt"/>
                <a:ea typeface="+mn-lt"/>
                <a:cs typeface="+mn-lt"/>
              </a:defRPr>
            </a:lvl2pPr>
            <a:lvl3pPr>
              <a:defRPr>
                <a:latin typeface="+mn-lt"/>
                <a:ea typeface="+mn-lt"/>
                <a:cs typeface="+mn-lt"/>
              </a:defRPr>
            </a:lvl3pPr>
            <a:lvl4pPr>
              <a:defRPr>
                <a:latin typeface="+mn-lt"/>
                <a:ea typeface="+mn-lt"/>
                <a:cs typeface="+mn-lt"/>
              </a:defRPr>
            </a:lvl4pPr>
            <a:lvl5pPr>
              <a:defRPr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57718" y="2309860"/>
            <a:ext cx="10205701" cy="383269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270" b="0">
                <a:latin typeface="+mn-lt"/>
                <a:ea typeface="+mn-lt"/>
                <a:cs typeface="+mn-lt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_#color-2050&amp;12433"/>
          <p:cNvSpPr/>
          <p:nvPr userDrawn="1">
            <p:custDataLst>
              <p:tags r:id="rId2"/>
            </p:custDataLst>
          </p:nvPr>
        </p:nvSpPr>
        <p:spPr>
          <a:xfrm>
            <a:off x="0" y="1079639"/>
            <a:ext cx="11519194" cy="6481167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5" name="Ellipse 3_#color_$lt1_$lt1-2050&amp;12754"/>
          <p:cNvSpPr/>
          <p:nvPr userDrawn="1">
            <p:custDataLst>
              <p:tags r:id="rId3"/>
            </p:custDataLst>
          </p:nvPr>
        </p:nvSpPr>
        <p:spPr>
          <a:xfrm>
            <a:off x="8402473" y="1079639"/>
            <a:ext cx="3119602" cy="3664020"/>
          </a:xfrm>
          <a:custGeom>
            <a:avLst/>
            <a:gdLst/>
            <a:ahLst/>
            <a:cxnLst/>
            <a:rect l="l" t="t" r="r" b="b"/>
            <a:pathLst>
              <a:path w="3300984" h="3877056">
                <a:moveTo>
                  <a:pt x="512064" y="0"/>
                </a:moveTo>
                <a:lnTo>
                  <a:pt x="0" y="0"/>
                </a:lnTo>
                <a:cubicBezTo>
                  <a:pt x="-27432" y="1920240"/>
                  <a:pt x="1380744" y="3584448"/>
                  <a:pt x="3300984" y="3877056"/>
                </a:cubicBezTo>
                <a:lnTo>
                  <a:pt x="3300984" y="3355848"/>
                </a:lnTo>
                <a:cubicBezTo>
                  <a:pt x="1664208" y="3081528"/>
                  <a:pt x="484632" y="1645920"/>
                  <a:pt x="512064" y="0"/>
                </a:cubicBezTo>
              </a:path>
            </a:pathLst>
          </a:custGeom>
          <a:gradFill>
            <a:gsLst>
              <a:gs pos="69000">
                <a:srgbClr val="FFFFFF">
                  <a:alpha val="100000"/>
                </a:srgbClr>
              </a:gs>
              <a:gs pos="82000">
                <a:schemeClr val="lt1">
                  <a:alpha val="0"/>
                </a:schemeClr>
              </a:gs>
              <a:gs pos="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Ellipse 4 (Stroke)_#color_$lt1_$accent1-2050&amp;12757"/>
          <p:cNvSpPr/>
          <p:nvPr userDrawn="1">
            <p:custDataLst>
              <p:tags r:id="rId4"/>
            </p:custDataLst>
          </p:nvPr>
        </p:nvSpPr>
        <p:spPr>
          <a:xfrm>
            <a:off x="8753896" y="2393155"/>
            <a:ext cx="2765298" cy="2341862"/>
          </a:xfrm>
          <a:custGeom>
            <a:avLst/>
            <a:gdLst/>
            <a:ahLst/>
            <a:cxnLst/>
            <a:rect l="l" t="t" r="r" b="b"/>
            <a:pathLst>
              <a:path w="2926080" h="2478024">
                <a:moveTo>
                  <a:pt x="2926080" y="2478024"/>
                </a:moveTo>
                <a:lnTo>
                  <a:pt x="2926080" y="1965960"/>
                </a:lnTo>
                <a:cubicBezTo>
                  <a:pt x="1837944" y="1783080"/>
                  <a:pt x="941832" y="1078992"/>
                  <a:pt x="484632" y="137160"/>
                </a:cubicBezTo>
                <a:cubicBezTo>
                  <a:pt x="420624" y="18288"/>
                  <a:pt x="265176" y="-36576"/>
                  <a:pt x="137160" y="27432"/>
                </a:cubicBezTo>
                <a:cubicBezTo>
                  <a:pt x="18288" y="91440"/>
                  <a:pt x="-36576" y="237744"/>
                  <a:pt x="27432" y="365760"/>
                </a:cubicBezTo>
                <a:cubicBezTo>
                  <a:pt x="566928" y="1472184"/>
                  <a:pt x="1627632" y="2286000"/>
                  <a:pt x="2926080" y="2478024"/>
                </a:cubicBezTo>
              </a:path>
            </a:pathLst>
          </a:custGeom>
          <a:gradFill>
            <a:gsLst>
              <a:gs pos="0">
                <a:schemeClr val="lt1">
                  <a:alpha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8 (Stroke)_#color-2050&amp;12760"/>
          <p:cNvSpPr/>
          <p:nvPr userDrawn="1">
            <p:custDataLst>
              <p:tags r:id="rId5"/>
            </p:custDataLst>
          </p:nvPr>
        </p:nvSpPr>
        <p:spPr>
          <a:xfrm>
            <a:off x="10127904" y="4691809"/>
            <a:ext cx="1391291" cy="795023"/>
          </a:xfrm>
          <a:custGeom>
            <a:avLst/>
            <a:gdLst/>
            <a:ahLst/>
            <a:cxnLst/>
            <a:rect l="l" t="t" r="r" b="b"/>
            <a:pathLst>
              <a:path w="1472184" h="841248">
                <a:moveTo>
                  <a:pt x="1472184" y="329184"/>
                </a:moveTo>
                <a:lnTo>
                  <a:pt x="1472184" y="841248"/>
                </a:lnTo>
                <a:cubicBezTo>
                  <a:pt x="1005840" y="795528"/>
                  <a:pt x="557784" y="676656"/>
                  <a:pt x="146304" y="484632"/>
                </a:cubicBezTo>
                <a:cubicBezTo>
                  <a:pt x="18288" y="429768"/>
                  <a:pt x="-36576" y="274320"/>
                  <a:pt x="27432" y="146304"/>
                </a:cubicBezTo>
                <a:cubicBezTo>
                  <a:pt x="82296" y="18288"/>
                  <a:pt x="237744" y="-36576"/>
                  <a:pt x="356616" y="27432"/>
                </a:cubicBezTo>
                <a:cubicBezTo>
                  <a:pt x="704088" y="182880"/>
                  <a:pt x="1078992" y="292608"/>
                  <a:pt x="1472184" y="329184"/>
                </a:cubicBezTo>
              </a:path>
            </a:pathLst>
          </a:custGeom>
          <a:solidFill>
            <a:schemeClr val="lt1">
              <a:alpha val="40000"/>
            </a:schemeClr>
          </a:solidFill>
        </p:spPr>
      </p:sp>
      <p:sp>
        <p:nvSpPr>
          <p:cNvPr id="19" name="Ellipse 9_#color-2050&amp;12763"/>
          <p:cNvSpPr/>
          <p:nvPr userDrawn="1">
            <p:custDataLst>
              <p:tags r:id="rId6"/>
            </p:custDataLst>
          </p:nvPr>
        </p:nvSpPr>
        <p:spPr>
          <a:xfrm>
            <a:off x="0" y="4320223"/>
            <a:ext cx="3076394" cy="3240584"/>
          </a:xfrm>
          <a:custGeom>
            <a:avLst/>
            <a:gdLst/>
            <a:ahLst/>
            <a:cxnLst/>
            <a:rect l="l" t="t" r="r" b="b"/>
            <a:pathLst>
              <a:path w="3255264" h="3429000">
                <a:moveTo>
                  <a:pt x="3227832" y="3429000"/>
                </a:moveTo>
                <a:cubicBezTo>
                  <a:pt x="3246120" y="3300984"/>
                  <a:pt x="3255264" y="3172968"/>
                  <a:pt x="3255264" y="3044952"/>
                </a:cubicBezTo>
                <a:cubicBezTo>
                  <a:pt x="3255264" y="1362456"/>
                  <a:pt x="1883664" y="0"/>
                  <a:pt x="201168" y="0"/>
                </a:cubicBezTo>
                <a:cubicBezTo>
                  <a:pt x="137160" y="0"/>
                  <a:pt x="64008" y="0"/>
                  <a:pt x="0" y="9144"/>
                </a:cubicBezTo>
                <a:lnTo>
                  <a:pt x="0" y="512064"/>
                </a:lnTo>
                <a:cubicBezTo>
                  <a:pt x="64008" y="512064"/>
                  <a:pt x="137160" y="512064"/>
                  <a:pt x="201168" y="512064"/>
                </a:cubicBezTo>
                <a:cubicBezTo>
                  <a:pt x="1609344" y="512064"/>
                  <a:pt x="2743200" y="1645920"/>
                  <a:pt x="2743200" y="3044952"/>
                </a:cubicBezTo>
                <a:cubicBezTo>
                  <a:pt x="2743200" y="3172968"/>
                  <a:pt x="2734056" y="3300984"/>
                  <a:pt x="2715768" y="3429000"/>
                </a:cubicBezTo>
                <a:lnTo>
                  <a:pt x="3227832" y="3429000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7"/>
            </p:custDataLst>
          </p:nvPr>
        </p:nvSpPr>
        <p:spPr>
          <a:xfrm>
            <a:off x="792143" y="1511717"/>
            <a:ext cx="9937223" cy="2834022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56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37465" y="7086721"/>
            <a:ext cx="2592467" cy="34506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1"/>
            </p:custDataLst>
          </p:nvPr>
        </p:nvSpPr>
        <p:spPr>
          <a:xfrm>
            <a:off x="792143" y="4773233"/>
            <a:ext cx="9937223" cy="1172394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27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tags" Target="../tags/tag72.xml"/><Relationship Id="rId13" Type="http://schemas.openxmlformats.org/officeDocument/2006/relationships/tags" Target="../tags/tag73.xml"/><Relationship Id="rId14" Type="http://schemas.openxmlformats.org/officeDocument/2006/relationships/tags" Target="../tags/tag74.xml"/><Relationship Id="rId15" Type="http://schemas.openxmlformats.org/officeDocument/2006/relationships/tags" Target="../tags/tag75.xml"/><Relationship Id="rId16" Type="http://schemas.openxmlformats.org/officeDocument/2006/relationships/tags" Target="../tags/tag76.xml"/><Relationship Id="rId17" Type="http://schemas.openxmlformats.org/officeDocument/2006/relationships/tags" Target="../tags/tag77.xml"/><Relationship Id="rId18" Type="http://schemas.openxmlformats.org/officeDocument/2006/relationships/tags" Target="../tags/tag78.xml"/><Relationship Id="rId19" Type="http://schemas.openxmlformats.org/officeDocument/2006/relationships/tags" Target="../tags/tag79.xml"/><Relationship Id="rId20" Type="http://schemas.openxmlformats.org/officeDocument/2006/relationships/tags" Target="../tags/tag80.xml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576104" y="346031"/>
            <a:ext cx="10369868" cy="14401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5214" tIns="57607" rIns="115214" bIns="57607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104" y="2016179"/>
            <a:ext cx="10369868" cy="57025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5214" tIns="57607" rIns="115214" bIns="57607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104" y="8008708"/>
            <a:ext cx="2688484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E97B707-22D4-4B06-9A8A-89EF284804D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6709" y="8008708"/>
            <a:ext cx="3648657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7487" y="8008708"/>
            <a:ext cx="2688484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3F49717-76DA-4DAA-9161-16E5D566D94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5pPr>
      <a:lvl6pPr marL="575945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6pPr>
      <a:lvl7pPr marL="1151890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7pPr>
      <a:lvl8pPr marL="1728470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8pPr>
      <a:lvl9pPr marL="2304415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9pPr>
    </p:titleStyle>
    <p:bodyStyle>
      <a:lvl1pPr marL="431800" indent="-431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35990" indent="-36004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6125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8650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44595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96485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5189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847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441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5630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3225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0883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12"/>
            </p:custDataLst>
          </p:nvPr>
        </p:nvSpPr>
        <p:spPr>
          <a:xfrm>
            <a:off x="0" y="1079639"/>
            <a:ext cx="1650537" cy="1564122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 fontAlgn="auto"/>
            <a:endParaRPr lang="zh-CN" altLang="en-US" sz="1700">
              <a:latin typeface="+mn-lt"/>
              <a:ea typeface="+mn-ea"/>
            </a:endParaRPr>
          </a:p>
        </p:txBody>
      </p:sp>
      <p:sp>
        <p:nvSpPr>
          <p:cNvPr id="8" name="Ellipse 3 (Stroke)_#color-2050&amp;12745"/>
          <p:cNvSpPr/>
          <p:nvPr userDrawn="1">
            <p:custDataLst>
              <p:tags r:id="rId13"/>
            </p:custDataLst>
          </p:nvPr>
        </p:nvSpPr>
        <p:spPr>
          <a:xfrm>
            <a:off x="10651918" y="6535221"/>
            <a:ext cx="867756" cy="102498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14"/>
            </p:custDataLst>
          </p:nvPr>
        </p:nvSpPr>
        <p:spPr>
          <a:xfrm>
            <a:off x="10801345" y="6535221"/>
            <a:ext cx="718329" cy="573703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57718" y="1419858"/>
            <a:ext cx="10206563" cy="680438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57718" y="2309860"/>
            <a:ext cx="10206563" cy="460582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57718" y="7086721"/>
            <a:ext cx="2592467" cy="34506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816687" y="7086721"/>
            <a:ext cx="3888700" cy="345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272970" y="7086721"/>
            <a:ext cx="2592467" cy="34506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1079639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 fontAlgn="auto"/>
            <a:endParaRPr lang="zh-CN" altLang="en-US" sz="1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864235" rtl="0" eaLnBrk="1" latinLnBrk="0" hangingPunct="1">
        <a:lnSpc>
          <a:spcPct val="100000"/>
        </a:lnSpc>
        <a:spcBef>
          <a:spcPct val="0"/>
        </a:spcBef>
        <a:buNone/>
        <a:defRPr sz="3025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latinLnBrk="0" hangingPunct="1">
        <a:lnSpc>
          <a:spcPct val="130000"/>
        </a:lnSpc>
        <a:spcBef>
          <a:spcPts val="945"/>
        </a:spcBef>
        <a:buFont typeface="Arial" panose="020B060402020202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1pPr>
      <a:lvl2pPr marL="508635" indent="-19494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55015" indent="-15303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74090" indent="-140970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1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67130" indent="-12001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2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86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84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84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7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45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94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32.png"/><Relationship Id="rId7" Type="http://schemas.openxmlformats.org/officeDocument/2006/relationships/image" Target="../media/image5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25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60.png"/><Relationship Id="rId5" Type="http://schemas.openxmlformats.org/officeDocument/2006/relationships/image" Target="../media/image4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8.png"/><Relationship Id="rId4" Type="http://schemas.openxmlformats.org/officeDocument/2006/relationships/image" Target="../media/image6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70.png"/><Relationship Id="rId5" Type="http://schemas.openxmlformats.org/officeDocument/2006/relationships/image" Target="../media/image69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45.png"/><Relationship Id="rId5" Type="http://schemas.openxmlformats.org/officeDocument/2006/relationships/image" Target="../media/image66.png"/><Relationship Id="rId6" Type="http://schemas.openxmlformats.org/officeDocument/2006/relationships/image" Target="../media/image71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1.png"/><Relationship Id="rId4" Type="http://schemas.openxmlformats.org/officeDocument/2006/relationships/image" Target="../media/image7.png"/><Relationship Id="rId5" Type="http://schemas.openxmlformats.org/officeDocument/2006/relationships/image" Target="../media/image30.png"/><Relationship Id="rId6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3.png"/><Relationship Id="rId4" Type="http://schemas.openxmlformats.org/officeDocument/2006/relationships/image" Target="../media/image61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50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image" Target="../media/image91.png"/><Relationship Id="rId10" Type="http://schemas.openxmlformats.org/officeDocument/2006/relationships/image" Target="../media/image63.png"/><Relationship Id="rId11" Type="http://schemas.openxmlformats.org/officeDocument/2006/relationships/image" Target="../media/image9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93.png"/><Relationship Id="rId5" Type="http://schemas.openxmlformats.org/officeDocument/2006/relationships/image" Target="../media/image30.png"/><Relationship Id="rId6" Type="http://schemas.openxmlformats.org/officeDocument/2006/relationships/image" Target="../media/image4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Relationship Id="rId5" Type="http://schemas.openxmlformats.org/officeDocument/2006/relationships/image" Target="../media/image93.png"/><Relationship Id="rId6" Type="http://schemas.openxmlformats.org/officeDocument/2006/relationships/image" Target="../media/image46.png"/><Relationship Id="rId7" Type="http://schemas.openxmlformats.org/officeDocument/2006/relationships/image" Target="../media/image57.png"/><Relationship Id="rId8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4.png"/><Relationship Id="rId4" Type="http://schemas.openxmlformats.org/officeDocument/2006/relationships/image" Target="../media/image41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7.png"/><Relationship Id="rId4" Type="http://schemas.openxmlformats.org/officeDocument/2006/relationships/image" Target="../media/image55.png"/><Relationship Id="rId5" Type="http://schemas.openxmlformats.org/officeDocument/2006/relationships/image" Target="../media/image98.png"/><Relationship Id="rId6" Type="http://schemas.openxmlformats.org/officeDocument/2006/relationships/image" Target="../media/image56.png"/><Relationship Id="rId7" Type="http://schemas.openxmlformats.org/officeDocument/2006/relationships/image" Target="../media/image26.png"/><Relationship Id="rId8" Type="http://schemas.openxmlformats.org/officeDocument/2006/relationships/image" Target="../media/image99.png"/><Relationship Id="rId9" Type="http://schemas.openxmlformats.org/officeDocument/2006/relationships/image" Target="../media/image84.png"/><Relationship Id="rId10" Type="http://schemas.openxmlformats.org/officeDocument/2006/relationships/image" Target="../media/image6.png"/><Relationship Id="rId11" Type="http://schemas.openxmlformats.org/officeDocument/2006/relationships/image" Target="../media/image54.png"/><Relationship Id="rId12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Relationship Id="rId4" Type="http://schemas.openxmlformats.org/officeDocument/2006/relationships/image" Target="../media/image10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40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107.png"/><Relationship Id="rId11" Type="http://schemas.openxmlformats.org/officeDocument/2006/relationships/image" Target="../media/image80.png"/><Relationship Id="rId12" Type="http://schemas.openxmlformats.org/officeDocument/2006/relationships/image" Target="../media/image6.png"/><Relationship Id="rId13" Type="http://schemas.openxmlformats.org/officeDocument/2006/relationships/image" Target="../media/image38.png"/><Relationship Id="rId14" Type="http://schemas.openxmlformats.org/officeDocument/2006/relationships/image" Target="../media/image108.png"/><Relationship Id="rId15" Type="http://schemas.openxmlformats.org/officeDocument/2006/relationships/image" Target="../media/image109.png"/><Relationship Id="rId16" Type="http://schemas.openxmlformats.org/officeDocument/2006/relationships/image" Target="../media/image110.png"/><Relationship Id="rId17" Type="http://schemas.openxmlformats.org/officeDocument/2006/relationships/image" Target="../media/image37.png"/><Relationship Id="rId18" Type="http://schemas.openxmlformats.org/officeDocument/2006/relationships/image" Target="../media/image39.png"/><Relationship Id="rId19" Type="http://schemas.openxmlformats.org/officeDocument/2006/relationships/image" Target="../media/image111.png"/><Relationship Id="rId20" Type="http://schemas.openxmlformats.org/officeDocument/2006/relationships/image" Target="../media/image25.png"/><Relationship Id="rId21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5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67.png"/><Relationship Id="rId7" Type="http://schemas.openxmlformats.org/officeDocument/2006/relationships/image" Target="../media/image116.png"/><Relationship Id="rId8" Type="http://schemas.openxmlformats.org/officeDocument/2006/relationships/image" Target="../media/image80.pn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Relationship Id="rId4" Type="http://schemas.openxmlformats.org/officeDocument/2006/relationships/image" Target="../media/image119.png"/><Relationship Id="rId5" Type="http://schemas.openxmlformats.org/officeDocument/2006/relationships/image" Target="../media/image4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Relationship Id="rId4" Type="http://schemas.openxmlformats.org/officeDocument/2006/relationships/image" Target="../media/image101.png"/><Relationship Id="rId5" Type="http://schemas.openxmlformats.org/officeDocument/2006/relationships/image" Target="../media/image73.png"/><Relationship Id="rId6" Type="http://schemas.openxmlformats.org/officeDocument/2006/relationships/image" Target="../media/image98.png"/><Relationship Id="rId7" Type="http://schemas.openxmlformats.org/officeDocument/2006/relationships/image" Target="../media/image1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7.png"/><Relationship Id="rId4" Type="http://schemas.openxmlformats.org/officeDocument/2006/relationships/image" Target="../media/image55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125.png"/><Relationship Id="rId5" Type="http://schemas.openxmlformats.org/officeDocument/2006/relationships/image" Target="../media/image6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6.png"/><Relationship Id="rId4" Type="http://schemas.openxmlformats.org/officeDocument/2006/relationships/image" Target="../media/image15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03.png"/><Relationship Id="rId8" Type="http://schemas.openxmlformats.org/officeDocument/2006/relationships/image" Target="../media/image129.png"/><Relationship Id="rId9" Type="http://schemas.openxmlformats.org/officeDocument/2006/relationships/image" Target="../media/image86.png"/><Relationship Id="rId10" Type="http://schemas.openxmlformats.org/officeDocument/2006/relationships/image" Target="../media/image130.png"/><Relationship Id="rId11" Type="http://schemas.openxmlformats.org/officeDocument/2006/relationships/image" Target="../media/image1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1.png"/><Relationship Id="rId4" Type="http://schemas.openxmlformats.org/officeDocument/2006/relationships/image" Target="../media/image101.png"/><Relationship Id="rId5" Type="http://schemas.openxmlformats.org/officeDocument/2006/relationships/image" Target="../media/image42.png"/><Relationship Id="rId6" Type="http://schemas.openxmlformats.org/officeDocument/2006/relationships/image" Target="../media/image132.png"/><Relationship Id="rId7" Type="http://schemas.openxmlformats.org/officeDocument/2006/relationships/image" Target="../media/image61.png"/><Relationship Id="rId8" Type="http://schemas.openxmlformats.org/officeDocument/2006/relationships/image" Target="../media/image12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3.png"/><Relationship Id="rId4" Type="http://schemas.openxmlformats.org/officeDocument/2006/relationships/image" Target="../media/image133.png"/><Relationship Id="rId5" Type="http://schemas.openxmlformats.org/officeDocument/2006/relationships/image" Target="../media/image99.png"/><Relationship Id="rId6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Relationship Id="rId4" Type="http://schemas.openxmlformats.org/officeDocument/2006/relationships/image" Target="../media/image42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134.png"/><Relationship Id="rId8" Type="http://schemas.openxmlformats.org/officeDocument/2006/relationships/image" Target="../media/image73.png"/><Relationship Id="rId9" Type="http://schemas.openxmlformats.org/officeDocument/2006/relationships/image" Target="../media/image1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18.png"/><Relationship Id="rId8" Type="http://schemas.openxmlformats.org/officeDocument/2006/relationships/image" Target="../media/image66.png"/><Relationship Id="rId9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4.xml"/><Relationship Id="rId3" Type="http://schemas.openxmlformats.org/officeDocument/2006/relationships/chart" Target="../charts/chart1.xml"/><Relationship Id="rId4" Type="http://schemas.openxmlformats.org/officeDocument/2006/relationships/image" Target="../media/image73.png"/><Relationship Id="rId5" Type="http://schemas.openxmlformats.org/officeDocument/2006/relationships/image" Target="../media/image136.png"/><Relationship Id="rId6" Type="http://schemas.openxmlformats.org/officeDocument/2006/relationships/image" Target="../media/image32.png"/><Relationship Id="rId7" Type="http://schemas.openxmlformats.org/officeDocument/2006/relationships/image" Target="../media/image140.png"/><Relationship Id="rId8" Type="http://schemas.openxmlformats.org/officeDocument/2006/relationships/image" Target="../media/image3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19.png"/><Relationship Id="rId7" Type="http://schemas.openxmlformats.org/officeDocument/2006/relationships/image" Target="../media/image6.png"/><Relationship Id="rId8" Type="http://schemas.openxmlformats.org/officeDocument/2006/relationships/image" Target="../media/image3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7.xml"/><Relationship Id="rId3" Type="http://schemas.openxmlformats.org/officeDocument/2006/relationships/chart" Target="../charts/chart2.xml"/><Relationship Id="rId4" Type="http://schemas.openxmlformats.org/officeDocument/2006/relationships/image" Target="../media/image144.png"/><Relationship Id="rId5" Type="http://schemas.openxmlformats.org/officeDocument/2006/relationships/image" Target="../media/image141.png"/><Relationship Id="rId6" Type="http://schemas.openxmlformats.org/officeDocument/2006/relationships/image" Target="../media/image55.png"/><Relationship Id="rId7" Type="http://schemas.openxmlformats.org/officeDocument/2006/relationships/image" Target="../media/image14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6.png"/><Relationship Id="rId4" Type="http://schemas.openxmlformats.org/officeDocument/2006/relationships/image" Target="../media/image89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51.png"/><Relationship Id="rId4" Type="http://schemas.openxmlformats.org/officeDocument/2006/relationships/image" Target="../media/image90.png"/><Relationship Id="rId5" Type="http://schemas.openxmlformats.org/officeDocument/2006/relationships/image" Target="../media/image152.png"/><Relationship Id="rId6" Type="http://schemas.openxmlformats.org/officeDocument/2006/relationships/image" Target="../media/image153.png"/><Relationship Id="rId7" Type="http://schemas.openxmlformats.org/officeDocument/2006/relationships/image" Target="../media/image154.png"/><Relationship Id="rId8" Type="http://schemas.openxmlformats.org/officeDocument/2006/relationships/image" Target="../media/image3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5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56.png"/><Relationship Id="rId4" Type="http://schemas.openxmlformats.org/officeDocument/2006/relationships/image" Target="../media/image155.png"/><Relationship Id="rId5" Type="http://schemas.openxmlformats.org/officeDocument/2006/relationships/image" Target="../media/image82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2.png"/><Relationship Id="rId4" Type="http://schemas.openxmlformats.org/officeDocument/2006/relationships/image" Target="../media/image148.png"/><Relationship Id="rId5" Type="http://schemas.openxmlformats.org/officeDocument/2006/relationships/image" Target="../media/image115.png"/><Relationship Id="rId6" Type="http://schemas.openxmlformats.org/officeDocument/2006/relationships/image" Target="../media/image82.png"/><Relationship Id="rId7" Type="http://schemas.openxmlformats.org/officeDocument/2006/relationships/image" Target="../media/image157.png"/><Relationship Id="rId8" Type="http://schemas.openxmlformats.org/officeDocument/2006/relationships/image" Target="../media/image136.png"/><Relationship Id="rId9" Type="http://schemas.openxmlformats.org/officeDocument/2006/relationships/image" Target="../media/image8.png"/><Relationship Id="rId10" Type="http://schemas.openxmlformats.org/officeDocument/2006/relationships/image" Target="../media/image4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32.png"/><Relationship Id="rId6" Type="http://schemas.openxmlformats.org/officeDocument/2006/relationships/image" Target="../media/image15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514600"/>
            <a:ext cx="6035040" cy="1920240"/>
          </a:xfrm>
        </p:spPr>
        <p:txBody>
          <a:bodyPr wrap="square" lIns="0" tIns="0" rIns="0" bIns="0" anchor="ctr"/>
          <a:lstStyle/>
          <a:p>
            <a:pPr algn="l"/>
            <a:r>
              <a:rPr sz="4600" b="1">
                <a:solidFill>
                  <a:srgbClr val="2B2F42"/>
                </a:solidFill>
              </a:rPr>
              <a:t>AI＋数据平台</a:t>
            </a:r>
          </a:p>
          <a:p>
            <a:pPr algn="l">
              <a:spcBef>
                <a:spcPts val="800"/>
              </a:spcBef>
            </a:pPr>
            <a:r>
              <a:rPr sz="2200" b="1">
                <a:solidFill>
                  <a:srgbClr val="655BE6"/>
                </a:solidFill>
              </a:rPr>
              <a:t>把数据用起来，让 AI 帮我们干活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795528" y="5074920"/>
            <a:ext cx="5394960" cy="576072"/>
          </a:xfrm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数据可信 · 智能体快速落地 · 数据越用越准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票付通 · 内部汇报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6035040"/>
            <a:ext cx="975360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数据平台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44040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90928" y="6035040"/>
            <a:ext cx="1127760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智能体平台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64408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11296" y="603504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AI＋数据平台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一页说清：我们要做的三件事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数据是底子，智能体是抓手，两者打通才能越用越好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汇报要点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38044"/>
            <a:ext cx="3279648" cy="3337560"/>
          </a:xfrm>
          <a:prstGeom prst="roundRect">
            <a:avLst>
              <a:gd name="adj" fmla="val 390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638044"/>
            <a:ext cx="3279648" cy="1051560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461004"/>
            <a:ext cx="3279648" cy="228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477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01</a:t>
            </a:r>
          </a:p>
        </p:txBody>
      </p:sp>
      <p:pic>
        <p:nvPicPr>
          <p:cNvPr id="11" name="Picture 10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216" y="2820924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6968" y="3241548"/>
            <a:ext cx="28224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数据平台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6764"/>
            <a:ext cx="28224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655BE6"/>
                </a:solidFill>
              </a:rPr>
              <a:t>把数据理清、算准、管住</a:t>
            </a:r>
          </a:p>
        </p:txBody>
      </p:sp>
      <p:pic>
        <p:nvPicPr>
          <p:cNvPr id="14" name="Picture 1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38828"/>
            <a:ext cx="201168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9576" y="428396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定规矩、统一编号和口径</a:t>
            </a:r>
          </a:p>
        </p:txBody>
      </p:sp>
      <p:pic>
        <p:nvPicPr>
          <p:cNvPr id="16" name="Picture 1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750308"/>
            <a:ext cx="201168" cy="201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79576" y="469544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每天自动体检，错数拦在报表外</a:t>
            </a:r>
          </a:p>
        </p:txBody>
      </p:sp>
      <p:pic>
        <p:nvPicPr>
          <p:cNvPr id="18" name="Picture 1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161788"/>
            <a:ext cx="201168" cy="2011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79576" y="510692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订单、核销从第二天看到变成分钟级</a:t>
            </a:r>
          </a:p>
        </p:txBody>
      </p:sp>
      <p:pic>
        <p:nvPicPr>
          <p:cNvPr id="20" name="Picture 19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573268"/>
            <a:ext cx="201168" cy="2011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79576" y="551840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先做“订单 → 核销 → 结算”主线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20896" y="2638044"/>
            <a:ext cx="3279648" cy="3337560"/>
          </a:xfrm>
          <a:prstGeom prst="roundRect">
            <a:avLst>
              <a:gd name="adj" fmla="val 390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20896" y="2638044"/>
            <a:ext cx="3279648" cy="1051560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20896" y="3461004"/>
            <a:ext cx="3279648" cy="228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9496" y="27477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02</a:t>
            </a:r>
          </a:p>
        </p:txBody>
      </p:sp>
      <p:pic>
        <p:nvPicPr>
          <p:cNvPr id="26" name="Picture 25" descr="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744" y="2820924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49496" y="3241548"/>
            <a:ext cx="28224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智能体平台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9496" y="3826764"/>
            <a:ext cx="28224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655BE6"/>
                </a:solidFill>
              </a:rPr>
              <a:t>先借力卖起来，再自己建</a:t>
            </a:r>
          </a:p>
        </p:txBody>
      </p:sp>
      <p:pic>
        <p:nvPicPr>
          <p:cNvPr id="29" name="Picture 28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496" y="433882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642104" y="428396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借现成平台，几周做出来去卖</a:t>
            </a:r>
          </a:p>
        </p:txBody>
      </p:sp>
      <p:pic>
        <p:nvPicPr>
          <p:cNvPr id="31" name="Picture 3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496" y="4750308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2104" y="469544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标杆景区验证能卖、能赚钱</a:t>
            </a:r>
          </a:p>
        </p:txBody>
      </p:sp>
      <p:pic>
        <p:nvPicPr>
          <p:cNvPr id="33" name="Picture 3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496" y="5161788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642104" y="510692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跑通后按业态快速复制抢市场</a:t>
            </a:r>
          </a:p>
        </p:txBody>
      </p:sp>
      <p:pic>
        <p:nvPicPr>
          <p:cNvPr id="35" name="Picture 34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496" y="5573268"/>
            <a:ext cx="201168" cy="201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642104" y="551840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规模起来后自建，省钱、交付快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3424" y="2638044"/>
            <a:ext cx="3279648" cy="3337560"/>
          </a:xfrm>
          <a:prstGeom prst="roundRect">
            <a:avLst>
              <a:gd name="adj" fmla="val 390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83424" y="2638044"/>
            <a:ext cx="3279648" cy="1051560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83424" y="3461004"/>
            <a:ext cx="3279648" cy="228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2024" y="27477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03</a:t>
            </a:r>
          </a:p>
        </p:txBody>
      </p:sp>
      <p:pic>
        <p:nvPicPr>
          <p:cNvPr id="41" name="Picture 40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7272" y="2820924"/>
            <a:ext cx="457200" cy="4572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12024" y="3241548"/>
            <a:ext cx="28224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AI＋数据平台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2024" y="3826764"/>
            <a:ext cx="28224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655BE6"/>
                </a:solidFill>
              </a:rPr>
              <a:t>数据在公司里转起来</a:t>
            </a:r>
          </a:p>
        </p:txBody>
      </p:sp>
      <p:pic>
        <p:nvPicPr>
          <p:cNvPr id="44" name="Picture 4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24" y="4338828"/>
            <a:ext cx="201168" cy="2011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04632" y="428396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业务产生数据，平台统一整理</a:t>
            </a:r>
          </a:p>
        </p:txBody>
      </p:sp>
      <p:pic>
        <p:nvPicPr>
          <p:cNvPr id="46" name="Picture 4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24" y="4750308"/>
            <a:ext cx="201168" cy="20116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104632" y="469544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智能体和报表用同一套数</a:t>
            </a:r>
          </a:p>
        </p:txBody>
      </p:sp>
      <p:pic>
        <p:nvPicPr>
          <p:cNvPr id="48" name="Picture 4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24" y="5161788"/>
            <a:ext cx="201168" cy="20116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104632" y="510692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问答、评价、处置结果回流</a:t>
            </a:r>
          </a:p>
        </p:txBody>
      </p:sp>
      <p:pic>
        <p:nvPicPr>
          <p:cNvPr id="50" name="Picture 49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24" y="5573268"/>
            <a:ext cx="201168" cy="20116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104632" y="5518404"/>
            <a:ext cx="259384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反哺定价、营销、调度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6158484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0" rIns="182880" bIns="0"/>
          <a:lstStyle/>
          <a:p>
            <a:pPr algn="l"/>
            <a:r>
              <a:rPr sz="1400" b="1">
                <a:solidFill>
                  <a:srgbClr val="B4551A"/>
                </a:solidFill>
              </a:rPr>
              <a:t>需要您支持　</a:t>
            </a:r>
            <a:r>
              <a:rPr sz="1400" b="0">
                <a:solidFill>
                  <a:srgbClr val="2B2F42"/>
                </a:solidFill>
              </a:rPr>
              <a:t>口径由谁拍板 · 规范强制执行 · 标杆景区与销售配合 · 自建时点决策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776CFD"/>
                </a:solidFill>
              </a:rPr>
              <a:t>目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5074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C7C2FD"/>
                </a:solidFill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2286000"/>
            <a:ext cx="731520" cy="7315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12080" y="2286000"/>
            <a:ext cx="731520" cy="73152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26771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>
                <a:solidFill>
                  <a:srgbClr val="2B2F42"/>
                </a:solidFill>
              </a:rPr>
              <a:t>数据平台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697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>
                <a:solidFill>
                  <a:srgbClr val="5E6478"/>
                </a:solidFill>
              </a:rPr>
              <a:t>现状与问题 · 怎么建 · 怎么治理 · 建成后的变化</a:t>
            </a:r>
          </a:p>
        </p:txBody>
      </p:sp>
      <p:sp>
        <p:nvSpPr>
          <p:cNvPr id="8" name="Oval 7"/>
          <p:cNvSpPr/>
          <p:nvPr/>
        </p:nvSpPr>
        <p:spPr>
          <a:xfrm>
            <a:off x="5669280" y="3611880"/>
            <a:ext cx="731520" cy="7315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3611880"/>
            <a:ext cx="731520" cy="73152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59359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>
                <a:solidFill>
                  <a:srgbClr val="2B2F42"/>
                </a:solidFill>
              </a:rPr>
              <a:t>智能体平台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23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>
                <a:solidFill>
                  <a:srgbClr val="5E6478"/>
                </a:solidFill>
              </a:rPr>
              <a:t>能做什么 · 先验证 · 再复制 · 后自建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4937760"/>
            <a:ext cx="731520" cy="7315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12080" y="4937760"/>
            <a:ext cx="731520" cy="73152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91947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>
                <a:solidFill>
                  <a:srgbClr val="2B2F42"/>
                </a:solidFill>
              </a:rPr>
              <a:t>AI＋数据平台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349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>
                <a:solidFill>
                  <a:srgbClr val="5E6478"/>
                </a:solidFill>
              </a:rPr>
              <a:t>数据怎么流转 · 闭环 · 一个例子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数据平台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把数据理清、算准、管住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2057400"/>
          </a:xfrm>
          <a:prstGeom prst="roundRect">
            <a:avLst>
              <a:gd name="adj" fmla="val 6666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这一部分讲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现状与问题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手里的数据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怎么建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治理八件事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数据安全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怎么落地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建成后的变化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现状：工具基本齐了，每天的主流程也跑通了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已经花的钱都在用，接下来是在这个基础上补齐，而不是推倒重来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43200"/>
            <a:ext cx="2414016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2907792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7" y="3033522"/>
            <a:ext cx="251460" cy="251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889504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DataWorks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82112"/>
            <a:ext cx="154533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776CFD"/>
                </a:solidFill>
              </a:rPr>
              <a:t>数据加工“车间”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547872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E6478"/>
                </a:solidFill>
              </a:rPr>
              <a:t>已买：开发 · 调度 · 找数 · 管资产 · 出数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5264" y="2743200"/>
            <a:ext cx="2414016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38144" y="2907792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lu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74" y="3033522"/>
            <a:ext cx="251460" cy="2514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59936" y="2889504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动态数据开放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182112"/>
            <a:ext cx="154533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776CFD"/>
                </a:solidFill>
              </a:rPr>
              <a:t>对内对外的数据“窗口”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3547872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E6478"/>
                </a:solidFill>
              </a:rPr>
              <a:t>指标对内对外提供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743200"/>
            <a:ext cx="2414016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2907792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art-colum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770" y="3033522"/>
            <a:ext cx="251460" cy="2514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56832" y="2889504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小Q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3182112"/>
            <a:ext cx="154533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776CFD"/>
                </a:solidFill>
              </a:rPr>
              <a:t>看报表、做分析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547872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E6478"/>
                </a:solidFill>
              </a:rPr>
              <a:t>报表展示与 AI 问数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49056" y="2743200"/>
            <a:ext cx="2414016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31936" y="2907792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arehou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666" y="3033522"/>
            <a:ext cx="251460" cy="2514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53728" y="2889504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湖仓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182112"/>
            <a:ext cx="154533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776CFD"/>
                </a:solidFill>
              </a:rPr>
              <a:t>存数据的“仓库”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1936" y="3547872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E6478"/>
                </a:solidFill>
              </a:rPr>
              <a:t>部分模型已建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489704"/>
            <a:ext cx="54864" cy="219456"/>
          </a:xfrm>
          <a:prstGeom prst="roundRect">
            <a:avLst>
              <a:gd name="adj" fmla="val 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4165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已经跑通：每天凌晨自动跑一遍的“数据流水线”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2" y="441655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5E6478"/>
                </a:solidFill>
              </a:rPr>
              <a:t>供应商 / 游客 / 会员 → 订单 → 维度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873752"/>
            <a:ext cx="1792224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原料</a:t>
            </a:r>
          </a:p>
          <a:p>
            <a:pPr algn="ctr">
              <a:spcBef>
                <a:spcPts val="200"/>
              </a:spcBef>
            </a:pPr>
            <a:r>
              <a:rPr sz="1050" b="0">
                <a:solidFill>
                  <a:srgbClr val="5E6478"/>
                </a:solidFill>
              </a:rPr>
              <a:t>原样存一份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74520" y="4754880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655BE6"/>
                </a:solidFill>
              </a:rPr>
              <a:t>ODS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505456" y="5239512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761488" y="4873752"/>
            <a:ext cx="1792224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洗干净</a:t>
            </a:r>
          </a:p>
          <a:p>
            <a:pPr algn="ctr">
              <a:spcBef>
                <a:spcPts val="200"/>
              </a:spcBef>
            </a:pPr>
            <a:r>
              <a:rPr sz="1050" b="0">
                <a:solidFill>
                  <a:srgbClr val="5E6478"/>
                </a:solidFill>
              </a:rPr>
              <a:t>去重、补全、纠错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77640" y="4754880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655BE6"/>
                </a:solidFill>
              </a:rPr>
              <a:t>DWD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608576" y="5239512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864608" y="4873752"/>
            <a:ext cx="1792224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字典</a:t>
            </a:r>
          </a:p>
          <a:p>
            <a:pPr algn="ctr">
              <a:spcBef>
                <a:spcPts val="200"/>
              </a:spcBef>
            </a:pPr>
            <a:r>
              <a:rPr sz="1050" b="0">
                <a:solidFill>
                  <a:srgbClr val="5E6478"/>
                </a:solidFill>
              </a:rPr>
              <a:t>景区、商品等基础信息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4754880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655BE6"/>
                </a:solidFill>
              </a:rPr>
              <a:t>DIM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6711696" y="5239512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967728" y="4873752"/>
            <a:ext cx="1792224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汇总</a:t>
            </a:r>
          </a:p>
          <a:p>
            <a:pPr algn="ctr">
              <a:spcBef>
                <a:spcPts val="200"/>
              </a:spcBef>
            </a:pPr>
            <a:r>
              <a:rPr sz="1050" b="0">
                <a:solidFill>
                  <a:srgbClr val="5E6478"/>
                </a:solidFill>
              </a:rPr>
              <a:t>按天、按景区算好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83879" y="4754880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655BE6"/>
                </a:solidFill>
              </a:rPr>
              <a:t>DWS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8814816" y="5239512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70848" y="4873752"/>
            <a:ext cx="1792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成品</a:t>
            </a:r>
          </a:p>
          <a:p>
            <a:pPr algn="ctr">
              <a:spcBef>
                <a:spcPts val="200"/>
              </a:spcBef>
            </a:pPr>
            <a:r>
              <a:rPr sz="1050" b="0">
                <a:solidFill>
                  <a:srgbClr val="EEEDFF"/>
                </a:solidFill>
              </a:rPr>
              <a:t>报表、接口直接用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87000" y="4754880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655BE6"/>
                </a:solidFill>
              </a:rPr>
              <a:t>ADS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6016752"/>
            <a:ext cx="10204704" cy="603504"/>
          </a:xfrm>
          <a:prstGeom prst="roundRect">
            <a:avLst>
              <a:gd name="adj" fmla="val 15151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triangle-alert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7" y="6181344"/>
            <a:ext cx="274320" cy="2743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225295" y="6016752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还没建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21408" y="6181344"/>
            <a:ext cx="8768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0">
                <a:solidFill>
                  <a:srgbClr val="B4551A"/>
                </a:solidFill>
              </a:rPr>
              <a:t>实时数据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107944" y="6181344"/>
            <a:ext cx="11689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0">
                <a:solidFill>
                  <a:srgbClr val="B4551A"/>
                </a:solidFill>
              </a:rPr>
              <a:t>数据质量检查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86580" y="6181344"/>
            <a:ext cx="8768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0">
                <a:solidFill>
                  <a:srgbClr val="B4551A"/>
                </a:solidFill>
              </a:rPr>
              <a:t>统一标签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73116" y="6181344"/>
            <a:ext cx="11689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0">
                <a:solidFill>
                  <a:srgbClr val="B4551A"/>
                </a:solidFill>
              </a:rPr>
              <a:t>指标口径管理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51752" y="6181344"/>
            <a:ext cx="11689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0">
                <a:solidFill>
                  <a:srgbClr val="B4551A"/>
                </a:solidFill>
              </a:rPr>
              <a:t>数据规范落地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问题：六个平时真实遇到的麻烦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每一条都能在日常工作里找到例子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95728"/>
            <a:ext cx="10204704" cy="365760"/>
          </a:xfrm>
          <a:prstGeom prst="roundRect">
            <a:avLst>
              <a:gd name="adj" fmla="val 2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395728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39572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平时是什么样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7" y="2395728"/>
            <a:ext cx="32552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为什么会这样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16352"/>
            <a:ext cx="10204704" cy="548640"/>
          </a:xfrm>
          <a:prstGeom prst="roundRect">
            <a:avLst>
              <a:gd name="adj" fmla="val 1333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2907792"/>
            <a:ext cx="365760" cy="3657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999232"/>
            <a:ext cx="182880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2816352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数据散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281635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想看“售票 + 二消 + 结算”，要从 3 个以上系统导数、手工拼表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7" y="2816352"/>
            <a:ext cx="32552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5BE6"/>
                </a:solidFill>
              </a:rPr>
              <a:t>没有统一接入；景区、商品、渠道编号各系统不一样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10712"/>
            <a:ext cx="10204704" cy="548640"/>
          </a:xfrm>
          <a:prstGeom prst="roundRect">
            <a:avLst>
              <a:gd name="adj" fmla="val 1333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" y="3502152"/>
            <a:ext cx="365760" cy="3657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593592"/>
            <a:ext cx="182880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80160" y="3410712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一个数多个答案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2968" y="341071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同一天同一景区，看板、对账、接口三处“核销量”不一样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7" y="3410712"/>
            <a:ext cx="32552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5BE6"/>
                </a:solidFill>
              </a:rPr>
              <a:t>公司层面没有统一的指标定义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05072"/>
            <a:ext cx="10204704" cy="548640"/>
          </a:xfrm>
          <a:prstGeom prst="roundRect">
            <a:avLst>
              <a:gd name="adj" fmla="val 1333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8" y="4096511"/>
            <a:ext cx="365760" cy="3657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ile-tex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187951"/>
            <a:ext cx="182880" cy="182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0160" y="4005072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没规矩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2968" y="400507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表名随意、字段没说明、出了问题找不到负责人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4005072"/>
            <a:ext cx="32552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5BE6"/>
                </a:solidFill>
              </a:rPr>
              <a:t>规范只写在文档里，上线没有人卡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99432"/>
            <a:ext cx="10204704" cy="548640"/>
          </a:xfrm>
          <a:prstGeom prst="roundRect">
            <a:avLst>
              <a:gd name="adj" fmla="val 1333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5528" y="4690872"/>
            <a:ext cx="365760" cy="3657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repea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782312"/>
            <a:ext cx="182880" cy="182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80160" y="4599432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重复干活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2968" y="459943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订单宽表离线、湖仓各做一份，结果还对不上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7" y="4599432"/>
            <a:ext cx="32552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5BE6"/>
                </a:solidFill>
              </a:rPr>
              <a:t>没有统一的公共层，各做各的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93792"/>
            <a:ext cx="10204704" cy="548640"/>
          </a:xfrm>
          <a:prstGeom prst="roundRect">
            <a:avLst>
              <a:gd name="adj" fmla="val 1333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5528" y="5285232"/>
            <a:ext cx="365760" cy="3657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triangle-ale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5376672"/>
            <a:ext cx="182880" cy="1828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80160" y="5193792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数字不准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72968" y="519379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入园、核销和现场对不上，节假日更明显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7" y="5193792"/>
            <a:ext cx="32552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5BE6"/>
                </a:solidFill>
              </a:rPr>
              <a:t>补传、重复上报、撤销冲正、时间口径混用，缺逐层核对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88152"/>
            <a:ext cx="10204704" cy="548640"/>
          </a:xfrm>
          <a:prstGeom prst="roundRect">
            <a:avLst>
              <a:gd name="adj" fmla="val 13333"/>
            </a:avLst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5528" y="5879592"/>
            <a:ext cx="365760" cy="36576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hourglas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5971032"/>
            <a:ext cx="182880" cy="1828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80160" y="5788152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4551A"/>
                </a:solidFill>
              </a:rPr>
              <a:t>看得慢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72968" y="578815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高峰期订单、核销第二天才看到，预警靠人盯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16367" y="5788152"/>
            <a:ext cx="32552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4551A"/>
                </a:solidFill>
              </a:rPr>
              <a:t>只有每天跑一次的离线链路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649224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lightbul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6606540"/>
            <a:ext cx="274320" cy="2743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252728" y="649224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一句话　</a:t>
            </a:r>
            <a:r>
              <a:rPr sz="1300" b="0">
                <a:solidFill>
                  <a:srgbClr val="FFFFFF"/>
                </a:solidFill>
              </a:rPr>
              <a:t>前五个是“管理问题”，要系统治理；第六个是“能力缺口”，要补实时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五个问题看着分散，根子只有一个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07</a:t>
            </a:r>
          </a:p>
        </p:txBody>
      </p:sp>
      <p:grpSp>
        <p:nvGrpSpPr>
          <p:cNvPr id="21400" name="素材 31"/>
          <p:cNvGrpSpPr/>
          <p:nvPr/>
        </p:nvGrpSpPr>
        <p:grpSpPr>
          <a:xfrm>
            <a:off x="658368" y="2468880"/>
            <a:ext cx="6675120" cy="2766001"/>
            <a:chOff x="1728589" y="2236993"/>
            <a:chExt cx="7979490" cy="3306499"/>
          </a:xfrm>
        </p:grpSpPr>
        <p:grpSp>
          <p:nvGrpSpPr>
            <p:cNvPr id="21401" name="Group 20"/>
            <p:cNvGrpSpPr/>
            <p:nvPr/>
          </p:nvGrpSpPr>
          <p:grpSpPr>
            <a:xfrm>
              <a:off x="3240697" y="3115126"/>
              <a:ext cx="1942157" cy="1682741"/>
              <a:chOff x="3259138" y="2860907"/>
              <a:chExt cx="2222500" cy="1925638"/>
            </a:xfrm>
          </p:grpSpPr>
          <p:sp>
            <p:nvSpPr>
              <p:cNvPr id="21402" name="Freeform 6"/>
              <p:cNvSpPr/>
              <p:nvPr/>
            </p:nvSpPr>
            <p:spPr bwMode="auto">
              <a:xfrm>
                <a:off x="3259138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3" name="Freeform 15"/>
              <p:cNvSpPr>
                <a:spLocks noEditPoints="1"/>
              </p:cNvSpPr>
              <p:nvPr/>
            </p:nvSpPr>
            <p:spPr bwMode="auto">
              <a:xfrm>
                <a:off x="3387726" y="2970444"/>
                <a:ext cx="1966913" cy="1706563"/>
              </a:xfrm>
              <a:custGeom>
                <a:avLst/>
                <a:gdLst>
                  <a:gd name="T0" fmla="*/ 11 w 1239"/>
                  <a:gd name="T1" fmla="*/ 537 h 1075"/>
                  <a:gd name="T2" fmla="*/ 317 w 1239"/>
                  <a:gd name="T3" fmla="*/ 1066 h 1075"/>
                  <a:gd name="T4" fmla="*/ 924 w 1239"/>
                  <a:gd name="T5" fmla="*/ 1066 h 1075"/>
                  <a:gd name="T6" fmla="*/ 1227 w 1239"/>
                  <a:gd name="T7" fmla="*/ 537 h 1075"/>
                  <a:gd name="T8" fmla="*/ 924 w 1239"/>
                  <a:gd name="T9" fmla="*/ 9 h 1075"/>
                  <a:gd name="T10" fmla="*/ 317 w 1239"/>
                  <a:gd name="T11" fmla="*/ 9 h 1075"/>
                  <a:gd name="T12" fmla="*/ 11 w 1239"/>
                  <a:gd name="T13" fmla="*/ 537 h 1075"/>
                  <a:gd name="T14" fmla="*/ 11 w 1239"/>
                  <a:gd name="T15" fmla="*/ 537 h 1075"/>
                  <a:gd name="T16" fmla="*/ 0 w 1239"/>
                  <a:gd name="T17" fmla="*/ 537 h 1075"/>
                  <a:gd name="T18" fmla="*/ 309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09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1" y="537"/>
                    </a:moveTo>
                    <a:lnTo>
                      <a:pt x="317" y="1066"/>
                    </a:lnTo>
                    <a:lnTo>
                      <a:pt x="924" y="1066"/>
                    </a:lnTo>
                    <a:lnTo>
                      <a:pt x="1227" y="537"/>
                    </a:lnTo>
                    <a:lnTo>
                      <a:pt x="924" y="9"/>
                    </a:lnTo>
                    <a:lnTo>
                      <a:pt x="317" y="9"/>
                    </a:lnTo>
                    <a:lnTo>
                      <a:pt x="11" y="537"/>
                    </a:lnTo>
                    <a:lnTo>
                      <a:pt x="11" y="537"/>
                    </a:lnTo>
                    <a:close/>
                    <a:moveTo>
                      <a:pt x="0" y="537"/>
                    </a:moveTo>
                    <a:lnTo>
                      <a:pt x="309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09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04" name="Group 19"/>
            <p:cNvGrpSpPr/>
            <p:nvPr/>
          </p:nvGrpSpPr>
          <p:grpSpPr>
            <a:xfrm>
              <a:off x="1728589" y="2236993"/>
              <a:ext cx="1942157" cy="1686902"/>
              <a:chOff x="1528763" y="1856019"/>
              <a:chExt cx="2222500" cy="1930400"/>
            </a:xfrm>
          </p:grpSpPr>
          <p:sp>
            <p:nvSpPr>
              <p:cNvPr id="21405" name="Freeform 5"/>
              <p:cNvSpPr/>
              <p:nvPr/>
            </p:nvSpPr>
            <p:spPr bwMode="auto">
              <a:xfrm>
                <a:off x="1528763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6" name="Freeform 16"/>
              <p:cNvSpPr>
                <a:spLocks noEditPoints="1"/>
              </p:cNvSpPr>
              <p:nvPr/>
            </p:nvSpPr>
            <p:spPr bwMode="auto">
              <a:xfrm>
                <a:off x="1660526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07" name="Group 22"/>
            <p:cNvGrpSpPr/>
            <p:nvPr/>
          </p:nvGrpSpPr>
          <p:grpSpPr>
            <a:xfrm>
              <a:off x="6262137" y="3115126"/>
              <a:ext cx="1942157" cy="1682741"/>
              <a:chOff x="6716713" y="2860907"/>
              <a:chExt cx="2222500" cy="1925638"/>
            </a:xfrm>
          </p:grpSpPr>
          <p:sp>
            <p:nvSpPr>
              <p:cNvPr id="21408" name="Freeform 8"/>
              <p:cNvSpPr/>
              <p:nvPr/>
            </p:nvSpPr>
            <p:spPr bwMode="auto">
              <a:xfrm>
                <a:off x="6716713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9" name="Freeform 17"/>
              <p:cNvSpPr>
                <a:spLocks noEditPoints="1"/>
              </p:cNvSpPr>
              <p:nvPr/>
            </p:nvSpPr>
            <p:spPr bwMode="auto">
              <a:xfrm>
                <a:off x="6845301" y="2970444"/>
                <a:ext cx="1966913" cy="1706563"/>
              </a:xfrm>
              <a:custGeom>
                <a:avLst/>
                <a:gdLst>
                  <a:gd name="T0" fmla="*/ 12 w 1239"/>
                  <a:gd name="T1" fmla="*/ 537 h 1075"/>
                  <a:gd name="T2" fmla="*/ 314 w 1239"/>
                  <a:gd name="T3" fmla="*/ 1066 h 1075"/>
                  <a:gd name="T4" fmla="*/ 922 w 1239"/>
                  <a:gd name="T5" fmla="*/ 1066 h 1075"/>
                  <a:gd name="T6" fmla="*/ 1227 w 1239"/>
                  <a:gd name="T7" fmla="*/ 537 h 1075"/>
                  <a:gd name="T8" fmla="*/ 922 w 1239"/>
                  <a:gd name="T9" fmla="*/ 9 h 1075"/>
                  <a:gd name="T10" fmla="*/ 314 w 1239"/>
                  <a:gd name="T11" fmla="*/ 9 h 1075"/>
                  <a:gd name="T12" fmla="*/ 12 w 1239"/>
                  <a:gd name="T13" fmla="*/ 537 h 1075"/>
                  <a:gd name="T14" fmla="*/ 12 w 1239"/>
                  <a:gd name="T15" fmla="*/ 537 h 1075"/>
                  <a:gd name="T16" fmla="*/ 0 w 1239"/>
                  <a:gd name="T17" fmla="*/ 537 h 1075"/>
                  <a:gd name="T18" fmla="*/ 310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10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2" y="537"/>
                    </a:moveTo>
                    <a:lnTo>
                      <a:pt x="314" y="1066"/>
                    </a:lnTo>
                    <a:lnTo>
                      <a:pt x="922" y="1066"/>
                    </a:lnTo>
                    <a:lnTo>
                      <a:pt x="1227" y="537"/>
                    </a:lnTo>
                    <a:lnTo>
                      <a:pt x="922" y="9"/>
                    </a:lnTo>
                    <a:lnTo>
                      <a:pt x="314" y="9"/>
                    </a:lnTo>
                    <a:lnTo>
                      <a:pt x="12" y="537"/>
                    </a:lnTo>
                    <a:lnTo>
                      <a:pt x="12" y="537"/>
                    </a:lnTo>
                    <a:close/>
                    <a:moveTo>
                      <a:pt x="0" y="537"/>
                    </a:moveTo>
                    <a:lnTo>
                      <a:pt x="310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10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0" name="Group 21"/>
            <p:cNvGrpSpPr/>
            <p:nvPr/>
          </p:nvGrpSpPr>
          <p:grpSpPr>
            <a:xfrm>
              <a:off x="4750030" y="2236993"/>
              <a:ext cx="1942157" cy="1686902"/>
              <a:chOff x="4986338" y="1856019"/>
              <a:chExt cx="2222500" cy="1930400"/>
            </a:xfrm>
          </p:grpSpPr>
          <p:sp>
            <p:nvSpPr>
              <p:cNvPr id="21411" name="Freeform 7"/>
              <p:cNvSpPr/>
              <p:nvPr/>
            </p:nvSpPr>
            <p:spPr bwMode="auto">
              <a:xfrm>
                <a:off x="4986338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2" name="Freeform 18"/>
              <p:cNvSpPr>
                <a:spLocks noEditPoints="1"/>
              </p:cNvSpPr>
              <p:nvPr/>
            </p:nvSpPr>
            <p:spPr bwMode="auto">
              <a:xfrm>
                <a:off x="5118101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3" name="Group 23"/>
            <p:cNvGrpSpPr/>
            <p:nvPr/>
          </p:nvGrpSpPr>
          <p:grpSpPr>
            <a:xfrm>
              <a:off x="7764535" y="2236993"/>
              <a:ext cx="1943544" cy="1686902"/>
              <a:chOff x="8435976" y="1856019"/>
              <a:chExt cx="2224088" cy="1930400"/>
            </a:xfrm>
          </p:grpSpPr>
          <p:sp>
            <p:nvSpPr>
              <p:cNvPr id="21414" name="Freeform 9"/>
              <p:cNvSpPr/>
              <p:nvPr/>
            </p:nvSpPr>
            <p:spPr bwMode="auto">
              <a:xfrm>
                <a:off x="8435976" y="1856019"/>
                <a:ext cx="2224088" cy="1930400"/>
              </a:xfrm>
              <a:custGeom>
                <a:avLst/>
                <a:gdLst>
                  <a:gd name="T0" fmla="*/ 0 w 1401"/>
                  <a:gd name="T1" fmla="*/ 609 h 1216"/>
                  <a:gd name="T2" fmla="*/ 351 w 1401"/>
                  <a:gd name="T3" fmla="*/ 1216 h 1216"/>
                  <a:gd name="T4" fmla="*/ 1051 w 1401"/>
                  <a:gd name="T5" fmla="*/ 1216 h 1216"/>
                  <a:gd name="T6" fmla="*/ 1401 w 1401"/>
                  <a:gd name="T7" fmla="*/ 609 h 1216"/>
                  <a:gd name="T8" fmla="*/ 1051 w 1401"/>
                  <a:gd name="T9" fmla="*/ 0 h 1216"/>
                  <a:gd name="T10" fmla="*/ 351 w 1401"/>
                  <a:gd name="T11" fmla="*/ 0 h 1216"/>
                  <a:gd name="T12" fmla="*/ 0 w 1401"/>
                  <a:gd name="T13" fmla="*/ 609 h 1216"/>
                  <a:gd name="T14" fmla="*/ 0 w 1401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1" h="1216">
                    <a:moveTo>
                      <a:pt x="0" y="609"/>
                    </a:moveTo>
                    <a:lnTo>
                      <a:pt x="351" y="1216"/>
                    </a:lnTo>
                    <a:lnTo>
                      <a:pt x="1051" y="1216"/>
                    </a:lnTo>
                    <a:lnTo>
                      <a:pt x="1401" y="609"/>
                    </a:lnTo>
                    <a:lnTo>
                      <a:pt x="1051" y="0"/>
                    </a:lnTo>
                    <a:lnTo>
                      <a:pt x="351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5" name="Freeform 19"/>
              <p:cNvSpPr>
                <a:spLocks noEditPoints="1"/>
              </p:cNvSpPr>
              <p:nvPr/>
            </p:nvSpPr>
            <p:spPr bwMode="auto">
              <a:xfrm>
                <a:off x="8567738" y="1968732"/>
                <a:ext cx="1963738" cy="1704975"/>
              </a:xfrm>
              <a:custGeom>
                <a:avLst/>
                <a:gdLst>
                  <a:gd name="T0" fmla="*/ 10 w 1237"/>
                  <a:gd name="T1" fmla="*/ 538 h 1074"/>
                  <a:gd name="T2" fmla="*/ 315 w 1237"/>
                  <a:gd name="T3" fmla="*/ 1064 h 1074"/>
                  <a:gd name="T4" fmla="*/ 923 w 1237"/>
                  <a:gd name="T5" fmla="*/ 1064 h 1074"/>
                  <a:gd name="T6" fmla="*/ 1225 w 1237"/>
                  <a:gd name="T7" fmla="*/ 538 h 1074"/>
                  <a:gd name="T8" fmla="*/ 923 w 1237"/>
                  <a:gd name="T9" fmla="*/ 10 h 1074"/>
                  <a:gd name="T10" fmla="*/ 315 w 1237"/>
                  <a:gd name="T11" fmla="*/ 10 h 1074"/>
                  <a:gd name="T12" fmla="*/ 10 w 1237"/>
                  <a:gd name="T13" fmla="*/ 538 h 1074"/>
                  <a:gd name="T14" fmla="*/ 10 w 1237"/>
                  <a:gd name="T15" fmla="*/ 538 h 1074"/>
                  <a:gd name="T16" fmla="*/ 0 w 1237"/>
                  <a:gd name="T17" fmla="*/ 538 h 1074"/>
                  <a:gd name="T18" fmla="*/ 310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10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10" y="538"/>
                    </a:moveTo>
                    <a:lnTo>
                      <a:pt x="315" y="1064"/>
                    </a:lnTo>
                    <a:lnTo>
                      <a:pt x="923" y="1064"/>
                    </a:lnTo>
                    <a:lnTo>
                      <a:pt x="1225" y="538"/>
                    </a:lnTo>
                    <a:lnTo>
                      <a:pt x="923" y="10"/>
                    </a:lnTo>
                    <a:lnTo>
                      <a:pt x="315" y="10"/>
                    </a:lnTo>
                    <a:lnTo>
                      <a:pt x="10" y="538"/>
                    </a:lnTo>
                    <a:lnTo>
                      <a:pt x="10" y="538"/>
                    </a:lnTo>
                    <a:close/>
                    <a:moveTo>
                      <a:pt x="0" y="538"/>
                    </a:moveTo>
                    <a:lnTo>
                      <a:pt x="310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10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1416" name="Straight Connector 31"/>
            <p:cNvCxnSpPr/>
            <p:nvPr/>
          </p:nvCxnSpPr>
          <p:spPr>
            <a:xfrm>
              <a:off x="2699430" y="4160210"/>
              <a:ext cx="0" cy="541936"/>
            </a:xfrm>
            <a:prstGeom prst="line">
              <a:avLst/>
            </a:prstGeom>
            <a:ln w="28575">
              <a:solidFill>
                <a:srgbClr val="776CFD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7" name="Straight Connector 34"/>
            <p:cNvCxnSpPr/>
            <p:nvPr/>
          </p:nvCxnSpPr>
          <p:spPr>
            <a:xfrm>
              <a:off x="5710829" y="4160210"/>
              <a:ext cx="0" cy="541936"/>
            </a:xfrm>
            <a:prstGeom prst="line">
              <a:avLst/>
            </a:prstGeom>
            <a:ln w="28575">
              <a:solidFill>
                <a:srgbClr val="655BE6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8" name="Straight Connector 35"/>
            <p:cNvCxnSpPr/>
            <p:nvPr/>
          </p:nvCxnSpPr>
          <p:spPr>
            <a:xfrm>
              <a:off x="8736307" y="4160210"/>
              <a:ext cx="0" cy="541936"/>
            </a:xfrm>
            <a:prstGeom prst="line">
              <a:avLst/>
            </a:prstGeom>
            <a:ln w="28575">
              <a:solidFill>
                <a:srgbClr val="6C95FD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9" name="Straight Connector 36"/>
            <p:cNvCxnSpPr/>
            <p:nvPr/>
          </p:nvCxnSpPr>
          <p:spPr>
            <a:xfrm>
              <a:off x="4208750" y="5001556"/>
              <a:ext cx="0" cy="541936"/>
            </a:xfrm>
            <a:prstGeom prst="line">
              <a:avLst/>
            </a:prstGeom>
            <a:ln w="28575">
              <a:solidFill>
                <a:srgbClr val="5D95F1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20" name="Straight Connector 37"/>
            <p:cNvCxnSpPr/>
            <p:nvPr/>
          </p:nvCxnSpPr>
          <p:spPr>
            <a:xfrm>
              <a:off x="7233909" y="5001556"/>
              <a:ext cx="0" cy="541936"/>
            </a:xfrm>
            <a:prstGeom prst="line">
              <a:avLst/>
            </a:prstGeom>
            <a:ln w="28575">
              <a:solidFill>
                <a:srgbClr val="F08A3C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</p:grpSp>
      <p:pic>
        <p:nvPicPr>
          <p:cNvPr id="21421" name="Picture 21420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710" y="2791314"/>
            <a:ext cx="402336" cy="402336"/>
          </a:xfrm>
          <a:prstGeom prst="rect">
            <a:avLst/>
          </a:prstGeom>
        </p:spPr>
      </p:pic>
      <p:sp>
        <p:nvSpPr>
          <p:cNvPr id="21422" name="TextBox 21421"/>
          <p:cNvSpPr txBox="1"/>
          <p:nvPr/>
        </p:nvSpPr>
        <p:spPr>
          <a:xfrm>
            <a:off x="645918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数据散</a:t>
            </a:r>
          </a:p>
        </p:txBody>
      </p:sp>
      <p:sp>
        <p:nvSpPr>
          <p:cNvPr id="21423" name="TextBox 21422"/>
          <p:cNvSpPr txBox="1"/>
          <p:nvPr/>
        </p:nvSpPr>
        <p:spPr>
          <a:xfrm>
            <a:off x="554478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编号不统一</a:t>
            </a:r>
          </a:p>
        </p:txBody>
      </p:sp>
      <p:pic>
        <p:nvPicPr>
          <p:cNvPr id="21424" name="Picture 21423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840" y="3525645"/>
            <a:ext cx="402336" cy="402336"/>
          </a:xfrm>
          <a:prstGeom prst="rect">
            <a:avLst/>
          </a:prstGeom>
        </p:spPr>
      </p:pic>
      <p:sp>
        <p:nvSpPr>
          <p:cNvPr id="21425" name="TextBox 21424"/>
          <p:cNvSpPr txBox="1"/>
          <p:nvPr/>
        </p:nvSpPr>
        <p:spPr>
          <a:xfrm>
            <a:off x="1908048" y="398284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口径不一</a:t>
            </a:r>
          </a:p>
        </p:txBody>
      </p:sp>
      <p:sp>
        <p:nvSpPr>
          <p:cNvPr id="21426" name="TextBox 21425"/>
          <p:cNvSpPr txBox="1"/>
          <p:nvPr/>
        </p:nvSpPr>
        <p:spPr>
          <a:xfrm>
            <a:off x="1816608" y="5287881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没有统一定义</a:t>
            </a:r>
          </a:p>
        </p:txBody>
      </p:sp>
      <p:pic>
        <p:nvPicPr>
          <p:cNvPr id="21427" name="Picture 21426" descr="file-tex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970" y="2791314"/>
            <a:ext cx="402336" cy="402336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3170178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没规矩</a:t>
            </a:r>
          </a:p>
        </p:txBody>
      </p:sp>
      <p:sp>
        <p:nvSpPr>
          <p:cNvPr id="21429" name="TextBox 21428"/>
          <p:cNvSpPr txBox="1"/>
          <p:nvPr/>
        </p:nvSpPr>
        <p:spPr>
          <a:xfrm>
            <a:off x="3078738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规范没人卡</a:t>
            </a:r>
          </a:p>
        </p:txBody>
      </p:sp>
      <p:pic>
        <p:nvPicPr>
          <p:cNvPr id="21430" name="Picture 21429" descr="repea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750" y="3525645"/>
            <a:ext cx="402336" cy="402336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4439958" y="398284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重复干活</a:t>
            </a:r>
          </a:p>
        </p:txBody>
      </p:sp>
      <p:sp>
        <p:nvSpPr>
          <p:cNvPr id="21432" name="TextBox 21431"/>
          <p:cNvSpPr txBox="1"/>
          <p:nvPr/>
        </p:nvSpPr>
        <p:spPr>
          <a:xfrm>
            <a:off x="4348518" y="5287881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没有公共层</a:t>
            </a:r>
          </a:p>
        </p:txBody>
      </p:sp>
      <p:pic>
        <p:nvPicPr>
          <p:cNvPr id="21433" name="Picture 21432" descr="triangle-ale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0055" y="2791314"/>
            <a:ext cx="402336" cy="402336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5698263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数字不准</a:t>
            </a:r>
          </a:p>
        </p:txBody>
      </p:sp>
      <p:sp>
        <p:nvSpPr>
          <p:cNvPr id="21435" name="TextBox 21434"/>
          <p:cNvSpPr txBox="1"/>
          <p:nvPr/>
        </p:nvSpPr>
        <p:spPr>
          <a:xfrm>
            <a:off x="5606823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缺逐层核对</a:t>
            </a:r>
          </a:p>
        </p:txBody>
      </p:sp>
      <p:sp>
        <p:nvSpPr>
          <p:cNvPr id="21436" name="Right Arrow 21435"/>
          <p:cNvSpPr/>
          <p:nvPr/>
        </p:nvSpPr>
        <p:spPr>
          <a:xfrm>
            <a:off x="7470648" y="3520440"/>
            <a:ext cx="384048" cy="329184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7" name="Rounded Rectangle 21436"/>
          <p:cNvSpPr/>
          <p:nvPr/>
        </p:nvSpPr>
        <p:spPr>
          <a:xfrm>
            <a:off x="8001000" y="2468880"/>
            <a:ext cx="2862072" cy="2514600"/>
          </a:xfrm>
          <a:prstGeom prst="roundRect">
            <a:avLst>
              <a:gd name="adj" fmla="val 509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8" name="TextBox 21437"/>
          <p:cNvSpPr txBox="1"/>
          <p:nvPr/>
        </p:nvSpPr>
        <p:spPr>
          <a:xfrm>
            <a:off x="8275320" y="2606040"/>
            <a:ext cx="24048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E4E2FF"/>
                </a:solidFill>
              </a:rPr>
              <a:t>根子</a:t>
            </a:r>
          </a:p>
        </p:txBody>
      </p:sp>
      <p:sp>
        <p:nvSpPr>
          <p:cNvPr id="21439" name="TextBox 21438"/>
          <p:cNvSpPr txBox="1"/>
          <p:nvPr/>
        </p:nvSpPr>
        <p:spPr>
          <a:xfrm>
            <a:off x="8275320" y="2971800"/>
            <a:ext cx="2404872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FFFFFF"/>
                </a:solidFill>
              </a:rPr>
              <a:t>缺少统一的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2100" b="1">
                <a:solidFill>
                  <a:srgbClr val="FFFFFF"/>
                </a:solidFill>
              </a:rPr>
              <a:t>标准、模型、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2100" b="1">
                <a:solidFill>
                  <a:srgbClr val="FFFFFF"/>
                </a:solidFill>
              </a:rPr>
              <a:t>口径和检查</a:t>
            </a:r>
          </a:p>
        </p:txBody>
      </p:sp>
      <p:sp>
        <p:nvSpPr>
          <p:cNvPr id="21440" name="TextBox 21439"/>
          <p:cNvSpPr txBox="1"/>
          <p:nvPr/>
        </p:nvSpPr>
        <p:spPr>
          <a:xfrm>
            <a:off x="8275320" y="4343400"/>
            <a:ext cx="240487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FFE2C8"/>
                </a:solidFill>
              </a:rPr>
              <a:t>→ 要体系化治理，不能修修补补</a:t>
            </a:r>
          </a:p>
        </p:txBody>
      </p:sp>
      <p:sp>
        <p:nvSpPr>
          <p:cNvPr id="21441" name="Rounded Rectangle 21440"/>
          <p:cNvSpPr/>
          <p:nvPr/>
        </p:nvSpPr>
        <p:spPr>
          <a:xfrm>
            <a:off x="8001000" y="5166360"/>
            <a:ext cx="2862072" cy="914400"/>
          </a:xfrm>
          <a:prstGeom prst="roundRect">
            <a:avLst>
              <a:gd name="adj" fmla="val 12000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42" name="Picture 21441" descr="hourglass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79" y="5321808"/>
            <a:ext cx="274320" cy="274320"/>
          </a:xfrm>
          <a:prstGeom prst="rect">
            <a:avLst/>
          </a:prstGeom>
        </p:spPr>
      </p:pic>
      <p:sp>
        <p:nvSpPr>
          <p:cNvPr id="21443" name="TextBox 21442"/>
          <p:cNvSpPr txBox="1"/>
          <p:nvPr/>
        </p:nvSpPr>
        <p:spPr>
          <a:xfrm>
            <a:off x="8549640" y="5230368"/>
            <a:ext cx="222199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“看得慢”另算</a:t>
            </a:r>
          </a:p>
        </p:txBody>
      </p:sp>
      <p:sp>
        <p:nvSpPr>
          <p:cNvPr id="21444" name="TextBox 21443"/>
          <p:cNvSpPr txBox="1"/>
          <p:nvPr/>
        </p:nvSpPr>
        <p:spPr>
          <a:xfrm>
            <a:off x="8549640" y="5559552"/>
            <a:ext cx="222199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2B2F42"/>
                </a:solidFill>
              </a:rPr>
              <a:t>是能力缺口：在统一模型上补实时</a:t>
            </a:r>
          </a:p>
        </p:txBody>
      </p:sp>
      <p:sp>
        <p:nvSpPr>
          <p:cNvPr id="21445" name="Rounded Rectangle 21444"/>
          <p:cNvSpPr/>
          <p:nvPr/>
        </p:nvSpPr>
        <p:spPr>
          <a:xfrm>
            <a:off x="658368" y="635508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46" name="Picture 21445" descr="lightbul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6469380"/>
            <a:ext cx="274320" cy="274320"/>
          </a:xfrm>
          <a:prstGeom prst="rect">
            <a:avLst/>
          </a:prstGeom>
        </p:spPr>
      </p:pic>
      <p:sp>
        <p:nvSpPr>
          <p:cNvPr id="21447" name="TextBox 21446"/>
          <p:cNvSpPr txBox="1"/>
          <p:nvPr/>
        </p:nvSpPr>
        <p:spPr>
          <a:xfrm>
            <a:off x="1252728" y="635508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所以　</a:t>
            </a:r>
            <a:r>
              <a:rPr sz="1300" b="0">
                <a:solidFill>
                  <a:srgbClr val="FFFFFF"/>
                </a:solidFill>
              </a:rPr>
              <a:t>单点修补会反复出现：这次对平了核销量，下次换个指标又对不上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我们手里有什么数据：按业务分成 8 大块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数据按“数据域 → 主题”分门别类，像图书馆分区一样好找、好管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43200"/>
            <a:ext cx="2414016" cy="1481328"/>
          </a:xfrm>
          <a:prstGeom prst="roundRect">
            <a:avLst>
              <a:gd name="adj" fmla="val 7407"/>
            </a:avLst>
          </a:prstGeom>
          <a:solidFill>
            <a:srgbClr val="F3F2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2907792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ip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59" y="3022092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2889504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交易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54680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订单、票务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93008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655BE6"/>
                </a:solidFill>
              </a:rPr>
              <a:t>订单数 · 销售额 · 核销次数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38404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敏感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3840480"/>
            <a:ext cx="654558" cy="23774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 w="952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FFFFFF"/>
                </a:solidFill>
              </a:rPr>
              <a:t>已入仓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5264" y="2743200"/>
            <a:ext cx="2414016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9856" y="2907792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ackag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156" y="3022092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68496" y="2889504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商品与资源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3154680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产品、库存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3493008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655BE6"/>
                </a:solidFill>
              </a:rPr>
              <a:t>售罄率 · 库存余量 · 热销产品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38404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6C9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内部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78224" y="3840480"/>
            <a:ext cx="7752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76CFD"/>
                </a:solidFill>
              </a:rPr>
              <a:t>部分入仓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743200"/>
            <a:ext cx="2414016" cy="1481328"/>
          </a:xfrm>
          <a:prstGeom prst="roundRect">
            <a:avLst>
              <a:gd name="adj" fmla="val 7407"/>
            </a:avLst>
          </a:prstGeom>
          <a:solidFill>
            <a:srgbClr val="F3F2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16752" y="2907792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052" y="3022092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65392" y="2889504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用户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154680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游客、会员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6752" y="3493008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655BE6"/>
                </a:solidFill>
              </a:rPr>
              <a:t>会员等级 · 复购倾向 · 出游偏好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16752" y="38404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高敏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840480"/>
            <a:ext cx="654558" cy="23774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 w="952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FFFFFF"/>
                </a:solidFill>
              </a:rPr>
              <a:t>已入仓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9056" y="2743200"/>
            <a:ext cx="2414016" cy="1481328"/>
          </a:xfrm>
          <a:prstGeom prst="roundRect">
            <a:avLst>
              <a:gd name="adj" fmla="val 7407"/>
            </a:avLst>
          </a:prstGeom>
          <a:solidFill>
            <a:srgbClr val="F3F2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2907792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handshak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7948" y="3022092"/>
            <a:ext cx="228600" cy="228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62288" y="2889504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合作方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3154680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供应商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3493008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655BE6"/>
                </a:solidFill>
              </a:rPr>
              <a:t>履约率 · 结算周期 · 供应商等级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13648" y="38404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敏感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72016" y="3840480"/>
            <a:ext cx="654558" cy="23774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 w="952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FFFFFF"/>
                </a:solidFill>
              </a:rPr>
              <a:t>已入仓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407408"/>
            <a:ext cx="2414016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2959" y="457200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megapho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59" y="4686300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71600" y="455371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流量营销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818888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渠道、活动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5157216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655BE6"/>
                </a:solidFill>
              </a:rPr>
              <a:t>渠道转化率 · 活动回报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59" y="55046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敏感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81328" y="5504688"/>
            <a:ext cx="7752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76CFD"/>
                </a:solidFill>
              </a:rPr>
              <a:t>部分入仓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55264" y="4407408"/>
            <a:ext cx="2414016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19856" y="457200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ctivity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4156" y="4686300"/>
            <a:ext cx="228600" cy="2286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968496" y="455371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运营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68496" y="4818888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日常运营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19856" y="5157216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655BE6"/>
                </a:solidFill>
              </a:rPr>
              <a:t>房态占用率 · 准点率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19856" y="55046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6C9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内部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078224" y="5504688"/>
            <a:ext cx="7752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76CFD"/>
                </a:solidFill>
              </a:rPr>
              <a:t>部分入仓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52160" y="4407408"/>
            <a:ext cx="2414016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16752" y="457200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walle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1052" y="4686300"/>
            <a:ext cx="228600" cy="2286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565392" y="455371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财务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65392" y="4818888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结算、对账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16752" y="5157216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655BE6"/>
                </a:solidFill>
              </a:rPr>
              <a:t>应结 / 已结金额 · 对账差异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16752" y="55046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敏感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75120" y="5504688"/>
            <a:ext cx="7752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76CFD"/>
                </a:solidFill>
              </a:rPr>
              <a:t>部分入仓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49056" y="4407408"/>
            <a:ext cx="2414016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613648" y="457200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setting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7948" y="4686300"/>
            <a:ext cx="228600" cy="2286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162288" y="455371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内部管理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62288" y="4818888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内部系统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13648" y="5157216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655BE6"/>
                </a:solidFill>
              </a:rPr>
              <a:t>任务运行 · 存储计算成本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13648" y="55046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6C9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</a:rPr>
              <a:t>内部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72016" y="5504688"/>
            <a:ext cx="7752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76CFD"/>
                </a:solidFill>
              </a:rPr>
              <a:t>部分入仓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58368" y="6053328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655BE6"/>
                </a:solidFill>
              </a:rPr>
              <a:t>待补　</a:t>
            </a:r>
            <a:r>
              <a:rPr sz="1250" b="0">
                <a:solidFill>
                  <a:srgbClr val="2B2F42"/>
                </a:solidFill>
              </a:rPr>
              <a:t>现场设备、外部数据、AI 产生的数据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852160" y="6053328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B4551A"/>
                </a:solidFill>
              </a:rPr>
              <a:t>难点　</a:t>
            </a:r>
            <a:r>
              <a:rPr sz="1250" b="0">
                <a:solidFill>
                  <a:srgbClr val="2B2F42"/>
                </a:solidFill>
              </a:rPr>
              <a:t>节假日高峰、状态多变、离线补传、多景区隔离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怎么建：六层搭起来，治理管全程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从下往上：数据从哪来 → 存到哪 → 算成什么 → 怎么给出去 → AI 怎么用 → 谁在用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0028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应用与服务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EEEDFF"/>
                </a:solidFill>
              </a:rPr>
              <a:t>谁在用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4327" y="2510028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内部经营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2510028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景区运营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76088" y="2510028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伙伴接入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1968" y="2510028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行业报告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7848" y="2510028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数据产品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17754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能力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EEEDFF"/>
                </a:solidFill>
              </a:rPr>
              <a:t>让 AI 能用数据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4327" y="3177540"/>
            <a:ext cx="156591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模型服务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1678" y="3177540"/>
            <a:ext cx="156591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知识服务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39028" y="3177540"/>
            <a:ext cx="156591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工具服务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96378" y="3177540"/>
            <a:ext cx="156591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评测运营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45052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数据服务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EEEDFF"/>
                </a:solidFill>
              </a:rPr>
              <a:t>对外的窗口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24327" y="3845052"/>
            <a:ext cx="1565910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动态数据开放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1678" y="3845052"/>
            <a:ext cx="156591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指标服务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39028" y="3845052"/>
            <a:ext cx="156591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标签服务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96378" y="3845052"/>
            <a:ext cx="156591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一键接入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12564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指标与分析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EEEDFF"/>
                </a:solidFill>
              </a:rPr>
              <a:t>算好的数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24327" y="4512564"/>
            <a:ext cx="156591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企业标准指标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81678" y="4512564"/>
            <a:ext cx="156591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景区自定义指标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39028" y="4512564"/>
            <a:ext cx="156591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统一标签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96378" y="4512564"/>
            <a:ext cx="1565910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小Q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180076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统一底座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EEEDFF"/>
                </a:solidFill>
              </a:rPr>
              <a:t>仓库与车间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24327" y="5180076"/>
            <a:ext cx="1234440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DataWorks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50208" y="5180076"/>
            <a:ext cx="1234440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离线主流程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76088" y="5180076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01968" y="5180076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湖仓存储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27848" y="5180076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公共模型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847588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数据来源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EEEDFF"/>
                </a:solidFill>
              </a:rPr>
              <a:t>数据从哪来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24327" y="5847588"/>
            <a:ext cx="737235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票务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53002" y="5847588"/>
            <a:ext cx="737235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订单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81677" y="5847588"/>
            <a:ext cx="737235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小程序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0352" y="5847588"/>
            <a:ext cx="737235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39027" y="5847588"/>
            <a:ext cx="737235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营销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67702" y="5847588"/>
            <a:ext cx="737235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渠道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96377" y="5847588"/>
            <a:ext cx="737235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设备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25053" y="5847588"/>
            <a:ext cx="737235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外部数据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45167" y="2510028"/>
            <a:ext cx="1517904" cy="3904487"/>
          </a:xfrm>
          <a:prstGeom prst="roundRect">
            <a:avLst>
              <a:gd name="adj" fmla="val 8433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hiel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2692908"/>
            <a:ext cx="384048" cy="3840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546336" y="3150108"/>
            <a:ext cx="115214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数据治理</a:t>
            </a:r>
          </a:p>
          <a:p>
            <a:pPr algn="l"/>
            <a:r>
              <a:rPr sz="1600" b="1">
                <a:solidFill>
                  <a:srgbClr val="FFFFFF"/>
                </a:solidFill>
              </a:rPr>
              <a:t>贯穿每一层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927348"/>
            <a:ext cx="1152144" cy="2560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EEDFF"/>
                </a:solidFill>
              </a:rPr>
              <a:t>定规矩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EEEDFF"/>
                </a:solidFill>
              </a:rPr>
              <a:t>统一编号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EEEDFF"/>
                </a:solidFill>
              </a:rPr>
              <a:t>数据家谱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EEEDFF"/>
                </a:solidFill>
              </a:rPr>
              <a:t>每天体检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EEEDFF"/>
                </a:solidFill>
              </a:rPr>
              <a:t>统一口径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EEEDFF"/>
                </a:solidFill>
              </a:rPr>
              <a:t>管好权限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EEEDFF"/>
                </a:solidFill>
              </a:rPr>
              <a:t>定期大扫除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6579107"/>
            <a:ext cx="924560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已经有的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92656" y="6579107"/>
            <a:ext cx="122631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55BE6"/>
                </a:solidFill>
              </a:rPr>
              <a:t>要新建 / 升级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11576" y="6579107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思路：统一标准，治理写进研发流程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在已有工具上补齐：能不买的先不买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七类能力，分清哪些已有、哪些升级、哪些新建；没买的模块先用省钱的办法顶上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95728"/>
            <a:ext cx="6720840" cy="384048"/>
          </a:xfrm>
          <a:prstGeom prst="roundRect">
            <a:avLst>
              <a:gd name="adj" fmla="val 19047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9572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2395728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已有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2395728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39572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新建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25496"/>
            <a:ext cx="6720840" cy="457200"/>
          </a:xfrm>
          <a:prstGeom prst="roundRect">
            <a:avLst>
              <a:gd name="adj" fmla="val 12000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82549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B2F42"/>
                </a:solidFill>
              </a:rPr>
              <a:t>数据集成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7" y="2825496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55BE6"/>
                </a:solidFill>
              </a:rPr>
              <a:t>批量同步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82549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478"/>
                </a:solidFill>
              </a:rPr>
              <a:t>埋点采集、设备回传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825496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551A"/>
                </a:solidFill>
              </a:rPr>
              <a:t>实时采集、标准连接器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19272"/>
            <a:ext cx="6720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31927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B2F42"/>
                </a:solidFill>
              </a:rPr>
              <a:t>存储计算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3319272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55BE6"/>
                </a:solidFill>
              </a:rPr>
              <a:t>离线计算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0208" y="331927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478"/>
                </a:solidFill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31927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551A"/>
                </a:solidFill>
              </a:rPr>
              <a:t>实时计算、湖仓统一存储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13048"/>
            <a:ext cx="6720840" cy="457200"/>
          </a:xfrm>
          <a:prstGeom prst="roundRect">
            <a:avLst>
              <a:gd name="adj" fmla="val 12000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81304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B2F42"/>
                </a:solidFill>
              </a:rPr>
              <a:t>开发运维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7" y="3813048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55BE6"/>
                </a:solidFill>
              </a:rPr>
              <a:t>开发、运维中心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381304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478"/>
                </a:solidFill>
              </a:rPr>
              <a:t>数据建模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7528" y="381304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551A"/>
                </a:solidFill>
              </a:rPr>
              <a:t>发布卡点、成本治理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06824"/>
            <a:ext cx="6720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30682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B2F42"/>
                </a:solidFill>
              </a:rPr>
              <a:t>数据治理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92807" y="430682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55BE6"/>
                </a:solidFill>
              </a:rPr>
              <a:t>数据地图、资产治理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0208" y="4306824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478"/>
                </a:solidFill>
              </a:rPr>
              <a:t>血缘、健康分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7528" y="4306824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551A"/>
                </a:solidFill>
              </a:rPr>
              <a:t>质量、标准、分级打码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800600"/>
            <a:ext cx="6720840" cy="457200"/>
          </a:xfrm>
          <a:prstGeom prst="roundRect">
            <a:avLst>
              <a:gd name="adj" fmla="val 12000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48006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B2F42"/>
                </a:solidFill>
              </a:rPr>
              <a:t>指标标签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92807" y="4800600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55BE6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208" y="48006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478"/>
                </a:solidFill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7528" y="480060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551A"/>
                </a:solidFill>
              </a:rPr>
              <a:t>指标中心、标签系统、景区自定义空间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294376"/>
            <a:ext cx="6720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529437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B2F42"/>
                </a:solidFill>
              </a:rPr>
              <a:t>服务分析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92807" y="5294376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55BE6"/>
                </a:solidFill>
              </a:rPr>
              <a:t>开放 API、数据服务、小Q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529437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478"/>
                </a:solidFill>
              </a:rPr>
              <a:t>统一出口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7528" y="5294376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551A"/>
                </a:solidFill>
              </a:rPr>
              <a:t>嵌入式分析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788152"/>
            <a:ext cx="6720840" cy="457200"/>
          </a:xfrm>
          <a:prstGeom prst="roundRect">
            <a:avLst>
              <a:gd name="adj" fmla="val 12000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" y="578815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B2F42"/>
                </a:solidFill>
              </a:rPr>
              <a:t>AI 能力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7" y="5788152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55BE6"/>
                </a:solidFill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50208" y="578815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478"/>
                </a:solidFill>
              </a:rPr>
              <a:t>AI 问数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7528" y="578815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4551A"/>
                </a:solidFill>
              </a:rPr>
              <a:t>模型网关、知识检索、评测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07808" y="2395728"/>
            <a:ext cx="3255264" cy="3849624"/>
          </a:xfrm>
          <a:prstGeom prst="roundRect">
            <a:avLst>
              <a:gd name="adj" fmla="val 3370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iggy-bank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542032"/>
            <a:ext cx="347472" cy="3474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229600" y="2505456"/>
            <a:ext cx="252374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4551A"/>
                </a:solidFill>
              </a:rPr>
              <a:t>没买的模块，先这样顶上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3063240"/>
            <a:ext cx="2926080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0416" y="3108960"/>
            <a:ext cx="27066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数据质量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0416" y="3364992"/>
            <a:ext cx="270662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关键任务后加检查节点，不合格就拦住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3776472"/>
            <a:ext cx="2926080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00416" y="3822191"/>
            <a:ext cx="27066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数据标准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0416" y="4078224"/>
            <a:ext cx="270662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规范文档 + 发布前检查脚本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0" y="4489704"/>
            <a:ext cx="2926080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00416" y="4535424"/>
            <a:ext cx="27066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安全中心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0416" y="4791456"/>
            <a:ext cx="270662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计算引擎权限 + 打码视图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0" y="5202936"/>
            <a:ext cx="2926080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00416" y="5248655"/>
            <a:ext cx="27066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00416" y="5504688"/>
            <a:ext cx="270662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先做小范围试验，验证后再投入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6391656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circle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505956"/>
            <a:ext cx="274320" cy="2743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252728" y="6391656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原则　</a:t>
            </a:r>
            <a:r>
              <a:rPr sz="1300" b="0">
                <a:solidFill>
                  <a:srgbClr val="FFFFFF"/>
                </a:solidFill>
              </a:rPr>
              <a:t>已有投入全部保留；先用现有工具延伸，验证有效再追加投入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数据治理怎么做：不搞运动，把规矩写进日常流程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治理不是一次性的大扫除，而是每张表、每个指标从设计到下线都要过“检查站”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9172"/>
            <a:ext cx="6400800" cy="640080"/>
          </a:xfrm>
          <a:prstGeom prst="roundRect">
            <a:avLst>
              <a:gd name="adj" fmla="val 1428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519172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目标</a:t>
            </a:r>
          </a:p>
        </p:txBody>
      </p:sp>
      <p:pic>
        <p:nvPicPr>
          <p:cNvPr id="11" name="Picture 10" descr="targ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2702052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51760" y="2519172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数字可信 · 口径统一 · 安全合规 · 成本可控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50692"/>
            <a:ext cx="6400800" cy="640080"/>
          </a:xfrm>
          <a:prstGeom prst="roundRect">
            <a:avLst>
              <a:gd name="adj" fmla="val 1428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250692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管哪些</a:t>
            </a:r>
          </a:p>
        </p:txBody>
      </p:sp>
      <p:pic>
        <p:nvPicPr>
          <p:cNvPr id="15" name="Picture 14" descr="list-checks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433572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51760" y="3250692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标准 · 家谱 · 编号 · 体检 · 口径 · 权限 · 大扫除 · 出口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982212"/>
            <a:ext cx="6400800" cy="640080"/>
          </a:xfrm>
          <a:prstGeom prst="roundRect">
            <a:avLst>
              <a:gd name="adj" fmla="val 1428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982212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8E8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怎么嵌入</a:t>
            </a:r>
          </a:p>
        </p:txBody>
      </p:sp>
      <p:pic>
        <p:nvPicPr>
          <p:cNvPr id="19" name="Picture 18" descr="workflow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4165092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51760" y="3982212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事前定规范 · 事中设卡点 · 事后做治理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13732"/>
            <a:ext cx="6400800" cy="640080"/>
          </a:xfrm>
          <a:prstGeom prst="roundRect">
            <a:avLst>
              <a:gd name="adj" fmla="val 1428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4713732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A49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用什么</a:t>
            </a:r>
          </a:p>
        </p:txBody>
      </p:sp>
      <p:pic>
        <p:nvPicPr>
          <p:cNvPr id="23" name="Picture 22" descr="wrench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4896612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651760" y="4713732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已买的 DataWorks 模块 + 自写检查脚本和检查节点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45252"/>
            <a:ext cx="6400800" cy="640080"/>
          </a:xfrm>
          <a:prstGeom prst="roundRect">
            <a:avLst>
              <a:gd name="adj" fmla="val 1428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445252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BB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谁来管</a:t>
            </a:r>
          </a:p>
        </p:txBody>
      </p:sp>
      <p:pic>
        <p:nvPicPr>
          <p:cNvPr id="27" name="Picture 26" descr="users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568" y="5628132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51760" y="5445252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治理小组拍板 · 数据负责人推动 · 专员执行 · 健康分月度公示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3488" y="2519172"/>
            <a:ext cx="3529584" cy="3566160"/>
          </a:xfrm>
          <a:prstGeom prst="roundRect">
            <a:avLst>
              <a:gd name="adj" fmla="val 362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7808" y="2665476"/>
            <a:ext cx="3072384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</a:rPr>
              <a:t>先治一条主线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3003804"/>
            <a:ext cx="3072384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公司最核心、问题最多的一条线</a:t>
            </a:r>
          </a:p>
        </p:txBody>
      </p:sp>
      <p:sp>
        <p:nvSpPr>
          <p:cNvPr id="32" name="Oval 31"/>
          <p:cNvSpPr/>
          <p:nvPr/>
        </p:nvSpPr>
        <p:spPr>
          <a:xfrm>
            <a:off x="7653527" y="3461004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receip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0688" y="3598164"/>
            <a:ext cx="292608" cy="2926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85048" y="3461004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订单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7845552" y="4064507"/>
            <a:ext cx="182880" cy="155448"/>
          </a:xfrm>
          <a:prstGeom prst="down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53527" y="4238244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can-face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0688" y="4375404"/>
            <a:ext cx="292608" cy="2926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85048" y="4238244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核销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7845552" y="4841748"/>
            <a:ext cx="182880" cy="155448"/>
          </a:xfrm>
          <a:prstGeom prst="down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53527" y="5015484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wallet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0688" y="5152644"/>
            <a:ext cx="292608" cy="2926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85048" y="5015484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结算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07808" y="5719572"/>
            <a:ext cx="3072384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FFE2C8"/>
                </a:solidFill>
              </a:rPr>
              <a:t>做通后按数据域推广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629564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zap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536" y="6432804"/>
            <a:ext cx="274320" cy="2743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52728" y="629564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关键　</a:t>
            </a:r>
            <a:r>
              <a:rPr sz="1300" b="0">
                <a:solidFill>
                  <a:srgbClr val="FFFFFF"/>
                </a:solidFill>
              </a:rPr>
              <a:t>规矩不只写在文档里，而是写进开发流程：不合规的表发不出去，有问题的数流不到报表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治理具体管 8 件事：每件都有产出、有考核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用大白话说，就是给数据定规矩、上户口、建家谱、做体检、管权限、搞卫生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07208"/>
            <a:ext cx="2414016" cy="1783080"/>
          </a:xfrm>
          <a:prstGeom prst="roundRect">
            <a:avLst>
              <a:gd name="adj" fmla="val 615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299008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89" y="3115818"/>
            <a:ext cx="251460" cy="251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35607" y="2971800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定规矩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3264408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76CFD"/>
                </a:solidFill>
              </a:rPr>
              <a:t>数据标准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630168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F42"/>
                </a:solidFill>
              </a:rPr>
              <a:t>命名、分层、字段、码值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4105656"/>
            <a:ext cx="2084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105656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看　</a:t>
            </a:r>
            <a:r>
              <a:rPr sz="1050" b="0">
                <a:solidFill>
                  <a:srgbClr val="5E6478"/>
                </a:solidFill>
              </a:rPr>
              <a:t>规范符合率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5264" y="2807208"/>
            <a:ext cx="2414016" cy="1783080"/>
          </a:xfrm>
          <a:prstGeom prst="roundRect">
            <a:avLst>
              <a:gd name="adj" fmla="val 615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9856" y="299008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older-tre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586" y="3115818"/>
            <a:ext cx="251460" cy="2514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32504" y="2971800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建家谱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3264408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76CFD"/>
                </a:solidFill>
              </a:rPr>
              <a:t>数据血缘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3630168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F42"/>
                </a:solidFill>
              </a:rPr>
              <a:t>含义、负责人、上下游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4105656"/>
            <a:ext cx="2084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4105656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看　</a:t>
            </a:r>
            <a:r>
              <a:rPr sz="1050" b="0">
                <a:solidFill>
                  <a:srgbClr val="5E6478"/>
                </a:solidFill>
              </a:rPr>
              <a:t>注释 / 负责人覆盖率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807208"/>
            <a:ext cx="2414016" cy="1783080"/>
          </a:xfrm>
          <a:prstGeom prst="roundRect">
            <a:avLst>
              <a:gd name="adj" fmla="val 615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16752" y="299008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d-car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482" y="3115818"/>
            <a:ext cx="251460" cy="2514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29400" y="2971800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统一编号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264408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76CFD"/>
                </a:solidFill>
              </a:rPr>
              <a:t>主数据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6752" y="3630168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F42"/>
                </a:solidFill>
              </a:rPr>
              <a:t>景区、商品、渠道、供应商、游客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16752" y="4105656"/>
            <a:ext cx="2084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105656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看　</a:t>
            </a:r>
            <a:r>
              <a:rPr sz="1050" b="0">
                <a:solidFill>
                  <a:srgbClr val="5E6478"/>
                </a:solidFill>
              </a:rPr>
              <a:t>编码重复率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9056" y="2807208"/>
            <a:ext cx="2414016" cy="1783080"/>
          </a:xfrm>
          <a:prstGeom prst="roundRect">
            <a:avLst>
              <a:gd name="adj" fmla="val 615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299008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tethoscop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9378" y="3115818"/>
            <a:ext cx="251460" cy="2514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26296" y="2971800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每天体检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6296" y="3264408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76CFD"/>
                </a:solidFill>
              </a:rPr>
              <a:t>数据质量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3630168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F42"/>
                </a:solidFill>
              </a:rPr>
              <a:t>完整、准确、一致、及时、唯一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13648" y="4105656"/>
            <a:ext cx="2084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23376" y="4105656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看　</a:t>
            </a:r>
            <a:r>
              <a:rPr sz="1050" b="0">
                <a:solidFill>
                  <a:srgbClr val="5E6478"/>
                </a:solidFill>
              </a:rPr>
              <a:t>按时产出率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773168"/>
            <a:ext cx="2414016" cy="1783080"/>
          </a:xfrm>
          <a:prstGeom prst="roundRect">
            <a:avLst>
              <a:gd name="adj" fmla="val 615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2959" y="495604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cal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89" y="5081778"/>
            <a:ext cx="251460" cy="25146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35607" y="4937759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统一口径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35607" y="5230368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76CFD"/>
                </a:solidFill>
              </a:rPr>
              <a:t>指标与标签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5596128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F42"/>
                </a:solidFill>
              </a:rPr>
              <a:t>口径、分类分级、认证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59" y="6071616"/>
            <a:ext cx="2084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6071616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看　</a:t>
            </a:r>
            <a:r>
              <a:rPr sz="1050" b="0">
                <a:solidFill>
                  <a:srgbClr val="5E6478"/>
                </a:solidFill>
              </a:rPr>
              <a:t>认证指标覆盖率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55264" y="4773168"/>
            <a:ext cx="2414016" cy="1783080"/>
          </a:xfrm>
          <a:prstGeom prst="roundRect">
            <a:avLst>
              <a:gd name="adj" fmla="val 615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19856" y="495604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lo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5586" y="5081778"/>
            <a:ext cx="251460" cy="25146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032504" y="4937759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管好权限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2504" y="5230368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76CFD"/>
                </a:solidFill>
              </a:rPr>
              <a:t>权限安全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19856" y="5596128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F42"/>
                </a:solidFill>
              </a:rPr>
              <a:t>分级、权属、审批、审计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19856" y="6071616"/>
            <a:ext cx="2084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29584" y="6071616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看　</a:t>
            </a:r>
            <a:r>
              <a:rPr sz="1050" b="0">
                <a:solidFill>
                  <a:srgbClr val="5E6478"/>
                </a:solidFill>
              </a:rPr>
              <a:t>敏感字段识别率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52160" y="4773168"/>
            <a:ext cx="2414016" cy="1783080"/>
          </a:xfrm>
          <a:prstGeom prst="roundRect">
            <a:avLst>
              <a:gd name="adj" fmla="val 615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16752" y="495604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trash2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2482" y="5081778"/>
            <a:ext cx="251460" cy="25146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29400" y="4937759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定期大扫除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5230368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76CFD"/>
                </a:solidFill>
              </a:rPr>
              <a:t>资产运营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16752" y="5596128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F42"/>
                </a:solidFill>
              </a:rPr>
              <a:t>健康分、成本、下线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16752" y="6071616"/>
            <a:ext cx="2084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0" y="6071616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看　</a:t>
            </a:r>
            <a:r>
              <a:rPr sz="1050" b="0">
                <a:solidFill>
                  <a:srgbClr val="5E6478"/>
                </a:solidFill>
              </a:rPr>
              <a:t>无用资产占比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49056" y="4773168"/>
            <a:ext cx="2414016" cy="1783080"/>
          </a:xfrm>
          <a:prstGeom prst="roundRect">
            <a:avLst>
              <a:gd name="adj" fmla="val 615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613648" y="495604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sen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9378" y="5081778"/>
            <a:ext cx="251460" cy="25146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226296" y="4937759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统一出口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26296" y="5230368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76CFD"/>
                </a:solidFill>
              </a:rPr>
              <a:t>数据分发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13648" y="5596128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F42"/>
                </a:solidFill>
              </a:rPr>
              <a:t>对内对外只走一个出口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13648" y="6071616"/>
            <a:ext cx="2084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23376" y="6071616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看　</a:t>
            </a:r>
            <a:r>
              <a:rPr sz="1050" b="0">
                <a:solidFill>
                  <a:srgbClr val="5E6478"/>
                </a:solidFill>
              </a:rPr>
              <a:t>出口收敛率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定规矩：每张表都有“身份证号”，一看名字就知道是什么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新表不合规发不出去；老表不一刀切，按优先级分批整改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95728"/>
            <a:ext cx="10204704" cy="1737360"/>
          </a:xfrm>
          <a:prstGeom prst="roundRect">
            <a:avLst>
              <a:gd name="adj" fmla="val 7368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d-card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596896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4168" y="257860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表名就是身份证号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0651" y="3035808"/>
            <a:ext cx="966216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4891" y="3611880"/>
            <a:ext cx="169773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加工到哪一层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4891" y="3822191"/>
            <a:ext cx="169773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655BE6"/>
                </a:solidFill>
              </a:rPr>
              <a:t>“洗干净”层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6867" y="3035808"/>
            <a:ext cx="228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5E6478"/>
                </a:solidFill>
              </a:rPr>
              <a:t>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5467" y="3035808"/>
            <a:ext cx="966216" cy="530352"/>
          </a:xfrm>
          <a:prstGeom prst="roundRect">
            <a:avLst>
              <a:gd name="adj" fmla="val 17241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9707" y="3611880"/>
            <a:ext cx="169773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哪块业务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9707" y="3822191"/>
            <a:ext cx="169773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776CFD"/>
                </a:solidFill>
              </a:rPr>
              <a:t>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1683" y="3035808"/>
            <a:ext cx="228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5E6478"/>
                </a:solidFill>
              </a:rPr>
              <a:t>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0283" y="3035808"/>
            <a:ext cx="2260600" cy="530352"/>
          </a:xfrm>
          <a:prstGeom prst="roundRect">
            <a:avLst>
              <a:gd name="adj" fmla="val 17241"/>
            </a:avLst>
          </a:prstGeom>
          <a:solidFill>
            <a:srgbClr val="5D9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order_item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4523" y="3611880"/>
            <a:ext cx="299212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什么内容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4523" y="3822191"/>
            <a:ext cx="2992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5D95F1"/>
                </a:solidFill>
              </a:rPr>
              <a:t>订单明细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883" y="3035808"/>
            <a:ext cx="228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5E6478"/>
                </a:solidFill>
              </a:rPr>
              <a:t>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09483" y="3035808"/>
            <a:ext cx="781304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723" y="3611880"/>
            <a:ext cx="1512824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怎么更新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723" y="3822191"/>
            <a:ext cx="151282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B4551A"/>
                </a:solidFill>
              </a:rPr>
              <a:t>每天增量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270248"/>
            <a:ext cx="327964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379976"/>
            <a:ext cx="300532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字段统一叫法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474573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景区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4745736"/>
            <a:ext cx="1999487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scenic_id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02919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金额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5029199"/>
            <a:ext cx="1999487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…_amt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53126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时间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5312664"/>
            <a:ext cx="1999487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…_time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596127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日期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55648" y="5596127"/>
            <a:ext cx="1999487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…_date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" y="58795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是否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5648" y="5879592"/>
            <a:ext cx="1999487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is_…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20896" y="4270248"/>
            <a:ext cx="327964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03776" y="4379976"/>
            <a:ext cx="300532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建表 8 项必填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3776" y="4800600"/>
            <a:ext cx="729234" cy="29260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50" b="0">
                <a:solidFill>
                  <a:srgbClr val="2B2F42"/>
                </a:solidFill>
              </a:rPr>
              <a:t>中文名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06162" y="4800600"/>
            <a:ext cx="595884" cy="29260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50" b="0">
                <a:solidFill>
                  <a:srgbClr val="2B2F42"/>
                </a:solidFill>
              </a:rPr>
              <a:t>描述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75198" y="4800600"/>
            <a:ext cx="729234" cy="29260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50" b="0">
                <a:solidFill>
                  <a:srgbClr val="2B2F42"/>
                </a:solidFill>
              </a:rPr>
              <a:t>负责人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03776" y="5166360"/>
            <a:ext cx="862584" cy="29260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50" b="0">
                <a:solidFill>
                  <a:srgbClr val="2B2F42"/>
                </a:solidFill>
              </a:rPr>
              <a:t>安全等级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39512" y="5166360"/>
            <a:ext cx="862584" cy="29260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50" b="0">
                <a:solidFill>
                  <a:srgbClr val="2B2F42"/>
                </a:solidFill>
              </a:rPr>
              <a:t>生命周期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5248" y="5166360"/>
            <a:ext cx="862584" cy="29260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50" b="0">
                <a:solidFill>
                  <a:srgbClr val="2B2F42"/>
                </a:solidFill>
              </a:rPr>
              <a:t>分区字段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03776" y="5532120"/>
            <a:ext cx="862584" cy="29260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50" b="0">
                <a:solidFill>
                  <a:srgbClr val="2B2F42"/>
                </a:solidFill>
              </a:rPr>
              <a:t>字段注释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39512" y="5532120"/>
            <a:ext cx="1283970" cy="29260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50" b="0">
                <a:solidFill>
                  <a:srgbClr val="2B2F42"/>
                </a:solidFill>
              </a:rPr>
              <a:t>发生 / 上报时间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3424" y="4270248"/>
            <a:ext cx="3279648" cy="1965960"/>
          </a:xfrm>
          <a:prstGeom prst="roundRect">
            <a:avLst>
              <a:gd name="adj" fmla="val 55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66303" y="4379976"/>
            <a:ext cx="300532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发布前自动检查</a:t>
            </a:r>
          </a:p>
        </p:txBody>
      </p:sp>
      <p:pic>
        <p:nvPicPr>
          <p:cNvPr id="51" name="Picture 50" descr="pen-li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592" y="4828031"/>
            <a:ext cx="256032" cy="2560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132063" y="4773168"/>
            <a:ext cx="25938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</a:rPr>
              <a:t>开发提交</a:t>
            </a:r>
          </a:p>
        </p:txBody>
      </p:sp>
      <p:pic>
        <p:nvPicPr>
          <p:cNvPr id="53" name="Picture 52" descr="search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4592" y="5303520"/>
            <a:ext cx="256032" cy="25603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132063" y="5248656"/>
            <a:ext cx="25938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</a:rPr>
              <a:t>脚本检查：命名 · 分层 · 注释 · 负责人 · 等级</a:t>
            </a:r>
          </a:p>
        </p:txBody>
      </p:sp>
      <p:pic>
        <p:nvPicPr>
          <p:cNvPr id="55" name="Picture 54" descr="circle-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4592" y="5779007"/>
            <a:ext cx="256032" cy="25603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132063" y="5724144"/>
            <a:ext cx="25938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</a:rPr>
              <a:t>通过才上线，不过就打回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6373368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history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6487668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252728" y="6373368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655BE6"/>
                </a:solidFill>
              </a:rPr>
              <a:t>老表怎么办　</a:t>
            </a:r>
            <a:r>
              <a:rPr sz="1250" b="0">
                <a:solidFill>
                  <a:srgbClr val="2B2F42"/>
                </a:solidFill>
              </a:rPr>
              <a:t>不一次性改名：新表强制执行，老表按健康分分批整改，改名时保留兼容视图，下游不受影响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统一编号：一个景区只有一个“身份证”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以前同一个景区在票务、分销、财务里各有各的编号，拼数时对不上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03220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3067812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59" y="3182112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9888" y="304952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景区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08048" y="3095244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scenic_id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561588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集团、分园区、子景点分级挂靠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3048" y="2903220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77639" y="3067812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939" y="3182112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44568" y="304952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商品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2728" y="3095244"/>
            <a:ext cx="7193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prd_id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3561588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票种、套票、二消商品统一编码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28516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59" y="4293107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u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59" y="4407407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89888" y="42748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渠道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8048" y="4320540"/>
            <a:ext cx="10038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channel_id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786884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OTA、自营、分销、团队统一分类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3048" y="4128516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77639" y="4293107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handshak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939" y="4407407"/>
            <a:ext cx="22860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44568" y="42748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3228" y="4320540"/>
            <a:ext cx="7193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sup_id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5928" y="4786884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同一主体只建一个编码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353812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959" y="5518404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59" y="5632704"/>
            <a:ext cx="228600" cy="228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89888" y="5500116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游客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8048" y="5545836"/>
            <a:ext cx="7193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one_id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" y="6012180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手机号、证件号、会员号归并为一人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13048" y="5353812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77639" y="5518404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map-pi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1939" y="5632704"/>
            <a:ext cx="228600" cy="228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44568" y="5500116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区域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62728" y="5545836"/>
            <a:ext cx="9276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行政区划码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95928" y="6012180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采用国家标准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13448" y="2903220"/>
            <a:ext cx="1828800" cy="438912"/>
          </a:xfrm>
          <a:prstGeom prst="roundRect">
            <a:avLst>
              <a:gd name="adj" fmla="val 16666"/>
            </a:avLst>
          </a:prstGeom>
          <a:solidFill>
            <a:srgbClr val="F1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5E6478"/>
                </a:solidFill>
              </a:rPr>
              <a:t>票务系统编号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42248" y="3122676"/>
            <a:ext cx="411480" cy="530352"/>
          </a:xfrm>
          <a:prstGeom prst="line">
            <a:avLst/>
          </a:prstGeom>
          <a:ln w="1587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013448" y="3433572"/>
            <a:ext cx="1828800" cy="438912"/>
          </a:xfrm>
          <a:prstGeom prst="roundRect">
            <a:avLst>
              <a:gd name="adj" fmla="val 16666"/>
            </a:avLst>
          </a:prstGeom>
          <a:solidFill>
            <a:srgbClr val="F1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5E6478"/>
                </a:solidFill>
              </a:rPr>
              <a:t>分销系统编号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42248" y="3653028"/>
            <a:ext cx="411480" cy="0"/>
          </a:xfrm>
          <a:prstGeom prst="line">
            <a:avLst/>
          </a:prstGeom>
          <a:ln w="1587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013448" y="3963924"/>
            <a:ext cx="1828800" cy="438912"/>
          </a:xfrm>
          <a:prstGeom prst="roundRect">
            <a:avLst>
              <a:gd name="adj" fmla="val 16666"/>
            </a:avLst>
          </a:prstGeom>
          <a:solidFill>
            <a:srgbClr val="F1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5E6478"/>
                </a:solidFill>
              </a:rPr>
              <a:t>财务系统编号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8842248" y="3653028"/>
            <a:ext cx="411480" cy="530351"/>
          </a:xfrm>
          <a:prstGeom prst="line">
            <a:avLst/>
          </a:prstGeom>
          <a:ln w="1587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299448" y="3342132"/>
            <a:ext cx="1563624" cy="621792"/>
          </a:xfrm>
          <a:prstGeom prst="roundRect">
            <a:avLst>
              <a:gd name="adj" fmla="val 1470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对照表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EEEDFF"/>
                </a:solidFill>
              </a:rPr>
              <a:t>老编号 → 新编号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9971532" y="4037076"/>
            <a:ext cx="219456" cy="274320"/>
          </a:xfrm>
          <a:prstGeom prst="down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013448" y="4393692"/>
            <a:ext cx="384962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统一编号</a:t>
            </a:r>
            <a:r>
              <a:rPr sz="1100" b="0">
                <a:solidFill>
                  <a:srgbClr val="EEEDFF"/>
                </a:solidFill>
              </a:rPr>
              <a:t>　所有报表、指标、标签只认它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13448" y="5125212"/>
            <a:ext cx="3849624" cy="621792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earch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5308092"/>
            <a:ext cx="256032" cy="25603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543800" y="51617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先查再建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543610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新建景区、商品、供应商时先查，有就复用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13448" y="5838444"/>
            <a:ext cx="3849624" cy="621792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history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8040" y="6021324"/>
            <a:ext cx="256032" cy="25603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543800" y="587502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变更有记录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43800" y="614934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改编号要审批，保留历史，旧报表能追溯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建家谱：每个数从哪来、到哪去，一查就清楚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专业叫“数据血缘”，从源头一直打通到报表、接口和智能体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30068"/>
            <a:ext cx="1051560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250" b="1">
                <a:solidFill>
                  <a:srgbClr val="2B2F42"/>
                </a:solidFill>
              </a:rPr>
              <a:t>业务系统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5E6478"/>
                </a:solidFill>
              </a:rPr>
              <a:t>源头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3131820"/>
            <a:ext cx="182880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47672" y="2830068"/>
            <a:ext cx="1051560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250" b="1">
                <a:solidFill>
                  <a:srgbClr val="2B2F42"/>
                </a:solidFill>
              </a:rPr>
              <a:t>原料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5E6478"/>
                </a:solidFill>
              </a:rPr>
              <a:t>ODS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26663" y="3131820"/>
            <a:ext cx="182880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36976" y="2830068"/>
            <a:ext cx="1051560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250" b="1">
                <a:solidFill>
                  <a:srgbClr val="2B2F42"/>
                </a:solidFill>
              </a:rPr>
              <a:t>洗干净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5E6478"/>
                </a:solidFill>
              </a:rPr>
              <a:t>DWD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15968" y="3131820"/>
            <a:ext cx="182880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79" y="2830068"/>
            <a:ext cx="1051560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250" b="1">
                <a:solidFill>
                  <a:srgbClr val="2B2F42"/>
                </a:solidFill>
              </a:rPr>
              <a:t>汇总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5E6478"/>
                </a:solidFill>
              </a:rPr>
              <a:t>DWS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05272" y="3131820"/>
            <a:ext cx="182880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15583" y="2830068"/>
            <a:ext cx="1051560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250" b="1">
                <a:solidFill>
                  <a:srgbClr val="2B2F42"/>
                </a:solidFill>
              </a:rPr>
              <a:t>成品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5E6478"/>
                </a:solidFill>
              </a:rPr>
              <a:t>ADS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94576" y="3131820"/>
            <a:ext cx="182880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04888" y="2830068"/>
            <a:ext cx="1051560" cy="777240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指标 / 标签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EEEDFF"/>
                </a:solidFill>
              </a:rPr>
              <a:t>口径认证过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247888" y="2738628"/>
            <a:ext cx="411479" cy="475488"/>
          </a:xfrm>
          <a:prstGeom prst="line">
            <a:avLst/>
          </a:prstGeom>
          <a:ln w="1587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05088" y="2555748"/>
            <a:ext cx="21579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655BE6"/>
                </a:solidFill>
              </a:rPr>
              <a:t>小Q 报表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247888" y="3195828"/>
            <a:ext cx="411479" cy="18288"/>
          </a:xfrm>
          <a:prstGeom prst="line">
            <a:avLst/>
          </a:prstGeom>
          <a:ln w="1587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05088" y="3012948"/>
            <a:ext cx="21579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655BE6"/>
                </a:solidFill>
              </a:rPr>
              <a:t>开放接口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47888" y="3214116"/>
            <a:ext cx="411479" cy="438912"/>
          </a:xfrm>
          <a:prstGeom prst="line">
            <a:avLst/>
          </a:prstGeom>
          <a:ln w="1587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05088" y="3470148"/>
            <a:ext cx="21579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655BE6"/>
                </a:solidFill>
              </a:rPr>
              <a:t>AI 智能体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835908"/>
            <a:ext cx="10204704" cy="18288"/>
          </a:xfrm>
          <a:prstGeom prst="roundRect">
            <a:avLst>
              <a:gd name="adj" fmla="val 0"/>
            </a:avLst>
          </a:prstGeom>
          <a:solidFill>
            <a:srgbClr val="CFC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95478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家谱的三个用处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384548"/>
            <a:ext cx="327964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59" y="454914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59" y="4663440"/>
            <a:ext cx="22860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89888" y="4549140"/>
            <a:ext cx="241096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查错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5097780"/>
            <a:ext cx="2877312" cy="33832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E6478"/>
                </a:solidFill>
              </a:rPr>
              <a:t>报表数字不对，沿家谱往上查，快速找到出错的那一层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20896" y="4384548"/>
            <a:ext cx="327964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85488" y="454914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it-bran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788" y="4663440"/>
            <a:ext cx="228600" cy="228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52416" y="4549140"/>
            <a:ext cx="241096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改之前先评估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2064" y="5097780"/>
            <a:ext cx="2877312" cy="33832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E6478"/>
                </a:solidFill>
              </a:rPr>
              <a:t>改表、改口径前，先查哪些报表、接口受影响，通知负责人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3424" y="4384548"/>
            <a:ext cx="327964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48015" y="454914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rash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2315" y="4663440"/>
            <a:ext cx="228600" cy="228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14944" y="4549140"/>
            <a:ext cx="241096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清理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84592" y="5097780"/>
            <a:ext cx="2877312" cy="33832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E6478"/>
                </a:solidFill>
              </a:rPr>
              <a:t>没有下游、没人访问的表和任务，进入下线清单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710428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家谱里记三类信息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6121908"/>
            <a:ext cx="3279648" cy="685800"/>
          </a:xfrm>
          <a:prstGeom prst="roundRect">
            <a:avLst>
              <a:gd name="adj" fmla="val 1333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bIns="27432"/>
          <a:lstStyle/>
          <a:p>
            <a:pPr algn="l"/>
            <a:r>
              <a:rPr sz="1150" b="1">
                <a:solidFill>
                  <a:srgbClr val="655BE6"/>
                </a:solidFill>
              </a:rPr>
              <a:t>技术信息　</a:t>
            </a:r>
            <a:r>
              <a:rPr sz="1150" b="0">
                <a:solidFill>
                  <a:srgbClr val="2B2F42"/>
                </a:solidFill>
              </a:rPr>
              <a:t>表结构、字段类型、存储量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系统自动采集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20896" y="6121908"/>
            <a:ext cx="3279648" cy="685800"/>
          </a:xfrm>
          <a:prstGeom prst="roundRect">
            <a:avLst>
              <a:gd name="adj" fmla="val 1333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bIns="27432"/>
          <a:lstStyle/>
          <a:p>
            <a:pPr algn="l"/>
            <a:r>
              <a:rPr sz="1150" b="1">
                <a:solidFill>
                  <a:srgbClr val="655BE6"/>
                </a:solidFill>
              </a:rPr>
              <a:t>业务信息　</a:t>
            </a:r>
            <a:r>
              <a:rPr sz="1150" b="0">
                <a:solidFill>
                  <a:srgbClr val="2B2F42"/>
                </a:solidFill>
              </a:rPr>
              <a:t>含义、口径、负责人、安全等级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开发填写，专员审核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3424" y="6121908"/>
            <a:ext cx="3279648" cy="685800"/>
          </a:xfrm>
          <a:prstGeom prst="roundRect">
            <a:avLst>
              <a:gd name="adj" fmla="val 1333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bIns="27432"/>
          <a:lstStyle/>
          <a:p>
            <a:pPr algn="l"/>
            <a:r>
              <a:rPr sz="1150" b="1">
                <a:solidFill>
                  <a:srgbClr val="655BE6"/>
                </a:solidFill>
              </a:rPr>
              <a:t>运行信息　</a:t>
            </a:r>
            <a:r>
              <a:rPr sz="1150" b="0">
                <a:solidFill>
                  <a:srgbClr val="2B2F42"/>
                </a:solidFill>
              </a:rPr>
              <a:t>几点产出、跑多久、多少人在用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系统自动采集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每天体检：五项检查，强弱两档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关键数据算完立刻自动检查，不合格的数据拦在报表外面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61488"/>
            <a:ext cx="6035040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871216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lipboar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985516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2816352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完整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不能缺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761488"/>
            <a:ext cx="4251959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订单号、景区编号不能空；日订单量比近 7 天平均波动超 30% 报警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29584"/>
            <a:ext cx="6035040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5528" y="3639312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dge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3753612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3584448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准确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770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不能错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3529584"/>
            <a:ext cx="4251959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金额不能为负；核销时间不能早于下单时间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97680"/>
            <a:ext cx="6035040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8" y="4407408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rrow-left-righ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4521708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71600" y="4352543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4515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对得上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4297680"/>
            <a:ext cx="4251959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仓库里的订单金额汇总 = 业务系统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65776"/>
            <a:ext cx="6035040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5528" y="5175504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im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5289804"/>
            <a:ext cx="22860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71600" y="512064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及时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132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不能晚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4288" y="5065776"/>
            <a:ext cx="4251959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核心报表每天 7:00 前算完，晚了报警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833872"/>
            <a:ext cx="6035040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8" y="594360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ingerprin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" y="6057900"/>
            <a:ext cx="228600" cy="228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71600" y="588873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唯一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81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不重复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4288" y="5833872"/>
            <a:ext cx="4251959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订单号不重复；同一张票不能重复核销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22007" y="2761488"/>
            <a:ext cx="1901952" cy="2331720"/>
          </a:xfrm>
          <a:prstGeom prst="roundRect">
            <a:avLst>
              <a:gd name="adj" fmla="val 576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2907792"/>
            <a:ext cx="329184" cy="32918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516367" y="2880360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强规则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4888" y="3429000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FE2C8"/>
                </a:solidFill>
              </a:rPr>
              <a:t>用在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364845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FFFFFF"/>
                </a:solidFill>
              </a:rPr>
              <a:t>核心表、对外接口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8" y="3977640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FE2C8"/>
                </a:solidFill>
              </a:rPr>
              <a:t>不过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04888" y="419709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FFFFFF"/>
                </a:solidFill>
              </a:rPr>
              <a:t>拦住下游，通知负责人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04888" y="4526280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FE2C8"/>
                </a:solidFill>
              </a:rPr>
              <a:t>时限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4888" y="474573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FFFFFF"/>
                </a:solidFill>
              </a:rPr>
              <a:t>当天修好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2761488"/>
            <a:ext cx="1901952" cy="23317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bell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2907792"/>
            <a:ext cx="329184" cy="32918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555480" y="2880360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弱规则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3429000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B4551A"/>
                </a:solidFill>
              </a:rPr>
              <a:t>用在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364845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2B2F42"/>
                </a:solidFill>
              </a:rPr>
              <a:t>一般表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3977640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B4551A"/>
                </a:solidFill>
              </a:rPr>
              <a:t>不过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19709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2B2F42"/>
                </a:solidFill>
              </a:rPr>
              <a:t>只提醒，不拦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526280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B4551A"/>
                </a:solidFill>
              </a:rPr>
              <a:t>时限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745736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2B2F42"/>
                </a:solidFill>
              </a:rPr>
              <a:t>一周内修好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22007" y="5230368"/>
            <a:ext cx="3941064" cy="1371600"/>
          </a:xfrm>
          <a:prstGeom prst="roundRect">
            <a:avLst>
              <a:gd name="adj" fmla="val 8000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04888" y="5303520"/>
            <a:ext cx="3666744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出了问题怎么办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04888" y="5687568"/>
            <a:ext cx="756666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B2F42"/>
                </a:solidFill>
              </a:rPr>
              <a:t>发现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7888986" y="5797296"/>
            <a:ext cx="128016" cy="15544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044433" y="5687568"/>
            <a:ext cx="756666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B2F42"/>
                </a:solidFill>
              </a:rPr>
              <a:t>拦住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8828532" y="5797296"/>
            <a:ext cx="128016" cy="15544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983980" y="5687568"/>
            <a:ext cx="756666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B2F42"/>
                </a:solidFill>
              </a:rPr>
              <a:t>修复重跑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9768078" y="5797296"/>
            <a:ext cx="128016" cy="15544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923526" y="5687568"/>
            <a:ext cx="756666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B2F42"/>
                </a:solidFill>
              </a:rPr>
              <a:t>登记问题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04888" y="6144768"/>
            <a:ext cx="36667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4551A"/>
                </a:solidFill>
              </a:rPr>
              <a:t>同类问题出现两次，就补一条规则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举个例子：“核销量”怎么做到各处一致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这是数据治理的样板：核销做通了，同样的方法复制到其他指标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52344"/>
            <a:ext cx="54864" cy="219456"/>
          </a:xfrm>
          <a:prstGeom prst="roundRect">
            <a:avLst>
              <a:gd name="adj" fmla="val 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6791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第一步：先把四个容易混的数分开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99816"/>
            <a:ext cx="2208276" cy="71323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55BE6"/>
                </a:solidFill>
              </a:rPr>
              <a:t>核销次数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5E6478"/>
                </a:solidFill>
              </a:rPr>
              <a:t>刷了几次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6644" y="3099816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3844" y="3099816"/>
            <a:ext cx="2208276" cy="71323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55BE6"/>
                </a:solidFill>
              </a:rPr>
              <a:t>有效核销票数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5E6478"/>
                </a:solidFill>
              </a:rPr>
              <a:t>有效的票几张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099816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099816"/>
            <a:ext cx="2208276" cy="71323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55BE6"/>
                </a:solidFill>
              </a:rPr>
              <a:t>入园人次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5E6478"/>
                </a:solidFill>
              </a:rPr>
              <a:t>进了几人次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7596" y="3099816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4796" y="3099816"/>
            <a:ext cx="2208276" cy="71323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55BE6"/>
                </a:solidFill>
              </a:rPr>
              <a:t>去重游客数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5E6478"/>
                </a:solidFill>
              </a:rPr>
              <a:t>实际来了几个人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22776"/>
            <a:ext cx="10204704" cy="402336"/>
          </a:xfrm>
          <a:prstGeom prst="roundRect">
            <a:avLst>
              <a:gd name="adj" fmla="val 18181"/>
            </a:avLst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150" b="1">
                <a:solidFill>
                  <a:srgbClr val="B4551A"/>
                </a:solidFill>
              </a:rPr>
              <a:t>比如　</a:t>
            </a:r>
            <a:r>
              <a:rPr sz="1150" b="0">
                <a:solidFill>
                  <a:srgbClr val="2B2F42"/>
                </a:solidFill>
              </a:rPr>
              <a:t>一位年卡游客一天进出 3 次：核销次数 3，入园人次 3，去重游客数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81144"/>
            <a:ext cx="54864" cy="219456"/>
          </a:xfrm>
          <a:prstGeom prst="roundRect">
            <a:avLst>
              <a:gd name="adj" fmla="val 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07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第二步：从现场到报表，每一层按“景区 + 日期”对一次数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928616"/>
            <a:ext cx="1777593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B2F42"/>
                </a:solidFill>
              </a:rPr>
              <a:t>闸机 / 手持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现场记录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499969" y="52257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65145" y="4928616"/>
            <a:ext cx="1777593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B2F42"/>
                </a:solidFill>
              </a:rPr>
              <a:t>业务系统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订单与核销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606747" y="52257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71923" y="4928616"/>
            <a:ext cx="1777593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B2F42"/>
                </a:solidFill>
              </a:rPr>
              <a:t>仓库明细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洗干净的数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713524" y="52257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78700" y="4928616"/>
            <a:ext cx="1777593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B2F42"/>
                </a:solidFill>
              </a:rPr>
              <a:t>仓库汇总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按天按景区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820302" y="52257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85478" y="4928616"/>
            <a:ext cx="1777593" cy="777240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</a:rPr>
              <a:t>报表 / 接口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EEEDFF"/>
                </a:solidFill>
              </a:rPr>
              <a:t>大家看到的数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907024"/>
            <a:ext cx="5010912" cy="777240"/>
          </a:xfrm>
          <a:prstGeom prst="roundRect">
            <a:avLst>
              <a:gd name="adj" fmla="val 11764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300" b="1">
                <a:solidFill>
                  <a:srgbClr val="B4551A"/>
                </a:solidFill>
              </a:rPr>
              <a:t>第三步　</a:t>
            </a:r>
            <a:r>
              <a:rPr sz="1300" b="1">
                <a:solidFill>
                  <a:srgbClr val="2B2F42"/>
                </a:solidFill>
              </a:rPr>
              <a:t>对不上就自动报警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E6478"/>
                </a:solidFill>
              </a:rPr>
              <a:t>→ 查原因 → 修复 → 重算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5907024"/>
            <a:ext cx="5010912" cy="777240"/>
          </a:xfrm>
          <a:prstGeom prst="roundRect">
            <a:avLst>
              <a:gd name="adj" fmla="val 11764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00" b="1">
                <a:solidFill>
                  <a:srgbClr val="655BE6"/>
                </a:solidFill>
              </a:rPr>
              <a:t>常见原因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设备离线补传 · 重复上报 · 撤销冲正 · 时间口径混用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统一口径：集团出标准，景区可以自己加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指标 = 数一数（卖了多少、来了多少）；标签 = 贴个签（年卡用户、喜欢夜游）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7007" y="2702052"/>
            <a:ext cx="4023359" cy="713232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集团标准库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EEEDFF"/>
                </a:solidFill>
              </a:rPr>
              <a:t>标准指标 · 标准标签 · 版本管理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374647" y="3488436"/>
            <a:ext cx="182880" cy="237744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99332"/>
            <a:ext cx="1615440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景区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47972"/>
            <a:ext cx="1615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E6478"/>
                </a:solidFill>
              </a:rPr>
              <a:t>自定义空间</a:t>
            </a:r>
          </a:p>
          <a:p>
            <a:pPr algn="ctr"/>
            <a:r>
              <a:rPr sz="1050" b="0">
                <a:solidFill>
                  <a:srgbClr val="5E6478"/>
                </a:solidFill>
              </a:rPr>
              <a:t>只给自己用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27248" y="3488436"/>
            <a:ext cx="182880" cy="237744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10968" y="3799332"/>
            <a:ext cx="1615440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景区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10968" y="4347972"/>
            <a:ext cx="1615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E6478"/>
                </a:solidFill>
              </a:rPr>
              <a:t>自定义空间</a:t>
            </a:r>
          </a:p>
          <a:p>
            <a:pPr algn="ctr"/>
            <a:r>
              <a:rPr sz="1050" b="0">
                <a:solidFill>
                  <a:srgbClr val="5E6478"/>
                </a:solidFill>
              </a:rPr>
              <a:t>只给自己用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879847" y="3488436"/>
            <a:ext cx="182880" cy="237744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3567" y="3799332"/>
            <a:ext cx="1615440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供应商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3567" y="4347972"/>
            <a:ext cx="1615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7C2F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E6478"/>
                </a:solidFill>
              </a:rPr>
              <a:t>自定义空间</a:t>
            </a:r>
          </a:p>
          <a:p>
            <a:pPr algn="ctr"/>
            <a:r>
              <a:rPr sz="1050" b="0">
                <a:solidFill>
                  <a:srgbClr val="5E6478"/>
                </a:solidFill>
              </a:rPr>
              <a:t>只给自己用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042916"/>
            <a:ext cx="5120640" cy="384048"/>
          </a:xfrm>
          <a:prstGeom prst="roundRect">
            <a:avLst>
              <a:gd name="adj" fmla="val 19047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fresh-cw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125212"/>
            <a:ext cx="219456" cy="219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15568" y="5042916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B4551A"/>
                </a:solidFill>
              </a:rPr>
              <a:t>好用的自定义指标，评审后收回成集团标准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64124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E6478"/>
                </a:solidFill>
              </a:rPr>
              <a:t>· 只能基于集团标准和已授权的数据派生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· 不能和集团标准同名，不覆盖、不影响别人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53327" y="2702052"/>
            <a:ext cx="4809744" cy="1965960"/>
          </a:xfrm>
          <a:prstGeom prst="roundRect">
            <a:avLst>
              <a:gd name="adj" fmla="val 558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7" y="2793492"/>
            <a:ext cx="453542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一个指标要说清四件事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3214116"/>
            <a:ext cx="9875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950" b="0">
                <a:solidFill>
                  <a:srgbClr val="5E6478"/>
                </a:solidFill>
              </a:rPr>
              <a:t>算什么</a:t>
            </a:r>
          </a:p>
          <a:p>
            <a:pPr algn="ctr">
              <a:spcBef>
                <a:spcPts val="100"/>
              </a:spcBef>
            </a:pPr>
            <a:r>
              <a:rPr sz="1150" b="1">
                <a:solidFill>
                  <a:srgbClr val="655BE6"/>
                </a:solidFill>
              </a:rPr>
              <a:t>支付金额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3214116"/>
            <a:ext cx="164592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776CFD"/>
                </a:solidFill>
              </a:rPr>
              <a:t>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8352" y="3214116"/>
            <a:ext cx="9875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950" b="0">
                <a:solidFill>
                  <a:srgbClr val="5E6478"/>
                </a:solidFill>
              </a:rPr>
              <a:t>加条件</a:t>
            </a:r>
          </a:p>
          <a:p>
            <a:pPr algn="ctr">
              <a:spcBef>
                <a:spcPts val="100"/>
              </a:spcBef>
            </a:pPr>
            <a:r>
              <a:rPr sz="1150" b="1">
                <a:solidFill>
                  <a:srgbClr val="655BE6"/>
                </a:solidFill>
              </a:rPr>
              <a:t>线上成人票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214116"/>
            <a:ext cx="164592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776CFD"/>
                </a:solidFill>
              </a:rPr>
              <a:t>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0496" y="3214116"/>
            <a:ext cx="9875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950" b="0">
                <a:solidFill>
                  <a:srgbClr val="5E6478"/>
                </a:solidFill>
              </a:rPr>
              <a:t>什么时间</a:t>
            </a:r>
          </a:p>
          <a:p>
            <a:pPr algn="ctr">
              <a:spcBef>
                <a:spcPts val="100"/>
              </a:spcBef>
            </a:pPr>
            <a:r>
              <a:rPr sz="1150" b="1">
                <a:solidFill>
                  <a:srgbClr val="655BE6"/>
                </a:solidFill>
              </a:rPr>
              <a:t>近 7 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3214116"/>
            <a:ext cx="164592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776CFD"/>
                </a:solidFill>
              </a:rPr>
              <a:t>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3214116"/>
            <a:ext cx="9875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950" b="0">
                <a:solidFill>
                  <a:srgbClr val="5E6478"/>
                </a:solidFill>
              </a:rPr>
              <a:t>按什么看</a:t>
            </a:r>
          </a:p>
          <a:p>
            <a:pPr algn="ctr">
              <a:spcBef>
                <a:spcPts val="100"/>
              </a:spcBef>
            </a:pPr>
            <a:r>
              <a:rPr sz="1150" b="1">
                <a:solidFill>
                  <a:srgbClr val="655BE6"/>
                </a:solidFill>
              </a:rPr>
              <a:t>按景区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7" y="4009644"/>
            <a:ext cx="4443984" cy="502920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= 近 7 天线上渠道成人票支付金额（按景区）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3327" y="4832604"/>
            <a:ext cx="480974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776CFD"/>
                </a:solidFill>
              </a:rPr>
              <a:t>新指标四步认证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53327" y="5225796"/>
            <a:ext cx="996696" cy="658368"/>
          </a:xfrm>
          <a:prstGeom prst="roundRect">
            <a:avLst>
              <a:gd name="adj" fmla="val 13888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B2F42"/>
                </a:solidFill>
              </a:rPr>
              <a:t>起草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00" b="0">
                <a:solidFill>
                  <a:srgbClr val="5E6478"/>
                </a:solidFill>
              </a:rPr>
              <a:t>数据团队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086599" y="5463540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24344" y="5225796"/>
            <a:ext cx="996696" cy="658368"/>
          </a:xfrm>
          <a:prstGeom prst="roundRect">
            <a:avLst>
              <a:gd name="adj" fmla="val 13888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B2F42"/>
                </a:solidFill>
              </a:rPr>
              <a:t>确认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00" b="0">
                <a:solidFill>
                  <a:srgbClr val="5E6478"/>
                </a:solidFill>
              </a:rPr>
              <a:t>业务负责人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357615" y="5463540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95360" y="5225796"/>
            <a:ext cx="996696" cy="658368"/>
          </a:xfrm>
          <a:prstGeom prst="roundRect">
            <a:avLst>
              <a:gd name="adj" fmla="val 13888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B2F42"/>
                </a:solidFill>
              </a:rPr>
              <a:t>拍板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00" b="0">
                <a:solidFill>
                  <a:srgbClr val="5E6478"/>
                </a:solidFill>
              </a:rPr>
              <a:t>治理小组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628632" y="5463540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866376" y="5225796"/>
            <a:ext cx="996696" cy="658368"/>
          </a:xfrm>
          <a:prstGeom prst="roundRect">
            <a:avLst>
              <a:gd name="adj" fmla="val 13888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</a:rPr>
              <a:t>发布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00" b="0">
                <a:solidFill>
                  <a:srgbClr val="EEEDFF"/>
                </a:solidFill>
              </a:rPr>
              <a:t>记录版本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53327" y="6158484"/>
            <a:ext cx="480974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adge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5" y="6272784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47688" y="6158484"/>
            <a:ext cx="403250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</a:rPr>
              <a:t>门槛　</a:t>
            </a:r>
            <a:r>
              <a:rPr sz="1200" b="0">
                <a:solidFill>
                  <a:srgbClr val="FFFFFF"/>
                </a:solidFill>
              </a:rPr>
              <a:t>认证过的指标和标签，才能进老板看板、接口和 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管好权限①：数据分四级，各有各的主人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越敏感，管得越严；谁的数据，只服务谁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16936"/>
            <a:ext cx="1188720" cy="786384"/>
          </a:xfrm>
          <a:prstGeom prst="roundRect">
            <a:avLst>
              <a:gd name="adj" fmla="val 11627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高敏</a:t>
            </a:r>
          </a:p>
          <a:p>
            <a:pPr algn="ctr"/>
            <a:r>
              <a:rPr sz="1000" b="0">
                <a:solidFill>
                  <a:srgbClr val="FFE9D9"/>
                </a:solidFill>
              </a:rPr>
              <a:t>L4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56815" y="2916936"/>
            <a:ext cx="5010912" cy="786384"/>
          </a:xfrm>
          <a:prstGeom prst="roundRect">
            <a:avLst>
              <a:gd name="adj" fmla="val 1162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9696" y="2916936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手机号、证件号、人脸、政务核验结果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加密、打码、最小授权、全程审计；明文不进大模型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831336"/>
            <a:ext cx="1188720" cy="786384"/>
          </a:xfrm>
          <a:prstGeom prst="roundRect">
            <a:avLst>
              <a:gd name="adj" fmla="val 11627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敏感</a:t>
            </a:r>
          </a:p>
          <a:p>
            <a:pPr algn="ctr"/>
            <a:r>
              <a:rPr sz="1000" b="0">
                <a:solidFill>
                  <a:srgbClr val="E4E2FF"/>
                </a:solidFill>
              </a:rPr>
              <a:t>L3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31136" y="3831336"/>
            <a:ext cx="4736592" cy="786384"/>
          </a:xfrm>
          <a:prstGeom prst="roundRect">
            <a:avLst>
              <a:gd name="adj" fmla="val 1162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016" y="3831336"/>
            <a:ext cx="438912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单景区经营数据、价格、结算、供应商合作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按景区 / 供应商隔离；跨主体只看汇总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7007" y="4745736"/>
            <a:ext cx="1188720" cy="786384"/>
          </a:xfrm>
          <a:prstGeom prst="roundRect">
            <a:avLst>
              <a:gd name="adj" fmla="val 11627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内部</a:t>
            </a:r>
          </a:p>
          <a:p>
            <a:pPr algn="ctr"/>
            <a:r>
              <a:rPr sz="1000" b="0">
                <a:solidFill>
                  <a:srgbClr val="E4E2FF"/>
                </a:solidFill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5456" y="4745736"/>
            <a:ext cx="4462272" cy="786384"/>
          </a:xfrm>
          <a:prstGeom prst="roundRect">
            <a:avLst>
              <a:gd name="adj" fmla="val 1162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4745736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日志、设备状态、运营数据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内部按角色授权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81328" y="5660136"/>
            <a:ext cx="1188720" cy="786384"/>
          </a:xfrm>
          <a:prstGeom prst="roundRect">
            <a:avLst>
              <a:gd name="adj" fmla="val 11627"/>
            </a:avLst>
          </a:prstGeom>
          <a:solidFill>
            <a:srgbClr val="6C9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公开</a:t>
            </a:r>
          </a:p>
          <a:p>
            <a:pPr algn="ctr"/>
            <a:r>
              <a:rPr sz="1000" b="0">
                <a:solidFill>
                  <a:srgbClr val="E4E2FF"/>
                </a:solidFill>
              </a:rPr>
              <a:t>L1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9776" y="5660136"/>
            <a:ext cx="4187952" cy="786384"/>
          </a:xfrm>
          <a:prstGeom prst="roundRect">
            <a:avLst>
              <a:gd name="adj" fmla="val 1162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62656" y="5660136"/>
            <a:ext cx="384048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已发布的报告、规范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可以公开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42048" y="2916936"/>
            <a:ext cx="3621024" cy="3529584"/>
          </a:xfrm>
          <a:prstGeom prst="roundRect">
            <a:avLst>
              <a:gd name="adj" fmla="val 362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key-roun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3081528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82127" y="3044952"/>
            <a:ext cx="288950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谁的数据，只服务谁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3584448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</a:rPr>
              <a:t>景区数据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3584448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</a:rPr>
              <a:t>只服务该景区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3986784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</a:rPr>
              <a:t>供应商数据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3986784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</a:rPr>
              <a:t>只服务该供应商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438912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</a:rPr>
              <a:t>渠道数据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4389120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</a:rPr>
              <a:t>不给其他渠道看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4791456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</a:rPr>
              <a:t>游客信息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0808" y="4791456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</a:rPr>
              <a:t>在授权范围内用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5193792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</a:rPr>
              <a:t>政务数据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8" y="5193792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</a:rPr>
              <a:t>只用核验结果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5596128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</a:rPr>
              <a:t>外部数据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5596128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</a:rPr>
              <a:t>按合同约定用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5998464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</a:rPr>
              <a:t>对外输出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0808" y="5998464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</a:rPr>
              <a:t>只给匿名汇总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管好权限②：谁能看什么，三把锁锁住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角色决定能用哪些功能，范围决定能看哪些景区，等级决定能看哪些字段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2628900"/>
            <a:ext cx="1170432" cy="384048"/>
          </a:xfrm>
          <a:prstGeom prst="roundRect">
            <a:avLst>
              <a:gd name="adj" fmla="val 19047"/>
            </a:avLst>
          </a:prstGeom>
          <a:solidFill>
            <a:srgbClr val="6C9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公开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628900"/>
            <a:ext cx="1170432" cy="384048"/>
          </a:xfrm>
          <a:prstGeom prst="roundRect">
            <a:avLst>
              <a:gd name="adj" fmla="val 19047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内部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628900"/>
            <a:ext cx="1170432" cy="384048"/>
          </a:xfrm>
          <a:prstGeom prst="roundRect">
            <a:avLst>
              <a:gd name="adj" fmla="val 19047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敏感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51576" y="2628900"/>
            <a:ext cx="1170432" cy="384048"/>
          </a:xfrm>
          <a:prstGeom prst="roundRect">
            <a:avLst>
              <a:gd name="adj" fmla="val 19047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高敏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861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集团管理层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75688" y="30861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可看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00984" y="30861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可看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0861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D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看汇总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51576" y="30861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1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A9AEC2"/>
                </a:solidFill>
              </a:rPr>
              <a:t>不可看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59816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数据团队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75688" y="3598164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可看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0984" y="3598164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可看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598164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D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按项目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51576" y="3598164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4551A"/>
                </a:solidFill>
              </a:rPr>
              <a:t>审批打码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1022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业务线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75688" y="4110228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可看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00984" y="4110228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可看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4110228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D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本业务线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51576" y="4110228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1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A9AEC2"/>
                </a:solidFill>
              </a:rPr>
              <a:t>不可看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622292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景区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75688" y="4622292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可看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00984" y="4622292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D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本景区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4622292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D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本景区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51576" y="4622292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4551A"/>
                </a:solidFill>
              </a:rPr>
              <a:t>授权打码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134356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75688" y="5134356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可看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00984" y="5134356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D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本供应商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5134356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D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本供应商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51576" y="5134356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1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A9AEC2"/>
                </a:solidFill>
              </a:rPr>
              <a:t>不可看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6464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外部伙伴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75688" y="564642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可看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00984" y="564642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1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A9AEC2"/>
                </a:solidFill>
              </a:rPr>
              <a:t>不可看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26280" y="564642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D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匿名汇总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51576" y="564642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1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A9AEC2"/>
                </a:solidFill>
              </a:rPr>
              <a:t>不可看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6158484"/>
            <a:ext cx="6263640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 智能体　</a:t>
            </a:r>
            <a:r>
              <a:rPr sz="1200" b="0">
                <a:solidFill>
                  <a:srgbClr val="EEEDFF"/>
                </a:solidFill>
              </a:rPr>
              <a:t>不单独开权限，继承提问人的权限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2048" y="2628900"/>
            <a:ext cx="362102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776CFD"/>
                </a:solidFill>
              </a:rPr>
              <a:t>权限怎么申请和收回</a:t>
            </a:r>
          </a:p>
        </p:txBody>
      </p:sp>
      <p:sp>
        <p:nvSpPr>
          <p:cNvPr id="45" name="Oval 44"/>
          <p:cNvSpPr/>
          <p:nvPr/>
        </p:nvSpPr>
        <p:spPr>
          <a:xfrm>
            <a:off x="7242048" y="3104388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en-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5" y="3214116"/>
            <a:ext cx="219456" cy="21945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808975" y="3067812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申请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8975" y="3332988"/>
            <a:ext cx="302666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说明用途和期限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61504" y="3561588"/>
            <a:ext cx="0" cy="182880"/>
          </a:xfrm>
          <a:prstGeom prst="line">
            <a:avLst/>
          </a:prstGeom>
          <a:ln w="1587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242048" y="3762756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tam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5" y="3872484"/>
            <a:ext cx="219456" cy="21945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808975" y="3726180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审批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08975" y="3991356"/>
            <a:ext cx="302666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数据负责人；高敏加安全负责人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61504" y="4219956"/>
            <a:ext cx="0" cy="182880"/>
          </a:xfrm>
          <a:prstGeom prst="line">
            <a:avLst/>
          </a:prstGeom>
          <a:ln w="1587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242048" y="4421124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key-rou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5" y="4530852"/>
            <a:ext cx="219456" cy="21945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808975" y="4384548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授权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08975" y="4649724"/>
            <a:ext cx="302666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最小范围，设到期时间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461504" y="4878324"/>
            <a:ext cx="0" cy="182880"/>
          </a:xfrm>
          <a:prstGeom prst="line">
            <a:avLst/>
          </a:prstGeom>
          <a:ln w="1587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7242048" y="5079492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ey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5" y="5189220"/>
            <a:ext cx="219456" cy="21945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808975" y="5042916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使用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08975" y="5308092"/>
            <a:ext cx="302666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访问全程留痕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461504" y="5536692"/>
            <a:ext cx="0" cy="182880"/>
          </a:xfrm>
          <a:prstGeom prst="line">
            <a:avLst/>
          </a:prstGeom>
          <a:ln w="1587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7242048" y="5737860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archiv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1775" y="5847588"/>
            <a:ext cx="219456" cy="21945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808975" y="5701284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回收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08975" y="5966460"/>
            <a:ext cx="302666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到期、离岗、项目结束自动收回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42048" y="6405372"/>
            <a:ext cx="3621024" cy="329184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4551A"/>
                </a:solidFill>
              </a:rPr>
              <a:t>每季度复核一次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定期大扫除：给数据资产打分，没人用的就下线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像体检报告一样，每月按负责人、按业务给数据资产打“健康分”，公示排名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47188"/>
            <a:ext cx="4846320" cy="4069080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647188"/>
            <a:ext cx="4846320" cy="329184"/>
          </a:xfrm>
          <a:prstGeom prst="roundRect">
            <a:avLst>
              <a:gd name="adj" fmla="val 0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2756916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" y="2756916"/>
            <a:ext cx="109728" cy="109728"/>
          </a:xfrm>
          <a:prstGeom prst="ellipse">
            <a:avLst/>
          </a:prstGeom>
          <a:solidFill>
            <a:srgbClr val="F5B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1288" y="2756916"/>
            <a:ext cx="109728" cy="109728"/>
          </a:xfrm>
          <a:prstGeom prst="ellipse">
            <a:avLst/>
          </a:prstGeom>
          <a:solidFill>
            <a:srgbClr val="2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7" y="2647188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5E6478"/>
                </a:solidFill>
              </a:rPr>
              <a:t>资产健康分 · 月度公示（示意）</a:t>
            </a:r>
          </a:p>
        </p:txBody>
      </p:sp>
      <p:sp>
        <p:nvSpPr>
          <p:cNvPr id="15" name="Oval 14"/>
          <p:cNvSpPr/>
          <p:nvPr/>
        </p:nvSpPr>
        <p:spPr>
          <a:xfrm>
            <a:off x="886968" y="3177539"/>
            <a:ext cx="411480" cy="41148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le-tex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" y="3280409"/>
            <a:ext cx="205740" cy="2057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35607" y="31318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规范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3406139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命名、注释、负责人、等级是否齐全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58568" y="3204972"/>
            <a:ext cx="2971800" cy="146304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58568" y="3204972"/>
            <a:ext cx="2436876" cy="1463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6968" y="3863339"/>
            <a:ext cx="411480" cy="41148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tethoscop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38" y="3966210"/>
            <a:ext cx="205740" cy="2057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35607" y="38176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质量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7" y="409194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规则覆盖、通过率、按时产出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58568" y="3890772"/>
            <a:ext cx="2971800" cy="146304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58568" y="3890772"/>
            <a:ext cx="2020824" cy="1463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6968" y="4549140"/>
            <a:ext cx="411480" cy="41148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38" y="4652010"/>
            <a:ext cx="205740" cy="2057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35607" y="45034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477774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敏感字段是否打标、是否打码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58568" y="4576572"/>
            <a:ext cx="2971800" cy="146304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58568" y="4576572"/>
            <a:ext cx="2674620" cy="1463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6968" y="5234940"/>
            <a:ext cx="411480" cy="41148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ey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838" y="5337810"/>
            <a:ext cx="205740" cy="2057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35607" y="51892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使用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5607" y="546354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访问次数、下游引用数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58568" y="5262372"/>
            <a:ext cx="2971800" cy="146304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258568" y="5262372"/>
            <a:ext cx="1634490" cy="1463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6968" y="5920740"/>
            <a:ext cx="411480" cy="41148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oin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38" y="6023610"/>
            <a:ext cx="205740" cy="2057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35607" y="58750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成本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35607" y="614934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存储量、计算耗时、重复计算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58568" y="5948172"/>
            <a:ext cx="2971800" cy="146304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58568" y="5948172"/>
            <a:ext cx="1842516" cy="1463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779007" y="2720340"/>
            <a:ext cx="54864" cy="219456"/>
          </a:xfrm>
          <a:prstGeom prst="roundRect">
            <a:avLst>
              <a:gd name="adj" fmla="val 0"/>
            </a:avLst>
          </a:prstGeom>
          <a:solidFill>
            <a:srgbClr val="B45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25312" y="2647188"/>
            <a:ext cx="5084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没人用的数据，按步骤下线</a:t>
            </a:r>
          </a:p>
        </p:txBody>
      </p:sp>
      <p:sp>
        <p:nvSpPr>
          <p:cNvPr id="47" name="Oval 46"/>
          <p:cNvSpPr/>
          <p:nvPr/>
        </p:nvSpPr>
        <p:spPr>
          <a:xfrm>
            <a:off x="5779007" y="3104388"/>
            <a:ext cx="420624" cy="420624"/>
          </a:xfrm>
          <a:prstGeom prst="ellipse">
            <a:avLst/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earch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9592" y="3204972"/>
            <a:ext cx="219456" cy="21945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327647" y="3104388"/>
            <a:ext cx="1143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发现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0648" y="3104388"/>
            <a:ext cx="334670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90 天没人访问 · 没有下游 · 重复模型 · 临时表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89320" y="3525012"/>
            <a:ext cx="0" cy="146304"/>
          </a:xfrm>
          <a:prstGeom prst="line">
            <a:avLst/>
          </a:prstGeom>
          <a:ln w="15875">
            <a:solidFill>
              <a:srgbClr val="F7C5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779007" y="3671316"/>
            <a:ext cx="420624" cy="420624"/>
          </a:xfrm>
          <a:prstGeom prst="ellipse">
            <a:avLst/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ell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9592" y="3771900"/>
            <a:ext cx="219456" cy="21945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327647" y="3671316"/>
            <a:ext cx="1143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通知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70648" y="3671316"/>
            <a:ext cx="334670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负责人确认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989320" y="4091940"/>
            <a:ext cx="0" cy="146304"/>
          </a:xfrm>
          <a:prstGeom prst="line">
            <a:avLst/>
          </a:prstGeom>
          <a:ln w="15875">
            <a:solidFill>
              <a:srgbClr val="F7C5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779007" y="4238244"/>
            <a:ext cx="420624" cy="420624"/>
          </a:xfrm>
          <a:prstGeom prst="ellipse">
            <a:avLst/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lock_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9592" y="4338828"/>
            <a:ext cx="219456" cy="21945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327647" y="4238244"/>
            <a:ext cx="1143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先停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0648" y="4238244"/>
            <a:ext cx="334670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停调度或改只读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89320" y="4658868"/>
            <a:ext cx="0" cy="146304"/>
          </a:xfrm>
          <a:prstGeom prst="line">
            <a:avLst/>
          </a:prstGeom>
          <a:ln w="15875">
            <a:solidFill>
              <a:srgbClr val="F7C5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779007" y="4805172"/>
            <a:ext cx="420624" cy="420624"/>
          </a:xfrm>
          <a:prstGeom prst="ellipse">
            <a:avLst/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lock_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9592" y="4905756"/>
            <a:ext cx="219456" cy="21945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327647" y="4805172"/>
            <a:ext cx="1143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观察 30 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70648" y="4805172"/>
            <a:ext cx="334670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没人反馈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989320" y="5225796"/>
            <a:ext cx="0" cy="146304"/>
          </a:xfrm>
          <a:prstGeom prst="line">
            <a:avLst/>
          </a:prstGeom>
          <a:ln w="15875">
            <a:solidFill>
              <a:srgbClr val="F7C5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779007" y="5372100"/>
            <a:ext cx="420624" cy="420624"/>
          </a:xfrm>
          <a:prstGeom prst="ellipse">
            <a:avLst/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trash2_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9592" y="5472684"/>
            <a:ext cx="219456" cy="21945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327647" y="5372100"/>
            <a:ext cx="1143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删除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70648" y="5372100"/>
            <a:ext cx="334670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有人反馈就恢复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79007" y="6012180"/>
            <a:ext cx="5084064" cy="704088"/>
          </a:xfrm>
          <a:prstGeom prst="roundRect">
            <a:avLst>
              <a:gd name="adj" fmla="val 1298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61888" y="6012180"/>
            <a:ext cx="4809744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B2F42"/>
                </a:solidFill>
              </a:rPr>
              <a:t>· 临时表到期自动清理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2B2F42"/>
                </a:solidFill>
              </a:rPr>
              <a:t>· 重复模型合并到公共层，先双跑对比再切换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统一出口：所有数据只从一个“窗口”出去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不再点对点导数、私接数据库；对内对外都走动态数据开放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07208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认证指标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5E6478"/>
                </a:solidFill>
              </a:rPr>
              <a:t>口径确认过的数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52928" y="3172968"/>
            <a:ext cx="548640" cy="411480"/>
          </a:xfrm>
          <a:prstGeom prst="line">
            <a:avLst/>
          </a:prstGeom>
          <a:ln w="19050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" y="3675888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统一标签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5E6478"/>
                </a:solidFill>
              </a:rPr>
              <a:t>标准 + 自定义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52928" y="3584448"/>
            <a:ext cx="548640" cy="457200"/>
          </a:xfrm>
          <a:prstGeom prst="line">
            <a:avLst/>
          </a:prstGeom>
          <a:ln w="19050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7287" y="2715768"/>
            <a:ext cx="3017520" cy="1783080"/>
          </a:xfrm>
          <a:prstGeom prst="roundRect">
            <a:avLst>
              <a:gd name="adj" fmla="val 820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u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825496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47287" y="32644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动态数据开放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675888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EEEDFF"/>
                </a:solidFill>
              </a:rPr>
              <a:t>统一鉴权 · 按景区隔离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EEEDFF"/>
                </a:solidFill>
              </a:rPr>
              <a:t>调用计量 · 全程监控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464807" y="2898648"/>
            <a:ext cx="548640" cy="713232"/>
          </a:xfrm>
          <a:prstGeom prst="line">
            <a:avLst/>
          </a:prstGeom>
          <a:ln w="1587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13447" y="2715768"/>
            <a:ext cx="38496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ayout-dashboard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7" y="2788920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70647" y="2715768"/>
            <a:ext cx="33009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景区 SaaS / 经营看板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464807" y="3355848"/>
            <a:ext cx="548640" cy="256032"/>
          </a:xfrm>
          <a:prstGeom prst="line">
            <a:avLst/>
          </a:prstGeom>
          <a:ln w="1587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13447" y="3172968"/>
            <a:ext cx="38496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egaphon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7" y="3246120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70647" y="3172968"/>
            <a:ext cx="33009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营销：圈人 · 触达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64807" y="3611880"/>
            <a:ext cx="548640" cy="201168"/>
          </a:xfrm>
          <a:prstGeom prst="line">
            <a:avLst/>
          </a:prstGeom>
          <a:ln w="1587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13447" y="3630168"/>
            <a:ext cx="38496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handshak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7" y="3703320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70647" y="3630168"/>
            <a:ext cx="33009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供应商 / 合作伙伴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64807" y="3611880"/>
            <a:ext cx="548640" cy="658368"/>
          </a:xfrm>
          <a:prstGeom prst="line">
            <a:avLst/>
          </a:prstGeom>
          <a:ln w="1587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013447" y="4087367"/>
            <a:ext cx="38496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ot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7" y="4160519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70647" y="4087367"/>
            <a:ext cx="33009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AI 智能体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846320"/>
            <a:ext cx="54864" cy="219456"/>
          </a:xfrm>
          <a:prstGeom prst="roundRect">
            <a:avLst>
              <a:gd name="adj" fmla="val 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77316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四种用法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184648"/>
            <a:ext cx="2414016" cy="1463040"/>
          </a:xfrm>
          <a:prstGeom prst="roundRect">
            <a:avLst>
              <a:gd name="adj" fmla="val 7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2959" y="5321808"/>
            <a:ext cx="365760" cy="3657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959" y="5321808"/>
            <a:ext cx="365760" cy="36576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303520"/>
            <a:ext cx="172821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只查指标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5806440"/>
            <a:ext cx="2093976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E6478"/>
                </a:solidFill>
              </a:rPr>
              <a:t>景区经营看板：销售额、核销量、入园人次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55264" y="5184648"/>
            <a:ext cx="2414016" cy="1463040"/>
          </a:xfrm>
          <a:prstGeom prst="roundRect">
            <a:avLst>
              <a:gd name="adj" fmla="val 7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19856" y="5321808"/>
            <a:ext cx="365760" cy="3657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19856" y="5321808"/>
            <a:ext cx="365760" cy="36576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7056" y="5303520"/>
            <a:ext cx="172821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指标 + 标签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38144" y="5806440"/>
            <a:ext cx="2093976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E6478"/>
                </a:solidFill>
              </a:rPr>
              <a:t>按会员等级看复购率；按游客偏好看各票种销量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52160" y="5184648"/>
            <a:ext cx="2414016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16752" y="5321808"/>
            <a:ext cx="365760" cy="3657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16752" y="5321808"/>
            <a:ext cx="365760" cy="36576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5303520"/>
            <a:ext cx="172821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标签圈人 + 指标看效果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806440"/>
            <a:ext cx="2093976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E6478"/>
                </a:solidFill>
              </a:rPr>
              <a:t>圈出“近 90 天没复购的年卡用户”推活动，再看转化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49056" y="5184648"/>
            <a:ext cx="2414016" cy="1463040"/>
          </a:xfrm>
          <a:prstGeom prst="roundRect">
            <a:avLst>
              <a:gd name="adj" fmla="val 7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13648" y="5321808"/>
            <a:ext cx="365760" cy="3657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613648" y="5321808"/>
            <a:ext cx="365760" cy="36576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0848" y="5303520"/>
            <a:ext cx="172821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只查标签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31936" y="5806440"/>
            <a:ext cx="2093976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E6478"/>
                </a:solidFill>
              </a:rPr>
              <a:t>智能体按游客偏好做个性化推荐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治理写进开发每一步：事前定规范、事中设卡点、事后做治理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不另起流程，而是把检查站放进大家每天都要走的路上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47188"/>
            <a:ext cx="3127248" cy="4069080"/>
          </a:xfrm>
          <a:prstGeom prst="roundRect">
            <a:avLst>
              <a:gd name="adj" fmla="val 409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647188"/>
            <a:ext cx="3127248" cy="868680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268980"/>
            <a:ext cx="3127248" cy="246888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ipboar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857500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35607" y="2720340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EEEDFF"/>
                </a:solidFill>
              </a:rPr>
              <a:t>事前 · </a:t>
            </a:r>
            <a:r>
              <a:rPr sz="1900" b="1">
                <a:solidFill>
                  <a:srgbClr val="FFFFFF"/>
                </a:solidFill>
              </a:rPr>
              <a:t>定规范</a:t>
            </a:r>
          </a:p>
        </p:txBody>
      </p:sp>
      <p:pic>
        <p:nvPicPr>
          <p:cNvPr id="14" name="Picture 1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799332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1288" y="3726180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F42"/>
                </a:solidFill>
              </a:rPr>
              <a:t>需求：确认口径，复用已认证指标</a:t>
            </a:r>
          </a:p>
        </p:txBody>
      </p:sp>
      <p:pic>
        <p:nvPicPr>
          <p:cNvPr id="16" name="Picture 1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311395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61288" y="4238243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F42"/>
                </a:solidFill>
              </a:rPr>
              <a:t>设计：模型评审，定数据域、分层、等级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326380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776CFD"/>
                </a:solidFill>
              </a:rPr>
              <a:t>谁来做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554980"/>
            <a:ext cx="27614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B2F42"/>
                </a:solidFill>
              </a:rPr>
              <a:t>数据架构师 · 治理专员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7" y="5966460"/>
            <a:ext cx="2761488" cy="566928"/>
          </a:xfrm>
          <a:prstGeom prst="roundRect">
            <a:avLst>
              <a:gd name="adj" fmla="val 12903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950" b="1">
                <a:solidFill>
                  <a:srgbClr val="B4551A"/>
                </a:solidFill>
              </a:rPr>
              <a:t>做不到会怎样</a:t>
            </a:r>
          </a:p>
          <a:p>
            <a:pPr algn="l"/>
            <a:r>
              <a:rPr sz="1100" b="0">
                <a:solidFill>
                  <a:srgbClr val="2B2F42"/>
                </a:solidFill>
              </a:rPr>
              <a:t>不过评审，不能进入开发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877055" y="4503420"/>
            <a:ext cx="228600" cy="27432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97096" y="2647188"/>
            <a:ext cx="3127248" cy="4069080"/>
          </a:xfrm>
          <a:prstGeom prst="roundRect">
            <a:avLst>
              <a:gd name="adj" fmla="val 4093"/>
            </a:avLst>
          </a:prstGeom>
          <a:solidFill>
            <a:srgbClr val="FFFF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97096" y="2647188"/>
            <a:ext cx="3127248" cy="868680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97096" y="3268980"/>
            <a:ext cx="3127248" cy="246888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ield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857500"/>
            <a:ext cx="411480" cy="4114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74336" y="2720340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EEEDFF"/>
                </a:solidFill>
              </a:rPr>
              <a:t>事中 · </a:t>
            </a:r>
            <a:r>
              <a:rPr sz="1900" b="1">
                <a:solidFill>
                  <a:srgbClr val="FFFFFF"/>
                </a:solidFill>
              </a:rPr>
              <a:t>设卡点</a:t>
            </a:r>
          </a:p>
        </p:txBody>
      </p:sp>
      <p:pic>
        <p:nvPicPr>
          <p:cNvPr id="27" name="Picture 26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3799332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00016" y="3726180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F42"/>
                </a:solidFill>
              </a:rPr>
              <a:t>开发：按规范写，绑定质量规则</a:t>
            </a:r>
          </a:p>
        </p:txBody>
      </p:sp>
      <p:pic>
        <p:nvPicPr>
          <p:cNvPr id="29" name="Picture 28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4311395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00016" y="4238243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F42"/>
                </a:solidFill>
              </a:rPr>
              <a:t>发布：检查脚本自动卡</a:t>
            </a:r>
          </a:p>
        </p:txBody>
      </p:sp>
      <p:pic>
        <p:nvPicPr>
          <p:cNvPr id="31" name="Picture 3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4823460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00016" y="4750308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F42"/>
                </a:solidFill>
              </a:rPr>
              <a:t>运行：质量检查，不合格拦下游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98264" y="5326380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776CFD"/>
                </a:solidFill>
              </a:rPr>
              <a:t>谁来做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8264" y="5554980"/>
            <a:ext cx="27614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B2F42"/>
                </a:solidFill>
              </a:rPr>
              <a:t>平台自动执行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9976" y="5966460"/>
            <a:ext cx="2761488" cy="566928"/>
          </a:xfrm>
          <a:prstGeom prst="roundRect">
            <a:avLst>
              <a:gd name="adj" fmla="val 12903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950" b="1">
                <a:solidFill>
                  <a:srgbClr val="B4551A"/>
                </a:solidFill>
              </a:rPr>
              <a:t>做不到会怎样</a:t>
            </a:r>
          </a:p>
          <a:p>
            <a:pPr algn="l"/>
            <a:r>
              <a:rPr sz="1100" b="0">
                <a:solidFill>
                  <a:srgbClr val="2B2F42"/>
                </a:solidFill>
              </a:rPr>
              <a:t>不合规发不出去；下游不运行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415783" y="4503420"/>
            <a:ext cx="228600" cy="27432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35824" y="2647188"/>
            <a:ext cx="3127248" cy="4069080"/>
          </a:xfrm>
          <a:prstGeom prst="roundRect">
            <a:avLst>
              <a:gd name="adj" fmla="val 409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35824" y="2647188"/>
            <a:ext cx="3127248" cy="868680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35824" y="3268980"/>
            <a:ext cx="3127248" cy="246888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2857500"/>
            <a:ext cx="411480" cy="4114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13064" y="2720340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EEEDFF"/>
                </a:solidFill>
              </a:rPr>
              <a:t>事后 · </a:t>
            </a:r>
            <a:r>
              <a:rPr sz="1900" b="1">
                <a:solidFill>
                  <a:srgbClr val="FFFFFF"/>
                </a:solidFill>
              </a:rPr>
              <a:t>做治理</a:t>
            </a:r>
          </a:p>
        </p:txBody>
      </p:sp>
      <p:pic>
        <p:nvPicPr>
          <p:cNvPr id="42" name="Picture 4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799332"/>
            <a:ext cx="219456" cy="2194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38744" y="3726180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F42"/>
                </a:solidFill>
              </a:rPr>
              <a:t>运营：健康分、成本、下线</a:t>
            </a:r>
          </a:p>
        </p:txBody>
      </p:sp>
      <p:pic>
        <p:nvPicPr>
          <p:cNvPr id="44" name="Picture 4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4311395"/>
            <a:ext cx="219456" cy="21945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238744" y="4238243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F42"/>
                </a:solidFill>
              </a:rPr>
              <a:t>复盘：补规范、补规则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6992" y="5326380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776CFD"/>
                </a:solidFill>
              </a:rPr>
              <a:t>谁来做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6992" y="5554980"/>
            <a:ext cx="27614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B2F42"/>
                </a:solidFill>
              </a:rPr>
              <a:t>数据负责人 · 治理专员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18704" y="5966460"/>
            <a:ext cx="2761488" cy="566928"/>
          </a:xfrm>
          <a:prstGeom prst="roundRect">
            <a:avLst>
              <a:gd name="adj" fmla="val 12903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950" b="1">
                <a:solidFill>
                  <a:srgbClr val="B4551A"/>
                </a:solidFill>
              </a:rPr>
              <a:t>做不到会怎样</a:t>
            </a:r>
          </a:p>
          <a:p>
            <a:pPr algn="l"/>
            <a:r>
              <a:rPr sz="1100" b="0">
                <a:solidFill>
                  <a:srgbClr val="2B2F42"/>
                </a:solidFill>
              </a:rPr>
              <a:t>健康分低的排名公示，限期整改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谁来管：一个小组拍板，各业务线有人对接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治理不是数据团队一家的事，口径要业务来确认，争议要有人拍板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8568" y="2656332"/>
            <a:ext cx="3383280" cy="777240"/>
          </a:xfrm>
          <a:prstGeom prst="roundRect">
            <a:avLst>
              <a:gd name="adj" fmla="val 14117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数据治理小组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EEEDFF"/>
                </a:solidFill>
              </a:rPr>
              <a:t>裁定口径 · 审批规范和指标认证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50208" y="3433572"/>
            <a:ext cx="0" cy="256032"/>
          </a:xfrm>
          <a:prstGeom prst="line">
            <a:avLst/>
          </a:prstGeom>
          <a:ln w="19050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58568" y="3689604"/>
            <a:ext cx="3383280" cy="777240"/>
          </a:xfrm>
          <a:prstGeom prst="roundRect">
            <a:avLst>
              <a:gd name="adj" fmla="val 14117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数据负责人</a:t>
            </a:r>
          </a:p>
          <a:p>
            <a:pPr algn="ctr">
              <a:spcBef>
                <a:spcPts val="100"/>
              </a:spcBef>
            </a:pPr>
            <a:r>
              <a:rPr sz="1050" b="0">
                <a:solidFill>
                  <a:srgbClr val="5E6478"/>
                </a:solidFill>
              </a:rPr>
              <a:t>定方案 · 跨部门协调 · 对健康分负责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50208" y="4466844"/>
            <a:ext cx="0" cy="228600"/>
          </a:xfrm>
          <a:prstGeom prst="line">
            <a:avLst/>
          </a:prstGeom>
          <a:ln w="19050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09928" y="4695444"/>
            <a:ext cx="4480560" cy="0"/>
          </a:xfrm>
          <a:prstGeom prst="line">
            <a:avLst/>
          </a:prstGeom>
          <a:ln w="19050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09928" y="4695444"/>
            <a:ext cx="0" cy="228600"/>
          </a:xfrm>
          <a:prstGeom prst="line">
            <a:avLst/>
          </a:prstGeom>
          <a:ln w="19050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" y="4924044"/>
            <a:ext cx="210312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35607" y="5033772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iefc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337" y="5159502"/>
            <a:ext cx="251460" cy="2514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8" y="560984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业务数据专员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8841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>
                <a:solidFill>
                  <a:srgbClr val="776CFD"/>
                </a:solidFill>
              </a:rPr>
              <a:t>每个业务线一名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15848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提规则 · 确认口径 · 验收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50208" y="4695444"/>
            <a:ext cx="0" cy="228600"/>
          </a:xfrm>
          <a:prstGeom prst="line">
            <a:avLst/>
          </a:prstGeom>
          <a:ln w="19050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8648" y="4924044"/>
            <a:ext cx="210312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75887" y="5033772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lipboard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18" y="5159502"/>
            <a:ext cx="251460" cy="2514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990088" y="560984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数据治理专员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615848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标准 · 指标 · 质量 · 资产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90488" y="4695444"/>
            <a:ext cx="0" cy="228600"/>
          </a:xfrm>
          <a:prstGeom prst="line">
            <a:avLst/>
          </a:prstGeom>
          <a:ln w="19050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138928" y="4924044"/>
            <a:ext cx="210312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16168" y="5033772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od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898" y="5159502"/>
            <a:ext cx="251460" cy="2514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30368" y="560984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架构师 / 开发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615848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模型落地 · 问题修复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62088" y="2656332"/>
            <a:ext cx="3300984" cy="4050791"/>
          </a:xfrm>
          <a:prstGeom prst="roundRect">
            <a:avLst>
              <a:gd name="adj" fmla="val 3878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8" y="2775204"/>
            <a:ext cx="293522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776CFD"/>
                </a:solidFill>
              </a:rPr>
              <a:t>运转节奏</a:t>
            </a:r>
          </a:p>
        </p:txBody>
      </p:sp>
      <p:sp>
        <p:nvSpPr>
          <p:cNvPr id="35" name="Oval 34"/>
          <p:cNvSpPr/>
          <p:nvPr/>
        </p:nvSpPr>
        <p:spPr>
          <a:xfrm>
            <a:off x="7790688" y="3415284"/>
            <a:ext cx="566928" cy="56692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alendar-c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2419" y="3557016"/>
            <a:ext cx="283464" cy="2834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22208" y="3323844"/>
            <a:ext cx="224942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两周一次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361645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口径评审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3982212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新口径、口径争议集中定</a:t>
            </a:r>
          </a:p>
        </p:txBody>
      </p:sp>
      <p:sp>
        <p:nvSpPr>
          <p:cNvPr id="40" name="Oval 39"/>
          <p:cNvSpPr/>
          <p:nvPr/>
        </p:nvSpPr>
        <p:spPr>
          <a:xfrm>
            <a:off x="7790688" y="4512563"/>
            <a:ext cx="566928" cy="56692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hart-colum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2419" y="4654296"/>
            <a:ext cx="283464" cy="2834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22208" y="4421124"/>
            <a:ext cx="224942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每月一次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471373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健康分公示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5079492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按负责人、按业务排名</a:t>
            </a:r>
          </a:p>
        </p:txBody>
      </p:sp>
      <p:sp>
        <p:nvSpPr>
          <p:cNvPr id="45" name="Oval 44"/>
          <p:cNvSpPr/>
          <p:nvPr/>
        </p:nvSpPr>
        <p:spPr>
          <a:xfrm>
            <a:off x="7790688" y="5609844"/>
            <a:ext cx="566928" cy="56692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refresh-cw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2419" y="5751576"/>
            <a:ext cx="283464" cy="28346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522208" y="5518404"/>
            <a:ext cx="224942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每季度一次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2208" y="581101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复盘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6176772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补规范、补规则、调整目标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怎么算做好了：试点主线的 8 个目标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先在“订单 → 核销 → 结算”上达标，再按数据域推广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87752"/>
            <a:ext cx="2414016" cy="1691640"/>
          </a:xfrm>
          <a:prstGeom prst="roundRect">
            <a:avLst>
              <a:gd name="adj" fmla="val 6486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ok-open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2770632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" y="272491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数据标准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044952"/>
            <a:ext cx="2139696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655BE6"/>
                </a:solidFill>
              </a:rPr>
              <a:t>100</a:t>
            </a:r>
            <a:r>
              <a:rPr sz="1400" b="1">
                <a:solidFill>
                  <a:srgbClr val="655BE6"/>
                </a:solidFill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776472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新表规范符合率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5264" y="2587752"/>
            <a:ext cx="2414016" cy="1691640"/>
          </a:xfrm>
          <a:prstGeom prst="roundRect">
            <a:avLst>
              <a:gd name="adj" fmla="val 6486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older-tre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77063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56432" y="272491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数据家谱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044952"/>
            <a:ext cx="2139696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655BE6"/>
                </a:solidFill>
              </a:rPr>
              <a:t>100</a:t>
            </a:r>
            <a:r>
              <a:rPr sz="1400" b="1">
                <a:solidFill>
                  <a:srgbClr val="655BE6"/>
                </a:solidFill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776472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核心表注释、负责人覆盖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587752"/>
            <a:ext cx="2414016" cy="1691640"/>
          </a:xfrm>
          <a:prstGeom prst="roundRect">
            <a:avLst>
              <a:gd name="adj" fmla="val 6486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d-card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2770632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53328" y="272491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统一编号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044952"/>
            <a:ext cx="2139696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655BE6"/>
                </a:solidFill>
              </a:rPr>
              <a:t>100</a:t>
            </a:r>
            <a:r>
              <a:rPr sz="1400" b="1">
                <a:solidFill>
                  <a:srgbClr val="655BE6"/>
                </a:solidFill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3776472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景区、商品、渠道编号映射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49056" y="2587752"/>
            <a:ext cx="2414016" cy="1691640"/>
          </a:xfrm>
          <a:prstGeom prst="roundRect">
            <a:avLst>
              <a:gd name="adj" fmla="val 6486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tethoscop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2770632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50224" y="272491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每天体检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0224" y="3044952"/>
            <a:ext cx="2139696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655BE6"/>
                </a:solidFill>
              </a:rPr>
              <a:t>100</a:t>
            </a:r>
            <a:r>
              <a:rPr sz="1400" b="1">
                <a:solidFill>
                  <a:srgbClr val="655BE6"/>
                </a:solidFill>
              </a:rPr>
              <a:t>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0224" y="3776472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核心表强规则覆盖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62272"/>
            <a:ext cx="2414016" cy="1691640"/>
          </a:xfrm>
          <a:prstGeom prst="roundRect">
            <a:avLst>
              <a:gd name="adj" fmla="val 6486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imer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9464" y="4645152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9536" y="459943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每天体检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919472"/>
            <a:ext cx="2139696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655BE6"/>
                </a:solidFill>
              </a:rPr>
              <a:t>≥99</a:t>
            </a:r>
            <a:r>
              <a:rPr sz="1400" b="1">
                <a:solidFill>
                  <a:srgbClr val="655BE6"/>
                </a:solidFill>
              </a:rPr>
              <a:t>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650992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核心报表按时产出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55264" y="4462272"/>
            <a:ext cx="2414016" cy="1691640"/>
          </a:xfrm>
          <a:prstGeom prst="roundRect">
            <a:avLst>
              <a:gd name="adj" fmla="val 6486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cale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4645152"/>
            <a:ext cx="292608" cy="2926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456432" y="459943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统一口径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4919472"/>
            <a:ext cx="2139696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655BE6"/>
                </a:solidFill>
              </a:rPr>
              <a:t>100</a:t>
            </a:r>
            <a:r>
              <a:rPr sz="1400" b="1">
                <a:solidFill>
                  <a:srgbClr val="655BE6"/>
                </a:solidFill>
              </a:rPr>
              <a:t>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5650992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老板看板认证指标占比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4462272"/>
            <a:ext cx="2414016" cy="1691640"/>
          </a:xfrm>
          <a:prstGeom prst="roundRect">
            <a:avLst>
              <a:gd name="adj" fmla="val 6486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ock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256" y="4645152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053328" y="459943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管好权限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4919472"/>
            <a:ext cx="2139696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655BE6"/>
                </a:solidFill>
              </a:rPr>
              <a:t>100</a:t>
            </a:r>
            <a:r>
              <a:rPr sz="1400" b="1">
                <a:solidFill>
                  <a:srgbClr val="655BE6"/>
                </a:solidFill>
              </a:rPr>
              <a:t>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5650992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敏感字段识别打标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49056" y="4462272"/>
            <a:ext cx="2414016" cy="1691640"/>
          </a:xfrm>
          <a:prstGeom prst="roundRect">
            <a:avLst>
              <a:gd name="adj" fmla="val 648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rrow-left-righ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0152" y="4645152"/>
            <a:ext cx="292608" cy="2926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50224" y="459943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EEEDFF"/>
                </a:solidFill>
              </a:rPr>
              <a:t>一致性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0224" y="4919472"/>
            <a:ext cx="2139696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FFFFFF"/>
                </a:solidFill>
              </a:rPr>
              <a:t>0</a:t>
            </a:r>
            <a:r>
              <a:rPr sz="1400" b="1">
                <a:solidFill>
                  <a:srgbClr val="FFFFFF"/>
                </a:solidFill>
              </a:rPr>
              <a:t> 差异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50224" y="5650992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</a:rPr>
              <a:t>核销量各出口差异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6318504"/>
            <a:ext cx="1020470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trash2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536" y="6409944"/>
            <a:ext cx="274320" cy="2743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252728" y="6318504"/>
            <a:ext cx="94274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655BE6"/>
                </a:solidFill>
              </a:rPr>
              <a:t>另外　</a:t>
            </a:r>
            <a:r>
              <a:rPr sz="1250" b="0">
                <a:solidFill>
                  <a:srgbClr val="2B2F42"/>
                </a:solidFill>
              </a:rPr>
              <a:t>没用的表和任务，每季度清理一轮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落地四步：统接入 → 统建模 → 统开发 → 统服务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每一步都先在试点主线上做，做通了再铺开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26</a:t>
            </a:r>
          </a:p>
        </p:txBody>
      </p:sp>
      <p:grpSp>
        <p:nvGrpSpPr>
          <p:cNvPr id="21600" name="素材 3"/>
          <p:cNvGrpSpPr/>
          <p:nvPr/>
        </p:nvGrpSpPr>
        <p:grpSpPr>
          <a:xfrm>
            <a:off x="960120" y="3017520"/>
            <a:ext cx="9418320" cy="2188617"/>
            <a:chOff x="742226" y="3016129"/>
            <a:chExt cx="9386508" cy="2181225"/>
          </a:xfrm>
        </p:grpSpPr>
        <p:sp>
          <p:nvSpPr>
            <p:cNvPr id="21601" name="Oval 5"/>
            <p:cNvSpPr>
              <a:spLocks noChangeArrowheads="1"/>
            </p:cNvSpPr>
            <p:nvPr/>
          </p:nvSpPr>
          <p:spPr bwMode="auto">
            <a:xfrm>
              <a:off x="822820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2" name="Freeform 6"/>
            <p:cNvSpPr>
              <a:spLocks noEditPoints="1"/>
            </p:cNvSpPr>
            <p:nvPr/>
          </p:nvSpPr>
          <p:spPr bwMode="auto">
            <a:xfrm>
              <a:off x="742226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3" name="Pentagon 6"/>
            <p:cNvSpPr/>
            <p:nvPr/>
          </p:nvSpPr>
          <p:spPr>
            <a:xfrm>
              <a:off x="2226707" y="4030542"/>
              <a:ext cx="955423" cy="152400"/>
            </a:xfrm>
            <a:prstGeom prst="homePlate">
              <a:avLst/>
            </a:prstGeom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604" name="Oval 5"/>
            <p:cNvSpPr>
              <a:spLocks noChangeArrowheads="1"/>
            </p:cNvSpPr>
            <p:nvPr/>
          </p:nvSpPr>
          <p:spPr bwMode="auto">
            <a:xfrm>
              <a:off x="3460173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5" name="Freeform 6"/>
            <p:cNvSpPr>
              <a:spLocks noEditPoints="1"/>
            </p:cNvSpPr>
            <p:nvPr/>
          </p:nvSpPr>
          <p:spPr bwMode="auto">
            <a:xfrm>
              <a:off x="3379579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6" name="Pentagon 11"/>
            <p:cNvSpPr/>
            <p:nvPr/>
          </p:nvSpPr>
          <p:spPr>
            <a:xfrm>
              <a:off x="4910545" y="4030542"/>
              <a:ext cx="955423" cy="152400"/>
            </a:xfrm>
            <a:prstGeom prst="homePlate">
              <a:avLst/>
            </a:prstGeom>
            <a:solidFill>
              <a:srgbClr val="776CFD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7" name="Oval 5"/>
            <p:cNvSpPr>
              <a:spLocks noChangeArrowheads="1"/>
            </p:cNvSpPr>
            <p:nvPr/>
          </p:nvSpPr>
          <p:spPr bwMode="auto">
            <a:xfrm>
              <a:off x="6175752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8" name="Freeform 6"/>
            <p:cNvSpPr>
              <a:spLocks noEditPoints="1"/>
            </p:cNvSpPr>
            <p:nvPr/>
          </p:nvSpPr>
          <p:spPr bwMode="auto">
            <a:xfrm>
              <a:off x="6095158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9" name="Pentagon 15"/>
            <p:cNvSpPr/>
            <p:nvPr/>
          </p:nvSpPr>
          <p:spPr>
            <a:xfrm>
              <a:off x="7594383" y="4030542"/>
              <a:ext cx="955423" cy="152400"/>
            </a:xfrm>
            <a:prstGeom prst="homePlate">
              <a:avLst/>
            </a:prstGeom>
            <a:solidFill>
              <a:srgbClr val="776CFD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10" name="Oval 5"/>
            <p:cNvSpPr>
              <a:spLocks noChangeArrowheads="1"/>
            </p:cNvSpPr>
            <p:nvPr/>
          </p:nvSpPr>
          <p:spPr bwMode="auto">
            <a:xfrm>
              <a:off x="8874335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11" name="Freeform 6"/>
            <p:cNvSpPr>
              <a:spLocks noEditPoints="1"/>
            </p:cNvSpPr>
            <p:nvPr/>
          </p:nvSpPr>
          <p:spPr bwMode="auto">
            <a:xfrm>
              <a:off x="8793741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612" name="Picture 21611" descr="plu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438" y="3863851"/>
            <a:ext cx="493776" cy="493776"/>
          </a:xfrm>
          <a:prstGeom prst="rect">
            <a:avLst/>
          </a:prstGeom>
        </p:spPr>
      </p:pic>
      <p:sp>
        <p:nvSpPr>
          <p:cNvPr id="21613" name="TextBox 21612"/>
          <p:cNvSpPr txBox="1"/>
          <p:nvPr/>
        </p:nvSpPr>
        <p:spPr>
          <a:xfrm>
            <a:off x="393886" y="262432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776CFD"/>
                </a:solidFill>
              </a:rPr>
              <a:t>01  统接入</a:t>
            </a:r>
          </a:p>
        </p:txBody>
      </p:sp>
      <p:sp>
        <p:nvSpPr>
          <p:cNvPr id="21614" name="TextBox 21613"/>
          <p:cNvSpPr txBox="1"/>
          <p:nvPr/>
        </p:nvSpPr>
        <p:spPr>
          <a:xfrm>
            <a:off x="393886" y="5221068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把数据接进来</a:t>
            </a:r>
          </a:p>
        </p:txBody>
      </p:sp>
      <p:sp>
        <p:nvSpPr>
          <p:cNvPr id="21615" name="TextBox 21614"/>
          <p:cNvSpPr txBox="1"/>
          <p:nvPr/>
        </p:nvSpPr>
        <p:spPr>
          <a:xfrm>
            <a:off x="393886" y="5586828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E6478"/>
                </a:solidFill>
              </a:rPr>
              <a:t>统一接入规范和编号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补齐数据源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订单、核销实时链路</a:t>
            </a:r>
          </a:p>
        </p:txBody>
      </p:sp>
      <p:pic>
        <p:nvPicPr>
          <p:cNvPr id="21616" name="Picture 21615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836" y="3863851"/>
            <a:ext cx="493776" cy="493776"/>
          </a:xfrm>
          <a:prstGeom prst="rect">
            <a:avLst/>
          </a:prstGeom>
        </p:spPr>
      </p:pic>
      <p:sp>
        <p:nvSpPr>
          <p:cNvPr id="21617" name="TextBox 21616"/>
          <p:cNvSpPr txBox="1"/>
          <p:nvPr/>
        </p:nvSpPr>
        <p:spPr>
          <a:xfrm>
            <a:off x="3036284" y="262432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776CFD"/>
                </a:solidFill>
              </a:rPr>
              <a:t>02  统建模</a:t>
            </a:r>
          </a:p>
        </p:txBody>
      </p:sp>
      <p:sp>
        <p:nvSpPr>
          <p:cNvPr id="21618" name="TextBox 21617"/>
          <p:cNvSpPr txBox="1"/>
          <p:nvPr/>
        </p:nvSpPr>
        <p:spPr>
          <a:xfrm>
            <a:off x="3036284" y="5221068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把数据理清楚</a:t>
            </a:r>
          </a:p>
        </p:txBody>
      </p:sp>
      <p:sp>
        <p:nvSpPr>
          <p:cNvPr id="21619" name="TextBox 21618"/>
          <p:cNvSpPr txBox="1"/>
          <p:nvPr/>
        </p:nvSpPr>
        <p:spPr>
          <a:xfrm>
            <a:off x="3036284" y="5586828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E6478"/>
                </a:solidFill>
              </a:rPr>
              <a:t>划好数据域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首批指标和标签认证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重复模型合并</a:t>
            </a:r>
          </a:p>
        </p:txBody>
      </p:sp>
      <p:pic>
        <p:nvPicPr>
          <p:cNvPr id="21620" name="Picture 21619" descr="shield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808" y="3863851"/>
            <a:ext cx="493776" cy="493776"/>
          </a:xfrm>
          <a:prstGeom prst="rect">
            <a:avLst/>
          </a:prstGeom>
        </p:spPr>
      </p:pic>
      <p:sp>
        <p:nvSpPr>
          <p:cNvPr id="21621" name="TextBox 21620"/>
          <p:cNvSpPr txBox="1"/>
          <p:nvPr/>
        </p:nvSpPr>
        <p:spPr>
          <a:xfrm>
            <a:off x="5761256" y="262432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776CFD"/>
                </a:solidFill>
              </a:rPr>
              <a:t>03  统开发</a:t>
            </a:r>
          </a:p>
        </p:txBody>
      </p:sp>
      <p:sp>
        <p:nvSpPr>
          <p:cNvPr id="21622" name="TextBox 21621"/>
          <p:cNvSpPr txBox="1"/>
          <p:nvPr/>
        </p:nvSpPr>
        <p:spPr>
          <a:xfrm>
            <a:off x="5761256" y="5221068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把关口设起来</a:t>
            </a:r>
          </a:p>
        </p:txBody>
      </p:sp>
      <p:sp>
        <p:nvSpPr>
          <p:cNvPr id="21623" name="TextBox 21622"/>
          <p:cNvSpPr txBox="1"/>
          <p:nvPr/>
        </p:nvSpPr>
        <p:spPr>
          <a:xfrm>
            <a:off x="5761256" y="5586828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E6478"/>
                </a:solidFill>
              </a:rPr>
              <a:t>发布卡点上线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质量规则绑定任务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核销逐层核对</a:t>
            </a:r>
          </a:p>
        </p:txBody>
      </p:sp>
      <p:pic>
        <p:nvPicPr>
          <p:cNvPr id="21624" name="Picture 21623" descr="sen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605" y="3863851"/>
            <a:ext cx="493776" cy="493776"/>
          </a:xfrm>
          <a:prstGeom prst="rect">
            <a:avLst/>
          </a:prstGeom>
        </p:spPr>
      </p:pic>
      <p:sp>
        <p:nvSpPr>
          <p:cNvPr id="21625" name="TextBox 21624"/>
          <p:cNvSpPr txBox="1"/>
          <p:nvPr/>
        </p:nvSpPr>
        <p:spPr>
          <a:xfrm>
            <a:off x="8477053" y="262432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776CFD"/>
                </a:solidFill>
              </a:rPr>
              <a:t>04  统服务</a:t>
            </a:r>
          </a:p>
        </p:txBody>
      </p:sp>
      <p:sp>
        <p:nvSpPr>
          <p:cNvPr id="21626" name="TextBox 21625"/>
          <p:cNvSpPr txBox="1"/>
          <p:nvPr/>
        </p:nvSpPr>
        <p:spPr>
          <a:xfrm>
            <a:off x="8477053" y="5221068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把数据用起来</a:t>
            </a:r>
          </a:p>
        </p:txBody>
      </p:sp>
      <p:sp>
        <p:nvSpPr>
          <p:cNvPr id="21627" name="TextBox 21626"/>
          <p:cNvSpPr txBox="1"/>
          <p:nvPr/>
        </p:nvSpPr>
        <p:spPr>
          <a:xfrm>
            <a:off x="8477053" y="5586828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E6478"/>
                </a:solidFill>
              </a:rPr>
              <a:t>接口联合提供指标和标签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小Q 数据集统一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业务自助分析</a:t>
            </a:r>
          </a:p>
        </p:txBody>
      </p:sp>
      <p:sp>
        <p:nvSpPr>
          <p:cNvPr id="21628" name="Rounded Rectangle 21627"/>
          <p:cNvSpPr/>
          <p:nvPr/>
        </p:nvSpPr>
        <p:spPr>
          <a:xfrm>
            <a:off x="658368" y="6281928"/>
            <a:ext cx="5010912" cy="457200"/>
          </a:xfrm>
          <a:prstGeom prst="roundRect">
            <a:avLst>
              <a:gd name="adj" fmla="val 2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FFFFFF"/>
                </a:solidFill>
              </a:rPr>
              <a:t>试点先行　</a:t>
            </a:r>
            <a:r>
              <a:rPr sz="1250" b="0">
                <a:solidFill>
                  <a:srgbClr val="FFFFFF"/>
                </a:solidFill>
              </a:rPr>
              <a:t>先做“订单 → 核销 → 结算”</a:t>
            </a:r>
          </a:p>
        </p:txBody>
      </p:sp>
      <p:sp>
        <p:nvSpPr>
          <p:cNvPr id="21629" name="Rounded Rectangle 21628"/>
          <p:cNvSpPr/>
          <p:nvPr/>
        </p:nvSpPr>
        <p:spPr>
          <a:xfrm>
            <a:off x="5852160" y="6281928"/>
            <a:ext cx="5010912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B4551A"/>
                </a:solidFill>
              </a:rPr>
              <a:t>稳妥切换　</a:t>
            </a:r>
            <a:r>
              <a:rPr sz="1250" b="0">
                <a:solidFill>
                  <a:srgbClr val="2B2F42"/>
                </a:solidFill>
              </a:rPr>
              <a:t>老模型先双跑对比再切换，可回退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建成后看得见的六个变化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每一项都能对比“以前”和“以后”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15768"/>
            <a:ext cx="3279648" cy="1874519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288036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7" y="299466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08176" y="2880360"/>
            <a:ext cx="23652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统一规范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3465576"/>
            <a:ext cx="2913888" cy="457200"/>
          </a:xfrm>
          <a:prstGeom prst="roundRect">
            <a:avLst>
              <a:gd name="adj" fmla="val 16000"/>
            </a:avLst>
          </a:prstGeom>
          <a:solidFill>
            <a:srgbClr val="F5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A9AEC2"/>
                </a:solidFill>
              </a:rPr>
              <a:t>以前　</a:t>
            </a:r>
            <a:r>
              <a:rPr sz="1150" b="0">
                <a:solidFill>
                  <a:srgbClr val="5E6478"/>
                </a:solidFill>
              </a:rPr>
              <a:t>规范只写在文档里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06752" y="3959352"/>
            <a:ext cx="182880" cy="128016"/>
          </a:xfrm>
          <a:prstGeom prst="down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7" y="4032504"/>
            <a:ext cx="2913888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E4E2FF"/>
                </a:solidFill>
              </a:rPr>
              <a:t>以后　</a:t>
            </a:r>
            <a:r>
              <a:rPr sz="1150" b="1">
                <a:solidFill>
                  <a:srgbClr val="FFFFFF"/>
                </a:solidFill>
              </a:rPr>
              <a:t>不合规的表发不出去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0896" y="2715768"/>
            <a:ext cx="3279648" cy="1874519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03776" y="288036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z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076" y="2994660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70704" y="2880360"/>
            <a:ext cx="23652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统一底座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3776" y="3465576"/>
            <a:ext cx="2913888" cy="457200"/>
          </a:xfrm>
          <a:prstGeom prst="roundRect">
            <a:avLst>
              <a:gd name="adj" fmla="val 16000"/>
            </a:avLst>
          </a:prstGeom>
          <a:solidFill>
            <a:srgbClr val="F5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A9AEC2"/>
                </a:solidFill>
              </a:rPr>
              <a:t>以前　</a:t>
            </a:r>
            <a:r>
              <a:rPr sz="1150" b="0">
                <a:solidFill>
                  <a:srgbClr val="5E6478"/>
                </a:solidFill>
              </a:rPr>
              <a:t>订单、核销第二天才看到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669280" y="3959352"/>
            <a:ext cx="182880" cy="128016"/>
          </a:xfrm>
          <a:prstGeom prst="down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03776" y="4032504"/>
            <a:ext cx="2913888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E4E2FF"/>
                </a:solidFill>
              </a:rPr>
              <a:t>以后　</a:t>
            </a:r>
            <a:r>
              <a:rPr sz="1150" b="1">
                <a:solidFill>
                  <a:srgbClr val="FFFFFF"/>
                </a:solidFill>
              </a:rPr>
              <a:t>分钟级就能看到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3424" y="2715768"/>
            <a:ext cx="3279648" cy="1874519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66303" y="288036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ay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603" y="2994660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33232" y="2880360"/>
            <a:ext cx="23652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统一湖仓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66303" y="3465576"/>
            <a:ext cx="2913888" cy="457200"/>
          </a:xfrm>
          <a:prstGeom prst="roundRect">
            <a:avLst>
              <a:gd name="adj" fmla="val 16000"/>
            </a:avLst>
          </a:prstGeom>
          <a:solidFill>
            <a:srgbClr val="F5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A9AEC2"/>
                </a:solidFill>
              </a:rPr>
              <a:t>以前　</a:t>
            </a:r>
            <a:r>
              <a:rPr sz="1150" b="0">
                <a:solidFill>
                  <a:srgbClr val="5E6478"/>
                </a:solidFill>
              </a:rPr>
              <a:t>同一指标两套结果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9131808" y="3959352"/>
            <a:ext cx="182880" cy="128016"/>
          </a:xfrm>
          <a:prstGeom prst="down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66303" y="4032504"/>
            <a:ext cx="2913888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E4E2FF"/>
                </a:solidFill>
              </a:rPr>
              <a:t>以后　</a:t>
            </a:r>
            <a:r>
              <a:rPr sz="1150" b="1">
                <a:solidFill>
                  <a:srgbClr val="FFFFFF"/>
                </a:solidFill>
              </a:rPr>
              <a:t>只建一次，改口径只改一处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3279648" cy="1874519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7" y="493776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ca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7" y="5052060"/>
            <a:ext cx="228600" cy="228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08176" y="4937760"/>
            <a:ext cx="23652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统一指标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7" y="5522976"/>
            <a:ext cx="2913888" cy="457200"/>
          </a:xfrm>
          <a:prstGeom prst="roundRect">
            <a:avLst>
              <a:gd name="adj" fmla="val 16000"/>
            </a:avLst>
          </a:prstGeom>
          <a:solidFill>
            <a:srgbClr val="F5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A9AEC2"/>
                </a:solidFill>
              </a:rPr>
              <a:t>以前　</a:t>
            </a:r>
            <a:r>
              <a:rPr sz="1150" b="0">
                <a:solidFill>
                  <a:srgbClr val="5E6478"/>
                </a:solidFill>
              </a:rPr>
              <a:t>报表、接口、AI 各说各的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206752" y="6016752"/>
            <a:ext cx="182880" cy="128016"/>
          </a:xfrm>
          <a:prstGeom prst="down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7" y="6089904"/>
            <a:ext cx="2913888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E4E2FF"/>
                </a:solidFill>
              </a:rPr>
              <a:t>以后　</a:t>
            </a:r>
            <a:r>
              <a:rPr sz="1150" b="1">
                <a:solidFill>
                  <a:srgbClr val="FFFFFF"/>
                </a:solidFill>
              </a:rPr>
              <a:t>三处数字一致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20896" y="4773168"/>
            <a:ext cx="3279648" cy="1874519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03776" y="493776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8076" y="5052060"/>
            <a:ext cx="228600" cy="228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870704" y="4937760"/>
            <a:ext cx="23652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标签复用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3776" y="5522976"/>
            <a:ext cx="2913888" cy="457200"/>
          </a:xfrm>
          <a:prstGeom prst="roundRect">
            <a:avLst>
              <a:gd name="adj" fmla="val 16000"/>
            </a:avLst>
          </a:prstGeom>
          <a:solidFill>
            <a:srgbClr val="F5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A9AEC2"/>
                </a:solidFill>
              </a:rPr>
              <a:t>以前　</a:t>
            </a:r>
            <a:r>
              <a:rPr sz="1150" b="0">
                <a:solidFill>
                  <a:srgbClr val="5E6478"/>
                </a:solidFill>
              </a:rPr>
              <a:t>各部门各做一套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5669280" y="6016752"/>
            <a:ext cx="182880" cy="128016"/>
          </a:xfrm>
          <a:prstGeom prst="down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03776" y="6089904"/>
            <a:ext cx="2913888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E4E2FF"/>
                </a:solidFill>
              </a:rPr>
              <a:t>以后　</a:t>
            </a:r>
            <a:r>
              <a:rPr sz="1150" b="1">
                <a:solidFill>
                  <a:srgbClr val="FFFFFF"/>
                </a:solidFill>
              </a:rPr>
              <a:t>一个游客一个身份，到处能用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3424" y="4773168"/>
            <a:ext cx="3279648" cy="1874519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766303" y="493776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earch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0603" y="5052060"/>
            <a:ext cx="228600" cy="2286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333232" y="4937760"/>
            <a:ext cx="236524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自助分析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66303" y="5522976"/>
            <a:ext cx="2913888" cy="457200"/>
          </a:xfrm>
          <a:prstGeom prst="roundRect">
            <a:avLst>
              <a:gd name="adj" fmla="val 16000"/>
            </a:avLst>
          </a:prstGeom>
          <a:solidFill>
            <a:srgbClr val="F5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A9AEC2"/>
                </a:solidFill>
              </a:rPr>
              <a:t>以前　</a:t>
            </a:r>
            <a:r>
              <a:rPr sz="1150" b="0">
                <a:solidFill>
                  <a:srgbClr val="5E6478"/>
                </a:solidFill>
              </a:rPr>
              <a:t>找数据团队要数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9131808" y="6016752"/>
            <a:ext cx="182880" cy="128016"/>
          </a:xfrm>
          <a:prstGeom prst="down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66303" y="6089904"/>
            <a:ext cx="2913888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050" b="1">
                <a:solidFill>
                  <a:srgbClr val="E4E2FF"/>
                </a:solidFill>
              </a:rPr>
              <a:t>以后　</a:t>
            </a:r>
            <a:r>
              <a:rPr sz="1150" b="1">
                <a:solidFill>
                  <a:srgbClr val="FFFFFF"/>
                </a:solidFill>
              </a:rPr>
              <a:t>业务自己查、自己看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对公司：从“找人要数”变成“数据找人”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五个方面都有可衡量的变化；先建立基线，再定目标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47188"/>
            <a:ext cx="3017520" cy="4069080"/>
          </a:xfrm>
          <a:prstGeom prst="roundRect">
            <a:avLst>
              <a:gd name="adj" fmla="val 4242"/>
            </a:avLst>
          </a:prstGeom>
          <a:solidFill>
            <a:srgbClr val="F5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660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A9AEC2"/>
                </a:solidFill>
              </a:rPr>
              <a:t>以前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861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5E6478"/>
                </a:solidFill>
              </a:rPr>
              <a:t>找人要数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72618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· 开会先对数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09194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· 第二天才看到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45770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· 临时找人取数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8234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· 同样的模型做好几遍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49039" y="4503420"/>
            <a:ext cx="310896" cy="36576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33087" y="2647188"/>
            <a:ext cx="6729984" cy="4069080"/>
          </a:xfrm>
          <a:prstGeom prst="roundRect">
            <a:avLst>
              <a:gd name="adj" fmla="val 3146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27660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以后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0861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655BE6"/>
                </a:solidFill>
              </a:rPr>
              <a:t>数据找人</a:t>
            </a:r>
          </a:p>
        </p:txBody>
      </p:sp>
      <p:sp>
        <p:nvSpPr>
          <p:cNvPr id="20" name="Oval 19"/>
          <p:cNvSpPr/>
          <p:nvPr/>
        </p:nvSpPr>
        <p:spPr>
          <a:xfrm>
            <a:off x="4361688" y="3689604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erifie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3799332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37759" y="3653028"/>
            <a:ext cx="7315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可信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7" y="3653028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一个指标一个口径，数字可追溯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67928" y="3781044"/>
            <a:ext cx="188036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655BE6"/>
                </a:solidFill>
              </a:rPr>
              <a:t>认证指标覆盖率 · 对账差异率</a:t>
            </a:r>
          </a:p>
        </p:txBody>
      </p:sp>
      <p:sp>
        <p:nvSpPr>
          <p:cNvPr id="25" name="Oval 24"/>
          <p:cNvSpPr/>
          <p:nvPr/>
        </p:nvSpPr>
        <p:spPr>
          <a:xfrm>
            <a:off x="4361688" y="4293108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z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4402836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37759" y="4256532"/>
            <a:ext cx="7315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时效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7" y="4256532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订单、核销第二天 → 分钟级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67928" y="4384547"/>
            <a:ext cx="89585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655BE6"/>
                </a:solidFill>
              </a:rPr>
              <a:t>端到端延迟</a:t>
            </a:r>
          </a:p>
        </p:txBody>
      </p:sp>
      <p:sp>
        <p:nvSpPr>
          <p:cNvPr id="30" name="Oval 29"/>
          <p:cNvSpPr/>
          <p:nvPr/>
        </p:nvSpPr>
        <p:spPr>
          <a:xfrm>
            <a:off x="4361688" y="4896612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gaug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5006340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937759" y="4860036"/>
            <a:ext cx="7315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效率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6127" y="4860036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公共模型复用，改动影响可预判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67928" y="4988052"/>
            <a:ext cx="15184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655BE6"/>
                </a:solidFill>
              </a:rPr>
              <a:t>模型复用率 · 交付周期</a:t>
            </a:r>
          </a:p>
        </p:txBody>
      </p:sp>
      <p:sp>
        <p:nvSpPr>
          <p:cNvPr id="35" name="Oval 34"/>
          <p:cNvSpPr/>
          <p:nvPr/>
        </p:nvSpPr>
        <p:spPr>
          <a:xfrm>
            <a:off x="4361688" y="5500116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iggy-ba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5609844"/>
            <a:ext cx="219456" cy="2194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37759" y="5463540"/>
            <a:ext cx="7315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成本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127" y="5463540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重复模型、无用报表和任务下线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67928" y="5591556"/>
            <a:ext cx="101650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655BE6"/>
                </a:solidFill>
              </a:rPr>
              <a:t>存储计算成本</a:t>
            </a:r>
          </a:p>
        </p:txBody>
      </p:sp>
      <p:sp>
        <p:nvSpPr>
          <p:cNvPr id="40" name="Oval 39"/>
          <p:cNvSpPr/>
          <p:nvPr/>
        </p:nvSpPr>
        <p:spPr>
          <a:xfrm>
            <a:off x="4361688" y="6103620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hield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416" y="6213348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937759" y="6067044"/>
            <a:ext cx="7315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安全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96127" y="6067044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敏感数据分级、打码、可审计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67928" y="6195060"/>
            <a:ext cx="137845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655BE6"/>
                </a:solidFill>
              </a:rPr>
              <a:t>敏感字段识别覆盖率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对各业务线：每个人都用上靠谱的数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从管理层到景区，九类角色的变化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60904"/>
            <a:ext cx="3279648" cy="987552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2889504"/>
            <a:ext cx="530352" cy="53035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w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3022092"/>
            <a:ext cx="265176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27048" y="277063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管理层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3099816"/>
            <a:ext cx="227380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E6478"/>
                </a:solidFill>
              </a:rPr>
              <a:t>驾驶舱全用认证指标，不用先对数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0896" y="2660904"/>
            <a:ext cx="3279648" cy="987552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3776" y="2889504"/>
            <a:ext cx="530352" cy="53035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364" y="3022092"/>
            <a:ext cx="265176" cy="265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89576" y="277063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票务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9576" y="3099816"/>
            <a:ext cx="227380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E6478"/>
                </a:solidFill>
              </a:rPr>
              <a:t>核销口径统一，差异自动定位；节假日实时看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3424" y="2660904"/>
            <a:ext cx="3279648" cy="987552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66303" y="2889504"/>
            <a:ext cx="530352" cy="53035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lculato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8891" y="3022092"/>
            <a:ext cx="265176" cy="2651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52103" y="277063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财务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2103" y="3099816"/>
            <a:ext cx="227380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E6478"/>
                </a:solidFill>
              </a:rPr>
              <a:t>业务与财务逐层对账，差异自动列原因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31336"/>
            <a:ext cx="3279648" cy="987552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7" y="4059936"/>
            <a:ext cx="530352" cy="53035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out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" y="4192524"/>
            <a:ext cx="265176" cy="2651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27048" y="3941064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渠道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4270248"/>
            <a:ext cx="227380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E6478"/>
                </a:solidFill>
              </a:rPr>
              <a:t>销量、佣金、返利口径统一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20896" y="3831336"/>
            <a:ext cx="3279648" cy="987552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3776" y="4059936"/>
            <a:ext cx="530352" cy="53035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egapho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6364" y="4192524"/>
            <a:ext cx="265176" cy="2651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989576" y="3941064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营销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9576" y="4270248"/>
            <a:ext cx="227380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E6478"/>
                </a:solidFill>
              </a:rPr>
              <a:t>标签圈人、指标看效果，复盘自动完成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3424" y="3831336"/>
            <a:ext cx="3279648" cy="987552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66303" y="4059936"/>
            <a:ext cx="530352" cy="53035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heads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8891" y="4192524"/>
            <a:ext cx="265176" cy="2651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52103" y="3941064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运营 / 客户成功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2103" y="4270248"/>
            <a:ext cx="227380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E6478"/>
                </a:solidFill>
              </a:rPr>
              <a:t>景区经营报告自动生成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001768"/>
            <a:ext cx="3279648" cy="987552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1247" y="5230368"/>
            <a:ext cx="530352" cy="53035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od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836" y="5362955"/>
            <a:ext cx="265176" cy="2651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27048" y="5111496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产品研发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7048" y="5440680"/>
            <a:ext cx="227380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E6478"/>
                </a:solidFill>
              </a:rPr>
              <a:t>上线前定好口径，上线即有数据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20896" y="5001768"/>
            <a:ext cx="3279648" cy="987552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03776" y="5230368"/>
            <a:ext cx="530352" cy="53035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databa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6364" y="5362955"/>
            <a:ext cx="265176" cy="2651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989576" y="5111496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数据团队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9576" y="5440680"/>
            <a:ext cx="227380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E6478"/>
                </a:solidFill>
              </a:rPr>
              <a:t>从取数对数转向建模型、做分析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3424" y="5001768"/>
            <a:ext cx="3279648" cy="987552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766303" y="5230368"/>
            <a:ext cx="530352" cy="5303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landmar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8891" y="5362955"/>
            <a:ext cx="265176" cy="26517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452103" y="5111496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景区 / 供应商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2103" y="5440680"/>
            <a:ext cx="227380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E6478"/>
                </a:solidFill>
              </a:rPr>
              <a:t>直接用标准指标，不够用自己加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6172200"/>
            <a:ext cx="10204704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zap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536" y="6300216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52728" y="6172200"/>
            <a:ext cx="9427464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为第二部分打基础　</a:t>
            </a:r>
            <a:r>
              <a:rPr sz="1300" b="0">
                <a:solidFill>
                  <a:srgbClr val="FFFFFF"/>
                </a:solidFill>
              </a:rPr>
              <a:t>数据可信、有口径、有权限，AI 接上去才能答得准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智能体平台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先借力卖起来，再自己建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2057400"/>
          </a:xfrm>
          <a:prstGeom prst="roundRect">
            <a:avLst>
              <a:gd name="adj" fmla="val 6666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这一部分讲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现状与底气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能做哪些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三步怎么走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先验证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再复制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何时自建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建成什么样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能省什么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怎么切换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现状：已经有 8 个智能体，来自三个地方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智能体 = 能听懂问题、还能帮你办事的 AI 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74036"/>
            <a:ext cx="6675120" cy="1234440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775204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88493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1328" y="275691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扣子平台上配置的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2647188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3400" b="1">
                <a:solidFill>
                  <a:srgbClr val="FFFFFF"/>
                </a:solidFill>
              </a:rPr>
              <a:t>5</a:t>
            </a:r>
            <a:r>
              <a:rPr sz="1200" b="1">
                <a:solidFill>
                  <a:srgbClr val="FFFFFF"/>
                </a:solidFill>
              </a:rPr>
              <a:t> 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1328" y="3195828"/>
            <a:ext cx="9387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智能助手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1552" y="3195828"/>
            <a:ext cx="9387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智能客服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1776" y="3195828"/>
            <a:ext cx="9387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智能导览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195828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655BE6"/>
                </a:solidFill>
              </a:rPr>
              <a:t>AI 旅拍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13832" y="3195828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655BE6"/>
                </a:solidFill>
              </a:rPr>
              <a:t>AI 伴游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543300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EEDFF"/>
                </a:solidFill>
              </a:rPr>
              <a:t>给游客用 · 工作流配置成智能体，标准化、配置化输出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45636"/>
            <a:ext cx="6675120" cy="1234440"/>
          </a:xfrm>
          <a:prstGeom prst="roundRect">
            <a:avLst>
              <a:gd name="adj" fmla="val 10370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6" y="4146804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a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" y="4261104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81328" y="412851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和合作企业一起做的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018788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3400" b="1">
                <a:solidFill>
                  <a:srgbClr val="F08A3C"/>
                </a:solidFill>
              </a:rPr>
              <a:t>1</a:t>
            </a:r>
            <a:r>
              <a:rPr sz="1200" b="1">
                <a:solidFill>
                  <a:srgbClr val="F08A3C"/>
                </a:solidFill>
              </a:rPr>
              <a:t> 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81328" y="4567428"/>
            <a:ext cx="6339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B4551A"/>
                </a:solidFill>
              </a:rPr>
              <a:t>手语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914900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给听障游客用 · 接入合作方的专业能力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317236"/>
            <a:ext cx="6675120" cy="1234440"/>
          </a:xfrm>
          <a:prstGeom prst="roundRect">
            <a:avLst>
              <a:gd name="adj" fmla="val 1037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9536" y="5518404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-colum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" y="5632704"/>
            <a:ext cx="22860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81328" y="550011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小Q 自带的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5390388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3400" b="1">
                <a:solidFill>
                  <a:srgbClr val="2B2F42"/>
                </a:solidFill>
              </a:rPr>
              <a:t>2</a:t>
            </a:r>
            <a:r>
              <a:rPr sz="1200" b="1">
                <a:solidFill>
                  <a:srgbClr val="2B2F42"/>
                </a:solidFill>
              </a:rPr>
              <a:t> 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81328" y="5939028"/>
            <a:ext cx="9387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智能问数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1552" y="593902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智能数据解读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6286500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给景区和内部管理者用 · 直接用小Q 的 AI 能力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82127" y="2510028"/>
            <a:ext cx="2926080" cy="4343400"/>
          </a:xfrm>
          <a:prstGeom prst="roundRect">
            <a:avLst>
              <a:gd name="adj" fmla="val 10000"/>
            </a:avLst>
          </a:prstGeom>
          <a:solidFill>
            <a:srgbClr val="2B2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73567" y="2601468"/>
            <a:ext cx="2743200" cy="4160520"/>
          </a:xfrm>
          <a:prstGeom prst="roundRect">
            <a:avLst>
              <a:gd name="adj" fmla="val 8333"/>
            </a:avLst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33688" y="2628899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2B2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73567" y="2830068"/>
            <a:ext cx="2743200" cy="5669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10727" y="2903220"/>
            <a:ext cx="402336" cy="402336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1" y="3003804"/>
            <a:ext cx="201168" cy="2011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13647" y="287578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智能客服 · 示意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7" y="31318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FB38A"/>
                </a:solidFill>
              </a:rPr>
              <a:t>● 在线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26970" y="3561588"/>
            <a:ext cx="2052637" cy="329184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</a:rPr>
              <a:t>明天上午去，几点开园？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0727" y="4018788"/>
            <a:ext cx="2205989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明天 8:00 开园。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刷身份证或人脸就能入园，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不用换票。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87027" y="4841748"/>
            <a:ext cx="1592580" cy="329184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</a:rPr>
              <a:t>帮我买两张成人票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0727" y="5298948"/>
            <a:ext cx="2077173" cy="512064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已选好明天成人票 2 张，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点这里去支付 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10727" y="6259067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93607" y="6259067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A9AEC2"/>
                </a:solidFill>
              </a:rPr>
              <a:t>有问题尽管问我…</a:t>
            </a:r>
          </a:p>
        </p:txBody>
      </p:sp>
      <p:sp>
        <p:nvSpPr>
          <p:cNvPr id="49" name="Oval 48"/>
          <p:cNvSpPr/>
          <p:nvPr/>
        </p:nvSpPr>
        <p:spPr>
          <a:xfrm>
            <a:off x="10259567" y="6286500"/>
            <a:ext cx="292608" cy="29260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en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6341363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我们凭什么能做：系统在现场、数据在手里、客户在用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别人只能做“通用聊天”，我们能做“帮景区和游客办事”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95728"/>
            <a:ext cx="3657600" cy="3794760"/>
          </a:xfrm>
          <a:prstGeom prst="roundRect">
            <a:avLst>
              <a:gd name="adj" fmla="val 35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560320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oxe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65" y="2686050"/>
            <a:ext cx="251460" cy="251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1328" y="2542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产品积累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8346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8 条产品线，系统装在景区现场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3291840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cket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456432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3291840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2888" y="3291840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erris-wheel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616" y="3456432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71800" y="3291840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景区业态管理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7" y="3986784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ctivity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151376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80160" y="3986784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景区运营管理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32888" y="3986784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allet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2616" y="4151376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971800" y="3986784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景区财务管理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7" y="4681728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onitor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" y="4846320"/>
            <a:ext cx="256032" cy="256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0160" y="4681728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景区智慧终端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32888" y="4681728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rain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2616" y="4846320"/>
            <a:ext cx="256032" cy="2560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971800" y="4681728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7" y="5376672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martphone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976" y="5541264"/>
            <a:ext cx="256032" cy="25603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80160" y="5376672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32888" y="5376672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egaphone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2616" y="5541264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971800" y="5376672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会员营销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98848" y="2395728"/>
            <a:ext cx="3657600" cy="3794760"/>
          </a:xfrm>
          <a:prstGeom prst="roundRect">
            <a:avLst>
              <a:gd name="adj" fmla="val 35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00016" y="2560320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atabas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5746" y="2686050"/>
            <a:ext cx="251460" cy="2514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321808" y="2542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数据在手里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21808" y="28346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办事要用的数据，都在我们系统里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81728" y="3291840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receipt_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1456" y="3456432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120640" y="3291840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交易与客流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73368" y="3291840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tag_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3096" y="3456432"/>
            <a:ext cx="256032" cy="25603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12280" y="3291840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售票与分销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81728" y="3986784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ferris-wheel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151376"/>
            <a:ext cx="256032" cy="25603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120640" y="3986784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九大业态系统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73368" y="3986784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alendar-check_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3096" y="4151376"/>
            <a:ext cx="256032" cy="25603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812280" y="3986784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年卡与预约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81728" y="4681728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file-text_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91456" y="4846320"/>
            <a:ext cx="256032" cy="25603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120640" y="4681728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订单与结算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73368" y="4681728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users_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3096" y="4846320"/>
            <a:ext cx="256032" cy="25603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812280" y="4681728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会员与营销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681728" y="5376672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scan-face_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91456" y="5541264"/>
            <a:ext cx="256032" cy="2560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120640" y="5376672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闸机与物联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73368" y="5376672"/>
            <a:ext cx="16002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adge-check_p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3096" y="5541264"/>
            <a:ext cx="256032" cy="25603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812280" y="5376672"/>
            <a:ext cx="1124712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B2F42"/>
                </a:solidFill>
              </a:rPr>
              <a:t>认证指标与标签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39328" y="2395728"/>
            <a:ext cx="2523744" cy="3794760"/>
          </a:xfrm>
          <a:prstGeom prst="roundRect">
            <a:avLst>
              <a:gd name="adj" fmla="val 5072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40496" y="2560320"/>
            <a:ext cx="502920" cy="50292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handshake_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59368" y="2679192"/>
            <a:ext cx="265176" cy="26517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62288" y="2542032"/>
            <a:ext cx="1609343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客户在用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62288" y="2834640"/>
            <a:ext cx="1609343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EEDFF"/>
                </a:solidFill>
              </a:rPr>
              <a:t>大量景区已用我们的票务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522208" y="3291840"/>
            <a:ext cx="2157984" cy="804672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05088" y="3364992"/>
            <a:ext cx="1883663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接口现成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05088" y="3703320"/>
            <a:ext cx="1883663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EEDFF"/>
                </a:solidFill>
              </a:rPr>
              <a:t>系统已对接，基本零开发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22208" y="4206240"/>
            <a:ext cx="2157984" cy="804672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05088" y="4279392"/>
            <a:ext cx="1883663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信任已有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05088" y="4617720"/>
            <a:ext cx="1883663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EEDFF"/>
                </a:solidFill>
              </a:rPr>
              <a:t>老客户，成交最快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22208" y="5120640"/>
            <a:ext cx="2157984" cy="804672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05088" y="5193792"/>
            <a:ext cx="1883663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入口现成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05088" y="5532120"/>
            <a:ext cx="1883663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EEDFF"/>
                </a:solidFill>
              </a:rPr>
              <a:t>小程序、公众号、APP、终端都在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58368" y="635508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shield-check_w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9536" y="6469380"/>
            <a:ext cx="274320" cy="27432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252728" y="635508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结论　</a:t>
            </a:r>
            <a:r>
              <a:rPr sz="1300" b="0">
                <a:solidFill>
                  <a:srgbClr val="FFFFFF"/>
                </a:solidFill>
              </a:rPr>
              <a:t>别人做通用聊天，我们做“能办事”的智能体 —— 这是我们的护城河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游客端能做 17 个：覆盖游前、游中、游后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已有 6 个；其余 11 个基于现有系统和数据都可以扩展，只是先后问题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2688" y="2807208"/>
            <a:ext cx="9656064" cy="0"/>
          </a:xfrm>
          <a:prstGeom prst="line">
            <a:avLst/>
          </a:prstGeom>
          <a:ln w="38100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49808" y="2514600"/>
            <a:ext cx="585216" cy="585216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pas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660904"/>
            <a:ext cx="292608" cy="292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35607" y="2606040"/>
            <a:ext cx="746760" cy="40233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游前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73807" y="2624328"/>
            <a:ext cx="143662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5E6478"/>
                </a:solidFill>
              </a:rPr>
              <a:t>想去 · 了解 · 买票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91840"/>
            <a:ext cx="2971800" cy="3063240"/>
          </a:xfrm>
          <a:prstGeom prst="roundRect">
            <a:avLst>
              <a:gd name="adj" fmla="val 3692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383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5E6478"/>
                </a:solidFill>
              </a:rPr>
              <a:t>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7" y="3703320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景区咨询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3296" y="3703320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行程规划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7" y="4014215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购票预约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33296" y="4014215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门票候补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074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智能体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7" y="4727448"/>
            <a:ext cx="796544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智能客服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1800" y="4727448"/>
            <a:ext cx="796544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智能助手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7" y="5102352"/>
            <a:ext cx="99491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AI 旅游规划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00173" y="5102352"/>
            <a:ext cx="99491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AI 智能购票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7" y="5477256"/>
            <a:ext cx="12156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预约与候补提醒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7127" y="3383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>
                <a:solidFill>
                  <a:srgbClr val="655BE6"/>
                </a:solidFill>
              </a:rPr>
              <a:t>5 个 · 已有 2</a:t>
            </a:r>
          </a:p>
        </p:txBody>
      </p:sp>
      <p:sp>
        <p:nvSpPr>
          <p:cNvPr id="27" name="Oval 26"/>
          <p:cNvSpPr/>
          <p:nvPr/>
        </p:nvSpPr>
        <p:spPr>
          <a:xfrm>
            <a:off x="3904487" y="2514600"/>
            <a:ext cx="585216" cy="585216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erris-whe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1" y="2660904"/>
            <a:ext cx="292608" cy="29260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590288" y="2606040"/>
            <a:ext cx="746760" cy="40233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游中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28488" y="2624328"/>
            <a:ext cx="143662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入园 · 游玩 · 消费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3048" y="3291840"/>
            <a:ext cx="4078224" cy="3063240"/>
          </a:xfrm>
          <a:prstGeom prst="roundRect">
            <a:avLst>
              <a:gd name="adj" fmla="val 3582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5928" y="3383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5E6478"/>
                </a:solidFill>
              </a:rPr>
              <a:t>场景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95928" y="3703320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入园核验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87976" y="3703320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导览讲解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80024" y="3703320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陪伴互动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2071" y="3703320"/>
            <a:ext cx="964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无障碍服务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95928" y="4014215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乐园项目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87976" y="4014215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演出观看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80024" y="4014215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游船乘坐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2071" y="4014215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餐饮购物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95928" y="4325112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停车租赁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87976" y="4325112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酒店温泉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95928" y="47183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智能体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95928" y="5038344"/>
            <a:ext cx="796544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智能导览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56480" y="5038344"/>
            <a:ext cx="715518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 伴游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36006" y="5038344"/>
            <a:ext cx="517144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手语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158" y="5038344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乐园排队与项目推荐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95928" y="5413248"/>
            <a:ext cx="10759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演出选座推荐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35880" y="5413248"/>
            <a:ext cx="10759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餐饮二消推荐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75832" y="5413248"/>
            <a:ext cx="7965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停车引导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95928" y="5788152"/>
            <a:ext cx="12156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自助机语音购票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8231" y="3383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>
                <a:solidFill>
                  <a:srgbClr val="655BE6"/>
                </a:solidFill>
              </a:rPr>
              <a:t>8 个 · 已有 3</a:t>
            </a:r>
          </a:p>
        </p:txBody>
      </p:sp>
      <p:sp>
        <p:nvSpPr>
          <p:cNvPr id="53" name="Oval 52"/>
          <p:cNvSpPr/>
          <p:nvPr/>
        </p:nvSpPr>
        <p:spPr>
          <a:xfrm>
            <a:off x="8165592" y="2514600"/>
            <a:ext cx="585216" cy="585216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camera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2660904"/>
            <a:ext cx="292608" cy="292608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851392" y="2606040"/>
            <a:ext cx="746760" cy="40233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游后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89592" y="2624328"/>
            <a:ext cx="143662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回味 · 分享 · 再来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74152" y="3291840"/>
            <a:ext cx="2788920" cy="3063240"/>
          </a:xfrm>
          <a:prstGeom prst="roundRect">
            <a:avLst>
              <a:gd name="adj" fmla="val 3934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57031" y="3383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5E6478"/>
                </a:solidFill>
              </a:rPr>
              <a:t>场景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57031" y="3703320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拍照留念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9080" y="3703320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游记分享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57031" y="4014215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点评反馈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49080" y="4014215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年卡复游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57031" y="4325112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EAEAF2"/>
          </a:solidFill>
          <a:ln w="12700">
            <a:solidFill>
              <a:srgbClr val="EA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000" b="0">
                <a:solidFill>
                  <a:srgbClr val="5E6478"/>
                </a:solidFill>
              </a:rPr>
              <a:t>积分权益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57031" y="47183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智能体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57031" y="5038344"/>
            <a:ext cx="715518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 旅拍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36558" y="5038344"/>
            <a:ext cx="12156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游记与行程总结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57031" y="5413248"/>
            <a:ext cx="10759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点评分享助手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396983" y="5413248"/>
            <a:ext cx="10759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年卡服务助手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00032" y="3383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>
                <a:solidFill>
                  <a:srgbClr val="655BE6"/>
                </a:solidFill>
              </a:rPr>
              <a:t>4 个 · 已有 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8368" y="6492240"/>
            <a:ext cx="68580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已有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435607" y="64922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可扩展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87168" y="649224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实心为已有，空心为基于积累可扩展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景区端能做 28 个：从经营、运营到安全调度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已有 2 个；票务、业态、财务、营销、调度的系统都是我们的，扩展有基础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95728"/>
            <a:ext cx="10204704" cy="457200"/>
          </a:xfrm>
          <a:prstGeom prst="roundRect">
            <a:avLst>
              <a:gd name="adj" fmla="val 16000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-lin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50545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856" y="239572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经营分析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239572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6478"/>
                </a:solidFill>
              </a:rPr>
              <a:t>经营问数 · 经营洞察 · 日报周报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2487168"/>
            <a:ext cx="88950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智能问数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8900" y="2487168"/>
            <a:ext cx="88950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智能洞察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3272" y="2487168"/>
            <a:ext cx="963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经营日报周报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1304" y="2487168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报表解读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07792"/>
            <a:ext cx="102047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cket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017520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3856" y="290779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票务运营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290779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6478"/>
                </a:solidFill>
              </a:rPr>
              <a:t>定价库存 · 分销渠道 · 团队报名 · 检票核销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4528" y="2999232"/>
            <a:ext cx="11816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票务 AI 运营助手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61000" y="2999232"/>
            <a:ext cx="963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分销渠道助手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9032" y="2999232"/>
            <a:ext cx="1090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旅行社报团助手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4064" y="2999232"/>
            <a:ext cx="963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检票异常解释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2096" y="2999232"/>
            <a:ext cx="1090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窗口售票员助手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204704" cy="457200"/>
          </a:xfrm>
          <a:prstGeom prst="roundRect">
            <a:avLst>
              <a:gd name="adj" fmla="val 16000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erris-wheel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529584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33856" y="341985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业态运营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9967" y="341985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6478"/>
                </a:solidFill>
              </a:rPr>
              <a:t>乐园 · 演出 · 游船 · 酒店 · 温泉 · 餐饮 · 停车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24528" y="3511296"/>
            <a:ext cx="963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业态经营助手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931920"/>
            <a:ext cx="102047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ell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041648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33856" y="39319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运营服务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7" y="3931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6478"/>
                </a:solidFill>
              </a:rPr>
              <a:t>年卡 · 分时预约 · 候补 · 免证 · 一卡通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24528" y="4023360"/>
            <a:ext cx="963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消息通知预警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42560" y="4023360"/>
            <a:ext cx="963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工单调度处置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443984"/>
            <a:ext cx="10204704" cy="457200"/>
          </a:xfrm>
          <a:prstGeom prst="roundRect">
            <a:avLst>
              <a:gd name="adj" fmla="val 16000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alculator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553712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33856" y="444398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财务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9967" y="4443984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6478"/>
                </a:solidFill>
              </a:rPr>
              <a:t>对账 · 发票 · 报表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24528" y="4535424"/>
            <a:ext cx="8895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AI 对账助手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68900" y="4535424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发票助手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956048"/>
            <a:ext cx="102047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megaphone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5065776"/>
            <a:ext cx="237744" cy="2377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33856" y="495604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营销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29967" y="495604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6478"/>
                </a:solidFill>
              </a:rPr>
              <a:t>会员 · 人群 · 全民营销 · 活动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24528" y="5047488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会员画像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8560" y="5047488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人群圈选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52592" y="5047488"/>
            <a:ext cx="963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营销文案生成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70624" y="5047488"/>
            <a:ext cx="836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推广员助手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61656" y="5047488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活动复盘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468112"/>
            <a:ext cx="10204704" cy="457200"/>
          </a:xfrm>
          <a:prstGeom prst="roundRect">
            <a:avLst>
              <a:gd name="adj" fmla="val 16000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iren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" y="5577840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33856" y="546811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安全调度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29967" y="54681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6478"/>
                </a:solidFill>
              </a:rPr>
              <a:t>客流秩序 · 车船调度 · 防火生态 · 气象设施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24528" y="555955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旅游安全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88560" y="555955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秩序治理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752592" y="555955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车辆调度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16624" y="555955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游船调度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80656" y="555955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森林防火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44688" y="555955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生态监测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08720" y="555955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气象服务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72751" y="555955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设施监测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5980176"/>
            <a:ext cx="102047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cpu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" y="6089904"/>
            <a:ext cx="237744" cy="23774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133856" y="598017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设备终端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9967" y="598017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6478"/>
                </a:solidFill>
              </a:rPr>
              <a:t>闸机 · 自助机 · 窗口 · 边云网关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24528" y="6071616"/>
            <a:ext cx="963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设备运维诊断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8368" y="6601968"/>
            <a:ext cx="68580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已有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435607" y="660196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可扩展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87168" y="6601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安全调度 8 个即“景区 AI 调度中枢”；实心为已有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怎么走：先借力，再复制，后自建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三步走，每两步之间设一道关卡，过关才进下一步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68980"/>
            <a:ext cx="2743200" cy="1645920"/>
          </a:xfrm>
          <a:prstGeom prst="roundRect">
            <a:avLst>
              <a:gd name="adj" fmla="val 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40614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776CFD"/>
                </a:solidFill>
              </a:rPr>
              <a:t>① 借力验证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719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B4551A"/>
                </a:solidFill>
              </a:rPr>
              <a:t>验证商业模式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11022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2B2F42"/>
                </a:solidFill>
              </a:rPr>
              <a:t>最小投入回答：卖给谁、卖什么、怎么收钱、能不能赚钱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308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6478"/>
                </a:solidFill>
              </a:rPr>
              <a:t>依托 Coze · 火山方舟 · 羚羊小Q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726180"/>
            <a:ext cx="841248" cy="777240"/>
          </a:xfrm>
          <a:prstGeom prst="roundRect">
            <a:avLst>
              <a:gd name="adj" fmla="val 14117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B4551A"/>
                </a:solidFill>
              </a:rPr>
              <a:t>关卡一</a:t>
            </a:r>
          </a:p>
          <a:p>
            <a:pPr algn="ctr">
              <a:spcBef>
                <a:spcPts val="200"/>
              </a:spcBef>
            </a:pPr>
            <a:r>
              <a:rPr sz="1250" b="1">
                <a:solidFill>
                  <a:srgbClr val="B4551A"/>
                </a:solidFill>
              </a:rPr>
              <a:t>跑通？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903220"/>
            <a:ext cx="2743200" cy="2011680"/>
          </a:xfrm>
          <a:prstGeom prst="roundRect">
            <a:avLst>
              <a:gd name="adj" fmla="val 636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04038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776CFD"/>
                </a:solidFill>
              </a:rPr>
              <a:t>② 借力复制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4061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B4551A"/>
                </a:solidFill>
              </a:rPr>
              <a:t>快速占领市场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4446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2B2F42"/>
                </a:solidFill>
              </a:rPr>
              <a:t>仍借平台，把跑通的产品按业态快速复制，抢市场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5308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6478"/>
                </a:solidFill>
              </a:rPr>
              <a:t>依托 Coze · 火山方舟 · 羚羊小Q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5472" y="3726180"/>
            <a:ext cx="841248" cy="777240"/>
          </a:xfrm>
          <a:prstGeom prst="roundRect">
            <a:avLst>
              <a:gd name="adj" fmla="val 14117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B4551A"/>
                </a:solidFill>
              </a:rPr>
              <a:t>关卡二</a:t>
            </a:r>
          </a:p>
          <a:p>
            <a:pPr algn="ctr">
              <a:spcBef>
                <a:spcPts val="200"/>
              </a:spcBef>
            </a:pPr>
            <a:r>
              <a:rPr sz="1250" b="1">
                <a:solidFill>
                  <a:srgbClr val="B4551A"/>
                </a:solidFill>
              </a:rPr>
              <a:t>划算？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1" y="2537460"/>
            <a:ext cx="2743200" cy="2377440"/>
          </a:xfrm>
          <a:prstGeom prst="roundRect">
            <a:avLst>
              <a:gd name="adj" fmla="val 538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2674619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③ 能力自给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304037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</a:rPr>
              <a:t>建自己的平台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337870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</a:rPr>
              <a:t>用沉淀的模板、知识、接口、数据建平台，成本和交付自己掌握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45308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EEEDFF"/>
                </a:solidFill>
              </a:rPr>
              <a:t>数字大脑作为智能体管理台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097780"/>
            <a:ext cx="501091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59" y="5262371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z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59" y="5376671"/>
            <a:ext cx="2286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89888" y="5262371"/>
            <a:ext cx="414223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为什么先借力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811012"/>
            <a:ext cx="4608576" cy="2926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6478"/>
                </a:solidFill>
              </a:rPr>
              <a:t>卖不卖得动、景区愿付多少钱，现在还不知道。先自建 = 需求没验证就砸钱；借平台，几周就能做出来去试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5097780"/>
            <a:ext cx="501091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16752" y="5262371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uilding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052" y="5376671"/>
            <a:ext cx="228600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83680" y="5262371"/>
            <a:ext cx="414223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为什么最终要自建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8" y="5811012"/>
            <a:ext cx="4608576" cy="2926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6478"/>
                </a:solidFill>
              </a:rPr>
              <a:t>景区越多平台费越高，交付和定制受平台限制，数据和资产在别人那里。规模起来后，自建更省、更快、更可控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6350508"/>
            <a:ext cx="10204704" cy="475488"/>
          </a:xfrm>
          <a:prstGeom prst="roundRect">
            <a:avLst>
              <a:gd name="adj" fmla="val 1923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6451092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52728" y="6350508"/>
            <a:ext cx="942746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贯穿始终　</a:t>
            </a:r>
            <a:r>
              <a:rPr sz="1250" b="0">
                <a:solidFill>
                  <a:srgbClr val="FFFFFF"/>
                </a:solidFill>
              </a:rPr>
              <a:t>借平台，不交资产 —— 知识、接口、数据、模板从第一天起就留在自己手里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第一步：先验证“能不能卖、能不能赚钱”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五个问题要用真实的景区、真实的钱来回答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36</a:t>
            </a:r>
          </a:p>
        </p:txBody>
      </p:sp>
      <p:grpSp>
        <p:nvGrpSpPr>
          <p:cNvPr id="21600" name="素材 31"/>
          <p:cNvGrpSpPr/>
          <p:nvPr/>
        </p:nvGrpSpPr>
        <p:grpSpPr>
          <a:xfrm>
            <a:off x="658368" y="2788920"/>
            <a:ext cx="6675120" cy="2766001"/>
            <a:chOff x="1728589" y="2236993"/>
            <a:chExt cx="7979490" cy="3306499"/>
          </a:xfrm>
        </p:grpSpPr>
        <p:grpSp>
          <p:nvGrpSpPr>
            <p:cNvPr id="21601" name="Group 20"/>
            <p:cNvGrpSpPr/>
            <p:nvPr/>
          </p:nvGrpSpPr>
          <p:grpSpPr>
            <a:xfrm>
              <a:off x="3240697" y="3115126"/>
              <a:ext cx="1942157" cy="1682741"/>
              <a:chOff x="3259138" y="2860907"/>
              <a:chExt cx="2222500" cy="1925638"/>
            </a:xfrm>
          </p:grpSpPr>
          <p:sp>
            <p:nvSpPr>
              <p:cNvPr id="21602" name="Freeform 6"/>
              <p:cNvSpPr/>
              <p:nvPr/>
            </p:nvSpPr>
            <p:spPr bwMode="auto">
              <a:xfrm>
                <a:off x="3259138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03" name="Freeform 15"/>
              <p:cNvSpPr>
                <a:spLocks noEditPoints="1"/>
              </p:cNvSpPr>
              <p:nvPr/>
            </p:nvSpPr>
            <p:spPr bwMode="auto">
              <a:xfrm>
                <a:off x="3387726" y="2970444"/>
                <a:ext cx="1966913" cy="1706563"/>
              </a:xfrm>
              <a:custGeom>
                <a:avLst/>
                <a:gdLst>
                  <a:gd name="T0" fmla="*/ 11 w 1239"/>
                  <a:gd name="T1" fmla="*/ 537 h 1075"/>
                  <a:gd name="T2" fmla="*/ 317 w 1239"/>
                  <a:gd name="T3" fmla="*/ 1066 h 1075"/>
                  <a:gd name="T4" fmla="*/ 924 w 1239"/>
                  <a:gd name="T5" fmla="*/ 1066 h 1075"/>
                  <a:gd name="T6" fmla="*/ 1227 w 1239"/>
                  <a:gd name="T7" fmla="*/ 537 h 1075"/>
                  <a:gd name="T8" fmla="*/ 924 w 1239"/>
                  <a:gd name="T9" fmla="*/ 9 h 1075"/>
                  <a:gd name="T10" fmla="*/ 317 w 1239"/>
                  <a:gd name="T11" fmla="*/ 9 h 1075"/>
                  <a:gd name="T12" fmla="*/ 11 w 1239"/>
                  <a:gd name="T13" fmla="*/ 537 h 1075"/>
                  <a:gd name="T14" fmla="*/ 11 w 1239"/>
                  <a:gd name="T15" fmla="*/ 537 h 1075"/>
                  <a:gd name="T16" fmla="*/ 0 w 1239"/>
                  <a:gd name="T17" fmla="*/ 537 h 1075"/>
                  <a:gd name="T18" fmla="*/ 309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09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1" y="537"/>
                    </a:moveTo>
                    <a:lnTo>
                      <a:pt x="317" y="1066"/>
                    </a:lnTo>
                    <a:lnTo>
                      <a:pt x="924" y="1066"/>
                    </a:lnTo>
                    <a:lnTo>
                      <a:pt x="1227" y="537"/>
                    </a:lnTo>
                    <a:lnTo>
                      <a:pt x="924" y="9"/>
                    </a:lnTo>
                    <a:lnTo>
                      <a:pt x="317" y="9"/>
                    </a:lnTo>
                    <a:lnTo>
                      <a:pt x="11" y="537"/>
                    </a:lnTo>
                    <a:lnTo>
                      <a:pt x="11" y="537"/>
                    </a:lnTo>
                    <a:close/>
                    <a:moveTo>
                      <a:pt x="0" y="537"/>
                    </a:moveTo>
                    <a:lnTo>
                      <a:pt x="309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09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604" name="Group 19"/>
            <p:cNvGrpSpPr/>
            <p:nvPr/>
          </p:nvGrpSpPr>
          <p:grpSpPr>
            <a:xfrm>
              <a:off x="1728589" y="2236993"/>
              <a:ext cx="1942157" cy="1686902"/>
              <a:chOff x="1528763" y="1856019"/>
              <a:chExt cx="2222500" cy="1930400"/>
            </a:xfrm>
          </p:grpSpPr>
          <p:sp>
            <p:nvSpPr>
              <p:cNvPr id="21605" name="Freeform 5"/>
              <p:cNvSpPr/>
              <p:nvPr/>
            </p:nvSpPr>
            <p:spPr bwMode="auto">
              <a:xfrm>
                <a:off x="1528763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06" name="Freeform 16"/>
              <p:cNvSpPr>
                <a:spLocks noEditPoints="1"/>
              </p:cNvSpPr>
              <p:nvPr/>
            </p:nvSpPr>
            <p:spPr bwMode="auto">
              <a:xfrm>
                <a:off x="1660526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607" name="Group 22"/>
            <p:cNvGrpSpPr/>
            <p:nvPr/>
          </p:nvGrpSpPr>
          <p:grpSpPr>
            <a:xfrm>
              <a:off x="6262137" y="3115126"/>
              <a:ext cx="1942157" cy="1682741"/>
              <a:chOff x="6716713" y="2860907"/>
              <a:chExt cx="2222500" cy="1925638"/>
            </a:xfrm>
          </p:grpSpPr>
          <p:sp>
            <p:nvSpPr>
              <p:cNvPr id="21608" name="Freeform 8"/>
              <p:cNvSpPr/>
              <p:nvPr/>
            </p:nvSpPr>
            <p:spPr bwMode="auto">
              <a:xfrm>
                <a:off x="6716713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09" name="Freeform 17"/>
              <p:cNvSpPr>
                <a:spLocks noEditPoints="1"/>
              </p:cNvSpPr>
              <p:nvPr/>
            </p:nvSpPr>
            <p:spPr bwMode="auto">
              <a:xfrm>
                <a:off x="6845301" y="2970444"/>
                <a:ext cx="1966913" cy="1706563"/>
              </a:xfrm>
              <a:custGeom>
                <a:avLst/>
                <a:gdLst>
                  <a:gd name="T0" fmla="*/ 12 w 1239"/>
                  <a:gd name="T1" fmla="*/ 537 h 1075"/>
                  <a:gd name="T2" fmla="*/ 314 w 1239"/>
                  <a:gd name="T3" fmla="*/ 1066 h 1075"/>
                  <a:gd name="T4" fmla="*/ 922 w 1239"/>
                  <a:gd name="T5" fmla="*/ 1066 h 1075"/>
                  <a:gd name="T6" fmla="*/ 1227 w 1239"/>
                  <a:gd name="T7" fmla="*/ 537 h 1075"/>
                  <a:gd name="T8" fmla="*/ 922 w 1239"/>
                  <a:gd name="T9" fmla="*/ 9 h 1075"/>
                  <a:gd name="T10" fmla="*/ 314 w 1239"/>
                  <a:gd name="T11" fmla="*/ 9 h 1075"/>
                  <a:gd name="T12" fmla="*/ 12 w 1239"/>
                  <a:gd name="T13" fmla="*/ 537 h 1075"/>
                  <a:gd name="T14" fmla="*/ 12 w 1239"/>
                  <a:gd name="T15" fmla="*/ 537 h 1075"/>
                  <a:gd name="T16" fmla="*/ 0 w 1239"/>
                  <a:gd name="T17" fmla="*/ 537 h 1075"/>
                  <a:gd name="T18" fmla="*/ 310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10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2" y="537"/>
                    </a:moveTo>
                    <a:lnTo>
                      <a:pt x="314" y="1066"/>
                    </a:lnTo>
                    <a:lnTo>
                      <a:pt x="922" y="1066"/>
                    </a:lnTo>
                    <a:lnTo>
                      <a:pt x="1227" y="537"/>
                    </a:lnTo>
                    <a:lnTo>
                      <a:pt x="922" y="9"/>
                    </a:lnTo>
                    <a:lnTo>
                      <a:pt x="314" y="9"/>
                    </a:lnTo>
                    <a:lnTo>
                      <a:pt x="12" y="537"/>
                    </a:lnTo>
                    <a:lnTo>
                      <a:pt x="12" y="537"/>
                    </a:lnTo>
                    <a:close/>
                    <a:moveTo>
                      <a:pt x="0" y="537"/>
                    </a:moveTo>
                    <a:lnTo>
                      <a:pt x="310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10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610" name="Group 21"/>
            <p:cNvGrpSpPr/>
            <p:nvPr/>
          </p:nvGrpSpPr>
          <p:grpSpPr>
            <a:xfrm>
              <a:off x="4750030" y="2236993"/>
              <a:ext cx="1942157" cy="1686902"/>
              <a:chOff x="4986338" y="1856019"/>
              <a:chExt cx="2222500" cy="1930400"/>
            </a:xfrm>
          </p:grpSpPr>
          <p:sp>
            <p:nvSpPr>
              <p:cNvPr id="21611" name="Freeform 7"/>
              <p:cNvSpPr/>
              <p:nvPr/>
            </p:nvSpPr>
            <p:spPr bwMode="auto">
              <a:xfrm>
                <a:off x="4986338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2" name="Freeform 18"/>
              <p:cNvSpPr>
                <a:spLocks noEditPoints="1"/>
              </p:cNvSpPr>
              <p:nvPr/>
            </p:nvSpPr>
            <p:spPr bwMode="auto">
              <a:xfrm>
                <a:off x="5118101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613" name="Group 23"/>
            <p:cNvGrpSpPr/>
            <p:nvPr/>
          </p:nvGrpSpPr>
          <p:grpSpPr>
            <a:xfrm>
              <a:off x="7764535" y="2236993"/>
              <a:ext cx="1943544" cy="1686902"/>
              <a:chOff x="8435976" y="1856019"/>
              <a:chExt cx="2224088" cy="1930400"/>
            </a:xfrm>
          </p:grpSpPr>
          <p:sp>
            <p:nvSpPr>
              <p:cNvPr id="21614" name="Freeform 9"/>
              <p:cNvSpPr/>
              <p:nvPr/>
            </p:nvSpPr>
            <p:spPr bwMode="auto">
              <a:xfrm>
                <a:off x="8435976" y="1856019"/>
                <a:ext cx="2224088" cy="1930400"/>
              </a:xfrm>
              <a:custGeom>
                <a:avLst/>
                <a:gdLst>
                  <a:gd name="T0" fmla="*/ 0 w 1401"/>
                  <a:gd name="T1" fmla="*/ 609 h 1216"/>
                  <a:gd name="T2" fmla="*/ 351 w 1401"/>
                  <a:gd name="T3" fmla="*/ 1216 h 1216"/>
                  <a:gd name="T4" fmla="*/ 1051 w 1401"/>
                  <a:gd name="T5" fmla="*/ 1216 h 1216"/>
                  <a:gd name="T6" fmla="*/ 1401 w 1401"/>
                  <a:gd name="T7" fmla="*/ 609 h 1216"/>
                  <a:gd name="T8" fmla="*/ 1051 w 1401"/>
                  <a:gd name="T9" fmla="*/ 0 h 1216"/>
                  <a:gd name="T10" fmla="*/ 351 w 1401"/>
                  <a:gd name="T11" fmla="*/ 0 h 1216"/>
                  <a:gd name="T12" fmla="*/ 0 w 1401"/>
                  <a:gd name="T13" fmla="*/ 609 h 1216"/>
                  <a:gd name="T14" fmla="*/ 0 w 1401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1" h="1216">
                    <a:moveTo>
                      <a:pt x="0" y="609"/>
                    </a:moveTo>
                    <a:lnTo>
                      <a:pt x="351" y="1216"/>
                    </a:lnTo>
                    <a:lnTo>
                      <a:pt x="1051" y="1216"/>
                    </a:lnTo>
                    <a:lnTo>
                      <a:pt x="1401" y="609"/>
                    </a:lnTo>
                    <a:lnTo>
                      <a:pt x="1051" y="0"/>
                    </a:lnTo>
                    <a:lnTo>
                      <a:pt x="351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5" name="Freeform 19"/>
              <p:cNvSpPr>
                <a:spLocks noEditPoints="1"/>
              </p:cNvSpPr>
              <p:nvPr/>
            </p:nvSpPr>
            <p:spPr bwMode="auto">
              <a:xfrm>
                <a:off x="8567738" y="1968732"/>
                <a:ext cx="1963738" cy="1704975"/>
              </a:xfrm>
              <a:custGeom>
                <a:avLst/>
                <a:gdLst>
                  <a:gd name="T0" fmla="*/ 10 w 1237"/>
                  <a:gd name="T1" fmla="*/ 538 h 1074"/>
                  <a:gd name="T2" fmla="*/ 315 w 1237"/>
                  <a:gd name="T3" fmla="*/ 1064 h 1074"/>
                  <a:gd name="T4" fmla="*/ 923 w 1237"/>
                  <a:gd name="T5" fmla="*/ 1064 h 1074"/>
                  <a:gd name="T6" fmla="*/ 1225 w 1237"/>
                  <a:gd name="T7" fmla="*/ 538 h 1074"/>
                  <a:gd name="T8" fmla="*/ 923 w 1237"/>
                  <a:gd name="T9" fmla="*/ 10 h 1074"/>
                  <a:gd name="T10" fmla="*/ 315 w 1237"/>
                  <a:gd name="T11" fmla="*/ 10 h 1074"/>
                  <a:gd name="T12" fmla="*/ 10 w 1237"/>
                  <a:gd name="T13" fmla="*/ 538 h 1074"/>
                  <a:gd name="T14" fmla="*/ 10 w 1237"/>
                  <a:gd name="T15" fmla="*/ 538 h 1074"/>
                  <a:gd name="T16" fmla="*/ 0 w 1237"/>
                  <a:gd name="T17" fmla="*/ 538 h 1074"/>
                  <a:gd name="T18" fmla="*/ 310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10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10" y="538"/>
                    </a:moveTo>
                    <a:lnTo>
                      <a:pt x="315" y="1064"/>
                    </a:lnTo>
                    <a:lnTo>
                      <a:pt x="923" y="1064"/>
                    </a:lnTo>
                    <a:lnTo>
                      <a:pt x="1225" y="538"/>
                    </a:lnTo>
                    <a:lnTo>
                      <a:pt x="923" y="10"/>
                    </a:lnTo>
                    <a:lnTo>
                      <a:pt x="315" y="10"/>
                    </a:lnTo>
                    <a:lnTo>
                      <a:pt x="10" y="538"/>
                    </a:lnTo>
                    <a:lnTo>
                      <a:pt x="10" y="538"/>
                    </a:lnTo>
                    <a:close/>
                    <a:moveTo>
                      <a:pt x="0" y="538"/>
                    </a:moveTo>
                    <a:lnTo>
                      <a:pt x="310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10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1616" name="Straight Connector 31"/>
            <p:cNvCxnSpPr/>
            <p:nvPr/>
          </p:nvCxnSpPr>
          <p:spPr>
            <a:xfrm>
              <a:off x="2699430" y="4160210"/>
              <a:ext cx="0" cy="541936"/>
            </a:xfrm>
            <a:prstGeom prst="line">
              <a:avLst/>
            </a:prstGeom>
            <a:ln w="28575">
              <a:solidFill>
                <a:srgbClr val="776CFD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617" name="Straight Connector 34"/>
            <p:cNvCxnSpPr/>
            <p:nvPr/>
          </p:nvCxnSpPr>
          <p:spPr>
            <a:xfrm>
              <a:off x="5710829" y="4160210"/>
              <a:ext cx="0" cy="541936"/>
            </a:xfrm>
            <a:prstGeom prst="line">
              <a:avLst/>
            </a:prstGeom>
            <a:ln w="28575">
              <a:solidFill>
                <a:srgbClr val="655BE6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618" name="Straight Connector 35"/>
            <p:cNvCxnSpPr/>
            <p:nvPr/>
          </p:nvCxnSpPr>
          <p:spPr>
            <a:xfrm>
              <a:off x="8736307" y="4160210"/>
              <a:ext cx="0" cy="541936"/>
            </a:xfrm>
            <a:prstGeom prst="line">
              <a:avLst/>
            </a:prstGeom>
            <a:ln w="28575">
              <a:solidFill>
                <a:srgbClr val="6C95FD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619" name="Straight Connector 36"/>
            <p:cNvCxnSpPr/>
            <p:nvPr/>
          </p:nvCxnSpPr>
          <p:spPr>
            <a:xfrm>
              <a:off x="4208750" y="5001556"/>
              <a:ext cx="0" cy="541936"/>
            </a:xfrm>
            <a:prstGeom prst="line">
              <a:avLst/>
            </a:prstGeom>
            <a:ln w="28575">
              <a:solidFill>
                <a:srgbClr val="5D95F1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620" name="Straight Connector 37"/>
            <p:cNvCxnSpPr/>
            <p:nvPr/>
          </p:nvCxnSpPr>
          <p:spPr>
            <a:xfrm>
              <a:off x="7233909" y="5001556"/>
              <a:ext cx="0" cy="541936"/>
            </a:xfrm>
            <a:prstGeom prst="line">
              <a:avLst/>
            </a:prstGeom>
            <a:ln w="28575">
              <a:solidFill>
                <a:srgbClr val="F08A3C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</p:grpSp>
      <p:pic>
        <p:nvPicPr>
          <p:cNvPr id="21621" name="Picture 21620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710" y="3111354"/>
            <a:ext cx="402336" cy="402336"/>
          </a:xfrm>
          <a:prstGeom prst="rect">
            <a:avLst/>
          </a:prstGeom>
        </p:spPr>
      </p:pic>
      <p:sp>
        <p:nvSpPr>
          <p:cNvPr id="21622" name="TextBox 21621"/>
          <p:cNvSpPr txBox="1"/>
          <p:nvPr/>
        </p:nvSpPr>
        <p:spPr>
          <a:xfrm>
            <a:off x="645918" y="356855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卖给谁</a:t>
            </a:r>
          </a:p>
        </p:txBody>
      </p:sp>
      <p:sp>
        <p:nvSpPr>
          <p:cNvPr id="21623" name="TextBox 21622"/>
          <p:cNvSpPr txBox="1"/>
          <p:nvPr/>
        </p:nvSpPr>
        <p:spPr>
          <a:xfrm>
            <a:off x="463038" y="490418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哪类景区最需要</a:t>
            </a:r>
          </a:p>
        </p:txBody>
      </p:sp>
      <p:pic>
        <p:nvPicPr>
          <p:cNvPr id="21624" name="Picture 21623" descr="box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840" y="3845685"/>
            <a:ext cx="402336" cy="402336"/>
          </a:xfrm>
          <a:prstGeom prst="rect">
            <a:avLst/>
          </a:prstGeom>
        </p:spPr>
      </p:pic>
      <p:sp>
        <p:nvSpPr>
          <p:cNvPr id="21625" name="TextBox 21624"/>
          <p:cNvSpPr txBox="1"/>
          <p:nvPr/>
        </p:nvSpPr>
        <p:spPr>
          <a:xfrm>
            <a:off x="1908048" y="430288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卖什么</a:t>
            </a:r>
          </a:p>
        </p:txBody>
      </p:sp>
      <p:sp>
        <p:nvSpPr>
          <p:cNvPr id="21626" name="TextBox 21625"/>
          <p:cNvSpPr txBox="1"/>
          <p:nvPr/>
        </p:nvSpPr>
        <p:spPr>
          <a:xfrm>
            <a:off x="1725168" y="5607921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哪些组合景区最认</a:t>
            </a:r>
          </a:p>
        </p:txBody>
      </p:sp>
      <p:pic>
        <p:nvPicPr>
          <p:cNvPr id="21627" name="Picture 21626" descr="coin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970" y="3111354"/>
            <a:ext cx="402336" cy="402336"/>
          </a:xfrm>
          <a:prstGeom prst="rect">
            <a:avLst/>
          </a:prstGeom>
        </p:spPr>
      </p:pic>
      <p:sp>
        <p:nvSpPr>
          <p:cNvPr id="21628" name="TextBox 21627"/>
          <p:cNvSpPr txBox="1"/>
          <p:nvPr/>
        </p:nvSpPr>
        <p:spPr>
          <a:xfrm>
            <a:off x="3170178" y="356855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怎么收钱</a:t>
            </a:r>
          </a:p>
        </p:txBody>
      </p:sp>
      <p:sp>
        <p:nvSpPr>
          <p:cNvPr id="21629" name="TextBox 21628"/>
          <p:cNvSpPr txBox="1"/>
          <p:nvPr/>
        </p:nvSpPr>
        <p:spPr>
          <a:xfrm>
            <a:off x="2987298" y="490418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四种方式选哪种</a:t>
            </a:r>
          </a:p>
        </p:txBody>
      </p:sp>
      <p:pic>
        <p:nvPicPr>
          <p:cNvPr id="21630" name="Picture 21629" descr="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750" y="3845685"/>
            <a:ext cx="402336" cy="402336"/>
          </a:xfrm>
          <a:prstGeom prst="rect">
            <a:avLst/>
          </a:prstGeom>
        </p:spPr>
      </p:pic>
      <p:sp>
        <p:nvSpPr>
          <p:cNvPr id="21631" name="TextBox 21630"/>
          <p:cNvSpPr txBox="1"/>
          <p:nvPr/>
        </p:nvSpPr>
        <p:spPr>
          <a:xfrm>
            <a:off x="4439958" y="430288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花多少钱</a:t>
            </a:r>
          </a:p>
        </p:txBody>
      </p:sp>
      <p:sp>
        <p:nvSpPr>
          <p:cNvPr id="21632" name="TextBox 21631"/>
          <p:cNvSpPr txBox="1"/>
          <p:nvPr/>
        </p:nvSpPr>
        <p:spPr>
          <a:xfrm>
            <a:off x="4257078" y="5607921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平台费 + 交付 + 运营</a:t>
            </a:r>
          </a:p>
        </p:txBody>
      </p:sp>
      <p:pic>
        <p:nvPicPr>
          <p:cNvPr id="21633" name="Picture 21632" descr="thumbs-u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0055" y="3111354"/>
            <a:ext cx="402336" cy="402336"/>
          </a:xfrm>
          <a:prstGeom prst="rect">
            <a:avLst/>
          </a:prstGeom>
        </p:spPr>
      </p:pic>
      <p:sp>
        <p:nvSpPr>
          <p:cNvPr id="21634" name="TextBox 21633"/>
          <p:cNvSpPr txBox="1"/>
          <p:nvPr/>
        </p:nvSpPr>
        <p:spPr>
          <a:xfrm>
            <a:off x="5698263" y="356855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值不值</a:t>
            </a:r>
          </a:p>
        </p:txBody>
      </p:sp>
      <p:sp>
        <p:nvSpPr>
          <p:cNvPr id="21635" name="TextBox 21634"/>
          <p:cNvSpPr txBox="1"/>
          <p:nvPr/>
        </p:nvSpPr>
        <p:spPr>
          <a:xfrm>
            <a:off x="5515383" y="490418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省人、多卖、更满意</a:t>
            </a:r>
          </a:p>
        </p:txBody>
      </p:sp>
      <p:sp>
        <p:nvSpPr>
          <p:cNvPr id="21636" name="Rounded Rectangle 21635"/>
          <p:cNvSpPr/>
          <p:nvPr/>
        </p:nvSpPr>
        <p:spPr>
          <a:xfrm>
            <a:off x="7863840" y="2670048"/>
            <a:ext cx="2999232" cy="4023360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7" name="Rounded Rectangle 21636"/>
          <p:cNvSpPr/>
          <p:nvPr/>
        </p:nvSpPr>
        <p:spPr>
          <a:xfrm>
            <a:off x="7863840" y="2670048"/>
            <a:ext cx="2999232" cy="566928"/>
          </a:xfrm>
          <a:prstGeom prst="roundRect">
            <a:avLst>
              <a:gd name="adj" fmla="val 2258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8" name="Rounded Rectangle 21637"/>
          <p:cNvSpPr/>
          <p:nvPr/>
        </p:nvSpPr>
        <p:spPr>
          <a:xfrm>
            <a:off x="7863840" y="3017520"/>
            <a:ext cx="2999232" cy="21945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39" name="Picture 21638" descr="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9" y="2788920"/>
            <a:ext cx="310896" cy="310896"/>
          </a:xfrm>
          <a:prstGeom prst="rect">
            <a:avLst/>
          </a:prstGeom>
        </p:spPr>
      </p:pic>
      <p:sp>
        <p:nvSpPr>
          <p:cNvPr id="21640" name="TextBox 21639"/>
          <p:cNvSpPr txBox="1"/>
          <p:nvPr/>
        </p:nvSpPr>
        <p:spPr>
          <a:xfrm>
            <a:off x="8458200" y="2670048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</a:rPr>
              <a:t>单个景区算一笔账</a:t>
            </a:r>
          </a:p>
        </p:txBody>
      </p:sp>
      <p:sp>
        <p:nvSpPr>
          <p:cNvPr id="21641" name="TextBox 21640"/>
          <p:cNvSpPr txBox="1"/>
          <p:nvPr/>
        </p:nvSpPr>
        <p:spPr>
          <a:xfrm>
            <a:off x="8092440" y="34290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08A3C"/>
                </a:solidFill>
              </a:rPr>
              <a:t/>
            </a:r>
          </a:p>
        </p:txBody>
      </p:sp>
      <p:sp>
        <p:nvSpPr>
          <p:cNvPr id="21642" name="TextBox 21641"/>
          <p:cNvSpPr txBox="1"/>
          <p:nvPr/>
        </p:nvSpPr>
        <p:spPr>
          <a:xfrm>
            <a:off x="8503919" y="342900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一年收入</a:t>
            </a:r>
          </a:p>
        </p:txBody>
      </p:sp>
      <p:cxnSp>
        <p:nvCxnSpPr>
          <p:cNvPr id="21643" name="Connector 21642"/>
          <p:cNvCxnSpPr/>
          <p:nvPr/>
        </p:nvCxnSpPr>
        <p:spPr>
          <a:xfrm>
            <a:off x="8092440" y="3941064"/>
            <a:ext cx="2542032" cy="0"/>
          </a:xfrm>
          <a:prstGeom prst="line">
            <a:avLst/>
          </a:prstGeom>
          <a:ln w="9525">
            <a:solidFill>
              <a:srgbClr val="E6E4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44" name="TextBox 21643"/>
          <p:cNvSpPr txBox="1"/>
          <p:nvPr/>
        </p:nvSpPr>
        <p:spPr>
          <a:xfrm>
            <a:off x="8092440" y="399592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08A3C"/>
                </a:solidFill>
              </a:rPr>
              <a:t>−</a:t>
            </a:r>
          </a:p>
        </p:txBody>
      </p:sp>
      <p:sp>
        <p:nvSpPr>
          <p:cNvPr id="21645" name="TextBox 21644"/>
          <p:cNvSpPr txBox="1"/>
          <p:nvPr/>
        </p:nvSpPr>
        <p:spPr>
          <a:xfrm>
            <a:off x="8503919" y="3995928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0">
                <a:solidFill>
                  <a:srgbClr val="5E6478"/>
                </a:solidFill>
              </a:rPr>
              <a:t>平台调用费</a:t>
            </a:r>
          </a:p>
        </p:txBody>
      </p:sp>
      <p:cxnSp>
        <p:nvCxnSpPr>
          <p:cNvPr id="21646" name="Connector 21645"/>
          <p:cNvCxnSpPr/>
          <p:nvPr/>
        </p:nvCxnSpPr>
        <p:spPr>
          <a:xfrm>
            <a:off x="8092440" y="4507992"/>
            <a:ext cx="2542032" cy="0"/>
          </a:xfrm>
          <a:prstGeom prst="line">
            <a:avLst/>
          </a:prstGeom>
          <a:ln w="9525">
            <a:solidFill>
              <a:srgbClr val="E6E4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47" name="TextBox 21646"/>
          <p:cNvSpPr txBox="1"/>
          <p:nvPr/>
        </p:nvSpPr>
        <p:spPr>
          <a:xfrm>
            <a:off x="8092440" y="4562856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08A3C"/>
                </a:solidFill>
              </a:rPr>
              <a:t>−</a:t>
            </a:r>
          </a:p>
        </p:txBody>
      </p:sp>
      <p:sp>
        <p:nvSpPr>
          <p:cNvPr id="21648" name="TextBox 21647"/>
          <p:cNvSpPr txBox="1"/>
          <p:nvPr/>
        </p:nvSpPr>
        <p:spPr>
          <a:xfrm>
            <a:off x="8503919" y="4562856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0">
                <a:solidFill>
                  <a:srgbClr val="5E6478"/>
                </a:solidFill>
              </a:rPr>
              <a:t>交付成本（摊销）</a:t>
            </a:r>
          </a:p>
        </p:txBody>
      </p:sp>
      <p:cxnSp>
        <p:nvCxnSpPr>
          <p:cNvPr id="21649" name="Connector 21648"/>
          <p:cNvCxnSpPr/>
          <p:nvPr/>
        </p:nvCxnSpPr>
        <p:spPr>
          <a:xfrm>
            <a:off x="8092440" y="5074920"/>
            <a:ext cx="2542032" cy="0"/>
          </a:xfrm>
          <a:prstGeom prst="line">
            <a:avLst/>
          </a:prstGeom>
          <a:ln w="9525">
            <a:solidFill>
              <a:srgbClr val="E6E4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50" name="TextBox 21649"/>
          <p:cNvSpPr txBox="1"/>
          <p:nvPr/>
        </p:nvSpPr>
        <p:spPr>
          <a:xfrm>
            <a:off x="8092440" y="5129784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08A3C"/>
                </a:solidFill>
              </a:rPr>
              <a:t>−</a:t>
            </a:r>
          </a:p>
        </p:txBody>
      </p:sp>
      <p:sp>
        <p:nvSpPr>
          <p:cNvPr id="21651" name="TextBox 21650"/>
          <p:cNvSpPr txBox="1"/>
          <p:nvPr/>
        </p:nvSpPr>
        <p:spPr>
          <a:xfrm>
            <a:off x="8503919" y="5129784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0">
                <a:solidFill>
                  <a:srgbClr val="5E6478"/>
                </a:solidFill>
              </a:rPr>
              <a:t>运营支持</a:t>
            </a:r>
          </a:p>
        </p:txBody>
      </p:sp>
      <p:cxnSp>
        <p:nvCxnSpPr>
          <p:cNvPr id="21652" name="Connector 21651"/>
          <p:cNvCxnSpPr/>
          <p:nvPr/>
        </p:nvCxnSpPr>
        <p:spPr>
          <a:xfrm>
            <a:off x="8092440" y="5641848"/>
            <a:ext cx="2542032" cy="0"/>
          </a:xfrm>
          <a:prstGeom prst="line">
            <a:avLst/>
          </a:prstGeom>
          <a:ln w="9525">
            <a:solidFill>
              <a:srgbClr val="E6E4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53" name="Rounded Rectangle 21652"/>
          <p:cNvSpPr/>
          <p:nvPr/>
        </p:nvSpPr>
        <p:spPr>
          <a:xfrm>
            <a:off x="8046719" y="5760720"/>
            <a:ext cx="2633472" cy="731520"/>
          </a:xfrm>
          <a:prstGeom prst="roundRect">
            <a:avLst>
              <a:gd name="adj" fmla="val 125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＞ 0</a:t>
            </a:r>
            <a:r>
              <a:rPr sz="1300" b="0">
                <a:solidFill>
                  <a:srgbClr val="FFE9D9"/>
                </a:solidFill>
              </a:rPr>
              <a:t>　才算能赚钱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怎么收钱、景区认什么：先试两种收费，用数据证明价值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验证期同时试“随票务打包”和“年费订阅”，看哪种成交快、续费稳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66060"/>
            <a:ext cx="2414016" cy="2148840"/>
          </a:xfrm>
          <a:prstGeom prst="roundRect">
            <a:avLst>
              <a:gd name="adj" fmla="val 5106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12264" y="263804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建议先试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84932"/>
            <a:ext cx="204825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655BE6"/>
                </a:solidFill>
              </a:rPr>
              <a:t>随票务打包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96412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B2F42"/>
                </a:solidFill>
              </a:rPr>
              <a:t>作为票务增值模块，提高票务年费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845052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776CFD"/>
                </a:solidFill>
              </a:rPr>
              <a:t>适合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05536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已用我们票务的景区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357116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B4551A"/>
                </a:solidFill>
              </a:rPr>
              <a:t>要验证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567428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能否提升续约率和客单价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5264" y="2766060"/>
            <a:ext cx="2414016" cy="2148840"/>
          </a:xfrm>
          <a:prstGeom prst="roundRect">
            <a:avLst>
              <a:gd name="adj" fmla="val 5106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9160" y="263804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建议先试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2884932"/>
            <a:ext cx="204825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655BE6"/>
                </a:solidFill>
              </a:rPr>
              <a:t>年费订阅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3296412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B2F42"/>
                </a:solidFill>
              </a:rPr>
              <a:t>按景区规模或智能体数量分档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8144" y="3845052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776CFD"/>
                </a:solidFill>
              </a:rPr>
              <a:t>适合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405536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新客户、单独采购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4357116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B4551A"/>
                </a:solidFill>
              </a:rPr>
              <a:t>要验证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144" y="4567428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景区能接受的价位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766060"/>
            <a:ext cx="2414016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2884932"/>
            <a:ext cx="204825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按效果分成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296412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B2F42"/>
                </a:solidFill>
              </a:rPr>
              <a:t>按 AI 带来的购票、二消收入分成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845052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776CFD"/>
                </a:solidFill>
              </a:rPr>
              <a:t>适合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05536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购票、营销类智能体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357116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B4551A"/>
                </a:solidFill>
              </a:rPr>
              <a:t>要验证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567428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增量能否算清楚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49056" y="2766060"/>
            <a:ext cx="2414016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1936" y="2884932"/>
            <a:ext cx="204825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按用量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6" y="3296412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B2F42"/>
                </a:solidFill>
              </a:rPr>
              <a:t>按对话量或调用量计费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31936" y="3845052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776CFD"/>
                </a:solidFill>
              </a:rPr>
              <a:t>适合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31936" y="405536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大客流景区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1936" y="4357116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B4551A"/>
                </a:solidFill>
              </a:rPr>
              <a:t>要验证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31936" y="4567428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能否接受账单波动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152644"/>
            <a:ext cx="54864" cy="219456"/>
          </a:xfrm>
          <a:prstGeom prst="roundRect">
            <a:avLst>
              <a:gd name="adj" fmla="val 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07949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景区认的价值，要用数据证明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490972"/>
            <a:ext cx="2414016" cy="1234440"/>
          </a:xfrm>
          <a:prstGeom prst="roundRect">
            <a:avLst>
              <a:gd name="adj" fmla="val 8888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2959" y="5628132"/>
            <a:ext cx="420624" cy="42062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user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5" y="5733288"/>
            <a:ext cx="210312" cy="2103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44168" y="5628132"/>
            <a:ext cx="1636776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少用人工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" y="6131052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6478"/>
                </a:solidFill>
              </a:rPr>
              <a:t>智能体解决咨询的比例、省下的客服人力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55264" y="5490972"/>
            <a:ext cx="2414016" cy="1234440"/>
          </a:xfrm>
          <a:prstGeom prst="roundRect">
            <a:avLst>
              <a:gd name="adj" fmla="val 8888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19856" y="5628132"/>
            <a:ext cx="420624" cy="42062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012" y="5733288"/>
            <a:ext cx="210312" cy="21031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941064" y="5628132"/>
            <a:ext cx="1636776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多卖票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19856" y="6131052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6478"/>
                </a:solidFill>
              </a:rPr>
              <a:t>智能体带来的线上购票、二消订单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52160" y="5490972"/>
            <a:ext cx="2414016" cy="1234440"/>
          </a:xfrm>
          <a:prstGeom prst="roundRect">
            <a:avLst>
              <a:gd name="adj" fmla="val 8888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016752" y="5628132"/>
            <a:ext cx="420624" cy="42062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humbs-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908" y="5733288"/>
            <a:ext cx="210312" cy="21031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537960" y="5628132"/>
            <a:ext cx="1636776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游客更满意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16752" y="6131052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6478"/>
                </a:solidFill>
              </a:rPr>
              <a:t>满意度、差评率、排队与等待减少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49056" y="5490972"/>
            <a:ext cx="2414016" cy="1234440"/>
          </a:xfrm>
          <a:prstGeom prst="roundRect">
            <a:avLst>
              <a:gd name="adj" fmla="val 8888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13648" y="5628132"/>
            <a:ext cx="420624" cy="42062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c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8804" y="5733288"/>
            <a:ext cx="210312" cy="21031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134856" y="5628132"/>
            <a:ext cx="1636776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管理更省心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6131052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6478"/>
                </a:solidFill>
              </a:rPr>
              <a:t>报表、对账、预警的人工时间减少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怎么验证：挑标杆、快速搭、跑一个旺季、让数据说话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效果好的定型，效果不好的回平台调，没人用的场景及时停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38</a:t>
            </a:r>
          </a:p>
        </p:txBody>
      </p:sp>
      <p:sp>
        <p:nvSpPr>
          <p:cNvPr id="9" name="Pentagon 8"/>
          <p:cNvSpPr/>
          <p:nvPr/>
        </p:nvSpPr>
        <p:spPr>
          <a:xfrm>
            <a:off x="658368" y="2807208"/>
            <a:ext cx="2756916" cy="566928"/>
          </a:xfrm>
          <a:prstGeom prst="homePlate">
            <a:avLst>
              <a:gd name="adj" fmla="val 35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la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2935224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89888" y="2807208"/>
            <a:ext cx="1568196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38728"/>
            <a:ext cx="225399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挑标杆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22776"/>
            <a:ext cx="2208276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从已用我们票务的景区里挑，覆盖 2–3 类业态，愿意配合</a:t>
            </a:r>
          </a:p>
        </p:txBody>
      </p:sp>
      <p:sp>
        <p:nvSpPr>
          <p:cNvPr id="14" name="Chevron 13"/>
          <p:cNvSpPr/>
          <p:nvPr/>
        </p:nvSpPr>
        <p:spPr>
          <a:xfrm>
            <a:off x="3140964" y="2807208"/>
            <a:ext cx="2756916" cy="566928"/>
          </a:xfrm>
          <a:prstGeom prst="chevron">
            <a:avLst>
              <a:gd name="adj" fmla="val 35000"/>
            </a:avLst>
          </a:prstGeom>
          <a:solidFill>
            <a:srgbClr val="5D9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o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2935224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55364" y="2807208"/>
            <a:ext cx="1568196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6724" y="3538728"/>
            <a:ext cx="225399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快速搭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6724" y="3922776"/>
            <a:ext cx="2208276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平台上搭好现有 8 个，再挑 1–2 个高价值新场景</a:t>
            </a:r>
          </a:p>
        </p:txBody>
      </p:sp>
      <p:sp>
        <p:nvSpPr>
          <p:cNvPr id="19" name="Chevron 18"/>
          <p:cNvSpPr/>
          <p:nvPr/>
        </p:nvSpPr>
        <p:spPr>
          <a:xfrm>
            <a:off x="5623560" y="2807208"/>
            <a:ext cx="2756916" cy="566928"/>
          </a:xfrm>
          <a:prstGeom prst="chevron">
            <a:avLst>
              <a:gd name="adj" fmla="val 35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935224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37960" y="2807208"/>
            <a:ext cx="1568196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538728"/>
            <a:ext cx="225399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跑一个旺季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922776"/>
            <a:ext cx="2208276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节假日客流最能检验效果和成本</a:t>
            </a:r>
          </a:p>
        </p:txBody>
      </p:sp>
      <p:sp>
        <p:nvSpPr>
          <p:cNvPr id="24" name="Chevron 23"/>
          <p:cNvSpPr/>
          <p:nvPr/>
        </p:nvSpPr>
        <p:spPr>
          <a:xfrm>
            <a:off x="8106156" y="2807208"/>
            <a:ext cx="2756916" cy="566928"/>
          </a:xfrm>
          <a:prstGeom prst="chevron">
            <a:avLst>
              <a:gd name="adj" fmla="val 35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9076" y="2935224"/>
            <a:ext cx="310896" cy="3108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20556" y="2807208"/>
            <a:ext cx="1568196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1916" y="3538728"/>
            <a:ext cx="225399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B4551A"/>
                </a:solidFill>
              </a:rPr>
              <a:t>数据回流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1916" y="3922776"/>
            <a:ext cx="2208276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对话、转人工、评价、订单从第一天进数据平台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83480"/>
            <a:ext cx="54864" cy="219456"/>
          </a:xfrm>
          <a:prstGeom prst="roundRect">
            <a:avLst>
              <a:gd name="adj" fmla="val 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9103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看五件事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47088" y="4956048"/>
            <a:ext cx="1022858" cy="29260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 w="9525">
            <a:solidFill>
              <a:srgbClr val="E4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655BE6"/>
                </a:solidFill>
              </a:rPr>
              <a:t>有没有人用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79674" y="4956048"/>
            <a:ext cx="1314958" cy="29260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 w="9525">
            <a:solidFill>
              <a:srgbClr val="E4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655BE6"/>
                </a:solidFill>
              </a:rPr>
              <a:t>能不能解决问题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04360" y="4956048"/>
            <a:ext cx="1314958" cy="29260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 w="9525">
            <a:solidFill>
              <a:srgbClr val="E4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655BE6"/>
                </a:solidFill>
              </a:rPr>
              <a:t>景区愿不愿付费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29046" y="4956048"/>
            <a:ext cx="1022858" cy="29260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 w="9525">
            <a:solidFill>
              <a:srgbClr val="E4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655BE6"/>
                </a:solidFill>
              </a:rPr>
              <a:t>多久能交付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61632" y="4956048"/>
            <a:ext cx="1314958" cy="29260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 w="9525">
            <a:solidFill>
              <a:srgbClr val="E4E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655BE6"/>
                </a:solidFill>
              </a:rPr>
              <a:t>单景区成本多少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477256"/>
            <a:ext cx="1777593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B2F42"/>
                </a:solidFill>
              </a:rPr>
              <a:t>选场景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499969" y="563727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65145" y="5477256"/>
            <a:ext cx="1777593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B2F42"/>
                </a:solidFill>
              </a:rPr>
              <a:t>平台上搭建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606747" y="563727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71923" y="5477256"/>
            <a:ext cx="1777593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B2F42"/>
                </a:solidFill>
              </a:rPr>
              <a:t>标杆试点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713524" y="563727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78700" y="5477256"/>
            <a:ext cx="1777593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B2F42"/>
                </a:solidFill>
              </a:rPr>
              <a:t>看效果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8820302" y="563727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85478" y="5477256"/>
            <a:ext cx="1777593" cy="50292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</a:rPr>
              <a:t>定价与交付定型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6172200"/>
            <a:ext cx="10204704" cy="384048"/>
          </a:xfrm>
          <a:prstGeom prst="roundRect">
            <a:avLst>
              <a:gd name="adj" fmla="val 19047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00" b="1">
                <a:solidFill>
                  <a:srgbClr val="B4551A"/>
                </a:solidFill>
              </a:rPr>
              <a:t>迭代　</a:t>
            </a:r>
            <a:r>
              <a:rPr sz="1200" b="0">
                <a:solidFill>
                  <a:srgbClr val="2B2F42"/>
                </a:solidFill>
              </a:rPr>
              <a:t>效果不好的回平台调整；没人用的场景及时停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关卡一：怎样才算“商业模式跑通了”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五条都满足，才进入第二步；不满足就调整再试，不硬推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02052"/>
            <a:ext cx="6309360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2839212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702052"/>
            <a:ext cx="10972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用起来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702052"/>
            <a:ext cx="411480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5E6478"/>
                </a:solidFill>
              </a:rPr>
              <a:t>标杆景区持续在用，问题解决率达标</a:t>
            </a:r>
          </a:p>
        </p:txBody>
      </p:sp>
      <p:pic>
        <p:nvPicPr>
          <p:cNvPr id="13" name="Picture 12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884932"/>
            <a:ext cx="310896" cy="3108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58368" y="3488436"/>
            <a:ext cx="6309360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" y="3625596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488436"/>
            <a:ext cx="10972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有价值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488436"/>
            <a:ext cx="411480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5E6478"/>
                </a:solidFill>
              </a:rPr>
              <a:t>景区认可的指标有提升</a:t>
            </a:r>
          </a:p>
        </p:txBody>
      </p:sp>
      <p:pic>
        <p:nvPicPr>
          <p:cNvPr id="18" name="Picture 17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3671316"/>
            <a:ext cx="310896" cy="31089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58368" y="4274820"/>
            <a:ext cx="6309360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8" y="4411980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274820"/>
            <a:ext cx="10972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愿付费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4274820"/>
            <a:ext cx="411480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5E6478"/>
                </a:solidFill>
              </a:rPr>
              <a:t>有景区按拟定价格付费或明确续费</a:t>
            </a:r>
          </a:p>
        </p:txBody>
      </p:sp>
      <p:pic>
        <p:nvPicPr>
          <p:cNvPr id="23" name="Picture 22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4457700"/>
            <a:ext cx="310896" cy="31089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58368" y="5061204"/>
            <a:ext cx="6309360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5528" y="5198364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5061204"/>
            <a:ext cx="10972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能赚钱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5728" y="5061204"/>
            <a:ext cx="411480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5E6478"/>
                </a:solidFill>
              </a:rPr>
              <a:t>单景区收入覆盖平台费、交付和运营</a:t>
            </a:r>
          </a:p>
        </p:txBody>
      </p:sp>
      <p:pic>
        <p:nvPicPr>
          <p:cNvPr id="28" name="Picture 27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5244084"/>
            <a:ext cx="310896" cy="31089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58368" y="5847588"/>
            <a:ext cx="6309360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5528" y="5984748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847588"/>
            <a:ext cx="10972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可复制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5847588"/>
            <a:ext cx="411480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5E6478"/>
                </a:solidFill>
              </a:rPr>
              <a:t>不靠核心研发，按标准流程就能上线</a:t>
            </a:r>
          </a:p>
        </p:txBody>
      </p:sp>
      <p:pic>
        <p:nvPicPr>
          <p:cNvPr id="33" name="Picture 32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6030468"/>
            <a:ext cx="310896" cy="310896"/>
          </a:xfrm>
          <a:prstGeom prst="rect">
            <a:avLst/>
          </a:prstGeom>
        </p:spPr>
      </p:pic>
      <p:sp>
        <p:nvSpPr>
          <p:cNvPr id="34" name="Right Arrow 33"/>
          <p:cNvSpPr/>
          <p:nvPr/>
        </p:nvSpPr>
        <p:spPr>
          <a:xfrm>
            <a:off x="7059168" y="3415284"/>
            <a:ext cx="274320" cy="27432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24928" y="2702052"/>
            <a:ext cx="3438144" cy="18288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door-ope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2866644"/>
            <a:ext cx="384048" cy="3840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56448" y="2848356"/>
            <a:ext cx="261518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五条都满足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3528" y="3415284"/>
            <a:ext cx="3072384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→ 进入第二步：借力复制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模板、定价、交付流程定型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24928" y="4741164"/>
            <a:ext cx="3438144" cy="1920240"/>
          </a:xfrm>
          <a:prstGeom prst="roundRect">
            <a:avLst>
              <a:gd name="adj" fmla="val 6666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efresh-cw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4905756"/>
            <a:ext cx="365760" cy="3657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56448" y="4878324"/>
            <a:ext cx="261518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B4551A"/>
                </a:solidFill>
              </a:rPr>
              <a:t>没过关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3528" y="5426964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B2F42"/>
                </a:solidFill>
              </a:rPr>
              <a:t>· 调整场景组合或定价，再验一轮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50" b="0">
                <a:solidFill>
                  <a:srgbClr val="2B2F42"/>
                </a:solidFill>
              </a:rPr>
              <a:t>· 还不行的场景停掉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50" b="0">
                <a:solidFill>
                  <a:srgbClr val="2B2F42"/>
                </a:solidFill>
              </a:rPr>
              <a:t>· 不硬推，不盲目铺开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第二步：先打老客户，再按业态复制，用 AI 撬新客户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从最容易成交的客户开始，用标杆案例带动同类景区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79192"/>
            <a:ext cx="3279648" cy="2148840"/>
          </a:xfrm>
          <a:prstGeom prst="roundRect">
            <a:avLst>
              <a:gd name="adj" fmla="val 5957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843784"/>
            <a:ext cx="502920" cy="50292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ou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2962656"/>
            <a:ext cx="265176" cy="2651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160776" y="284378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655BE6"/>
                </a:solidFill>
              </a:rPr>
              <a:t>最先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438144"/>
            <a:ext cx="291388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</a:rPr>
              <a:t>已用我们票务的景区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849624"/>
            <a:ext cx="291388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FE2C8"/>
                </a:solidFill>
              </a:rPr>
              <a:t>打法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050792"/>
            <a:ext cx="29138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FFFFFF"/>
                </a:solidFill>
              </a:rPr>
              <a:t>随票务续约推，开通即用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325112"/>
            <a:ext cx="291388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FE2C8"/>
                </a:solidFill>
              </a:rPr>
              <a:t>为什么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526280"/>
            <a:ext cx="29138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EEEDFF"/>
                </a:solidFill>
              </a:rPr>
              <a:t>系统已对接，基本零开发；信任已有，成交最快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20896" y="2679192"/>
            <a:ext cx="3279648" cy="2148840"/>
          </a:xfrm>
          <a:prstGeom prst="roundRect">
            <a:avLst>
              <a:gd name="adj" fmla="val 595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22064" y="2843784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794" y="2969514"/>
            <a:ext cx="251460" cy="2514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623304" y="284378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其次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2064" y="3438144"/>
            <a:ext cx="291388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同业态景区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2064" y="3849624"/>
            <a:ext cx="291388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776CFD"/>
                </a:solidFill>
              </a:rPr>
              <a:t>打法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2064" y="4050792"/>
            <a:ext cx="29138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2B2F42"/>
                </a:solidFill>
              </a:rPr>
              <a:t>用标杆案例按业态复制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2064" y="4325112"/>
            <a:ext cx="291388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776CFD"/>
                </a:solidFill>
              </a:rPr>
              <a:t>为什么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2064" y="4526280"/>
            <a:ext cx="29138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场景相同，模板直接复用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3424" y="2679192"/>
            <a:ext cx="3279648" cy="2148840"/>
          </a:xfrm>
          <a:prstGeom prst="roundRect">
            <a:avLst>
              <a:gd name="adj" fmla="val 595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84592" y="2843784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user-plu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322" y="2969514"/>
            <a:ext cx="251460" cy="25146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085832" y="284378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同步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4592" y="3438144"/>
            <a:ext cx="291388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2B2F42"/>
                </a:solidFill>
              </a:rPr>
              <a:t>新客户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4592" y="3849624"/>
            <a:ext cx="291388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776CFD"/>
                </a:solidFill>
              </a:rPr>
              <a:t>打法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4592" y="4050792"/>
            <a:ext cx="29138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2B2F42"/>
                </a:solidFill>
              </a:rPr>
              <a:t>智能体做差异化卖点，带动票务签约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84592" y="4325112"/>
            <a:ext cx="291388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776CFD"/>
                </a:solidFill>
              </a:rPr>
              <a:t>为什么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4592" y="4526280"/>
            <a:ext cx="29138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用 AI 撬动新客户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11496"/>
            <a:ext cx="54864" cy="219456"/>
          </a:xfrm>
          <a:prstGeom prst="roundRect">
            <a:avLst>
              <a:gd name="adj" fmla="val 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03834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业态先后：客流大、咨询多、线上购票比例高的先做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49824"/>
            <a:ext cx="822960" cy="1234440"/>
          </a:xfrm>
          <a:prstGeom prst="roundRect">
            <a:avLst>
              <a:gd name="adj" fmla="val 1111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第一批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72768" y="5449824"/>
            <a:ext cx="1243584" cy="1234440"/>
          </a:xfrm>
          <a:prstGeom prst="roundRect">
            <a:avLst>
              <a:gd name="adj" fmla="val 740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ountain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391" y="5586984"/>
            <a:ext cx="402336" cy="40233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572768" y="6089904"/>
            <a:ext cx="124358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山岳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07792" y="5449824"/>
            <a:ext cx="1243584" cy="1234440"/>
          </a:xfrm>
          <a:prstGeom prst="roundRect">
            <a:avLst>
              <a:gd name="adj" fmla="val 740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erris-wheel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5586984"/>
            <a:ext cx="402336" cy="40233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907792" y="6089904"/>
            <a:ext cx="124358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主题乐园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42816" y="5449824"/>
            <a:ext cx="1243584" cy="1234440"/>
          </a:xfrm>
          <a:prstGeom prst="roundRect">
            <a:avLst>
              <a:gd name="adj" fmla="val 740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andmar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5586984"/>
            <a:ext cx="402336" cy="40233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242816" y="6089904"/>
            <a:ext cx="124358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古镇街区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623560" y="5952744"/>
            <a:ext cx="274320" cy="237744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035040" y="5449824"/>
            <a:ext cx="822960" cy="1234440"/>
          </a:xfrm>
          <a:prstGeom prst="roundRect">
            <a:avLst>
              <a:gd name="adj" fmla="val 11111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第二批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9440" y="5449824"/>
            <a:ext cx="12435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book-open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0063" y="5586984"/>
            <a:ext cx="402336" cy="40233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949440" y="6089904"/>
            <a:ext cx="124358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博物馆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84464" y="5449824"/>
            <a:ext cx="12435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waves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5088" y="5586984"/>
            <a:ext cx="402336" cy="40233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284464" y="6089904"/>
            <a:ext cx="124358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温泉度假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19488" y="5449824"/>
            <a:ext cx="12435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hip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0111" y="5586984"/>
            <a:ext cx="402336" cy="40233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619488" y="6089904"/>
            <a:ext cx="124358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游船演出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怎么复制得快：六步上线，差异全部做成配置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实施人员和渠道伙伴按手册就能独立交付，不占核心研发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41</a:t>
            </a:r>
          </a:p>
        </p:txBody>
      </p:sp>
      <p:grpSp>
        <p:nvGrpSpPr>
          <p:cNvPr id="21600" name="素材 24"/>
          <p:cNvGrpSpPr/>
          <p:nvPr/>
        </p:nvGrpSpPr>
        <p:grpSpPr>
          <a:xfrm>
            <a:off x="658368" y="3191468"/>
            <a:ext cx="6949440" cy="2037253"/>
            <a:chOff x="936501" y="2932416"/>
            <a:chExt cx="9757504" cy="2860448"/>
          </a:xfrm>
        </p:grpSpPr>
        <p:sp>
          <p:nvSpPr>
            <p:cNvPr id="21601" name="Freeform 5"/>
            <p:cNvSpPr/>
            <p:nvPr/>
          </p:nvSpPr>
          <p:spPr bwMode="auto">
            <a:xfrm>
              <a:off x="7976709" y="3617221"/>
              <a:ext cx="2717296" cy="2175642"/>
            </a:xfrm>
            <a:custGeom>
              <a:avLst/>
              <a:gdLst>
                <a:gd name="T0" fmla="*/ 488 w 891"/>
                <a:gd name="T1" fmla="*/ 244 h 712"/>
                <a:gd name="T2" fmla="*/ 488 w 891"/>
                <a:gd name="T3" fmla="*/ 469 h 712"/>
                <a:gd name="T4" fmla="*/ 341 w 891"/>
                <a:gd name="T5" fmla="*/ 693 h 712"/>
                <a:gd name="T6" fmla="*/ 244 w 891"/>
                <a:gd name="T7" fmla="*/ 712 h 712"/>
                <a:gd name="T8" fmla="*/ 146 w 891"/>
                <a:gd name="T9" fmla="*/ 693 h 712"/>
                <a:gd name="T10" fmla="*/ 0 w 891"/>
                <a:gd name="T11" fmla="*/ 469 h 712"/>
                <a:gd name="T12" fmla="*/ 0 w 891"/>
                <a:gd name="T13" fmla="*/ 244 h 712"/>
                <a:gd name="T14" fmla="*/ 107 w 891"/>
                <a:gd name="T15" fmla="*/ 244 h 712"/>
                <a:gd name="T16" fmla="*/ 107 w 891"/>
                <a:gd name="T17" fmla="*/ 469 h 712"/>
                <a:gd name="T18" fmla="*/ 185 w 891"/>
                <a:gd name="T19" fmla="*/ 594 h 712"/>
                <a:gd name="T20" fmla="*/ 244 w 891"/>
                <a:gd name="T21" fmla="*/ 605 h 712"/>
                <a:gd name="T22" fmla="*/ 302 w 891"/>
                <a:gd name="T23" fmla="*/ 594 h 712"/>
                <a:gd name="T24" fmla="*/ 381 w 891"/>
                <a:gd name="T25" fmla="*/ 469 h 712"/>
                <a:gd name="T26" fmla="*/ 381 w 891"/>
                <a:gd name="T27" fmla="*/ 244 h 712"/>
                <a:gd name="T28" fmla="*/ 381 w 891"/>
                <a:gd name="T29" fmla="*/ 244 h 712"/>
                <a:gd name="T30" fmla="*/ 450 w 891"/>
                <a:gd name="T31" fmla="*/ 68 h 712"/>
                <a:gd name="T32" fmla="*/ 623 w 891"/>
                <a:gd name="T33" fmla="*/ 0 h 712"/>
                <a:gd name="T34" fmla="*/ 891 w 891"/>
                <a:gd name="T35" fmla="*/ 0 h 712"/>
                <a:gd name="T36" fmla="*/ 891 w 891"/>
                <a:gd name="T37" fmla="*/ 107 h 712"/>
                <a:gd name="T38" fmla="*/ 623 w 891"/>
                <a:gd name="T39" fmla="*/ 107 h 712"/>
                <a:gd name="T40" fmla="*/ 526 w 891"/>
                <a:gd name="T41" fmla="*/ 143 h 712"/>
                <a:gd name="T42" fmla="*/ 488 w 891"/>
                <a:gd name="T43" fmla="*/ 244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91" h="712">
                  <a:moveTo>
                    <a:pt x="488" y="244"/>
                  </a:moveTo>
                  <a:cubicBezTo>
                    <a:pt x="488" y="469"/>
                    <a:pt x="488" y="469"/>
                    <a:pt x="488" y="469"/>
                  </a:cubicBezTo>
                  <a:cubicBezTo>
                    <a:pt x="488" y="585"/>
                    <a:pt x="423" y="660"/>
                    <a:pt x="341" y="693"/>
                  </a:cubicBezTo>
                  <a:cubicBezTo>
                    <a:pt x="310" y="705"/>
                    <a:pt x="277" y="712"/>
                    <a:pt x="244" y="712"/>
                  </a:cubicBezTo>
                  <a:cubicBezTo>
                    <a:pt x="210" y="712"/>
                    <a:pt x="177" y="705"/>
                    <a:pt x="146" y="693"/>
                  </a:cubicBezTo>
                  <a:cubicBezTo>
                    <a:pt x="64" y="660"/>
                    <a:pt x="0" y="585"/>
                    <a:pt x="0" y="469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07" y="244"/>
                    <a:pt x="107" y="244"/>
                    <a:pt x="107" y="244"/>
                  </a:cubicBezTo>
                  <a:cubicBezTo>
                    <a:pt x="107" y="469"/>
                    <a:pt x="107" y="469"/>
                    <a:pt x="107" y="469"/>
                  </a:cubicBezTo>
                  <a:cubicBezTo>
                    <a:pt x="107" y="535"/>
                    <a:pt x="141" y="576"/>
                    <a:pt x="185" y="594"/>
                  </a:cubicBezTo>
                  <a:cubicBezTo>
                    <a:pt x="203" y="601"/>
                    <a:pt x="223" y="605"/>
                    <a:pt x="244" y="605"/>
                  </a:cubicBezTo>
                  <a:cubicBezTo>
                    <a:pt x="264" y="605"/>
                    <a:pt x="284" y="601"/>
                    <a:pt x="302" y="594"/>
                  </a:cubicBezTo>
                  <a:cubicBezTo>
                    <a:pt x="346" y="576"/>
                    <a:pt x="381" y="535"/>
                    <a:pt x="381" y="469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179"/>
                    <a:pt x="404" y="115"/>
                    <a:pt x="450" y="68"/>
                  </a:cubicBezTo>
                  <a:cubicBezTo>
                    <a:pt x="491" y="27"/>
                    <a:pt x="549" y="0"/>
                    <a:pt x="623" y="0"/>
                  </a:cubicBezTo>
                  <a:cubicBezTo>
                    <a:pt x="891" y="0"/>
                    <a:pt x="891" y="0"/>
                    <a:pt x="891" y="0"/>
                  </a:cubicBezTo>
                  <a:cubicBezTo>
                    <a:pt x="891" y="107"/>
                    <a:pt x="891" y="107"/>
                    <a:pt x="891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580" y="107"/>
                    <a:pt x="548" y="121"/>
                    <a:pt x="526" y="143"/>
                  </a:cubicBezTo>
                  <a:cubicBezTo>
                    <a:pt x="500" y="169"/>
                    <a:pt x="488" y="206"/>
                    <a:pt x="488" y="244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02" name="Freeform 6"/>
            <p:cNvSpPr/>
            <p:nvPr/>
          </p:nvSpPr>
          <p:spPr bwMode="auto">
            <a:xfrm>
              <a:off x="936501" y="2932416"/>
              <a:ext cx="2717296" cy="2175642"/>
            </a:xfrm>
            <a:custGeom>
              <a:avLst/>
              <a:gdLst>
                <a:gd name="T0" fmla="*/ 510 w 891"/>
                <a:gd name="T1" fmla="*/ 468 h 712"/>
                <a:gd name="T2" fmla="*/ 440 w 891"/>
                <a:gd name="T3" fmla="*/ 644 h 712"/>
                <a:gd name="T4" fmla="*/ 268 w 891"/>
                <a:gd name="T5" fmla="*/ 712 h 712"/>
                <a:gd name="T6" fmla="*/ 0 w 891"/>
                <a:gd name="T7" fmla="*/ 712 h 712"/>
                <a:gd name="T8" fmla="*/ 0 w 891"/>
                <a:gd name="T9" fmla="*/ 605 h 712"/>
                <a:gd name="T10" fmla="*/ 268 w 891"/>
                <a:gd name="T11" fmla="*/ 605 h 712"/>
                <a:gd name="T12" fmla="*/ 365 w 891"/>
                <a:gd name="T13" fmla="*/ 569 h 712"/>
                <a:gd name="T14" fmla="*/ 403 w 891"/>
                <a:gd name="T15" fmla="*/ 468 h 712"/>
                <a:gd name="T16" fmla="*/ 403 w 891"/>
                <a:gd name="T17" fmla="*/ 242 h 712"/>
                <a:gd name="T18" fmla="*/ 549 w 891"/>
                <a:gd name="T19" fmla="*/ 19 h 712"/>
                <a:gd name="T20" fmla="*/ 647 w 891"/>
                <a:gd name="T21" fmla="*/ 0 h 712"/>
                <a:gd name="T22" fmla="*/ 745 w 891"/>
                <a:gd name="T23" fmla="*/ 19 h 712"/>
                <a:gd name="T24" fmla="*/ 891 w 891"/>
                <a:gd name="T25" fmla="*/ 242 h 712"/>
                <a:gd name="T26" fmla="*/ 891 w 891"/>
                <a:gd name="T27" fmla="*/ 468 h 712"/>
                <a:gd name="T28" fmla="*/ 784 w 891"/>
                <a:gd name="T29" fmla="*/ 468 h 712"/>
                <a:gd name="T30" fmla="*/ 784 w 891"/>
                <a:gd name="T31" fmla="*/ 242 h 712"/>
                <a:gd name="T32" fmla="*/ 705 w 891"/>
                <a:gd name="T33" fmla="*/ 118 h 712"/>
                <a:gd name="T34" fmla="*/ 647 w 891"/>
                <a:gd name="T35" fmla="*/ 107 h 712"/>
                <a:gd name="T36" fmla="*/ 589 w 891"/>
                <a:gd name="T37" fmla="*/ 118 h 712"/>
                <a:gd name="T38" fmla="*/ 510 w 891"/>
                <a:gd name="T39" fmla="*/ 242 h 712"/>
                <a:gd name="T40" fmla="*/ 510 w 891"/>
                <a:gd name="T41" fmla="*/ 46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1" h="712">
                  <a:moveTo>
                    <a:pt x="510" y="468"/>
                  </a:moveTo>
                  <a:cubicBezTo>
                    <a:pt x="510" y="532"/>
                    <a:pt x="487" y="597"/>
                    <a:pt x="440" y="644"/>
                  </a:cubicBezTo>
                  <a:cubicBezTo>
                    <a:pt x="399" y="685"/>
                    <a:pt x="342" y="712"/>
                    <a:pt x="268" y="712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605"/>
                    <a:pt x="0" y="605"/>
                    <a:pt x="0" y="605"/>
                  </a:cubicBezTo>
                  <a:cubicBezTo>
                    <a:pt x="268" y="605"/>
                    <a:pt x="268" y="605"/>
                    <a:pt x="268" y="605"/>
                  </a:cubicBezTo>
                  <a:cubicBezTo>
                    <a:pt x="311" y="605"/>
                    <a:pt x="343" y="590"/>
                    <a:pt x="365" y="569"/>
                  </a:cubicBezTo>
                  <a:cubicBezTo>
                    <a:pt x="390" y="543"/>
                    <a:pt x="403" y="505"/>
                    <a:pt x="403" y="468"/>
                  </a:cubicBezTo>
                  <a:cubicBezTo>
                    <a:pt x="403" y="242"/>
                    <a:pt x="403" y="242"/>
                    <a:pt x="403" y="242"/>
                  </a:cubicBezTo>
                  <a:cubicBezTo>
                    <a:pt x="403" y="126"/>
                    <a:pt x="467" y="52"/>
                    <a:pt x="549" y="19"/>
                  </a:cubicBezTo>
                  <a:cubicBezTo>
                    <a:pt x="581" y="6"/>
                    <a:pt x="614" y="0"/>
                    <a:pt x="647" y="0"/>
                  </a:cubicBezTo>
                  <a:cubicBezTo>
                    <a:pt x="680" y="0"/>
                    <a:pt x="714" y="6"/>
                    <a:pt x="745" y="19"/>
                  </a:cubicBezTo>
                  <a:cubicBezTo>
                    <a:pt x="827" y="52"/>
                    <a:pt x="891" y="126"/>
                    <a:pt x="891" y="242"/>
                  </a:cubicBezTo>
                  <a:cubicBezTo>
                    <a:pt x="891" y="468"/>
                    <a:pt x="891" y="468"/>
                    <a:pt x="891" y="468"/>
                  </a:cubicBezTo>
                  <a:cubicBezTo>
                    <a:pt x="784" y="468"/>
                    <a:pt x="784" y="468"/>
                    <a:pt x="784" y="468"/>
                  </a:cubicBezTo>
                  <a:cubicBezTo>
                    <a:pt x="784" y="242"/>
                    <a:pt x="784" y="242"/>
                    <a:pt x="784" y="242"/>
                  </a:cubicBezTo>
                  <a:cubicBezTo>
                    <a:pt x="784" y="177"/>
                    <a:pt x="750" y="135"/>
                    <a:pt x="705" y="118"/>
                  </a:cubicBezTo>
                  <a:cubicBezTo>
                    <a:pt x="687" y="110"/>
                    <a:pt x="667" y="107"/>
                    <a:pt x="647" y="107"/>
                  </a:cubicBezTo>
                  <a:cubicBezTo>
                    <a:pt x="627" y="107"/>
                    <a:pt x="607" y="110"/>
                    <a:pt x="589" y="118"/>
                  </a:cubicBezTo>
                  <a:cubicBezTo>
                    <a:pt x="545" y="135"/>
                    <a:pt x="510" y="177"/>
                    <a:pt x="510" y="242"/>
                  </a:cubicBezTo>
                  <a:lnTo>
                    <a:pt x="510" y="468"/>
                  </a:ln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03" name="Freeform 7"/>
            <p:cNvSpPr/>
            <p:nvPr/>
          </p:nvSpPr>
          <p:spPr bwMode="auto">
            <a:xfrm>
              <a:off x="3327515" y="4362640"/>
              <a:ext cx="1486969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6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7" y="468"/>
                    <a:pt x="244" y="468"/>
                  </a:cubicBezTo>
                  <a:cubicBezTo>
                    <a:pt x="211" y="468"/>
                    <a:pt x="178" y="461"/>
                    <a:pt x="146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4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04" name="Freeform 8"/>
            <p:cNvSpPr/>
            <p:nvPr/>
          </p:nvSpPr>
          <p:spPr bwMode="auto">
            <a:xfrm>
              <a:off x="4488201" y="2932416"/>
              <a:ext cx="1488257" cy="1430224"/>
            </a:xfrm>
            <a:custGeom>
              <a:avLst/>
              <a:gdLst>
                <a:gd name="T0" fmla="*/ 0 w 488"/>
                <a:gd name="T1" fmla="*/ 468 h 468"/>
                <a:gd name="T2" fmla="*/ 0 w 488"/>
                <a:gd name="T3" fmla="*/ 242 h 468"/>
                <a:gd name="T4" fmla="*/ 147 w 488"/>
                <a:gd name="T5" fmla="*/ 19 h 468"/>
                <a:gd name="T6" fmla="*/ 244 w 488"/>
                <a:gd name="T7" fmla="*/ 0 h 468"/>
                <a:gd name="T8" fmla="*/ 342 w 488"/>
                <a:gd name="T9" fmla="*/ 19 h 468"/>
                <a:gd name="T10" fmla="*/ 488 w 488"/>
                <a:gd name="T11" fmla="*/ 242 h 468"/>
                <a:gd name="T12" fmla="*/ 488 w 488"/>
                <a:gd name="T13" fmla="*/ 468 h 468"/>
                <a:gd name="T14" fmla="*/ 381 w 488"/>
                <a:gd name="T15" fmla="*/ 468 h 468"/>
                <a:gd name="T16" fmla="*/ 381 w 488"/>
                <a:gd name="T17" fmla="*/ 242 h 468"/>
                <a:gd name="T18" fmla="*/ 302 w 488"/>
                <a:gd name="T19" fmla="*/ 118 h 468"/>
                <a:gd name="T20" fmla="*/ 244 w 488"/>
                <a:gd name="T21" fmla="*/ 107 h 468"/>
                <a:gd name="T22" fmla="*/ 186 w 488"/>
                <a:gd name="T23" fmla="*/ 118 h 468"/>
                <a:gd name="T24" fmla="*/ 107 w 488"/>
                <a:gd name="T25" fmla="*/ 242 h 468"/>
                <a:gd name="T26" fmla="*/ 107 w 488"/>
                <a:gd name="T27" fmla="*/ 468 h 468"/>
                <a:gd name="T28" fmla="*/ 0 w 488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4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7" y="0"/>
                    <a:pt x="311" y="6"/>
                    <a:pt x="342" y="19"/>
                  </a:cubicBezTo>
                  <a:cubicBezTo>
                    <a:pt x="424" y="52"/>
                    <a:pt x="488" y="126"/>
                    <a:pt x="488" y="242"/>
                  </a:cubicBezTo>
                  <a:cubicBezTo>
                    <a:pt x="488" y="468"/>
                    <a:pt x="488" y="468"/>
                    <a:pt x="488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242"/>
                    <a:pt x="381" y="242"/>
                    <a:pt x="381" y="242"/>
                  </a:cubicBezTo>
                  <a:cubicBezTo>
                    <a:pt x="381" y="177"/>
                    <a:pt x="347" y="135"/>
                    <a:pt x="302" y="118"/>
                  </a:cubicBezTo>
                  <a:cubicBezTo>
                    <a:pt x="284" y="110"/>
                    <a:pt x="264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05" name="Freeform 9"/>
            <p:cNvSpPr/>
            <p:nvPr/>
          </p:nvSpPr>
          <p:spPr bwMode="auto">
            <a:xfrm>
              <a:off x="5650177" y="4362640"/>
              <a:ext cx="1488257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7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8" y="468"/>
                    <a:pt x="244" y="468"/>
                  </a:cubicBezTo>
                  <a:cubicBezTo>
                    <a:pt x="211" y="468"/>
                    <a:pt x="178" y="461"/>
                    <a:pt x="147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5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06" name="Freeform 10"/>
            <p:cNvSpPr/>
            <p:nvPr/>
          </p:nvSpPr>
          <p:spPr bwMode="auto">
            <a:xfrm>
              <a:off x="6812153" y="2932416"/>
              <a:ext cx="1490837" cy="1430224"/>
            </a:xfrm>
            <a:custGeom>
              <a:avLst/>
              <a:gdLst>
                <a:gd name="T0" fmla="*/ 0 w 489"/>
                <a:gd name="T1" fmla="*/ 468 h 468"/>
                <a:gd name="T2" fmla="*/ 0 w 489"/>
                <a:gd name="T3" fmla="*/ 242 h 468"/>
                <a:gd name="T4" fmla="*/ 147 w 489"/>
                <a:gd name="T5" fmla="*/ 19 h 468"/>
                <a:gd name="T6" fmla="*/ 244 w 489"/>
                <a:gd name="T7" fmla="*/ 0 h 468"/>
                <a:gd name="T8" fmla="*/ 342 w 489"/>
                <a:gd name="T9" fmla="*/ 19 h 468"/>
                <a:gd name="T10" fmla="*/ 489 w 489"/>
                <a:gd name="T11" fmla="*/ 242 h 468"/>
                <a:gd name="T12" fmla="*/ 489 w 489"/>
                <a:gd name="T13" fmla="*/ 468 h 468"/>
                <a:gd name="T14" fmla="*/ 382 w 489"/>
                <a:gd name="T15" fmla="*/ 468 h 468"/>
                <a:gd name="T16" fmla="*/ 382 w 489"/>
                <a:gd name="T17" fmla="*/ 242 h 468"/>
                <a:gd name="T18" fmla="*/ 303 w 489"/>
                <a:gd name="T19" fmla="*/ 118 h 468"/>
                <a:gd name="T20" fmla="*/ 244 w 489"/>
                <a:gd name="T21" fmla="*/ 107 h 468"/>
                <a:gd name="T22" fmla="*/ 186 w 489"/>
                <a:gd name="T23" fmla="*/ 118 h 468"/>
                <a:gd name="T24" fmla="*/ 107 w 489"/>
                <a:gd name="T25" fmla="*/ 242 h 468"/>
                <a:gd name="T26" fmla="*/ 107 w 489"/>
                <a:gd name="T27" fmla="*/ 468 h 468"/>
                <a:gd name="T28" fmla="*/ 0 w 489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9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5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8" y="0"/>
                    <a:pt x="311" y="6"/>
                    <a:pt x="342" y="19"/>
                  </a:cubicBezTo>
                  <a:cubicBezTo>
                    <a:pt x="424" y="52"/>
                    <a:pt x="489" y="126"/>
                    <a:pt x="489" y="242"/>
                  </a:cubicBezTo>
                  <a:cubicBezTo>
                    <a:pt x="489" y="468"/>
                    <a:pt x="489" y="468"/>
                    <a:pt x="489" y="468"/>
                  </a:cubicBezTo>
                  <a:cubicBezTo>
                    <a:pt x="382" y="468"/>
                    <a:pt x="382" y="468"/>
                    <a:pt x="382" y="468"/>
                  </a:cubicBezTo>
                  <a:cubicBezTo>
                    <a:pt x="382" y="242"/>
                    <a:pt x="382" y="242"/>
                    <a:pt x="382" y="242"/>
                  </a:cubicBezTo>
                  <a:cubicBezTo>
                    <a:pt x="382" y="177"/>
                    <a:pt x="347" y="135"/>
                    <a:pt x="303" y="118"/>
                  </a:cubicBezTo>
                  <a:cubicBezTo>
                    <a:pt x="285" y="110"/>
                    <a:pt x="265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07" name="Oval 11"/>
            <p:cNvSpPr>
              <a:spLocks noChangeArrowheads="1"/>
            </p:cNvSpPr>
            <p:nvPr/>
          </p:nvSpPr>
          <p:spPr bwMode="auto">
            <a:xfrm>
              <a:off x="2400242" y="3173581"/>
              <a:ext cx="1018825" cy="1021404"/>
            </a:xfrm>
            <a:prstGeom prst="ellipse">
              <a:avLst/>
            </a:prstGeom>
            <a:solidFill>
              <a:srgbClr val="5D95F1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08" name="Oval 12"/>
            <p:cNvSpPr>
              <a:spLocks noChangeArrowheads="1"/>
            </p:cNvSpPr>
            <p:nvPr/>
          </p:nvSpPr>
          <p:spPr bwMode="auto">
            <a:xfrm>
              <a:off x="3553204" y="4536742"/>
              <a:ext cx="1017535" cy="1021404"/>
            </a:xfrm>
            <a:prstGeom prst="ellipse">
              <a:avLst/>
            </a:prstGeom>
            <a:solidFill>
              <a:srgbClr val="776CFD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09" name="Oval 13"/>
            <p:cNvSpPr>
              <a:spLocks noChangeArrowheads="1"/>
            </p:cNvSpPr>
            <p:nvPr/>
          </p:nvSpPr>
          <p:spPr bwMode="auto">
            <a:xfrm>
              <a:off x="4713891" y="3168423"/>
              <a:ext cx="1021404" cy="1020115"/>
            </a:xfrm>
            <a:prstGeom prst="ellipse">
              <a:avLst/>
            </a:prstGeom>
            <a:solidFill>
              <a:srgbClr val="F08A3C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10" name="Oval 14"/>
            <p:cNvSpPr>
              <a:spLocks noChangeArrowheads="1"/>
            </p:cNvSpPr>
            <p:nvPr/>
          </p:nvSpPr>
          <p:spPr bwMode="auto">
            <a:xfrm>
              <a:off x="5878446" y="4536742"/>
              <a:ext cx="1021404" cy="1021404"/>
            </a:xfrm>
            <a:prstGeom prst="ellipse">
              <a:avLst/>
            </a:prstGeom>
            <a:solidFill>
              <a:srgbClr val="655BE6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11" name="Oval 15"/>
            <p:cNvSpPr>
              <a:spLocks noChangeArrowheads="1"/>
            </p:cNvSpPr>
            <p:nvPr/>
          </p:nvSpPr>
          <p:spPr bwMode="auto">
            <a:xfrm>
              <a:off x="7044290" y="3168423"/>
              <a:ext cx="1017535" cy="1020115"/>
            </a:xfrm>
            <a:prstGeom prst="ellipse">
              <a:avLst/>
            </a:prstGeom>
            <a:solidFill>
              <a:srgbClr val="F08A3C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12" name="Oval 16"/>
            <p:cNvSpPr>
              <a:spLocks noChangeArrowheads="1"/>
            </p:cNvSpPr>
            <p:nvPr/>
          </p:nvSpPr>
          <p:spPr bwMode="auto">
            <a:xfrm>
              <a:off x="8208846" y="4536742"/>
              <a:ext cx="1017535" cy="1021404"/>
            </a:xfrm>
            <a:prstGeom prst="ellipse">
              <a:avLst/>
            </a:prstGeom>
            <a:solidFill>
              <a:srgbClr val="6C95FD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613" name="Inhaltsplatzhalter 4"/>
            <p:cNvSpPr txBox="1"/>
            <p:nvPr/>
          </p:nvSpPr>
          <p:spPr>
            <a:xfrm rot="16200000">
              <a:off x="2334396" y="4605130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776CFD"/>
                  </a:solidFill>
                  <a:latin typeface="微软雅黑"/>
                </a:rPr>
                <a:t>步骤 01</a:t>
              </a:r>
              <a:endParaRPr lang="en-US" sz="1800" b="1" dirty="0">
                <a:solidFill>
                  <a:srgbClr val="776CFD"/>
                </a:solidFill>
                <a:latin typeface="微软雅黑"/>
              </a:endParaRPr>
            </a:p>
          </p:txBody>
        </p:sp>
        <p:sp>
          <p:nvSpPr>
            <p:cNvPr id="21614" name="Inhaltsplatzhalter 4"/>
            <p:cNvSpPr txBox="1"/>
            <p:nvPr/>
          </p:nvSpPr>
          <p:spPr>
            <a:xfrm rot="16200000">
              <a:off x="4645938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655BE6"/>
                  </a:solidFill>
                  <a:latin typeface="微软雅黑"/>
                </a:rPr>
                <a:t>步骤 03</a:t>
              </a:r>
              <a:endParaRPr lang="en-US" sz="1400" dirty="0">
                <a:solidFill>
                  <a:srgbClr val="655BE6"/>
                </a:solidFill>
                <a:latin typeface="微软雅黑"/>
              </a:endParaRPr>
            </a:p>
          </p:txBody>
        </p:sp>
        <p:sp>
          <p:nvSpPr>
            <p:cNvPr id="21615" name="Inhaltsplatzhalter 4"/>
            <p:cNvSpPr txBox="1"/>
            <p:nvPr/>
          </p:nvSpPr>
          <p:spPr>
            <a:xfrm rot="16200000">
              <a:off x="6977784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6C95FD"/>
                  </a:solidFill>
                  <a:latin typeface="微软雅黑"/>
                </a:rPr>
                <a:t>步骤 05</a:t>
              </a:r>
              <a:endParaRPr lang="en-US" sz="1400" dirty="0">
                <a:solidFill>
                  <a:srgbClr val="6C95FD"/>
                </a:solidFill>
                <a:latin typeface="微软雅黑"/>
              </a:endParaRPr>
            </a:p>
          </p:txBody>
        </p:sp>
        <p:sp>
          <p:nvSpPr>
            <p:cNvPr id="21616" name="Inhaltsplatzhalter 4"/>
            <p:cNvSpPr txBox="1"/>
            <p:nvPr/>
          </p:nvSpPr>
          <p:spPr>
            <a:xfrm rot="16200000">
              <a:off x="348396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微软雅黑"/>
                </a:rPr>
                <a:t>步骤 02</a:t>
              </a:r>
              <a:endParaRPr lang="en-US" sz="1800" b="1" dirty="0">
                <a:solidFill>
                  <a:srgbClr val="2B2F42"/>
                </a:solidFill>
                <a:latin typeface="微软雅黑"/>
              </a:endParaRPr>
            </a:p>
          </p:txBody>
        </p:sp>
        <p:sp>
          <p:nvSpPr>
            <p:cNvPr id="21617" name="Inhaltsplatzhalter 4"/>
            <p:cNvSpPr txBox="1"/>
            <p:nvPr/>
          </p:nvSpPr>
          <p:spPr>
            <a:xfrm rot="16200000">
              <a:off x="581387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微软雅黑"/>
                </a:rPr>
                <a:t>步骤 04</a:t>
              </a:r>
              <a:endParaRPr lang="en-US" sz="1800" b="1" dirty="0">
                <a:solidFill>
                  <a:srgbClr val="2B2F42"/>
                </a:solidFill>
                <a:latin typeface="微软雅黑"/>
              </a:endParaRPr>
            </a:p>
          </p:txBody>
        </p:sp>
        <p:sp>
          <p:nvSpPr>
            <p:cNvPr id="21618" name="Inhaltsplatzhalter 4"/>
            <p:cNvSpPr txBox="1"/>
            <p:nvPr/>
          </p:nvSpPr>
          <p:spPr>
            <a:xfrm rot="16200000">
              <a:off x="8142340" y="3838467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微软雅黑"/>
                </a:rPr>
                <a:t>步骤 06</a:t>
              </a:r>
              <a:endParaRPr lang="en-US" sz="1800" b="1" dirty="0">
                <a:solidFill>
                  <a:srgbClr val="2B2F42"/>
                </a:solidFill>
                <a:latin typeface="微软雅黑"/>
              </a:endParaRPr>
            </a:p>
          </p:txBody>
        </p:sp>
      </p:grpSp>
      <p:pic>
        <p:nvPicPr>
          <p:cNvPr id="21619" name="Picture 21618" descr="pen-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214" y="3544612"/>
            <a:ext cx="365760" cy="365760"/>
          </a:xfrm>
          <a:prstGeom prst="rect">
            <a:avLst/>
          </a:prstGeom>
        </p:spPr>
      </p:pic>
      <p:sp>
        <p:nvSpPr>
          <p:cNvPr id="21620" name="TextBox 21619"/>
          <p:cNvSpPr txBox="1"/>
          <p:nvPr/>
        </p:nvSpPr>
        <p:spPr>
          <a:xfrm>
            <a:off x="1144694" y="25875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1">
                <a:solidFill>
                  <a:srgbClr val="2B2F42"/>
                </a:solidFill>
              </a:rPr>
              <a:t>签约</a:t>
            </a:r>
          </a:p>
        </p:txBody>
      </p:sp>
      <p:sp>
        <p:nvSpPr>
          <p:cNvPr id="21621" name="TextBox 21620"/>
          <p:cNvSpPr txBox="1"/>
          <p:nvPr/>
        </p:nvSpPr>
        <p:spPr>
          <a:xfrm>
            <a:off x="1144694" y="28069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E6478"/>
                </a:solidFill>
              </a:rPr>
              <a:t>随续约或新签</a:t>
            </a:r>
          </a:p>
        </p:txBody>
      </p:sp>
      <p:pic>
        <p:nvPicPr>
          <p:cNvPr id="21622" name="Picture 21621" descr="box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301" y="4514973"/>
            <a:ext cx="365760" cy="365760"/>
          </a:xfrm>
          <a:prstGeom prst="rect">
            <a:avLst/>
          </a:prstGeom>
        </p:spPr>
      </p:pic>
      <p:sp>
        <p:nvSpPr>
          <p:cNvPr id="21623" name="TextBox 21622"/>
          <p:cNvSpPr txBox="1"/>
          <p:nvPr/>
        </p:nvSpPr>
        <p:spPr>
          <a:xfrm>
            <a:off x="1971781" y="533607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1">
                <a:solidFill>
                  <a:srgbClr val="2B2F42"/>
                </a:solidFill>
              </a:rPr>
              <a:t>选模板</a:t>
            </a:r>
          </a:p>
        </p:txBody>
      </p:sp>
      <p:sp>
        <p:nvSpPr>
          <p:cNvPr id="21624" name="TextBox 21623"/>
          <p:cNvSpPr txBox="1"/>
          <p:nvPr/>
        </p:nvSpPr>
        <p:spPr>
          <a:xfrm>
            <a:off x="1971781" y="555553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E6478"/>
                </a:solidFill>
              </a:rPr>
              <a:t>已验证的业态模板</a:t>
            </a:r>
          </a:p>
        </p:txBody>
      </p:sp>
      <p:pic>
        <p:nvPicPr>
          <p:cNvPr id="21625" name="Picture 21624" descr="book-ope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644" y="3544612"/>
            <a:ext cx="365760" cy="365760"/>
          </a:xfrm>
          <a:prstGeom prst="rect">
            <a:avLst/>
          </a:prstGeom>
        </p:spPr>
      </p:pic>
      <p:sp>
        <p:nvSpPr>
          <p:cNvPr id="21626" name="TextBox 21625"/>
          <p:cNvSpPr txBox="1"/>
          <p:nvPr/>
        </p:nvSpPr>
        <p:spPr>
          <a:xfrm>
            <a:off x="2802124" y="25875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1">
                <a:solidFill>
                  <a:srgbClr val="2B2F42"/>
                </a:solidFill>
              </a:rPr>
              <a:t>配知识</a:t>
            </a:r>
          </a:p>
        </p:txBody>
      </p:sp>
      <p:sp>
        <p:nvSpPr>
          <p:cNvPr id="21627" name="TextBox 21626"/>
          <p:cNvSpPr txBox="1"/>
          <p:nvPr/>
        </p:nvSpPr>
        <p:spPr>
          <a:xfrm>
            <a:off x="2802124" y="28069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E6478"/>
                </a:solidFill>
              </a:rPr>
              <a:t>统一采集表</a:t>
            </a:r>
          </a:p>
        </p:txBody>
      </p:sp>
      <p:pic>
        <p:nvPicPr>
          <p:cNvPr id="21628" name="Picture 21627" descr="li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0730" y="4514973"/>
            <a:ext cx="365760" cy="365760"/>
          </a:xfrm>
          <a:prstGeom prst="rect">
            <a:avLst/>
          </a:prstGeom>
        </p:spPr>
      </p:pic>
      <p:sp>
        <p:nvSpPr>
          <p:cNvPr id="21629" name="TextBox 21628"/>
          <p:cNvSpPr txBox="1"/>
          <p:nvPr/>
        </p:nvSpPr>
        <p:spPr>
          <a:xfrm>
            <a:off x="3629210" y="533607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1">
                <a:solidFill>
                  <a:srgbClr val="2B2F42"/>
                </a:solidFill>
              </a:rPr>
              <a:t>绑入口</a:t>
            </a:r>
          </a:p>
        </p:txBody>
      </p:sp>
      <p:sp>
        <p:nvSpPr>
          <p:cNvPr id="21630" name="TextBox 21629"/>
          <p:cNvSpPr txBox="1"/>
          <p:nvPr/>
        </p:nvSpPr>
        <p:spPr>
          <a:xfrm>
            <a:off x="3629210" y="555553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E6478"/>
                </a:solidFill>
              </a:rPr>
              <a:t>小程序 · 公众号 · 终端</a:t>
            </a:r>
          </a:p>
        </p:txBody>
      </p:sp>
      <p:pic>
        <p:nvPicPr>
          <p:cNvPr id="21631" name="Picture 21630" descr="clipboard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561" y="3544612"/>
            <a:ext cx="365760" cy="365760"/>
          </a:xfrm>
          <a:prstGeom prst="rect">
            <a:avLst/>
          </a:prstGeom>
        </p:spPr>
      </p:pic>
      <p:sp>
        <p:nvSpPr>
          <p:cNvPr id="21632" name="TextBox 21631"/>
          <p:cNvSpPr txBox="1"/>
          <p:nvPr/>
        </p:nvSpPr>
        <p:spPr>
          <a:xfrm>
            <a:off x="4453041" y="25875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1">
                <a:solidFill>
                  <a:srgbClr val="2B2F42"/>
                </a:solidFill>
              </a:rPr>
              <a:t>测试验收</a:t>
            </a:r>
          </a:p>
        </p:txBody>
      </p:sp>
      <p:sp>
        <p:nvSpPr>
          <p:cNvPr id="21633" name="TextBox 21632"/>
          <p:cNvSpPr txBox="1"/>
          <p:nvPr/>
        </p:nvSpPr>
        <p:spPr>
          <a:xfrm>
            <a:off x="4453041" y="28069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E6478"/>
                </a:solidFill>
              </a:rPr>
              <a:t>统一测试清单</a:t>
            </a:r>
          </a:p>
        </p:txBody>
      </p:sp>
      <p:pic>
        <p:nvPicPr>
          <p:cNvPr id="21634" name="Picture 21633" descr="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8160" y="4514973"/>
            <a:ext cx="365760" cy="365760"/>
          </a:xfrm>
          <a:prstGeom prst="rect">
            <a:avLst/>
          </a:prstGeom>
        </p:spPr>
      </p:pic>
      <p:sp>
        <p:nvSpPr>
          <p:cNvPr id="21635" name="TextBox 21634"/>
          <p:cNvSpPr txBox="1"/>
          <p:nvPr/>
        </p:nvSpPr>
        <p:spPr>
          <a:xfrm>
            <a:off x="5286640" y="533607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1">
                <a:solidFill>
                  <a:srgbClr val="2B2F42"/>
                </a:solidFill>
              </a:rPr>
              <a:t>上线运营</a:t>
            </a:r>
          </a:p>
        </p:txBody>
      </p:sp>
      <p:sp>
        <p:nvSpPr>
          <p:cNvPr id="21636" name="TextBox 21635"/>
          <p:cNvSpPr txBox="1"/>
          <p:nvPr/>
        </p:nvSpPr>
        <p:spPr>
          <a:xfrm>
            <a:off x="5286640" y="555553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E6478"/>
                </a:solidFill>
              </a:rPr>
              <a:t>持续出效果报告</a:t>
            </a:r>
          </a:p>
        </p:txBody>
      </p:sp>
      <p:sp>
        <p:nvSpPr>
          <p:cNvPr id="21637" name="Rounded Rectangle 21636"/>
          <p:cNvSpPr/>
          <p:nvPr/>
        </p:nvSpPr>
        <p:spPr>
          <a:xfrm>
            <a:off x="7836408" y="2706836"/>
            <a:ext cx="3026664" cy="4069080"/>
          </a:xfrm>
          <a:prstGeom prst="roundRect">
            <a:avLst>
              <a:gd name="adj" fmla="val 4229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8" name="TextBox 21637"/>
          <p:cNvSpPr txBox="1"/>
          <p:nvPr/>
        </p:nvSpPr>
        <p:spPr>
          <a:xfrm>
            <a:off x="8019288" y="2798276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五个环节标准化</a:t>
            </a:r>
          </a:p>
        </p:txBody>
      </p:sp>
      <p:sp>
        <p:nvSpPr>
          <p:cNvPr id="21639" name="Rounded Rectangle 21638"/>
          <p:cNvSpPr/>
          <p:nvPr/>
        </p:nvSpPr>
        <p:spPr>
          <a:xfrm>
            <a:off x="8001000" y="3237188"/>
            <a:ext cx="2697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0" name="TextBox 21639"/>
          <p:cNvSpPr txBox="1"/>
          <p:nvPr/>
        </p:nvSpPr>
        <p:spPr>
          <a:xfrm>
            <a:off x="8129016" y="3273764"/>
            <a:ext cx="24780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产品</a:t>
            </a:r>
          </a:p>
        </p:txBody>
      </p:sp>
      <p:sp>
        <p:nvSpPr>
          <p:cNvPr id="21641" name="TextBox 21640"/>
          <p:cNvSpPr txBox="1"/>
          <p:nvPr/>
        </p:nvSpPr>
        <p:spPr>
          <a:xfrm>
            <a:off x="8129016" y="3529796"/>
            <a:ext cx="24780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2B2F42"/>
                </a:solidFill>
              </a:rPr>
              <a:t>按业态出模板，差异做成配置</a:t>
            </a:r>
          </a:p>
        </p:txBody>
      </p:sp>
      <p:sp>
        <p:nvSpPr>
          <p:cNvPr id="21642" name="Rounded Rectangle 21641"/>
          <p:cNvSpPr/>
          <p:nvPr/>
        </p:nvSpPr>
        <p:spPr>
          <a:xfrm>
            <a:off x="8001000" y="3913844"/>
            <a:ext cx="2697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3" name="TextBox 21642"/>
          <p:cNvSpPr txBox="1"/>
          <p:nvPr/>
        </p:nvSpPr>
        <p:spPr>
          <a:xfrm>
            <a:off x="8129016" y="3950420"/>
            <a:ext cx="24780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知识采集</a:t>
            </a:r>
          </a:p>
        </p:txBody>
      </p:sp>
      <p:sp>
        <p:nvSpPr>
          <p:cNvPr id="21644" name="TextBox 21643"/>
          <p:cNvSpPr txBox="1"/>
          <p:nvPr/>
        </p:nvSpPr>
        <p:spPr>
          <a:xfrm>
            <a:off x="8129016" y="4206452"/>
            <a:ext cx="24780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2B2F42"/>
                </a:solidFill>
              </a:rPr>
              <a:t>统一采集表，景区填、实施审</a:t>
            </a:r>
          </a:p>
        </p:txBody>
      </p:sp>
      <p:sp>
        <p:nvSpPr>
          <p:cNvPr id="21645" name="Rounded Rectangle 21644"/>
          <p:cNvSpPr/>
          <p:nvPr/>
        </p:nvSpPr>
        <p:spPr>
          <a:xfrm>
            <a:off x="8001000" y="4590500"/>
            <a:ext cx="2697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6" name="TextBox 21645"/>
          <p:cNvSpPr txBox="1"/>
          <p:nvPr/>
        </p:nvSpPr>
        <p:spPr>
          <a:xfrm>
            <a:off x="8129016" y="4627076"/>
            <a:ext cx="24780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系统接入</a:t>
            </a:r>
          </a:p>
        </p:txBody>
      </p:sp>
      <p:sp>
        <p:nvSpPr>
          <p:cNvPr id="21647" name="TextBox 21646"/>
          <p:cNvSpPr txBox="1"/>
          <p:nvPr/>
        </p:nvSpPr>
        <p:spPr>
          <a:xfrm>
            <a:off x="8129016" y="4883108"/>
            <a:ext cx="24780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2B2F42"/>
                </a:solidFill>
              </a:rPr>
              <a:t>老客户接口现成</a:t>
            </a:r>
          </a:p>
        </p:txBody>
      </p:sp>
      <p:sp>
        <p:nvSpPr>
          <p:cNvPr id="21648" name="Rounded Rectangle 21647"/>
          <p:cNvSpPr/>
          <p:nvPr/>
        </p:nvSpPr>
        <p:spPr>
          <a:xfrm>
            <a:off x="8001000" y="5267156"/>
            <a:ext cx="2697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9" name="TextBox 21648"/>
          <p:cNvSpPr txBox="1"/>
          <p:nvPr/>
        </p:nvSpPr>
        <p:spPr>
          <a:xfrm>
            <a:off x="8129016" y="5303732"/>
            <a:ext cx="24780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实施</a:t>
            </a:r>
          </a:p>
        </p:txBody>
      </p:sp>
      <p:sp>
        <p:nvSpPr>
          <p:cNvPr id="21650" name="TextBox 21649"/>
          <p:cNvSpPr txBox="1"/>
          <p:nvPr/>
        </p:nvSpPr>
        <p:spPr>
          <a:xfrm>
            <a:off x="8129016" y="5559764"/>
            <a:ext cx="24780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2B2F42"/>
                </a:solidFill>
              </a:rPr>
              <a:t>手册 + 培训，伙伴可独立交付</a:t>
            </a:r>
          </a:p>
        </p:txBody>
      </p:sp>
      <p:sp>
        <p:nvSpPr>
          <p:cNvPr id="21651" name="Rounded Rectangle 21650"/>
          <p:cNvSpPr/>
          <p:nvPr/>
        </p:nvSpPr>
        <p:spPr>
          <a:xfrm>
            <a:off x="8001000" y="5943812"/>
            <a:ext cx="2697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2" name="TextBox 21651"/>
          <p:cNvSpPr txBox="1"/>
          <p:nvPr/>
        </p:nvSpPr>
        <p:spPr>
          <a:xfrm>
            <a:off x="8129016" y="5980388"/>
            <a:ext cx="24780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验收</a:t>
            </a:r>
          </a:p>
        </p:txBody>
      </p:sp>
      <p:sp>
        <p:nvSpPr>
          <p:cNvPr id="21653" name="TextBox 21652"/>
          <p:cNvSpPr txBox="1"/>
          <p:nvPr/>
        </p:nvSpPr>
        <p:spPr>
          <a:xfrm>
            <a:off x="8129016" y="6236420"/>
            <a:ext cx="247802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2B2F42"/>
                </a:solidFill>
              </a:rPr>
              <a:t>统一测试清单，跑完即上线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销售与续费：票务团队带单，用效果报告促续费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卖出去只是开始，持续让景区看到效果，才能续费、加购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15768"/>
            <a:ext cx="5669280" cy="877824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2898648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iefc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026664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27048" y="2788920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销售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312724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票务销售团队带单，智能体纳入销售考核；区域渠道伙伴代理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21608"/>
            <a:ext cx="5669280" cy="877824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7" y="3904488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t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032504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27048" y="3794760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案例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每类业态的标杆做成案例，用数据讲效果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27448"/>
            <a:ext cx="5669280" cy="877824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7" y="4910328"/>
            <a:ext cx="512064" cy="512064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eads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038344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27048" y="4800600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客户成功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513892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上线后定期出效果报告：解决多少咨询、带来多少订单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733288"/>
            <a:ext cx="5669280" cy="877824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7" y="5916168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6044184"/>
            <a:ext cx="256032" cy="2560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27048" y="5806440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升级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614476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模板统一升级，所有景区同步受益，增加粘性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7688" y="2715768"/>
            <a:ext cx="4215384" cy="3931920"/>
          </a:xfrm>
          <a:prstGeom prst="roundRect">
            <a:avLst>
              <a:gd name="adj" fmla="val 279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47688" y="2715768"/>
            <a:ext cx="4215384" cy="329184"/>
          </a:xfrm>
          <a:prstGeom prst="roundRect">
            <a:avLst>
              <a:gd name="adj" fmla="val 0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84848" y="2825496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67728" y="2825496"/>
            <a:ext cx="109728" cy="109728"/>
          </a:xfrm>
          <a:prstGeom prst="ellipse">
            <a:avLst/>
          </a:prstGeom>
          <a:solidFill>
            <a:srgbClr val="F5B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50608" y="2825496"/>
            <a:ext cx="109728" cy="109728"/>
          </a:xfrm>
          <a:prstGeom prst="ellipse">
            <a:avLst/>
          </a:prstGeom>
          <a:solidFill>
            <a:srgbClr val="2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4927" y="2715768"/>
            <a:ext cx="33009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5E6478"/>
                </a:solidFill>
              </a:rPr>
              <a:t>景区 AI 效果月报（示意）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3154680"/>
            <a:ext cx="384962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××景区 · ××月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30568" y="3611880"/>
            <a:ext cx="1833372" cy="841248"/>
          </a:xfrm>
          <a:prstGeom prst="roundRect">
            <a:avLst>
              <a:gd name="adj" fmla="val 8695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3666744"/>
            <a:ext cx="16504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解决咨询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3904488"/>
            <a:ext cx="1650492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>
                <a:solidFill>
                  <a:srgbClr val="655BE6"/>
                </a:solidFill>
              </a:rPr>
              <a:t>×××</a:t>
            </a:r>
            <a:r>
              <a:rPr sz="1100" b="0">
                <a:solidFill>
                  <a:srgbClr val="655BE6"/>
                </a:solidFill>
              </a:rPr>
              <a:t> 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46820" y="3611880"/>
            <a:ext cx="1833372" cy="841248"/>
          </a:xfrm>
          <a:prstGeom prst="roundRect">
            <a:avLst>
              <a:gd name="adj" fmla="val 8695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83980" y="3666744"/>
            <a:ext cx="16504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带来订单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83980" y="3904488"/>
            <a:ext cx="1650492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>
                <a:solidFill>
                  <a:srgbClr val="655BE6"/>
                </a:solidFill>
              </a:rPr>
              <a:t>×××</a:t>
            </a:r>
            <a:r>
              <a:rPr sz="1100" b="0">
                <a:solidFill>
                  <a:srgbClr val="655BE6"/>
                </a:solidFill>
              </a:rPr>
              <a:t> 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30568" y="4572000"/>
            <a:ext cx="1833372" cy="841248"/>
          </a:xfrm>
          <a:prstGeom prst="roundRect">
            <a:avLst>
              <a:gd name="adj" fmla="val 8695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7728" y="4626864"/>
            <a:ext cx="16504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转人工率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4864608"/>
            <a:ext cx="1650492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>
                <a:solidFill>
                  <a:srgbClr val="655BE6"/>
                </a:solidFill>
              </a:rPr>
              <a:t>××</a:t>
            </a:r>
            <a:r>
              <a:rPr sz="1100" b="0">
                <a:solidFill>
                  <a:srgbClr val="655BE6"/>
                </a:solidFill>
              </a:rPr>
              <a:t> 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46820" y="4572000"/>
            <a:ext cx="1833372" cy="841248"/>
          </a:xfrm>
          <a:prstGeom prst="roundRect">
            <a:avLst>
              <a:gd name="adj" fmla="val 8695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83980" y="4626864"/>
            <a:ext cx="16504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游客满意度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3980" y="4864608"/>
            <a:ext cx="1650492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>
                <a:solidFill>
                  <a:srgbClr val="655BE6"/>
                </a:solidFill>
              </a:rPr>
              <a:t>××</a:t>
            </a:r>
            <a:r>
              <a:rPr sz="1100" b="0">
                <a:solidFill>
                  <a:srgbClr val="655BE6"/>
                </a:solidFill>
              </a:rPr>
              <a:t> 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67727" y="6080760"/>
            <a:ext cx="237744" cy="320040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51775" y="5943600"/>
            <a:ext cx="237744" cy="457200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35823" y="6016752"/>
            <a:ext cx="237744" cy="384048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19871" y="5833872"/>
            <a:ext cx="237744" cy="566928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503919" y="5897880"/>
            <a:ext cx="237744" cy="502920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887967" y="5742432"/>
            <a:ext cx="237744" cy="658368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90888" y="5760720"/>
            <a:ext cx="128930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E6478"/>
                </a:solidFill>
              </a:rPr>
              <a:t>趋势与建议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5E6478"/>
                </a:solidFill>
              </a:rPr>
              <a:t>由系统自动生成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借平台，不交资产：六样东西必须留在自己手里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这是第三步能低成本切过去的前提，从第一天就要做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43</a:t>
            </a:r>
          </a:p>
        </p:txBody>
      </p:sp>
      <p:sp>
        <p:nvSpPr>
          <p:cNvPr id="9" name="Oval 8"/>
          <p:cNvSpPr/>
          <p:nvPr/>
        </p:nvSpPr>
        <p:spPr>
          <a:xfrm>
            <a:off x="4800600" y="3557016"/>
            <a:ext cx="1920240" cy="19202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3328416"/>
            <a:ext cx="2377440" cy="2377440"/>
          </a:xfrm>
          <a:prstGeom prst="ellipse">
            <a:avLst/>
          </a:prstGeom>
          <a:noFill/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831336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46320" y="442569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</a:rPr>
              <a:t>留在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</a:rPr>
              <a:t>自己手里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06624"/>
            <a:ext cx="3611880" cy="1207008"/>
          </a:xfrm>
          <a:prstGeom prst="roundRect">
            <a:avLst>
              <a:gd name="adj" fmla="val 909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2871216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ok-ope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59" y="2985516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89888" y="2852928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景区知识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64992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现在　</a:t>
            </a:r>
            <a:r>
              <a:rPr sz="1050" b="0">
                <a:solidFill>
                  <a:srgbClr val="2B2F42"/>
                </a:solidFill>
              </a:rPr>
              <a:t>按自有结构存一份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602736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以后　</a:t>
            </a:r>
            <a:r>
              <a:rPr sz="1050" b="0">
                <a:solidFill>
                  <a:srgbClr val="5E6478"/>
                </a:solidFill>
              </a:rPr>
              <a:t>直接导入自建平台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70248" y="3310128"/>
            <a:ext cx="301752" cy="1207008"/>
          </a:xfrm>
          <a:prstGeom prst="line">
            <a:avLst/>
          </a:prstGeom>
          <a:ln w="12700">
            <a:solidFill>
              <a:srgbClr val="C7C2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" y="4078224"/>
            <a:ext cx="3611880" cy="1207008"/>
          </a:xfrm>
          <a:prstGeom prst="roundRect">
            <a:avLst>
              <a:gd name="adj" fmla="val 909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59" y="4242816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lu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59" y="4357116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89888" y="4224528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业务接口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736592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现在　</a:t>
            </a:r>
            <a:r>
              <a:rPr sz="1050" b="0">
                <a:solidFill>
                  <a:srgbClr val="2B2F42"/>
                </a:solidFill>
              </a:rPr>
              <a:t>售票、订单、核销、会员接口自己封装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974336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以后　</a:t>
            </a:r>
            <a:r>
              <a:rPr sz="1050" b="0">
                <a:solidFill>
                  <a:srgbClr val="5E6478"/>
                </a:solidFill>
              </a:rPr>
              <a:t>平台直接复用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270248" y="4517136"/>
            <a:ext cx="301752" cy="164592"/>
          </a:xfrm>
          <a:prstGeom prst="line">
            <a:avLst/>
          </a:prstGeom>
          <a:ln w="12700">
            <a:solidFill>
              <a:srgbClr val="C7C2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8" y="5449824"/>
            <a:ext cx="3611880" cy="1207008"/>
          </a:xfrm>
          <a:prstGeom prst="roundRect">
            <a:avLst>
              <a:gd name="adj" fmla="val 909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59" y="5614416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le-tex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59" y="5728716"/>
            <a:ext cx="22860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89888" y="5596128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模板设计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6108192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现在　</a:t>
            </a:r>
            <a:r>
              <a:rPr sz="1050" b="0">
                <a:solidFill>
                  <a:srgbClr val="2B2F42"/>
                </a:solidFill>
              </a:rPr>
              <a:t>流程、提示词、配置写成文档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6345936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以后　</a:t>
            </a:r>
            <a:r>
              <a:rPr sz="1050" b="0">
                <a:solidFill>
                  <a:srgbClr val="5E6478"/>
                </a:solidFill>
              </a:rPr>
              <a:t>迁入模板库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270248" y="4517136"/>
            <a:ext cx="301752" cy="1536192"/>
          </a:xfrm>
          <a:prstGeom prst="line">
            <a:avLst/>
          </a:prstGeom>
          <a:ln w="12700">
            <a:solidFill>
              <a:srgbClr val="C7C2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251192" y="2706624"/>
            <a:ext cx="3611880" cy="1207008"/>
          </a:xfrm>
          <a:prstGeom prst="roundRect">
            <a:avLst>
              <a:gd name="adj" fmla="val 909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15784" y="2871216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essages-squar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4" y="2985516"/>
            <a:ext cx="228600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82712" y="2852928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交互数据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4072" y="3364992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现在　</a:t>
            </a:r>
            <a:r>
              <a:rPr sz="1050" b="0">
                <a:solidFill>
                  <a:srgbClr val="2B2F42"/>
                </a:solidFill>
              </a:rPr>
              <a:t>对话、评价、转人工回流数据平台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4072" y="3602736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以后　</a:t>
            </a:r>
            <a:r>
              <a:rPr sz="1050" b="0">
                <a:solidFill>
                  <a:srgbClr val="5E6478"/>
                </a:solidFill>
              </a:rPr>
              <a:t>做测试题、优化效果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949440" y="3310128"/>
            <a:ext cx="301752" cy="1207008"/>
          </a:xfrm>
          <a:prstGeom prst="line">
            <a:avLst/>
          </a:prstGeom>
          <a:ln w="12700">
            <a:solidFill>
              <a:srgbClr val="C7C2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251192" y="4078224"/>
            <a:ext cx="3611880" cy="1207008"/>
          </a:xfrm>
          <a:prstGeom prst="roundRect">
            <a:avLst>
              <a:gd name="adj" fmla="val 909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15784" y="4242816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oin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0084" y="4357116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982712" y="4224528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成本数据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4072" y="4736592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现在　</a:t>
            </a:r>
            <a:r>
              <a:rPr sz="1050" b="0">
                <a:solidFill>
                  <a:srgbClr val="2B2F42"/>
                </a:solidFill>
              </a:rPr>
              <a:t>按景区、按智能体记录每月平台费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4072" y="4974336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以后　</a:t>
            </a:r>
            <a:r>
              <a:rPr sz="1050" b="0">
                <a:solidFill>
                  <a:srgbClr val="5E6478"/>
                </a:solidFill>
              </a:rPr>
              <a:t>判断何时自建</a:t>
            </a:r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6949440" y="4517136"/>
            <a:ext cx="301752" cy="164592"/>
          </a:xfrm>
          <a:prstGeom prst="line">
            <a:avLst/>
          </a:prstGeom>
          <a:ln w="12700">
            <a:solidFill>
              <a:srgbClr val="C7C2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251192" y="5449824"/>
            <a:ext cx="3611880" cy="1207008"/>
          </a:xfrm>
          <a:prstGeom prst="roundRect">
            <a:avLst>
              <a:gd name="adj" fmla="val 909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15784" y="5614416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list-check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0084" y="5728716"/>
            <a:ext cx="228600" cy="2286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82712" y="5596128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需求清单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34072" y="6108192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776CFD"/>
                </a:solidFill>
              </a:rPr>
              <a:t>现在　</a:t>
            </a:r>
            <a:r>
              <a:rPr sz="1050" b="0">
                <a:solidFill>
                  <a:srgbClr val="2B2F42"/>
                </a:solidFill>
              </a:rPr>
              <a:t>记录客户要、平台做不了的功能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34072" y="6345936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4551A"/>
                </a:solidFill>
              </a:rPr>
              <a:t>以后　</a:t>
            </a:r>
            <a:r>
              <a:rPr sz="1050" b="0">
                <a:solidFill>
                  <a:srgbClr val="5E6478"/>
                </a:solidFill>
              </a:rPr>
              <a:t>自建平台的需求来源</a:t>
            </a:r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6949440" y="4517136"/>
            <a:ext cx="301752" cy="1536192"/>
          </a:xfrm>
          <a:prstGeom prst="line">
            <a:avLst/>
          </a:prstGeom>
          <a:ln w="12700">
            <a:solidFill>
              <a:srgbClr val="C7C2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借平台的代价：景区越多，问题越明显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第二步做得越成功，这些弊端越突出 —— 这正是第三步要解决的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16352"/>
            <a:ext cx="3279648" cy="1481328"/>
          </a:xfrm>
          <a:prstGeom prst="roundRect">
            <a:avLst>
              <a:gd name="adj" fmla="val 7407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2980944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ing-u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59" y="3095244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9888" y="2980944"/>
            <a:ext cx="241096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成本越做越高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9584"/>
            <a:ext cx="2877312" cy="676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E6478"/>
                </a:solidFill>
              </a:rPr>
              <a:t>按调用、账号、空间收费，景区越多平台费越高，利润被分走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0896" y="2816352"/>
            <a:ext cx="3279648" cy="1481328"/>
          </a:xfrm>
          <a:prstGeom prst="roundRect">
            <a:avLst>
              <a:gd name="adj" fmla="val 7407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5488" y="2980944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ren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788" y="3095244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52416" y="2980944"/>
            <a:ext cx="241096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交付受限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2064" y="3529584"/>
            <a:ext cx="2877312" cy="676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E6478"/>
                </a:solidFill>
              </a:rPr>
              <a:t>功能受平台限制，个性需求做不了；多平台分别配置、分别维护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3424" y="2816352"/>
            <a:ext cx="3279648" cy="1481328"/>
          </a:xfrm>
          <a:prstGeom prst="roundRect">
            <a:avLst>
              <a:gd name="adj" fmla="val 7407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48015" y="2980944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lou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2315" y="3095244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14944" y="2980944"/>
            <a:ext cx="241096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资产在外部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4592" y="3529584"/>
            <a:ext cx="2877312" cy="676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E6478"/>
                </a:solidFill>
              </a:rPr>
              <a:t>工作流、知识库、对话数据在第三方，难沉淀、难迁移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480560"/>
            <a:ext cx="3279648" cy="1481328"/>
          </a:xfrm>
          <a:prstGeom prst="roundRect">
            <a:avLst>
              <a:gd name="adj" fmla="val 7407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4645152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pli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59" y="4759452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89888" y="4645152"/>
            <a:ext cx="241096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管理分散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193792"/>
            <a:ext cx="2877312" cy="676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E6478"/>
                </a:solidFill>
              </a:rPr>
              <a:t>多平台多入口，权限、计量、监控各管各的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20896" y="4480560"/>
            <a:ext cx="3279648" cy="1481328"/>
          </a:xfrm>
          <a:prstGeom prst="roundRect">
            <a:avLst>
              <a:gd name="adj" fmla="val 7407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85488" y="4645152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riangle-ale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9788" y="4759452"/>
            <a:ext cx="228600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52416" y="4645152"/>
            <a:ext cx="241096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受制于人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2064" y="5193792"/>
            <a:ext cx="2877312" cy="676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E6478"/>
                </a:solidFill>
              </a:rPr>
              <a:t>平台调价、改规则、下线功能，直接影响交付和报价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3424" y="4480560"/>
            <a:ext cx="3279648" cy="1481328"/>
          </a:xfrm>
          <a:prstGeom prst="roundRect">
            <a:avLst>
              <a:gd name="adj" fmla="val 7407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48015" y="4645152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2315" y="4759452"/>
            <a:ext cx="228600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14944" y="4645152"/>
            <a:ext cx="2410968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难形成壁垒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84592" y="5193792"/>
            <a:ext cx="2877312" cy="676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E6478"/>
                </a:solidFill>
              </a:rPr>
              <a:t>同样的平台谁都能用；数据出域有合规顾虑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99846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ightbul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6135624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52728" y="599846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E2C8"/>
                </a:solidFill>
              </a:rPr>
              <a:t>所以　</a:t>
            </a:r>
            <a:r>
              <a:rPr sz="1350" b="0">
                <a:solidFill>
                  <a:srgbClr val="FFFFFF"/>
                </a:solidFill>
              </a:rPr>
              <a:t>规模起来以后，自己建平台更省钱、更快、更可控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第三步：什么时候自己建？看成本交叉点和五个信号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满足任意两条就启动自建；不提前，也不拖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47188"/>
            <a:ext cx="4937760" cy="4069080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5691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总成本随景区数量变化（示意）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95528" y="3104388"/>
          <a:ext cx="4663440" cy="3154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32688" y="630478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0">
                <a:solidFill>
                  <a:srgbClr val="5E6478"/>
                </a:solidFill>
              </a:rPr>
              <a:t>景区数量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0693" y="397306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交叉点 = 该自建了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0448" y="2647188"/>
            <a:ext cx="4992624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07608" y="2738628"/>
            <a:ext cx="420624" cy="42062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in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764" y="2843784"/>
            <a:ext cx="210312" cy="2103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56248" y="2647188"/>
            <a:ext cx="155448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成本交叉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647188"/>
            <a:ext cx="270662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按记录的成本测算，自建总成本已更低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3342132"/>
            <a:ext cx="4992624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07608" y="3433572"/>
            <a:ext cx="420624" cy="42062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rending-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764" y="3538728"/>
            <a:ext cx="210312" cy="2103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56248" y="3342132"/>
            <a:ext cx="155448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平台费占比上升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342132"/>
            <a:ext cx="270662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平台费占智能体收入的比例持续上升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70448" y="4037076"/>
            <a:ext cx="4992624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07608" y="4128516"/>
            <a:ext cx="420624" cy="42062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ircle-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2764" y="4233672"/>
            <a:ext cx="210312" cy="2103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56248" y="4037076"/>
            <a:ext cx="155448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场景稳定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4037076"/>
            <a:ext cx="270662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主力模板已稳定，不再频繁大改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70448" y="4732020"/>
            <a:ext cx="4992624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07608" y="4823460"/>
            <a:ext cx="420624" cy="42062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ircle-x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2764" y="4928616"/>
            <a:ext cx="210312" cy="2103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56248" y="4732020"/>
            <a:ext cx="155448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平台限制丢单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4732020"/>
            <a:ext cx="270662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个性需求、大客户项目因平台限制接不了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70448" y="5426964"/>
            <a:ext cx="4992624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07608" y="5518404"/>
            <a:ext cx="420624" cy="42062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hield-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2764" y="5623560"/>
            <a:ext cx="210312" cy="21031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56248" y="5426964"/>
            <a:ext cx="155448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合规要求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5426964"/>
            <a:ext cx="2706624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景区或管理方要求数据不出域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70448" y="6140196"/>
            <a:ext cx="4992624" cy="566928"/>
          </a:xfrm>
          <a:prstGeom prst="roundRect">
            <a:avLst>
              <a:gd name="adj" fmla="val 16129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满足任意两条</a:t>
            </a:r>
            <a:r>
              <a:rPr sz="1300" b="0">
                <a:solidFill>
                  <a:srgbClr val="FFFFFF"/>
                </a:solidFill>
              </a:rPr>
              <a:t>，就启动自建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建什么、不建什么：钱只花在“壁垒”上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能买的买、能借的借，只自建承载我们业务和数据的部分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95728"/>
            <a:ext cx="10204704" cy="694944"/>
          </a:xfrm>
          <a:prstGeom prst="roundRect">
            <a:avLst>
              <a:gd name="adj" fmla="val 1315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514600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62890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9888" y="2395728"/>
            <a:ext cx="310896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大模型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4568" y="257860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采购 / 合作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395728"/>
            <a:ext cx="256032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不自研 · 调用模型服务，多家可替换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395728"/>
            <a:ext cx="2203704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投入大，不是我们的优势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82112"/>
            <a:ext cx="10204704" cy="694944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5528" y="3300984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ic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3415284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89888" y="3182112"/>
            <a:ext cx="310896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语音 · 图像 · 数字人 · 手语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336499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采购 / 合作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182112"/>
            <a:ext cx="256032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采购或合作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182112"/>
            <a:ext cx="2203704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专业能力，自建不划算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68496"/>
            <a:ext cx="10204704" cy="694944"/>
          </a:xfrm>
          <a:prstGeom prst="roundRect">
            <a:avLst>
              <a:gd name="adj" fmla="val 1315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5528" y="4087368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orkflow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4201668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89888" y="3968496"/>
            <a:ext cx="310896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编排引擎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4568" y="415137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DFEAFE"/>
          </a:solidFill>
          <a:ln w="12700">
            <a:solidFill>
              <a:srgbClr val="B9C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5D95F1"/>
                </a:solidFill>
              </a:rPr>
              <a:t>开源改造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1888" y="3968496"/>
            <a:ext cx="256032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开源框架二次开发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3968496"/>
            <a:ext cx="2203704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不从零写，缩短周期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54880"/>
            <a:ext cx="10204704" cy="694944"/>
          </a:xfrm>
          <a:prstGeom prst="roundRect">
            <a:avLst>
              <a:gd name="adj" fmla="val 13157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4873752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uilding2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983480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89888" y="4754880"/>
            <a:ext cx="310896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管理台 · 能力与知识 · 业务工具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44568" y="493776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655BE6"/>
                </a:solidFill>
              </a:rPr>
              <a:t>自建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4754880"/>
            <a:ext cx="256032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FFFFFF"/>
                </a:solidFill>
              </a:rPr>
              <a:t>自建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754880"/>
            <a:ext cx="2203704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EEDFF"/>
                </a:solidFill>
              </a:rPr>
              <a:t>承载我们的业务、数据和交付方式，是壁垒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41264"/>
            <a:ext cx="10204704" cy="694944"/>
          </a:xfrm>
          <a:prstGeom prst="roundRect">
            <a:avLst>
              <a:gd name="adj" fmla="val 1315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5528" y="5660136"/>
            <a:ext cx="457200" cy="45720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" y="5774436"/>
            <a:ext cx="228600" cy="228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89888" y="5541264"/>
            <a:ext cx="310896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数据服务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44568" y="572414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655BE6"/>
                </a:solidFill>
              </a:rPr>
              <a:t>复用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61888" y="5541264"/>
            <a:ext cx="256032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复用第一部分的数据平台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5541264"/>
            <a:ext cx="2203704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已经有了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6400800"/>
            <a:ext cx="1020470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targe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6492240"/>
            <a:ext cx="274320" cy="2743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52728" y="6400800"/>
            <a:ext cx="94274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655BE6"/>
                </a:solidFill>
              </a:rPr>
              <a:t>原则　</a:t>
            </a:r>
            <a:r>
              <a:rPr sz="1250" b="0">
                <a:solidFill>
                  <a:srgbClr val="2B2F42"/>
                </a:solidFill>
              </a:rPr>
              <a:t>不碰重投入、非优势的部分；把钱和人放在“业务 + 数据 + 交付”上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自建平台长什么样：数字大脑做管理台，底下接数据平台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颜色代表“怎么来”：自建 / 开源改造 / 采购合作 / 复用已有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24328"/>
            <a:ext cx="1325880" cy="402336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渠道入口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3976" y="2624328"/>
            <a:ext cx="967740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655BE6"/>
                </a:solidFill>
              </a:rPr>
              <a:t>畅游小程序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34868" y="2624328"/>
            <a:ext cx="967740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655BE6"/>
                </a:solidFill>
              </a:rPr>
              <a:t>票付通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5760" y="2624328"/>
            <a:ext cx="967740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655BE6"/>
                </a:solidFill>
              </a:rPr>
              <a:t>景数通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6652" y="2624328"/>
            <a:ext cx="967740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655BE6"/>
                </a:solidFill>
              </a:rPr>
              <a:t>公众号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7544" y="2624328"/>
            <a:ext cx="967740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655BE6"/>
                </a:solidFill>
              </a:rPr>
              <a:t>智慧终端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8436" y="2624328"/>
            <a:ext cx="967740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开放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99816"/>
            <a:ext cx="1325880" cy="402336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智能体应用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3976" y="3099816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游客服务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3046" y="3099816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景区管理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2116" y="3099816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票务财务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41187" y="3099816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安全调度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0257" y="3099816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精准营销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575304"/>
            <a:ext cx="1325880" cy="402336"/>
          </a:xfrm>
          <a:prstGeom prst="roundRect">
            <a:avLst>
              <a:gd name="adj" fmla="val 1818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管理台 · 搭建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93976" y="3575304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模板库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43046" y="3575304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可视化编排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2116" y="3575304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配置化生成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41187" y="3575304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多智能体协同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0257" y="3575304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测试与发布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050791"/>
            <a:ext cx="1325880" cy="402336"/>
          </a:xfrm>
          <a:prstGeom prst="roundRect">
            <a:avLst>
              <a:gd name="adj" fmla="val 1818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管理台 · 运营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93976" y="4050791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多租户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43046" y="4050791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权限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92116" y="4050791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运行监控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41187" y="4050791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计量到景区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90257" y="4050791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效果评估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526279"/>
            <a:ext cx="1325880" cy="402336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能力层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93976" y="4526279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业务工具中心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43046" y="4526279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景区知识库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92116" y="4526279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游客记忆与画像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41187" y="4526279"/>
            <a:ext cx="1175918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测试用例库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90257" y="4526279"/>
            <a:ext cx="1175918" cy="402336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655BE6"/>
                </a:solidFill>
              </a:rPr>
              <a:t>数据服务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01767"/>
            <a:ext cx="1325880" cy="402336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引擎层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93976" y="5001767"/>
            <a:ext cx="1488186" cy="402336"/>
          </a:xfrm>
          <a:prstGeom prst="roundRect">
            <a:avLst>
              <a:gd name="adj" fmla="val 18181"/>
            </a:avLst>
          </a:prstGeom>
          <a:solidFill>
            <a:srgbClr val="DFEAFE"/>
          </a:solidFill>
          <a:ln w="12700">
            <a:solidFill>
              <a:srgbClr val="B9C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5D95F1"/>
                </a:solidFill>
              </a:rPr>
              <a:t>编排引擎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5314" y="5001767"/>
            <a:ext cx="1488186" cy="402336"/>
          </a:xfrm>
          <a:prstGeom prst="roundRect">
            <a:avLst>
              <a:gd name="adj" fmla="val 18181"/>
            </a:avLst>
          </a:prstGeom>
          <a:solidFill>
            <a:srgbClr val="DFEAFE"/>
          </a:solidFill>
          <a:ln w="12700">
            <a:solidFill>
              <a:srgbClr val="B9C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5D95F1"/>
                </a:solidFill>
              </a:rPr>
              <a:t>检索引擎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6652" y="5001767"/>
            <a:ext cx="1488186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模型网关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77990" y="5001767"/>
            <a:ext cx="1488186" cy="402336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内容安全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477255"/>
            <a:ext cx="1325880" cy="402336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外部能力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93976" y="5477255"/>
            <a:ext cx="1488186" cy="402336"/>
          </a:xfrm>
          <a:prstGeom prst="roundRect">
            <a:avLst>
              <a:gd name="adj" fmla="val 18181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B4551A"/>
                </a:solidFill>
              </a:rPr>
              <a:t>大模型 · 可替换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5314" y="5477255"/>
            <a:ext cx="1488186" cy="402336"/>
          </a:xfrm>
          <a:prstGeom prst="roundRect">
            <a:avLst>
              <a:gd name="adj" fmla="val 18181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B4551A"/>
                </a:solidFill>
              </a:rPr>
              <a:t>语音 · 图像 · 数字人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16652" y="5477255"/>
            <a:ext cx="1488186" cy="402336"/>
          </a:xfrm>
          <a:prstGeom prst="roundRect">
            <a:avLst>
              <a:gd name="adj" fmla="val 18181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B4551A"/>
                </a:solidFill>
              </a:rPr>
              <a:t>手语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77990" y="5477255"/>
            <a:ext cx="1488186" cy="402336"/>
          </a:xfrm>
          <a:prstGeom prst="roundRect">
            <a:avLst>
              <a:gd name="adj" fmla="val 18181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B4551A"/>
                </a:solidFill>
              </a:rPr>
              <a:t>小Q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952743"/>
            <a:ext cx="1325880" cy="402336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数据底座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93976" y="5952743"/>
            <a:ext cx="1488186" cy="402336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655BE6"/>
                </a:solidFill>
              </a:rPr>
              <a:t>认证指标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5314" y="5952743"/>
            <a:ext cx="1488186" cy="402336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655BE6"/>
                </a:solidFill>
              </a:rPr>
              <a:t>统一标签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16652" y="5952743"/>
            <a:ext cx="1488186" cy="402336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655BE6"/>
                </a:solidFill>
              </a:rPr>
              <a:t>湖仓与实时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77990" y="5952743"/>
            <a:ext cx="1488186" cy="402336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050" b="0">
                <a:solidFill>
                  <a:srgbClr val="655BE6"/>
                </a:solidFill>
              </a:rPr>
              <a:t>交互数据回流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020824" y="3538728"/>
            <a:ext cx="6318504" cy="950976"/>
          </a:xfrm>
          <a:prstGeom prst="roundRect">
            <a:avLst>
              <a:gd name="adj" fmla="val 9615"/>
            </a:avLst>
          </a:prstGeom>
          <a:noFill/>
          <a:ln w="1905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" y="6483095"/>
            <a:ext cx="583184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自建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32992" y="6483095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DFEAFE"/>
          </a:solidFill>
          <a:ln w="12700">
            <a:solidFill>
              <a:srgbClr val="B9C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5D95F1"/>
                </a:solidFill>
              </a:rPr>
              <a:t>开源改造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61616" y="6483095"/>
            <a:ext cx="984504" cy="25603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B4551A"/>
                </a:solidFill>
              </a:rPr>
              <a:t>采购 / 合作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37560" y="6483095"/>
            <a:ext cx="583184" cy="25603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复用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012184" y="6483095"/>
            <a:ext cx="83718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已有入口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32248" y="6483095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4551A"/>
                </a:solidFill>
              </a:rPr>
              <a:t>橙色虚线框 = 数字大脑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40496" y="2624328"/>
            <a:ext cx="2322576" cy="4114800"/>
          </a:xfrm>
          <a:prstGeom prst="roundRect">
            <a:avLst>
              <a:gd name="adj" fmla="val 551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23376" y="2715768"/>
            <a:ext cx="2048256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776CFD"/>
                </a:solidFill>
              </a:rPr>
              <a:t>前两步的积累，直接搬进来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50224" y="315468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B2F42"/>
                </a:solidFill>
              </a:rPr>
              <a:t>景区知识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9509760" y="3300984"/>
            <a:ext cx="146304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692640" y="3154680"/>
            <a:ext cx="1060704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景区知识库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50224" y="3739896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B2F42"/>
                </a:solidFill>
              </a:rPr>
              <a:t>业务接口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9509760" y="3886200"/>
            <a:ext cx="146304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692640" y="3739896"/>
            <a:ext cx="1060704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业务工具中心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50224" y="432511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B2F42"/>
                </a:solidFill>
              </a:rPr>
              <a:t>模板设计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9509760" y="4471416"/>
            <a:ext cx="146304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692640" y="4325112"/>
            <a:ext cx="1060704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模板库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50224" y="491032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B2F42"/>
                </a:solidFill>
              </a:rPr>
              <a:t>交互数据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9509760" y="5056632"/>
            <a:ext cx="146304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692640" y="4910328"/>
            <a:ext cx="1060704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测试用例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50224" y="5495544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B2F42"/>
                </a:solidFill>
              </a:rPr>
              <a:t>成本记录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9509760" y="5641848"/>
            <a:ext cx="146304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692640" y="5495544"/>
            <a:ext cx="1060704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计量与定价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650224" y="608076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B2F42"/>
                </a:solidFill>
              </a:rPr>
              <a:t>需求清单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9509760" y="6227064"/>
            <a:ext cx="146304" cy="16459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692640" y="6080760"/>
            <a:ext cx="1060704" cy="4572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首批功能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最终由自建平台统一承载：全景 22 个智能体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产品全景中已有 8 个、待建 14 个；加上可扩展的场景，都在一个平台上管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9808" y="2747772"/>
          <a:ext cx="310896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8" y="375361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000" b="1">
                <a:solidFill>
                  <a:srgbClr val="655BE6"/>
                </a:solidFill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3479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6478"/>
                </a:solidFill>
              </a:rPr>
              <a:t>个全景智能体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5993892"/>
            <a:ext cx="1325880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8</a:t>
            </a:r>
            <a:r>
              <a:rPr sz="1100" b="0">
                <a:solidFill>
                  <a:srgbClr val="FFFFFF"/>
                </a:solidFill>
              </a:rPr>
              <a:t> 已有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0008" y="5993892"/>
            <a:ext cx="132588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655BE6"/>
                </a:solidFill>
              </a:rPr>
              <a:t>14</a:t>
            </a:r>
            <a:r>
              <a:rPr sz="1100" b="0">
                <a:solidFill>
                  <a:srgbClr val="655BE6"/>
                </a:solidFill>
              </a:rPr>
              <a:t> 待建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2628900"/>
            <a:ext cx="6729984" cy="932688"/>
          </a:xfrm>
          <a:prstGeom prst="roundRect">
            <a:avLst>
              <a:gd name="adj" fmla="val 980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0248" y="2766060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martpho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2875788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18888" y="27203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301294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面向游客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64807" y="2747772"/>
            <a:ext cx="70916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智能助手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8839" y="2747772"/>
            <a:ext cx="70916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智能客服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2871" y="2747772"/>
            <a:ext cx="70916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智能导览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56903" y="2747772"/>
            <a:ext cx="63550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伴游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47275" y="2747772"/>
            <a:ext cx="63550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旅拍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37648" y="2747772"/>
            <a:ext cx="45516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手语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4807" y="3076956"/>
            <a:ext cx="8895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AI 旅游规划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9180" y="3076956"/>
            <a:ext cx="8895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AI 智能购票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33087" y="3653028"/>
            <a:ext cx="6729984" cy="786384"/>
          </a:xfrm>
          <a:prstGeom prst="roundRect">
            <a:avLst>
              <a:gd name="adj" fmla="val 1162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70248" y="3790188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ra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3899916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18888" y="374446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8888" y="403707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面向景区管理者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64807" y="3771900"/>
            <a:ext cx="88950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智能问数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9180" y="3771900"/>
            <a:ext cx="88950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智能洞察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53552" y="3771900"/>
            <a:ext cx="963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消息通知预警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1584" y="3771900"/>
            <a:ext cx="963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工单调度处置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33087" y="4530852"/>
            <a:ext cx="6729984" cy="786384"/>
          </a:xfrm>
          <a:prstGeom prst="roundRect">
            <a:avLst>
              <a:gd name="adj" fmla="val 1162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70248" y="4668012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976" y="4777740"/>
            <a:ext cx="219456" cy="21945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18888" y="46222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888" y="491490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面向票务与财务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64807" y="4649724"/>
            <a:ext cx="11816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票务 AI 运营助手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01279" y="4649724"/>
            <a:ext cx="8895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AI 对账助手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33087" y="5408676"/>
            <a:ext cx="6729984" cy="932688"/>
          </a:xfrm>
          <a:prstGeom prst="roundRect">
            <a:avLst>
              <a:gd name="adj" fmla="val 980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270248" y="5545836"/>
            <a:ext cx="438912" cy="438912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ire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9976" y="5655564"/>
            <a:ext cx="219456" cy="21945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818888" y="5500116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B2F42"/>
                </a:solidFill>
              </a:rPr>
              <a:t>景区 AI 调度中枢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888" y="5792724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6478"/>
                </a:solidFill>
              </a:rPr>
              <a:t>面向安全调度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64807" y="5527548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旅游安全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28839" y="5527548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秩序治理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92871" y="5527548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车辆调度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56903" y="5527548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游船调度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20935" y="5527548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森林防火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64807" y="585673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生态监测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28839" y="585673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气象服务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92871" y="5856732"/>
            <a:ext cx="7091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设施监测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33087" y="6478524"/>
            <a:ext cx="68580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已有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10327" y="647852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655BE6"/>
                </a:solidFill>
              </a:rPr>
              <a:t>待建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61888" y="647852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实心为已有，空心为待建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自己建能省什么：成本、交付、定制、数据、风险、竞争力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对比第二步借平台和第三步自建平台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0008" y="2633472"/>
            <a:ext cx="2651760" cy="438912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551A"/>
                </a:solidFill>
              </a:rPr>
              <a:t>借平台（第二步）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3207" y="2633472"/>
            <a:ext cx="2651760" cy="438912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自建平台（第三步）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633472"/>
            <a:ext cx="2980944" cy="438912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对公司的影响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45536"/>
            <a:ext cx="10204704" cy="566928"/>
          </a:xfrm>
          <a:prstGeom prst="roundRect">
            <a:avLst>
              <a:gd name="adj" fmla="val 1290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ins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30098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1288" y="3145536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3145536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按调用、账号计费，随景区数增长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3145536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只付模型调用和自身运维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7" y="3145536"/>
            <a:ext cx="27980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单景区成本下降，规模越大利润越高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49040"/>
            <a:ext cx="1020470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imer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904488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61288" y="374904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交付周期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374904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每个景区在外部平台单独配置、调试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74904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集团建一次，景区开通即用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7" y="3749040"/>
            <a:ext cx="27980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省交付人天，上线更快，承接更多景区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52544"/>
            <a:ext cx="10204704" cy="566928"/>
          </a:xfrm>
          <a:prstGeom prst="roundRect">
            <a:avLst>
              <a:gd name="adj" fmla="val 1290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uzzl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507992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61288" y="4352544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定制能力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352544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个性需求受平台限制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4352544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按需自主扩展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7" y="4352544"/>
            <a:ext cx="27980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能接大客户和个性项目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56048"/>
            <a:ext cx="1020470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databas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5111496"/>
            <a:ext cx="2560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61288" y="4956048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数据资产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4956048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工作流、知识、对话数据在外部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4956048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全部在自己手里，回流数据平台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7" y="4956048"/>
            <a:ext cx="27980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越用越准，数据成为资产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59552"/>
            <a:ext cx="10204704" cy="566928"/>
          </a:xfrm>
          <a:prstGeom prst="roundRect">
            <a:avLst>
              <a:gd name="adj" fmla="val 12903"/>
            </a:avLst>
          </a:prstGeom>
          <a:solidFill>
            <a:srgbClr val="F3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hield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5715000"/>
            <a:ext cx="256032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61288" y="5559552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风险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7168" y="5559552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平台调价、改规则直接影响报价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5559552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自主可控，模型可替换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7" y="5559552"/>
            <a:ext cx="27980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经营稳定，报价有底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6163056"/>
            <a:ext cx="1020470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rown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6318504"/>
            <a:ext cx="256032" cy="256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61288" y="6163056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竞争力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6163056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同平台谁都能做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6163056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业务系统 + 数据 + 平台一体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7" y="6163056"/>
            <a:ext cx="27980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形成壁垒，提高续约和客单价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怎么切过去：五步走，双轨运行、随时可退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不搞一刀切，用同一套测试题对比，达标才切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50</a:t>
            </a:r>
          </a:p>
        </p:txBody>
      </p:sp>
      <p:grpSp>
        <p:nvGrpSpPr>
          <p:cNvPr id="21600" name="素材 22"/>
          <p:cNvGrpSpPr/>
          <p:nvPr/>
        </p:nvGrpSpPr>
        <p:grpSpPr>
          <a:xfrm>
            <a:off x="777240" y="3154680"/>
            <a:ext cx="8503920" cy="2630754"/>
            <a:chOff x="897064" y="2795992"/>
            <a:chExt cx="8850635" cy="2738013"/>
          </a:xfrm>
        </p:grpSpPr>
        <p:sp>
          <p:nvSpPr>
            <p:cNvPr id="21601" name="Line 6"/>
            <p:cNvSpPr>
              <a:spLocks noChangeShapeType="1"/>
            </p:cNvSpPr>
            <p:nvPr/>
          </p:nvSpPr>
          <p:spPr bwMode="auto">
            <a:xfrm rot="18900000">
              <a:off x="7753569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776CF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2" name="Line 7"/>
            <p:cNvSpPr>
              <a:spLocks noChangeShapeType="1"/>
            </p:cNvSpPr>
            <p:nvPr/>
          </p:nvSpPr>
          <p:spPr bwMode="auto">
            <a:xfrm rot="18900000">
              <a:off x="6053708" y="3980542"/>
              <a:ext cx="216173" cy="218070"/>
            </a:xfrm>
            <a:prstGeom prst="line">
              <a:avLst/>
            </a:prstGeom>
            <a:noFill/>
            <a:ln w="34925" cap="rnd">
              <a:solidFill>
                <a:srgbClr val="5D95F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3" name="Line 8"/>
            <p:cNvSpPr>
              <a:spLocks noChangeShapeType="1"/>
            </p:cNvSpPr>
            <p:nvPr/>
          </p:nvSpPr>
          <p:spPr bwMode="auto">
            <a:xfrm rot="18900000">
              <a:off x="4371931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655BE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4" name="Line 9"/>
            <p:cNvSpPr>
              <a:spLocks noChangeShapeType="1"/>
            </p:cNvSpPr>
            <p:nvPr/>
          </p:nvSpPr>
          <p:spPr bwMode="auto">
            <a:xfrm rot="18900000">
              <a:off x="2640053" y="3982044"/>
              <a:ext cx="210485" cy="212381"/>
            </a:xfrm>
            <a:prstGeom prst="line">
              <a:avLst/>
            </a:prstGeom>
            <a:noFill/>
            <a:ln w="34925" cap="rnd">
              <a:solidFill>
                <a:srgbClr val="F08A3C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05" name="Freeform 10"/>
            <p:cNvSpPr/>
            <p:nvPr/>
          </p:nvSpPr>
          <p:spPr bwMode="auto">
            <a:xfrm rot="18900000">
              <a:off x="897064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F08A3C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grpSp>
          <p:nvGrpSpPr>
            <p:cNvPr id="21606" name="Group 54"/>
            <p:cNvGrpSpPr/>
            <p:nvPr/>
          </p:nvGrpSpPr>
          <p:grpSpPr>
            <a:xfrm>
              <a:off x="1495950" y="3573124"/>
              <a:ext cx="1027771" cy="1031563"/>
              <a:chOff x="2239027" y="3573124"/>
              <a:chExt cx="1027771" cy="1031563"/>
            </a:xfrm>
          </p:grpSpPr>
          <p:sp>
            <p:nvSpPr>
              <p:cNvPr id="21607" name="Freeform 11"/>
              <p:cNvSpPr/>
              <p:nvPr/>
            </p:nvSpPr>
            <p:spPr bwMode="auto">
              <a:xfrm rot="18900000">
                <a:off x="2239027" y="3573124"/>
                <a:ext cx="1027771" cy="1031563"/>
              </a:xfrm>
              <a:custGeom>
                <a:avLst/>
                <a:gdLst>
                  <a:gd name="T0" fmla="*/ 396 w 396"/>
                  <a:gd name="T1" fmla="*/ 198 h 396"/>
                  <a:gd name="T2" fmla="*/ 198 w 396"/>
                  <a:gd name="T3" fmla="*/ 396 h 396"/>
                  <a:gd name="T4" fmla="*/ 0 w 396"/>
                  <a:gd name="T5" fmla="*/ 198 h 396"/>
                  <a:gd name="T6" fmla="*/ 198 w 396"/>
                  <a:gd name="T7" fmla="*/ 0 h 396"/>
                  <a:gd name="T8" fmla="*/ 396 w 396"/>
                  <a:gd name="T9" fmla="*/ 198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6" h="396">
                    <a:moveTo>
                      <a:pt x="396" y="198"/>
                    </a:moveTo>
                    <a:cubicBezTo>
                      <a:pt x="396" y="307"/>
                      <a:pt x="307" y="396"/>
                      <a:pt x="198" y="396"/>
                    </a:cubicBezTo>
                    <a:cubicBezTo>
                      <a:pt x="89" y="396"/>
                      <a:pt x="0" y="307"/>
                      <a:pt x="0" y="198"/>
                    </a:cubicBezTo>
                    <a:cubicBezTo>
                      <a:pt x="0" y="88"/>
                      <a:pt x="89" y="0"/>
                      <a:pt x="198" y="0"/>
                    </a:cubicBezTo>
                    <a:cubicBezTo>
                      <a:pt x="308" y="0"/>
                      <a:pt x="396" y="89"/>
                      <a:pt x="396" y="198"/>
                    </a:cubicBez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08" name="Oval 12"/>
              <p:cNvSpPr>
                <a:spLocks noChangeArrowheads="1"/>
              </p:cNvSpPr>
              <p:nvPr/>
            </p:nvSpPr>
            <p:spPr bwMode="auto">
              <a:xfrm rot="18900000">
                <a:off x="2338580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09" name="Group 55"/>
            <p:cNvGrpSpPr/>
            <p:nvPr/>
          </p:nvGrpSpPr>
          <p:grpSpPr>
            <a:xfrm>
              <a:off x="3202189" y="3574743"/>
              <a:ext cx="1027771" cy="1029667"/>
              <a:chOff x="3945266" y="3574743"/>
              <a:chExt cx="1027771" cy="1029667"/>
            </a:xfrm>
          </p:grpSpPr>
          <p:sp>
            <p:nvSpPr>
              <p:cNvPr id="21610" name="Oval 18"/>
              <p:cNvSpPr>
                <a:spLocks noChangeArrowheads="1"/>
              </p:cNvSpPr>
              <p:nvPr/>
            </p:nvSpPr>
            <p:spPr bwMode="auto">
              <a:xfrm rot="18900000">
                <a:off x="3945266" y="3574743"/>
                <a:ext cx="1027771" cy="1029667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611" name="Freeform 21"/>
              <p:cNvSpPr/>
              <p:nvPr/>
            </p:nvSpPr>
            <p:spPr bwMode="auto">
              <a:xfrm rot="18900000">
                <a:off x="4042808" y="3674574"/>
                <a:ext cx="828665" cy="828664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12" name="Group 56"/>
            <p:cNvGrpSpPr/>
            <p:nvPr/>
          </p:nvGrpSpPr>
          <p:grpSpPr>
            <a:xfrm>
              <a:off x="4903458" y="3575413"/>
              <a:ext cx="1029668" cy="1029667"/>
              <a:chOff x="5646535" y="3575413"/>
              <a:chExt cx="1029668" cy="1029667"/>
            </a:xfrm>
          </p:grpSpPr>
          <p:sp>
            <p:nvSpPr>
              <p:cNvPr id="21613" name="Oval 14"/>
              <p:cNvSpPr>
                <a:spLocks noChangeArrowheads="1"/>
              </p:cNvSpPr>
              <p:nvPr/>
            </p:nvSpPr>
            <p:spPr bwMode="auto">
              <a:xfrm rot="18900000">
                <a:off x="5646535" y="3575413"/>
                <a:ext cx="1029668" cy="1029667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4" name="Freeform 22"/>
              <p:cNvSpPr/>
              <p:nvPr/>
            </p:nvSpPr>
            <p:spPr bwMode="auto">
              <a:xfrm rot="18900000">
                <a:off x="5749047" y="3674295"/>
                <a:ext cx="828665" cy="830560"/>
              </a:xfrm>
              <a:custGeom>
                <a:avLst/>
                <a:gdLst>
                  <a:gd name="T0" fmla="*/ 319 w 319"/>
                  <a:gd name="T1" fmla="*/ 159 h 319"/>
                  <a:gd name="T2" fmla="*/ 159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59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59"/>
                    </a:moveTo>
                    <a:cubicBezTo>
                      <a:pt x="319" y="247"/>
                      <a:pt x="248" y="319"/>
                      <a:pt x="159" y="319"/>
                    </a:cubicBezTo>
                    <a:cubicBezTo>
                      <a:pt x="71" y="319"/>
                      <a:pt x="0" y="247"/>
                      <a:pt x="0" y="159"/>
                    </a:cubicBezTo>
                    <a:cubicBezTo>
                      <a:pt x="0" y="71"/>
                      <a:pt x="71" y="0"/>
                      <a:pt x="160" y="0"/>
                    </a:cubicBezTo>
                    <a:cubicBezTo>
                      <a:pt x="248" y="0"/>
                      <a:pt x="319" y="71"/>
                      <a:pt x="319" y="1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15" name="Group 57"/>
            <p:cNvGrpSpPr/>
            <p:nvPr/>
          </p:nvGrpSpPr>
          <p:grpSpPr>
            <a:xfrm>
              <a:off x="6609026" y="3575413"/>
              <a:ext cx="1029668" cy="1029667"/>
              <a:chOff x="7352103" y="3575413"/>
              <a:chExt cx="1029668" cy="1029667"/>
            </a:xfrm>
          </p:grpSpPr>
          <p:sp>
            <p:nvSpPr>
              <p:cNvPr id="21616" name="Oval 20"/>
              <p:cNvSpPr>
                <a:spLocks noChangeArrowheads="1"/>
              </p:cNvSpPr>
              <p:nvPr/>
            </p:nvSpPr>
            <p:spPr bwMode="auto">
              <a:xfrm rot="18900000">
                <a:off x="7352103" y="3575413"/>
                <a:ext cx="1029668" cy="1029667"/>
              </a:xfrm>
              <a:prstGeom prst="ellipse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7" name="Oval 23"/>
              <p:cNvSpPr>
                <a:spLocks noChangeArrowheads="1"/>
              </p:cNvSpPr>
              <p:nvPr/>
            </p:nvSpPr>
            <p:spPr bwMode="auto">
              <a:xfrm rot="18900000">
                <a:off x="7452604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18" name="Group 58"/>
            <p:cNvGrpSpPr/>
            <p:nvPr/>
          </p:nvGrpSpPr>
          <p:grpSpPr>
            <a:xfrm>
              <a:off x="8313254" y="3576755"/>
              <a:ext cx="1029668" cy="1029667"/>
              <a:chOff x="9056331" y="3576755"/>
              <a:chExt cx="1029668" cy="1029667"/>
            </a:xfrm>
          </p:grpSpPr>
          <p:sp>
            <p:nvSpPr>
              <p:cNvPr id="21619" name="Oval 16"/>
              <p:cNvSpPr>
                <a:spLocks noChangeArrowheads="1"/>
              </p:cNvSpPr>
              <p:nvPr/>
            </p:nvSpPr>
            <p:spPr bwMode="auto">
              <a:xfrm rot="18900000">
                <a:off x="9056331" y="3576755"/>
                <a:ext cx="1029668" cy="1029667"/>
              </a:xfrm>
              <a:prstGeom prst="ellipse">
                <a:avLst/>
              </a:pr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620" name="Freeform 24"/>
              <p:cNvSpPr/>
              <p:nvPr/>
            </p:nvSpPr>
            <p:spPr bwMode="auto">
              <a:xfrm rot="18900000">
                <a:off x="9155885" y="3674967"/>
                <a:ext cx="830560" cy="830560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sp>
          <p:nvSpPr>
            <p:cNvPr id="21621" name="Freeform 15"/>
            <p:cNvSpPr/>
            <p:nvPr/>
          </p:nvSpPr>
          <p:spPr bwMode="auto">
            <a:xfrm rot="2700000" flipV="1">
              <a:off x="2538944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655BE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22" name="Freeform 15"/>
            <p:cNvSpPr/>
            <p:nvPr/>
          </p:nvSpPr>
          <p:spPr bwMode="auto">
            <a:xfrm rot="2700000" flipV="1">
              <a:off x="5951422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776CF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23" name="Freeform 10"/>
            <p:cNvSpPr/>
            <p:nvPr/>
          </p:nvSpPr>
          <p:spPr bwMode="auto">
            <a:xfrm rot="18900000">
              <a:off x="4326021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5D95F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24" name="Freeform 10"/>
            <p:cNvSpPr/>
            <p:nvPr/>
          </p:nvSpPr>
          <p:spPr bwMode="auto">
            <a:xfrm rot="18900000">
              <a:off x="7720600" y="2795993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6C95FD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625" name="Picture 21624" descr="rock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592" y="4171259"/>
            <a:ext cx="457200" cy="457200"/>
          </a:xfrm>
          <a:prstGeom prst="rect">
            <a:avLst/>
          </a:prstGeom>
        </p:spPr>
      </p:pic>
      <p:sp>
        <p:nvSpPr>
          <p:cNvPr id="21626" name="TextBox 21625"/>
          <p:cNvSpPr txBox="1"/>
          <p:nvPr/>
        </p:nvSpPr>
        <p:spPr>
          <a:xfrm>
            <a:off x="1971193" y="2752524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01  核心先上</a:t>
            </a:r>
          </a:p>
        </p:txBody>
      </p:sp>
      <p:sp>
        <p:nvSpPr>
          <p:cNvPr id="21627" name="TextBox 21626"/>
          <p:cNvSpPr txBox="1"/>
          <p:nvPr/>
        </p:nvSpPr>
        <p:spPr>
          <a:xfrm>
            <a:off x="1971193" y="30817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6478"/>
                </a:solidFill>
              </a:rPr>
              <a:t>核心模块、主力智能体先上</a:t>
            </a:r>
          </a:p>
        </p:txBody>
      </p:sp>
      <p:pic>
        <p:nvPicPr>
          <p:cNvPr id="21628" name="Picture 21627" descr="scal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748" y="4171259"/>
            <a:ext cx="457200" cy="457200"/>
          </a:xfrm>
          <a:prstGeom prst="rect">
            <a:avLst/>
          </a:prstGeom>
        </p:spPr>
      </p:pic>
      <p:sp>
        <p:nvSpPr>
          <p:cNvPr id="21629" name="TextBox 21628"/>
          <p:cNvSpPr txBox="1"/>
          <p:nvPr/>
        </p:nvSpPr>
        <p:spPr>
          <a:xfrm>
            <a:off x="3605349" y="538826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02  对比验证</a:t>
            </a:r>
          </a:p>
        </p:txBody>
      </p:sp>
      <p:sp>
        <p:nvSpPr>
          <p:cNvPr id="21630" name="TextBox 21629"/>
          <p:cNvSpPr txBox="1"/>
          <p:nvPr/>
        </p:nvSpPr>
        <p:spPr>
          <a:xfrm>
            <a:off x="3605349" y="571744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6478"/>
                </a:solidFill>
              </a:rPr>
              <a:t>同一套测试题，不低于成熟平台才切</a:t>
            </a:r>
          </a:p>
        </p:txBody>
      </p:sp>
      <p:pic>
        <p:nvPicPr>
          <p:cNvPr id="21631" name="Picture 21630" descr="user-plus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299" y="4171259"/>
            <a:ext cx="457200" cy="457200"/>
          </a:xfrm>
          <a:prstGeom prst="rect">
            <a:avLst/>
          </a:prstGeom>
        </p:spPr>
      </p:pic>
      <p:sp>
        <p:nvSpPr>
          <p:cNvPr id="21632" name="TextBox 21631"/>
          <p:cNvSpPr txBox="1"/>
          <p:nvPr/>
        </p:nvSpPr>
        <p:spPr>
          <a:xfrm>
            <a:off x="5243900" y="2752524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03  新增先上</a:t>
            </a:r>
          </a:p>
        </p:txBody>
      </p:sp>
      <p:sp>
        <p:nvSpPr>
          <p:cNvPr id="21633" name="TextBox 21632"/>
          <p:cNvSpPr txBox="1"/>
          <p:nvPr/>
        </p:nvSpPr>
        <p:spPr>
          <a:xfrm>
            <a:off x="5243900" y="30817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6478"/>
                </a:solidFill>
              </a:rPr>
              <a:t>新签景区直接上自建平台</a:t>
            </a:r>
          </a:p>
        </p:txBody>
      </p:sp>
      <p:pic>
        <p:nvPicPr>
          <p:cNvPr id="21634" name="Picture 21633" descr="repeat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5243" y="4171259"/>
            <a:ext cx="457200" cy="457200"/>
          </a:xfrm>
          <a:prstGeom prst="rect">
            <a:avLst/>
          </a:prstGeom>
        </p:spPr>
      </p:pic>
      <p:sp>
        <p:nvSpPr>
          <p:cNvPr id="21635" name="TextBox 21634"/>
          <p:cNvSpPr txBox="1"/>
          <p:nvPr/>
        </p:nvSpPr>
        <p:spPr>
          <a:xfrm>
            <a:off x="6886844" y="538826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04  存量随续约迁移</a:t>
            </a:r>
          </a:p>
        </p:txBody>
      </p:sp>
      <p:sp>
        <p:nvSpPr>
          <p:cNvPr id="21636" name="TextBox 21635"/>
          <p:cNvSpPr txBox="1"/>
          <p:nvPr/>
        </p:nvSpPr>
        <p:spPr>
          <a:xfrm>
            <a:off x="6886844" y="571744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6478"/>
                </a:solidFill>
              </a:rPr>
              <a:t>双轨运行、逐个迁移、可回退</a:t>
            </a:r>
          </a:p>
        </p:txBody>
      </p:sp>
      <p:pic>
        <p:nvPicPr>
          <p:cNvPr id="21637" name="Picture 21636" descr="layers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9400" y="4171259"/>
            <a:ext cx="457200" cy="457200"/>
          </a:xfrm>
          <a:prstGeom prst="rect">
            <a:avLst/>
          </a:prstGeom>
        </p:spPr>
      </p:pic>
      <p:sp>
        <p:nvSpPr>
          <p:cNvPr id="21638" name="TextBox 21637"/>
          <p:cNvSpPr txBox="1"/>
          <p:nvPr/>
        </p:nvSpPr>
        <p:spPr>
          <a:xfrm>
            <a:off x="8521001" y="2752524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05  成熟平台转补充</a:t>
            </a:r>
          </a:p>
        </p:txBody>
      </p:sp>
      <p:sp>
        <p:nvSpPr>
          <p:cNvPr id="21639" name="TextBox 21638"/>
          <p:cNvSpPr txBox="1"/>
          <p:nvPr/>
        </p:nvSpPr>
        <p:spPr>
          <a:xfrm>
            <a:off x="8521001" y="30817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6478"/>
                </a:solidFill>
              </a:rPr>
              <a:t>外部平台变成补充能力</a:t>
            </a:r>
          </a:p>
        </p:txBody>
      </p:sp>
      <p:sp>
        <p:nvSpPr>
          <p:cNvPr id="21640" name="Rounded Rectangle 21639"/>
          <p:cNvSpPr/>
          <p:nvPr/>
        </p:nvSpPr>
        <p:spPr>
          <a:xfrm>
            <a:off x="658368" y="640080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41" name="Picture 21640" descr="shield-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6515100"/>
            <a:ext cx="274320" cy="274320"/>
          </a:xfrm>
          <a:prstGeom prst="rect">
            <a:avLst/>
          </a:prstGeom>
        </p:spPr>
      </p:pic>
      <p:sp>
        <p:nvSpPr>
          <p:cNvPr id="21642" name="TextBox 21641"/>
          <p:cNvSpPr txBox="1"/>
          <p:nvPr/>
        </p:nvSpPr>
        <p:spPr>
          <a:xfrm>
            <a:off x="1252728" y="640080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原则　</a:t>
            </a:r>
            <a:r>
              <a:rPr sz="1300" b="0">
                <a:solidFill>
                  <a:srgbClr val="FFFFFF"/>
                </a:solidFill>
              </a:rPr>
              <a:t>每一步都可以回退；客户无感知迁移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风险怎么控，底线怎么守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自建有风险，提前想好应对；智能体有底线，从第一天就守住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47188"/>
            <a:ext cx="4965192" cy="4069080"/>
          </a:xfrm>
          <a:prstGeom prst="roundRect">
            <a:avLst>
              <a:gd name="adj" fmla="val 3146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angle-alert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793492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98448" y="2756916"/>
            <a:ext cx="423367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四个风险，四个应对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7" y="3360420"/>
            <a:ext cx="4599431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15284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投入超预期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726180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→ 小团队先做核心模块，跟着迁移进度分批投入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4183380"/>
            <a:ext cx="4599431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38243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效果不如成熟平台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549140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→ 迁移前用同一套测试题对比，达标才切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7" y="5006340"/>
            <a:ext cx="4599431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061204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迁移影响客户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5372100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→ 双轨运行、逐个迁移、可回退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7" y="5829300"/>
            <a:ext cx="4599431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884163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团队能力不足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6195060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2B2F42"/>
                </a:solidFill>
              </a:rPr>
              <a:t>→ 前两步就培养自己的 AI 应用团队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79" y="2647188"/>
            <a:ext cx="4965192" cy="4069080"/>
          </a:xfrm>
          <a:prstGeom prst="roundRect">
            <a:avLst>
              <a:gd name="adj" fmla="val 314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ield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793492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37959" y="2756916"/>
            <a:ext cx="423367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四条底线，贯穿始终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59" y="3360420"/>
            <a:ext cx="4599431" cy="713232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415284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只用授权数据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726180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EEEDFF"/>
                </a:solidFill>
              </a:rPr>
              <a:t>数据按景区隔离，景区只看本景区数据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59" y="4183380"/>
            <a:ext cx="4599431" cy="713232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238243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关键动作人工确认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549140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EEEDFF"/>
                </a:solidFill>
              </a:rPr>
              <a:t>退款、调度等处置要人点确认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59" y="5006340"/>
            <a:ext cx="4599431" cy="713232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5061204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不碰敏感信息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372100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EEEDFF"/>
                </a:solidFill>
              </a:rPr>
              <a:t>手机号、证件号不进对话和知识库，展示打码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59" y="5829300"/>
            <a:ext cx="4599431" cy="713232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884163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不乱承诺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6195060"/>
            <a:ext cx="4325112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EEEDFF"/>
                </a:solidFill>
              </a:rPr>
              <a:t>价格、退改以系统为准，答不了就转人工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AI＋数据平台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数据在公司里转起来，越用越准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2057400"/>
          </a:xfrm>
          <a:prstGeom prst="roundRect">
            <a:avLst>
              <a:gd name="adj" fmla="val 6666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这一部分讲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数据怎么流转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五个环节的闭环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一张门票的例子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数据在公司里怎么转起来：产数 → 治数 → 办事 → 用数，再回流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AI＋数据平台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数据平台让数据可信，智能体让数据办事；两者接上，形成一条完整的数据链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AI＋数据平台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78024"/>
            <a:ext cx="1417320" cy="713232"/>
          </a:xfrm>
          <a:prstGeom prst="roundRect">
            <a:avLst>
              <a:gd name="adj" fmla="val 1282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用数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EEEDFF"/>
                </a:solidFill>
              </a:rPr>
              <a:t>游客 · 景区 · 内部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5416" y="2478024"/>
            <a:ext cx="2206752" cy="713232"/>
          </a:xfrm>
          <a:prstGeom prst="roundRect">
            <a:avLst>
              <a:gd name="adj" fmla="val 1282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游客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小程序 · 公众号 · 终端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5320" y="2478024"/>
            <a:ext cx="2206752" cy="713232"/>
          </a:xfrm>
          <a:prstGeom prst="roundRect">
            <a:avLst>
              <a:gd name="adj" fmla="val 1282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景区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景数通 · APP · SaaS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45224" y="2478024"/>
            <a:ext cx="2206752" cy="713232"/>
          </a:xfrm>
          <a:prstGeom prst="roundRect">
            <a:avLst>
              <a:gd name="adj" fmla="val 1282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内部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管理层 · 业务线 · 小Q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5416" y="3191256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50" b="0">
                <a:solidFill>
                  <a:srgbClr val="776CFD"/>
                </a:solidFill>
              </a:rPr>
              <a:t>▲ </a:t>
            </a:r>
            <a:r>
              <a:rPr sz="1150" b="1">
                <a:solidFill>
                  <a:srgbClr val="776CFD"/>
                </a:solidFill>
              </a:rPr>
              <a:t>③ 服务：智能体办事，报表和接口直接用数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02152"/>
            <a:ext cx="1417320" cy="713232"/>
          </a:xfrm>
          <a:prstGeom prst="roundRect">
            <a:avLst>
              <a:gd name="adj" fmla="val 1282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办事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EEEDFF"/>
                </a:solidFill>
              </a:rPr>
              <a:t>智能体 · 报表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85416" y="3502152"/>
            <a:ext cx="2206752" cy="713232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游客端智能体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客服 · 导览 · 伴游 · 旅拍 · 购票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5320" y="3502152"/>
            <a:ext cx="2206752" cy="713232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景区端智能体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问数 · 洞察 · 对账 · 预警 · 调度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5224" y="3502152"/>
            <a:ext cx="2206752" cy="713232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报表与接口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FFFFFF"/>
                </a:solidFill>
              </a:rPr>
              <a:t>直接用数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421538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50" b="0">
                <a:solidFill>
                  <a:srgbClr val="776CFD"/>
                </a:solidFill>
              </a:rPr>
              <a:t>▲ </a:t>
            </a:r>
            <a:r>
              <a:rPr sz="1150" b="1">
                <a:solidFill>
                  <a:srgbClr val="776CFD"/>
                </a:solidFill>
              </a:rPr>
              <a:t>② 供给：认证指标 · 统一标签 · 景区知识 · 数据服务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26280"/>
            <a:ext cx="1417320" cy="713232"/>
          </a:xfrm>
          <a:prstGeom prst="roundRect">
            <a:avLst>
              <a:gd name="adj" fmla="val 1282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治数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EEEDFF"/>
                </a:solidFill>
              </a:rPr>
              <a:t>数据平台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85416" y="4526280"/>
            <a:ext cx="1636776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统一接入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55BE6"/>
                </a:solidFill>
              </a:rPr>
              <a:t>离线 + 实时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95344" y="4526280"/>
            <a:ext cx="1636776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湖仓公共模型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55BE6"/>
                </a:solidFill>
              </a:rPr>
              <a:t>原料 → 成品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5272" y="4526280"/>
            <a:ext cx="1636776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指标 · 标签 · 知识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55BE6"/>
                </a:solidFill>
              </a:rPr>
              <a:t>认证口径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526280"/>
            <a:ext cx="1636776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数据服务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55BE6"/>
                </a:solidFill>
              </a:rPr>
              <a:t>开放 API · 小Q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5416" y="5239512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50" b="0">
                <a:solidFill>
                  <a:srgbClr val="776CFD"/>
                </a:solidFill>
              </a:rPr>
              <a:t>▲ </a:t>
            </a:r>
            <a:r>
              <a:rPr sz="1150" b="1">
                <a:solidFill>
                  <a:srgbClr val="776CFD"/>
                </a:solidFill>
              </a:rPr>
              <a:t>① 生产入湖：交易 · 核销 · 客流 · 设备 · 会员 · 财务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0408"/>
            <a:ext cx="1417320" cy="713232"/>
          </a:xfrm>
          <a:prstGeom prst="roundRect">
            <a:avLst>
              <a:gd name="adj" fmla="val 1282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产数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EEEDFF"/>
                </a:solidFill>
              </a:rPr>
              <a:t>业务系统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85416" y="5550408"/>
            <a:ext cx="781812" cy="713232"/>
          </a:xfrm>
          <a:prstGeom prst="roundRect">
            <a:avLst>
              <a:gd name="adj" fmla="val 1282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2B2F42"/>
                </a:solidFill>
              </a:rPr>
              <a:t>票务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40380" y="5550408"/>
            <a:ext cx="781812" cy="713232"/>
          </a:xfrm>
          <a:prstGeom prst="roundRect">
            <a:avLst>
              <a:gd name="adj" fmla="val 1282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2B2F42"/>
                </a:solidFill>
              </a:rPr>
              <a:t>九大业态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95344" y="5550408"/>
            <a:ext cx="781812" cy="713232"/>
          </a:xfrm>
          <a:prstGeom prst="roundRect">
            <a:avLst>
              <a:gd name="adj" fmla="val 1282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2B2F42"/>
                </a:solidFill>
              </a:rPr>
              <a:t>运营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0308" y="5550408"/>
            <a:ext cx="781812" cy="713232"/>
          </a:xfrm>
          <a:prstGeom prst="roundRect">
            <a:avLst>
              <a:gd name="adj" fmla="val 1282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2B2F42"/>
                </a:solidFill>
              </a:rPr>
              <a:t>财务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5272" y="5550408"/>
            <a:ext cx="781812" cy="713232"/>
          </a:xfrm>
          <a:prstGeom prst="roundRect">
            <a:avLst>
              <a:gd name="adj" fmla="val 1282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2B2F42"/>
                </a:solidFill>
              </a:rPr>
              <a:t>终端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0236" y="5550408"/>
            <a:ext cx="781812" cy="713232"/>
          </a:xfrm>
          <a:prstGeom prst="roundRect">
            <a:avLst>
              <a:gd name="adj" fmla="val 1282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2B2F42"/>
                </a:solidFill>
              </a:rPr>
              <a:t>畅游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550408"/>
            <a:ext cx="781812" cy="713232"/>
          </a:xfrm>
          <a:prstGeom prst="roundRect">
            <a:avLst>
              <a:gd name="adj" fmla="val 1282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2B2F42"/>
                </a:solidFill>
              </a:rPr>
              <a:t>会员营销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0164" y="5550408"/>
            <a:ext cx="781812" cy="713232"/>
          </a:xfrm>
          <a:prstGeom prst="roundRect">
            <a:avLst>
              <a:gd name="adj" fmla="val 1282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2B2F42"/>
                </a:solidFill>
              </a:rPr>
              <a:t>数字大脑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34856" y="2478024"/>
            <a:ext cx="1728216" cy="3785616"/>
          </a:xfrm>
          <a:prstGeom prst="roundRect">
            <a:avLst>
              <a:gd name="adj" fmla="val 7407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2587752"/>
            <a:ext cx="145389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4551A"/>
                </a:solidFill>
              </a:rPr>
              <a:t>④ 回流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2980944"/>
            <a:ext cx="145389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2B2F42"/>
                </a:solidFill>
              </a:rPr>
              <a:t>问答记录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2B2F42"/>
                </a:solidFill>
              </a:rPr>
              <a:t>游客评价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2B2F42"/>
                </a:solidFill>
              </a:rPr>
              <a:t>转人工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2B2F42"/>
                </a:solidFill>
              </a:rPr>
              <a:t>预警与工单结果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2B2F42"/>
                </a:solidFill>
              </a:rPr>
              <a:t>使用行为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9880092" y="4398264"/>
            <a:ext cx="237744" cy="329184"/>
          </a:xfrm>
          <a:prstGeom prst="down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2016" y="4809744"/>
            <a:ext cx="145389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4551A"/>
                </a:solidFill>
              </a:rPr>
              <a:t>⑤ 反哺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2016" y="5202936"/>
            <a:ext cx="1453896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调定价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做营销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优化调度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6428232"/>
            <a:ext cx="1020470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hield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519672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52728" y="6428232"/>
            <a:ext cx="94274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底座　</a:t>
            </a:r>
            <a:r>
              <a:rPr sz="1200" b="0">
                <a:solidFill>
                  <a:srgbClr val="2B2F42"/>
                </a:solidFill>
              </a:rPr>
              <a:t>DataWorks · 数据地图 · 资产治理，治理贯穿全程；智能体前期借平台，后期自建管理台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五个环节转成一个圈：每转一圈，数据更全、更准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AI＋数据平台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AI＋数据平台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54</a:t>
            </a:r>
          </a:p>
        </p:txBody>
      </p:sp>
      <p:grpSp>
        <p:nvGrpSpPr>
          <p:cNvPr id="21400" name="素材 30"/>
          <p:cNvGrpSpPr/>
          <p:nvPr/>
        </p:nvGrpSpPr>
        <p:grpSpPr>
          <a:xfrm>
            <a:off x="658368" y="3105868"/>
            <a:ext cx="7863840" cy="2896787"/>
            <a:chOff x="991320" y="2358345"/>
            <a:chExt cx="9455150" cy="3482975"/>
          </a:xfrm>
        </p:grpSpPr>
        <p:sp>
          <p:nvSpPr>
            <p:cNvPr id="21401" name="Freeform 6"/>
            <p:cNvSpPr>
              <a:spLocks noEditPoints="1"/>
            </p:cNvSpPr>
            <p:nvPr/>
          </p:nvSpPr>
          <p:spPr bwMode="auto">
            <a:xfrm>
              <a:off x="1397720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3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10" y="490"/>
                    <a:pt x="0" y="380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8" y="87"/>
                    <a:pt x="87" y="158"/>
                    <a:pt x="87" y="245"/>
                  </a:cubicBezTo>
                  <a:cubicBezTo>
                    <a:pt x="87" y="332"/>
                    <a:pt x="158" y="403"/>
                    <a:pt x="245" y="403"/>
                  </a:cubicBezTo>
                  <a:cubicBezTo>
                    <a:pt x="332" y="403"/>
                    <a:pt x="403" y="332"/>
                    <a:pt x="403" y="245"/>
                  </a:cubicBezTo>
                  <a:cubicBezTo>
                    <a:pt x="403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2" name="Freeform 7"/>
            <p:cNvSpPr>
              <a:spLocks noEditPoints="1"/>
            </p:cNvSpPr>
            <p:nvPr/>
          </p:nvSpPr>
          <p:spPr bwMode="auto">
            <a:xfrm>
              <a:off x="3169370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3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10" y="490"/>
                    <a:pt x="0" y="380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8" y="87"/>
                    <a:pt x="87" y="158"/>
                    <a:pt x="87" y="245"/>
                  </a:cubicBezTo>
                  <a:cubicBezTo>
                    <a:pt x="87" y="332"/>
                    <a:pt x="158" y="403"/>
                    <a:pt x="245" y="403"/>
                  </a:cubicBezTo>
                  <a:cubicBezTo>
                    <a:pt x="332" y="403"/>
                    <a:pt x="403" y="332"/>
                    <a:pt x="403" y="245"/>
                  </a:cubicBezTo>
                  <a:cubicBezTo>
                    <a:pt x="403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5D95F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3" name="Freeform 8"/>
            <p:cNvSpPr>
              <a:spLocks noEditPoints="1"/>
            </p:cNvSpPr>
            <p:nvPr/>
          </p:nvSpPr>
          <p:spPr bwMode="auto">
            <a:xfrm>
              <a:off x="4942607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2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7" y="87"/>
                    <a:pt x="87" y="158"/>
                    <a:pt x="87" y="245"/>
                  </a:cubicBezTo>
                  <a:cubicBezTo>
                    <a:pt x="87" y="332"/>
                    <a:pt x="157" y="403"/>
                    <a:pt x="245" y="403"/>
                  </a:cubicBezTo>
                  <a:cubicBezTo>
                    <a:pt x="332" y="403"/>
                    <a:pt x="402" y="332"/>
                    <a:pt x="402" y="245"/>
                  </a:cubicBezTo>
                  <a:cubicBezTo>
                    <a:pt x="402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04" name="Freeform 9"/>
            <p:cNvSpPr>
              <a:spLocks noEditPoints="1"/>
            </p:cNvSpPr>
            <p:nvPr/>
          </p:nvSpPr>
          <p:spPr bwMode="auto">
            <a:xfrm>
              <a:off x="6714257" y="3328308"/>
              <a:ext cx="1547813" cy="1555750"/>
            </a:xfrm>
            <a:custGeom>
              <a:avLst/>
              <a:gdLst>
                <a:gd name="T0" fmla="*/ 244 w 489"/>
                <a:gd name="T1" fmla="*/ 0 h 490"/>
                <a:gd name="T2" fmla="*/ 489 w 489"/>
                <a:gd name="T3" fmla="*/ 245 h 490"/>
                <a:gd name="T4" fmla="*/ 244 w 489"/>
                <a:gd name="T5" fmla="*/ 490 h 490"/>
                <a:gd name="T6" fmla="*/ 0 w 489"/>
                <a:gd name="T7" fmla="*/ 245 h 490"/>
                <a:gd name="T8" fmla="*/ 244 w 489"/>
                <a:gd name="T9" fmla="*/ 0 h 490"/>
                <a:gd name="T10" fmla="*/ 244 w 489"/>
                <a:gd name="T11" fmla="*/ 87 h 490"/>
                <a:gd name="T12" fmla="*/ 87 w 489"/>
                <a:gd name="T13" fmla="*/ 245 h 490"/>
                <a:gd name="T14" fmla="*/ 244 w 489"/>
                <a:gd name="T15" fmla="*/ 403 h 490"/>
                <a:gd name="T16" fmla="*/ 402 w 489"/>
                <a:gd name="T17" fmla="*/ 245 h 490"/>
                <a:gd name="T18" fmla="*/ 244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4" y="0"/>
                  </a:moveTo>
                  <a:cubicBezTo>
                    <a:pt x="379" y="0"/>
                    <a:pt x="489" y="110"/>
                    <a:pt x="489" y="245"/>
                  </a:cubicBezTo>
                  <a:cubicBezTo>
                    <a:pt x="489" y="380"/>
                    <a:pt x="379" y="490"/>
                    <a:pt x="244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4" y="0"/>
                  </a:cubicBezTo>
                  <a:close/>
                  <a:moveTo>
                    <a:pt x="244" y="87"/>
                  </a:moveTo>
                  <a:cubicBezTo>
                    <a:pt x="157" y="87"/>
                    <a:pt x="87" y="158"/>
                    <a:pt x="87" y="245"/>
                  </a:cubicBezTo>
                  <a:cubicBezTo>
                    <a:pt x="87" y="332"/>
                    <a:pt x="157" y="403"/>
                    <a:pt x="244" y="403"/>
                  </a:cubicBezTo>
                  <a:cubicBezTo>
                    <a:pt x="332" y="403"/>
                    <a:pt x="402" y="332"/>
                    <a:pt x="402" y="245"/>
                  </a:cubicBezTo>
                  <a:cubicBezTo>
                    <a:pt x="402" y="158"/>
                    <a:pt x="332" y="87"/>
                    <a:pt x="244" y="87"/>
                  </a:cubicBez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5" name="Freeform 10"/>
            <p:cNvSpPr>
              <a:spLocks noEditPoints="1"/>
            </p:cNvSpPr>
            <p:nvPr/>
          </p:nvSpPr>
          <p:spPr bwMode="auto">
            <a:xfrm>
              <a:off x="8487495" y="3328308"/>
              <a:ext cx="1547813" cy="1555750"/>
            </a:xfrm>
            <a:custGeom>
              <a:avLst/>
              <a:gdLst>
                <a:gd name="T0" fmla="*/ 244 w 489"/>
                <a:gd name="T1" fmla="*/ 0 h 490"/>
                <a:gd name="T2" fmla="*/ 489 w 489"/>
                <a:gd name="T3" fmla="*/ 245 h 490"/>
                <a:gd name="T4" fmla="*/ 244 w 489"/>
                <a:gd name="T5" fmla="*/ 490 h 490"/>
                <a:gd name="T6" fmla="*/ 0 w 489"/>
                <a:gd name="T7" fmla="*/ 245 h 490"/>
                <a:gd name="T8" fmla="*/ 244 w 489"/>
                <a:gd name="T9" fmla="*/ 0 h 490"/>
                <a:gd name="T10" fmla="*/ 244 w 489"/>
                <a:gd name="T11" fmla="*/ 87 h 490"/>
                <a:gd name="T12" fmla="*/ 86 w 489"/>
                <a:gd name="T13" fmla="*/ 245 h 490"/>
                <a:gd name="T14" fmla="*/ 244 w 489"/>
                <a:gd name="T15" fmla="*/ 403 h 490"/>
                <a:gd name="T16" fmla="*/ 402 w 489"/>
                <a:gd name="T17" fmla="*/ 245 h 490"/>
                <a:gd name="T18" fmla="*/ 244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4" y="0"/>
                  </a:moveTo>
                  <a:cubicBezTo>
                    <a:pt x="379" y="0"/>
                    <a:pt x="489" y="110"/>
                    <a:pt x="489" y="245"/>
                  </a:cubicBezTo>
                  <a:cubicBezTo>
                    <a:pt x="489" y="380"/>
                    <a:pt x="379" y="490"/>
                    <a:pt x="244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4" y="0"/>
                  </a:cubicBezTo>
                  <a:close/>
                  <a:moveTo>
                    <a:pt x="244" y="87"/>
                  </a:moveTo>
                  <a:cubicBezTo>
                    <a:pt x="157" y="87"/>
                    <a:pt x="86" y="158"/>
                    <a:pt x="86" y="245"/>
                  </a:cubicBezTo>
                  <a:cubicBezTo>
                    <a:pt x="86" y="332"/>
                    <a:pt x="157" y="403"/>
                    <a:pt x="244" y="403"/>
                  </a:cubicBezTo>
                  <a:cubicBezTo>
                    <a:pt x="331" y="403"/>
                    <a:pt x="402" y="332"/>
                    <a:pt x="402" y="245"/>
                  </a:cubicBezTo>
                  <a:cubicBezTo>
                    <a:pt x="402" y="158"/>
                    <a:pt x="331" y="87"/>
                    <a:pt x="244" y="87"/>
                  </a:cubicBezTo>
                  <a:close/>
                </a:path>
              </a:pathLst>
            </a:custGeom>
            <a:solidFill>
              <a:srgbClr val="6C95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406" name="Group 3"/>
            <p:cNvGrpSpPr/>
            <p:nvPr/>
          </p:nvGrpSpPr>
          <p:grpSpPr>
            <a:xfrm>
              <a:off x="991320" y="4633233"/>
              <a:ext cx="2355850" cy="1208087"/>
              <a:chOff x="1370013" y="4633233"/>
              <a:chExt cx="2355850" cy="1208087"/>
            </a:xfrm>
          </p:grpSpPr>
          <p:sp>
            <p:nvSpPr>
              <p:cNvPr id="21407" name="Freeform 11"/>
              <p:cNvSpPr/>
              <p:nvPr/>
            </p:nvSpPr>
            <p:spPr bwMode="auto">
              <a:xfrm>
                <a:off x="1370013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4 w 744"/>
                  <a:gd name="T3" fmla="*/ 27 h 316"/>
                  <a:gd name="T4" fmla="*/ 11 w 744"/>
                  <a:gd name="T5" fmla="*/ 25 h 316"/>
                  <a:gd name="T6" fmla="*/ 0 w 744"/>
                  <a:gd name="T7" fmla="*/ 31 h 316"/>
                  <a:gd name="T8" fmla="*/ 1 w 744"/>
                  <a:gd name="T9" fmla="*/ 0 h 316"/>
                  <a:gd name="T10" fmla="*/ 27 w 744"/>
                  <a:gd name="T11" fmla="*/ 17 h 316"/>
                  <a:gd name="T12" fmla="*/ 16 w 744"/>
                  <a:gd name="T13" fmla="*/ 23 h 316"/>
                  <a:gd name="T14" fmla="*/ 729 w 744"/>
                  <a:gd name="T15" fmla="*/ 24 h 316"/>
                  <a:gd name="T16" fmla="*/ 718 w 744"/>
                  <a:gd name="T17" fmla="*/ 19 h 316"/>
                  <a:gd name="T18" fmla="*/ 744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4" y="27"/>
                      <a:pt x="734" y="27"/>
                      <a:pt x="734" y="27"/>
                    </a:cubicBezTo>
                    <a:cubicBezTo>
                      <a:pt x="580" y="314"/>
                      <a:pt x="165" y="316"/>
                      <a:pt x="11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7" y="308"/>
                      <a:pt x="577" y="308"/>
                      <a:pt x="729" y="24"/>
                    </a:cubicBezTo>
                    <a:cubicBezTo>
                      <a:pt x="718" y="19"/>
                      <a:pt x="718" y="19"/>
                      <a:pt x="718" y="19"/>
                    </a:cubicBezTo>
                    <a:cubicBezTo>
                      <a:pt x="744" y="2"/>
                      <a:pt x="744" y="2"/>
                      <a:pt x="744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8" name="Oval 12"/>
              <p:cNvSpPr>
                <a:spLocks noChangeArrowheads="1"/>
              </p:cNvSpPr>
              <p:nvPr/>
            </p:nvSpPr>
            <p:spPr bwMode="auto">
              <a:xfrm>
                <a:off x="2481263" y="5326970"/>
                <a:ext cx="136525" cy="136525"/>
              </a:xfrm>
              <a:prstGeom prst="ellipse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9" name="Freeform 13"/>
              <p:cNvSpPr/>
              <p:nvPr/>
            </p:nvSpPr>
            <p:spPr bwMode="auto">
              <a:xfrm>
                <a:off x="2503488" y="5114245"/>
                <a:ext cx="95250" cy="727075"/>
              </a:xfrm>
              <a:custGeom>
                <a:avLst/>
                <a:gdLst>
                  <a:gd name="T0" fmla="*/ 60 w 60"/>
                  <a:gd name="T1" fmla="*/ 54 h 458"/>
                  <a:gd name="T2" fmla="*/ 36 w 60"/>
                  <a:gd name="T3" fmla="*/ 54 h 458"/>
                  <a:gd name="T4" fmla="*/ 36 w 60"/>
                  <a:gd name="T5" fmla="*/ 404 h 458"/>
                  <a:gd name="T6" fmla="*/ 60 w 60"/>
                  <a:gd name="T7" fmla="*/ 404 h 458"/>
                  <a:gd name="T8" fmla="*/ 30 w 60"/>
                  <a:gd name="T9" fmla="*/ 458 h 458"/>
                  <a:gd name="T10" fmla="*/ 0 w 60"/>
                  <a:gd name="T11" fmla="*/ 404 h 458"/>
                  <a:gd name="T12" fmla="*/ 24 w 60"/>
                  <a:gd name="T13" fmla="*/ 404 h 458"/>
                  <a:gd name="T14" fmla="*/ 24 w 60"/>
                  <a:gd name="T15" fmla="*/ 54 h 458"/>
                  <a:gd name="T16" fmla="*/ 0 w 60"/>
                  <a:gd name="T17" fmla="*/ 54 h 458"/>
                  <a:gd name="T18" fmla="*/ 30 w 60"/>
                  <a:gd name="T19" fmla="*/ 0 h 458"/>
                  <a:gd name="T20" fmla="*/ 60 w 60"/>
                  <a:gd name="T21" fmla="*/ 54 h 458"/>
                  <a:gd name="T22" fmla="*/ 60 w 60"/>
                  <a:gd name="T23" fmla="*/ 54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458">
                    <a:moveTo>
                      <a:pt x="60" y="54"/>
                    </a:moveTo>
                    <a:lnTo>
                      <a:pt x="36" y="54"/>
                    </a:lnTo>
                    <a:lnTo>
                      <a:pt x="36" y="404"/>
                    </a:lnTo>
                    <a:lnTo>
                      <a:pt x="60" y="404"/>
                    </a:lnTo>
                    <a:lnTo>
                      <a:pt x="30" y="458"/>
                    </a:lnTo>
                    <a:lnTo>
                      <a:pt x="0" y="404"/>
                    </a:lnTo>
                    <a:lnTo>
                      <a:pt x="24" y="404"/>
                    </a:lnTo>
                    <a:lnTo>
                      <a:pt x="24" y="54"/>
                    </a:lnTo>
                    <a:lnTo>
                      <a:pt x="0" y="54"/>
                    </a:lnTo>
                    <a:lnTo>
                      <a:pt x="30" y="0"/>
                    </a:lnTo>
                    <a:lnTo>
                      <a:pt x="60" y="54"/>
                    </a:lnTo>
                    <a:lnTo>
                      <a:pt x="60" y="54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0" name="Group 26"/>
            <p:cNvGrpSpPr/>
            <p:nvPr/>
          </p:nvGrpSpPr>
          <p:grpSpPr>
            <a:xfrm>
              <a:off x="4539382" y="4633233"/>
              <a:ext cx="2355850" cy="1208087"/>
              <a:chOff x="4918075" y="4633233"/>
              <a:chExt cx="2355850" cy="1208087"/>
            </a:xfrm>
          </p:grpSpPr>
          <p:sp>
            <p:nvSpPr>
              <p:cNvPr id="21411" name="Freeform 14"/>
              <p:cNvSpPr/>
              <p:nvPr/>
            </p:nvSpPr>
            <p:spPr bwMode="auto">
              <a:xfrm>
                <a:off x="4918075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3 w 744"/>
                  <a:gd name="T3" fmla="*/ 27 h 316"/>
                  <a:gd name="T4" fmla="*/ 10 w 744"/>
                  <a:gd name="T5" fmla="*/ 25 h 316"/>
                  <a:gd name="T6" fmla="*/ 0 w 744"/>
                  <a:gd name="T7" fmla="*/ 31 h 316"/>
                  <a:gd name="T8" fmla="*/ 0 w 744"/>
                  <a:gd name="T9" fmla="*/ 0 h 316"/>
                  <a:gd name="T10" fmla="*/ 26 w 744"/>
                  <a:gd name="T11" fmla="*/ 17 h 316"/>
                  <a:gd name="T12" fmla="*/ 15 w 744"/>
                  <a:gd name="T13" fmla="*/ 23 h 316"/>
                  <a:gd name="T14" fmla="*/ 728 w 744"/>
                  <a:gd name="T15" fmla="*/ 24 h 316"/>
                  <a:gd name="T16" fmla="*/ 717 w 744"/>
                  <a:gd name="T17" fmla="*/ 19 h 316"/>
                  <a:gd name="T18" fmla="*/ 743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3" y="27"/>
                      <a:pt x="733" y="27"/>
                      <a:pt x="733" y="27"/>
                    </a:cubicBezTo>
                    <a:cubicBezTo>
                      <a:pt x="579" y="314"/>
                      <a:pt x="164" y="316"/>
                      <a:pt x="10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6" y="308"/>
                      <a:pt x="576" y="308"/>
                      <a:pt x="728" y="24"/>
                    </a:cubicBezTo>
                    <a:cubicBezTo>
                      <a:pt x="717" y="19"/>
                      <a:pt x="717" y="19"/>
                      <a:pt x="717" y="19"/>
                    </a:cubicBezTo>
                    <a:cubicBezTo>
                      <a:pt x="743" y="2"/>
                      <a:pt x="743" y="2"/>
                      <a:pt x="743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2" name="Oval 15"/>
              <p:cNvSpPr>
                <a:spLocks noChangeArrowheads="1"/>
              </p:cNvSpPr>
              <p:nvPr/>
            </p:nvSpPr>
            <p:spPr bwMode="auto">
              <a:xfrm>
                <a:off x="6026150" y="5326970"/>
                <a:ext cx="136525" cy="136525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3" name="Freeform 16"/>
              <p:cNvSpPr/>
              <p:nvPr/>
            </p:nvSpPr>
            <p:spPr bwMode="auto">
              <a:xfrm>
                <a:off x="6048375" y="5114245"/>
                <a:ext cx="95250" cy="727075"/>
              </a:xfrm>
              <a:custGeom>
                <a:avLst/>
                <a:gdLst>
                  <a:gd name="T0" fmla="*/ 60 w 60"/>
                  <a:gd name="T1" fmla="*/ 54 h 458"/>
                  <a:gd name="T2" fmla="*/ 36 w 60"/>
                  <a:gd name="T3" fmla="*/ 54 h 458"/>
                  <a:gd name="T4" fmla="*/ 36 w 60"/>
                  <a:gd name="T5" fmla="*/ 404 h 458"/>
                  <a:gd name="T6" fmla="*/ 60 w 60"/>
                  <a:gd name="T7" fmla="*/ 404 h 458"/>
                  <a:gd name="T8" fmla="*/ 30 w 60"/>
                  <a:gd name="T9" fmla="*/ 458 h 458"/>
                  <a:gd name="T10" fmla="*/ 0 w 60"/>
                  <a:gd name="T11" fmla="*/ 404 h 458"/>
                  <a:gd name="T12" fmla="*/ 24 w 60"/>
                  <a:gd name="T13" fmla="*/ 404 h 458"/>
                  <a:gd name="T14" fmla="*/ 24 w 60"/>
                  <a:gd name="T15" fmla="*/ 54 h 458"/>
                  <a:gd name="T16" fmla="*/ 0 w 60"/>
                  <a:gd name="T17" fmla="*/ 54 h 458"/>
                  <a:gd name="T18" fmla="*/ 30 w 60"/>
                  <a:gd name="T19" fmla="*/ 0 h 458"/>
                  <a:gd name="T20" fmla="*/ 60 w 60"/>
                  <a:gd name="T21" fmla="*/ 54 h 458"/>
                  <a:gd name="T22" fmla="*/ 60 w 60"/>
                  <a:gd name="T23" fmla="*/ 54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458">
                    <a:moveTo>
                      <a:pt x="60" y="54"/>
                    </a:moveTo>
                    <a:lnTo>
                      <a:pt x="36" y="54"/>
                    </a:lnTo>
                    <a:lnTo>
                      <a:pt x="36" y="404"/>
                    </a:lnTo>
                    <a:lnTo>
                      <a:pt x="60" y="404"/>
                    </a:lnTo>
                    <a:lnTo>
                      <a:pt x="30" y="458"/>
                    </a:lnTo>
                    <a:lnTo>
                      <a:pt x="0" y="404"/>
                    </a:lnTo>
                    <a:lnTo>
                      <a:pt x="24" y="404"/>
                    </a:lnTo>
                    <a:lnTo>
                      <a:pt x="24" y="54"/>
                    </a:lnTo>
                    <a:lnTo>
                      <a:pt x="0" y="54"/>
                    </a:lnTo>
                    <a:lnTo>
                      <a:pt x="30" y="0"/>
                    </a:lnTo>
                    <a:lnTo>
                      <a:pt x="60" y="54"/>
                    </a:lnTo>
                    <a:lnTo>
                      <a:pt x="60" y="54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4" name="Group 25"/>
            <p:cNvGrpSpPr/>
            <p:nvPr/>
          </p:nvGrpSpPr>
          <p:grpSpPr>
            <a:xfrm>
              <a:off x="2767732" y="2358345"/>
              <a:ext cx="2354263" cy="1204913"/>
              <a:chOff x="3146425" y="2358345"/>
              <a:chExt cx="2354263" cy="1204913"/>
            </a:xfrm>
          </p:grpSpPr>
          <p:sp>
            <p:nvSpPr>
              <p:cNvPr id="21415" name="Freeform 17"/>
              <p:cNvSpPr/>
              <p:nvPr/>
            </p:nvSpPr>
            <p:spPr bwMode="auto">
              <a:xfrm>
                <a:off x="3146425" y="2561545"/>
                <a:ext cx="2354263" cy="1001713"/>
              </a:xfrm>
              <a:custGeom>
                <a:avLst/>
                <a:gdLst>
                  <a:gd name="T0" fmla="*/ 744 w 744"/>
                  <a:gd name="T1" fmla="*/ 284 h 316"/>
                  <a:gd name="T2" fmla="*/ 733 w 744"/>
                  <a:gd name="T3" fmla="*/ 289 h 316"/>
                  <a:gd name="T4" fmla="*/ 10 w 744"/>
                  <a:gd name="T5" fmla="*/ 291 h 316"/>
                  <a:gd name="T6" fmla="*/ 0 w 744"/>
                  <a:gd name="T7" fmla="*/ 285 h 316"/>
                  <a:gd name="T8" fmla="*/ 0 w 744"/>
                  <a:gd name="T9" fmla="*/ 316 h 316"/>
                  <a:gd name="T10" fmla="*/ 26 w 744"/>
                  <a:gd name="T11" fmla="*/ 299 h 316"/>
                  <a:gd name="T12" fmla="*/ 15 w 744"/>
                  <a:gd name="T13" fmla="*/ 294 h 316"/>
                  <a:gd name="T14" fmla="*/ 728 w 744"/>
                  <a:gd name="T15" fmla="*/ 292 h 316"/>
                  <a:gd name="T16" fmla="*/ 718 w 744"/>
                  <a:gd name="T17" fmla="*/ 298 h 316"/>
                  <a:gd name="T18" fmla="*/ 743 w 744"/>
                  <a:gd name="T19" fmla="*/ 315 h 316"/>
                  <a:gd name="T20" fmla="*/ 744 w 744"/>
                  <a:gd name="T21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284"/>
                    </a:moveTo>
                    <a:cubicBezTo>
                      <a:pt x="733" y="289"/>
                      <a:pt x="733" y="289"/>
                      <a:pt x="733" y="289"/>
                    </a:cubicBezTo>
                    <a:cubicBezTo>
                      <a:pt x="580" y="2"/>
                      <a:pt x="164" y="0"/>
                      <a:pt x="10" y="291"/>
                    </a:cubicBezTo>
                    <a:cubicBezTo>
                      <a:pt x="0" y="285"/>
                      <a:pt x="0" y="285"/>
                      <a:pt x="0" y="285"/>
                    </a:cubicBezTo>
                    <a:cubicBezTo>
                      <a:pt x="0" y="316"/>
                      <a:pt x="0" y="316"/>
                      <a:pt x="0" y="316"/>
                    </a:cubicBezTo>
                    <a:cubicBezTo>
                      <a:pt x="26" y="299"/>
                      <a:pt x="26" y="299"/>
                      <a:pt x="26" y="299"/>
                    </a:cubicBezTo>
                    <a:cubicBezTo>
                      <a:pt x="15" y="294"/>
                      <a:pt x="15" y="294"/>
                      <a:pt x="15" y="294"/>
                    </a:cubicBezTo>
                    <a:cubicBezTo>
                      <a:pt x="167" y="8"/>
                      <a:pt x="576" y="8"/>
                      <a:pt x="728" y="292"/>
                    </a:cubicBezTo>
                    <a:cubicBezTo>
                      <a:pt x="718" y="298"/>
                      <a:pt x="718" y="298"/>
                      <a:pt x="718" y="298"/>
                    </a:cubicBezTo>
                    <a:cubicBezTo>
                      <a:pt x="743" y="315"/>
                      <a:pt x="743" y="315"/>
                      <a:pt x="743" y="315"/>
                    </a:cubicBezTo>
                    <a:cubicBezTo>
                      <a:pt x="744" y="284"/>
                      <a:pt x="744" y="284"/>
                      <a:pt x="744" y="284"/>
                    </a:cubicBez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6" name="Oval 18"/>
              <p:cNvSpPr>
                <a:spLocks noChangeArrowheads="1"/>
              </p:cNvSpPr>
              <p:nvPr/>
            </p:nvSpPr>
            <p:spPr bwMode="auto">
              <a:xfrm>
                <a:off x="4254500" y="2732995"/>
                <a:ext cx="134938" cy="139700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7" name="Freeform 19"/>
              <p:cNvSpPr/>
              <p:nvPr/>
            </p:nvSpPr>
            <p:spPr bwMode="auto">
              <a:xfrm>
                <a:off x="4276725" y="2358345"/>
                <a:ext cx="93663" cy="723900"/>
              </a:xfrm>
              <a:custGeom>
                <a:avLst/>
                <a:gdLst>
                  <a:gd name="T0" fmla="*/ 59 w 59"/>
                  <a:gd name="T1" fmla="*/ 402 h 456"/>
                  <a:gd name="T2" fmla="*/ 36 w 59"/>
                  <a:gd name="T3" fmla="*/ 402 h 456"/>
                  <a:gd name="T4" fmla="*/ 36 w 59"/>
                  <a:gd name="T5" fmla="*/ 54 h 456"/>
                  <a:gd name="T6" fmla="*/ 59 w 59"/>
                  <a:gd name="T7" fmla="*/ 54 h 456"/>
                  <a:gd name="T8" fmla="*/ 30 w 59"/>
                  <a:gd name="T9" fmla="*/ 0 h 456"/>
                  <a:gd name="T10" fmla="*/ 0 w 59"/>
                  <a:gd name="T11" fmla="*/ 54 h 456"/>
                  <a:gd name="T12" fmla="*/ 24 w 59"/>
                  <a:gd name="T13" fmla="*/ 54 h 456"/>
                  <a:gd name="T14" fmla="*/ 24 w 59"/>
                  <a:gd name="T15" fmla="*/ 402 h 456"/>
                  <a:gd name="T16" fmla="*/ 0 w 59"/>
                  <a:gd name="T17" fmla="*/ 402 h 456"/>
                  <a:gd name="T18" fmla="*/ 30 w 59"/>
                  <a:gd name="T19" fmla="*/ 456 h 456"/>
                  <a:gd name="T20" fmla="*/ 59 w 59"/>
                  <a:gd name="T21" fmla="*/ 402 h 456"/>
                  <a:gd name="T22" fmla="*/ 59 w 59"/>
                  <a:gd name="T23" fmla="*/ 40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456">
                    <a:moveTo>
                      <a:pt x="59" y="402"/>
                    </a:moveTo>
                    <a:lnTo>
                      <a:pt x="36" y="402"/>
                    </a:lnTo>
                    <a:lnTo>
                      <a:pt x="36" y="54"/>
                    </a:lnTo>
                    <a:lnTo>
                      <a:pt x="59" y="54"/>
                    </a:lnTo>
                    <a:lnTo>
                      <a:pt x="30" y="0"/>
                    </a:lnTo>
                    <a:lnTo>
                      <a:pt x="0" y="54"/>
                    </a:lnTo>
                    <a:lnTo>
                      <a:pt x="24" y="54"/>
                    </a:lnTo>
                    <a:lnTo>
                      <a:pt x="24" y="402"/>
                    </a:lnTo>
                    <a:lnTo>
                      <a:pt x="0" y="402"/>
                    </a:lnTo>
                    <a:lnTo>
                      <a:pt x="30" y="456"/>
                    </a:lnTo>
                    <a:lnTo>
                      <a:pt x="59" y="402"/>
                    </a:lnTo>
                    <a:lnTo>
                      <a:pt x="59" y="402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8" name="Group 27"/>
            <p:cNvGrpSpPr/>
            <p:nvPr/>
          </p:nvGrpSpPr>
          <p:grpSpPr>
            <a:xfrm>
              <a:off x="6303095" y="2358345"/>
              <a:ext cx="2354263" cy="1204913"/>
              <a:chOff x="6681788" y="2358345"/>
              <a:chExt cx="2354263" cy="1204913"/>
            </a:xfrm>
          </p:grpSpPr>
          <p:sp>
            <p:nvSpPr>
              <p:cNvPr id="21419" name="Freeform 20"/>
              <p:cNvSpPr/>
              <p:nvPr/>
            </p:nvSpPr>
            <p:spPr bwMode="auto">
              <a:xfrm>
                <a:off x="6681788" y="2561545"/>
                <a:ext cx="2354263" cy="1001713"/>
              </a:xfrm>
              <a:custGeom>
                <a:avLst/>
                <a:gdLst>
                  <a:gd name="T0" fmla="*/ 744 w 744"/>
                  <a:gd name="T1" fmla="*/ 284 h 316"/>
                  <a:gd name="T2" fmla="*/ 733 w 744"/>
                  <a:gd name="T3" fmla="*/ 289 h 316"/>
                  <a:gd name="T4" fmla="*/ 11 w 744"/>
                  <a:gd name="T5" fmla="*/ 291 h 316"/>
                  <a:gd name="T6" fmla="*/ 0 w 744"/>
                  <a:gd name="T7" fmla="*/ 285 h 316"/>
                  <a:gd name="T8" fmla="*/ 1 w 744"/>
                  <a:gd name="T9" fmla="*/ 316 h 316"/>
                  <a:gd name="T10" fmla="*/ 26 w 744"/>
                  <a:gd name="T11" fmla="*/ 299 h 316"/>
                  <a:gd name="T12" fmla="*/ 16 w 744"/>
                  <a:gd name="T13" fmla="*/ 294 h 316"/>
                  <a:gd name="T14" fmla="*/ 728 w 744"/>
                  <a:gd name="T15" fmla="*/ 292 h 316"/>
                  <a:gd name="T16" fmla="*/ 718 w 744"/>
                  <a:gd name="T17" fmla="*/ 298 h 316"/>
                  <a:gd name="T18" fmla="*/ 743 w 744"/>
                  <a:gd name="T19" fmla="*/ 315 h 316"/>
                  <a:gd name="T20" fmla="*/ 744 w 744"/>
                  <a:gd name="T21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284"/>
                    </a:moveTo>
                    <a:cubicBezTo>
                      <a:pt x="733" y="289"/>
                      <a:pt x="733" y="289"/>
                      <a:pt x="733" y="289"/>
                    </a:cubicBezTo>
                    <a:cubicBezTo>
                      <a:pt x="580" y="2"/>
                      <a:pt x="165" y="0"/>
                      <a:pt x="11" y="291"/>
                    </a:cubicBezTo>
                    <a:cubicBezTo>
                      <a:pt x="0" y="285"/>
                      <a:pt x="0" y="285"/>
                      <a:pt x="0" y="285"/>
                    </a:cubicBezTo>
                    <a:cubicBezTo>
                      <a:pt x="1" y="316"/>
                      <a:pt x="1" y="316"/>
                      <a:pt x="1" y="316"/>
                    </a:cubicBezTo>
                    <a:cubicBezTo>
                      <a:pt x="26" y="299"/>
                      <a:pt x="26" y="299"/>
                      <a:pt x="26" y="299"/>
                    </a:cubicBezTo>
                    <a:cubicBezTo>
                      <a:pt x="16" y="294"/>
                      <a:pt x="16" y="294"/>
                      <a:pt x="16" y="294"/>
                    </a:cubicBezTo>
                    <a:cubicBezTo>
                      <a:pt x="167" y="8"/>
                      <a:pt x="576" y="8"/>
                      <a:pt x="728" y="292"/>
                    </a:cubicBezTo>
                    <a:cubicBezTo>
                      <a:pt x="718" y="298"/>
                      <a:pt x="718" y="298"/>
                      <a:pt x="718" y="298"/>
                    </a:cubicBezTo>
                    <a:cubicBezTo>
                      <a:pt x="743" y="315"/>
                      <a:pt x="743" y="315"/>
                      <a:pt x="743" y="315"/>
                    </a:cubicBezTo>
                    <a:cubicBezTo>
                      <a:pt x="744" y="284"/>
                      <a:pt x="744" y="284"/>
                      <a:pt x="744" y="284"/>
                    </a:cubicBez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0" name="Oval 21"/>
              <p:cNvSpPr>
                <a:spLocks noChangeArrowheads="1"/>
              </p:cNvSpPr>
              <p:nvPr/>
            </p:nvSpPr>
            <p:spPr bwMode="auto">
              <a:xfrm>
                <a:off x="7789863" y="2732995"/>
                <a:ext cx="138113" cy="139700"/>
              </a:xfrm>
              <a:prstGeom prst="ellipse">
                <a:avLst/>
              </a:pr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1" name="Freeform 22"/>
              <p:cNvSpPr/>
              <p:nvPr/>
            </p:nvSpPr>
            <p:spPr bwMode="auto">
              <a:xfrm>
                <a:off x="7812088" y="2358345"/>
                <a:ext cx="93663" cy="723900"/>
              </a:xfrm>
              <a:custGeom>
                <a:avLst/>
                <a:gdLst>
                  <a:gd name="T0" fmla="*/ 59 w 59"/>
                  <a:gd name="T1" fmla="*/ 402 h 456"/>
                  <a:gd name="T2" fmla="*/ 36 w 59"/>
                  <a:gd name="T3" fmla="*/ 402 h 456"/>
                  <a:gd name="T4" fmla="*/ 36 w 59"/>
                  <a:gd name="T5" fmla="*/ 54 h 456"/>
                  <a:gd name="T6" fmla="*/ 59 w 59"/>
                  <a:gd name="T7" fmla="*/ 54 h 456"/>
                  <a:gd name="T8" fmla="*/ 30 w 59"/>
                  <a:gd name="T9" fmla="*/ 0 h 456"/>
                  <a:gd name="T10" fmla="*/ 0 w 59"/>
                  <a:gd name="T11" fmla="*/ 54 h 456"/>
                  <a:gd name="T12" fmla="*/ 24 w 59"/>
                  <a:gd name="T13" fmla="*/ 54 h 456"/>
                  <a:gd name="T14" fmla="*/ 24 w 59"/>
                  <a:gd name="T15" fmla="*/ 402 h 456"/>
                  <a:gd name="T16" fmla="*/ 0 w 59"/>
                  <a:gd name="T17" fmla="*/ 402 h 456"/>
                  <a:gd name="T18" fmla="*/ 30 w 59"/>
                  <a:gd name="T19" fmla="*/ 456 h 456"/>
                  <a:gd name="T20" fmla="*/ 59 w 59"/>
                  <a:gd name="T21" fmla="*/ 402 h 456"/>
                  <a:gd name="T22" fmla="*/ 59 w 59"/>
                  <a:gd name="T23" fmla="*/ 40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456">
                    <a:moveTo>
                      <a:pt x="59" y="402"/>
                    </a:moveTo>
                    <a:lnTo>
                      <a:pt x="36" y="402"/>
                    </a:lnTo>
                    <a:lnTo>
                      <a:pt x="36" y="54"/>
                    </a:lnTo>
                    <a:lnTo>
                      <a:pt x="59" y="54"/>
                    </a:lnTo>
                    <a:lnTo>
                      <a:pt x="30" y="0"/>
                    </a:lnTo>
                    <a:lnTo>
                      <a:pt x="0" y="54"/>
                    </a:lnTo>
                    <a:lnTo>
                      <a:pt x="24" y="54"/>
                    </a:lnTo>
                    <a:lnTo>
                      <a:pt x="24" y="402"/>
                    </a:lnTo>
                    <a:lnTo>
                      <a:pt x="0" y="402"/>
                    </a:lnTo>
                    <a:lnTo>
                      <a:pt x="30" y="456"/>
                    </a:lnTo>
                    <a:lnTo>
                      <a:pt x="59" y="402"/>
                    </a:lnTo>
                    <a:lnTo>
                      <a:pt x="59" y="402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22" name="Group 29"/>
            <p:cNvGrpSpPr/>
            <p:nvPr/>
          </p:nvGrpSpPr>
          <p:grpSpPr>
            <a:xfrm>
              <a:off x="8090620" y="4633233"/>
              <a:ext cx="2355850" cy="1208087"/>
              <a:chOff x="8469313" y="4633233"/>
              <a:chExt cx="2355850" cy="1208087"/>
            </a:xfrm>
          </p:grpSpPr>
          <p:sp>
            <p:nvSpPr>
              <p:cNvPr id="21423" name="Freeform 24"/>
              <p:cNvSpPr/>
              <p:nvPr/>
            </p:nvSpPr>
            <p:spPr bwMode="auto">
              <a:xfrm>
                <a:off x="8469313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4 w 744"/>
                  <a:gd name="T3" fmla="*/ 27 h 316"/>
                  <a:gd name="T4" fmla="*/ 11 w 744"/>
                  <a:gd name="T5" fmla="*/ 25 h 316"/>
                  <a:gd name="T6" fmla="*/ 0 w 744"/>
                  <a:gd name="T7" fmla="*/ 31 h 316"/>
                  <a:gd name="T8" fmla="*/ 1 w 744"/>
                  <a:gd name="T9" fmla="*/ 0 h 316"/>
                  <a:gd name="T10" fmla="*/ 27 w 744"/>
                  <a:gd name="T11" fmla="*/ 17 h 316"/>
                  <a:gd name="T12" fmla="*/ 16 w 744"/>
                  <a:gd name="T13" fmla="*/ 23 h 316"/>
                  <a:gd name="T14" fmla="*/ 729 w 744"/>
                  <a:gd name="T15" fmla="*/ 24 h 316"/>
                  <a:gd name="T16" fmla="*/ 718 w 744"/>
                  <a:gd name="T17" fmla="*/ 19 h 316"/>
                  <a:gd name="T18" fmla="*/ 744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4" y="27"/>
                      <a:pt x="734" y="27"/>
                      <a:pt x="734" y="27"/>
                    </a:cubicBezTo>
                    <a:cubicBezTo>
                      <a:pt x="580" y="314"/>
                      <a:pt x="165" y="316"/>
                      <a:pt x="11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7" y="308"/>
                      <a:pt x="577" y="308"/>
                      <a:pt x="729" y="24"/>
                    </a:cubicBezTo>
                    <a:cubicBezTo>
                      <a:pt x="718" y="19"/>
                      <a:pt x="718" y="19"/>
                      <a:pt x="718" y="19"/>
                    </a:cubicBezTo>
                    <a:cubicBezTo>
                      <a:pt x="744" y="2"/>
                      <a:pt x="744" y="2"/>
                      <a:pt x="744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grpSp>
            <p:nvGrpSpPr>
              <p:cNvPr id="21424" name="Group 28"/>
              <p:cNvGrpSpPr/>
              <p:nvPr/>
            </p:nvGrpSpPr>
            <p:grpSpPr>
              <a:xfrm>
                <a:off x="9580563" y="5114245"/>
                <a:ext cx="136525" cy="727075"/>
                <a:chOff x="9580563" y="5114245"/>
                <a:chExt cx="136525" cy="727075"/>
              </a:xfrm>
            </p:grpSpPr>
            <p:sp>
              <p:nvSpPr>
                <p:cNvPr id="21425" name="Freeform 23"/>
                <p:cNvSpPr/>
                <p:nvPr/>
              </p:nvSpPr>
              <p:spPr bwMode="auto">
                <a:xfrm>
                  <a:off x="9602788" y="5114245"/>
                  <a:ext cx="95250" cy="727075"/>
                </a:xfrm>
                <a:custGeom>
                  <a:avLst/>
                  <a:gdLst>
                    <a:gd name="T0" fmla="*/ 60 w 60"/>
                    <a:gd name="T1" fmla="*/ 54 h 458"/>
                    <a:gd name="T2" fmla="*/ 36 w 60"/>
                    <a:gd name="T3" fmla="*/ 54 h 458"/>
                    <a:gd name="T4" fmla="*/ 36 w 60"/>
                    <a:gd name="T5" fmla="*/ 404 h 458"/>
                    <a:gd name="T6" fmla="*/ 60 w 60"/>
                    <a:gd name="T7" fmla="*/ 404 h 458"/>
                    <a:gd name="T8" fmla="*/ 30 w 60"/>
                    <a:gd name="T9" fmla="*/ 458 h 458"/>
                    <a:gd name="T10" fmla="*/ 0 w 60"/>
                    <a:gd name="T11" fmla="*/ 404 h 458"/>
                    <a:gd name="T12" fmla="*/ 24 w 60"/>
                    <a:gd name="T13" fmla="*/ 404 h 458"/>
                    <a:gd name="T14" fmla="*/ 24 w 60"/>
                    <a:gd name="T15" fmla="*/ 54 h 458"/>
                    <a:gd name="T16" fmla="*/ 0 w 60"/>
                    <a:gd name="T17" fmla="*/ 54 h 458"/>
                    <a:gd name="T18" fmla="*/ 30 w 60"/>
                    <a:gd name="T19" fmla="*/ 0 h 458"/>
                    <a:gd name="T20" fmla="*/ 60 w 60"/>
                    <a:gd name="T21" fmla="*/ 54 h 458"/>
                    <a:gd name="T22" fmla="*/ 60 w 60"/>
                    <a:gd name="T23" fmla="*/ 54 h 4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0" h="458">
                      <a:moveTo>
                        <a:pt x="60" y="54"/>
                      </a:moveTo>
                      <a:lnTo>
                        <a:pt x="36" y="54"/>
                      </a:lnTo>
                      <a:lnTo>
                        <a:pt x="36" y="404"/>
                      </a:lnTo>
                      <a:lnTo>
                        <a:pt x="60" y="404"/>
                      </a:lnTo>
                      <a:lnTo>
                        <a:pt x="30" y="458"/>
                      </a:lnTo>
                      <a:lnTo>
                        <a:pt x="0" y="404"/>
                      </a:lnTo>
                      <a:lnTo>
                        <a:pt x="24" y="404"/>
                      </a:lnTo>
                      <a:lnTo>
                        <a:pt x="24" y="54"/>
                      </a:lnTo>
                      <a:lnTo>
                        <a:pt x="0" y="54"/>
                      </a:lnTo>
                      <a:lnTo>
                        <a:pt x="30" y="0"/>
                      </a:lnTo>
                      <a:lnTo>
                        <a:pt x="60" y="54"/>
                      </a:lnTo>
                      <a:lnTo>
                        <a:pt x="60" y="54"/>
                      </a:lnTo>
                      <a:close/>
                    </a:path>
                  </a:pathLst>
                </a:custGeom>
                <a:solidFill>
                  <a:srgbClr val="6C95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  <p:sp>
              <p:nvSpPr>
                <p:cNvPr id="21426" name="Oval 25"/>
                <p:cNvSpPr>
                  <a:spLocks noChangeArrowheads="1"/>
                </p:cNvSpPr>
                <p:nvPr/>
              </p:nvSpPr>
              <p:spPr bwMode="auto">
                <a:xfrm>
                  <a:off x="9580563" y="5326970"/>
                  <a:ext cx="136525" cy="136525"/>
                </a:xfrm>
                <a:prstGeom prst="ellipse">
                  <a:avLst/>
                </a:prstGeom>
                <a:solidFill>
                  <a:srgbClr val="6C95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</p:grpSp>
        </p:grpSp>
      </p:grpSp>
      <p:pic>
        <p:nvPicPr>
          <p:cNvPr id="21427" name="Picture 21426" descr="factory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633" y="4339649"/>
            <a:ext cx="438912" cy="438912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679969" y="6049696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500" b="1">
                <a:solidFill>
                  <a:srgbClr val="2B2F42"/>
                </a:solidFill>
              </a:rPr>
              <a:t>① 生产</a:t>
            </a:r>
          </a:p>
        </p:txBody>
      </p:sp>
      <p:sp>
        <p:nvSpPr>
          <p:cNvPr id="21429" name="TextBox 21428"/>
          <p:cNvSpPr txBox="1"/>
          <p:nvPr/>
        </p:nvSpPr>
        <p:spPr>
          <a:xfrm>
            <a:off x="679969" y="62691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各业务系统</a:t>
            </a:r>
          </a:p>
        </p:txBody>
      </p:sp>
      <p:pic>
        <p:nvPicPr>
          <p:cNvPr id="21430" name="Picture 21429" descr="shield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014" y="4339649"/>
            <a:ext cx="438912" cy="438912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2155350" y="251769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500" b="1">
                <a:solidFill>
                  <a:srgbClr val="2B2F42"/>
                </a:solidFill>
              </a:rPr>
              <a:t>② 治理</a:t>
            </a:r>
          </a:p>
        </p:txBody>
      </p:sp>
      <p:sp>
        <p:nvSpPr>
          <p:cNvPr id="21432" name="TextBox 21431"/>
          <p:cNvSpPr txBox="1"/>
          <p:nvPr/>
        </p:nvSpPr>
        <p:spPr>
          <a:xfrm>
            <a:off x="2155350" y="27371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数据团队 · 数据平台</a:t>
            </a:r>
          </a:p>
        </p:txBody>
      </p:sp>
      <p:pic>
        <p:nvPicPr>
          <p:cNvPr id="21433" name="Picture 21432" descr="bot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395" y="4339649"/>
            <a:ext cx="438912" cy="438912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3630731" y="6049696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500" b="1">
                <a:solidFill>
                  <a:srgbClr val="2B2F42"/>
                </a:solidFill>
              </a:rPr>
              <a:t>③ 应用</a:t>
            </a:r>
          </a:p>
        </p:txBody>
      </p:sp>
      <p:sp>
        <p:nvSpPr>
          <p:cNvPr id="21435" name="TextBox 21434"/>
          <p:cNvSpPr txBox="1"/>
          <p:nvPr/>
        </p:nvSpPr>
        <p:spPr>
          <a:xfrm>
            <a:off x="3630731" y="62691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智能体与各应用</a:t>
            </a:r>
          </a:p>
        </p:txBody>
      </p:sp>
      <p:pic>
        <p:nvPicPr>
          <p:cNvPr id="21436" name="Picture 21435" descr="refresh-cw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9171" y="4339649"/>
            <a:ext cx="438912" cy="438912"/>
          </a:xfrm>
          <a:prstGeom prst="rect">
            <a:avLst/>
          </a:prstGeom>
        </p:spPr>
      </p:pic>
      <p:sp>
        <p:nvSpPr>
          <p:cNvPr id="21437" name="TextBox 21436"/>
          <p:cNvSpPr txBox="1"/>
          <p:nvPr/>
        </p:nvSpPr>
        <p:spPr>
          <a:xfrm>
            <a:off x="5098507" y="251769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500" b="1">
                <a:solidFill>
                  <a:srgbClr val="2B2F42"/>
                </a:solidFill>
              </a:rPr>
              <a:t>④ 回流</a:t>
            </a:r>
          </a:p>
        </p:txBody>
      </p:sp>
      <p:sp>
        <p:nvSpPr>
          <p:cNvPr id="21438" name="TextBox 21437"/>
          <p:cNvSpPr txBox="1"/>
          <p:nvPr/>
        </p:nvSpPr>
        <p:spPr>
          <a:xfrm>
            <a:off x="5098507" y="27371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自动回传，统一入湖</a:t>
            </a:r>
          </a:p>
        </p:txBody>
      </p:sp>
      <p:pic>
        <p:nvPicPr>
          <p:cNvPr id="21439" name="Picture 21438" descr="trending-up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4552" y="4339649"/>
            <a:ext cx="438912" cy="438912"/>
          </a:xfrm>
          <a:prstGeom prst="rect">
            <a:avLst/>
          </a:prstGeom>
        </p:spPr>
      </p:pic>
      <p:sp>
        <p:nvSpPr>
          <p:cNvPr id="21440" name="TextBox 21439"/>
          <p:cNvSpPr txBox="1"/>
          <p:nvPr/>
        </p:nvSpPr>
        <p:spPr>
          <a:xfrm>
            <a:off x="6573888" y="6049696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500" b="1">
                <a:solidFill>
                  <a:srgbClr val="2B2F42"/>
                </a:solidFill>
              </a:rPr>
              <a:t>⑤ 反哺</a:t>
            </a:r>
          </a:p>
        </p:txBody>
      </p:sp>
      <p:sp>
        <p:nvSpPr>
          <p:cNvPr id="21441" name="TextBox 21440"/>
          <p:cNvSpPr txBox="1"/>
          <p:nvPr/>
        </p:nvSpPr>
        <p:spPr>
          <a:xfrm>
            <a:off x="6573888" y="62691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50" b="0">
                <a:solidFill>
                  <a:srgbClr val="5E6478"/>
                </a:solidFill>
              </a:rPr>
              <a:t>业务线</a:t>
            </a:r>
          </a:p>
        </p:txBody>
      </p:sp>
      <p:sp>
        <p:nvSpPr>
          <p:cNvPr id="21442" name="Rounded Rectangle 21441"/>
          <p:cNvSpPr/>
          <p:nvPr/>
        </p:nvSpPr>
        <p:spPr>
          <a:xfrm>
            <a:off x="8750808" y="2666956"/>
            <a:ext cx="2112264" cy="4069080"/>
          </a:xfrm>
          <a:prstGeom prst="roundRect">
            <a:avLst>
              <a:gd name="adj" fmla="val 606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3" name="TextBox 21442"/>
          <p:cNvSpPr txBox="1"/>
          <p:nvPr/>
        </p:nvSpPr>
        <p:spPr>
          <a:xfrm>
            <a:off x="8933688" y="2758396"/>
            <a:ext cx="18379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每个环节产出什么</a:t>
            </a:r>
          </a:p>
        </p:txBody>
      </p:sp>
      <p:sp>
        <p:nvSpPr>
          <p:cNvPr id="21444" name="TextBox 21443"/>
          <p:cNvSpPr txBox="1"/>
          <p:nvPr/>
        </p:nvSpPr>
        <p:spPr>
          <a:xfrm>
            <a:off x="8933688" y="3179020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① 生产</a:t>
            </a:r>
          </a:p>
        </p:txBody>
      </p:sp>
      <p:sp>
        <p:nvSpPr>
          <p:cNvPr id="21445" name="TextBox 21444"/>
          <p:cNvSpPr txBox="1"/>
          <p:nvPr/>
        </p:nvSpPr>
        <p:spPr>
          <a:xfrm>
            <a:off x="8933688" y="3435052"/>
            <a:ext cx="183794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F42"/>
                </a:solidFill>
              </a:rPr>
              <a:t>交易、核销、客流、设备、会员、财务数据</a:t>
            </a:r>
          </a:p>
        </p:txBody>
      </p:sp>
      <p:sp>
        <p:nvSpPr>
          <p:cNvPr id="21446" name="TextBox 21445"/>
          <p:cNvSpPr txBox="1"/>
          <p:nvPr/>
        </p:nvSpPr>
        <p:spPr>
          <a:xfrm>
            <a:off x="8933688" y="3873964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② 治理</a:t>
            </a:r>
          </a:p>
        </p:txBody>
      </p:sp>
      <p:sp>
        <p:nvSpPr>
          <p:cNvPr id="21447" name="TextBox 21446"/>
          <p:cNvSpPr txBox="1"/>
          <p:nvPr/>
        </p:nvSpPr>
        <p:spPr>
          <a:xfrm>
            <a:off x="8933688" y="4129996"/>
            <a:ext cx="183794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F42"/>
                </a:solidFill>
              </a:rPr>
              <a:t>公共模型、认证指标、统一标签、景区知识</a:t>
            </a:r>
          </a:p>
        </p:txBody>
      </p:sp>
      <p:sp>
        <p:nvSpPr>
          <p:cNvPr id="21448" name="TextBox 21447"/>
          <p:cNvSpPr txBox="1"/>
          <p:nvPr/>
        </p:nvSpPr>
        <p:spPr>
          <a:xfrm>
            <a:off x="8933688" y="4568908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③ 应用</a:t>
            </a:r>
          </a:p>
        </p:txBody>
      </p:sp>
      <p:sp>
        <p:nvSpPr>
          <p:cNvPr id="21449" name="TextBox 21448"/>
          <p:cNvSpPr txBox="1"/>
          <p:nvPr/>
        </p:nvSpPr>
        <p:spPr>
          <a:xfrm>
            <a:off x="8933688" y="4824940"/>
            <a:ext cx="183794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F42"/>
                </a:solidFill>
              </a:rPr>
              <a:t>游客服务、经营分析、运营提效、预警调度</a:t>
            </a:r>
          </a:p>
        </p:txBody>
      </p:sp>
      <p:sp>
        <p:nvSpPr>
          <p:cNvPr id="21450" name="TextBox 21449"/>
          <p:cNvSpPr txBox="1"/>
          <p:nvPr/>
        </p:nvSpPr>
        <p:spPr>
          <a:xfrm>
            <a:off x="8933688" y="5263852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655BE6"/>
                </a:solidFill>
              </a:rPr>
              <a:t>④ 回流</a:t>
            </a:r>
          </a:p>
        </p:txBody>
      </p:sp>
      <p:sp>
        <p:nvSpPr>
          <p:cNvPr id="21451" name="TextBox 21450"/>
          <p:cNvSpPr txBox="1"/>
          <p:nvPr/>
        </p:nvSpPr>
        <p:spPr>
          <a:xfrm>
            <a:off x="8933688" y="5519884"/>
            <a:ext cx="183794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F42"/>
                </a:solidFill>
              </a:rPr>
              <a:t>问答、评价、转人工、工单结果、使用行为</a:t>
            </a:r>
          </a:p>
        </p:txBody>
      </p:sp>
      <p:sp>
        <p:nvSpPr>
          <p:cNvPr id="21452" name="TextBox 21451"/>
          <p:cNvSpPr txBox="1"/>
          <p:nvPr/>
        </p:nvSpPr>
        <p:spPr>
          <a:xfrm>
            <a:off x="8933688" y="5958796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B4551A"/>
                </a:solidFill>
              </a:rPr>
              <a:t>⑤ 反哺</a:t>
            </a:r>
          </a:p>
        </p:txBody>
      </p:sp>
      <p:sp>
        <p:nvSpPr>
          <p:cNvPr id="21453" name="TextBox 21452"/>
          <p:cNvSpPr txBox="1"/>
          <p:nvPr/>
        </p:nvSpPr>
        <p:spPr>
          <a:xfrm>
            <a:off x="8933688" y="6214828"/>
            <a:ext cx="183794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F42"/>
                </a:solidFill>
              </a:rPr>
              <a:t>调定价、圈人营销、优化预约与调度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举个例子：一张门票的数据旅程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AI＋数据平台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游客买一张票，数据在公司里转一圈，景区和游客都受益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AI＋数据平台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65476"/>
            <a:ext cx="2133600" cy="1463040"/>
          </a:xfrm>
          <a:prstGeom prst="roundRect">
            <a:avLst>
              <a:gd name="adj" fmla="val 875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2848356"/>
            <a:ext cx="384048" cy="38404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2848356"/>
            <a:ext cx="384048" cy="38404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12" name="Picture 11" descr="tick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328" y="2848356"/>
            <a:ext cx="347472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7" y="3351276"/>
            <a:ext cx="18592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买票入园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689604"/>
            <a:ext cx="1859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售票 · 闸机核销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20568" y="2665476"/>
            <a:ext cx="2133600" cy="1463040"/>
          </a:xfrm>
          <a:prstGeom prst="roundRect">
            <a:avLst>
              <a:gd name="adj" fmla="val 875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03448" y="2848356"/>
            <a:ext cx="384048" cy="38404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03448" y="2848356"/>
            <a:ext cx="384048" cy="38404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18" name="Picture 17" descr="databas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528" y="2848356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03448" y="3351276"/>
            <a:ext cx="18592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数据进平台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3448" y="3689604"/>
            <a:ext cx="1859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订单 · 核销 · 客流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82768" y="2665476"/>
            <a:ext cx="2133600" cy="1463040"/>
          </a:xfrm>
          <a:prstGeom prst="roundRect">
            <a:avLst>
              <a:gd name="adj" fmla="val 875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65648" y="2848356"/>
            <a:ext cx="384048" cy="38404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65648" y="2848356"/>
            <a:ext cx="384048" cy="38404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24" name="Picture 23" descr="chart-lin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2848356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65648" y="3351276"/>
            <a:ext cx="18592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算出指标和标签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5648" y="3689604"/>
            <a:ext cx="1859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实时客流 · 游客偏好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4448556"/>
            <a:ext cx="2133600" cy="1463040"/>
          </a:xfrm>
          <a:prstGeom prst="roundRect">
            <a:avLst>
              <a:gd name="adj" fmla="val 875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65648" y="4631436"/>
            <a:ext cx="384048" cy="38404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65648" y="4631436"/>
            <a:ext cx="384048" cy="38404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30" name="Picture 29" descr="bo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4631436"/>
            <a:ext cx="34747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65648" y="5134356"/>
            <a:ext cx="18592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智能体办事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65648" y="5472684"/>
            <a:ext cx="1859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客流预警 · 二消推荐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20568" y="4448556"/>
            <a:ext cx="2133600" cy="1463040"/>
          </a:xfrm>
          <a:prstGeom prst="roundRect">
            <a:avLst>
              <a:gd name="adj" fmla="val 875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03448" y="4631436"/>
            <a:ext cx="384048" cy="38404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203448" y="4631436"/>
            <a:ext cx="384048" cy="38404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36" name="Picture 35" descr="refresh-cw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5528" y="4631436"/>
            <a:ext cx="347472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203448" y="5134356"/>
            <a:ext cx="18592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结果回流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3448" y="5472684"/>
            <a:ext cx="1859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处置结果 · 推荐转化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448556"/>
            <a:ext cx="2133600" cy="1463040"/>
          </a:xfrm>
          <a:prstGeom prst="roundRect">
            <a:avLst>
              <a:gd name="adj" fmla="val 875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1247" y="4631436"/>
            <a:ext cx="384048" cy="38404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1247" y="4631436"/>
            <a:ext cx="384048" cy="38404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pic>
        <p:nvPicPr>
          <p:cNvPr id="42" name="Picture 41" descr="trending-u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3328" y="4631436"/>
            <a:ext cx="347472" cy="3474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41247" y="5134356"/>
            <a:ext cx="18592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</a:rPr>
              <a:t>反哺业务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" y="5472684"/>
            <a:ext cx="1859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EEDFF"/>
                </a:solidFill>
              </a:rPr>
              <a:t>调预约 · 调营销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810256" y="3305556"/>
            <a:ext cx="182880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eft Arrow 45"/>
          <p:cNvSpPr/>
          <p:nvPr/>
        </p:nvSpPr>
        <p:spPr>
          <a:xfrm>
            <a:off x="2810256" y="5088636"/>
            <a:ext cx="182880" cy="182880"/>
          </a:xfrm>
          <a:prstGeom prst="lef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5172456" y="3305556"/>
            <a:ext cx="182880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eft Arrow 47"/>
          <p:cNvSpPr/>
          <p:nvPr/>
        </p:nvSpPr>
        <p:spPr>
          <a:xfrm>
            <a:off x="5172456" y="5088636"/>
            <a:ext cx="182880" cy="182880"/>
          </a:xfrm>
          <a:prstGeom prst="lef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own Arrow 48"/>
          <p:cNvSpPr/>
          <p:nvPr/>
        </p:nvSpPr>
        <p:spPr>
          <a:xfrm>
            <a:off x="6358128" y="4155948"/>
            <a:ext cx="182880" cy="274320"/>
          </a:xfrm>
          <a:prstGeom prst="down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8368" y="6167628"/>
            <a:ext cx="685800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结果　</a:t>
            </a:r>
            <a:r>
              <a:rPr sz="1250" b="0">
                <a:solidFill>
                  <a:srgbClr val="FFFFFF"/>
                </a:solidFill>
              </a:rPr>
              <a:t>游客体验更好 · 景区多卖钱、少出事 · 数据和智能体更准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27848" y="2601468"/>
            <a:ext cx="2935224" cy="4160520"/>
          </a:xfrm>
          <a:prstGeom prst="roundRect">
            <a:avLst>
              <a:gd name="adj" fmla="val 9968"/>
            </a:avLst>
          </a:prstGeom>
          <a:solidFill>
            <a:srgbClr val="2B2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019288" y="2692908"/>
            <a:ext cx="2752344" cy="3977639"/>
          </a:xfrm>
          <a:prstGeom prst="roundRect">
            <a:avLst>
              <a:gd name="adj" fmla="val 8305"/>
            </a:avLst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83980" y="2720339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2B2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19288" y="2921508"/>
            <a:ext cx="2752344" cy="5669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56448" y="2994660"/>
            <a:ext cx="402336" cy="402336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bo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7031" y="3095244"/>
            <a:ext cx="201168" cy="201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659367" y="2967227"/>
            <a:ext cx="2020824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票付通 APP · 示意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59367" y="3223260"/>
            <a:ext cx="2020824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FB38A"/>
                </a:solidFill>
              </a:rPr>
              <a:t>● 消息通知预警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56448" y="3653028"/>
            <a:ext cx="2205989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【客流预警】东门入园排队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变长，预计 20 分钟后接近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预约上限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56448" y="4475988"/>
            <a:ext cx="1745932" cy="512064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建议：增开闸机，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引导游客从西门入园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1892" y="5116068"/>
            <a:ext cx="1592580" cy="329184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</a:rPr>
              <a:t>收到，已派人处理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56448" y="5573268"/>
            <a:ext cx="1899284" cy="512064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已记录处置结果，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2B2F42"/>
                </a:solidFill>
              </a:rPr>
              <a:t>明天的预约名额会参考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56448" y="6167628"/>
            <a:ext cx="247802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39327" y="6167628"/>
            <a:ext cx="1837944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A9AEC2"/>
                </a:solidFill>
              </a:rPr>
              <a:t>有问题尽管问我…</a:t>
            </a:r>
          </a:p>
        </p:txBody>
      </p:sp>
      <p:sp>
        <p:nvSpPr>
          <p:cNvPr id="65" name="Oval 64"/>
          <p:cNvSpPr/>
          <p:nvPr/>
        </p:nvSpPr>
        <p:spPr>
          <a:xfrm>
            <a:off x="10314432" y="6195060"/>
            <a:ext cx="292608" cy="29260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sen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9296" y="6249924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接下来先做的三件事，以及需要您支持的四件事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接下来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数据平台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智能体平台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AI＋数据平台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先在一条主线、几家标杆景区上做出结果，再铺开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接下来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20340"/>
            <a:ext cx="54864" cy="219456"/>
          </a:xfrm>
          <a:prstGeom prst="roundRect">
            <a:avLst>
              <a:gd name="adj" fmla="val 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6471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776CFD"/>
                </a:solidFill>
              </a:rPr>
              <a:t>接下来先做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8610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268980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19" y="3387852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81328" y="3214116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数据：主线试点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561588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8"/>
                </a:solidFill>
              </a:rPr>
              <a:t>· “订单 → 核销 → 结算”定口径、上卡点、逐层核对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5E6478"/>
                </a:solidFill>
              </a:rPr>
              <a:t>· 订单、核销实时链路建起来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02251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4485132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19" y="460400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81328" y="4430267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智能体：标杆验证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777739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8"/>
                </a:solidFill>
              </a:rPr>
              <a:t>· 挑 2–3 家老客户做标杆，跑一个完整旺季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5E6478"/>
                </a:solidFill>
              </a:rPr>
              <a:t>· 同时试“随票务打包”和“年费订阅”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18404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5701284"/>
            <a:ext cx="475488" cy="47548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19" y="582015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81328" y="5646419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打通：统一取数、数据回流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993891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8"/>
                </a:solidFill>
              </a:rPr>
              <a:t>· 智能体统一从数据平台取数，交互数据回流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5E6478"/>
                </a:solidFill>
              </a:rPr>
              <a:t>· 知识、接口、模板、成本数据留在手里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2647188"/>
            <a:ext cx="4443984" cy="4069080"/>
          </a:xfrm>
          <a:prstGeom prst="roundRect">
            <a:avLst>
              <a:gd name="adj" fmla="val 3146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lag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2793492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59168" y="2756916"/>
            <a:ext cx="3712464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>
                <a:solidFill>
                  <a:srgbClr val="B4551A"/>
                </a:solidFill>
              </a:rPr>
              <a:t>需要您支持</a:t>
            </a:r>
          </a:p>
        </p:txBody>
      </p:sp>
      <p:sp>
        <p:nvSpPr>
          <p:cNvPr id="29" name="Oval 28"/>
          <p:cNvSpPr/>
          <p:nvPr/>
        </p:nvSpPr>
        <p:spPr>
          <a:xfrm>
            <a:off x="6647688" y="3387852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47688" y="3387852"/>
            <a:ext cx="457200" cy="45720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7768" y="3314700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口径谁拍板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3643884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成立数据治理小组，口径争议有人定</a:t>
            </a:r>
          </a:p>
        </p:txBody>
      </p:sp>
      <p:sp>
        <p:nvSpPr>
          <p:cNvPr id="33" name="Oval 32"/>
          <p:cNvSpPr/>
          <p:nvPr/>
        </p:nvSpPr>
        <p:spPr>
          <a:xfrm>
            <a:off x="6647688" y="4229100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47688" y="4229100"/>
            <a:ext cx="457200" cy="45720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4155948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规范强制执行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7768" y="4485132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不合规的数据不上线，需公司层面授权</a:t>
            </a:r>
          </a:p>
        </p:txBody>
      </p:sp>
      <p:sp>
        <p:nvSpPr>
          <p:cNvPr id="37" name="Oval 36"/>
          <p:cNvSpPr/>
          <p:nvPr/>
        </p:nvSpPr>
        <p:spPr>
          <a:xfrm>
            <a:off x="6647688" y="5070348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47688" y="5070348"/>
            <a:ext cx="457200" cy="45720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4997196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标杆与销售配合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5326380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标杆景区配合试点；智能体纳入销售考核</a:t>
            </a:r>
          </a:p>
        </p:txBody>
      </p:sp>
      <p:sp>
        <p:nvSpPr>
          <p:cNvPr id="41" name="Oval 40"/>
          <p:cNvSpPr/>
          <p:nvPr/>
        </p:nvSpPr>
        <p:spPr>
          <a:xfrm>
            <a:off x="6647688" y="5911596"/>
            <a:ext cx="457200" cy="45720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647688" y="5911596"/>
            <a:ext cx="457200" cy="45720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87768" y="5838444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2B2F42"/>
                </a:solidFill>
              </a:rPr>
              <a:t>自建时点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87768" y="6167628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6478"/>
                </a:solidFill>
              </a:rPr>
              <a:t>定期用成本数据评估，由您决策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谢谢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heme/theme1.xml><?xml version="1.0" encoding="utf-8"?>
<a:theme xmlns:a="http://schemas.openxmlformats.org/drawingml/2006/main" name="第一PPT模板网：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13ee637-1583-4e68-adee-a086e9f023e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chemeClr val="bg1">
              <a:lumMod val="75000"/>
            </a:schemeClr>
          </a:solidFill>
        </a:ln>
        <a:scene3d>
          <a:camera prst="orthographicFront"/>
          <a:lightRig rig="flat" dir="t"/>
        </a:scene3d>
        <a:sp3d>
          <a:extrusionClr>
            <a:schemeClr val="bg1"/>
          </a:extrusionClr>
          <a:contourClr>
            <a:schemeClr val="bg1"/>
          </a:contourClr>
        </a:sp3d>
      </a:spPr>
      <a:bodyPr rtlCol="0" anchor="ctr"/>
      <a:lstStyle>
        <a:defPPr marL="0" algn="ctr" eaLnBrk="0" fontAlgn="ctr" hangingPunct="0">
          <a:spcBef>
            <a:spcPts val="0"/>
          </a:spcBef>
          <a:spcAft>
            <a:spcPts val="0"/>
          </a:spcAft>
          <a:buClr>
            <a:srgbClr val="FF0000"/>
          </a:buClr>
          <a:buSzPct val="70000"/>
          <a:tabLst>
            <a:tab pos="136525" algn="l"/>
          </a:tabLst>
          <a:defRPr sz="140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21268</Words>
  <Application>WPS 演示</Application>
  <PresentationFormat>自定义</PresentationFormat>
  <Paragraphs>3534</Paragraphs>
  <Slides>78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120" baseType="lpstr">
      <vt:lpstr>Arial</vt:lpstr>
      <vt:lpstr>SimSun</vt:lpstr>
      <vt:lpstr>Wingdings</vt:lpstr>
      <vt:lpstr>Microsoft YaHei</vt:lpstr>
      <vt:lpstr>Calibri</vt:lpstr>
      <vt:lpstr>Arial Unicode MS</vt:lpstr>
      <vt:lpstr>STXihei</vt:lpstr>
      <vt:lpstr>Calibri</vt:lpstr>
      <vt:lpstr>苹方 特粗</vt:lpstr>
      <vt:lpstr>OPPOSans B</vt:lpstr>
      <vt:lpstr>Microsoft YaHei UI Bold</vt:lpstr>
      <vt:lpstr>Microsoft YaHei UI Regular</vt:lpstr>
      <vt:lpstr>Arial</vt:lpstr>
      <vt:lpstr>DM Sans Regular</vt:lpstr>
      <vt:lpstr>FFont-Family</vt:lpstr>
      <vt:lpstr>Barlow Medium</vt:lpstr>
      <vt:lpstr>Helvetica Neue</vt:lpstr>
      <vt:lpstr>Microsoft YaHei Bold</vt:lpstr>
      <vt:lpstr>Helvetica Neue Medium</vt:lpstr>
      <vt:lpstr>Arial Unicode MS</vt:lpstr>
      <vt:lpstr>Gilroy ExtraBold</vt:lpstr>
      <vt:lpstr>OPPOSans R</vt:lpstr>
      <vt:lpstr>DengXian</vt:lpstr>
      <vt:lpstr>Jost-Bold</vt:lpstr>
      <vt:lpstr>思源宋体 CN Heavy</vt:lpstr>
      <vt:lpstr>Barlow Bold</vt:lpstr>
      <vt:lpstr>思源黑体 CN Normal</vt:lpstr>
      <vt:lpstr>SimHei</vt:lpstr>
      <vt:lpstr>Barlow SemiBold</vt:lpstr>
      <vt:lpstr>阿里巴巴普惠体 2.0 45 Light</vt:lpstr>
      <vt:lpstr>Alibaba PuHuiTi 3.0 55 Regular</vt:lpstr>
      <vt:lpstr>Roboto Regular</vt:lpstr>
      <vt:lpstr>思源黑体 CN Regular</vt:lpstr>
      <vt:lpstr>Alibaba PuHuiTi 3.0 55 Regular</vt:lpstr>
      <vt:lpstr>Barlow SemiBold</vt:lpstr>
      <vt:lpstr>Helvetica Neue</vt:lpstr>
      <vt:lpstr>Wingdings</vt:lpstr>
      <vt:lpstr>Microsoft YaHei</vt:lpstr>
      <vt:lpstr>+mn-ea微软雅黑</vt:lpstr>
      <vt:lpstr>+mn-lt微软雅黑</vt:lpstr>
      <vt:lpstr>第一PPT模板网：www.1ppt.com</vt:lpstr>
      <vt:lpstr>Office 主题​​</vt:lpstr>
      <vt:lpstr>点击输入总结内容</vt:lpstr>
      <vt:lpstr>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</dc:title>
  <dc:creator>www.1ppt.com</dc:creator>
  <cp:keywords>第一PPT www.1ppt.com</cp:keywords>
  <dc:description>http://www.1ppt.com</dc:description>
  <cp:category>http://www.1ppt.com</cp:category>
  <cp:lastModifiedBy>寶安居士</cp:lastModifiedBy>
  <cp:revision>1446</cp:revision>
  <dcterms:created xsi:type="dcterms:W3CDTF">2009-02-11T05:37:00Z</dcterms:created>
  <dcterms:modified xsi:type="dcterms:W3CDTF">2026-10-14T11:53:47Z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锐普图表</vt:lpwstr>
  </property>
  <property fmtid="{D5CDD505-2E9C-101B-9397-08002B2CF9AE}" pid="3" name="SlideDescription">
    <vt:lpwstr/>
  </property>
  <property fmtid="{D5CDD505-2E9C-101B-9397-08002B2CF9AE}" pid="4" name="ICV">
    <vt:lpwstr>B14B338463114CB1AA48C40141CB66E8_12</vt:lpwstr>
  </property>
  <property fmtid="{D5CDD505-2E9C-101B-9397-08002B2CF9AE}" pid="5" name="KSOProductBuildVer">
    <vt:lpwstr>2052-12.1.0.29161</vt:lpwstr>
  </property>
</Properties>
</file>